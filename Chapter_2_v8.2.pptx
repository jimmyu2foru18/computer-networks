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</p:sldIdLst>
  <p:sldSz cy="6858000" cx="12192000"/>
  <p:notesSz cx="6858000" cy="9144000"/>
  <p:embeddedFontLst>
    <p:embeddedFont>
      <p:font typeface="Arial Narrow"/>
      <p:regular r:id="rId142"/>
      <p:bold r:id="rId143"/>
      <p:italic r:id="rId144"/>
      <p:boldItalic r:id="rId145"/>
    </p:embeddedFont>
    <p:embeddedFont>
      <p:font typeface="Tahoma"/>
      <p:regular r:id="rId146"/>
      <p:bold r:id="rId147"/>
    </p:embeddedFont>
    <p:embeddedFont>
      <p:font typeface="Noto Sans Symbols"/>
      <p:regular r:id="rId148"/>
      <p:bold r:id="rId149"/>
    </p:embeddedFont>
    <p:embeddedFont>
      <p:font typeface="Gill Sans"/>
      <p:regular r:id="rId150"/>
      <p:bold r:id="rId1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font" Target="fonts/GillSans-regular.fntdata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NotoSansSymbols-bold.fntdata"/><Relationship Id="rId4" Type="http://schemas.openxmlformats.org/officeDocument/2006/relationships/slideMaster" Target="slideMasters/slideMaster1.xml"/><Relationship Id="rId148" Type="http://schemas.openxmlformats.org/officeDocument/2006/relationships/font" Target="fonts/NotoSansSymbols-regular.fntdata"/><Relationship Id="rId9" Type="http://schemas.openxmlformats.org/officeDocument/2006/relationships/slide" Target="slides/slide4.xml"/><Relationship Id="rId143" Type="http://schemas.openxmlformats.org/officeDocument/2006/relationships/font" Target="fonts/ArialNarrow-bold.fntdata"/><Relationship Id="rId142" Type="http://schemas.openxmlformats.org/officeDocument/2006/relationships/font" Target="fonts/ArialNarrow-regular.fntdata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font" Target="fonts/Tahoma-bold.fntdata"/><Relationship Id="rId6" Type="http://schemas.openxmlformats.org/officeDocument/2006/relationships/slide" Target="slides/slide1.xml"/><Relationship Id="rId146" Type="http://schemas.openxmlformats.org/officeDocument/2006/relationships/font" Target="fonts/Tahoma-regular.fntdata"/><Relationship Id="rId7" Type="http://schemas.openxmlformats.org/officeDocument/2006/relationships/slide" Target="slides/slide2.xml"/><Relationship Id="rId145" Type="http://schemas.openxmlformats.org/officeDocument/2006/relationships/font" Target="fonts/ArialNarrow-boldItalic.fntdata"/><Relationship Id="rId8" Type="http://schemas.openxmlformats.org/officeDocument/2006/relationships/slide" Target="slides/slide3.xml"/><Relationship Id="rId144" Type="http://schemas.openxmlformats.org/officeDocument/2006/relationships/font" Target="fonts/ArialNarrow-italic.fntdata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151" Type="http://schemas.openxmlformats.org/officeDocument/2006/relationships/font" Target="fonts/Gill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1" name="Google Shape;15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4" name="Google Shape;15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5" name="Google Shape;16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5" name="Google Shape;16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5" name="Google Shape;16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3" name="Google Shape;16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3" name="Google Shape;16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0" name="Google Shape;17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5" name="Google Shape;174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8" name="Google Shape;18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4" name="Google Shape;182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0" name="Google Shape;189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3" name="Google Shape;19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9" name="Google Shape;20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8" name="Google Shape;20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3" name="Google Shape;20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5" name="Google Shape;211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5" name="Google Shape;21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8" name="Google Shape;216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5" name="Google Shape;218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3" name="Google Shape;21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194" name="Google Shape;21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7" name="Google Shape;228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288" name="Google Shape;228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6" name="Google Shape;229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297" name="Google Shape;229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1" name="Google Shape;239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392" name="Google Shape;239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0" name="Google Shape;241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411" name="Google Shape;241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4" name="Google Shape;251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re: poor content providers – like in real-estate, location is everything.  servers want to be close to clients.</a:t>
            </a:r>
            <a:endParaRPr/>
          </a:p>
        </p:txBody>
      </p:sp>
      <p:sp>
        <p:nvSpPr>
          <p:cNvPr id="2515" name="Google Shape;251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7" name="Google Shape;252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2528" name="Google Shape;252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7" name="Google Shape;274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748" name="Google Shape;274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0" name="Google Shape;298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981" name="Google Shape;298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5" name="Google Shape;32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236" name="Google Shape;32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0" name="Google Shape;349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491" name="Google Shape;349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0" name="Google Shape;355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51" name="Google Shape;355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7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9" name="Google Shape;355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60" name="Google Shape;356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6" name="Shape 3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Google Shape;356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8" name="Google Shape;356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69" name="Google Shape;356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3" name="Google Shape;366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shortest job first: decreased average delay!</a:t>
            </a:r>
            <a:endParaRPr/>
          </a:p>
        </p:txBody>
      </p:sp>
      <p:sp>
        <p:nvSpPr>
          <p:cNvPr id="3664" name="Google Shape;366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2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4" name="Google Shape;378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785" name="Google Shape;378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0" name="Shape 3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Google Shape;379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2" name="Google Shape;379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2" name="Google Shape;380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5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7" name="Google Shape;402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8" name="Google Shape;402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6" name="Shape 4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7" name="Google Shape;425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8" name="Google Shape;425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9" name="Google Shape;425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6" name="Shape 4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7" name="Google Shape;435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8" name="Google Shape;4358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9" name="Google Shape;4359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2" name="Shape 4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3" name="Google Shape;449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4" name="Google Shape;449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5" name="Google Shape;4495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6" name="Shape 4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7" name="Google Shape;450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8" name="Google Shape;450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9" name="Google Shape;450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5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7" name="Google Shape;451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8" name="Google Shape;4518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1" name="Shape 4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2" name="Google Shape;453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3" name="Google Shape;4533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4" name="Google Shape;4534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3" name="Google Shape;466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From: https://postmarkapp.com/guides/everything-you-need-to-know-about-smtp</a:t>
            </a:r>
            <a:endParaRPr/>
          </a:p>
        </p:txBody>
      </p:sp>
      <p:sp>
        <p:nvSpPr>
          <p:cNvPr id="4664" name="Google Shape;4664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9" name="Shape 4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0" name="Google Shape;467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1" name="Google Shape;467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6" name="Shape 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7" name="Google Shape;467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8" name="Google Shape;467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9" name="Google Shape;4679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6" name="Shape 4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7" name="Google Shape;468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8" name="Google Shape;468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9" name="Google Shape;4689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5" name="Shape 4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6" name="Google Shape;469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7" name="Google Shape;469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8" name="Google Shape;469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5" name="Shape 4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6" name="Google Shape;47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7" name="Google Shape;47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8" name="Google Shape;47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7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9" name="Google Shape;471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0" name="Google Shape;4720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4" name="Shape 4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5" name="Google Shape;475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6" name="Google Shape;475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7" name="Google Shape;4757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6" name="Google Shape;476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7" name="Google Shape;476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4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6" name="Google Shape;477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7" name="Google Shape;4777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0" name="Shape 4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" name="Google Shape;47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2" name="Google Shape;47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3" name="Google Shape;479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8" name="Shape 4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9" name="Google Shape;479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0" name="Google Shape;480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1" name="Google Shape;4801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9" name="Shape 4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0" name="Google Shape;497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1" name="Google Shape;497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2" name="Google Shape;497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0" name="Shape 5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Google Shape;514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2" name="Google Shape;514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3" name="Google Shape;514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8" name="Shape 5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9" name="Google Shape;514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0" name="Google Shape;515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1" name="Google Shape;5151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2" name="Shape 5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3" name="Google Shape;516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4" name="Google Shape;516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5" name="Google Shape;5165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0" name="Shape 5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" name="Google Shape;5201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2" name="Google Shape;5202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3" name="Google Shape;5203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3" name="Shape 5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4" name="Google Shape;524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5" name="Google Shape;524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6" name="Google Shape;5246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1" name="Shape 5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2" name="Google Shape;5252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3" name="Google Shape;525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4" name="Google Shape;5254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0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Google Shape;526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2" name="Google Shape;526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0" name="Google Shape;5270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5" name="Shape 5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6" name="Google Shape;527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2" name="Shape 5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" name="Google Shape;528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4" name="Google Shape;528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5" name="Google Shape;5285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2" name="Shape 5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3" name="Google Shape;5293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4" name="Google Shape;529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5" name="Google Shape;5295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1" name="Shape 5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2" name="Google Shape;578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3" name="Google Shape;578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4" name="Google Shape;578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4" name="Shape 5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5" name="Google Shape;586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6" name="Google Shape;586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7" name="Google Shape;5867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1" name="Shape 5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Google Shape;594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3" name="Google Shape;594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4" name="Google Shape;5944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2" name="Shape 6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3" name="Google Shape;6023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4" name="Google Shape;602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5" name="Google Shape;6025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1" name="Shape 6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3" name="Google Shape;6033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2" name="Shape 6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" name="Google Shape;612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4" name="Google Shape;612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5" name="Google Shape;612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8" name="Shape 6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9" name="Google Shape;6209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0" name="Google Shape;6210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1" name="Google Shape;6211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7" name="Shape 6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8" name="Google Shape;6218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9" name="Google Shape;6219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0" name="Google Shape;6220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3" name="Shape 6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4" name="Google Shape;6274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5" name="Google Shape;627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6" name="Google Shape;6276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3" name="Shape 6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4" name="Google Shape;6284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5" name="Google Shape;6285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6" name="Google Shape;6286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8" name="Shape 6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9" name="Google Shape;629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0" name="Google Shape;6300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1" name="Google Shape;6301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8" name="Shape 6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9" name="Google Shape;6319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0" name="Google Shape;6320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1" name="Google Shape;6321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8" name="Shape 6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9" name="Google Shape;6339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0" name="Google Shape;6340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1" name="Google Shape;6341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9" name="Shape 6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" name="Google Shape;6400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1" name="Google Shape;6401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2" name="Google Shape;6402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7" name="Shape 6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8" name="Google Shape;6598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9" name="Google Shape;659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0" name="Google Shape;6600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7" name="Shape 6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8" name="Google Shape;6608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9" name="Google Shape;6609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0" name="Google Shape;6610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3" name="Shape 6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4" name="Google Shape;6754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5" name="Google Shape;6755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6" name="Google Shape;6756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4" name="Shape 6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5" name="Google Shape;6895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6" name="Google Shape;6896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7" name="Google Shape;6897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6" name="Shape 7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7" name="Google Shape;7037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8" name="Google Shape;7038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9" name="Google Shape;7039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6" name="Shape 7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7" name="Google Shape;7047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8" name="Google Shape;7048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9" name="Google Shape;7049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9" name="Shape 7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0" name="Google Shape;7060;p105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1" name="Google Shape;7061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2" name="Google Shape;7062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Akamai: 100,000+ servers in 1000+ clusters in 1000+ networks in 70+ countries serving trillions of requests a 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people use Netflix?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3" name="Shape 7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4" name="Google Shape;7734;p106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5" name="Google Shape;773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6" name="Google Shape;773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peak load: 7million viewers, 2 Tbytes via 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3" name="Shape 8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4" name="Google Shape;876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5" name="Google Shape;876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6" name="Google Shape;8766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3" name="Shape 8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4" name="Google Shape;877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5" name="Google Shape;877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6" name="Google Shape;877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3" name="Shape 8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4" name="Google Shape;8784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5" name="Google Shape;8785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6" name="Google Shape;8786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3" name="Shape 8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4" name="Google Shape;8794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5" name="Google Shape;8795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7.01 (January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slide content for 2020 link technologies and applications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New Master slide </a:t>
            </a:r>
            <a:endParaRPr/>
          </a:p>
        </p:txBody>
      </p:sp>
      <p:sp>
        <p:nvSpPr>
          <p:cNvPr id="8796" name="Google Shape;8796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0" name="Shape 8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1" name="Google Shape;8801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2" name="Google Shape;8802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Retired this slide, since telnet isn’t really used anymore, and few non https: mail servers around anymore....</a:t>
            </a:r>
            <a:endParaRPr/>
          </a:p>
        </p:txBody>
      </p:sp>
      <p:sp>
        <p:nvSpPr>
          <p:cNvPr id="8803" name="Google Shape;8803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8" name="Shape 8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9" name="Google Shape;8809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0" name="Google Shape;8810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retired, since there’s the Netflix example which is visually better</a:t>
            </a:r>
            <a:endParaRPr/>
          </a:p>
        </p:txBody>
      </p:sp>
      <p:sp>
        <p:nvSpPr>
          <p:cNvPr id="8811" name="Google Shape;8811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2" name="Shape 9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3" name="Google Shape;9023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4" name="Google Shape;9024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This slide retired, since there’s the new Netflix example which is visually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5" name="Google Shape;9025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3" name="Shape 9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4" name="Google Shape;9304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5" name="Google Shape;9305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0" name="Shape 9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1" name="Google Shape;9311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12" name="Google Shape;9312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13" name="Google Shape;9313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From: </a:t>
            </a:r>
            <a:r>
              <a:rPr lang="en-US" sz="1600"/>
              <a:t>Emilio F Zegarra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7" name="Shape 9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" name="Google Shape;9318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9" name="Google Shape;9319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0" name="Shape 9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1" name="Google Shape;9331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2" name="Google Shape;9332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33" name="Google Shape;9333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presentation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8" name="Shape 9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9" name="Google Shape;9339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0" name="Google Shape;9340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5" name="Shape 9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6" name="Google Shape;9346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7" name="Google Shape;9347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2" name="Shape 9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3" name="Google Shape;9353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54" name="Google Shape;9354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5" name="Google Shape;9355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4" name="Shape 9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5" name="Google Shape;9365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6" name="Google Shape;9366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1" name="Shape 9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2" name="Google Shape;9372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3" name="Google Shape;9373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8" name="Shape 9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" name="Google Shape;9379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0" name="Google Shape;9380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5" name="Shape 9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6" name="Google Shape;9386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7" name="Google Shape;9387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2" name="Shape 9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3" name="Google Shape;9393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4" name="Google Shape;9394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9" name="Shape 9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" name="Google Shape;9400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1" name="Google Shape;9401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6" name="Shape 9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7" name="Google Shape;9407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8" name="Google Shape;9408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3" name="Shape 9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4" name="Google Shape;9414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5" name="Google Shape;9415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0" name="Shape 9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" name="Google Shape;9421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2" name="Google Shape;9422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8" name="Shape 9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9" name="Google Shape;9439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0" name="Google Shape;9440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3" name="Shape 9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4" name="Google Shape;9504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5" name="Google Shape;9505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0" name="Shape 9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1" name="Google Shape;9511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2" name="Google Shape;9512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7" name="Shape 9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8" name="Google Shape;9518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9" name="Google Shape;9519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4" name="Shape 9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5" name="Google Shape;9525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6" name="Google Shape;9526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1" name="Shape 9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2" name="Google Shape;9532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3" name="Google Shape;9533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5" name="Shape 9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6" name="Google Shape;9556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7" name="Google Shape;9557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11" Type="http://schemas.openxmlformats.org/officeDocument/2006/relationships/image" Target="../media/image9.png"/><Relationship Id="rId22" Type="http://schemas.openxmlformats.org/officeDocument/2006/relationships/image" Target="../media/image26.png"/><Relationship Id="rId10" Type="http://schemas.openxmlformats.org/officeDocument/2006/relationships/image" Target="../media/image6.png"/><Relationship Id="rId21" Type="http://schemas.openxmlformats.org/officeDocument/2006/relationships/image" Target="../media/image24.png"/><Relationship Id="rId13" Type="http://schemas.openxmlformats.org/officeDocument/2006/relationships/image" Target="../media/image15.png"/><Relationship Id="rId12" Type="http://schemas.openxmlformats.org/officeDocument/2006/relationships/image" Target="../media/image12.png"/><Relationship Id="rId2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5" Type="http://schemas.openxmlformats.org/officeDocument/2006/relationships/image" Target="../media/image14.png"/><Relationship Id="rId14" Type="http://schemas.openxmlformats.org/officeDocument/2006/relationships/image" Target="../media/image17.png"/><Relationship Id="rId17" Type="http://schemas.openxmlformats.org/officeDocument/2006/relationships/image" Target="../media/image19.png"/><Relationship Id="rId16" Type="http://schemas.openxmlformats.org/officeDocument/2006/relationships/image" Target="../media/image13.png"/><Relationship Id="rId5" Type="http://schemas.openxmlformats.org/officeDocument/2006/relationships/image" Target="../media/image3.png"/><Relationship Id="rId19" Type="http://schemas.openxmlformats.org/officeDocument/2006/relationships/image" Target="../media/image31.png"/><Relationship Id="rId6" Type="http://schemas.openxmlformats.org/officeDocument/2006/relationships/image" Target="../media/image1.png"/><Relationship Id="rId18" Type="http://schemas.openxmlformats.org/officeDocument/2006/relationships/image" Target="../media/image21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11" Type="http://schemas.openxmlformats.org/officeDocument/2006/relationships/image" Target="../media/image9.png"/><Relationship Id="rId22" Type="http://schemas.openxmlformats.org/officeDocument/2006/relationships/image" Target="../media/image26.png"/><Relationship Id="rId10" Type="http://schemas.openxmlformats.org/officeDocument/2006/relationships/image" Target="../media/image6.png"/><Relationship Id="rId21" Type="http://schemas.openxmlformats.org/officeDocument/2006/relationships/image" Target="../media/image24.png"/><Relationship Id="rId13" Type="http://schemas.openxmlformats.org/officeDocument/2006/relationships/image" Target="../media/image15.png"/><Relationship Id="rId12" Type="http://schemas.openxmlformats.org/officeDocument/2006/relationships/image" Target="../media/image12.png"/><Relationship Id="rId2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5" Type="http://schemas.openxmlformats.org/officeDocument/2006/relationships/image" Target="../media/image14.png"/><Relationship Id="rId14" Type="http://schemas.openxmlformats.org/officeDocument/2006/relationships/image" Target="../media/image17.png"/><Relationship Id="rId17" Type="http://schemas.openxmlformats.org/officeDocument/2006/relationships/image" Target="../media/image19.png"/><Relationship Id="rId16" Type="http://schemas.openxmlformats.org/officeDocument/2006/relationships/image" Target="../media/image13.png"/><Relationship Id="rId5" Type="http://schemas.openxmlformats.org/officeDocument/2006/relationships/image" Target="../media/image3.png"/><Relationship Id="rId19" Type="http://schemas.openxmlformats.org/officeDocument/2006/relationships/image" Target="../media/image31.png"/><Relationship Id="rId6" Type="http://schemas.openxmlformats.org/officeDocument/2006/relationships/image" Target="../media/image1.png"/><Relationship Id="rId18" Type="http://schemas.openxmlformats.org/officeDocument/2006/relationships/image" Target="../media/image21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11" Type="http://schemas.openxmlformats.org/officeDocument/2006/relationships/image" Target="../media/image12.png"/><Relationship Id="rId22" Type="http://schemas.openxmlformats.org/officeDocument/2006/relationships/image" Target="../media/image9.png"/><Relationship Id="rId10" Type="http://schemas.openxmlformats.org/officeDocument/2006/relationships/image" Target="../media/image6.png"/><Relationship Id="rId21" Type="http://schemas.openxmlformats.org/officeDocument/2006/relationships/image" Target="../media/image34.png"/><Relationship Id="rId13" Type="http://schemas.openxmlformats.org/officeDocument/2006/relationships/image" Target="../media/image17.png"/><Relationship Id="rId12" Type="http://schemas.openxmlformats.org/officeDocument/2006/relationships/image" Target="../media/image15.png"/><Relationship Id="rId2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5" Type="http://schemas.openxmlformats.org/officeDocument/2006/relationships/image" Target="../media/image19.png"/><Relationship Id="rId14" Type="http://schemas.openxmlformats.org/officeDocument/2006/relationships/image" Target="../media/image13.png"/><Relationship Id="rId17" Type="http://schemas.openxmlformats.org/officeDocument/2006/relationships/image" Target="../media/image31.png"/><Relationship Id="rId16" Type="http://schemas.openxmlformats.org/officeDocument/2006/relationships/image" Target="../media/image21.png"/><Relationship Id="rId5" Type="http://schemas.openxmlformats.org/officeDocument/2006/relationships/image" Target="../media/image3.png"/><Relationship Id="rId19" Type="http://schemas.openxmlformats.org/officeDocument/2006/relationships/image" Target="../media/image24.png"/><Relationship Id="rId6" Type="http://schemas.openxmlformats.org/officeDocument/2006/relationships/image" Target="../media/image1.png"/><Relationship Id="rId18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rfc-editor.org/rfc/rfc959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moocat.me/words/guides/how-to-use-telnet-to-send-a-get-and-head-http-request" TargetMode="External"/><Relationship Id="rId4" Type="http://schemas.openxmlformats.org/officeDocument/2006/relationships/hyperlink" Target="https://gist.githubusercontent.com/khalefa-ow/500209741080f2bf2c4fd8c51977a40a/raw/edc00b4798271f13ecc53ca4afb8306705592770/HTTPClient.java" TargetMode="External"/><Relationship Id="rId5" Type="http://schemas.openxmlformats.org/officeDocument/2006/relationships/hyperlink" Target="https://gist.github.com/khalefa-ow/500209741080f2bf2c4fd8c51977a40a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learcode.cc/blog/difference-between-first-party-third-party-cookies/" TargetMode="External"/><Relationship Id="rId4" Type="http://schemas.openxmlformats.org/officeDocument/2006/relationships/hyperlink" Target="https://blog.mozilla.org/security/2021/02/23/total-cookie-protection/" TargetMode="External"/><Relationship Id="rId5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0.png"/><Relationship Id="rId4" Type="http://schemas.openxmlformats.org/officeDocument/2006/relationships/image" Target="../media/image58.png"/><Relationship Id="rId5" Type="http://schemas.openxmlformats.org/officeDocument/2006/relationships/image" Target="../media/image6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8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4.png"/><Relationship Id="rId4" Type="http://schemas.openxmlformats.org/officeDocument/2006/relationships/image" Target="../media/image61.png"/><Relationship Id="rId5" Type="http://schemas.openxmlformats.org/officeDocument/2006/relationships/image" Target="../media/image5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8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2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9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8.jpg"/></Relationships>
</file>

<file path=ppt/slides/_rels/slide8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11" Type="http://schemas.openxmlformats.org/officeDocument/2006/relationships/image" Target="../media/image12.png"/><Relationship Id="rId22" Type="http://schemas.openxmlformats.org/officeDocument/2006/relationships/image" Target="../media/image9.png"/><Relationship Id="rId10" Type="http://schemas.openxmlformats.org/officeDocument/2006/relationships/image" Target="../media/image6.png"/><Relationship Id="rId21" Type="http://schemas.openxmlformats.org/officeDocument/2006/relationships/image" Target="../media/image34.png"/><Relationship Id="rId13" Type="http://schemas.openxmlformats.org/officeDocument/2006/relationships/image" Target="../media/image17.png"/><Relationship Id="rId12" Type="http://schemas.openxmlformats.org/officeDocument/2006/relationships/image" Target="../media/image15.png"/><Relationship Id="rId2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5" Type="http://schemas.openxmlformats.org/officeDocument/2006/relationships/image" Target="../media/image19.png"/><Relationship Id="rId14" Type="http://schemas.openxmlformats.org/officeDocument/2006/relationships/image" Target="../media/image13.png"/><Relationship Id="rId17" Type="http://schemas.openxmlformats.org/officeDocument/2006/relationships/image" Target="../media/image31.png"/><Relationship Id="rId16" Type="http://schemas.openxmlformats.org/officeDocument/2006/relationships/image" Target="../media/image21.png"/><Relationship Id="rId5" Type="http://schemas.openxmlformats.org/officeDocument/2006/relationships/image" Target="../media/image3.png"/><Relationship Id="rId19" Type="http://schemas.openxmlformats.org/officeDocument/2006/relationships/image" Target="../media/image24.png"/><Relationship Id="rId6" Type="http://schemas.openxmlformats.org/officeDocument/2006/relationships/image" Target="../media/image1.png"/><Relationship Id="rId18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4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6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1.png"/><Relationship Id="rId4" Type="http://schemas.openxmlformats.org/officeDocument/2006/relationships/image" Target="../media/image44.png"/><Relationship Id="rId5" Type="http://schemas.openxmlformats.org/officeDocument/2006/relationships/image" Target="../media/image7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1.png"/><Relationship Id="rId4" Type="http://schemas.openxmlformats.org/officeDocument/2006/relationships/image" Target="../media/image76.png"/><Relationship Id="rId5" Type="http://schemas.openxmlformats.org/officeDocument/2006/relationships/image" Target="../media/image86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61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8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5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7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9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7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9.png"/><Relationship Id="rId4" Type="http://schemas.openxmlformats.org/officeDocument/2006/relationships/image" Target="../media/image84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9.png"/><Relationship Id="rId4" Type="http://schemas.openxmlformats.org/officeDocument/2006/relationships/image" Target="../media/image84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2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8.png"/><Relationship Id="rId4" Type="http://schemas.openxmlformats.org/officeDocument/2006/relationships/image" Target="../media/image93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1.png"/><Relationship Id="rId4" Type="http://schemas.openxmlformats.org/officeDocument/2006/relationships/image" Target="../media/image99.png"/><Relationship Id="rId5" Type="http://schemas.openxmlformats.org/officeDocument/2006/relationships/image" Target="../media/image96.png"/><Relationship Id="rId6" Type="http://schemas.openxmlformats.org/officeDocument/2006/relationships/image" Target="../media/image94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01.png"/><Relationship Id="rId4" Type="http://schemas.openxmlformats.org/officeDocument/2006/relationships/image" Target="../media/image99.png"/><Relationship Id="rId5" Type="http://schemas.openxmlformats.org/officeDocument/2006/relationships/image" Target="../media/image96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8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hyperlink" Target="http://localhost/books/" TargetMode="External"/><Relationship Id="rId4" Type="http://schemas.openxmlformats.org/officeDocument/2006/relationships/hyperlink" Target="http://localhost/books/ISBN-0011" TargetMode="External"/><Relationship Id="rId5" Type="http://schemas.openxmlformats.org/officeDocument/2006/relationships/hyperlink" Target="http://localhost/books/ISBN-0011/authors" TargetMode="External"/><Relationship Id="rId6" Type="http://schemas.openxmlformats.org/officeDocument/2006/relationships/hyperlink" Target="http://localhost/classes" TargetMode="External"/><Relationship Id="rId7" Type="http://schemas.openxmlformats.org/officeDocument/2006/relationships/hyperlink" Target="http://localhost/classes/cs2650" TargetMode="External"/><Relationship Id="rId8" Type="http://schemas.openxmlformats.org/officeDocument/2006/relationships/hyperlink" Target="http://localhost/classes/cs2650/students" TargetMode="Externa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hyperlink" Target="http://localhost/books" TargetMode="External"/><Relationship Id="rId4" Type="http://schemas.openxmlformats.org/officeDocument/2006/relationships/hyperlink" Target="http://localhost/books/ISBN-0011021" TargetMode="External"/><Relationship Id="rId5" Type="http://schemas.openxmlformats.org/officeDocument/2006/relationships/hyperlink" Target="http://localhost/books/ISBN-0011021/authors" TargetMode="Externa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hyperlink" Target="http://localhost/books/" TargetMode="External"/><Relationship Id="rId4" Type="http://schemas.openxmlformats.org/officeDocument/2006/relationships/hyperlink" Target="http://localhost/books/isbn-111" TargetMode="Externa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hyperlink" Target="http://localhost/books/ISBN-0011" TargetMode="Externa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hyperlink" Target="http://www.restlet.org/" TargetMode="External"/><Relationship Id="rId4" Type="http://schemas.openxmlformats.org/officeDocument/2006/relationships/hyperlink" Target="http://www.projectzero.org/" TargetMode="External"/><Relationship Id="rId5" Type="http://schemas.openxmlformats.org/officeDocument/2006/relationships/hyperlink" Target="https://jersey.dev.java.net/" TargetMode="External"/><Relationship Id="rId6" Type="http://schemas.openxmlformats.org/officeDocument/2006/relationships/hyperlink" Target="http://www.jboss.org/resteasy/" TargetMode="Externa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hyperlink" Target="http://www.cs.pitt.edu/icms/iccards" TargetMode="External"/><Relationship Id="rId4" Type="http://schemas.openxmlformats.org/officeDocument/2006/relationships/hyperlink" Target="http://www.cs.pitt.edu/icms/iccards/001" TargetMode="External"/><Relationship Id="rId5" Type="http://schemas.openxmlformats.org/officeDocument/2006/relationships/hyperlink" Target="http://www.cs.pitt.edu/icms/groups/1/users" TargetMode="External"/></Relationships>
</file>

<file path=ppt/slides/_rels/slide1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0.jpg"/><Relationship Id="rId10" Type="http://schemas.openxmlformats.org/officeDocument/2006/relationships/image" Target="../media/image10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03.png"/><Relationship Id="rId4" Type="http://schemas.openxmlformats.org/officeDocument/2006/relationships/image" Target="../media/image111.jpg"/><Relationship Id="rId9" Type="http://schemas.openxmlformats.org/officeDocument/2006/relationships/image" Target="../media/image106.png"/><Relationship Id="rId5" Type="http://schemas.openxmlformats.org/officeDocument/2006/relationships/image" Target="../media/image105.jpg"/><Relationship Id="rId6" Type="http://schemas.openxmlformats.org/officeDocument/2006/relationships/image" Target="../media/image107.png"/><Relationship Id="rId7" Type="http://schemas.openxmlformats.org/officeDocument/2006/relationships/image" Target="../media/image108.jpg"/><Relationship Id="rId8" Type="http://schemas.openxmlformats.org/officeDocument/2006/relationships/image" Target="../media/image104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hyperlink" Target="http://en.wikipedia.org/wiki/Representational_State_Transfer" TargetMode="External"/><Relationship Id="rId4" Type="http://schemas.openxmlformats.org/officeDocument/2006/relationships/hyperlink" Target="http://www.ics.uci.edu/~fielding/pubs/dissertation/top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1325035" y="561975"/>
            <a:ext cx="5378450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    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layer: overview</a:t>
            </a:r>
            <a:endParaRPr sz="4400"/>
          </a:p>
        </p:txBody>
      </p:sp>
      <p:sp>
        <p:nvSpPr>
          <p:cNvPr id="46" name="Google Shape;46;p7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49" name="Google Shape;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</a:t>
            </a:r>
            <a:r>
              <a:rPr lang="en-US"/>
              <a:t>l</a:t>
            </a:r>
            <a:r>
              <a:rPr lang="en-US" sz="4400"/>
              <a:t>ayer: overview</a:t>
            </a:r>
            <a:endParaRPr sz="4400"/>
          </a:p>
        </p:txBody>
      </p:sp>
      <p:sp>
        <p:nvSpPr>
          <p:cNvPr id="56" name="Google Shape;56;p8"/>
          <p:cNvSpPr txBox="1"/>
          <p:nvPr/>
        </p:nvSpPr>
        <p:spPr>
          <a:xfrm>
            <a:off x="747307" y="1406319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Our goals: </a:t>
            </a:r>
            <a:endParaRPr/>
          </a:p>
          <a:p>
            <a:pPr indent="-346075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conceptual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implementation aspects of application-layer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transport-layer service models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client-server paradigm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peer-to-peer paradigm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6516985" y="1399497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about protocols by examining popular application-layer protocols and infrastructure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 systems, CDNs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 network applications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API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Some </a:t>
            </a:r>
            <a:r>
              <a:rPr lang="en-US"/>
              <a:t>n</a:t>
            </a:r>
            <a:r>
              <a:rPr lang="en-US" sz="4400"/>
              <a:t>etwork apps</a:t>
            </a:r>
            <a:endParaRPr sz="4400"/>
          </a:p>
        </p:txBody>
      </p:sp>
      <p:sp>
        <p:nvSpPr>
          <p:cNvPr id="65" name="Google Shape;65;p9"/>
          <p:cNvSpPr txBox="1"/>
          <p:nvPr/>
        </p:nvSpPr>
        <p:spPr>
          <a:xfrm>
            <a:off x="914400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social networking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multi-user network games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stored video (YouTube, Hulu, Netflix) 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 file sharing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IP (e.g., Skype)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video conferencing (e.g., Zoom)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search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login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6946490" y="5161935"/>
            <a:ext cx="35987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1" lang="en-US" sz="36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your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favorites?</a:t>
            </a:r>
            <a:endParaRPr/>
          </a:p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" name="Google Shape;76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7" name="Google Shape;77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85" name="Google Shape;85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" name="Google Shape;87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" name="Google Shape;90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" name="Google Shape;91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" name="Google Shape;93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94" name="Google Shape;94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" name="Google Shape;96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" name="Google Shape;97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" name="Google Shape;98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" name="Google Shape;99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" name="Google Shape;100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2" name="Google Shape;102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0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0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0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0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10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10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10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10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10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" name="Google Shape;117;p10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10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9" name="Google Shape;119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20" name="Google Shape;120;p10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21" name="Google Shape;121;p10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" name="Google Shape;122;p10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10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10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0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0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0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10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10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0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0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0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0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0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0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0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0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0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0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0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0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0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45" name="Google Shape;14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6" name="Google Shape;14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47" name="Google Shape;147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0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" name="Google Shape;149;p10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0" name="Google Shape;150;p10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51" name="Google Shape;151;p10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0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10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10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0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10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0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0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10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10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10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0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0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0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10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66" name="Google Shape;16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67" name="Google Shape;16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0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69" name="Google Shape;16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1" name="Google Shape;17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6" name="Google Shape;176;p10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77" name="Google Shape;177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9" name="Google Shape;179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80" name="Google Shape;180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" name="Google Shape;184;p10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85" name="Google Shape;18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7" name="Google Shape;18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2" name="Google Shape;192;p10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93" name="Google Shape;193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5" name="Google Shape;195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6" name="Google Shape;196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0" name="Google Shape;200;p10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201" name="Google Shape;20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3" name="Google Shape;20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4" name="Google Shape;20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8" name="Google Shape;208;p10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209" name="Google Shape;20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1" name="Google Shape;21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2" name="Google Shape;21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6" name="Google Shape;216;p10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217" name="Google Shape;21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9" name="Google Shape;21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" name="Google Shape;224;p10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25" name="Google Shape;22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7" name="Google Shape;22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" name="Google Shape;22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10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33" name="Google Shape;233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5" name="Google Shape;235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" name="Google Shape;236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0" name="Google Shape;240;p10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41" name="Google Shape;24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3" name="Google Shape;24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4" name="Google Shape;24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" name="Google Shape;248;p10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49" name="Google Shape;24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1" name="Google Shape;25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2" name="Google Shape;25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6" name="Google Shape;256;p10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57" name="Google Shape;25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9" name="Google Shape;25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0" name="Google Shape;26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4" name="Google Shape;264;p10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65" name="Google Shape;26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7" name="Google Shape;26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8" name="Google Shape;26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2" name="Google Shape;272;p10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73" name="Google Shape;273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5" name="Google Shape;275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" name="Google Shape;276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" name="Google Shape;280;p10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1" name="Google Shape;28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3" name="Google Shape;28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8" name="Google Shape;288;p10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9" name="Google Shape;28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1" name="Google Shape;29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2" name="Google Shape;29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6" name="Google Shape;296;p10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97" name="Google Shape;29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9" name="Google Shape;29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0" name="Google Shape;30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4" name="Google Shape;304;p10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305" name="Google Shape;30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7" name="Google Shape;30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8" name="Google Shape;30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2" name="Google Shape;312;p10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313" name="Google Shape;313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14" name="Google Shape;314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16" name="Google Shape;316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1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3" name="Google Shape;323;p1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24" name="Google Shape;32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0" name="Google Shape;330;p1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0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337" name="Google Shape;337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38" name="Google Shape;33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" name="Google Shape;339;p10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340" name="Google Shape;340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41" name="Google Shape;341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0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343" name="Google Shape;343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344" name="Google Shape;344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45" name="Google Shape;345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347" name="Google Shape;347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8" name="Google Shape;348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4" name="Google Shape;354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55" name="Google Shape;355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1" name="Google Shape;361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" name="Google Shape;367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68" name="Google Shape;368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" name="Google Shape;369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71" name="Google Shape;371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72" name="Google Shape;372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73" name="Google Shape;373;p10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4" name="Google Shape;374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5" name="Google Shape;375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76" name="Google Shape;376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77" name="Google Shape;377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8" name="Google Shape;378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9" name="Google Shape;379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80" name="Google Shape;380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81" name="Google Shape;381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2" name="Google Shape;382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83" name="Google Shape;383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4" name="Google Shape;384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5" name="Google Shape;385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86" name="Google Shape;386;p10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87" name="Google Shape;387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2" name="Google Shape;392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93" name="Google Shape;393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" name="Google Shape;395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6" name="Google Shape;396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9" name="Google Shape;399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" name="Google Shape;401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02" name="Google Shape;402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" name="Google Shape;404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5" name="Google Shape;405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06" name="Google Shape;406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10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20" name="Google Shape;420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0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423" name="Google Shape;42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4" name="Google Shape;42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" name="Google Shape;426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3" name="Google Shape;43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4" name="Google Shape;43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" name="Google Shape;44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0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47" name="Google Shape;447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10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50" name="Google Shape;450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0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453" name="Google Shape;45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54" name="Google Shape;45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56" name="Google Shape;456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" name="Google Shape;46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64" name="Google Shape;46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0" name="Google Shape;47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0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10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481" name="Google Shape;481;p10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10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p10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485" name="Google Shape;485;p10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10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10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490" name="Google Shape;490;p10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10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0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494" name="Google Shape;494;p10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10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10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509" name="Google Shape;509;p10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510" name="Google Shape;510;p1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11" name="Google Shape;511;p1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12" name="Google Shape;512;p10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513" name="Google Shape;513;p10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5" name="Google Shape;515;p10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10"/>
          <p:cNvGrpSpPr/>
          <p:nvPr/>
        </p:nvGrpSpPr>
        <p:grpSpPr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19" name="Google Shape;519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"/>
            <p:cNvSpPr txBox="1"/>
            <p:nvPr/>
          </p:nvSpPr>
          <p:spPr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3" name="Google Shape;523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4" name="Google Shape;524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6" name="Google Shape;526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528" name="Google Shape;528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0"/>
            <p:cNvSpPr txBox="1"/>
            <p:nvPr/>
          </p:nvSpPr>
          <p:spPr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" name="Google Shape;532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5" name="Google Shape;535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10"/>
          <p:cNvGrpSpPr/>
          <p:nvPr/>
        </p:nvGrpSpPr>
        <p:grpSpPr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537" name="Google Shape;537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0"/>
            <p:cNvSpPr txBox="1"/>
            <p:nvPr/>
          </p:nvSpPr>
          <p:spPr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1" name="Google Shape;541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4" name="Google Shape;544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45" name="Google Shape;545;p10"/>
          <p:cNvCxnSpPr/>
          <p:nvPr/>
        </p:nvCxnSpPr>
        <p:spPr>
          <a:xfrm>
            <a:off x="8998030" y="4451439"/>
            <a:ext cx="1290637" cy="54133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6" name="Google Shape;546;p10"/>
          <p:cNvCxnSpPr/>
          <p:nvPr/>
        </p:nvCxnSpPr>
        <p:spPr>
          <a:xfrm>
            <a:off x="9093280" y="1325651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7" name="Google Shape;547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Creating a network </a:t>
            </a:r>
            <a:r>
              <a:rPr lang="en-US"/>
              <a:t>a</a:t>
            </a:r>
            <a:r>
              <a:rPr lang="en-US" sz="4400"/>
              <a:t>pp</a:t>
            </a:r>
            <a:endParaRPr sz="4400"/>
          </a:p>
        </p:txBody>
      </p:sp>
      <p:sp>
        <p:nvSpPr>
          <p:cNvPr id="548" name="Google Shape;548;p10"/>
          <p:cNvSpPr txBox="1"/>
          <p:nvPr/>
        </p:nvSpPr>
        <p:spPr>
          <a:xfrm>
            <a:off x="889178" y="1334086"/>
            <a:ext cx="5309184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write programs that: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on (different) end systems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communicate over network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web server software communicates with browser software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need to write software for network-core devices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network-core devices do not run user applications 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 on end systems  allows for rapid app development, propagation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9" name="Google Shape;549;p10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50" name="Google Shape;550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5" name="Google Shape;555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56" name="Google Shape;556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8" name="Google Shape;558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9" name="Google Shape;559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60" name="Google Shape;560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2" name="Google Shape;562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" name="Google Shape;564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65" name="Google Shape;565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" name="Google Shape;568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69" name="Google Shape;569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" name="Google Shape;571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" name="Google Shape;590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591" name="Google Shape;591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95" name="Google Shape;595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96" name="Google Shape;596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97" name="Google Shape;597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8" name="Google Shape;598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99" name="Google Shape;599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1" name="Google Shape;601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2" name="Google Shape;602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3" name="Google Shape;603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4" name="Google Shape;604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5" name="Google Shape;605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6" name="Google Shape;606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07" name="Google Shape;607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608" name="Google Shape;608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0" name="Google Shape;610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1" name="Google Shape;611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" name="Google Shape;612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4" name="Google Shape;614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" name="Google Shape;615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16" name="Google Shape;616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618" name="Google Shape;618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620" name="Google Shape;620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621" name="Google Shape;621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1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1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4" name="Google Shape;624;p1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5" name="Google Shape;625;p1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6" name="Google Shape;626;p1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1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1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1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1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1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1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33" name="Google Shape;633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634" name="Google Shape;634;p11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635" name="Google Shape;635;p11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" name="Google Shape;636;p11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" name="Google Shape;637;p11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" name="Google Shape;638;p11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Google Shape;639;p11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Google Shape;640;p11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11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" name="Google Shape;642;p11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" name="Google Shape;643;p11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" name="Google Shape;644;p11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11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11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11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11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11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11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1" name="Google Shape;651;p11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2" name="Google Shape;652;p11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3" name="Google Shape;653;p11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4" name="Google Shape;654;p11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5" name="Google Shape;655;p11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6" name="Google Shape;656;p11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7" name="Google Shape;657;p11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11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659" name="Google Shape;65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60" name="Google Shape;66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661" name="Google Shape;66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2" name="Google Shape;662;p11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3" name="Google Shape;663;p11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4" name="Google Shape;664;p11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665" name="Google Shape;665;p11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11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11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11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11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11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11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11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11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11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11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11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11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11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11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680" name="Google Shape;68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681" name="Google Shape;68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2" name="Google Shape;682;p11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683" name="Google Shape;68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5" name="Google Shape;68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6" name="Google Shape;68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" name="Google Shape;690;p11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691" name="Google Shape;691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4" name="Google Shape;694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" name="Google Shape;698;p11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699" name="Google Shape;69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1" name="Google Shape;70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2" name="Google Shape;70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" name="Google Shape;706;p11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707" name="Google Shape;707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9" name="Google Shape;709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0" name="Google Shape;710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4" name="Google Shape;714;p11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715" name="Google Shape;71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6" name="Google Shape;71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7" name="Google Shape;71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" name="Google Shape;71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2" name="Google Shape;722;p11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723" name="Google Shape;72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4" name="Google Shape;72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5" name="Google Shape;72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6" name="Google Shape;72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0" name="Google Shape;730;p11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731" name="Google Shape;73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2" name="Google Shape;73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3" name="Google Shape;73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4" name="Google Shape;73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8" name="Google Shape;738;p1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739" name="Google Shape;73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" name="Google Shape;74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1" name="Google Shape;74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" name="Google Shape;74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" name="Google Shape;746;p1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747" name="Google Shape;74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8" name="Google Shape;74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9" name="Google Shape;74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0" name="Google Shape;75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4" name="Google Shape;754;p1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755" name="Google Shape;75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6" name="Google Shape;75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7" name="Google Shape;75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8" name="Google Shape;75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" name="Google Shape;762;p1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763" name="Google Shape;76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4" name="Google Shape;76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5" name="Google Shape;76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6" name="Google Shape;76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0" name="Google Shape;770;p1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771" name="Google Shape;77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2" name="Google Shape;77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" name="Google Shape;77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4" name="Google Shape;77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8" name="Google Shape;778;p1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779" name="Google Shape;77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0" name="Google Shape;78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1" name="Google Shape;78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2" name="Google Shape;78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6" name="Google Shape;786;p1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787" name="Google Shape;78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9" name="Google Shape;78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" name="Google Shape;79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" name="Google Shape;794;p1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795" name="Google Shape;79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7" name="Google Shape;79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8" name="Google Shape;79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2" name="Google Shape;802;p1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803" name="Google Shape;80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" name="Google Shape;80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6" name="Google Shape;80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0" name="Google Shape;810;p11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811" name="Google Shape;81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3" name="Google Shape;81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4" name="Google Shape;81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8" name="Google Shape;818;p11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819" name="Google Shape;81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1" name="Google Shape;82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2" name="Google Shape;82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6" name="Google Shape;826;p11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827" name="Google Shape;827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28" name="Google Shape;82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9" name="Google Shape;829;p11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30" name="Google Shape;830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11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11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7" name="Google Shape;837;p1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38" name="Google Shape;83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4" name="Google Shape;844;p11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1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0" name="Google Shape;850;p11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851" name="Google Shape;851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2" name="Google Shape;852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3" name="Google Shape;853;p11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854" name="Google Shape;854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5" name="Google Shape;85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6" name="Google Shape;856;p11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857" name="Google Shape;857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58" name="Google Shape;858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59" name="Google Shape;859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0" name="Google Shape;860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61" name="Google Shape;861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2" name="Google Shape;862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8" name="Google Shape;868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69" name="Google Shape;869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5" name="Google Shape;875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82" name="Google Shape;882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3" name="Google Shape;883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4" name="Google Shape;884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85" name="Google Shape;885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86" name="Google Shape;886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87" name="Google Shape;887;p11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888" name="Google Shape;888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89" name="Google Shape;889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0" name="Google Shape;890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91" name="Google Shape;891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2" name="Google Shape;892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3" name="Google Shape;893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94" name="Google Shape;894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95" name="Google Shape;895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6" name="Google Shape;896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97" name="Google Shape;897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8" name="Google Shape;898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9" name="Google Shape;899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00" name="Google Shape;900;p11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901" name="Google Shape;901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6" name="Google Shape;906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07" name="Google Shape;907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" name="Google Shape;909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0" name="Google Shape;910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11" name="Google Shape;911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3" name="Google Shape;913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16" name="Google Shape;916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" name="Google Shape;918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9" name="Google Shape;919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20" name="Google Shape;920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2" name="Google Shape;922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1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934" name="Google Shape;934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11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937" name="Google Shape;93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38" name="Google Shape;93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40" name="Google Shape;940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1" name="Google Shape;941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7" name="Google Shape;947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48" name="Google Shape;94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4" name="Google Shape;954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1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961" name="Google Shape;961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3" name="Google Shape;963;p1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964" name="Google Shape;964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6" name="Google Shape;966;p11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967" name="Google Shape;96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68" name="Google Shape;96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70" name="Google Shape;970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7" name="Google Shape;977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78" name="Google Shape;97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4" name="Google Shape;984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0" name="Google Shape;990;p11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1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1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1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" name="Google Shape;994;p11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995" name="Google Shape;995;p11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7" name="Google Shape;997;p11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8" name="Google Shape;998;p11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999" name="Google Shape;999;p11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11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1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3" name="Google Shape;1003;p11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004" name="Google Shape;1004;p11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6" name="Google Shape;1006;p11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" name="Google Shape;1007;p11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008" name="Google Shape;1008;p11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" name="Google Shape;1010;p11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1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1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1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1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1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1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1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1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1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1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1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2" name="Google Shape;1022;p11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1023" name="Google Shape;1023;p11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024" name="Google Shape;1024;p11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025" name="Google Shape;1025;p11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6" name="Google Shape;1026;p11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027" name="Google Shape;1027;p1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8" name="Google Shape;1028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9" name="Google Shape;1029;p11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32" name="Google Shape;1032;p11"/>
          <p:cNvCxnSpPr/>
          <p:nvPr/>
        </p:nvCxnSpPr>
        <p:spPr>
          <a:xfrm rot="10800000">
            <a:off x="8310623" y="5474824"/>
            <a:ext cx="1423686" cy="28936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3" name="Google Shape;1033;p11"/>
          <p:cNvCxnSpPr/>
          <p:nvPr/>
        </p:nvCxnSpPr>
        <p:spPr>
          <a:xfrm>
            <a:off x="8370450" y="2297968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4" name="Google Shape;103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</a:t>
            </a:r>
            <a:r>
              <a:rPr lang="en-US"/>
              <a:t>p</a:t>
            </a:r>
            <a:r>
              <a:rPr lang="en-US" sz="4400"/>
              <a:t>aradigm</a:t>
            </a:r>
            <a:endParaRPr sz="4400"/>
          </a:p>
        </p:txBody>
      </p:sp>
      <p:sp>
        <p:nvSpPr>
          <p:cNvPr id="1035" name="Google Shape;1035;p11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 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always-on host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permanent IP address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in data centers, for scaling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clients: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contact, communicate with server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be intermittently connected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dynamic IP addresses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communicate directly with each other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HTTP, IMAP, FTP</a:t>
            </a:r>
            <a:endParaRPr/>
          </a:p>
        </p:txBody>
      </p:sp>
      <p:grpSp>
        <p:nvGrpSpPr>
          <p:cNvPr id="1036" name="Google Shape;1036;p11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037" name="Google Shape;1037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2" name="Google Shape;1042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43" name="Google Shape;1043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5" name="Google Shape;1045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6" name="Google Shape;1046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47" name="Google Shape;1047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9" name="Google Shape;1049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1" name="Google Shape;1051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52" name="Google Shape;1052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" name="Google Shape;1054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5" name="Google Shape;1055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56" name="Google Shape;1056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9" name="Google Shape;1069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2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2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2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2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2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2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081" name="Google Shape;1081;p12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082" name="Google Shape;1082;p12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083" name="Google Shape;1083;p12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4" name="Google Shape;1084;p12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085" name="Google Shape;1085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7" name="Google Shape;1087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8" name="Google Shape;1088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9" name="Google Shape;1089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1" name="Google Shape;1091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93" name="Google Shape;1093;p12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094" name="Google Shape;1094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6" name="Google Shape;1096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7" name="Google Shape;1097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8" name="Google Shape;1098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9" name="Google Shape;1099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0" name="Google Shape;1100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1" name="Google Shape;1101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02" name="Google Shape;1102;p12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12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104" name="Google Shape;1104;p12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2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106" name="Google Shape;1106;p12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107" name="Google Shape;1107;p12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8" name="Google Shape;1108;p12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9" name="Google Shape;1109;p12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0" name="Google Shape;1110;p12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1" name="Google Shape;1111;p12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2" name="Google Shape;1112;p12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" name="Google Shape;1113;p12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4" name="Google Shape;1114;p12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5" name="Google Shape;1115;p12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6" name="Google Shape;1116;p12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12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12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19" name="Google Shape;1119;p12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120" name="Google Shape;1120;p12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121" name="Google Shape;1121;p12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12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12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4" name="Google Shape;1124;p12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" name="Google Shape;1125;p12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" name="Google Shape;1126;p12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" name="Google Shape;1127;p12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" name="Google Shape;1128;p12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" name="Google Shape;1129;p12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" name="Google Shape;1130;p12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1" name="Google Shape;1131;p12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" name="Google Shape;1132;p12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" name="Google Shape;1133;p12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12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12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6" name="Google Shape;1136;p12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7" name="Google Shape;1137;p12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8" name="Google Shape;1138;p12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9" name="Google Shape;1139;p12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0" name="Google Shape;1140;p12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1" name="Google Shape;1141;p12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2" name="Google Shape;1142;p12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3" name="Google Shape;1143;p12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" name="Google Shape;1144;p12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145" name="Google Shape;114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146" name="Google Shape;114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147" name="Google Shape;114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12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49" name="Google Shape;1149;p12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0" name="Google Shape;1150;p12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151" name="Google Shape;1151;p12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12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12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4" name="Google Shape;1154;p12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5" name="Google Shape;1155;p12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12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12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12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12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12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12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12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12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12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12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166" name="Google Shape;116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167" name="Google Shape;116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8" name="Google Shape;1168;p12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169" name="Google Shape;116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0" name="Google Shape;117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1" name="Google Shape;117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2" name="Google Shape;117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6" name="Google Shape;1176;p12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77" name="Google Shape;1177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9" name="Google Shape;1179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80" name="Google Shape;1180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4" name="Google Shape;1184;p12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185" name="Google Shape;118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6" name="Google Shape;118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7" name="Google Shape;118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8" name="Google Shape;118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92" name="Google Shape;1192;p12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193" name="Google Shape;1193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5" name="Google Shape;1195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6" name="Google Shape;1196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12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201" name="Google Shape;120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02" name="Google Shape;120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03" name="Google Shape;120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04" name="Google Shape;120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8" name="Google Shape;1208;p12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209" name="Google Shape;120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0" name="Google Shape;121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1" name="Google Shape;121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12" name="Google Shape;121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12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217" name="Google Shape;121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8" name="Google Shape;121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9" name="Google Shape;121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0" name="Google Shape;122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24" name="Google Shape;1224;p12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225" name="Google Shape;122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26" name="Google Shape;122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27" name="Google Shape;122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8" name="Google Shape;122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2" name="Google Shape;1232;p12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233" name="Google Shape;123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4" name="Google Shape;123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5" name="Google Shape;123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6" name="Google Shape;123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0" name="Google Shape;1240;p12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241" name="Google Shape;124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42" name="Google Shape;124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43" name="Google Shape;124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4" name="Google Shape;124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8" name="Google Shape;1248;p12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249" name="Google Shape;124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0" name="Google Shape;125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1" name="Google Shape;125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2" name="Google Shape;125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6" name="Google Shape;1256;p12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257" name="Google Shape;125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8" name="Google Shape;125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9" name="Google Shape;125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0" name="Google Shape;126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4" name="Google Shape;1264;p12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265" name="Google Shape;126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66" name="Google Shape;126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67" name="Google Shape;126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8" name="Google Shape;126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2" name="Google Shape;1272;p12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273" name="Google Shape;127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74" name="Google Shape;127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75" name="Google Shape;127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6" name="Google Shape;127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0" name="Google Shape;1280;p12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281" name="Google Shape;128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82" name="Google Shape;128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83" name="Google Shape;128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84" name="Google Shape;128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8" name="Google Shape;1288;p12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289" name="Google Shape;128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0" name="Google Shape;129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1" name="Google Shape;129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92" name="Google Shape;129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6" name="Google Shape;1296;p12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1297" name="Google Shape;129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8" name="Google Shape;129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9" name="Google Shape;129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0" name="Google Shape;130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4" name="Google Shape;1304;p12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1305" name="Google Shape;130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06" name="Google Shape;130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07" name="Google Shape;130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8" name="Google Shape;130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2" name="Google Shape;1312;p12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1313" name="Google Shape;1313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14" name="Google Shape;1314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5" name="Google Shape;1315;p12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16" name="Google Shape;1316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2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2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2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2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2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2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3" name="Google Shape;1323;p12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324" name="Google Shape;1324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0" name="Google Shape;1330;p12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12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12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2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2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12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6" name="Google Shape;1336;p12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1337" name="Google Shape;1337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38" name="Google Shape;1338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9" name="Google Shape;1339;p12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1340" name="Google Shape;1340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41" name="Google Shape;1341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2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43" name="Google Shape;1343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12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2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12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2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2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0" name="Google Shape;1350;p12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351" name="Google Shape;1351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7" name="Google Shape;1357;p12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2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2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2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2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2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3" name="Google Shape;1363;p12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1364" name="Google Shape;1364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65" name="Google Shape;1365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6" name="Google Shape;1366;p12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367" name="Google Shape;1367;p12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68" name="Google Shape;1368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69" name="Google Shape;1369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70" name="Google Shape;1370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1" name="Google Shape;1371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2" name="Google Shape;1372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73" name="Google Shape;1373;p12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74" name="Google Shape;1374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75" name="Google Shape;1375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76" name="Google Shape;1376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7" name="Google Shape;1377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8" name="Google Shape;1378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79" name="Google Shape;1379;p12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380" name="Google Shape;1380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5" name="Google Shape;1385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86" name="Google Shape;1386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8" name="Google Shape;1388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9" name="Google Shape;1389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90" name="Google Shape;1390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2" name="Google Shape;1392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4" name="Google Shape;1394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95" name="Google Shape;1395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7" name="Google Shape;1397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8" name="Google Shape;1398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99" name="Google Shape;1399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1" name="Google Shape;1401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2" name="Google Shape;1412;p12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413" name="Google Shape;1413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5" name="Google Shape;1415;p12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416" name="Google Shape;1416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8" name="Google Shape;1418;p12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419" name="Google Shape;1419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0" name="Google Shape;142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1" name="Google Shape;1421;p12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1422" name="Google Shape;1422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23" name="Google Shape;1423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25" name="Google Shape;1425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2" name="Google Shape;1432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33" name="Google Shape;1433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9" name="Google Shape;1439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5" name="Google Shape;1445;p12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12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12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12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9" name="Google Shape;1449;p12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450" name="Google Shape;1450;p12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2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2" name="Google Shape;1452;p12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3" name="Google Shape;1453;p12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454" name="Google Shape;1454;p12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2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6" name="Google Shape;1456;p12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2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8" name="Google Shape;1458;p12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459" name="Google Shape;1459;p12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2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1" name="Google Shape;1461;p12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2" name="Google Shape;1462;p12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463" name="Google Shape;1463;p12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2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5" name="Google Shape;1465;p12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12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12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12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2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12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12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12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12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2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Peer-peer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1477" name="Google Shape;1477;p12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as well as new service demands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P2P file sharing</a:t>
            </a:r>
            <a:endParaRPr/>
          </a:p>
        </p:txBody>
      </p:sp>
      <p:grpSp>
        <p:nvGrpSpPr>
          <p:cNvPr id="1478" name="Google Shape;1478;p12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479" name="Google Shape;1479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4" name="Google Shape;1484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85" name="Google Shape;1485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7" name="Google Shape;1487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8" name="Google Shape;1488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89" name="Google Shape;1489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1" name="Google Shape;1491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3" name="Google Shape;1493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94" name="Google Shape;1494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6" name="Google Shape;1496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7" name="Google Shape;1497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98" name="Google Shape;1498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0" name="Google Shape;1500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1" name="Google Shape;1511;p12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2" name="Google Shape;1512;p12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1513" name="Google Shape;1513;p12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2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15" name="Google Shape;1515;p12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16" name="Google Shape;1516;p12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17" name="Google Shape;1517;p12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2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2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0" name="Google Shape;1520;p12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21" name="Google Shape;1521;p12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22" name="Google Shape;1522;p12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1523" name="Google Shape;1523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24" name="Google Shape;1524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5" name="Google Shape;1525;p12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1526" name="Google Shape;1526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27" name="Google Shape;152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8" name="Google Shape;1528;p12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1529" name="Google Shape;1529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0" name="Google Shape;153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1" name="Google Shape;1531;p12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532" name="Google Shape;1532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4" name="Google Shape;1534;p12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1535" name="Google Shape;1535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536" name="Google Shape;1536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7" name="Google Shape;1537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538" name="Google Shape;1538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9" name="Google Shape;1539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5" name="Google Shape;1545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46" name="Google Shape;1546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2" name="Google Shape;1552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8" name="Google Shape;1558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Processes communicating</a:t>
            </a:r>
            <a:endParaRPr sz="4400"/>
          </a:p>
        </p:txBody>
      </p:sp>
      <p:sp>
        <p:nvSpPr>
          <p:cNvPr id="1565" name="Google Shape;1565;p13"/>
          <p:cNvSpPr txBox="1"/>
          <p:nvPr/>
        </p:nvSpPr>
        <p:spPr>
          <a:xfrm>
            <a:off x="606042" y="1565977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running within a host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 same host, two processes communicate using 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inter-process communication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(defined by OS)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in different hosts communicate by exchanging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13"/>
          <p:cNvSpPr/>
          <p:nvPr/>
        </p:nvSpPr>
        <p:spPr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applications with P2P architectures have client processes &amp; server processes</a:t>
            </a:r>
            <a:endParaRPr/>
          </a:p>
        </p:txBody>
      </p:sp>
      <p:grpSp>
        <p:nvGrpSpPr>
          <p:cNvPr id="1567" name="Google Shape;1567;p13"/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1568" name="Google Shape;1568;p13"/>
            <p:cNvSpPr txBox="1"/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client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initiates communication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server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waits to be contacted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3"/>
            <p:cNvSpPr/>
            <p:nvPr/>
          </p:nvSpPr>
          <p:spPr>
            <a:xfrm>
              <a:off x="6974010" y="1786951"/>
              <a:ext cx="4092575" cy="206216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3"/>
            <p:cNvSpPr txBox="1"/>
            <p:nvPr/>
          </p:nvSpPr>
          <p:spPr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clients, servers</a:t>
              </a:r>
              <a:endParaRPr/>
            </a:p>
          </p:txBody>
        </p:sp>
      </p:grpSp>
      <p:sp>
        <p:nvSpPr>
          <p:cNvPr id="1571" name="Google Shape;157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Sockets</a:t>
            </a:r>
            <a:endParaRPr sz="4400"/>
          </a:p>
        </p:txBody>
      </p:sp>
      <p:sp>
        <p:nvSpPr>
          <p:cNvPr id="1578" name="Google Shape;1578;p14"/>
          <p:cNvSpPr txBox="1"/>
          <p:nvPr/>
        </p:nvSpPr>
        <p:spPr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sends/receives messages to/from its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analogous to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shoves message out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relies on transport infrastructure on other side of door to deliver message to socket at receiving process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sockets involved: one on each side</a:t>
            </a:r>
            <a:endParaRPr/>
          </a:p>
        </p:txBody>
      </p:sp>
      <p:sp>
        <p:nvSpPr>
          <p:cNvPr id="1579" name="Google Shape;1579;p14"/>
          <p:cNvSpPr/>
          <p:nvPr/>
        </p:nvSpPr>
        <p:spPr>
          <a:xfrm>
            <a:off x="8482481" y="4098352"/>
            <a:ext cx="736600" cy="1998662"/>
          </a:xfrm>
          <a:custGeom>
            <a:rect b="b" l="l" r="r" t="t"/>
            <a:pathLst>
              <a:path extrusionOk="0" h="1259" w="464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14"/>
          <p:cNvSpPr/>
          <p:nvPr/>
        </p:nvSpPr>
        <p:spPr>
          <a:xfrm>
            <a:off x="5167781" y="5395339"/>
            <a:ext cx="1808162" cy="1031875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14"/>
          <p:cNvSpPr txBox="1"/>
          <p:nvPr/>
        </p:nvSpPr>
        <p:spPr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cxnSp>
        <p:nvCxnSpPr>
          <p:cNvPr id="1582" name="Google Shape;1582;p14"/>
          <p:cNvCxnSpPr/>
          <p:nvPr/>
        </p:nvCxnSpPr>
        <p:spPr>
          <a:xfrm>
            <a:off x="4926481" y="5938264"/>
            <a:ext cx="22113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3" name="Google Shape;1583;p14"/>
          <p:cNvSpPr txBox="1"/>
          <p:nvPr/>
        </p:nvSpPr>
        <p:spPr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by 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4" name="Google Shape;1584;p14"/>
          <p:cNvSpPr txBox="1"/>
          <p:nvPr/>
        </p:nvSpPr>
        <p:spPr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 by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app developer</a:t>
            </a:r>
            <a:endParaRPr/>
          </a:p>
        </p:txBody>
      </p:sp>
      <p:sp>
        <p:nvSpPr>
          <p:cNvPr id="1585" name="Google Shape;1585;p14"/>
          <p:cNvSpPr/>
          <p:nvPr/>
        </p:nvSpPr>
        <p:spPr>
          <a:xfrm>
            <a:off x="2742081" y="4161852"/>
            <a:ext cx="758825" cy="1997075"/>
          </a:xfrm>
          <a:custGeom>
            <a:rect b="b" l="l" r="r" t="t"/>
            <a:pathLst>
              <a:path extrusionOk="0" h="1258" w="47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4"/>
          <p:cNvSpPr/>
          <p:nvPr/>
        </p:nvSpPr>
        <p:spPr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7" name="Google Shape;1587;p14"/>
          <p:cNvSpPr/>
          <p:nvPr/>
        </p:nvSpPr>
        <p:spPr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8" name="Google Shape;1588;p14"/>
          <p:cNvCxnSpPr/>
          <p:nvPr/>
        </p:nvCxnSpPr>
        <p:spPr>
          <a:xfrm>
            <a:off x="3516781" y="49317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9" name="Google Shape;1589;p14"/>
          <p:cNvSpPr txBox="1"/>
          <p:nvPr/>
        </p:nvSpPr>
        <p:spPr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590" name="Google Shape;1590;p14"/>
          <p:cNvCxnSpPr/>
          <p:nvPr/>
        </p:nvCxnSpPr>
        <p:spPr>
          <a:xfrm>
            <a:off x="3524718" y="52524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14"/>
          <p:cNvCxnSpPr/>
          <p:nvPr/>
        </p:nvCxnSpPr>
        <p:spPr>
          <a:xfrm>
            <a:off x="3510431" y="556202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14"/>
          <p:cNvCxnSpPr/>
          <p:nvPr/>
        </p:nvCxnSpPr>
        <p:spPr>
          <a:xfrm>
            <a:off x="3510431" y="58477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14"/>
          <p:cNvSpPr txBox="1"/>
          <p:nvPr/>
        </p:nvSpPr>
        <p:spPr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594" name="Google Shape;1594;p14"/>
          <p:cNvSpPr txBox="1"/>
          <p:nvPr/>
        </p:nvSpPr>
        <p:spPr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595" name="Google Shape;1595;p14"/>
          <p:cNvSpPr txBox="1"/>
          <p:nvPr/>
        </p:nvSpPr>
        <p:spPr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596" name="Google Shape;1596;p14"/>
          <p:cNvSpPr txBox="1"/>
          <p:nvPr/>
        </p:nvSpPr>
        <p:spPr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597" name="Google Shape;1597;p14"/>
          <p:cNvSpPr/>
          <p:nvPr/>
        </p:nvSpPr>
        <p:spPr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598" name="Google Shape;1598;p14"/>
          <p:cNvGrpSpPr/>
          <p:nvPr/>
        </p:nvGrpSpPr>
        <p:grpSpPr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1599" name="Google Shape;1599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3" name="Google Shape;1603;p14"/>
          <p:cNvSpPr/>
          <p:nvPr/>
        </p:nvSpPr>
        <p:spPr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4" name="Google Shape;1604;p14"/>
          <p:cNvSpPr/>
          <p:nvPr/>
        </p:nvSpPr>
        <p:spPr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5" name="Google Shape;1605;p14"/>
          <p:cNvCxnSpPr/>
          <p:nvPr/>
        </p:nvCxnSpPr>
        <p:spPr>
          <a:xfrm>
            <a:off x="7179143" y="49032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6" name="Google Shape;1606;p14"/>
          <p:cNvSpPr txBox="1"/>
          <p:nvPr/>
        </p:nvSpPr>
        <p:spPr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607" name="Google Shape;1607;p14"/>
          <p:cNvCxnSpPr/>
          <p:nvPr/>
        </p:nvCxnSpPr>
        <p:spPr>
          <a:xfrm>
            <a:off x="7187081" y="52238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14"/>
          <p:cNvCxnSpPr/>
          <p:nvPr/>
        </p:nvCxnSpPr>
        <p:spPr>
          <a:xfrm>
            <a:off x="7172793" y="55334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14"/>
          <p:cNvCxnSpPr/>
          <p:nvPr/>
        </p:nvCxnSpPr>
        <p:spPr>
          <a:xfrm>
            <a:off x="7172793" y="5819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14"/>
          <p:cNvSpPr txBox="1"/>
          <p:nvPr/>
        </p:nvSpPr>
        <p:spPr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611" name="Google Shape;1611;p14"/>
          <p:cNvSpPr txBox="1"/>
          <p:nvPr/>
        </p:nvSpPr>
        <p:spPr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612" name="Google Shape;1612;p14"/>
          <p:cNvSpPr txBox="1"/>
          <p:nvPr/>
        </p:nvSpPr>
        <p:spPr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613" name="Google Shape;1613;p14"/>
          <p:cNvSpPr txBox="1"/>
          <p:nvPr/>
        </p:nvSpPr>
        <p:spPr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614" name="Google Shape;1614;p14"/>
          <p:cNvSpPr/>
          <p:nvPr/>
        </p:nvSpPr>
        <p:spPr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615" name="Google Shape;1615;p14"/>
          <p:cNvGrpSpPr/>
          <p:nvPr/>
        </p:nvGrpSpPr>
        <p:grpSpPr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616" name="Google Shape;1616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4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4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4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20" name="Google Shape;1620;p14"/>
          <p:cNvCxnSpPr/>
          <p:nvPr/>
        </p:nvCxnSpPr>
        <p:spPr>
          <a:xfrm rot="10800000">
            <a:off x="8361831" y="45396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1" name="Google Shape;1621;p14"/>
          <p:cNvCxnSpPr/>
          <p:nvPr/>
        </p:nvCxnSpPr>
        <p:spPr>
          <a:xfrm>
            <a:off x="8587256" y="4965127"/>
            <a:ext cx="0" cy="102235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14"/>
          <p:cNvCxnSpPr/>
          <p:nvPr/>
        </p:nvCxnSpPr>
        <p:spPr>
          <a:xfrm rot="10800000">
            <a:off x="8611068" y="5465189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3" name="Google Shape;1623;p14"/>
          <p:cNvSpPr txBox="1"/>
          <p:nvPr/>
        </p:nvSpPr>
        <p:spPr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socket</a:t>
            </a:r>
            <a:endParaRPr/>
          </a:p>
        </p:txBody>
      </p:sp>
      <p:cxnSp>
        <p:nvCxnSpPr>
          <p:cNvPr id="1624" name="Google Shape;1624;p14"/>
          <p:cNvCxnSpPr/>
          <p:nvPr/>
        </p:nvCxnSpPr>
        <p:spPr>
          <a:xfrm flipH="1" rot="10800000">
            <a:off x="4528018" y="4420614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14"/>
          <p:cNvCxnSpPr/>
          <p:nvPr/>
        </p:nvCxnSpPr>
        <p:spPr>
          <a:xfrm rot="10800000">
            <a:off x="6463181" y="4409502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26" name="Google Shape;1626;p14"/>
          <p:cNvGrpSpPr/>
          <p:nvPr/>
        </p:nvGrpSpPr>
        <p:grpSpPr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descr="desktop_computer_stylized_medium" id="1627" name="Google Shape;162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8" name="Google Shape;1628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9" name="Google Shape;1629;p14"/>
          <p:cNvGrpSpPr/>
          <p:nvPr/>
        </p:nvGrpSpPr>
        <p:grpSpPr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descr="desktop_computer_stylized_medium" id="1630" name="Google Shape;163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1" name="Google Shape;1631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2" name="Google Shape;1632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Addressing processes</a:t>
            </a:r>
            <a:endParaRPr sz="4400"/>
          </a:p>
        </p:txBody>
      </p:sp>
      <p:sp>
        <p:nvSpPr>
          <p:cNvPr id="1639" name="Google Shape;1639;p15"/>
          <p:cNvSpPr txBox="1"/>
          <p:nvPr/>
        </p:nvSpPr>
        <p:spPr>
          <a:xfrm>
            <a:off x="695101" y="1464896"/>
            <a:ext cx="496447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receive messages, process  must have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device has unique 32-bit IP address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 IP address of host on which process runs suffice for identifying the process?</a:t>
            </a:r>
            <a:endParaRPr/>
          </a:p>
        </p:txBody>
      </p:sp>
      <p:sp>
        <p:nvSpPr>
          <p:cNvPr id="1640" name="Google Shape;1640;p15"/>
          <p:cNvSpPr txBox="1"/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includes both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associated with process on host.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port numbers: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server: 80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server: 25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message to gaia.cs.umass.edu web 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128.119.245.12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shortly…</a:t>
            </a:r>
            <a:endParaRPr/>
          </a:p>
        </p:txBody>
      </p:sp>
      <p:sp>
        <p:nvSpPr>
          <p:cNvPr id="1641" name="Google Shape;1641;p15"/>
          <p:cNvSpPr/>
          <p:nvPr/>
        </p:nvSpPr>
        <p:spPr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no,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processes can be running on same host</a:t>
            </a:r>
            <a:endParaRPr/>
          </a:p>
        </p:txBody>
      </p:sp>
      <p:sp>
        <p:nvSpPr>
          <p:cNvPr id="1642" name="Google Shape;1642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An application-layer </a:t>
            </a:r>
            <a:r>
              <a:rPr lang="en-US"/>
              <a:t>p</a:t>
            </a:r>
            <a:r>
              <a:rPr lang="en-US" sz="4400"/>
              <a:t>rotocol </a:t>
            </a:r>
            <a:r>
              <a:rPr lang="en-US"/>
              <a:t>d</a:t>
            </a:r>
            <a:r>
              <a:rPr lang="en-US" sz="4400"/>
              <a:t>efines:</a:t>
            </a:r>
            <a:endParaRPr sz="4400"/>
          </a:p>
        </p:txBody>
      </p:sp>
      <p:sp>
        <p:nvSpPr>
          <p:cNvPr id="1649" name="Google Shape;1649;p16"/>
          <p:cNvSpPr txBox="1"/>
          <p:nvPr/>
        </p:nvSpPr>
        <p:spPr>
          <a:xfrm>
            <a:off x="759182" y="1464838"/>
            <a:ext cx="52973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types of messages exchanged,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request, response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syntax: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fields in messages &amp; how fields are delineated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semantics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of information in fields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when and how processes send &amp; respond to messages</a:t>
            </a:r>
            <a:endParaRPr/>
          </a:p>
        </p:txBody>
      </p:sp>
      <p:sp>
        <p:nvSpPr>
          <p:cNvPr id="1650" name="Google Shape;1650;p16"/>
          <p:cNvSpPr txBox="1"/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in RFCs, everyone has access to protocol definition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allows for interoperability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HTTP,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proprietary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Skype, Zoom</a:t>
            </a:r>
            <a:endParaRPr/>
          </a:p>
        </p:txBody>
      </p:sp>
      <p:sp>
        <p:nvSpPr>
          <p:cNvPr id="1651" name="Google Shape;1651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What </a:t>
            </a:r>
            <a:r>
              <a:rPr lang="en-US"/>
              <a:t>t</a:t>
            </a:r>
            <a:r>
              <a:rPr lang="en-US" sz="4400"/>
              <a:t>ransport </a:t>
            </a:r>
            <a:r>
              <a:rPr lang="en-US"/>
              <a:t>s</a:t>
            </a:r>
            <a:r>
              <a:rPr lang="en-US" sz="4400"/>
              <a:t>ervice does an </a:t>
            </a:r>
            <a:r>
              <a:rPr lang="en-US"/>
              <a:t>a</a:t>
            </a:r>
            <a:r>
              <a:rPr lang="en-US" sz="4400"/>
              <a:t>pp need?</a:t>
            </a:r>
            <a:endParaRPr sz="4400"/>
          </a:p>
        </p:txBody>
      </p:sp>
      <p:sp>
        <p:nvSpPr>
          <p:cNvPr id="1658" name="Google Shape;1658;p17"/>
          <p:cNvSpPr txBox="1"/>
          <p:nvPr/>
        </p:nvSpPr>
        <p:spPr>
          <a:xfrm>
            <a:off x="676025" y="1406872"/>
            <a:ext cx="4972505" cy="279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file transfer, web transactions) require 100% reliable data transfer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(e.g., audio) can tolerate some loss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17"/>
          <p:cNvSpPr txBox="1"/>
          <p:nvPr/>
        </p:nvSpPr>
        <p:spPr>
          <a:xfrm>
            <a:off x="544999" y="4365808"/>
            <a:ext cx="5572612" cy="244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Internet telephony, interactive games) require low delay to be “effective”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7"/>
          <p:cNvSpPr/>
          <p:nvPr/>
        </p:nvSpPr>
        <p:spPr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multimedia) require minimum amount of throughput to be “effective”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(“elastic apps”) make use of whatever throughput they get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7"/>
          <p:cNvSpPr/>
          <p:nvPr/>
        </p:nvSpPr>
        <p:spPr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encryption, data integrity, …</a:t>
            </a:r>
            <a:endParaRPr/>
          </a:p>
        </p:txBody>
      </p:sp>
      <p:sp>
        <p:nvSpPr>
          <p:cNvPr id="1662" name="Google Shape;1662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400"/>
              <a:t>Transport </a:t>
            </a:r>
            <a:r>
              <a:rPr lang="en-US"/>
              <a:t>s</a:t>
            </a:r>
            <a:r>
              <a:rPr lang="en-US" sz="4400"/>
              <a:t>ervice </a:t>
            </a:r>
            <a:r>
              <a:rPr lang="en-US"/>
              <a:t>r</a:t>
            </a:r>
            <a:r>
              <a:rPr lang="en-US" sz="4400"/>
              <a:t>equirements: common apps</a:t>
            </a:r>
            <a:endParaRPr sz="4400"/>
          </a:p>
        </p:txBody>
      </p:sp>
      <p:sp>
        <p:nvSpPr>
          <p:cNvPr id="1669" name="Google Shape;1669;p18"/>
          <p:cNvSpPr txBox="1"/>
          <p:nvPr/>
        </p:nvSpPr>
        <p:spPr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18"/>
          <p:cNvSpPr txBox="1"/>
          <p:nvPr/>
        </p:nvSpPr>
        <p:spPr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loss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18"/>
          <p:cNvSpPr txBox="1"/>
          <p:nvPr/>
        </p:nvSpPr>
        <p:spPr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audio: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5Kbps-1Mbps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10Kbps-5Mbps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as above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Kbps+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</p:txBody>
      </p:sp>
      <p:sp>
        <p:nvSpPr>
          <p:cNvPr id="1672" name="Google Shape;1672;p18"/>
          <p:cNvSpPr txBox="1"/>
          <p:nvPr/>
        </p:nvSpPr>
        <p:spPr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sensitive?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few secs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 and no</a:t>
            </a:r>
            <a:endParaRPr/>
          </a:p>
        </p:txBody>
      </p:sp>
      <p:cxnSp>
        <p:nvCxnSpPr>
          <p:cNvPr id="1673" name="Google Shape;1673;p18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4" name="Google Shape;1674;p18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5" name="Google Shape;1675;p18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6" name="Google Shape;1676;p18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7" name="Google Shape;1677;p18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8" name="Google Shape;1678;p18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9" name="Google Shape;1679;p18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80" name="Google Shape;1680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</a:t>
            </a:r>
            <a:r>
              <a:rPr lang="en-US"/>
              <a:t>t</a:t>
            </a:r>
            <a:r>
              <a:rPr lang="en-US" sz="4400"/>
              <a:t>ransport protocols services</a:t>
            </a:r>
            <a:endParaRPr sz="4400"/>
          </a:p>
        </p:txBody>
      </p:sp>
      <p:sp>
        <p:nvSpPr>
          <p:cNvPr id="1687" name="Google Shape;1687;p19"/>
          <p:cNvSpPr txBox="1"/>
          <p:nvPr/>
        </p:nvSpPr>
        <p:spPr>
          <a:xfrm>
            <a:off x="753320" y="1383910"/>
            <a:ext cx="6016137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TCP service: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transport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won’t overwhelm receiver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congestion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throttle sender when network overloaded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connection-oriented: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setup required between client and server processes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timing, minimum throughput guarantee, security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9"/>
          <p:cNvSpPr txBox="1"/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UDP service: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 data transfer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reliability, flow control, congestion control, timing, throughput guarantee, security, or connection setup.</a:t>
            </a:r>
            <a:endParaRPr/>
          </a:p>
        </p:txBody>
      </p:sp>
      <p:sp>
        <p:nvSpPr>
          <p:cNvPr id="1689" name="Google Shape;1689;p19"/>
          <p:cNvSpPr txBox="1"/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bother?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there a UDP?</a:t>
            </a:r>
            <a:endParaRPr/>
          </a:p>
        </p:txBody>
      </p:sp>
      <p:sp>
        <p:nvSpPr>
          <p:cNvPr id="1690" name="Google Shape;1690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applications, and transport protocols</a:t>
            </a:r>
            <a:endParaRPr sz="4400"/>
          </a:p>
        </p:txBody>
      </p:sp>
      <p:sp>
        <p:nvSpPr>
          <p:cNvPr id="1697" name="Google Shape;1697;p20"/>
          <p:cNvSpPr txBox="1"/>
          <p:nvPr/>
        </p:nvSpPr>
        <p:spPr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telephony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</p:txBody>
      </p:sp>
      <p:cxnSp>
        <p:nvCxnSpPr>
          <p:cNvPr id="1698" name="Google Shape;1698;p20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9" name="Google Shape;1699;p20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0" name="Google Shape;1700;p20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1" name="Google Shape;1701;p20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2" name="Google Shape;1702;p20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3" name="Google Shape;1703;p20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4" name="Google Shape;1704;p20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5" name="Google Shape;1705;p20"/>
          <p:cNvSpPr txBox="1"/>
          <p:nvPr/>
        </p:nvSpPr>
        <p:spPr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 [</a:t>
            </a:r>
            <a:r>
              <a:rPr b="0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RFC 959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[RFC 5321]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 [RFC 7320]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SIP [RFC 3261], RTP [RFC 3550], or proprietary HTTP [RFC 7320], DASH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WOW, FPS (proprietary)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20"/>
          <p:cNvSpPr txBox="1"/>
          <p:nvPr/>
        </p:nvSpPr>
        <p:spPr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or UDP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or TCP</a:t>
            </a:r>
            <a:endParaRPr/>
          </a:p>
        </p:txBody>
      </p:sp>
      <p:sp>
        <p:nvSpPr>
          <p:cNvPr id="1707" name="Google Shape;1707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A8"/>
                </a:solidFill>
              </a:rPr>
              <a:t>Securing TCP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753320" y="1383910"/>
            <a:ext cx="595719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Vanilla TCP &amp; UDP sockets: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passwords sent into socket traverse Internet  in cleartext (!)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Layer Security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(TLS) 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encrypted TCP connections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end-point authenticatio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TSL implemented in application layer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apps use TSL libraries, that use TCP in turn</a:t>
            </a:r>
            <a:endParaRPr b="0" i="0" sz="3200" u="none" cap="none" strike="noStrike">
              <a:solidFill>
                <a:srgbClr val="2222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sent into “socket”  traverse Internet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more: Chapter 8</a:t>
            </a:r>
            <a:endParaRPr/>
          </a:p>
        </p:txBody>
      </p:sp>
      <p:sp>
        <p:nvSpPr>
          <p:cNvPr id="1716" name="Google Shape;1716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1723" name="Google Shape;1723;p2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22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1726" name="Google Shape;17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2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and HTTP</a:t>
            </a:r>
            <a:endParaRPr sz="4400"/>
          </a:p>
        </p:txBody>
      </p:sp>
      <p:sp>
        <p:nvSpPr>
          <p:cNvPr id="1733" name="Google Shape;1733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4" name="Google Shape;1734;p23"/>
          <p:cNvSpPr txBox="1"/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First, a quick review…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objects,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of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can be stored on different Web servers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can be HTML file, JPEG image, Java applet, audio file,…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base HTML-file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which includes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several referenced objects, each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addressable by a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URL,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5" name="Google Shape;1735;p23"/>
          <p:cNvGrpSpPr/>
          <p:nvPr/>
        </p:nvGrpSpPr>
        <p:grpSpPr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736" name="Google Shape;1736;p23"/>
            <p:cNvSpPr txBox="1"/>
            <p:nvPr/>
          </p:nvSpPr>
          <p:spPr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ourier New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www.someschool.edu/someDept/pic.gif</a:t>
              </a:r>
              <a:endParaRPr b="0" i="0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37" name="Google Shape;1737;p23"/>
            <p:cNvSpPr/>
            <p:nvPr/>
          </p:nvSpPr>
          <p:spPr>
            <a:xfrm rot="-5400000">
              <a:off x="1821" y="2281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3"/>
            <p:cNvSpPr txBox="1"/>
            <p:nvPr/>
          </p:nvSpPr>
          <p:spPr>
            <a:xfrm>
              <a:off x="8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739" name="Google Shape;1739;p23"/>
            <p:cNvSpPr/>
            <p:nvPr/>
          </p:nvSpPr>
          <p:spPr>
            <a:xfrm rot="-5400000">
              <a:off x="4024" y="2277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3"/>
            <p:cNvSpPr txBox="1"/>
            <p:nvPr/>
          </p:nvSpPr>
          <p:spPr>
            <a:xfrm>
              <a:off x="30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741" name="Google Shape;1741;p23"/>
            <p:cNvSpPr txBox="1"/>
            <p:nvPr/>
          </p:nvSpPr>
          <p:spPr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name</a:t>
              </a:r>
              <a:endParaRPr/>
            </a:p>
          </p:txBody>
        </p:sp>
        <p:sp>
          <p:nvSpPr>
            <p:cNvPr id="1742" name="Google Shape;1742;p23"/>
            <p:cNvSpPr txBox="1"/>
            <p:nvPr/>
          </p:nvSpPr>
          <p:spPr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path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2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</a:t>
            </a:r>
            <a:endParaRPr sz="4400"/>
          </a:p>
        </p:txBody>
      </p:sp>
      <p:sp>
        <p:nvSpPr>
          <p:cNvPr id="1749" name="Google Shape;1749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0" name="Google Shape;1750;p24"/>
          <p:cNvSpPr txBox="1"/>
          <p:nvPr/>
        </p:nvSpPr>
        <p:spPr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 hypertext transfer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Web’s application-layer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client/server model: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browser that requests, receives, (using HTTP protocol) and “displays” Web objects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server sends (using HTTP protocol) objects in response to requests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1" name="Google Shape;1751;p24"/>
          <p:cNvGrpSpPr/>
          <p:nvPr/>
        </p:nvGrpSpPr>
        <p:grpSpPr>
          <a:xfrm>
            <a:off x="8129954" y="2271493"/>
            <a:ext cx="2101850" cy="1065774"/>
            <a:chOff x="3640" y="1271"/>
            <a:chExt cx="1324" cy="671"/>
          </a:xfrm>
        </p:grpSpPr>
        <p:cxnSp>
          <p:nvCxnSpPr>
            <p:cNvPr id="1752" name="Google Shape;1752;p24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3" name="Google Shape;1753;p24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4" name="Google Shape;1754;p24"/>
          <p:cNvGrpSpPr/>
          <p:nvPr/>
        </p:nvGrpSpPr>
        <p:grpSpPr>
          <a:xfrm>
            <a:off x="8241079" y="2599080"/>
            <a:ext cx="1971675" cy="1138193"/>
            <a:chOff x="4141" y="394"/>
            <a:chExt cx="1242" cy="717"/>
          </a:xfrm>
        </p:grpSpPr>
        <p:cxnSp>
          <p:nvCxnSpPr>
            <p:cNvPr id="1755" name="Google Shape;1755;p24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6" name="Google Shape;1756;p24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7" name="Google Shape;1757;p24"/>
          <p:cNvGrpSpPr/>
          <p:nvPr/>
        </p:nvGrpSpPr>
        <p:grpSpPr>
          <a:xfrm rot="-3183056">
            <a:off x="8058342" y="3789190"/>
            <a:ext cx="2101850" cy="1065774"/>
            <a:chOff x="3640" y="1271"/>
            <a:chExt cx="1324" cy="671"/>
          </a:xfrm>
        </p:grpSpPr>
        <p:cxnSp>
          <p:nvCxnSpPr>
            <p:cNvPr id="1758" name="Google Shape;1758;p24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9" name="Google Shape;1759;p24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0" name="Google Shape;1760;p24"/>
          <p:cNvGrpSpPr/>
          <p:nvPr/>
        </p:nvGrpSpPr>
        <p:grpSpPr>
          <a:xfrm rot="-3264937">
            <a:off x="8247053" y="4075892"/>
            <a:ext cx="1971675" cy="1138193"/>
            <a:chOff x="4141" y="394"/>
            <a:chExt cx="1242" cy="717"/>
          </a:xfrm>
        </p:grpSpPr>
        <p:cxnSp>
          <p:nvCxnSpPr>
            <p:cNvPr id="1761" name="Google Shape;1761;p24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2" name="Google Shape;1762;p24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3" name="Google Shape;1763;p24"/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1764" name="Google Shape;1764;p24"/>
            <p:cNvSpPr txBox="1"/>
            <p:nvPr/>
          </p:nvSpPr>
          <p:spPr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iPhone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Safari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phone_stylized_small" id="1765" name="Google Shape;176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6" name="Google Shape;1766;p24"/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1767" name="Google Shape;1767;p24"/>
            <p:cNvSpPr txBox="1"/>
            <p:nvPr/>
          </p:nvSpPr>
          <p:spPr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PC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Firefox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8" name="Google Shape;1768;p24"/>
            <p:cNvGrpSpPr/>
            <p:nvPr/>
          </p:nvGrpSpPr>
          <p:grpSpPr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descr="desktop_computer_stylized_medium" id="1769" name="Google Shape;1769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0" name="Google Shape;1770;p2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71" name="Google Shape;1771;p24"/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1772" name="Google Shape;1772;p24"/>
            <p:cNvSpPr txBox="1"/>
            <p:nvPr/>
          </p:nvSpPr>
          <p:spPr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Apache Web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3" name="Google Shape;1773;p24"/>
            <p:cNvGrpSpPr/>
            <p:nvPr/>
          </p:nvGrpSpPr>
          <p:grpSpPr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1774" name="Google Shape;1774;p2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24"/>
              <p:cNvSpPr/>
              <p:nvPr/>
            </p:nvSpPr>
            <p:spPr>
              <a:xfrm>
                <a:off x="4205" y="429"/>
                <a:ext cx="1048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2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2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24"/>
              <p:cNvSpPr/>
              <p:nvPr/>
            </p:nvSpPr>
            <p:spPr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79" name="Google Shape;1779;p24"/>
              <p:cNvGrpSpPr/>
              <p:nvPr/>
            </p:nvGrpSpPr>
            <p:grpSpPr>
              <a:xfrm>
                <a:off x="4748" y="669"/>
                <a:ext cx="583" cy="140"/>
                <a:chOff x="613" y="2569"/>
                <a:chExt cx="727" cy="134"/>
              </a:xfrm>
            </p:grpSpPr>
            <p:sp>
              <p:nvSpPr>
                <p:cNvPr id="1780" name="Google Shape;1780;p24"/>
                <p:cNvSpPr/>
                <p:nvPr/>
              </p:nvSpPr>
              <p:spPr>
                <a:xfrm>
                  <a:off x="613" y="2569"/>
                  <a:ext cx="727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1" name="Google Shape;1781;p24"/>
                <p:cNvSpPr/>
                <p:nvPr/>
              </p:nvSpPr>
              <p:spPr>
                <a:xfrm>
                  <a:off x="629" y="2586"/>
                  <a:ext cx="694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82" name="Google Shape;1782;p24"/>
              <p:cNvSpPr/>
              <p:nvPr/>
            </p:nvSpPr>
            <p:spPr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83" name="Google Shape;1783;p24"/>
              <p:cNvGrpSpPr/>
              <p:nvPr/>
            </p:nvGrpSpPr>
            <p:grpSpPr>
              <a:xfrm>
                <a:off x="4749" y="995"/>
                <a:ext cx="579" cy="133"/>
                <a:chOff x="616" y="2569"/>
                <a:chExt cx="723" cy="138"/>
              </a:xfrm>
            </p:grpSpPr>
            <p:sp>
              <p:nvSpPr>
                <p:cNvPr id="1784" name="Google Shape;1784;p24"/>
                <p:cNvSpPr/>
                <p:nvPr/>
              </p:nvSpPr>
              <p:spPr>
                <a:xfrm>
                  <a:off x="616" y="2569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5" name="Google Shape;1785;p24"/>
                <p:cNvSpPr/>
                <p:nvPr/>
              </p:nvSpPr>
              <p:spPr>
                <a:xfrm>
                  <a:off x="632" y="2588"/>
                  <a:ext cx="690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86" name="Google Shape;1786;p24"/>
              <p:cNvSpPr/>
              <p:nvPr/>
            </p:nvSpPr>
            <p:spPr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24"/>
              <p:cNvSpPr/>
              <p:nvPr/>
            </p:nvSpPr>
            <p:spPr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88" name="Google Shape;1788;p24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89" name="Google Shape;1789;p24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0" name="Google Shape;1790;p24"/>
                <p:cNvSpPr/>
                <p:nvPr/>
              </p:nvSpPr>
              <p:spPr>
                <a:xfrm>
                  <a:off x="631" y="2584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91" name="Google Shape;1791;p2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92" name="Google Shape;1792;p24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793" name="Google Shape;1793;p24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4" name="Google Shape;1794;p24"/>
                <p:cNvSpPr/>
                <p:nvPr/>
              </p:nvSpPr>
              <p:spPr>
                <a:xfrm>
                  <a:off x="630" y="2583"/>
                  <a:ext cx="693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95" name="Google Shape;1795;p24"/>
              <p:cNvSpPr/>
              <p:nvPr/>
            </p:nvSpPr>
            <p:spPr>
              <a:xfrm>
                <a:off x="5249" y="432"/>
                <a:ext cx="68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2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2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24"/>
              <p:cNvSpPr/>
              <p:nvPr/>
            </p:nvSpPr>
            <p:spPr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2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24"/>
              <p:cNvSpPr/>
              <p:nvPr/>
            </p:nvSpPr>
            <p:spPr>
              <a:xfrm>
                <a:off x="4140" y="2677"/>
                <a:ext cx="1201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24"/>
              <p:cNvSpPr/>
              <p:nvPr/>
            </p:nvSpPr>
            <p:spPr>
              <a:xfrm>
                <a:off x="4205" y="2712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24"/>
              <p:cNvSpPr/>
              <p:nvPr/>
            </p:nvSpPr>
            <p:spPr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24"/>
              <p:cNvSpPr/>
              <p:nvPr/>
            </p:nvSpPr>
            <p:spPr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24"/>
              <p:cNvSpPr/>
              <p:nvPr/>
            </p:nvSpPr>
            <p:spPr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24"/>
              <p:cNvSpPr/>
              <p:nvPr/>
            </p:nvSpPr>
            <p:spPr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2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 (continued)</a:t>
            </a:r>
            <a:endParaRPr sz="4400"/>
          </a:p>
        </p:txBody>
      </p:sp>
      <p:sp>
        <p:nvSpPr>
          <p:cNvPr id="1812" name="Google Shape;1812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3" name="Google Shape;1813;p25"/>
          <p:cNvSpPr txBox="1"/>
          <p:nvPr/>
        </p:nvSpPr>
        <p:spPr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uses TCP: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initiates TCP connection (creates socket) to server,  port 80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accepts TCP connection from client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messages (application-layer protocol messages) exchanged between browser (HTTP client) and Web server (HTTP server)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</p:txBody>
      </p:sp>
      <p:sp>
        <p:nvSpPr>
          <p:cNvPr id="1814" name="Google Shape;1814;p25"/>
          <p:cNvSpPr txBox="1"/>
          <p:nvPr/>
        </p:nvSpPr>
        <p:spPr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is “stateless”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maintains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about past client requests</a:t>
            </a:r>
            <a:endParaRPr/>
          </a:p>
        </p:txBody>
      </p:sp>
      <p:grpSp>
        <p:nvGrpSpPr>
          <p:cNvPr id="1815" name="Google Shape;1815;p25"/>
          <p:cNvGrpSpPr/>
          <p:nvPr/>
        </p:nvGrpSpPr>
        <p:grpSpPr>
          <a:xfrm>
            <a:off x="6909802" y="3209500"/>
            <a:ext cx="5282198" cy="3248103"/>
            <a:chOff x="6909802" y="3209500"/>
            <a:chExt cx="5282198" cy="3248103"/>
          </a:xfrm>
        </p:grpSpPr>
        <p:sp>
          <p:nvSpPr>
            <p:cNvPr id="1816" name="Google Shape;1816;p25"/>
            <p:cNvSpPr/>
            <p:nvPr/>
          </p:nvSpPr>
          <p:spPr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25"/>
            <p:cNvSpPr/>
            <p:nvPr/>
          </p:nvSpPr>
          <p:spPr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25"/>
            <p:cNvSpPr/>
            <p:nvPr/>
          </p:nvSpPr>
          <p:spPr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25"/>
            <p:cNvSpPr/>
            <p:nvPr/>
          </p:nvSpPr>
          <p:spPr>
            <a:xfrm>
              <a:off x="7138987" y="3609628"/>
              <a:ext cx="5053013" cy="284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protocols that maintain “state” are complex!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past history (state) must be maintained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server/client crashes, their views of “state” may be inconsistent, must be reconciled</a:t>
              </a:r>
              <a:endParaRPr/>
            </a:p>
            <a:p>
              <a:pPr indent="-213359" lvl="0" marL="342900" marR="0" rtl="0" algn="l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25"/>
            <p:cNvSpPr txBox="1"/>
            <p:nvPr/>
          </p:nvSpPr>
          <p:spPr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aside</a:t>
              </a:r>
              <a:endParaRPr/>
            </a:p>
          </p:txBody>
        </p:sp>
      </p:grpSp>
      <p:sp>
        <p:nvSpPr>
          <p:cNvPr id="1821" name="Google Shape;1821;p25"/>
          <p:cNvSpPr/>
          <p:nvPr/>
        </p:nvSpPr>
        <p:spPr>
          <a:xfrm>
            <a:off x="1526651" y="5894958"/>
            <a:ext cx="268754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HTTP/1.0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2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  <p:sp>
        <p:nvSpPr>
          <p:cNvPr id="1828" name="Google Shape;1828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9" name="Google Shape;1829;p26"/>
          <p:cNvSpPr txBox="1"/>
          <p:nvPr/>
        </p:nvSpPr>
        <p:spPr>
          <a:xfrm>
            <a:off x="798690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most one object sent over TCP connection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downloading multiple objects required multiple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26"/>
          <p:cNvSpPr txBox="1"/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HTTP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 to a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objects can be sent over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 between client, and that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27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</a:t>
            </a:r>
            <a:endParaRPr sz="4400"/>
          </a:p>
        </p:txBody>
      </p:sp>
      <p:sp>
        <p:nvSpPr>
          <p:cNvPr id="1837" name="Google Shape;1837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38" name="Google Shape;1838;p27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9" name="Google Shape;1839;p27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27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1841" name="Google Shape;1841;p27"/>
          <p:cNvSpPr txBox="1"/>
          <p:nvPr/>
        </p:nvSpPr>
        <p:spPr>
          <a:xfrm>
            <a:off x="944384" y="2447251"/>
            <a:ext cx="485024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initiates TCP connection to HTTP server (process) at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port 80</a:t>
            </a:r>
            <a:endParaRPr/>
          </a:p>
        </p:txBody>
      </p:sp>
      <p:sp>
        <p:nvSpPr>
          <p:cNvPr id="1842" name="Google Shape;1842;p27"/>
          <p:cNvSpPr/>
          <p:nvPr/>
        </p:nvSpPr>
        <p:spPr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sends HTTP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request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(containing URL) into TCP connection socket. Message indicates that client wants object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someDepartment/home.index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27"/>
          <p:cNvSpPr/>
          <p:nvPr/>
        </p:nvSpPr>
        <p:spPr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at host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TCP connection at port 80  “accepts” connection, notifying 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27"/>
          <p:cNvSpPr/>
          <p:nvPr/>
        </p:nvSpPr>
        <p:spPr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 receives request message, forms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containing requested object, and sends message into its socket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27"/>
          <p:cNvCxnSpPr/>
          <p:nvPr/>
        </p:nvCxnSpPr>
        <p:spPr>
          <a:xfrm>
            <a:off x="5102530" y="4961816"/>
            <a:ext cx="1800180" cy="60195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6" name="Google Shape;1846;p27"/>
          <p:cNvCxnSpPr/>
          <p:nvPr/>
        </p:nvCxnSpPr>
        <p:spPr>
          <a:xfrm flipH="1">
            <a:off x="5389517" y="5671992"/>
            <a:ext cx="1410287" cy="891868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7" name="Google Shape;1847;p27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1848" name="Google Shape;1848;p27"/>
          <p:cNvCxnSpPr/>
          <p:nvPr/>
        </p:nvCxnSpPr>
        <p:spPr>
          <a:xfrm>
            <a:off x="5156851" y="2779258"/>
            <a:ext cx="155102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9" name="Google Shape;1849;p27"/>
          <p:cNvCxnSpPr/>
          <p:nvPr/>
        </p:nvCxnSpPr>
        <p:spPr>
          <a:xfrm flipH="1">
            <a:off x="5102530" y="3366635"/>
            <a:ext cx="1551026" cy="1006986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0" name="Google Shape;1850;p27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27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52" name="Google Shape;1852;p27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1853" name="Google Shape;185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4" name="Google Shape;1854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5" name="Google Shape;1855;p27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1856" name="Google Shape;1856;p2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7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7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1" name="Google Shape;1861;p27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1862" name="Google Shape;1862;p27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27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4" name="Google Shape;1864;p27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5" name="Google Shape;1865;p27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1866" name="Google Shape;1866;p27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27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8" name="Google Shape;1868;p27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7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0" name="Google Shape;1870;p27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1" name="Google Shape;1871;p27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27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3" name="Google Shape;1873;p2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4" name="Google Shape;1874;p27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75" name="Google Shape;1875;p27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27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7" name="Google Shape;1877;p27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7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7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7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7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7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28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 (cont.)</a:t>
            </a:r>
            <a:endParaRPr sz="4400"/>
          </a:p>
        </p:txBody>
      </p:sp>
      <p:sp>
        <p:nvSpPr>
          <p:cNvPr id="1894" name="Google Shape;1894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5" name="Google Shape;1895;p28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1896" name="Google Shape;1896;p28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28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98" name="Google Shape;1898;p28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1899" name="Google Shape;189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0" name="Google Shape;1900;p2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1" name="Google Shape;1901;p28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1902" name="Google Shape;1902;p2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8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8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7" name="Google Shape;1907;p28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1908" name="Google Shape;1908;p28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28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0" name="Google Shape;1910;p28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1" name="Google Shape;1911;p28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1912" name="Google Shape;1912;p28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28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4" name="Google Shape;1914;p28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8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6" name="Google Shape;1916;p28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17" name="Google Shape;1917;p28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28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9" name="Google Shape;1919;p2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0" name="Google Shape;1920;p28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21" name="Google Shape;1921;p28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28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3" name="Google Shape;1923;p28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8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8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8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8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8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8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8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4" name="Google Shape;1934;p28"/>
          <p:cNvSpPr txBox="1"/>
          <p:nvPr/>
        </p:nvSpPr>
        <p:spPr>
          <a:xfrm>
            <a:off x="798691" y="3200188"/>
            <a:ext cx="5085273" cy="201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receives response message containing html file, displays html.  Parsing html file, finds 10 referenced jpeg  objects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8"/>
          <p:cNvSpPr/>
          <p:nvPr/>
        </p:nvSpPr>
        <p:spPr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Steps 1-5 repeated for each of 10 jpeg objects</a:t>
            </a:r>
            <a:endParaRPr/>
          </a:p>
        </p:txBody>
      </p:sp>
      <p:sp>
        <p:nvSpPr>
          <p:cNvPr id="1936" name="Google Shape;1936;p28"/>
          <p:cNvSpPr/>
          <p:nvPr/>
        </p:nvSpPr>
        <p:spPr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closes TCP connection. </a:t>
            </a:r>
            <a:endParaRPr/>
          </a:p>
        </p:txBody>
      </p:sp>
      <p:cxnSp>
        <p:nvCxnSpPr>
          <p:cNvPr id="1937" name="Google Shape;1937;p28"/>
          <p:cNvCxnSpPr/>
          <p:nvPr/>
        </p:nvCxnSpPr>
        <p:spPr>
          <a:xfrm flipH="1">
            <a:off x="5587465" y="3200187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8" name="Google Shape;1938;p28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9" name="Google Shape;1939;p28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28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2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response time</a:t>
            </a:r>
            <a:endParaRPr sz="4400"/>
          </a:p>
        </p:txBody>
      </p:sp>
      <p:sp>
        <p:nvSpPr>
          <p:cNvPr id="1947" name="Google Shape;1947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8" name="Google Shape;1948;p29"/>
          <p:cNvSpPr txBox="1"/>
          <p:nvPr/>
        </p:nvSpPr>
        <p:spPr>
          <a:xfrm>
            <a:off x="736393" y="1919178"/>
            <a:ext cx="5683502" cy="333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RTT (definition):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for a small packet to travel from client to server and back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response time (per object):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to initiate TCP connection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for HTTP request and first few bytes of HTTP response to return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obect/file transmission time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9" name="Google Shape;1949;p29"/>
          <p:cNvCxnSpPr/>
          <p:nvPr/>
        </p:nvCxnSpPr>
        <p:spPr>
          <a:xfrm>
            <a:off x="8197229" y="2671284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50" name="Google Shape;1950;p29"/>
          <p:cNvCxnSpPr/>
          <p:nvPr/>
        </p:nvCxnSpPr>
        <p:spPr>
          <a:xfrm>
            <a:off x="9887916" y="2664934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51" name="Google Shape;1951;p29"/>
          <p:cNvCxnSpPr/>
          <p:nvPr/>
        </p:nvCxnSpPr>
        <p:spPr>
          <a:xfrm>
            <a:off x="8211516" y="290305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2" name="Google Shape;1952;p29"/>
          <p:cNvCxnSpPr/>
          <p:nvPr/>
        </p:nvCxnSpPr>
        <p:spPr>
          <a:xfrm flipH="1">
            <a:off x="8197229" y="3341209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3" name="Google Shape;1953;p29"/>
          <p:cNvCxnSpPr/>
          <p:nvPr/>
        </p:nvCxnSpPr>
        <p:spPr>
          <a:xfrm>
            <a:off x="8205166" y="384920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4" name="Google Shape;1954;p29"/>
          <p:cNvSpPr/>
          <p:nvPr/>
        </p:nvSpPr>
        <p:spPr>
          <a:xfrm>
            <a:off x="9903942" y="4249143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29"/>
          <p:cNvSpPr txBox="1"/>
          <p:nvPr/>
        </p:nvSpPr>
        <p:spPr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 to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transmit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/>
          </a:p>
        </p:txBody>
      </p:sp>
      <p:cxnSp>
        <p:nvCxnSpPr>
          <p:cNvPr id="1956" name="Google Shape;1956;p29"/>
          <p:cNvCxnSpPr/>
          <p:nvPr/>
        </p:nvCxnSpPr>
        <p:spPr>
          <a:xfrm>
            <a:off x="7806704" y="2877659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29"/>
          <p:cNvSpPr txBox="1"/>
          <p:nvPr/>
        </p:nvSpPr>
        <p:spPr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1958" name="Google Shape;1958;p29"/>
          <p:cNvSpPr/>
          <p:nvPr/>
        </p:nvSpPr>
        <p:spPr>
          <a:xfrm>
            <a:off x="7941641" y="2928459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29"/>
          <p:cNvSpPr txBox="1"/>
          <p:nvPr/>
        </p:nvSpPr>
        <p:spPr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1960" name="Google Shape;1960;p29"/>
          <p:cNvCxnSpPr/>
          <p:nvPr/>
        </p:nvCxnSpPr>
        <p:spPr>
          <a:xfrm>
            <a:off x="7855916" y="3782534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1" name="Google Shape;1961;p29"/>
          <p:cNvSpPr txBox="1"/>
          <p:nvPr/>
        </p:nvSpPr>
        <p:spPr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 file</a:t>
            </a:r>
            <a:endParaRPr/>
          </a:p>
        </p:txBody>
      </p:sp>
      <p:sp>
        <p:nvSpPr>
          <p:cNvPr id="1962" name="Google Shape;1962;p29"/>
          <p:cNvSpPr/>
          <p:nvPr/>
        </p:nvSpPr>
        <p:spPr>
          <a:xfrm>
            <a:off x="7947991" y="3838096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29"/>
          <p:cNvSpPr txBox="1"/>
          <p:nvPr/>
        </p:nvSpPr>
        <p:spPr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1964" name="Google Shape;1964;p29"/>
          <p:cNvCxnSpPr/>
          <p:nvPr/>
        </p:nvCxnSpPr>
        <p:spPr>
          <a:xfrm flipH="1">
            <a:off x="7818988" y="4805006"/>
            <a:ext cx="361323" cy="22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5" name="Google Shape;1965;p29"/>
          <p:cNvSpPr txBox="1"/>
          <p:nvPr/>
        </p:nvSpPr>
        <p:spPr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received</a:t>
            </a:r>
            <a:endParaRPr/>
          </a:p>
        </p:txBody>
      </p:sp>
      <p:sp>
        <p:nvSpPr>
          <p:cNvPr id="1966" name="Google Shape;1966;p29"/>
          <p:cNvSpPr txBox="1"/>
          <p:nvPr/>
        </p:nvSpPr>
        <p:spPr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1967" name="Google Shape;1967;p29"/>
          <p:cNvSpPr txBox="1"/>
          <p:nvPr/>
        </p:nvSpPr>
        <p:spPr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1968" name="Google Shape;1968;p29"/>
          <p:cNvGrpSpPr/>
          <p:nvPr/>
        </p:nvGrpSpPr>
        <p:grpSpPr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1969" name="Google Shape;1969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29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29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4" name="Google Shape;1974;p29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1975" name="Google Shape;1975;p2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29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7" name="Google Shape;1977;p29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8" name="Google Shape;1978;p29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1979" name="Google Shape;1979;p29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29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1" name="Google Shape;1981;p29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9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3" name="Google Shape;1983;p29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1984" name="Google Shape;1984;p29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29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6" name="Google Shape;1986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7" name="Google Shape;1987;p29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1988" name="Google Shape;1988;p29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29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0" name="Google Shape;1990;p29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29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29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29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29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29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29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9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1" name="Google Shape;2001;p29"/>
          <p:cNvGrpSpPr/>
          <p:nvPr/>
        </p:nvGrpSpPr>
        <p:grpSpPr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descr="desktop_computer_stylized_medium" id="2002" name="Google Shape;200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3" name="Google Shape;2003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4" name="Google Shape;2004;p29"/>
          <p:cNvSpPr/>
          <p:nvPr/>
        </p:nvSpPr>
        <p:spPr>
          <a:xfrm>
            <a:off x="8188984" y="4246818"/>
            <a:ext cx="1700270" cy="558188"/>
          </a:xfrm>
          <a:custGeom>
            <a:rect b="b" l="l" r="r" t="t"/>
            <a:pathLst>
              <a:path extrusionOk="0" h="558188" w="1700270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29"/>
          <p:cNvSpPr/>
          <p:nvPr/>
        </p:nvSpPr>
        <p:spPr>
          <a:xfrm rot="10800000">
            <a:off x="8069711" y="4643267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29"/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Non-persistent HTTP response time =  2RTT+ file transmission 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0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Persistent HTTP </a:t>
            </a:r>
            <a:r>
              <a:rPr lang="en-US" sz="3200"/>
              <a:t>(HTTP 1.1)</a:t>
            </a:r>
            <a:endParaRPr sz="4400"/>
          </a:p>
        </p:txBody>
      </p:sp>
      <p:sp>
        <p:nvSpPr>
          <p:cNvPr id="2013" name="Google Shape;201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4" name="Google Shape;2014;p30"/>
          <p:cNvSpPr txBox="1"/>
          <p:nvPr/>
        </p:nvSpPr>
        <p:spPr>
          <a:xfrm>
            <a:off x="798691" y="1401764"/>
            <a:ext cx="51655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 issues: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2 RTTs per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overhead for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browsers often open multiple parallel TCP connections to fetch referenced objects in parallel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0"/>
          <p:cNvSpPr txBox="1"/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 HTTP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(HTTP1.1):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leaves connection open after sending response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messages  between same client/server sent over open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sends requests as soon as it encounters a referenced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little as one RTT for all the referenced objects (cutting response time in half)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31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2022" name="Google Shape;2022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3" name="Google Shape;2023;p31"/>
          <p:cNvSpPr txBox="1"/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types of HTTP messages: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request message: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ASCII (human-readable format)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31"/>
          <p:cNvSpPr txBox="1"/>
          <p:nvPr/>
        </p:nvSpPr>
        <p:spPr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31"/>
          <p:cNvSpPr txBox="1"/>
          <p:nvPr/>
        </p:nvSpPr>
        <p:spPr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 /index.html HTTP/1.1\r\n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Host: www-net.cs.umass.edu\r\n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Mozilla/5.0 (Macintosh; Intel Mac OS X 10.15; rv:80.0) Gecko/20100101 Firefox/80.0 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Accept: text/html,application/xhtml+xml\r\n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Accept-Language: en-us,en;q=0.5\r\n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Accept-Encoding: gzip,deflate\r\n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keep-alive\r\n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</p:txBody>
      </p:sp>
      <p:grpSp>
        <p:nvGrpSpPr>
          <p:cNvPr id="2026" name="Google Shape;2026;p31"/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cxnSp>
          <p:nvCxnSpPr>
            <p:cNvPr id="2027" name="Google Shape;2027;p31"/>
            <p:cNvCxnSpPr/>
            <p:nvPr/>
          </p:nvCxnSpPr>
          <p:spPr>
            <a:xfrm flipH="1">
              <a:off x="7524296" y="2841399"/>
              <a:ext cx="166688" cy="514350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28" name="Google Shape;2028;p31"/>
            <p:cNvSpPr txBox="1"/>
            <p:nvPr/>
          </p:nvSpPr>
          <p:spPr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 character</a:t>
              </a:r>
              <a:endParaRPr/>
            </a:p>
          </p:txBody>
        </p:sp>
        <p:sp>
          <p:nvSpPr>
            <p:cNvPr id="2029" name="Google Shape;2029;p31"/>
            <p:cNvSpPr txBox="1"/>
            <p:nvPr/>
          </p:nvSpPr>
          <p:spPr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line-feed character</a:t>
              </a:r>
              <a:endParaRPr/>
            </a:p>
          </p:txBody>
        </p:sp>
        <p:cxnSp>
          <p:nvCxnSpPr>
            <p:cNvPr id="2030" name="Google Shape;2030;p31"/>
            <p:cNvCxnSpPr/>
            <p:nvPr/>
          </p:nvCxnSpPr>
          <p:spPr>
            <a:xfrm flipH="1">
              <a:off x="7805284" y="3150961"/>
              <a:ext cx="80962" cy="252413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31" name="Google Shape;2031;p31"/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2032" name="Google Shape;2032;p31"/>
            <p:cNvSpPr txBox="1"/>
            <p:nvPr/>
          </p:nvSpPr>
          <p:spPr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request line (GET, POST,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HEAD commands)</a:t>
              </a:r>
              <a:endParaRPr b="0" i="0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3" name="Google Shape;2033;p31"/>
            <p:cNvCxnSpPr/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noFill/>
            <a:ln cap="flat" cmpd="sng" w="1905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034" name="Google Shape;2034;p31"/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cxnSp>
          <p:nvCxnSpPr>
            <p:cNvPr id="2035" name="Google Shape;2035;p31"/>
            <p:cNvCxnSpPr/>
            <p:nvPr/>
          </p:nvCxnSpPr>
          <p:spPr>
            <a:xfrm>
              <a:off x="3499984" y="5710011"/>
              <a:ext cx="511175" cy="0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6" name="Google Shape;2036;p31"/>
            <p:cNvSpPr txBox="1"/>
            <p:nvPr/>
          </p:nvSpPr>
          <p:spPr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return, line feed at start of line indicates end of header lines</a:t>
              </a:r>
              <a:endParaRPr b="0" i="0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31"/>
            <p:cNvSpPr txBox="1"/>
            <p:nvPr/>
          </p:nvSpPr>
          <p:spPr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ttp://gaia.cs.umass.edu/kurose_ross/interactive/</a:t>
              </a:r>
              <a:endParaRPr/>
            </a:p>
          </p:txBody>
        </p:sp>
      </p:grpSp>
      <p:sp>
        <p:nvSpPr>
          <p:cNvPr id="2038" name="Google Shape;2038;p31"/>
          <p:cNvSpPr/>
          <p:nvPr/>
        </p:nvSpPr>
        <p:spPr>
          <a:xfrm>
            <a:off x="3812583" y="3704095"/>
            <a:ext cx="217442" cy="1797803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31"/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31"/>
          <p:cNvSpPr/>
          <p:nvPr/>
        </p:nvSpPr>
        <p:spPr>
          <a:xfrm>
            <a:off x="2726871" y="3599519"/>
            <a:ext cx="8392886" cy="19685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32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message: general format</a:t>
            </a:r>
            <a:endParaRPr sz="4400"/>
          </a:p>
        </p:txBody>
      </p:sp>
      <p:sp>
        <p:nvSpPr>
          <p:cNvPr id="2047" name="Google Shape;2047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8" name="Google Shape;2048;p32"/>
          <p:cNvSpPr txBox="1"/>
          <p:nvPr/>
        </p:nvSpPr>
        <p:spPr>
          <a:xfrm>
            <a:off x="8704472" y="1752600"/>
            <a:ext cx="1030287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sp>
        <p:nvSpPr>
          <p:cNvPr id="2049" name="Google Shape;2049;p32"/>
          <p:cNvSpPr txBox="1"/>
          <p:nvPr/>
        </p:nvSpPr>
        <p:spPr>
          <a:xfrm>
            <a:off x="8699709" y="2768600"/>
            <a:ext cx="974725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lines</a:t>
            </a:r>
            <a:endParaRPr/>
          </a:p>
        </p:txBody>
      </p:sp>
      <p:sp>
        <p:nvSpPr>
          <p:cNvPr id="2050" name="Google Shape;2050;p32"/>
          <p:cNvSpPr/>
          <p:nvPr/>
        </p:nvSpPr>
        <p:spPr>
          <a:xfrm>
            <a:off x="8315534" y="2338387"/>
            <a:ext cx="346075" cy="1819275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32"/>
          <p:cNvSpPr/>
          <p:nvPr/>
        </p:nvSpPr>
        <p:spPr>
          <a:xfrm>
            <a:off x="8182184" y="2287587"/>
            <a:ext cx="290513" cy="2017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32"/>
          <p:cNvSpPr/>
          <p:nvPr/>
        </p:nvSpPr>
        <p:spPr>
          <a:xfrm>
            <a:off x="8550484" y="4394200"/>
            <a:ext cx="712788" cy="1216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32"/>
          <p:cNvSpPr txBox="1"/>
          <p:nvPr/>
        </p:nvSpPr>
        <p:spPr>
          <a:xfrm>
            <a:off x="8701297" y="4959350"/>
            <a:ext cx="735012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2054" name="Google Shape;2054;p32"/>
          <p:cNvSpPr/>
          <p:nvPr/>
        </p:nvSpPr>
        <p:spPr>
          <a:xfrm>
            <a:off x="2879934" y="1789112"/>
            <a:ext cx="5638800" cy="44608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5" name="Google Shape;2055;p32"/>
          <p:cNvCxnSpPr/>
          <p:nvPr/>
        </p:nvCxnSpPr>
        <p:spPr>
          <a:xfrm>
            <a:off x="41880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32"/>
          <p:cNvCxnSpPr/>
          <p:nvPr/>
        </p:nvCxnSpPr>
        <p:spPr>
          <a:xfrm>
            <a:off x="46325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32"/>
          <p:cNvCxnSpPr/>
          <p:nvPr/>
        </p:nvCxnSpPr>
        <p:spPr>
          <a:xfrm>
            <a:off x="59406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32"/>
          <p:cNvCxnSpPr/>
          <p:nvPr/>
        </p:nvCxnSpPr>
        <p:spPr>
          <a:xfrm>
            <a:off x="6366084" y="178593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9" name="Google Shape;2059;p32"/>
          <p:cNvCxnSpPr/>
          <p:nvPr/>
        </p:nvCxnSpPr>
        <p:spPr>
          <a:xfrm>
            <a:off x="76678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0" name="Google Shape;2060;p32"/>
          <p:cNvCxnSpPr/>
          <p:nvPr/>
        </p:nvCxnSpPr>
        <p:spPr>
          <a:xfrm>
            <a:off x="810598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1" name="Google Shape;2061;p32"/>
          <p:cNvSpPr txBox="1"/>
          <p:nvPr/>
        </p:nvSpPr>
        <p:spPr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2062" name="Google Shape;2062;p32"/>
          <p:cNvSpPr txBox="1"/>
          <p:nvPr/>
        </p:nvSpPr>
        <p:spPr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2063" name="Google Shape;2063;p32"/>
          <p:cNvSpPr txBox="1"/>
          <p:nvPr/>
        </p:nvSpPr>
        <p:spPr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2064" name="Google Shape;2064;p32"/>
          <p:cNvSpPr txBox="1"/>
          <p:nvPr/>
        </p:nvSpPr>
        <p:spPr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</a:t>
            </a:r>
            <a:endParaRPr/>
          </a:p>
        </p:txBody>
      </p:sp>
      <p:sp>
        <p:nvSpPr>
          <p:cNvPr id="2065" name="Google Shape;2065;p32"/>
          <p:cNvSpPr txBox="1"/>
          <p:nvPr/>
        </p:nvSpPr>
        <p:spPr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lf</a:t>
            </a:r>
            <a:endParaRPr/>
          </a:p>
        </p:txBody>
      </p:sp>
      <p:sp>
        <p:nvSpPr>
          <p:cNvPr id="2066" name="Google Shape;2066;p32"/>
          <p:cNvSpPr txBox="1"/>
          <p:nvPr/>
        </p:nvSpPr>
        <p:spPr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/>
          </a:p>
        </p:txBody>
      </p:sp>
      <p:sp>
        <p:nvSpPr>
          <p:cNvPr id="2067" name="Google Shape;2067;p32"/>
          <p:cNvSpPr txBox="1"/>
          <p:nvPr/>
        </p:nvSpPr>
        <p:spPr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/>
          </a:p>
        </p:txBody>
      </p:sp>
      <p:grpSp>
        <p:nvGrpSpPr>
          <p:cNvPr id="2068" name="Google Shape;2068;p32"/>
          <p:cNvGrpSpPr/>
          <p:nvPr/>
        </p:nvGrpSpPr>
        <p:grpSpPr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2069" name="Google Shape;2069;p32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0" name="Google Shape;2070;p32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1" name="Google Shape;2071;p32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2" name="Google Shape;2072;p32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3" name="Google Shape;2073;p32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4" name="Google Shape;2074;p32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075" name="Google Shape;2075;p32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2076" name="Google Shape;2076;p32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2077" name="Google Shape;2077;p32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grpSp>
        <p:nvGrpSpPr>
          <p:cNvPr id="2078" name="Google Shape;2078;p32"/>
          <p:cNvGrpSpPr/>
          <p:nvPr/>
        </p:nvGrpSpPr>
        <p:grpSpPr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2079" name="Google Shape;2079;p32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0" name="Google Shape;2080;p32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1" name="Google Shape;2081;p32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2" name="Google Shape;2082;p32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3" name="Google Shape;2083;p32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4" name="Google Shape;2084;p32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085" name="Google Shape;2085;p32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2086" name="Google Shape;2086;p32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2087" name="Google Shape;2087;p32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cxnSp>
        <p:nvCxnSpPr>
          <p:cNvPr id="2088" name="Google Shape;2088;p32"/>
          <p:cNvCxnSpPr/>
          <p:nvPr/>
        </p:nvCxnSpPr>
        <p:spPr>
          <a:xfrm>
            <a:off x="2879934" y="26812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9" name="Google Shape;2089;p32"/>
          <p:cNvGrpSpPr/>
          <p:nvPr/>
        </p:nvGrpSpPr>
        <p:grpSpPr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2090" name="Google Shape;2090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092" name="Google Shape;2092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cxnSp>
        <p:nvCxnSpPr>
          <p:cNvPr id="2093" name="Google Shape;2093;p32"/>
          <p:cNvCxnSpPr/>
          <p:nvPr/>
        </p:nvCxnSpPr>
        <p:spPr>
          <a:xfrm>
            <a:off x="7443997" y="26685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94" name="Google Shape;2094;p32"/>
          <p:cNvGrpSpPr/>
          <p:nvPr/>
        </p:nvGrpSpPr>
        <p:grpSpPr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2095" name="Google Shape;2095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097" name="Google Shape;2097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2098" name="Google Shape;2098;p32"/>
          <p:cNvGrpSpPr/>
          <p:nvPr/>
        </p:nvGrpSpPr>
        <p:grpSpPr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2099" name="Google Shape;2099;p32"/>
            <p:cNvSpPr/>
            <p:nvPr/>
          </p:nvSpPr>
          <p:spPr>
            <a:xfrm>
              <a:off x="3105" y="2650"/>
              <a:ext cx="607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0" name="Google Shape;2100;p32"/>
            <p:cNvCxnSpPr/>
            <p:nvPr/>
          </p:nvCxnSpPr>
          <p:spPr>
            <a:xfrm>
              <a:off x="3406" y="2652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1" name="Google Shape;2101;p32"/>
            <p:cNvSpPr txBox="1"/>
            <p:nvPr/>
          </p:nvSpPr>
          <p:spPr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102" name="Google Shape;2102;p32"/>
            <p:cNvSpPr txBox="1"/>
            <p:nvPr/>
          </p:nvSpPr>
          <p:spPr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</p:grpSp>
      <p:sp>
        <p:nvSpPr>
          <p:cNvPr id="2103" name="Google Shape;2103;p32"/>
          <p:cNvSpPr/>
          <p:nvPr/>
        </p:nvSpPr>
        <p:spPr>
          <a:xfrm>
            <a:off x="2875172" y="4603750"/>
            <a:ext cx="5170487" cy="1120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32"/>
          <p:cNvSpPr txBox="1"/>
          <p:nvPr/>
        </p:nvSpPr>
        <p:spPr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entity body</a:t>
            </a:r>
            <a:endParaRPr/>
          </a:p>
        </p:txBody>
      </p:sp>
      <p:grpSp>
        <p:nvGrpSpPr>
          <p:cNvPr id="2105" name="Google Shape;2105;p32"/>
          <p:cNvGrpSpPr/>
          <p:nvPr/>
        </p:nvGrpSpPr>
        <p:grpSpPr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2106" name="Google Shape;2106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108" name="Google Shape;2108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2109" name="Google Shape;2109;p32"/>
          <p:cNvGrpSpPr/>
          <p:nvPr/>
        </p:nvGrpSpPr>
        <p:grpSpPr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2110" name="Google Shape;2110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112" name="Google Shape;2112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3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Other HTTP request </a:t>
            </a:r>
            <a:r>
              <a:rPr lang="en-US"/>
              <a:t>m</a:t>
            </a:r>
            <a:r>
              <a:rPr lang="en-US" sz="4400"/>
              <a:t>essages</a:t>
            </a:r>
            <a:endParaRPr sz="4400"/>
          </a:p>
        </p:txBody>
      </p:sp>
      <p:sp>
        <p:nvSpPr>
          <p:cNvPr id="2119" name="Google Shape;2119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0" name="Google Shape;2120;p33"/>
          <p:cNvSpPr txBox="1"/>
          <p:nvPr/>
        </p:nvSpPr>
        <p:spPr>
          <a:xfrm>
            <a:off x="685573" y="1727394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POST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often includes form input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input sent from client to server in entity body of HTTP POST request message</a:t>
            </a:r>
            <a:endParaRPr/>
          </a:p>
        </p:txBody>
      </p:sp>
      <p:sp>
        <p:nvSpPr>
          <p:cNvPr id="2121" name="Google Shape;2121;p33"/>
          <p:cNvSpPr txBox="1"/>
          <p:nvPr/>
        </p:nvSpPr>
        <p:spPr>
          <a:xfrm>
            <a:off x="685573" y="4466964"/>
            <a:ext cx="5541055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GET method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sending data to server):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user data in URL field of HTTP GET request message (following a ‘?’):</a:t>
            </a:r>
            <a:endParaRPr/>
          </a:p>
        </p:txBody>
      </p:sp>
      <p:sp>
        <p:nvSpPr>
          <p:cNvPr id="2122" name="Google Shape;2122;p33"/>
          <p:cNvSpPr txBox="1"/>
          <p:nvPr/>
        </p:nvSpPr>
        <p:spPr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3" name="Google Shape;2123;p33"/>
          <p:cNvSpPr txBox="1"/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HEAD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requests headers (only) that would be returned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specified URL were requested  with an HTTP GET method. </a:t>
            </a:r>
            <a:endParaRPr/>
          </a:p>
        </p:txBody>
      </p:sp>
      <p:sp>
        <p:nvSpPr>
          <p:cNvPr id="2124" name="Google Shape;2124;p33"/>
          <p:cNvSpPr txBox="1"/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PUT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uploads new file (object) to server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completely replaces file that exists at specified URL with content in entity body of POST HTTP request message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3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2131" name="Google Shape;2131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2" name="Google Shape;2132;p34"/>
          <p:cNvSpPr txBox="1"/>
          <p:nvPr/>
        </p:nvSpPr>
        <p:spPr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line (protocol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code status phrase)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34"/>
          <p:cNvSpPr txBox="1"/>
          <p:nvPr/>
        </p:nvSpPr>
        <p:spPr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34"/>
          <p:cNvSpPr txBox="1"/>
          <p:nvPr/>
        </p:nvSpPr>
        <p:spPr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data, e.g.,  requested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HTML file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34"/>
          <p:cNvSpPr/>
          <p:nvPr/>
        </p:nvSpPr>
        <p:spPr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HTTP/1.1 200 OK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Date: Tue, 08 Sep 2020 00:53:20 GMT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Server: Apache/2.4.6 (CentOS) OpenSSL/1.0.2k-fips PHP/7.4.9 mod_perl/2.0.11 Perl/v5.16.3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Last-Modified: Tue, 01 Mar 2016 18:57:50 GMT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ETag: "a5b-52d015789ee9e"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Accept-Ranges: bytes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Content-Length: 2651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Content-Type: text/html; charset=UTF-8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data data data data ... 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36" name="Google Shape;2136;p34"/>
          <p:cNvCxnSpPr/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7" name="Google Shape;2137;p34"/>
          <p:cNvCxnSpPr/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38" name="Google Shape;2138;p34"/>
          <p:cNvSpPr txBox="1"/>
          <p:nvPr/>
        </p:nvSpPr>
        <p:spPr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sp>
        <p:nvSpPr>
          <p:cNvPr id="2139" name="Google Shape;2139;p34"/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34"/>
          <p:cNvSpPr/>
          <p:nvPr/>
        </p:nvSpPr>
        <p:spPr>
          <a:xfrm>
            <a:off x="4963885" y="2057400"/>
            <a:ext cx="261258" cy="269421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2225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34"/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34"/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3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s</a:t>
            </a:r>
            <a:r>
              <a:rPr lang="en-US" sz="4400"/>
              <a:t>tatus </a:t>
            </a:r>
            <a:r>
              <a:rPr lang="en-US"/>
              <a:t>c</a:t>
            </a:r>
            <a:r>
              <a:rPr lang="en-US" sz="4400"/>
              <a:t>odes</a:t>
            </a:r>
            <a:endParaRPr sz="4400"/>
          </a:p>
        </p:txBody>
      </p:sp>
      <p:sp>
        <p:nvSpPr>
          <p:cNvPr id="2149" name="Google Shape;214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0" name="Google Shape;2150;p35"/>
          <p:cNvSpPr txBox="1"/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200 OK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succeeded, requested object later in this message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301 Moved Permanently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requested object moved, new location specified later in this message (in Location: field)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400 Bad Request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msg not understood by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404 Not Found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requested document not found on this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505 HTTP Version Not Supported</a:t>
            </a:r>
            <a:endParaRPr/>
          </a:p>
        </p:txBody>
      </p:sp>
      <p:sp>
        <p:nvSpPr>
          <p:cNvPr id="2151" name="Google Shape;2151;p35"/>
          <p:cNvSpPr/>
          <p:nvPr/>
        </p:nvSpPr>
        <p:spPr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838" lvl="0" marL="3508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status code appears in 1st line in server-to-client response message.</a:t>
            </a:r>
            <a:endParaRPr/>
          </a:p>
          <a:p>
            <a:pPr indent="-350838" lvl="0" marL="350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sample codes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57" name="Google Shape;2157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, calendar&#10;&#10;Description automatically generated" id="2158" name="Google Shape;215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840" y="0"/>
            <a:ext cx="441831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3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4" name="Google Shape;2164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iagram&#10;&#10;Description automatically generated with low confidence" id="2165" name="Google Shape;216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037" y="0"/>
            <a:ext cx="418392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3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(client side) for yourself</a:t>
            </a:r>
            <a:endParaRPr sz="4400"/>
          </a:p>
        </p:txBody>
      </p:sp>
      <p:sp>
        <p:nvSpPr>
          <p:cNvPr id="2172" name="Google Shape;2172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3" name="Google Shape;2173;p38"/>
          <p:cNvSpPr txBox="1"/>
          <p:nvPr/>
        </p:nvSpPr>
        <p:spPr>
          <a:xfrm>
            <a:off x="579438" y="1474924"/>
            <a:ext cx="80962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netcat to your favorite Web server: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38"/>
          <p:cNvSpPr txBox="1"/>
          <p:nvPr/>
        </p:nvSpPr>
        <p:spPr>
          <a:xfrm>
            <a:off x="5718629" y="1884363"/>
            <a:ext cx="6244187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opens TCP connection to port 80 (default HTTP server port)  at gaia.cs.umass. edu.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anything typed in will be sent  to port 80 at 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38"/>
          <p:cNvSpPr txBox="1"/>
          <p:nvPr/>
        </p:nvSpPr>
        <p:spPr>
          <a:xfrm>
            <a:off x="1201297" y="1998799"/>
            <a:ext cx="38843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 nc -c -v gaia.cs.umass.edu 80</a:t>
            </a:r>
            <a:endParaRPr/>
          </a:p>
        </p:txBody>
      </p:sp>
      <p:grpSp>
        <p:nvGrpSpPr>
          <p:cNvPr id="2176" name="Google Shape;2176;p38"/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2177" name="Google Shape;2177;p38"/>
            <p:cNvSpPr/>
            <p:nvPr/>
          </p:nvSpPr>
          <p:spPr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3. look at response message sent by HTTP server!</a:t>
              </a:r>
              <a:endParaRPr/>
            </a:p>
          </p:txBody>
        </p:sp>
        <p:sp>
          <p:nvSpPr>
            <p:cNvPr id="2178" name="Google Shape;2178;p38"/>
            <p:cNvSpPr txBox="1"/>
            <p:nvPr/>
          </p:nvSpPr>
          <p:spPr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(or use Wireshark to look at captured HTTP request/response)</a:t>
              </a:r>
              <a:endParaRPr/>
            </a:p>
          </p:txBody>
        </p:sp>
      </p:grpSp>
      <p:grpSp>
        <p:nvGrpSpPr>
          <p:cNvPr id="2179" name="Google Shape;2179;p38"/>
          <p:cNvGrpSpPr/>
          <p:nvPr/>
        </p:nvGrpSpPr>
        <p:grpSpPr>
          <a:xfrm>
            <a:off x="727530" y="3145663"/>
            <a:ext cx="11243449" cy="2045073"/>
            <a:chOff x="727530" y="3145663"/>
            <a:chExt cx="11243449" cy="2045073"/>
          </a:xfrm>
        </p:grpSpPr>
        <p:sp>
          <p:nvSpPr>
            <p:cNvPr id="2180" name="Google Shape;2180;p38"/>
            <p:cNvSpPr/>
            <p:nvPr/>
          </p:nvSpPr>
          <p:spPr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2. type in a GET HTTP request:</a:t>
              </a:r>
              <a:endParaRPr/>
            </a:p>
            <a:p>
              <a:pPr indent="-228600" lvl="2" marL="1143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181" name="Google Shape;2181;p38"/>
            <p:cNvSpPr txBox="1"/>
            <p:nvPr/>
          </p:nvSpPr>
          <p:spPr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/kurose_ross/interactive/index.php HTTP/1.1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Host: gaia.cs.umass.edu</a:t>
              </a:r>
              <a:endParaRPr b="1" i="0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82" name="Google Shape;2182;p38"/>
            <p:cNvSpPr txBox="1"/>
            <p:nvPr/>
          </p:nvSpPr>
          <p:spPr>
            <a:xfrm>
              <a:off x="5726792" y="4175073"/>
              <a:ext cx="624418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typing this in (hit carriage return twice), you send this minimal (but complete)  GET request to HTTP server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3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</a:t>
            </a:r>
            <a:endParaRPr sz="4400"/>
          </a:p>
        </p:txBody>
      </p:sp>
      <p:sp>
        <p:nvSpPr>
          <p:cNvPr id="2189" name="Google Shape;2189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0" name="Google Shape;2190;p39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Telnet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HTTPClient.java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https://gist.github.com/khalefa-ow/500209741080f2bf2c4fd8c51977a40a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197" name="Google Shape;2197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8" name="Google Shape;2198;p40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 HTTP GET/response interaction is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notion of multi-step exchanges of HTTP messages to complete a Web “transaction”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track “state” of multi-step exchange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HTTP requests are independent of each 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“recover” from a partially-completed-but-never-completely-completed transaction</a:t>
            </a:r>
            <a:endParaRPr/>
          </a:p>
        </p:txBody>
      </p:sp>
      <p:sp>
        <p:nvSpPr>
          <p:cNvPr id="2199" name="Google Shape;2199;p40"/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 stateful protocol: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makes two changes to X, or none at all</a:t>
            </a:r>
            <a:endParaRPr/>
          </a:p>
        </p:txBody>
      </p:sp>
      <p:cxnSp>
        <p:nvCxnSpPr>
          <p:cNvPr id="2200" name="Google Shape;2200;p40"/>
          <p:cNvCxnSpPr/>
          <p:nvPr/>
        </p:nvCxnSpPr>
        <p:spPr>
          <a:xfrm>
            <a:off x="8211743" y="2818375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201" name="Google Shape;2201;p40"/>
          <p:cNvCxnSpPr/>
          <p:nvPr/>
        </p:nvCxnSpPr>
        <p:spPr>
          <a:xfrm>
            <a:off x="9902430" y="2812025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202" name="Google Shape;2202;p40"/>
          <p:cNvSpPr txBox="1"/>
          <p:nvPr/>
        </p:nvSpPr>
        <p:spPr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2203" name="Google Shape;2203;p40"/>
          <p:cNvSpPr txBox="1"/>
          <p:nvPr/>
        </p:nvSpPr>
        <p:spPr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2204" name="Google Shape;2204;p40"/>
          <p:cNvGrpSpPr/>
          <p:nvPr/>
        </p:nvGrpSpPr>
        <p:grpSpPr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2205" name="Google Shape;2205;p4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4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4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4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4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0" name="Google Shape;2210;p4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2211" name="Google Shape;2211;p4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4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3" name="Google Shape;2213;p4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4" name="Google Shape;2214;p4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2215" name="Google Shape;2215;p4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4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7" name="Google Shape;2217;p4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9" name="Google Shape;2219;p4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2220" name="Google Shape;2220;p4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4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2" name="Google Shape;2222;p4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3" name="Google Shape;2223;p4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2224" name="Google Shape;2224;p4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4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6" name="Google Shape;2226;p4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4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4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4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4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4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4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7" name="Google Shape;2237;p40"/>
          <p:cNvGrpSpPr/>
          <p:nvPr/>
        </p:nvGrpSpPr>
        <p:grpSpPr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descr="desktop_computer_stylized_medium" id="2238" name="Google Shape;2238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9" name="Google Shape;2239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0" name="Google Shape;2240;p40"/>
          <p:cNvGrpSpPr/>
          <p:nvPr/>
        </p:nvGrpSpPr>
        <p:grpSpPr>
          <a:xfrm>
            <a:off x="8211743" y="3940852"/>
            <a:ext cx="1673225" cy="370769"/>
            <a:chOff x="8211743" y="3940852"/>
            <a:chExt cx="1673225" cy="370769"/>
          </a:xfrm>
        </p:grpSpPr>
        <p:cxnSp>
          <p:nvCxnSpPr>
            <p:cNvPr id="2241" name="Google Shape;2241;p40"/>
            <p:cNvCxnSpPr/>
            <p:nvPr/>
          </p:nvCxnSpPr>
          <p:spPr>
            <a:xfrm flipH="1">
              <a:off x="8211743" y="3942941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2" name="Google Shape;2242;p40"/>
            <p:cNvSpPr txBox="1"/>
            <p:nvPr/>
          </p:nvSpPr>
          <p:spPr>
            <a:xfrm rot="-493963">
              <a:off x="9382305" y="3972348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3" name="Google Shape;2243;p40"/>
          <p:cNvGrpSpPr/>
          <p:nvPr/>
        </p:nvGrpSpPr>
        <p:grpSpPr>
          <a:xfrm>
            <a:off x="8220565" y="4622751"/>
            <a:ext cx="1673225" cy="370769"/>
            <a:chOff x="8220565" y="4622751"/>
            <a:chExt cx="1673225" cy="370769"/>
          </a:xfrm>
        </p:grpSpPr>
        <p:cxnSp>
          <p:nvCxnSpPr>
            <p:cNvPr id="2244" name="Google Shape;2244;p40"/>
            <p:cNvCxnSpPr/>
            <p:nvPr/>
          </p:nvCxnSpPr>
          <p:spPr>
            <a:xfrm flipH="1">
              <a:off x="8220565" y="465532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5" name="Google Shape;2245;p40"/>
            <p:cNvSpPr txBox="1"/>
            <p:nvPr/>
          </p:nvSpPr>
          <p:spPr>
            <a:xfrm rot="-493963">
              <a:off x="9360647" y="465424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6" name="Google Shape;2246;p40"/>
          <p:cNvGrpSpPr/>
          <p:nvPr/>
        </p:nvGrpSpPr>
        <p:grpSpPr>
          <a:xfrm>
            <a:off x="8226030" y="4807288"/>
            <a:ext cx="1684338" cy="455443"/>
            <a:chOff x="8226030" y="4807288"/>
            <a:chExt cx="1684338" cy="455443"/>
          </a:xfrm>
        </p:grpSpPr>
        <p:cxnSp>
          <p:nvCxnSpPr>
            <p:cNvPr id="2247" name="Google Shape;2247;p40"/>
            <p:cNvCxnSpPr/>
            <p:nvPr/>
          </p:nvCxnSpPr>
          <p:spPr>
            <a:xfrm>
              <a:off x="8226030" y="499071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8" name="Google Shape;2248;p40"/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unlock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2249" name="Google Shape;2249;p40"/>
          <p:cNvGrpSpPr/>
          <p:nvPr/>
        </p:nvGrpSpPr>
        <p:grpSpPr>
          <a:xfrm>
            <a:off x="8211743" y="5251311"/>
            <a:ext cx="1673225" cy="370769"/>
            <a:chOff x="8211743" y="5251311"/>
            <a:chExt cx="1673225" cy="370769"/>
          </a:xfrm>
        </p:grpSpPr>
        <p:cxnSp>
          <p:nvCxnSpPr>
            <p:cNvPr id="2250" name="Google Shape;2250;p40"/>
            <p:cNvCxnSpPr/>
            <p:nvPr/>
          </p:nvCxnSpPr>
          <p:spPr>
            <a:xfrm flipH="1">
              <a:off x="8211743" y="525390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1" name="Google Shape;2251;p40"/>
            <p:cNvSpPr txBox="1"/>
            <p:nvPr/>
          </p:nvSpPr>
          <p:spPr>
            <a:xfrm rot="-493963">
              <a:off x="9373746" y="528280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2" name="Google Shape;2252;p40"/>
          <p:cNvGrpSpPr/>
          <p:nvPr/>
        </p:nvGrpSpPr>
        <p:grpSpPr>
          <a:xfrm>
            <a:off x="8226030" y="3488161"/>
            <a:ext cx="1710811" cy="482930"/>
            <a:chOff x="8226030" y="3488161"/>
            <a:chExt cx="1710811" cy="482930"/>
          </a:xfrm>
        </p:grpSpPr>
        <p:cxnSp>
          <p:nvCxnSpPr>
            <p:cNvPr id="2253" name="Google Shape;2253;p40"/>
            <p:cNvCxnSpPr/>
            <p:nvPr/>
          </p:nvCxnSpPr>
          <p:spPr>
            <a:xfrm>
              <a:off x="8226030" y="3679752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4" name="Google Shape;2254;p40"/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</a:t>
              </a:r>
              <a:endParaRPr/>
            </a:p>
          </p:txBody>
        </p:sp>
        <p:cxnSp>
          <p:nvCxnSpPr>
            <p:cNvPr id="2255" name="Google Shape;2255;p40"/>
            <p:cNvCxnSpPr/>
            <p:nvPr/>
          </p:nvCxnSpPr>
          <p:spPr>
            <a:xfrm rot="10800000">
              <a:off x="9331367" y="3750644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56" name="Google Shape;2256;p40"/>
          <p:cNvGrpSpPr/>
          <p:nvPr/>
        </p:nvGrpSpPr>
        <p:grpSpPr>
          <a:xfrm>
            <a:off x="8234852" y="4177252"/>
            <a:ext cx="1684338" cy="472801"/>
            <a:chOff x="8234852" y="4177252"/>
            <a:chExt cx="1684338" cy="472801"/>
          </a:xfrm>
        </p:grpSpPr>
        <p:cxnSp>
          <p:nvCxnSpPr>
            <p:cNvPr id="2257" name="Google Shape;2257;p40"/>
            <p:cNvCxnSpPr/>
            <p:nvPr/>
          </p:nvCxnSpPr>
          <p:spPr>
            <a:xfrm>
              <a:off x="8234852" y="439213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8" name="Google Shape;2258;p40"/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X’’</a:t>
              </a:r>
              <a:endParaRPr/>
            </a:p>
          </p:txBody>
        </p:sp>
        <p:cxnSp>
          <p:nvCxnSpPr>
            <p:cNvPr id="2259" name="Google Shape;2259;p40"/>
            <p:cNvCxnSpPr/>
            <p:nvPr/>
          </p:nvCxnSpPr>
          <p:spPr>
            <a:xfrm rot="10800000">
              <a:off x="9339955" y="4436145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60" name="Google Shape;2260;p40"/>
          <p:cNvGrpSpPr/>
          <p:nvPr/>
        </p:nvGrpSpPr>
        <p:grpSpPr>
          <a:xfrm>
            <a:off x="8226030" y="2717763"/>
            <a:ext cx="1684338" cy="513330"/>
            <a:chOff x="8226030" y="2717763"/>
            <a:chExt cx="1684338" cy="513330"/>
          </a:xfrm>
        </p:grpSpPr>
        <p:sp>
          <p:nvSpPr>
            <p:cNvPr id="2261" name="Google Shape;2261;p40"/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lock data record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262" name="Google Shape;2262;p40"/>
            <p:cNvCxnSpPr/>
            <p:nvPr/>
          </p:nvCxnSpPr>
          <p:spPr>
            <a:xfrm>
              <a:off x="8226030" y="294855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63" name="Google Shape;2263;p40"/>
          <p:cNvGrpSpPr/>
          <p:nvPr/>
        </p:nvGrpSpPr>
        <p:grpSpPr>
          <a:xfrm>
            <a:off x="8211743" y="3198739"/>
            <a:ext cx="1673225" cy="370769"/>
            <a:chOff x="8211743" y="3198739"/>
            <a:chExt cx="1673225" cy="370769"/>
          </a:xfrm>
        </p:grpSpPr>
        <p:cxnSp>
          <p:nvCxnSpPr>
            <p:cNvPr id="2264" name="Google Shape;2264;p40"/>
            <p:cNvCxnSpPr/>
            <p:nvPr/>
          </p:nvCxnSpPr>
          <p:spPr>
            <a:xfrm flipH="1">
              <a:off x="8211743" y="321174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65" name="Google Shape;2265;p40"/>
            <p:cNvSpPr txBox="1"/>
            <p:nvPr/>
          </p:nvSpPr>
          <p:spPr>
            <a:xfrm rot="-493963">
              <a:off x="9368027" y="3230235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6" name="Google Shape;2266;p40"/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2267" name="Google Shape;2267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8" name="Google Shape;2268;p40"/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pic>
          <p:nvPicPr>
            <p:cNvPr id="2269" name="Google Shape;226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0" name="Google Shape;2270;p40"/>
          <p:cNvSpPr/>
          <p:nvPr/>
        </p:nvSpPr>
        <p:spPr>
          <a:xfrm>
            <a:off x="10157378" y="2195369"/>
            <a:ext cx="510086" cy="40011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2E75B5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1" name="Google Shape;2271;p40"/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pSp>
        <p:nvGrpSpPr>
          <p:cNvPr id="2272" name="Google Shape;2272;p40"/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2273" name="Google Shape;2273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4" name="Google Shape;2274;p40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</a:t>
              </a:r>
              <a:endParaRPr/>
            </a:p>
          </p:txBody>
        </p:sp>
        <p:pic>
          <p:nvPicPr>
            <p:cNvPr id="2275" name="Google Shape;227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6" name="Google Shape;2276;p40"/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2277" name="Google Shape;2277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8" name="Google Shape;2278;p40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  <p:pic>
          <p:nvPicPr>
            <p:cNvPr id="2279" name="Google Shape;227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0" name="Google Shape;2280;p40"/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2281" name="Google Shape;2281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2" name="Google Shape;2282;p40"/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</p:grpSp>
      <p:sp>
        <p:nvSpPr>
          <p:cNvPr id="2283" name="Google Shape;2283;p40"/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t’</a:t>
            </a:r>
            <a:endParaRPr b="0" i="1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40"/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network connection or client crashes at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t’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4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291" name="Google Shape;2291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2" name="Google Shape;2292;p41"/>
          <p:cNvSpPr txBox="1"/>
          <p:nvPr/>
        </p:nvSpPr>
        <p:spPr>
          <a:xfrm>
            <a:off x="622608" y="1452389"/>
            <a:ext cx="6335547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sites and client browser  use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cookies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maintain some state between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four components: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cookie header line of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cookie header line in next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cookie file kept on user’s host, managed by user’s browser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back-end database at Web site</a:t>
            </a:r>
            <a:endParaRPr/>
          </a:p>
        </p:txBody>
      </p:sp>
      <p:sp>
        <p:nvSpPr>
          <p:cNvPr id="2293" name="Google Shape;2293;p41"/>
          <p:cNvSpPr txBox="1"/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11113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Susan uses browser on laptop, visits specific e-commerce site for first time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initial HTTP requests arrives at site, site creates: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ID (aka “cookie”)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in backend database for ID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requests from Susan to this site will contain cookie ID value, allowing site to “identify” Susan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4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300" name="Google Shape;2300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1" name="Google Shape;2301;p42"/>
          <p:cNvSpPr txBox="1"/>
          <p:nvPr/>
        </p:nvSpPr>
        <p:spPr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2302" name="Google Shape;2302;p42"/>
          <p:cNvSpPr txBox="1"/>
          <p:nvPr/>
        </p:nvSpPr>
        <p:spPr>
          <a:xfrm>
            <a:off x="7072999" y="1555531"/>
            <a:ext cx="9669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2303" name="Google Shape;2303;p42"/>
          <p:cNvGrpSpPr/>
          <p:nvPr/>
        </p:nvGrpSpPr>
        <p:grpSpPr>
          <a:xfrm>
            <a:off x="2996806" y="4057653"/>
            <a:ext cx="3873500" cy="458788"/>
            <a:chOff x="1414" y="2657"/>
            <a:chExt cx="2440" cy="289"/>
          </a:xfrm>
        </p:grpSpPr>
        <p:cxnSp>
          <p:nvCxnSpPr>
            <p:cNvPr id="2304" name="Google Shape;2304;p42"/>
            <p:cNvCxnSpPr/>
            <p:nvPr/>
          </p:nvCxnSpPr>
          <p:spPr>
            <a:xfrm flipH="1">
              <a:off x="1414" y="2657"/>
              <a:ext cx="2440" cy="24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305" name="Google Shape;2305;p42"/>
            <p:cNvGrpSpPr/>
            <p:nvPr/>
          </p:nvGrpSpPr>
          <p:grpSpPr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2306" name="Google Shape;2306;p42"/>
              <p:cNvSpPr/>
              <p:nvPr/>
            </p:nvSpPr>
            <p:spPr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7" name="Google Shape;2307;p42"/>
              <p:cNvSpPr txBox="1"/>
              <p:nvPr/>
            </p:nvSpPr>
            <p:spPr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usual HTTP response msg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8" name="Google Shape;2308;p42"/>
          <p:cNvGrpSpPr/>
          <p:nvPr/>
        </p:nvGrpSpPr>
        <p:grpSpPr>
          <a:xfrm>
            <a:off x="3002432" y="5867498"/>
            <a:ext cx="3859213" cy="463549"/>
            <a:chOff x="1392" y="3579"/>
            <a:chExt cx="2431" cy="292"/>
          </a:xfrm>
        </p:grpSpPr>
        <p:cxnSp>
          <p:nvCxnSpPr>
            <p:cNvPr id="2309" name="Google Shape;2309;p42"/>
            <p:cNvCxnSpPr/>
            <p:nvPr/>
          </p:nvCxnSpPr>
          <p:spPr>
            <a:xfrm flipH="1">
              <a:off x="1392" y="3579"/>
              <a:ext cx="2431" cy="2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0" name="Google Shape;2310;p42"/>
            <p:cNvSpPr txBox="1"/>
            <p:nvPr/>
          </p:nvSpPr>
          <p:spPr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msg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1" name="Google Shape;2311;p42"/>
          <p:cNvSpPr txBox="1"/>
          <p:nvPr/>
        </p:nvSpPr>
        <p:spPr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 file</a:t>
            </a:r>
            <a:endParaRPr/>
          </a:p>
        </p:txBody>
      </p:sp>
      <p:sp>
        <p:nvSpPr>
          <p:cNvPr id="2312" name="Google Shape;2312;p42"/>
          <p:cNvSpPr txBox="1"/>
          <p:nvPr/>
        </p:nvSpPr>
        <p:spPr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week later:</a:t>
            </a:r>
            <a:endParaRPr/>
          </a:p>
        </p:txBody>
      </p:sp>
      <p:grpSp>
        <p:nvGrpSpPr>
          <p:cNvPr id="2313" name="Google Shape;2313;p42"/>
          <p:cNvGrpSpPr/>
          <p:nvPr/>
        </p:nvGrpSpPr>
        <p:grpSpPr>
          <a:xfrm>
            <a:off x="2998327" y="3429000"/>
            <a:ext cx="6777024" cy="1128713"/>
            <a:chOff x="1411" y="2261"/>
            <a:chExt cx="3533" cy="711"/>
          </a:xfrm>
        </p:grpSpPr>
        <p:cxnSp>
          <p:nvCxnSpPr>
            <p:cNvPr id="2314" name="Google Shape;2314;p42"/>
            <p:cNvCxnSpPr/>
            <p:nvPr/>
          </p:nvCxnSpPr>
          <p:spPr>
            <a:xfrm>
              <a:off x="1411" y="2361"/>
              <a:ext cx="2016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5" name="Google Shape;2315;p42"/>
            <p:cNvSpPr txBox="1"/>
            <p:nvPr/>
          </p:nvSpPr>
          <p:spPr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2316" name="Google Shape;2316;p42"/>
            <p:cNvSpPr txBox="1"/>
            <p:nvPr/>
          </p:nvSpPr>
          <p:spPr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2317" name="Google Shape;2317;p42"/>
            <p:cNvCxnSpPr/>
            <p:nvPr/>
          </p:nvCxnSpPr>
          <p:spPr>
            <a:xfrm flipH="1" rot="10800000">
              <a:off x="4252" y="2367"/>
              <a:ext cx="692" cy="26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318" name="Google Shape;2318;p42"/>
            <p:cNvGrpSpPr/>
            <p:nvPr/>
          </p:nvGrpSpPr>
          <p:grpSpPr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2319" name="Google Shape;2319;p42"/>
              <p:cNvSpPr/>
              <p:nvPr/>
            </p:nvSpPr>
            <p:spPr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42"/>
              <p:cNvSpPr txBox="1"/>
              <p:nvPr/>
            </p:nvSpPr>
            <p:spPr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  <a:endParaRPr/>
              </a:p>
            </p:txBody>
          </p:sp>
        </p:grpSp>
      </p:grpSp>
      <p:grpSp>
        <p:nvGrpSpPr>
          <p:cNvPr id="2321" name="Google Shape;2321;p42"/>
          <p:cNvGrpSpPr/>
          <p:nvPr/>
        </p:nvGrpSpPr>
        <p:grpSpPr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2322" name="Google Shape;2322;p42"/>
            <p:cNvSpPr/>
            <p:nvPr/>
          </p:nvSpPr>
          <p:spPr>
            <a:xfrm>
              <a:off x="527" y="1047"/>
              <a:ext cx="855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3" name="Google Shape;2323;p42"/>
            <p:cNvSpPr txBox="1"/>
            <p:nvPr/>
          </p:nvSpPr>
          <p:spPr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</p:txBody>
        </p:sp>
      </p:grpSp>
      <p:grpSp>
        <p:nvGrpSpPr>
          <p:cNvPr id="2324" name="Google Shape;2324;p42"/>
          <p:cNvGrpSpPr/>
          <p:nvPr/>
        </p:nvGrpSpPr>
        <p:grpSpPr>
          <a:xfrm>
            <a:off x="2952356" y="1946272"/>
            <a:ext cx="6972540" cy="1301749"/>
            <a:chOff x="1386" y="1327"/>
            <a:chExt cx="3730" cy="820"/>
          </a:xfrm>
        </p:grpSpPr>
        <p:cxnSp>
          <p:nvCxnSpPr>
            <p:cNvPr id="2325" name="Google Shape;2325;p42"/>
            <p:cNvCxnSpPr/>
            <p:nvPr/>
          </p:nvCxnSpPr>
          <p:spPr>
            <a:xfrm>
              <a:off x="1386" y="1355"/>
              <a:ext cx="2082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6" name="Google Shape;2326;p42"/>
            <p:cNvSpPr txBox="1"/>
            <p:nvPr/>
          </p:nvSpPr>
          <p:spPr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</p:txBody>
        </p:sp>
        <p:sp>
          <p:nvSpPr>
            <p:cNvPr id="2327" name="Google Shape;2327;p42"/>
            <p:cNvSpPr txBox="1"/>
            <p:nvPr/>
          </p:nvSpPr>
          <p:spPr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Amazon server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creates ID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1678 for user</a:t>
              </a:r>
              <a:endParaRPr b="0" i="0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28" name="Google Shape;2328;p42"/>
            <p:cNvGrpSpPr/>
            <p:nvPr/>
          </p:nvGrpSpPr>
          <p:grpSpPr>
            <a:xfrm>
              <a:off x="4377" y="1730"/>
              <a:ext cx="739" cy="417"/>
              <a:chOff x="4377" y="1640"/>
              <a:chExt cx="739" cy="417"/>
            </a:xfrm>
          </p:grpSpPr>
          <p:cxnSp>
            <p:nvCxnSpPr>
              <p:cNvPr id="2329" name="Google Shape;2329;p42"/>
              <p:cNvCxnSpPr/>
              <p:nvPr/>
            </p:nvCxnSpPr>
            <p:spPr>
              <a:xfrm>
                <a:off x="4377" y="1640"/>
                <a:ext cx="659" cy="4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330" name="Google Shape;2330;p42"/>
              <p:cNvSpPr/>
              <p:nvPr/>
            </p:nvSpPr>
            <p:spPr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42"/>
              <p:cNvSpPr txBox="1"/>
              <p:nvPr/>
            </p:nvSpPr>
            <p:spPr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/>
              </a:p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entry</a:t>
                </a:r>
                <a:endParaRPr/>
              </a:p>
            </p:txBody>
          </p:sp>
        </p:grpSp>
      </p:grpSp>
      <p:grpSp>
        <p:nvGrpSpPr>
          <p:cNvPr id="2332" name="Google Shape;2332;p42"/>
          <p:cNvGrpSpPr/>
          <p:nvPr/>
        </p:nvGrpSpPr>
        <p:grpSpPr>
          <a:xfrm>
            <a:off x="1675603" y="2474086"/>
            <a:ext cx="5151555" cy="890270"/>
            <a:chOff x="462" y="1603"/>
            <a:chExt cx="3550" cy="719"/>
          </a:xfrm>
        </p:grpSpPr>
        <p:cxnSp>
          <p:nvCxnSpPr>
            <p:cNvPr id="2333" name="Google Shape;2333;p42"/>
            <p:cNvCxnSpPr/>
            <p:nvPr/>
          </p:nvCxnSpPr>
          <p:spPr>
            <a:xfrm flipH="1">
              <a:off x="1404" y="1603"/>
              <a:ext cx="2608" cy="27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34" name="Google Shape;2334;p42"/>
            <p:cNvSpPr txBox="1"/>
            <p:nvPr/>
          </p:nvSpPr>
          <p:spPr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set-cookie: 1678 </a:t>
              </a:r>
              <a:endParaRPr/>
            </a:p>
          </p:txBody>
        </p:sp>
        <p:grpSp>
          <p:nvGrpSpPr>
            <p:cNvPr id="2335" name="Google Shape;2335;p42"/>
            <p:cNvGrpSpPr/>
            <p:nvPr/>
          </p:nvGrpSpPr>
          <p:grpSpPr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2336" name="Google Shape;2336;p42"/>
              <p:cNvSpPr/>
              <p:nvPr/>
            </p:nvSpPr>
            <p:spPr>
              <a:xfrm>
                <a:off x="702" y="1746"/>
                <a:ext cx="735" cy="486"/>
              </a:xfrm>
              <a:prstGeom prst="can">
                <a:avLst>
                  <a:gd fmla="val 25000" name="adj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42"/>
              <p:cNvSpPr txBox="1"/>
              <p:nvPr/>
            </p:nvSpPr>
            <p:spPr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ebay 8734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1678</a:t>
                </a:r>
                <a:endParaRPr/>
              </a:p>
            </p:txBody>
          </p:sp>
        </p:grpSp>
      </p:grpSp>
      <p:grpSp>
        <p:nvGrpSpPr>
          <p:cNvPr id="2338" name="Google Shape;2338;p42"/>
          <p:cNvGrpSpPr/>
          <p:nvPr/>
        </p:nvGrpSpPr>
        <p:grpSpPr>
          <a:xfrm>
            <a:off x="2994226" y="4365354"/>
            <a:ext cx="6781125" cy="2001838"/>
            <a:chOff x="1406" y="2641"/>
            <a:chExt cx="3562" cy="1261"/>
          </a:xfrm>
        </p:grpSpPr>
        <p:cxnSp>
          <p:nvCxnSpPr>
            <p:cNvPr id="2339" name="Google Shape;2339;p42"/>
            <p:cNvCxnSpPr/>
            <p:nvPr/>
          </p:nvCxnSpPr>
          <p:spPr>
            <a:xfrm>
              <a:off x="1406" y="3293"/>
              <a:ext cx="2032" cy="24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40" name="Google Shape;2340;p42"/>
            <p:cNvSpPr txBox="1"/>
            <p:nvPr/>
          </p:nvSpPr>
          <p:spPr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2341" name="Google Shape;2341;p42"/>
            <p:cNvSpPr txBox="1"/>
            <p:nvPr/>
          </p:nvSpPr>
          <p:spPr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2342" name="Google Shape;2342;p42"/>
            <p:cNvCxnSpPr/>
            <p:nvPr/>
          </p:nvCxnSpPr>
          <p:spPr>
            <a:xfrm flipH="1" rot="10800000">
              <a:off x="4181" y="2641"/>
              <a:ext cx="787" cy="86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43" name="Google Shape;2343;p42"/>
            <p:cNvSpPr txBox="1"/>
            <p:nvPr/>
          </p:nvSpPr>
          <p:spPr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</p:txBody>
        </p:sp>
      </p:grpSp>
      <p:grpSp>
        <p:nvGrpSpPr>
          <p:cNvPr id="2344" name="Google Shape;2344;p42"/>
          <p:cNvGrpSpPr/>
          <p:nvPr/>
        </p:nvGrpSpPr>
        <p:grpSpPr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2345" name="Google Shape;2345;p42"/>
            <p:cNvSpPr/>
            <p:nvPr/>
          </p:nvSpPr>
          <p:spPr>
            <a:xfrm>
              <a:off x="735" y="1746"/>
              <a:ext cx="773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42"/>
            <p:cNvSpPr txBox="1"/>
            <p:nvPr/>
          </p:nvSpPr>
          <p:spPr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amazon 1678</a:t>
              </a:r>
              <a:endPara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7" name="Google Shape;2347;p42"/>
          <p:cNvSpPr txBox="1"/>
          <p:nvPr/>
        </p:nvSpPr>
        <p:spPr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2348" name="Google Shape;2348;p42"/>
          <p:cNvSpPr/>
          <p:nvPr/>
        </p:nvSpPr>
        <p:spPr>
          <a:xfrm>
            <a:off x="10104838" y="3202824"/>
            <a:ext cx="592138" cy="90805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9" name="Google Shape;2349;p42"/>
          <p:cNvGrpSpPr/>
          <p:nvPr/>
        </p:nvGrpSpPr>
        <p:grpSpPr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2350" name="Google Shape;2350;p4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42"/>
            <p:cNvSpPr/>
            <p:nvPr/>
          </p:nvSpPr>
          <p:spPr>
            <a:xfrm>
              <a:off x="4206" y="429"/>
              <a:ext cx="1045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4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4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42"/>
            <p:cNvSpPr/>
            <p:nvPr/>
          </p:nvSpPr>
          <p:spPr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5" name="Google Shape;2355;p42"/>
            <p:cNvGrpSpPr/>
            <p:nvPr/>
          </p:nvGrpSpPr>
          <p:grpSpPr>
            <a:xfrm>
              <a:off x="4751" y="666"/>
              <a:ext cx="578" cy="148"/>
              <a:chOff x="616" y="2566"/>
              <a:chExt cx="721" cy="142"/>
            </a:xfrm>
          </p:grpSpPr>
          <p:sp>
            <p:nvSpPr>
              <p:cNvPr id="2356" name="Google Shape;2356;p42"/>
              <p:cNvSpPr/>
              <p:nvPr/>
            </p:nvSpPr>
            <p:spPr>
              <a:xfrm>
                <a:off x="616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42"/>
              <p:cNvSpPr/>
              <p:nvPr/>
            </p:nvSpPr>
            <p:spPr>
              <a:xfrm>
                <a:off x="630" y="2580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8" name="Google Shape;2358;p42"/>
            <p:cNvSpPr/>
            <p:nvPr/>
          </p:nvSpPr>
          <p:spPr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9" name="Google Shape;2359;p42"/>
            <p:cNvGrpSpPr/>
            <p:nvPr/>
          </p:nvGrpSpPr>
          <p:grpSpPr>
            <a:xfrm>
              <a:off x="4745" y="996"/>
              <a:ext cx="583" cy="133"/>
              <a:chOff x="612" y="2570"/>
              <a:chExt cx="728" cy="138"/>
            </a:xfrm>
          </p:grpSpPr>
          <p:sp>
            <p:nvSpPr>
              <p:cNvPr id="2360" name="Google Shape;2360;p42"/>
              <p:cNvSpPr/>
              <p:nvPr/>
            </p:nvSpPr>
            <p:spPr>
              <a:xfrm>
                <a:off x="612" y="2570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42"/>
              <p:cNvSpPr/>
              <p:nvPr/>
            </p:nvSpPr>
            <p:spPr>
              <a:xfrm>
                <a:off x="625" y="2585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2" name="Google Shape;2362;p42"/>
            <p:cNvSpPr/>
            <p:nvPr/>
          </p:nvSpPr>
          <p:spPr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42"/>
            <p:cNvSpPr/>
            <p:nvPr/>
          </p:nvSpPr>
          <p:spPr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4" name="Google Shape;2364;p42"/>
            <p:cNvGrpSpPr/>
            <p:nvPr/>
          </p:nvGrpSpPr>
          <p:grpSpPr>
            <a:xfrm>
              <a:off x="4734" y="1627"/>
              <a:ext cx="584" cy="153"/>
              <a:chOff x="613" y="2568"/>
              <a:chExt cx="727" cy="141"/>
            </a:xfrm>
          </p:grpSpPr>
          <p:sp>
            <p:nvSpPr>
              <p:cNvPr id="2365" name="Google Shape;2365;p42"/>
              <p:cNvSpPr/>
              <p:nvPr/>
            </p:nvSpPr>
            <p:spPr>
              <a:xfrm>
                <a:off x="613" y="2568"/>
                <a:ext cx="727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42"/>
              <p:cNvSpPr/>
              <p:nvPr/>
            </p:nvSpPr>
            <p:spPr>
              <a:xfrm>
                <a:off x="627" y="2586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7" name="Google Shape;2367;p4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8" name="Google Shape;2368;p42"/>
            <p:cNvGrpSpPr/>
            <p:nvPr/>
          </p:nvGrpSpPr>
          <p:grpSpPr>
            <a:xfrm>
              <a:off x="4740" y="1326"/>
              <a:ext cx="584" cy="138"/>
              <a:chOff x="615" y="2567"/>
              <a:chExt cx="727" cy="138"/>
            </a:xfrm>
          </p:grpSpPr>
          <p:sp>
            <p:nvSpPr>
              <p:cNvPr id="2369" name="Google Shape;2369;p42"/>
              <p:cNvSpPr/>
              <p:nvPr/>
            </p:nvSpPr>
            <p:spPr>
              <a:xfrm>
                <a:off x="615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42"/>
              <p:cNvSpPr/>
              <p:nvPr/>
            </p:nvSpPr>
            <p:spPr>
              <a:xfrm>
                <a:off x="629" y="2582"/>
                <a:ext cx="692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1" name="Google Shape;2371;p42"/>
            <p:cNvSpPr/>
            <p:nvPr/>
          </p:nvSpPr>
          <p:spPr>
            <a:xfrm>
              <a:off x="5251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42"/>
            <p:cNvSpPr/>
            <p:nvPr/>
          </p:nvSpPr>
          <p:spPr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4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4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42"/>
            <p:cNvSpPr/>
            <p:nvPr/>
          </p:nvSpPr>
          <p:spPr>
            <a:xfrm>
              <a:off x="4206" y="2712"/>
              <a:ext cx="1067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42"/>
            <p:cNvSpPr/>
            <p:nvPr/>
          </p:nvSpPr>
          <p:spPr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42"/>
            <p:cNvSpPr/>
            <p:nvPr/>
          </p:nvSpPr>
          <p:spPr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42"/>
            <p:cNvSpPr/>
            <p:nvPr/>
          </p:nvSpPr>
          <p:spPr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2" name="Google Shape;2382;p42"/>
          <p:cNvGrpSpPr/>
          <p:nvPr/>
        </p:nvGrpSpPr>
        <p:grpSpPr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descr="desktop_computer_stylized_medium" id="2383" name="Google Shape;23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4" name="Google Shape;2384;p4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85" name="Google Shape;2385;p42"/>
          <p:cNvCxnSpPr/>
          <p:nvPr/>
        </p:nvCxnSpPr>
        <p:spPr>
          <a:xfrm flipH="1">
            <a:off x="2999897" y="1993139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386" name="Google Shape;2386;p42"/>
          <p:cNvSpPr txBox="1"/>
          <p:nvPr/>
        </p:nvSpPr>
        <p:spPr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2387" name="Google Shape;2387;p42"/>
          <p:cNvCxnSpPr/>
          <p:nvPr/>
        </p:nvCxnSpPr>
        <p:spPr>
          <a:xfrm flipH="1">
            <a:off x="6867352" y="2001551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388" name="Google Shape;2388;p42"/>
          <p:cNvSpPr txBox="1"/>
          <p:nvPr/>
        </p:nvSpPr>
        <p:spPr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4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cookies: comments</a:t>
            </a:r>
            <a:endParaRPr sz="4400"/>
          </a:p>
        </p:txBody>
      </p:sp>
      <p:sp>
        <p:nvSpPr>
          <p:cNvPr id="2395" name="Google Shape;2395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6" name="Google Shape;2396;p43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cookies can be used for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shopping carts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session state (Web e-mail)</a:t>
            </a:r>
            <a:endParaRPr/>
          </a:p>
        </p:txBody>
      </p:sp>
      <p:sp>
        <p:nvSpPr>
          <p:cNvPr id="2397" name="Google Shape;2397;p43"/>
          <p:cNvSpPr/>
          <p:nvPr/>
        </p:nvSpPr>
        <p:spPr>
          <a:xfrm>
            <a:off x="7504291" y="1568189"/>
            <a:ext cx="3810000" cy="3553646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cookies and privacy: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permit sites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lot about you on their site.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party persistent cookies (tracking cookies) allow common identity (cookie value) to be tracked across multiple web sites</a:t>
            </a:r>
            <a:endParaRPr/>
          </a:p>
        </p:txBody>
      </p:sp>
      <p:sp>
        <p:nvSpPr>
          <p:cNvPr id="2398" name="Google Shape;2398;p43"/>
          <p:cNvSpPr txBox="1"/>
          <p:nvPr/>
        </p:nvSpPr>
        <p:spPr>
          <a:xfrm>
            <a:off x="10149568" y="1325611"/>
            <a:ext cx="838691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aside</a:t>
            </a:r>
            <a:endParaRPr/>
          </a:p>
        </p:txBody>
      </p:sp>
      <p:sp>
        <p:nvSpPr>
          <p:cNvPr id="2399" name="Google Shape;2399;p43"/>
          <p:cNvSpPr/>
          <p:nvPr/>
        </p:nvSpPr>
        <p:spPr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How to keep state?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at protocol endpoints: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 state at sender/receiver over multiple transactions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 messages: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inHTTP messages carry state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4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3</a:t>
            </a:r>
            <a:r>
              <a:rPr baseline="30000" lang="en-US"/>
              <a:t>rd</a:t>
            </a:r>
            <a:r>
              <a:rPr lang="en-US"/>
              <a:t> Party Cookies</a:t>
            </a:r>
            <a:endParaRPr/>
          </a:p>
        </p:txBody>
      </p:sp>
      <p:sp>
        <p:nvSpPr>
          <p:cNvPr id="2405" name="Google Shape;240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6" name="Google Shape;2406;p44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How Are Third-Party Cookies Created on a Website?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7" name="Google Shape;2407;p4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0630" y="2476499"/>
            <a:ext cx="4620370" cy="231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4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</a:t>
            </a:r>
            <a:endParaRPr sz="4400"/>
          </a:p>
        </p:txBody>
      </p:sp>
      <p:sp>
        <p:nvSpPr>
          <p:cNvPr id="2414" name="Google Shape;241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15" name="Google Shape;2415;p45"/>
          <p:cNvGrpSpPr/>
          <p:nvPr/>
        </p:nvGrpSpPr>
        <p:grpSpPr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descr="desktop_computer_stylized_medium" id="2416" name="Google Shape;2416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7" name="Google Shape;2417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8" name="Google Shape;2418;p45"/>
          <p:cNvGrpSpPr/>
          <p:nvPr/>
        </p:nvGrpSpPr>
        <p:grpSpPr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descr="desktop_computer_stylized_medium" id="2419" name="Google Shape;2419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0" name="Google Shape;2420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1" name="Google Shape;2421;p45"/>
          <p:cNvGrpSpPr/>
          <p:nvPr/>
        </p:nvGrpSpPr>
        <p:grpSpPr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2422" name="Google Shape;2422;p4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3" name="Google Shape;2423;p45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4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4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45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7" name="Google Shape;2427;p45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2428" name="Google Shape;2428;p45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45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0" name="Google Shape;2430;p45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1" name="Google Shape;2431;p45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2432" name="Google Shape;2432;p45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45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4" name="Google Shape;2434;p45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5" name="Google Shape;2435;p45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6" name="Google Shape;2436;p45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2437" name="Google Shape;2437;p45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45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9" name="Google Shape;2439;p4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40" name="Google Shape;2440;p45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2441" name="Google Shape;2441;p45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45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3" name="Google Shape;2443;p45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4" name="Google Shape;2444;p4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5" name="Google Shape;2445;p4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6" name="Google Shape;2446;p45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7" name="Google Shape;2447;p4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8" name="Google Shape;2448;p45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9" name="Google Shape;2449;p45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0" name="Google Shape;2450;p45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45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45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45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4" name="Google Shape;2454;p45"/>
          <p:cNvSpPr txBox="1"/>
          <p:nvPr/>
        </p:nvSpPr>
        <p:spPr>
          <a:xfrm>
            <a:off x="794606" y="2233994"/>
            <a:ext cx="4908362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configures browser to point to a (local)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Web cache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 sends all HTTP requests to cache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object in cache: cache returns object to client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cache requests object from origin server, caches received object, then returns object to client</a:t>
            </a:r>
            <a:endParaRPr/>
          </a:p>
        </p:txBody>
      </p:sp>
      <p:sp>
        <p:nvSpPr>
          <p:cNvPr id="2455" name="Google Shape;2455;p45"/>
          <p:cNvSpPr/>
          <p:nvPr/>
        </p:nvSpPr>
        <p:spPr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satisfy client requests without involving origin server</a:t>
            </a:r>
            <a:endParaRPr/>
          </a:p>
        </p:txBody>
      </p:sp>
      <p:sp>
        <p:nvSpPr>
          <p:cNvPr id="2456" name="Google Shape;2456;p45"/>
          <p:cNvSpPr txBox="1"/>
          <p:nvPr/>
        </p:nvSpPr>
        <p:spPr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7" name="Google Shape;2457;p45"/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2458" name="Google Shape;2458;p45"/>
            <p:cNvGrpSpPr/>
            <p:nvPr/>
          </p:nvGrpSpPr>
          <p:grpSpPr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2459" name="Google Shape;2459;p4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45"/>
              <p:cNvSpPr/>
              <p:nvPr/>
            </p:nvSpPr>
            <p:spPr>
              <a:xfrm>
                <a:off x="4208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4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4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45"/>
              <p:cNvSpPr/>
              <p:nvPr/>
            </p:nvSpPr>
            <p:spPr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64" name="Google Shape;2464;p45"/>
              <p:cNvGrpSpPr/>
              <p:nvPr/>
            </p:nvGrpSpPr>
            <p:grpSpPr>
              <a:xfrm>
                <a:off x="4751" y="668"/>
                <a:ext cx="577" cy="144"/>
                <a:chOff x="616" y="2568"/>
                <a:chExt cx="720" cy="138"/>
              </a:xfrm>
            </p:grpSpPr>
            <p:sp>
              <p:nvSpPr>
                <p:cNvPr id="2465" name="Google Shape;2465;p45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6" name="Google Shape;2466;p45"/>
                <p:cNvSpPr/>
                <p:nvPr/>
              </p:nvSpPr>
              <p:spPr>
                <a:xfrm>
                  <a:off x="630" y="2583"/>
                  <a:ext cx="670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67" name="Google Shape;2467;p45"/>
              <p:cNvSpPr/>
              <p:nvPr/>
            </p:nvSpPr>
            <p:spPr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68" name="Google Shape;2468;p45"/>
              <p:cNvGrpSpPr/>
              <p:nvPr/>
            </p:nvGrpSpPr>
            <p:grpSpPr>
              <a:xfrm>
                <a:off x="4745" y="992"/>
                <a:ext cx="583" cy="138"/>
                <a:chOff x="612" y="2566"/>
                <a:chExt cx="727" cy="143"/>
              </a:xfrm>
            </p:grpSpPr>
            <p:sp>
              <p:nvSpPr>
                <p:cNvPr id="2469" name="Google Shape;2469;p45"/>
                <p:cNvSpPr/>
                <p:nvPr/>
              </p:nvSpPr>
              <p:spPr>
                <a:xfrm>
                  <a:off x="612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0" name="Google Shape;2470;p45"/>
                <p:cNvSpPr/>
                <p:nvPr/>
              </p:nvSpPr>
              <p:spPr>
                <a:xfrm>
                  <a:off x="626" y="2583"/>
                  <a:ext cx="692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71" name="Google Shape;2471;p45"/>
              <p:cNvSpPr/>
              <p:nvPr/>
            </p:nvSpPr>
            <p:spPr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45"/>
              <p:cNvSpPr/>
              <p:nvPr/>
            </p:nvSpPr>
            <p:spPr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3" name="Google Shape;2473;p45"/>
              <p:cNvGrpSpPr/>
              <p:nvPr/>
            </p:nvGrpSpPr>
            <p:grpSpPr>
              <a:xfrm>
                <a:off x="4733" y="1629"/>
                <a:ext cx="583" cy="149"/>
                <a:chOff x="612" y="2570"/>
                <a:chExt cx="726" cy="137"/>
              </a:xfrm>
            </p:grpSpPr>
            <p:sp>
              <p:nvSpPr>
                <p:cNvPr id="2474" name="Google Shape;2474;p45"/>
                <p:cNvSpPr/>
                <p:nvPr/>
              </p:nvSpPr>
              <p:spPr>
                <a:xfrm>
                  <a:off x="612" y="2570"/>
                  <a:ext cx="726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5" name="Google Shape;2475;p45"/>
                <p:cNvSpPr/>
                <p:nvPr/>
              </p:nvSpPr>
              <p:spPr>
                <a:xfrm>
                  <a:off x="627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76" name="Google Shape;2476;p4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7" name="Google Shape;2477;p45"/>
              <p:cNvGrpSpPr/>
              <p:nvPr/>
            </p:nvGrpSpPr>
            <p:grpSpPr>
              <a:xfrm>
                <a:off x="4740" y="1327"/>
                <a:ext cx="583" cy="138"/>
                <a:chOff x="615" y="2568"/>
                <a:chExt cx="726" cy="138"/>
              </a:xfrm>
            </p:grpSpPr>
            <p:sp>
              <p:nvSpPr>
                <p:cNvPr id="2478" name="Google Shape;2478;p45"/>
                <p:cNvSpPr/>
                <p:nvPr/>
              </p:nvSpPr>
              <p:spPr>
                <a:xfrm>
                  <a:off x="615" y="2568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9" name="Google Shape;2479;p45"/>
                <p:cNvSpPr/>
                <p:nvPr/>
              </p:nvSpPr>
              <p:spPr>
                <a:xfrm>
                  <a:off x="629" y="2584"/>
                  <a:ext cx="69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80" name="Google Shape;2480;p45"/>
              <p:cNvSpPr/>
              <p:nvPr/>
            </p:nvSpPr>
            <p:spPr>
              <a:xfrm>
                <a:off x="5248" y="429"/>
                <a:ext cx="68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4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45"/>
              <p:cNvSpPr/>
              <p:nvPr/>
            </p:nvSpPr>
            <p:spPr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4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45"/>
              <p:cNvSpPr/>
              <p:nvPr/>
            </p:nvSpPr>
            <p:spPr>
              <a:xfrm>
                <a:off x="4140" y="2676"/>
                <a:ext cx="1199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45"/>
              <p:cNvSpPr/>
              <p:nvPr/>
            </p:nvSpPr>
            <p:spPr>
              <a:xfrm>
                <a:off x="4208" y="2713"/>
                <a:ext cx="1069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45"/>
              <p:cNvSpPr/>
              <p:nvPr/>
            </p:nvSpPr>
            <p:spPr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45"/>
              <p:cNvSpPr/>
              <p:nvPr/>
            </p:nvSpPr>
            <p:spPr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45"/>
              <p:cNvSpPr/>
              <p:nvPr/>
            </p:nvSpPr>
            <p:spPr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45"/>
              <p:cNvSpPr/>
              <p:nvPr/>
            </p:nvSpPr>
            <p:spPr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1" name="Google Shape;2491;p45"/>
            <p:cNvSpPr txBox="1"/>
            <p:nvPr/>
          </p:nvSpPr>
          <p:spPr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Web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2" name="Google Shape;2492;p45"/>
          <p:cNvSpPr txBox="1"/>
          <p:nvPr/>
        </p:nvSpPr>
        <p:spPr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3" name="Google Shape;2493;p45"/>
          <p:cNvGrpSpPr/>
          <p:nvPr/>
        </p:nvGrpSpPr>
        <p:grpSpPr>
          <a:xfrm>
            <a:off x="6912637" y="3660480"/>
            <a:ext cx="1493176" cy="945196"/>
            <a:chOff x="2940" y="2464"/>
            <a:chExt cx="941" cy="595"/>
          </a:xfrm>
        </p:grpSpPr>
        <p:cxnSp>
          <p:nvCxnSpPr>
            <p:cNvPr id="2494" name="Google Shape;2494;p45"/>
            <p:cNvCxnSpPr/>
            <p:nvPr/>
          </p:nvCxnSpPr>
          <p:spPr>
            <a:xfrm flipH="1" rot="10800000">
              <a:off x="2998" y="2580"/>
              <a:ext cx="883" cy="479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5" name="Google Shape;2495;p45"/>
            <p:cNvSpPr txBox="1"/>
            <p:nvPr/>
          </p:nvSpPr>
          <p:spPr>
            <a:xfrm rot="-1692639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6" name="Google Shape;2496;p45"/>
          <p:cNvGrpSpPr/>
          <p:nvPr/>
        </p:nvGrpSpPr>
        <p:grpSpPr>
          <a:xfrm>
            <a:off x="7054850" y="3932576"/>
            <a:ext cx="1480212" cy="997118"/>
            <a:chOff x="3030" y="2635"/>
            <a:chExt cx="932" cy="628"/>
          </a:xfrm>
        </p:grpSpPr>
        <p:cxnSp>
          <p:nvCxnSpPr>
            <p:cNvPr id="2497" name="Google Shape;2497;p45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8" name="Google Shape;2498;p45"/>
            <p:cNvSpPr txBox="1"/>
            <p:nvPr/>
          </p:nvSpPr>
          <p:spPr>
            <a:xfrm rot="-1737783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9" name="Google Shape;2499;p45"/>
          <p:cNvGrpSpPr/>
          <p:nvPr/>
        </p:nvGrpSpPr>
        <p:grpSpPr>
          <a:xfrm>
            <a:off x="7010400" y="2667302"/>
            <a:ext cx="3251200" cy="936661"/>
            <a:chOff x="3002" y="1849"/>
            <a:chExt cx="2048" cy="590"/>
          </a:xfrm>
        </p:grpSpPr>
        <p:sp>
          <p:nvSpPr>
            <p:cNvPr id="2500" name="Google Shape;2500;p45"/>
            <p:cNvSpPr/>
            <p:nvPr/>
          </p:nvSpPr>
          <p:spPr>
            <a:xfrm>
              <a:off x="3002" y="1979"/>
              <a:ext cx="2048" cy="460"/>
            </a:xfrm>
            <a:custGeom>
              <a:rect b="b" l="l" r="r" t="t"/>
              <a:pathLst>
                <a:path extrusionOk="0" h="460" w="2048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1" name="Google Shape;2501;p45"/>
            <p:cNvSpPr txBox="1"/>
            <p:nvPr/>
          </p:nvSpPr>
          <p:spPr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2" name="Google Shape;2502;p45"/>
            <p:cNvSpPr txBox="1"/>
            <p:nvPr/>
          </p:nvSpPr>
          <p:spPr>
            <a:xfrm rot="-1419968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3" name="Google Shape;2503;p45"/>
          <p:cNvSpPr txBox="1"/>
          <p:nvPr/>
        </p:nvSpPr>
        <p:spPr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4" name="Google Shape;250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5" name="Google Shape;2505;p45"/>
          <p:cNvGrpSpPr/>
          <p:nvPr/>
        </p:nvGrpSpPr>
        <p:grpSpPr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2506" name="Google Shape;2506;p45"/>
            <p:cNvSpPr/>
            <p:nvPr/>
          </p:nvSpPr>
          <p:spPr>
            <a:xfrm>
              <a:off x="2985" y="2026"/>
              <a:ext cx="2119" cy="476"/>
            </a:xfrm>
            <a:custGeom>
              <a:rect b="b" l="l" r="r" t="t"/>
              <a:pathLst>
                <a:path extrusionOk="0" h="476" w="2119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45"/>
            <p:cNvSpPr txBox="1"/>
            <p:nvPr/>
          </p:nvSpPr>
          <p:spPr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45"/>
            <p:cNvSpPr txBox="1"/>
            <p:nvPr/>
          </p:nvSpPr>
          <p:spPr>
            <a:xfrm rot="-1415789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09" name="Google Shape;2509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0" name="Google Shape;2510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1" name="Google Shape;251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46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 (aka proxy servers)</a:t>
            </a:r>
            <a:endParaRPr sz="4400"/>
          </a:p>
        </p:txBody>
      </p:sp>
      <p:sp>
        <p:nvSpPr>
          <p:cNvPr id="2518" name="Google Shape;2518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9" name="Google Shape;2519;p46"/>
          <p:cNvSpPr txBox="1"/>
          <p:nvPr/>
        </p:nvSpPr>
        <p:spPr>
          <a:xfrm>
            <a:off x="600308" y="1534695"/>
            <a:ext cx="4752277" cy="2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407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cache acts as both client and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for original requesting client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to origin server</a:t>
            </a:r>
            <a:endParaRPr/>
          </a:p>
        </p:txBody>
      </p:sp>
      <p:sp>
        <p:nvSpPr>
          <p:cNvPr id="2520" name="Google Shape;2520;p46"/>
          <p:cNvSpPr txBox="1"/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caching?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response time for client request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is closer to client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traffic on an institution’s access link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is dense with caches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enables “poor” content providers to more effectively deliver content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1" name="Google Shape;2521;p46"/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522" name="Google Shape;2522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3" name="Google Shape;2523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4" name="Google Shape;2524;p46"/>
            <p:cNvSpPr txBox="1"/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7813" lvl="0" marL="4079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tells cache about object’s allowable caching in response header: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0" name="Google Shape;25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600" y="3598333"/>
            <a:ext cx="1255183" cy="1030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ot icon" id="2531" name="Google Shape;253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0660" y="3598333"/>
            <a:ext cx="721782" cy="721782"/>
          </a:xfrm>
          <a:prstGeom prst="rect">
            <a:avLst/>
          </a:prstGeom>
          <a:noFill/>
          <a:ln>
            <a:noFill/>
          </a:ln>
        </p:spPr>
      </p:pic>
      <p:sp>
        <p:nvSpPr>
          <p:cNvPr id="2532" name="Google Shape;2532;p4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sp>
        <p:nvSpPr>
          <p:cNvPr id="2533" name="Google Shape;2533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34" name="Google Shape;2534;p47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5" name="Google Shape;2535;p47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536" name="Google Shape;2536;p47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47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47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47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0" name="Google Shape;2540;p47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47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47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3" name="Google Shape;2543;p47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4" name="Google Shape;2544;p47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5" name="Google Shape;2545;p47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47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7" name="Google Shape;2547;p47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47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47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47"/>
          <p:cNvSpPr/>
          <p:nvPr/>
        </p:nvSpPr>
        <p:spPr>
          <a:xfrm>
            <a:off x="3943717" y="4370340"/>
            <a:ext cx="940980" cy="509975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1" name="Google Shape;2551;p47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552" name="Google Shape;2552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7" name="Google Shape;2557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558" name="Google Shape;2558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0" name="Google Shape;2560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1" name="Google Shape;2561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562" name="Google Shape;2562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4" name="Google Shape;2564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6" name="Google Shape;2566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567" name="Google Shape;2567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9" name="Google Shape;2569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70" name="Google Shape;2570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571" name="Google Shape;2571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73" name="Google Shape;2573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4" name="Google Shape;2584;p47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585" name="Google Shape;258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6" name="Google Shape;258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7" name="Google Shape;2587;p47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588" name="Google Shape;2588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3" name="Google Shape;2593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594" name="Google Shape;2594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6" name="Google Shape;2596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7" name="Google Shape;2597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598" name="Google Shape;2598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0" name="Google Shape;2600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2" name="Google Shape;2602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03" name="Google Shape;2603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4" name="Google Shape;2604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5" name="Google Shape;2605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6" name="Google Shape;2606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07" name="Google Shape;2607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9" name="Google Shape;2609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0" name="Google Shape;2620;p47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2621" name="Google Shape;2621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6" name="Google Shape;2626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27" name="Google Shape;2627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9" name="Google Shape;2629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0" name="Google Shape;2630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31" name="Google Shape;2631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3" name="Google Shape;2633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5" name="Google Shape;2635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36" name="Google Shape;2636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8" name="Google Shape;2638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9" name="Google Shape;2639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40" name="Google Shape;2640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2" name="Google Shape;2642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3" name="Google Shape;2653;p47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2654" name="Google Shape;2654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9" name="Google Shape;2659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60" name="Google Shape;2660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2" name="Google Shape;2662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3" name="Google Shape;2663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64" name="Google Shape;2664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6" name="Google Shape;2666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8" name="Google Shape;2668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69" name="Google Shape;2669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1" name="Google Shape;2671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2" name="Google Shape;2672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73" name="Google Shape;2673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5" name="Google Shape;2675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6" name="Google Shape;2686;p47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2687" name="Google Shape;2687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2" name="Google Shape;2692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93" name="Google Shape;2693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5" name="Google Shape;2695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6" name="Google Shape;2696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97" name="Google Shape;2697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9" name="Google Shape;2699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1" name="Google Shape;2701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702" name="Google Shape;2702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4" name="Google Shape;2704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5" name="Google Shape;2705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706" name="Google Shape;2706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8" name="Google Shape;2708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9" name="Google Shape;2719;p47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2720" name="Google Shape;2720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1" name="Google Shape;2721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2" name="Google Shape;2722;p47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2723" name="Google Shape;2723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4" name="Google Shape;2724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5" name="Google Shape;2725;p47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2726" name="Google Shape;272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27" name="Google Shape;272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28" name="Google Shape;272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29" name="Google Shape;272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3" name="Google Shape;2733;p47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2734" name="Google Shape;273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35" name="Google Shape;273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36" name="Google Shape;273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37" name="Google Shape;273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8" name="Google Shape;273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41" name="Google Shape;2741;p47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47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sp>
        <p:nvSpPr>
          <p:cNvPr id="2743" name="Google Shape;2743;p47"/>
          <p:cNvSpPr/>
          <p:nvPr/>
        </p:nvSpPr>
        <p:spPr>
          <a:xfrm>
            <a:off x="4316250" y="5809673"/>
            <a:ext cx="1119350" cy="591127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47"/>
          <p:cNvSpPr txBox="1"/>
          <p:nvPr/>
        </p:nvSpPr>
        <p:spPr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 queueing delays at high utilization!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48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4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1: buy a faster access link</a:t>
            </a:r>
            <a:endParaRPr sz="4400"/>
          </a:p>
        </p:txBody>
      </p:sp>
      <p:sp>
        <p:nvSpPr>
          <p:cNvPr id="2752" name="Google Shape;2752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53" name="Google Shape;2753;p48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4" name="Google Shape;2754;p48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755" name="Google Shape;2755;p48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6" name="Google Shape;2756;p48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7" name="Google Shape;2757;p48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8" name="Google Shape;2758;p48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9" name="Google Shape;2759;p48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48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48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2" name="Google Shape;2762;p48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3" name="Google Shape;2763;p48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4" name="Google Shape;2764;p48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5" name="Google Shape;2765;p48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6" name="Google Shape;2766;p48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48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48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9" name="Google Shape;2769;p48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770" name="Google Shape;2770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5" name="Google Shape;2775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776" name="Google Shape;2776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7" name="Google Shape;2777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8" name="Google Shape;2778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9" name="Google Shape;2779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780" name="Google Shape;2780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1" name="Google Shape;2781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2" name="Google Shape;2782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4" name="Google Shape;2784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785" name="Google Shape;2785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6" name="Google Shape;2786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7" name="Google Shape;2787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8" name="Google Shape;2788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789" name="Google Shape;2789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0" name="Google Shape;2790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1" name="Google Shape;2791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2" name="Google Shape;2802;p48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803" name="Google Shape;2803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4" name="Google Shape;2804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5" name="Google Shape;2805;p48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806" name="Google Shape;2806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1" name="Google Shape;2811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12" name="Google Shape;2812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3" name="Google Shape;2813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4" name="Google Shape;2814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5" name="Google Shape;2815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16" name="Google Shape;2816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7" name="Google Shape;2817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8" name="Google Shape;2818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0" name="Google Shape;2820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21" name="Google Shape;2821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2" name="Google Shape;2822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3" name="Google Shape;2823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4" name="Google Shape;2824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25" name="Google Shape;2825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6" name="Google Shape;2826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7" name="Google Shape;2827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8" name="Google Shape;2838;p48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2839" name="Google Shape;2839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44" name="Google Shape;2844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45" name="Google Shape;2845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6" name="Google Shape;2846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7" name="Google Shape;2847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48" name="Google Shape;2848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49" name="Google Shape;2849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0" name="Google Shape;2850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51" name="Google Shape;2851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3" name="Google Shape;2853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54" name="Google Shape;2854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5" name="Google Shape;2855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56" name="Google Shape;2856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7" name="Google Shape;2857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58" name="Google Shape;2858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9" name="Google Shape;2859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0" name="Google Shape;2860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1" name="Google Shape;2871;p48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2872" name="Google Shape;2872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7" name="Google Shape;2877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78" name="Google Shape;2878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9" name="Google Shape;2879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0" name="Google Shape;2880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1" name="Google Shape;2881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82" name="Google Shape;2882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4" name="Google Shape;2884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6" name="Google Shape;2886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87" name="Google Shape;2887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8" name="Google Shape;2888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9" name="Google Shape;2889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0" name="Google Shape;2890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91" name="Google Shape;2891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2" name="Google Shape;2892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93" name="Google Shape;2893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4" name="Google Shape;2904;p48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2905" name="Google Shape;2905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0" name="Google Shape;2910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911" name="Google Shape;2911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2" name="Google Shape;2912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3" name="Google Shape;2913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4" name="Google Shape;2914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915" name="Google Shape;2915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6" name="Google Shape;2916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7" name="Google Shape;2917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9" name="Google Shape;2919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920" name="Google Shape;2920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1" name="Google Shape;2921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2" name="Google Shape;2922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23" name="Google Shape;2923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924" name="Google Shape;2924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5" name="Google Shape;2925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6" name="Google Shape;2926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7" name="Google Shape;2937;p48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2938" name="Google Shape;2938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9" name="Google Shape;2939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0" name="Google Shape;2940;p48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2941" name="Google Shape;2941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2" name="Google Shape;2942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3" name="Google Shape;2943;p48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2944" name="Google Shape;2944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45" name="Google Shape;2945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46" name="Google Shape;2946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47" name="Google Shape;2947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8" name="Google Shape;2948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9" name="Google Shape;2949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0" name="Google Shape;2950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1" name="Google Shape;2951;p48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2952" name="Google Shape;295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53" name="Google Shape;2953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54" name="Google Shape;295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55" name="Google Shape;295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6" name="Google Shape;295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7" name="Google Shape;295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8" name="Google Shape;2958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59" name="Google Shape;2959;p48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2960" name="Google Shape;2960;p48"/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2961" name="Google Shape;2961;p48"/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962" name="Google Shape;2962;p48"/>
              <p:cNvSpPr txBox="1"/>
              <p:nvPr/>
            </p:nvSpPr>
            <p:spPr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154 Mbps</a:t>
                </a:r>
                <a:endParaRPr/>
              </a:p>
            </p:txBody>
          </p:sp>
          <p:sp>
            <p:nvSpPr>
              <p:cNvPr id="2963" name="Google Shape;2963;p48"/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64" name="Google Shape;2964;p48"/>
              <p:cNvCxnSpPr/>
              <p:nvPr/>
            </p:nvCxnSpPr>
            <p:spPr>
              <a:xfrm flipH="1" rot="10800000">
                <a:off x="4828478" y="4140660"/>
                <a:ext cx="680225" cy="42304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965" name="Google Shape;2965;p48"/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966" name="Google Shape;2966;p48"/>
              <p:cNvSpPr txBox="1"/>
              <p:nvPr/>
            </p:nvSpPr>
            <p:spPr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154 Mbps</a:t>
                </a:r>
                <a:endParaRPr/>
              </a:p>
            </p:txBody>
          </p:sp>
          <p:sp>
            <p:nvSpPr>
              <p:cNvPr id="2967" name="Google Shape;2967;p48"/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68" name="Google Shape;2968;p48"/>
              <p:cNvCxnSpPr/>
              <p:nvPr/>
            </p:nvCxnSpPr>
            <p:spPr>
              <a:xfrm flipH="1" rot="10800000">
                <a:off x="4459229" y="3805441"/>
                <a:ext cx="554004" cy="23711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2969" name="Google Shape;2969;p48"/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2970" name="Google Shape;2970;p48"/>
            <p:cNvSpPr txBox="1"/>
            <p:nvPr/>
          </p:nvSpPr>
          <p:spPr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.0097</a:t>
              </a:r>
              <a:endParaRPr/>
            </a:p>
          </p:txBody>
        </p:sp>
        <p:sp>
          <p:nvSpPr>
            <p:cNvPr id="2971" name="Google Shape;2971;p48"/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72" name="Google Shape;2972;p48"/>
            <p:cNvCxnSpPr/>
            <p:nvPr/>
          </p:nvCxnSpPr>
          <p:spPr>
            <a:xfrm>
              <a:off x="4234070" y="4117024"/>
              <a:ext cx="936703" cy="1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973" name="Google Shape;2973;p48"/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2974" name="Google Shape;2974;p48"/>
            <p:cNvSpPr txBox="1"/>
            <p:nvPr/>
          </p:nvSpPr>
          <p:spPr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msecs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48"/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76" name="Google Shape;2976;p48"/>
            <p:cNvCxnSpPr/>
            <p:nvPr/>
          </p:nvCxnSpPr>
          <p:spPr>
            <a:xfrm>
              <a:off x="3662316" y="3504654"/>
              <a:ext cx="1983056" cy="46166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977" name="Google Shape;2977;p48"/>
          <p:cNvSpPr txBox="1"/>
          <p:nvPr/>
        </p:nvSpPr>
        <p:spPr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faster access link (expensive!)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2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p49"/>
          <p:cNvSpPr/>
          <p:nvPr/>
        </p:nvSpPr>
        <p:spPr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 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984" name="Google Shape;2984;p4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2: install a web cache</a:t>
            </a:r>
            <a:endParaRPr sz="4400"/>
          </a:p>
        </p:txBody>
      </p:sp>
      <p:sp>
        <p:nvSpPr>
          <p:cNvPr id="2985" name="Google Shape;2985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86" name="Google Shape;2986;p49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7" name="Google Shape;2987;p49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988" name="Google Shape;2988;p49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9" name="Google Shape;2989;p49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0" name="Google Shape;2990;p49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1" name="Google Shape;2991;p49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2" name="Google Shape;2992;p49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49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49"/>
          <p:cNvSpPr/>
          <p:nvPr/>
        </p:nvSpPr>
        <p:spPr>
          <a:xfrm>
            <a:off x="7763006" y="45142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5" name="Google Shape;2995;p49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6" name="Google Shape;2996;p49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7" name="Google Shape;2997;p49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8" name="Google Shape;2998;p49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9" name="Google Shape;2999;p49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49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49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49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3003" name="Google Shape;3003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8" name="Google Shape;3008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09" name="Google Shape;3009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0" name="Google Shape;3010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1" name="Google Shape;3011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2" name="Google Shape;3012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13" name="Google Shape;3013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4" name="Google Shape;3014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5" name="Google Shape;3015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7" name="Google Shape;3017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18" name="Google Shape;3018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9" name="Google Shape;3019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0" name="Google Shape;3020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1" name="Google Shape;3021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22" name="Google Shape;3022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3" name="Google Shape;3023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4" name="Google Shape;3024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5" name="Google Shape;3035;p49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3036" name="Google Shape;303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7" name="Google Shape;3037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8" name="Google Shape;3038;p49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039" name="Google Shape;3039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4" name="Google Shape;3044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45" name="Google Shape;3045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6" name="Google Shape;3046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7" name="Google Shape;3047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8" name="Google Shape;3048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49" name="Google Shape;3049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0" name="Google Shape;3050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1" name="Google Shape;3051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3" name="Google Shape;3053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54" name="Google Shape;3054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5" name="Google Shape;3055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6" name="Google Shape;3056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7" name="Google Shape;3057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58" name="Google Shape;3058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9" name="Google Shape;3059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0" name="Google Shape;3060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1" name="Google Shape;3071;p49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072" name="Google Shape;3072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7" name="Google Shape;3077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78" name="Google Shape;3078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9" name="Google Shape;3079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0" name="Google Shape;3080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1" name="Google Shape;3081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82" name="Google Shape;3082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3" name="Google Shape;3083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4" name="Google Shape;3084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6" name="Google Shape;3086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87" name="Google Shape;3087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8" name="Google Shape;3088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9" name="Google Shape;3089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90" name="Google Shape;3090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91" name="Google Shape;3091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2" name="Google Shape;3092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3" name="Google Shape;3093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4" name="Google Shape;3104;p49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105" name="Google Shape;3105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0" name="Google Shape;3110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111" name="Google Shape;3111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2" name="Google Shape;3112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3" name="Google Shape;3113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4" name="Google Shape;3114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115" name="Google Shape;3115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6" name="Google Shape;3116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7" name="Google Shape;3117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9" name="Google Shape;3119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20" name="Google Shape;3120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1" name="Google Shape;3121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2" name="Google Shape;3122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3" name="Google Shape;3123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124" name="Google Shape;3124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6" name="Google Shape;3126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7" name="Google Shape;3137;p49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138" name="Google Shape;3138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9" name="Google Shape;3139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0" name="Google Shape;3140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1" name="Google Shape;3141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3" name="Google Shape;3143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144" name="Google Shape;3144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6" name="Google Shape;3146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7" name="Google Shape;3147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148" name="Google Shape;3148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0" name="Google Shape;3150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2" name="Google Shape;3152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53" name="Google Shape;3153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5" name="Google Shape;3155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6" name="Google Shape;3156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157" name="Google Shape;3157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8" name="Google Shape;3158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9" name="Google Shape;3159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0" name="Google Shape;3170;p49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3171" name="Google Shape;3171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2" name="Google Shape;3172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3" name="Google Shape;3173;p49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3174" name="Google Shape;3174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5" name="Google Shape;3175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6" name="Google Shape;3176;p49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3177" name="Google Shape;317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78" name="Google Shape;317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79" name="Google Shape;317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80" name="Google Shape;318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84" name="Google Shape;3184;p49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3185" name="Google Shape;3185;p49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3186" name="Google Shape;3186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87" name="Google Shape;318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88" name="Google Shape;318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89" name="Google Shape;318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3" name="Google Shape;3193;p49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3194" name="Google Shape;3194;p49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95" name="Google Shape;3195;p49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3196" name="Google Shape;3196;p49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197" name="Google Shape;3197;p49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3198" name="Google Shape;3198;p4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9" name="Google Shape;3199;p49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0" name="Google Shape;3200;p4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1" name="Google Shape;3201;p4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2" name="Google Shape;3202;p49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03" name="Google Shape;3203;p49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3204" name="Google Shape;3204;p49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5" name="Google Shape;3205;p49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06" name="Google Shape;3206;p49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07" name="Google Shape;3207;p49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3208" name="Google Shape;3208;p49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9" name="Google Shape;3209;p49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0" name="Google Shape;3210;p49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1" name="Google Shape;3211;p49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12" name="Google Shape;3212;p49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3213" name="Google Shape;3213;p49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4" name="Google Shape;3214;p49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5" name="Google Shape;3215;p4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16" name="Google Shape;3216;p49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3217" name="Google Shape;3217;p49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8" name="Google Shape;3218;p49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9" name="Google Shape;3219;p49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0" name="Google Shape;3220;p4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1" name="Google Shape;3221;p4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2" name="Google Shape;3222;p49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3" name="Google Shape;3223;p4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4" name="Google Shape;3224;p49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5" name="Google Shape;3225;p49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6" name="Google Shape;3226;p49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7" name="Google Shape;3227;p49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8" name="Google Shape;3228;p49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9" name="Google Shape;3229;p49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30" name="Google Shape;3230;p49"/>
          <p:cNvSpPr txBox="1"/>
          <p:nvPr/>
        </p:nvSpPr>
        <p:spPr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How to compute link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utilization, delay?</a:t>
            </a:r>
            <a:endParaRPr/>
          </a:p>
        </p:txBody>
      </p:sp>
      <p:sp>
        <p:nvSpPr>
          <p:cNvPr id="3231" name="Google Shape;3231;p49"/>
          <p:cNvSpPr txBox="1"/>
          <p:nvPr/>
        </p:nvSpPr>
        <p:spPr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cache (cheap!)</a:t>
            </a:r>
            <a:endParaRPr/>
          </a:p>
        </p:txBody>
      </p:sp>
      <p:sp>
        <p:nvSpPr>
          <p:cNvPr id="3232" name="Google Shape;3232;p49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5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Calculating access link utilization, end-end delay with cache:</a:t>
            </a:r>
            <a:endParaRPr/>
          </a:p>
        </p:txBody>
      </p:sp>
      <p:sp>
        <p:nvSpPr>
          <p:cNvPr id="3239" name="Google Shape;3239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40" name="Google Shape;3240;p50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1" name="Google Shape;3241;p50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3242" name="Google Shape;3242;p50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3" name="Google Shape;3243;p50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4" name="Google Shape;3244;p50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5" name="Google Shape;3245;p50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6" name="Google Shape;3246;p50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50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50"/>
          <p:cNvSpPr/>
          <p:nvPr/>
        </p:nvSpPr>
        <p:spPr>
          <a:xfrm>
            <a:off x="7748492" y="4470671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9" name="Google Shape;3249;p50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0" name="Google Shape;3250;p50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1" name="Google Shape;3251;p50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2" name="Google Shape;3252;p50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3" name="Google Shape;3253;p50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4" name="Google Shape;3254;p50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50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6" name="Google Shape;3256;p50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3257" name="Google Shape;3257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2" name="Google Shape;3262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263" name="Google Shape;3263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5" name="Google Shape;3265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6" name="Google Shape;3266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267" name="Google Shape;3267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8" name="Google Shape;3268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9" name="Google Shape;3269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1" name="Google Shape;3271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272" name="Google Shape;3272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3" name="Google Shape;3273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4" name="Google Shape;3274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5" name="Google Shape;3275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276" name="Google Shape;3276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7" name="Google Shape;3277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8" name="Google Shape;3278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9" name="Google Shape;3289;p50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3290" name="Google Shape;3290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1" name="Google Shape;3291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2" name="Google Shape;3292;p50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3" name="Google Shape;3293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98" name="Google Shape;3298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299" name="Google Shape;3299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0" name="Google Shape;3300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1" name="Google Shape;3301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2" name="Google Shape;3302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03" name="Google Shape;3303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4" name="Google Shape;3304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5" name="Google Shape;3305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7" name="Google Shape;3307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08" name="Google Shape;3308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9" name="Google Shape;3309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0" name="Google Shape;3310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1" name="Google Shape;3311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12" name="Google Shape;3312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3" name="Google Shape;3313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4" name="Google Shape;3314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5" name="Google Shape;3325;p50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326" name="Google Shape;3326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1" name="Google Shape;3331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32" name="Google Shape;3332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3" name="Google Shape;3333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4" name="Google Shape;3334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5" name="Google Shape;3335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36" name="Google Shape;3336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7" name="Google Shape;3337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8" name="Google Shape;3338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0" name="Google Shape;3340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41" name="Google Shape;3341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2" name="Google Shape;3342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3" name="Google Shape;3343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4" name="Google Shape;3344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45" name="Google Shape;3345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6" name="Google Shape;3346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7" name="Google Shape;3347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8" name="Google Shape;3358;p50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359" name="Google Shape;3359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4" name="Google Shape;3364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65" name="Google Shape;3365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6" name="Google Shape;3366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67" name="Google Shape;3367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8" name="Google Shape;3368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69" name="Google Shape;3369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0" name="Google Shape;3370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71" name="Google Shape;3371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3" name="Google Shape;3373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74" name="Google Shape;3374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5" name="Google Shape;3375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76" name="Google Shape;3376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7" name="Google Shape;3377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78" name="Google Shape;3378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9" name="Google Shape;3379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80" name="Google Shape;3380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1" name="Google Shape;3391;p50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392" name="Google Shape;3392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97" name="Google Shape;3397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98" name="Google Shape;3398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9" name="Google Shape;3399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0" name="Google Shape;3400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1" name="Google Shape;3401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402" name="Google Shape;3402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3" name="Google Shape;3403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4" name="Google Shape;3404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6" name="Google Shape;3406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407" name="Google Shape;3407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8" name="Google Shape;3408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9" name="Google Shape;3409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0" name="Google Shape;3410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411" name="Google Shape;3411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2" name="Google Shape;3412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3" name="Google Shape;3413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4" name="Google Shape;3424;p50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3425" name="Google Shape;342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6" name="Google Shape;3426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7" name="Google Shape;3427;p50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3428" name="Google Shape;3428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9" name="Google Shape;3429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0" name="Google Shape;3430;p50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3431" name="Google Shape;3431;p5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32" name="Google Shape;3432;p5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33" name="Google Shape;3433;p5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34" name="Google Shape;3434;p5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5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5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5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38" name="Google Shape;3438;p50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3439" name="Google Shape;3439;p5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40" name="Google Shape;3440;p5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41" name="Google Shape;3441;p5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42" name="Google Shape;3442;p5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5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5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5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46" name="Google Shape;3446;p50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3447" name="Google Shape;3447;p50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8" name="Google Shape;3448;p50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3449" name="Google Shape;3449;p50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50" name="Google Shape;3450;p50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3451" name="Google Shape;3451;p50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2" name="Google Shape;3452;p50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3" name="Google Shape;3453;p50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4" name="Google Shape;3454;p50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5" name="Google Shape;3455;p50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56" name="Google Shape;3456;p50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3457" name="Google Shape;3457;p50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8" name="Google Shape;3458;p50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59" name="Google Shape;3459;p50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0" name="Google Shape;3460;p50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3461" name="Google Shape;3461;p50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2" name="Google Shape;3462;p50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63" name="Google Shape;3463;p50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4" name="Google Shape;3464;p50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5" name="Google Shape;3465;p50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3466" name="Google Shape;3466;p50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7" name="Google Shape;3467;p50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68" name="Google Shape;3468;p50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9" name="Google Shape;3469;p50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3470" name="Google Shape;3470;p50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71" name="Google Shape;3471;p50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72" name="Google Shape;3472;p50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3" name="Google Shape;3473;p50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4" name="Google Shape;3474;p50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5" name="Google Shape;3475;p50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6" name="Google Shape;3476;p50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7" name="Google Shape;3477;p50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8" name="Google Shape;3478;p50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9" name="Google Shape;3479;p50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0" name="Google Shape;3480;p50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1" name="Google Shape;3481;p50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2" name="Google Shape;3482;p50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83" name="Google Shape;3483;p50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50"/>
          <p:cNvSpPr txBox="1"/>
          <p:nvPr/>
        </p:nvSpPr>
        <p:spPr>
          <a:xfrm>
            <a:off x="889002" y="1405471"/>
            <a:ext cx="6166171" cy="17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58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cache hit rate is 0.4:  </a:t>
            </a:r>
            <a:endParaRPr/>
          </a:p>
          <a:p>
            <a:pPr indent="-231775" lvl="0" marL="352425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40% requests served by cache, with low (msec) delay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3485" name="Google Shape;3485;p50"/>
          <p:cNvSpPr/>
          <p:nvPr/>
        </p:nvSpPr>
        <p:spPr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60% requests satisfied at origin </a:t>
            </a:r>
            <a:endParaRPr/>
          </a:p>
          <a:p>
            <a:pPr indent="-169863" lvl="1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to browsers over access link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= 0.6 * 1.50 Mbps  =  .9 Mbps </a:t>
            </a:r>
            <a:endParaRPr/>
          </a:p>
          <a:p>
            <a:pPr indent="-287338" lvl="1" marL="4730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0.9/1.54 = .58 means low (msec) queueing delay at access link</a:t>
            </a:r>
            <a:endParaRPr/>
          </a:p>
        </p:txBody>
      </p:sp>
      <p:sp>
        <p:nvSpPr>
          <p:cNvPr id="3486" name="Google Shape;3486;p50"/>
          <p:cNvSpPr/>
          <p:nvPr/>
        </p:nvSpPr>
        <p:spPr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delay: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0.6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from origin servers)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0.4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when satisfied at cache)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0.6 (2.01) + 0.4 (~msecs) = ~ 1.2 secs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3487" name="Google Shape;3487;p50"/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lower average end-end delay than with 154 Mbps link (and cheaper too!)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5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Conditional GET</a:t>
            </a:r>
            <a:endParaRPr sz="4400"/>
          </a:p>
        </p:txBody>
      </p:sp>
      <p:sp>
        <p:nvSpPr>
          <p:cNvPr id="3494" name="Google Shape;349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5" name="Google Shape;3495;p51"/>
          <p:cNvSpPr txBox="1"/>
          <p:nvPr/>
        </p:nvSpPr>
        <p:spPr>
          <a:xfrm>
            <a:off x="714337" y="1626575"/>
            <a:ext cx="5597253" cy="513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don’t send object if cache has up-to-date cached version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object transmission delay (or use of network resources)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specify date of cached copy in HTTP request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 contains no object if cached copy is up-to-date: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HTTP/1.0 304 Not Modified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6" name="Google Shape;3496;p51"/>
          <p:cNvCxnSpPr/>
          <p:nvPr/>
        </p:nvCxnSpPr>
        <p:spPr>
          <a:xfrm>
            <a:off x="7035490" y="2068251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7" name="Google Shape;3497;p51"/>
          <p:cNvSpPr txBox="1"/>
          <p:nvPr/>
        </p:nvSpPr>
        <p:spPr>
          <a:xfrm>
            <a:off x="7341878" y="1952364"/>
            <a:ext cx="2681287" cy="6207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8" name="Google Shape;3498;p51"/>
          <p:cNvCxnSpPr/>
          <p:nvPr/>
        </p:nvCxnSpPr>
        <p:spPr>
          <a:xfrm flipH="1">
            <a:off x="7054540" y="281437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99" name="Google Shape;3499;p51"/>
          <p:cNvGrpSpPr/>
          <p:nvPr/>
        </p:nvGrpSpPr>
        <p:grpSpPr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3500" name="Google Shape;3500;p51"/>
            <p:cNvSpPr/>
            <p:nvPr/>
          </p:nvSpPr>
          <p:spPr>
            <a:xfrm>
              <a:off x="2760" y="2071"/>
              <a:ext cx="1578" cy="4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1" name="Google Shape;3501;p51"/>
            <p:cNvSpPr txBox="1"/>
            <p:nvPr/>
          </p:nvSpPr>
          <p:spPr>
            <a:xfrm>
              <a:off x="2698" y="2036"/>
              <a:ext cx="1665" cy="5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HTTP/1.0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304 Not Modified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2" name="Google Shape;3502;p51"/>
          <p:cNvSpPr txBox="1"/>
          <p:nvPr/>
        </p:nvSpPr>
        <p:spPr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cxnSp>
        <p:nvCxnSpPr>
          <p:cNvPr id="3503" name="Google Shape;3503;p51"/>
          <p:cNvCxnSpPr/>
          <p:nvPr/>
        </p:nvCxnSpPr>
        <p:spPr>
          <a:xfrm>
            <a:off x="6792603" y="4033576"/>
            <a:ext cx="3905250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04" name="Google Shape;3504;p51"/>
          <p:cNvCxnSpPr/>
          <p:nvPr/>
        </p:nvCxnSpPr>
        <p:spPr>
          <a:xfrm>
            <a:off x="7102165" y="4632064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5" name="Google Shape;3505;p51"/>
          <p:cNvSpPr txBox="1"/>
          <p:nvPr/>
        </p:nvSpPr>
        <p:spPr>
          <a:xfrm>
            <a:off x="7346640" y="4516176"/>
            <a:ext cx="2681288" cy="6207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6" name="Google Shape;3506;p51"/>
          <p:cNvCxnSpPr/>
          <p:nvPr/>
        </p:nvCxnSpPr>
        <p:spPr>
          <a:xfrm flipH="1">
            <a:off x="7121215" y="541152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7" name="Google Shape;3507;p51"/>
          <p:cNvSpPr txBox="1"/>
          <p:nvPr/>
        </p:nvSpPr>
        <p:spPr>
          <a:xfrm>
            <a:off x="7365690" y="5355964"/>
            <a:ext cx="2643188" cy="12311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response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HTTP/1.0 200 OK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&lt;data&gt;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8" name="Google Shape;3508;p51"/>
          <p:cNvSpPr txBox="1"/>
          <p:nvPr/>
        </p:nvSpPr>
        <p:spPr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grpSp>
        <p:nvGrpSpPr>
          <p:cNvPr id="3509" name="Google Shape;3509;p51"/>
          <p:cNvGrpSpPr/>
          <p:nvPr/>
        </p:nvGrpSpPr>
        <p:grpSpPr>
          <a:xfrm>
            <a:off x="6311590" y="931601"/>
            <a:ext cx="4549154" cy="787400"/>
            <a:chOff x="6311590" y="931601"/>
            <a:chExt cx="4549154" cy="787400"/>
          </a:xfrm>
        </p:grpSpPr>
        <p:sp>
          <p:nvSpPr>
            <p:cNvPr id="3510" name="Google Shape;3510;p51"/>
            <p:cNvSpPr txBox="1"/>
            <p:nvPr/>
          </p:nvSpPr>
          <p:spPr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sp>
          <p:nvSpPr>
            <p:cNvPr id="3511" name="Google Shape;3511;p51"/>
            <p:cNvSpPr txBox="1"/>
            <p:nvPr/>
          </p:nvSpPr>
          <p:spPr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/>
            </a:p>
          </p:txBody>
        </p:sp>
        <p:grpSp>
          <p:nvGrpSpPr>
            <p:cNvPr id="3512" name="Google Shape;3512;p51"/>
            <p:cNvGrpSpPr/>
            <p:nvPr/>
          </p:nvGrpSpPr>
          <p:grpSpPr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3513" name="Google Shape;3513;p5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51"/>
              <p:cNvSpPr/>
              <p:nvPr/>
            </p:nvSpPr>
            <p:spPr>
              <a:xfrm>
                <a:off x="4204" y="429"/>
                <a:ext cx="1050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5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5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51"/>
              <p:cNvSpPr/>
              <p:nvPr/>
            </p:nvSpPr>
            <p:spPr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8" name="Google Shape;3518;p51"/>
              <p:cNvGrpSpPr/>
              <p:nvPr/>
            </p:nvGrpSpPr>
            <p:grpSpPr>
              <a:xfrm>
                <a:off x="4751" y="668"/>
                <a:ext cx="579" cy="144"/>
                <a:chOff x="616" y="2568"/>
                <a:chExt cx="722" cy="138"/>
              </a:xfrm>
            </p:grpSpPr>
            <p:sp>
              <p:nvSpPr>
                <p:cNvPr id="3519" name="Google Shape;3519;p51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0" name="Google Shape;3520;p51"/>
                <p:cNvSpPr/>
                <p:nvPr/>
              </p:nvSpPr>
              <p:spPr>
                <a:xfrm>
                  <a:off x="630" y="2583"/>
                  <a:ext cx="689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1" name="Google Shape;3521;p51"/>
              <p:cNvSpPr/>
              <p:nvPr/>
            </p:nvSpPr>
            <p:spPr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22" name="Google Shape;3522;p51"/>
              <p:cNvGrpSpPr/>
              <p:nvPr/>
            </p:nvGrpSpPr>
            <p:grpSpPr>
              <a:xfrm>
                <a:off x="4745" y="995"/>
                <a:ext cx="584" cy="133"/>
                <a:chOff x="612" y="2569"/>
                <a:chExt cx="729" cy="138"/>
              </a:xfrm>
            </p:grpSpPr>
            <p:sp>
              <p:nvSpPr>
                <p:cNvPr id="3523" name="Google Shape;3523;p51"/>
                <p:cNvSpPr/>
                <p:nvPr/>
              </p:nvSpPr>
              <p:spPr>
                <a:xfrm>
                  <a:off x="612" y="2569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4" name="Google Shape;3524;p51"/>
                <p:cNvSpPr/>
                <p:nvPr/>
              </p:nvSpPr>
              <p:spPr>
                <a:xfrm>
                  <a:off x="625" y="2586"/>
                  <a:ext cx="695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5" name="Google Shape;3525;p51"/>
              <p:cNvSpPr/>
              <p:nvPr/>
            </p:nvSpPr>
            <p:spPr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51"/>
              <p:cNvSpPr/>
              <p:nvPr/>
            </p:nvSpPr>
            <p:spPr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27" name="Google Shape;3527;p51"/>
              <p:cNvGrpSpPr/>
              <p:nvPr/>
            </p:nvGrpSpPr>
            <p:grpSpPr>
              <a:xfrm>
                <a:off x="4735" y="1627"/>
                <a:ext cx="584" cy="150"/>
                <a:chOff x="614" y="2568"/>
                <a:chExt cx="727" cy="138"/>
              </a:xfrm>
            </p:grpSpPr>
            <p:sp>
              <p:nvSpPr>
                <p:cNvPr id="3528" name="Google Shape;3528;p51"/>
                <p:cNvSpPr/>
                <p:nvPr/>
              </p:nvSpPr>
              <p:spPr>
                <a:xfrm>
                  <a:off x="614" y="2568"/>
                  <a:ext cx="727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51"/>
                <p:cNvSpPr/>
                <p:nvPr/>
              </p:nvSpPr>
              <p:spPr>
                <a:xfrm>
                  <a:off x="627" y="2583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0" name="Google Shape;3530;p5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31" name="Google Shape;3531;p51"/>
              <p:cNvGrpSpPr/>
              <p:nvPr/>
            </p:nvGrpSpPr>
            <p:grpSpPr>
              <a:xfrm>
                <a:off x="4740" y="1327"/>
                <a:ext cx="579" cy="139"/>
                <a:chOff x="615" y="2568"/>
                <a:chExt cx="721" cy="139"/>
              </a:xfrm>
            </p:grpSpPr>
            <p:sp>
              <p:nvSpPr>
                <p:cNvPr id="3532" name="Google Shape;3532;p51"/>
                <p:cNvSpPr/>
                <p:nvPr/>
              </p:nvSpPr>
              <p:spPr>
                <a:xfrm>
                  <a:off x="615" y="2568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3" name="Google Shape;3533;p51"/>
                <p:cNvSpPr/>
                <p:nvPr/>
              </p:nvSpPr>
              <p:spPr>
                <a:xfrm>
                  <a:off x="629" y="2585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4" name="Google Shape;3534;p51"/>
              <p:cNvSpPr/>
              <p:nvPr/>
            </p:nvSpPr>
            <p:spPr>
              <a:xfrm>
                <a:off x="5249" y="429"/>
                <a:ext cx="70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5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5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51"/>
              <p:cNvSpPr/>
              <p:nvPr/>
            </p:nvSpPr>
            <p:spPr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5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51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0" name="Google Shape;3540;p51"/>
              <p:cNvSpPr/>
              <p:nvPr/>
            </p:nvSpPr>
            <p:spPr>
              <a:xfrm>
                <a:off x="4204" y="2709"/>
                <a:ext cx="1071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1" name="Google Shape;3541;p51"/>
              <p:cNvSpPr/>
              <p:nvPr/>
            </p:nvSpPr>
            <p:spPr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51"/>
              <p:cNvSpPr/>
              <p:nvPr/>
            </p:nvSpPr>
            <p:spPr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51"/>
              <p:cNvSpPr/>
              <p:nvPr/>
            </p:nvSpPr>
            <p:spPr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51"/>
              <p:cNvSpPr/>
              <p:nvPr/>
            </p:nvSpPr>
            <p:spPr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5" name="Google Shape;3545;p51"/>
            <p:cNvGrpSpPr/>
            <p:nvPr/>
          </p:nvGrpSpPr>
          <p:grpSpPr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descr="desktop_computer_stylized_medium" id="3546" name="Google Shape;3546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47" name="Google Shape;3547;p5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p52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3554" name="Google Shape;3554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5" name="Google Shape;3555;p52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6" name="Google Shape;3556;p52"/>
          <p:cNvSpPr txBox="1"/>
          <p:nvPr/>
        </p:nvSpPr>
        <p:spPr>
          <a:xfrm>
            <a:off x="914400" y="2142059"/>
            <a:ext cx="10654118" cy="3930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HTTP1.1:</a:t>
            </a:r>
            <a:r>
              <a:rPr b="0" i="0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introduced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multiple, pipelined GETs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over single TCP connection</a:t>
            </a:r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responds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in-order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(FCFS: first-come-first-served scheduling) to GET requests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FCFS, small object may have to wait for transmission  (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head-of-line (HOL) blocking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behind large object(s)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 recovery (retransmitting lost TCP segments) stalls object transmission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53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3563" name="Google Shape;356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4" name="Google Shape;3564;p53"/>
          <p:cNvSpPr txBox="1"/>
          <p:nvPr/>
        </p:nvSpPr>
        <p:spPr>
          <a:xfrm>
            <a:off x="901486" y="2150525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HTTP/2: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7540, 2015]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increased flexibility at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sending objects to client: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methods, status codes, most header fields unchanged from HTTP 1.1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order of requested objects based on client-specified object priority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(not necessarily FCFS)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unrequested objects to client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 objects into frames, schedule frames to mitigate HOL blocking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53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0" name="Shape 3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Google Shape;3571;p54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3572" name="Google Shape;3572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3" name="Google Shape;3573;p54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1.1: client requests 1 large object (e.g., video file) and 3 smaller objects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54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3575" name="Google Shape;3575;p54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3576" name="Google Shape;3576;p54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3577" name="Google Shape;3577;p5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54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5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5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54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2" name="Google Shape;3582;p54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3583" name="Google Shape;3583;p54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54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5" name="Google Shape;3585;p54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6" name="Google Shape;3586;p54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3587" name="Google Shape;3587;p54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54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9" name="Google Shape;3589;p54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54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1" name="Google Shape;3591;p54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3592" name="Google Shape;3592;p54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3" name="Google Shape;3593;p54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4" name="Google Shape;3594;p5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5" name="Google Shape;3595;p54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3596" name="Google Shape;3596;p54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7" name="Google Shape;3597;p54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8" name="Google Shape;3598;p54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5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5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54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5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54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54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54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54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54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54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9" name="Google Shape;3609;p54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3610" name="Google Shape;3610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1" name="Google Shape;3611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612" name="Google Shape;3612;p54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13" name="Google Shape;3613;p54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14" name="Google Shape;3614;p54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15" name="Google Shape;3615;p54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16" name="Google Shape;3616;p54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17" name="Google Shape;3617;p54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54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9" name="Google Shape;3619;p54"/>
          <p:cNvGrpSpPr/>
          <p:nvPr/>
        </p:nvGrpSpPr>
        <p:grpSpPr>
          <a:xfrm>
            <a:off x="3400914" y="3064264"/>
            <a:ext cx="4052925" cy="2231577"/>
            <a:chOff x="3400914" y="3064264"/>
            <a:chExt cx="4052925" cy="2231577"/>
          </a:xfrm>
        </p:grpSpPr>
        <p:cxnSp>
          <p:nvCxnSpPr>
            <p:cNvPr id="3620" name="Google Shape;3620;p54"/>
            <p:cNvCxnSpPr/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1" name="Google Shape;3621;p54"/>
            <p:cNvSpPr/>
            <p:nvPr/>
          </p:nvSpPr>
          <p:spPr>
            <a:xfrm>
              <a:off x="3517643" y="3064264"/>
              <a:ext cx="3868169" cy="2226179"/>
            </a:xfrm>
            <a:custGeom>
              <a:rect b="b" l="l" r="r" t="t"/>
              <a:pathLst>
                <a:path extrusionOk="0" h="2226179" w="386816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2" name="Google Shape;3622;p54"/>
          <p:cNvGrpSpPr/>
          <p:nvPr/>
        </p:nvGrpSpPr>
        <p:grpSpPr>
          <a:xfrm>
            <a:off x="3389679" y="5054301"/>
            <a:ext cx="4064160" cy="386589"/>
            <a:chOff x="3389679" y="5054301"/>
            <a:chExt cx="4064160" cy="386589"/>
          </a:xfrm>
        </p:grpSpPr>
        <p:cxnSp>
          <p:nvCxnSpPr>
            <p:cNvPr id="3623" name="Google Shape;3623;p54"/>
            <p:cNvCxnSpPr/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4" name="Google Shape;3624;p54"/>
            <p:cNvSpPr/>
            <p:nvPr/>
          </p:nvSpPr>
          <p:spPr>
            <a:xfrm>
              <a:off x="3519116" y="5054301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5" name="Google Shape;3625;p54"/>
          <p:cNvGrpSpPr/>
          <p:nvPr/>
        </p:nvGrpSpPr>
        <p:grpSpPr>
          <a:xfrm>
            <a:off x="3401181" y="5445216"/>
            <a:ext cx="4028803" cy="375356"/>
            <a:chOff x="3401181" y="5445216"/>
            <a:chExt cx="4028803" cy="375356"/>
          </a:xfrm>
        </p:grpSpPr>
        <p:cxnSp>
          <p:nvCxnSpPr>
            <p:cNvPr id="3626" name="Google Shape;3626;p54"/>
            <p:cNvCxnSpPr/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7" name="Google Shape;3627;p54"/>
            <p:cNvSpPr/>
            <p:nvPr/>
          </p:nvSpPr>
          <p:spPr>
            <a:xfrm>
              <a:off x="3504762" y="5445216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endParaRPr/>
            </a:p>
          </p:txBody>
        </p:sp>
      </p:grpSp>
      <p:grpSp>
        <p:nvGrpSpPr>
          <p:cNvPr id="3628" name="Google Shape;3628;p54"/>
          <p:cNvGrpSpPr/>
          <p:nvPr/>
        </p:nvGrpSpPr>
        <p:grpSpPr>
          <a:xfrm>
            <a:off x="1750742" y="5112121"/>
            <a:ext cx="1641327" cy="338554"/>
            <a:chOff x="1750742" y="5112121"/>
            <a:chExt cx="1641327" cy="338554"/>
          </a:xfrm>
        </p:grpSpPr>
        <p:cxnSp>
          <p:nvCxnSpPr>
            <p:cNvPr id="3629" name="Google Shape;3629;p54"/>
            <p:cNvCxnSpPr/>
            <p:nvPr/>
          </p:nvCxnSpPr>
          <p:spPr>
            <a:xfrm rot="10800000">
              <a:off x="1750742" y="5290443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630" name="Google Shape;3630;p54"/>
            <p:cNvGrpSpPr/>
            <p:nvPr/>
          </p:nvGrpSpPr>
          <p:grpSpPr>
            <a:xfrm>
              <a:off x="2136070" y="5112121"/>
              <a:ext cx="459104" cy="338554"/>
              <a:chOff x="2709565" y="5090498"/>
              <a:chExt cx="459104" cy="338554"/>
            </a:xfrm>
          </p:grpSpPr>
          <p:sp>
            <p:nvSpPr>
              <p:cNvPr id="3631" name="Google Shape;3631;p54"/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2" name="Google Shape;3632;p54"/>
              <p:cNvSpPr txBox="1"/>
              <p:nvPr/>
            </p:nvSpPr>
            <p:spPr>
              <a:xfrm>
                <a:off x="2709565" y="5090498"/>
                <a:ext cx="45910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sp>
        <p:nvSpPr>
          <p:cNvPr id="3633" name="Google Shape;3633;p54"/>
          <p:cNvSpPr/>
          <p:nvPr/>
        </p:nvSpPr>
        <p:spPr>
          <a:xfrm>
            <a:off x="2453226" y="5330278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4" name="Google Shape;3634;p54"/>
          <p:cNvGrpSpPr/>
          <p:nvPr/>
        </p:nvGrpSpPr>
        <p:grpSpPr>
          <a:xfrm>
            <a:off x="1750742" y="5274392"/>
            <a:ext cx="1641172" cy="338554"/>
            <a:chOff x="1750742" y="5274392"/>
            <a:chExt cx="1641172" cy="338554"/>
          </a:xfrm>
        </p:grpSpPr>
        <p:cxnSp>
          <p:nvCxnSpPr>
            <p:cNvPr id="3635" name="Google Shape;3635;p54"/>
            <p:cNvCxnSpPr/>
            <p:nvPr/>
          </p:nvCxnSpPr>
          <p:spPr>
            <a:xfrm rot="10800000">
              <a:off x="1750742" y="5442843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36" name="Google Shape;3636;p54"/>
            <p:cNvSpPr txBox="1"/>
            <p:nvPr/>
          </p:nvSpPr>
          <p:spPr>
            <a:xfrm>
              <a:off x="2384556" y="5274392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3637" name="Google Shape;3637;p54"/>
          <p:cNvGrpSpPr/>
          <p:nvPr/>
        </p:nvGrpSpPr>
        <p:grpSpPr>
          <a:xfrm>
            <a:off x="1750742" y="5500058"/>
            <a:ext cx="1644347" cy="338554"/>
            <a:chOff x="1750742" y="5500058"/>
            <a:chExt cx="1644347" cy="338554"/>
          </a:xfrm>
        </p:grpSpPr>
        <p:cxnSp>
          <p:nvCxnSpPr>
            <p:cNvPr id="3638" name="Google Shape;3638;p54"/>
            <p:cNvCxnSpPr/>
            <p:nvPr/>
          </p:nvCxnSpPr>
          <p:spPr>
            <a:xfrm rot="10800000">
              <a:off x="1750742" y="5670973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39" name="Google Shape;3639;p54"/>
            <p:cNvSpPr txBox="1"/>
            <p:nvPr/>
          </p:nvSpPr>
          <p:spPr>
            <a:xfrm>
              <a:off x="2578111" y="5500058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3640" name="Google Shape;3640;p54"/>
          <p:cNvGrpSpPr/>
          <p:nvPr/>
        </p:nvGrpSpPr>
        <p:grpSpPr>
          <a:xfrm>
            <a:off x="1750742" y="5634943"/>
            <a:ext cx="1641326" cy="338554"/>
            <a:chOff x="1750742" y="5634943"/>
            <a:chExt cx="1641326" cy="338554"/>
          </a:xfrm>
        </p:grpSpPr>
        <p:cxnSp>
          <p:nvCxnSpPr>
            <p:cNvPr id="3641" name="Google Shape;3641;p54"/>
            <p:cNvCxnSpPr/>
            <p:nvPr/>
          </p:nvCxnSpPr>
          <p:spPr>
            <a:xfrm rot="10800000">
              <a:off x="1750742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42" name="Google Shape;3642;p54"/>
            <p:cNvSpPr txBox="1"/>
            <p:nvPr/>
          </p:nvSpPr>
          <p:spPr>
            <a:xfrm>
              <a:off x="2779553" y="563494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3643" name="Google Shape;3643;p54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54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54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54"/>
          <p:cNvSpPr txBox="1"/>
          <p:nvPr/>
        </p:nvSpPr>
        <p:spPr>
          <a:xfrm>
            <a:off x="8322039" y="2665582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3647" name="Google Shape;3647;p54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54"/>
          <p:cNvSpPr/>
          <p:nvPr/>
        </p:nvSpPr>
        <p:spPr>
          <a:xfrm>
            <a:off x="10065868" y="3696565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54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50" name="Google Shape;3650;p54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54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52" name="Google Shape;3652;p54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53" name="Google Shape;3653;p54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654" name="Google Shape;3654;p54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5" name="Google Shape;3655;p54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6" name="Google Shape;3656;p54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57" name="Google Shape;3657;p54"/>
          <p:cNvSpPr txBox="1"/>
          <p:nvPr/>
        </p:nvSpPr>
        <p:spPr>
          <a:xfrm>
            <a:off x="2410244" y="6238081"/>
            <a:ext cx="8451975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objects delivered in order requested: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wait behind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8" name="Google Shape;3658;p54"/>
          <p:cNvGrpSpPr/>
          <p:nvPr/>
        </p:nvGrpSpPr>
        <p:grpSpPr>
          <a:xfrm>
            <a:off x="3400914" y="5195255"/>
            <a:ext cx="4029070" cy="477315"/>
            <a:chOff x="3400914" y="5195255"/>
            <a:chExt cx="4029070" cy="477315"/>
          </a:xfrm>
        </p:grpSpPr>
        <p:cxnSp>
          <p:nvCxnSpPr>
            <p:cNvPr id="3659" name="Google Shape;3659;p54"/>
            <p:cNvCxnSpPr/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0" name="Google Shape;3660;p54"/>
            <p:cNvSpPr/>
            <p:nvPr/>
          </p:nvSpPr>
          <p:spPr>
            <a:xfrm>
              <a:off x="3520812" y="5195255"/>
              <a:ext cx="3866473" cy="468804"/>
            </a:xfrm>
            <a:custGeom>
              <a:rect b="b" l="l" r="r" t="t"/>
              <a:pathLst>
                <a:path extrusionOk="0" h="468804" w="3866473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5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Google Shape;3666;p5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3667" name="Google Shape;3667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8" name="Google Shape;3668;p55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HTTP/2: objects divided into frames, frame transmission interleaved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55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3670" name="Google Shape;3670;p55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3671" name="Google Shape;3671;p55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3672" name="Google Shape;3672;p5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3" name="Google Shape;3673;p55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4" name="Google Shape;3674;p5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5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55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77" name="Google Shape;3677;p55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3678" name="Google Shape;3678;p55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9" name="Google Shape;3679;p55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0" name="Google Shape;3680;p55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1" name="Google Shape;3681;p55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3682" name="Google Shape;3682;p55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3" name="Google Shape;3683;p55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4" name="Google Shape;3684;p55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55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6" name="Google Shape;3686;p55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3687" name="Google Shape;3687;p55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8" name="Google Shape;3688;p55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9" name="Google Shape;3689;p5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90" name="Google Shape;3690;p55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3691" name="Google Shape;3691;p55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2" name="Google Shape;3692;p55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93" name="Google Shape;3693;p55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5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5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55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5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55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55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55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55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55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55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4" name="Google Shape;3704;p55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3705" name="Google Shape;3705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6" name="Google Shape;3706;p5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707" name="Google Shape;3707;p55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08" name="Google Shape;3708;p55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9" name="Google Shape;3709;p55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10" name="Google Shape;3710;p55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11" name="Google Shape;3711;p55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712" name="Google Shape;3712;p55"/>
          <p:cNvCxnSpPr/>
          <p:nvPr/>
        </p:nvCxnSpPr>
        <p:spPr>
          <a:xfrm flipH="1">
            <a:off x="3347464" y="5534648"/>
            <a:ext cx="4093672" cy="27513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13" name="Google Shape;3713;p55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55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55"/>
          <p:cNvSpPr/>
          <p:nvPr/>
        </p:nvSpPr>
        <p:spPr>
          <a:xfrm>
            <a:off x="3486512" y="3835610"/>
            <a:ext cx="3867383" cy="1978529"/>
          </a:xfrm>
          <a:custGeom>
            <a:rect b="b" l="l" r="r" t="t"/>
            <a:pathLst>
              <a:path extrusionOk="0" h="1978529" w="3867383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55"/>
          <p:cNvSpPr/>
          <p:nvPr/>
        </p:nvSpPr>
        <p:spPr>
          <a:xfrm>
            <a:off x="3479865" y="32076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55"/>
          <p:cNvSpPr/>
          <p:nvPr/>
        </p:nvSpPr>
        <p:spPr>
          <a:xfrm>
            <a:off x="3479865" y="3336618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55"/>
          <p:cNvSpPr/>
          <p:nvPr/>
        </p:nvSpPr>
        <p:spPr>
          <a:xfrm>
            <a:off x="3485129" y="3468086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55"/>
          <p:cNvSpPr/>
          <p:nvPr/>
        </p:nvSpPr>
        <p:spPr>
          <a:xfrm>
            <a:off x="2231742" y="3441675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0" name="Google Shape;3720;p55"/>
          <p:cNvGrpSpPr/>
          <p:nvPr/>
        </p:nvGrpSpPr>
        <p:grpSpPr>
          <a:xfrm>
            <a:off x="1770738" y="3385789"/>
            <a:ext cx="1641327" cy="338554"/>
            <a:chOff x="1770738" y="3385789"/>
            <a:chExt cx="1641327" cy="338554"/>
          </a:xfrm>
        </p:grpSpPr>
        <p:cxnSp>
          <p:nvCxnSpPr>
            <p:cNvPr id="3721" name="Google Shape;3721;p55"/>
            <p:cNvCxnSpPr/>
            <p:nvPr/>
          </p:nvCxnSpPr>
          <p:spPr>
            <a:xfrm rot="10800000">
              <a:off x="1770738" y="3564111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22" name="Google Shape;3722;p55"/>
            <p:cNvSpPr txBox="1"/>
            <p:nvPr/>
          </p:nvSpPr>
          <p:spPr>
            <a:xfrm>
              <a:off x="2156066" y="3385789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3723" name="Google Shape;3723;p55"/>
          <p:cNvSpPr/>
          <p:nvPr/>
        </p:nvSpPr>
        <p:spPr>
          <a:xfrm>
            <a:off x="2369264" y="3728151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4" name="Google Shape;3724;p55"/>
          <p:cNvGrpSpPr/>
          <p:nvPr/>
        </p:nvGrpSpPr>
        <p:grpSpPr>
          <a:xfrm>
            <a:off x="1759658" y="3661763"/>
            <a:ext cx="1641172" cy="338554"/>
            <a:chOff x="1759658" y="3661763"/>
            <a:chExt cx="1641172" cy="338554"/>
          </a:xfrm>
        </p:grpSpPr>
        <p:cxnSp>
          <p:nvCxnSpPr>
            <p:cNvPr id="3725" name="Google Shape;3725;p55"/>
            <p:cNvCxnSpPr/>
            <p:nvPr/>
          </p:nvCxnSpPr>
          <p:spPr>
            <a:xfrm rot="10800000">
              <a:off x="1759658" y="3839649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26" name="Google Shape;3726;p55"/>
            <p:cNvSpPr txBox="1"/>
            <p:nvPr/>
          </p:nvSpPr>
          <p:spPr>
            <a:xfrm>
              <a:off x="2315510" y="366176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3727" name="Google Shape;3727;p55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55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9" name="Google Shape;3729;p55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0" name="Google Shape;3730;p55"/>
          <p:cNvSpPr txBox="1"/>
          <p:nvPr/>
        </p:nvSpPr>
        <p:spPr>
          <a:xfrm>
            <a:off x="8345639" y="2644827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3731" name="Google Shape;3731;p55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p55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33" name="Google Shape;3733;p55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4" name="Google Shape;3734;p55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35" name="Google Shape;3735;p55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36" name="Google Shape;3736;p55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737" name="Google Shape;3737;p55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8" name="Google Shape;3738;p55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9" name="Google Shape;3739;p55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40" name="Google Shape;3740;p55"/>
          <p:cNvSpPr txBox="1"/>
          <p:nvPr/>
        </p:nvSpPr>
        <p:spPr>
          <a:xfrm>
            <a:off x="3131136" y="6194429"/>
            <a:ext cx="6552840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delivered quickly,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slightly delayed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1" name="Google Shape;3741;p55"/>
          <p:cNvGrpSpPr/>
          <p:nvPr/>
        </p:nvGrpSpPr>
        <p:grpSpPr>
          <a:xfrm>
            <a:off x="3362984" y="3078482"/>
            <a:ext cx="4052925" cy="379692"/>
            <a:chOff x="3362984" y="3078482"/>
            <a:chExt cx="4052925" cy="379692"/>
          </a:xfrm>
        </p:grpSpPr>
        <p:cxnSp>
          <p:nvCxnSpPr>
            <p:cNvPr id="3742" name="Google Shape;3742;p55"/>
            <p:cNvCxnSpPr/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3" name="Google Shape;3743;p55"/>
            <p:cNvSpPr/>
            <p:nvPr/>
          </p:nvSpPr>
          <p:spPr>
            <a:xfrm>
              <a:off x="3479865" y="3082818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4" name="Google Shape;3744;p55"/>
          <p:cNvSpPr/>
          <p:nvPr/>
        </p:nvSpPr>
        <p:spPr>
          <a:xfrm>
            <a:off x="3480625" y="3596230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55"/>
          <p:cNvSpPr/>
          <p:nvPr/>
        </p:nvSpPr>
        <p:spPr>
          <a:xfrm>
            <a:off x="3485129" y="37195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6" name="Google Shape;3746;p55"/>
          <p:cNvSpPr/>
          <p:nvPr/>
        </p:nvSpPr>
        <p:spPr>
          <a:xfrm>
            <a:off x="2575260" y="3949241"/>
            <a:ext cx="310918" cy="2811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7" name="Google Shape;3747;p55"/>
          <p:cNvGrpSpPr/>
          <p:nvPr/>
        </p:nvGrpSpPr>
        <p:grpSpPr>
          <a:xfrm>
            <a:off x="1756483" y="3920514"/>
            <a:ext cx="1644347" cy="338554"/>
            <a:chOff x="1756483" y="3920514"/>
            <a:chExt cx="1644347" cy="338554"/>
          </a:xfrm>
        </p:grpSpPr>
        <p:cxnSp>
          <p:nvCxnSpPr>
            <p:cNvPr id="3748" name="Google Shape;3748;p55"/>
            <p:cNvCxnSpPr/>
            <p:nvPr/>
          </p:nvCxnSpPr>
          <p:spPr>
            <a:xfrm rot="10800000">
              <a:off x="1756483" y="4094530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9" name="Google Shape;3749;p55"/>
            <p:cNvSpPr txBox="1"/>
            <p:nvPr/>
          </p:nvSpPr>
          <p:spPr>
            <a:xfrm>
              <a:off x="2554202" y="3920514"/>
              <a:ext cx="4548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3750" name="Google Shape;3750;p55"/>
          <p:cNvSpPr/>
          <p:nvPr/>
        </p:nvSpPr>
        <p:spPr>
          <a:xfrm>
            <a:off x="2869378" y="5701781"/>
            <a:ext cx="269557" cy="2294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1" name="Google Shape;3751;p55"/>
          <p:cNvGrpSpPr/>
          <p:nvPr/>
        </p:nvGrpSpPr>
        <p:grpSpPr>
          <a:xfrm>
            <a:off x="1706138" y="5621746"/>
            <a:ext cx="1641326" cy="338554"/>
            <a:chOff x="1706138" y="5621746"/>
            <a:chExt cx="1641326" cy="338554"/>
          </a:xfrm>
        </p:grpSpPr>
        <p:cxnSp>
          <p:nvCxnSpPr>
            <p:cNvPr id="3752" name="Google Shape;3752;p55"/>
            <p:cNvCxnSpPr/>
            <p:nvPr/>
          </p:nvCxnSpPr>
          <p:spPr>
            <a:xfrm rot="10800000">
              <a:off x="1706138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53" name="Google Shape;3753;p55"/>
            <p:cNvSpPr txBox="1"/>
            <p:nvPr/>
          </p:nvSpPr>
          <p:spPr>
            <a:xfrm>
              <a:off x="2801769" y="5621746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cxnSp>
        <p:nvCxnSpPr>
          <p:cNvPr id="3754" name="Google Shape;3754;p55"/>
          <p:cNvCxnSpPr/>
          <p:nvPr/>
        </p:nvCxnSpPr>
        <p:spPr>
          <a:xfrm>
            <a:off x="8570246" y="531145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5" name="Google Shape;3755;p55"/>
          <p:cNvCxnSpPr/>
          <p:nvPr/>
        </p:nvCxnSpPr>
        <p:spPr>
          <a:xfrm>
            <a:off x="8585033" y="495696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6" name="Google Shape;3756;p55"/>
          <p:cNvCxnSpPr/>
          <p:nvPr/>
        </p:nvCxnSpPr>
        <p:spPr>
          <a:xfrm>
            <a:off x="8579058" y="482487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7" name="Google Shape;3757;p55"/>
          <p:cNvCxnSpPr/>
          <p:nvPr/>
        </p:nvCxnSpPr>
        <p:spPr>
          <a:xfrm>
            <a:off x="8573083" y="469278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8" name="Google Shape;3758;p55"/>
          <p:cNvCxnSpPr/>
          <p:nvPr/>
        </p:nvCxnSpPr>
        <p:spPr>
          <a:xfrm>
            <a:off x="8567108" y="456068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9" name="Google Shape;3759;p55"/>
          <p:cNvCxnSpPr/>
          <p:nvPr/>
        </p:nvCxnSpPr>
        <p:spPr>
          <a:xfrm>
            <a:off x="8561133" y="442859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0" name="Google Shape;3760;p55"/>
          <p:cNvCxnSpPr/>
          <p:nvPr/>
        </p:nvCxnSpPr>
        <p:spPr>
          <a:xfrm>
            <a:off x="8555158" y="429649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1" name="Google Shape;3761;p55"/>
          <p:cNvCxnSpPr/>
          <p:nvPr/>
        </p:nvCxnSpPr>
        <p:spPr>
          <a:xfrm>
            <a:off x="8549183" y="416440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2" name="Google Shape;3762;p55"/>
          <p:cNvCxnSpPr/>
          <p:nvPr/>
        </p:nvCxnSpPr>
        <p:spPr>
          <a:xfrm>
            <a:off x="8543208" y="403231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3" name="Google Shape;3763;p55"/>
          <p:cNvCxnSpPr/>
          <p:nvPr/>
        </p:nvCxnSpPr>
        <p:spPr>
          <a:xfrm>
            <a:off x="8537233" y="390021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4" name="Google Shape;3764;p55"/>
          <p:cNvCxnSpPr/>
          <p:nvPr/>
        </p:nvCxnSpPr>
        <p:spPr>
          <a:xfrm>
            <a:off x="8531258" y="376812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5" name="Google Shape;3765;p55"/>
          <p:cNvCxnSpPr/>
          <p:nvPr/>
        </p:nvCxnSpPr>
        <p:spPr>
          <a:xfrm>
            <a:off x="8525283" y="363602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6" name="Google Shape;3766;p55"/>
          <p:cNvCxnSpPr/>
          <p:nvPr/>
        </p:nvCxnSpPr>
        <p:spPr>
          <a:xfrm>
            <a:off x="8540494" y="350393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7" name="Google Shape;3767;p55"/>
          <p:cNvCxnSpPr/>
          <p:nvPr/>
        </p:nvCxnSpPr>
        <p:spPr>
          <a:xfrm>
            <a:off x="8534519" y="337184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8" name="Google Shape;3768;p55"/>
          <p:cNvCxnSpPr/>
          <p:nvPr/>
        </p:nvCxnSpPr>
        <p:spPr>
          <a:xfrm>
            <a:off x="8535606" y="323974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9" name="Google Shape;3769;p55"/>
          <p:cNvCxnSpPr/>
          <p:nvPr/>
        </p:nvCxnSpPr>
        <p:spPr>
          <a:xfrm flipH="1" rot="10800000">
            <a:off x="3452698" y="3962094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0" name="Google Shape;3770;p55"/>
          <p:cNvCxnSpPr/>
          <p:nvPr/>
        </p:nvCxnSpPr>
        <p:spPr>
          <a:xfrm flipH="1" rot="10800000">
            <a:off x="3392013" y="411308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1" name="Google Shape;3771;p55"/>
          <p:cNvCxnSpPr/>
          <p:nvPr/>
        </p:nvCxnSpPr>
        <p:spPr>
          <a:xfrm flipH="1" rot="10800000">
            <a:off x="3403873" y="425067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2" name="Google Shape;3772;p55"/>
          <p:cNvCxnSpPr/>
          <p:nvPr/>
        </p:nvCxnSpPr>
        <p:spPr>
          <a:xfrm flipH="1" rot="10800000">
            <a:off x="3415733" y="439955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3" name="Google Shape;3773;p55"/>
          <p:cNvCxnSpPr/>
          <p:nvPr/>
        </p:nvCxnSpPr>
        <p:spPr>
          <a:xfrm flipH="1" rot="10800000">
            <a:off x="3474493" y="556214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4" name="Google Shape;3774;p55"/>
          <p:cNvCxnSpPr/>
          <p:nvPr/>
        </p:nvCxnSpPr>
        <p:spPr>
          <a:xfrm flipH="1" rot="10800000">
            <a:off x="3486353" y="571667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5" name="Google Shape;3775;p55"/>
          <p:cNvCxnSpPr/>
          <p:nvPr/>
        </p:nvCxnSpPr>
        <p:spPr>
          <a:xfrm flipH="1" rot="10800000">
            <a:off x="3467438" y="4527480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6" name="Google Shape;3776;p55"/>
          <p:cNvCxnSpPr/>
          <p:nvPr/>
        </p:nvCxnSpPr>
        <p:spPr>
          <a:xfrm flipH="1" rot="10800000">
            <a:off x="3406753" y="467846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7" name="Google Shape;3777;p55"/>
          <p:cNvCxnSpPr/>
          <p:nvPr/>
        </p:nvCxnSpPr>
        <p:spPr>
          <a:xfrm flipH="1" rot="10800000">
            <a:off x="3418613" y="481606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8" name="Google Shape;3778;p55"/>
          <p:cNvCxnSpPr/>
          <p:nvPr/>
        </p:nvCxnSpPr>
        <p:spPr>
          <a:xfrm flipH="1" rot="10800000">
            <a:off x="3430473" y="496494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9" name="Google Shape;3779;p55"/>
          <p:cNvCxnSpPr/>
          <p:nvPr/>
        </p:nvCxnSpPr>
        <p:spPr>
          <a:xfrm flipH="1" rot="10800000">
            <a:off x="3482178" y="5092866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0" name="Google Shape;3780;p55"/>
          <p:cNvCxnSpPr/>
          <p:nvPr/>
        </p:nvCxnSpPr>
        <p:spPr>
          <a:xfrm flipH="1" rot="10800000">
            <a:off x="3421493" y="524385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1" name="Google Shape;3781;p55"/>
          <p:cNvCxnSpPr/>
          <p:nvPr/>
        </p:nvCxnSpPr>
        <p:spPr>
          <a:xfrm flipH="1" rot="10800000">
            <a:off x="3433353" y="538144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6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p56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 to HTTP/3</a:t>
            </a:r>
            <a:endParaRPr sz="4400"/>
          </a:p>
        </p:txBody>
      </p:sp>
      <p:sp>
        <p:nvSpPr>
          <p:cNvPr id="3788" name="Google Shape;3788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9" name="Google Shape;3789;p56"/>
          <p:cNvSpPr txBox="1"/>
          <p:nvPr/>
        </p:nvSpPr>
        <p:spPr>
          <a:xfrm>
            <a:off x="833751" y="1490127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508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 over single TCP connection means: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recovery from packet loss still stalls all object transmissions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in HTTP 1.1, browsers have incentive to open multiple parallel TCP connections to reduce stalling, increase overall throughput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security over vanilla TCP connection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HTTP/3: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adds security, per object error- and congestion-control (more pipelining) over UDP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on HTTP/3 in transport layer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4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5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3796" name="Google Shape;3796;p57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7" name="Google Shape;3797;p57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3799" name="Google Shape;379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5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</a:t>
            </a:r>
            <a:endParaRPr sz="4400"/>
          </a:p>
        </p:txBody>
      </p:sp>
      <p:sp>
        <p:nvSpPr>
          <p:cNvPr id="3806" name="Google Shape;3806;p58"/>
          <p:cNvSpPr txBox="1"/>
          <p:nvPr/>
        </p:nvSpPr>
        <p:spPr>
          <a:xfrm>
            <a:off x="544512" y="1366838"/>
            <a:ext cx="7119031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a.k.a. “mail reader”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 mail messages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outgoing, incoming messages stored on server</a:t>
            </a:r>
            <a:endParaRPr/>
          </a:p>
        </p:txBody>
      </p:sp>
      <p:grpSp>
        <p:nvGrpSpPr>
          <p:cNvPr id="3807" name="Google Shape;3807;p58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3808" name="Google Shape;3808;p58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9" name="Google Shape;3809;p58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3810" name="Google Shape;3810;p58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11" name="Google Shape;3811;p58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2" name="Google Shape;3812;p58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3" name="Google Shape;3813;p58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4" name="Google Shape;3814;p58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5" name="Google Shape;3815;p58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6" name="Google Shape;3816;p58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7" name="Google Shape;3817;p58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818" name="Google Shape;3818;p58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58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0" name="Google Shape;3820;p58"/>
          <p:cNvGrpSpPr/>
          <p:nvPr/>
        </p:nvGrpSpPr>
        <p:grpSpPr>
          <a:xfrm>
            <a:off x="7241455" y="1234950"/>
            <a:ext cx="2992437" cy="3595688"/>
            <a:chOff x="7241455" y="1234950"/>
            <a:chExt cx="2992437" cy="3595688"/>
          </a:xfrm>
        </p:grpSpPr>
        <p:grpSp>
          <p:nvGrpSpPr>
            <p:cNvPr id="3821" name="Google Shape;3821;p58"/>
            <p:cNvGrpSpPr/>
            <p:nvPr/>
          </p:nvGrpSpPr>
          <p:grpSpPr>
            <a:xfrm>
              <a:off x="9233767" y="2182687"/>
              <a:ext cx="1000125" cy="1247776"/>
              <a:chOff x="9233767" y="2182687"/>
              <a:chExt cx="1000125" cy="1247776"/>
            </a:xfrm>
          </p:grpSpPr>
          <p:grpSp>
            <p:nvGrpSpPr>
              <p:cNvPr id="3822" name="Google Shape;3822;p58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3823" name="Google Shape;382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4" name="Google Shape;382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5" name="Google Shape;382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6" name="Google Shape;382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7" name="Google Shape;382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28" name="Google Shape;382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829" name="Google Shape;382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0" name="Google Shape;383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31" name="Google Shape;383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32" name="Google Shape;383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833" name="Google Shape;383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4" name="Google Shape;383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35" name="Google Shape;383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6" name="Google Shape;383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37" name="Google Shape;383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838" name="Google Shape;383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9" name="Google Shape;383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40" name="Google Shape;384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41" name="Google Shape;384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842" name="Google Shape;384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3" name="Google Shape;384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44" name="Google Shape;384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5" name="Google Shape;384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6" name="Google Shape;384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7" name="Google Shape;384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8" name="Google Shape;384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9" name="Google Shape;384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0" name="Google Shape;385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1" name="Google Shape;385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2" name="Google Shape;385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3" name="Google Shape;385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4" name="Google Shape;385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55" name="Google Shape;3855;p58"/>
              <p:cNvGrpSpPr/>
              <p:nvPr/>
            </p:nvGrpSpPr>
            <p:grpSpPr>
              <a:xfrm>
                <a:off x="9424267" y="2381125"/>
                <a:ext cx="809625" cy="1049338"/>
                <a:chOff x="4296" y="2627"/>
                <a:chExt cx="510" cy="661"/>
              </a:xfrm>
            </p:grpSpPr>
            <p:sp>
              <p:nvSpPr>
                <p:cNvPr id="3856" name="Google Shape;385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7" name="Google Shape;385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8" name="Google Shape;385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59" name="Google Shape;385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0" name="Google Shape;386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1" name="Google Shape;386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2" name="Google Shape;386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3" name="Google Shape;386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4" name="Google Shape;386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5" name="Google Shape;386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66" name="Google Shape;386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7" name="Google Shape;386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8" name="Google Shape;386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9" name="Google Shape;386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0" name="Google Shape;387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71" name="Google Shape;3871;p58"/>
            <p:cNvGrpSpPr/>
            <p:nvPr/>
          </p:nvGrpSpPr>
          <p:grpSpPr>
            <a:xfrm>
              <a:off x="7241455" y="3576512"/>
              <a:ext cx="992187" cy="1254126"/>
              <a:chOff x="7241455" y="3576512"/>
              <a:chExt cx="992187" cy="1254126"/>
            </a:xfrm>
          </p:grpSpPr>
          <p:grpSp>
            <p:nvGrpSpPr>
              <p:cNvPr id="3872" name="Google Shape;3872;p58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3873" name="Google Shape;387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4" name="Google Shape;387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5" name="Google Shape;387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6" name="Google Shape;387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7" name="Google Shape;387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78" name="Google Shape;387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879" name="Google Shape;387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0" name="Google Shape;388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81" name="Google Shape;388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82" name="Google Shape;388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883" name="Google Shape;388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4" name="Google Shape;388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85" name="Google Shape;388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6" name="Google Shape;388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87" name="Google Shape;388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888" name="Google Shape;388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9" name="Google Shape;388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90" name="Google Shape;389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1" name="Google Shape;389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892" name="Google Shape;389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3" name="Google Shape;389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94" name="Google Shape;389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5" name="Google Shape;389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8" name="Google Shape;389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9" name="Google Shape;389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0" name="Google Shape;390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1" name="Google Shape;390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2" name="Google Shape;390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3" name="Google Shape;390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4" name="Google Shape;390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05" name="Google Shape;3905;p58"/>
              <p:cNvGrpSpPr/>
              <p:nvPr/>
            </p:nvGrpSpPr>
            <p:grpSpPr>
              <a:xfrm>
                <a:off x="7424017" y="3781300"/>
                <a:ext cx="809625" cy="1049338"/>
                <a:chOff x="4296" y="2627"/>
                <a:chExt cx="510" cy="661"/>
              </a:xfrm>
            </p:grpSpPr>
            <p:sp>
              <p:nvSpPr>
                <p:cNvPr id="3906" name="Google Shape;390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7" name="Google Shape;390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8" name="Google Shape;390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09" name="Google Shape;390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0" name="Google Shape;391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1" name="Google Shape;391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2" name="Google Shape;391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3" name="Google Shape;391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4" name="Google Shape;391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5" name="Google Shape;391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16" name="Google Shape;391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7" name="Google Shape;391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0" name="Google Shape;392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1" name="Google Shape;3921;p58"/>
            <p:cNvGrpSpPr/>
            <p:nvPr/>
          </p:nvGrpSpPr>
          <p:grpSpPr>
            <a:xfrm>
              <a:off x="7263680" y="1234950"/>
              <a:ext cx="969962" cy="1347788"/>
              <a:chOff x="7263680" y="1234950"/>
              <a:chExt cx="969962" cy="1347788"/>
            </a:xfrm>
          </p:grpSpPr>
          <p:grpSp>
            <p:nvGrpSpPr>
              <p:cNvPr id="3922" name="Google Shape;3922;p58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3923" name="Google Shape;392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4" name="Google Shape;392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5" name="Google Shape;392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7" name="Google Shape;392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28" name="Google Shape;392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929" name="Google Shape;392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0" name="Google Shape;393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31" name="Google Shape;393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32" name="Google Shape;393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933" name="Google Shape;393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4" name="Google Shape;393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35" name="Google Shape;393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6" name="Google Shape;393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37" name="Google Shape;393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938" name="Google Shape;393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9" name="Google Shape;393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40" name="Google Shape;394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41" name="Google Shape;394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942" name="Google Shape;394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3" name="Google Shape;394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44" name="Google Shape;394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5" name="Google Shape;394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6" name="Google Shape;394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7" name="Google Shape;394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8" name="Google Shape;394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9" name="Google Shape;394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0" name="Google Shape;395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1" name="Google Shape;395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2" name="Google Shape;395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3" name="Google Shape;395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4" name="Google Shape;395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55" name="Google Shape;3955;p58"/>
              <p:cNvGrpSpPr/>
              <p:nvPr/>
            </p:nvGrpSpPr>
            <p:grpSpPr>
              <a:xfrm>
                <a:off x="7424017" y="1533400"/>
                <a:ext cx="809625" cy="1049338"/>
                <a:chOff x="4296" y="2627"/>
                <a:chExt cx="510" cy="661"/>
              </a:xfrm>
            </p:grpSpPr>
            <p:sp>
              <p:nvSpPr>
                <p:cNvPr id="3956" name="Google Shape;395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7" name="Google Shape;395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8" name="Google Shape;395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59" name="Google Shape;395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0" name="Google Shape;396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1" name="Google Shape;396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2" name="Google Shape;396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3" name="Google Shape;396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4" name="Google Shape;396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5" name="Google Shape;396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66" name="Google Shape;396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7" name="Google Shape;396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8" name="Google Shape;396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9" name="Google Shape;396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0" name="Google Shape;397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971" name="Google Shape;3971;p58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3972" name="Google Shape;3972;p58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3973" name="Google Shape;3973;p58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74" name="Google Shape;3974;p58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3975" name="Google Shape;3975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6" name="Google Shape;3976;p58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3977" name="Google Shape;3977;p58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3978" name="Google Shape;3978;p58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79" name="Google Shape;3979;p58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3980" name="Google Shape;3980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58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3982" name="Google Shape;3982;p58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3983" name="Google Shape;3983;p58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84" name="Google Shape;3984;p58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3985" name="Google Shape;3985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6" name="Google Shape;3986;p58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</p:grpSp>
      <p:grpSp>
        <p:nvGrpSpPr>
          <p:cNvPr id="3987" name="Google Shape;3987;p58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3988" name="Google Shape;3988;p58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3989" name="Google Shape;3989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990" name="Google Shape;3990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991" name="Google Shape;3991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2" name="Google Shape;3992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4" name="Google Shape;3994;p58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3995" name="Google Shape;3995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996" name="Google Shape;3996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997" name="Google Shape;3997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8" name="Google Shape;3998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0" name="Google Shape;4000;p58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4001" name="Google Shape;4001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02" name="Google Shape;4002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03" name="Google Shape;4003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04" name="Google Shape;4004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5" name="Google Shape;4005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6" name="Google Shape;4006;p58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4007" name="Google Shape;4007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08" name="Google Shape;4008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09" name="Google Shape;4009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10" name="Google Shape;4010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1" name="Google Shape;4011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2" name="Google Shape;4012;p58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4013" name="Google Shape;4013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14" name="Google Shape;4014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15" name="Google Shape;4015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16" name="Google Shape;4016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8" name="Google Shape;4018;p58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4019" name="Google Shape;4019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20" name="Google Shape;4020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21" name="Google Shape;4021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22" name="Google Shape;4022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3" name="Google Shape;4023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24" name="Google Shape;4024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9" name="Shape 4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Google Shape;4030;p5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E-mail: mail servers</a:t>
            </a:r>
            <a:endParaRPr sz="4400"/>
          </a:p>
        </p:txBody>
      </p:sp>
      <p:grpSp>
        <p:nvGrpSpPr>
          <p:cNvPr id="4031" name="Google Shape;4031;p59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4032" name="Google Shape;4032;p59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33" name="Google Shape;4033;p59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034" name="Google Shape;4034;p59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35" name="Google Shape;4035;p59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6" name="Google Shape;4036;p59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7" name="Google Shape;4037;p59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8" name="Google Shape;4038;p59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9" name="Google Shape;4039;p59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0" name="Google Shape;4040;p59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1" name="Google Shape;4041;p59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42" name="Google Shape;4042;p59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59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4" name="Google Shape;4044;p59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4045" name="Google Shape;4045;p59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46" name="Google Shape;4046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7" name="Google Shape;4047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8" name="Google Shape;4048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9" name="Google Shape;4049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0" name="Google Shape;4050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1" name="Google Shape;4051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052" name="Google Shape;4052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4" name="Google Shape;4054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5" name="Google Shape;4055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056" name="Google Shape;4056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8" name="Google Shape;4058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9" name="Google Shape;4059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0" name="Google Shape;4060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061" name="Google Shape;4061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2" name="Google Shape;4062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63" name="Google Shape;4063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4" name="Google Shape;4064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065" name="Google Shape;4065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6" name="Google Shape;4066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67" name="Google Shape;4067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8" name="Google Shape;4068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9" name="Google Shape;4069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0" name="Google Shape;4070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1" name="Google Shape;4071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3" name="Google Shape;4073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6" name="Google Shape;4076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7" name="Google Shape;4077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78" name="Google Shape;4078;p59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079" name="Google Shape;4079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0" name="Google Shape;4080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1" name="Google Shape;4081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2" name="Google Shape;4082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3" name="Google Shape;4083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4" name="Google Shape;4084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085" name="Google Shape;4085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6" name="Google Shape;4086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87" name="Google Shape;4087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8" name="Google Shape;4088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089" name="Google Shape;4089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0" name="Google Shape;4090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91" name="Google Shape;4091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3" name="Google Shape;4093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094" name="Google Shape;4094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5" name="Google Shape;4095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96" name="Google Shape;4096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7" name="Google Shape;4097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098" name="Google Shape;4098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9" name="Google Shape;4099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00" name="Google Shape;4100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5" name="Google Shape;4105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6" name="Google Shape;4106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7" name="Google Shape;4107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8" name="Google Shape;4108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9" name="Google Shape;4109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0" name="Google Shape;4110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1" name="Google Shape;4111;p59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112" name="Google Shape;4112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5" name="Google Shape;4115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6" name="Google Shape;4116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17" name="Google Shape;4117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118" name="Google Shape;4118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9" name="Google Shape;4119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0" name="Google Shape;4120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1" name="Google Shape;4121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122" name="Google Shape;4122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3" name="Google Shape;4123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4" name="Google Shape;4124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6" name="Google Shape;4126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127" name="Google Shape;4127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8" name="Google Shape;4128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9" name="Google Shape;4129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30" name="Google Shape;4130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131" name="Google Shape;4131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2" name="Google Shape;4132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33" name="Google Shape;4133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4" name="Google Shape;4134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5" name="Google Shape;4135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6" name="Google Shape;4136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7" name="Google Shape;4137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8" name="Google Shape;4138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9" name="Google Shape;4139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0" name="Google Shape;4140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1" name="Google Shape;4141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2" name="Google Shape;4142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3" name="Google Shape;4143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44" name="Google Shape;4144;p59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145" name="Google Shape;4145;p59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4146" name="Google Shape;4146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7" name="Google Shape;4147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8" name="Google Shape;4148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9" name="Google Shape;4149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0" name="Google Shape;4150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1" name="Google Shape;4151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2" name="Google Shape;4152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3" name="Google Shape;4153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4" name="Google Shape;4154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5" name="Google Shape;4155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56" name="Google Shape;4156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7" name="Google Shape;4157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8" name="Google Shape;4158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9" name="Google Shape;4159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1" name="Google Shape;4161;p59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4162" name="Google Shape;4162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65" name="Google Shape;4165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6" name="Google Shape;4166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7" name="Google Shape;4167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8" name="Google Shape;4168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9" name="Google Shape;4169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0" name="Google Shape;4170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1" name="Google Shape;4171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72" name="Google Shape;4172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3" name="Google Shape;4173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6" name="Google Shape;4176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7" name="Google Shape;4177;p59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4178" name="Google Shape;4178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9" name="Google Shape;4179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0" name="Google Shape;4180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81" name="Google Shape;4181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2" name="Google Shape;4182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3" name="Google Shape;4183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4" name="Google Shape;4184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5" name="Google Shape;4185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6" name="Google Shape;4186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7" name="Google Shape;4187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88" name="Google Shape;4188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9" name="Google Shape;4189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0" name="Google Shape;4190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1" name="Google Shape;4191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93" name="Google Shape;4193;p59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194" name="Google Shape;4194;p59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195" name="Google Shape;4195;p59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4196" name="Google Shape;4196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59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198" name="Google Shape;4198;p59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4199" name="Google Shape;4199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59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201" name="Google Shape;4201;p59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4202" name="Google Shape;4202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59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204" name="Google Shape;4204;p59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4205" name="Google Shape;4205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06" name="Google Shape;4206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07" name="Google Shape;4207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08" name="Google Shape;4208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0" name="Google Shape;4210;p59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4211" name="Google Shape;4211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12" name="Google Shape;4212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13" name="Google Shape;4213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14" name="Google Shape;4214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6" name="Google Shape;4216;p59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4217" name="Google Shape;4217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18" name="Google Shape;4218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19" name="Google Shape;4219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0" name="Google Shape;4220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2" name="Google Shape;4222;p59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4223" name="Google Shape;4223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24" name="Google Shape;4224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25" name="Google Shape;4225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6" name="Google Shape;4226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8" name="Google Shape;4228;p59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4229" name="Google Shape;4229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30" name="Google Shape;4230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31" name="Google Shape;4231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32" name="Google Shape;4232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3" name="Google Shape;4233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34" name="Google Shape;4234;p59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4235" name="Google Shape;4235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36" name="Google Shape;4236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37" name="Google Shape;4237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38" name="Google Shape;4238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9" name="Google Shape;4239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40" name="Google Shape;4240;p59"/>
          <p:cNvSpPr txBox="1"/>
          <p:nvPr/>
        </p:nvSpPr>
        <p:spPr>
          <a:xfrm>
            <a:off x="660265" y="1387147"/>
            <a:ext cx="567403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1" name="Google Shape;4241;p59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4242" name="Google Shape;4242;p59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3" name="Google Shape;4243;p59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4" name="Google Shape;4244;p59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5" name="Google Shape;4245;p59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6" name="Google Shape;4246;p59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4247" name="Google Shape;4247;p59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8" name="Google Shape;4248;p59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59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59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1" name="Google Shape;4251;p59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4252" name="Google Shape;4252;p59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3" name="Google Shape;4253;p59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4" name="Google Shape;4254;p59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5" name="Google Shape;4255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0" name="Shape 4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1" name="Google Shape;4261;p6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SMTP RFC </a:t>
            </a:r>
            <a:r>
              <a:rPr lang="en-US" sz="3200"/>
              <a:t>(5321)</a:t>
            </a:r>
            <a:endParaRPr sz="4400"/>
          </a:p>
        </p:txBody>
      </p:sp>
      <p:sp>
        <p:nvSpPr>
          <p:cNvPr id="4262" name="Google Shape;4262;p60"/>
          <p:cNvSpPr txBox="1"/>
          <p:nvPr/>
        </p:nvSpPr>
        <p:spPr>
          <a:xfrm>
            <a:off x="693827" y="1364343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TCP to reliably transfer email message from client (mail server initiating connection) to server, port 25</a:t>
            </a:r>
            <a:endParaRPr/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/>
          </a:p>
        </p:txBody>
      </p:sp>
      <p:cxnSp>
        <p:nvCxnSpPr>
          <p:cNvPr id="4263" name="Google Shape;4263;p60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264" name="Google Shape;4264;p60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265" name="Google Shape;4265;p60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6" name="Google Shape;4266;p60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7" name="Google Shape;4267;p60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8" name="Google Shape;4268;p60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9" name="Google Shape;4269;p60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4270" name="Google Shape;4270;p60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1" name="Google Shape;4271;p60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4272" name="Google Shape;4272;p60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3" name="Google Shape;4273;p60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4274" name="Google Shape;4274;p60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4275" name="Google Shape;4275;p6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6" name="Google Shape;4276;p6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7" name="Google Shape;4277;p6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6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6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0" name="Google Shape;4280;p6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281" name="Google Shape;4281;p6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2" name="Google Shape;4282;p6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3" name="Google Shape;4283;p6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4" name="Google Shape;4284;p6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285" name="Google Shape;4285;p6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6" name="Google Shape;4286;p6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7" name="Google Shape;4287;p6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8" name="Google Shape;4288;p6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9" name="Google Shape;4289;p6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290" name="Google Shape;4290;p6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1" name="Google Shape;4291;p6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2" name="Google Shape;4292;p6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3" name="Google Shape;4293;p6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294" name="Google Shape;4294;p6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6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6" name="Google Shape;4296;p6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7" name="Google Shape;4297;p6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8" name="Google Shape;4298;p6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9" name="Google Shape;4299;p6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0" name="Google Shape;4300;p6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1" name="Google Shape;4301;p6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6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6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6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6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6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7" name="Google Shape;4307;p60"/>
          <p:cNvGrpSpPr/>
          <p:nvPr/>
        </p:nvGrpSpPr>
        <p:grpSpPr>
          <a:xfrm>
            <a:off x="9628476" y="1133303"/>
            <a:ext cx="302736" cy="620580"/>
            <a:chOff x="4140" y="429"/>
            <a:chExt cx="1425" cy="2396"/>
          </a:xfrm>
        </p:grpSpPr>
        <p:sp>
          <p:nvSpPr>
            <p:cNvPr id="4308" name="Google Shape;4308;p6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9" name="Google Shape;4309;p6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0" name="Google Shape;4310;p6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1" name="Google Shape;4311;p6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2" name="Google Shape;4312;p6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3" name="Google Shape;4313;p6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314" name="Google Shape;4314;p6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5" name="Google Shape;4315;p6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16" name="Google Shape;4316;p6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7" name="Google Shape;4317;p6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318" name="Google Shape;4318;p6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9" name="Google Shape;4319;p6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0" name="Google Shape;4320;p6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6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2" name="Google Shape;4322;p6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323" name="Google Shape;4323;p6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6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5" name="Google Shape;4325;p6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6" name="Google Shape;4326;p6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327" name="Google Shape;4327;p6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8" name="Google Shape;4328;p6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9" name="Google Shape;4329;p6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6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6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6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6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6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6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6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6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6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6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0" name="Google Shape;4340;p60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4341" name="Google Shape;4341;p60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2" name="Google Shape;4342;p60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3" name="Google Shape;4343;p60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44" name="Google Shape;4344;p60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/>
            </a:p>
          </p:txBody>
        </p:sp>
        <p:sp>
          <p:nvSpPr>
            <p:cNvPr id="4345" name="Google Shape;4345;p60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/>
            </a:p>
          </p:txBody>
        </p:sp>
        <p:sp>
          <p:nvSpPr>
            <p:cNvPr id="4346" name="Google Shape;4346;p60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/>
            </a:p>
          </p:txBody>
        </p:sp>
        <p:sp>
          <p:nvSpPr>
            <p:cNvPr id="4347" name="Google Shape;4347;p60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8" name="Google Shape;4348;p60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/>
            </a:p>
          </p:txBody>
        </p:sp>
      </p:grpSp>
      <p:sp>
        <p:nvSpPr>
          <p:cNvPr id="4349" name="Google Shape;4349;p60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/>
          </a:p>
        </p:txBody>
      </p:sp>
      <p:sp>
        <p:nvSpPr>
          <p:cNvPr id="4350" name="Google Shape;4350;p60"/>
          <p:cNvSpPr txBox="1"/>
          <p:nvPr/>
        </p:nvSpPr>
        <p:spPr>
          <a:xfrm>
            <a:off x="8589284" y="482929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sp>
        <p:nvSpPr>
          <p:cNvPr id="4351" name="Google Shape;4351;p60"/>
          <p:cNvSpPr txBox="1"/>
          <p:nvPr/>
        </p:nvSpPr>
        <p:spPr>
          <a:xfrm>
            <a:off x="10344050" y="485700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grpSp>
        <p:nvGrpSpPr>
          <p:cNvPr id="4352" name="Google Shape;4352;p60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4353" name="Google Shape;4353;p60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60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/>
            </a:p>
          </p:txBody>
        </p:sp>
      </p:grpSp>
      <p:sp>
        <p:nvSpPr>
          <p:cNvPr id="4355" name="Google Shape;4355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0" name="Shape 4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Google Shape;4361;p6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4362" name="Google Shape;4362;p61"/>
          <p:cNvSpPr txBox="1"/>
          <p:nvPr/>
        </p:nvSpPr>
        <p:spPr>
          <a:xfrm>
            <a:off x="707567" y="137160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3" name="Google Shape;4363;p61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364" name="Google Shape;4364;p61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4365" name="Google Shape;4365;p61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366" name="Google Shape;4366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67" name="Google Shape;4367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68" name="Google Shape;4368;p61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9" name="Google Shape;4369;p61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0" name="Google Shape;4370;p61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4371" name="Google Shape;4371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2" name="Google Shape;4372;p61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3" name="Google Shape;4373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4" name="Google Shape;4374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5" name="Google Shape;4375;p61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76" name="Google Shape;4376;p61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377" name="Google Shape;4377;p61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61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79" name="Google Shape;4379;p61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0" name="Google Shape;4380;p61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381" name="Google Shape;4381;p61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61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3" name="Google Shape;4383;p61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4" name="Google Shape;4384;p61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5" name="Google Shape;4385;p61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386" name="Google Shape;4386;p61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7" name="Google Shape;4387;p61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8" name="Google Shape;4388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9" name="Google Shape;4389;p61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390" name="Google Shape;4390;p61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1" name="Google Shape;4391;p61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2" name="Google Shape;4392;p61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61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6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61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61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61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61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61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3" name="Google Shape;4403;p61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4404" name="Google Shape;4404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61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61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9" name="Google Shape;4409;p61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410" name="Google Shape;4410;p61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1" name="Google Shape;4411;p61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2" name="Google Shape;4412;p61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3" name="Google Shape;4413;p61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414" name="Google Shape;4414;p61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5" name="Google Shape;4415;p61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6" name="Google Shape;4416;p61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61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8" name="Google Shape;4418;p61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419" name="Google Shape;4419;p61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0" name="Google Shape;4420;p61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1" name="Google Shape;4421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22" name="Google Shape;4422;p61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423" name="Google Shape;4423;p61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4" name="Google Shape;4424;p61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5" name="Google Shape;4425;p61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6" name="Google Shape;4426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7" name="Google Shape;4427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8" name="Google Shape;4428;p61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9" name="Google Shape;4429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0" name="Google Shape;4430;p6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61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61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p61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4" name="Google Shape;4434;p61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5" name="Google Shape;4435;p61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6" name="Google Shape;4436;p61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4437" name="Google Shape;4437;p61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8" name="Google Shape;4438;p61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9" name="Google Shape;4439;p61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40" name="Google Shape;4440;p61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1" name="Google Shape;4441;p61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2" name="Google Shape;4442;p61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3" name="Google Shape;4443;p61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4" name="Google Shape;4444;p61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5" name="Google Shape;4445;p61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6" name="Google Shape;4446;p61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47" name="Google Shape;4447;p61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8" name="Google Shape;4448;p61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9" name="Google Shape;4449;p61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61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61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4452" name="Google Shape;445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453" name="Google Shape;4453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4" name="Google Shape;4454;p61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4455" name="Google Shape;4455;p61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61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61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58" name="Google Shape;4458;p61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9" name="Google Shape;4459;p61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0" name="Google Shape;4460;p61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1" name="Google Shape;4461;p61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2" name="Google Shape;4462;p61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3" name="Google Shape;4463;p61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4" name="Google Shape;4464;p61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65" name="Google Shape;4465;p61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6" name="Google Shape;4466;p61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61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61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61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70" name="Google Shape;4470;p61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1" name="Google Shape;4471;p61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2" name="Google Shape;4472;p61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3" name="Google Shape;4473;p61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4" name="Google Shape;4474;p61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5" name="Google Shape;4475;p61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6" name="Google Shape;4476;p61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7" name="Google Shape;4477;p61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8" name="Google Shape;4478;p61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9" name="Google Shape;4479;p61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0" name="Google Shape;4480;p61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1" name="Google Shape;4481;p61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4482" name="Google Shape;4482;p61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483" name="Google Shape;4483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84" name="Google Shape;4484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85" name="Google Shape;4485;p61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61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7" name="Google Shape;4487;p61"/>
          <p:cNvSpPr txBox="1"/>
          <p:nvPr/>
        </p:nvSpPr>
        <p:spPr>
          <a:xfrm>
            <a:off x="728885" y="2279968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Alice’s UA sends message to her mail server using SMTP; message placed in message queue</a:t>
            </a:r>
            <a:endParaRPr/>
          </a:p>
        </p:txBody>
      </p:sp>
      <p:sp>
        <p:nvSpPr>
          <p:cNvPr id="4488" name="Google Shape;4488;p61"/>
          <p:cNvSpPr txBox="1"/>
          <p:nvPr/>
        </p:nvSpPr>
        <p:spPr>
          <a:xfrm>
            <a:off x="739565" y="3432318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9" name="Google Shape;4489;p61"/>
          <p:cNvSpPr txBox="1"/>
          <p:nvPr/>
        </p:nvSpPr>
        <p:spPr>
          <a:xfrm>
            <a:off x="6633422" y="2275557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5) Bob’s mail server places the message in Bob’s mailbox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90" name="Google Shape;4490;p61"/>
          <p:cNvSpPr txBox="1"/>
          <p:nvPr/>
        </p:nvSpPr>
        <p:spPr>
          <a:xfrm>
            <a:off x="6630762" y="3460095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6) Bob invokes his user agent to read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91" name="Google Shape;4491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6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p6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4498" name="Google Shape;4498;p62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220 hamburger.edu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9" name="Google Shape;4499;p62"/>
          <p:cNvSpPr/>
          <p:nvPr/>
        </p:nvSpPr>
        <p:spPr>
          <a:xfrm>
            <a:off x="1978429" y="1587732"/>
            <a:ext cx="8994370" cy="7232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0" name="Google Shape;4500;p62"/>
          <p:cNvSpPr/>
          <p:nvPr/>
        </p:nvSpPr>
        <p:spPr>
          <a:xfrm>
            <a:off x="1981200" y="2213956"/>
            <a:ext cx="899437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1" name="Google Shape;4501;p62"/>
          <p:cNvSpPr/>
          <p:nvPr/>
        </p:nvSpPr>
        <p:spPr>
          <a:xfrm>
            <a:off x="2000594" y="2931622"/>
            <a:ext cx="8994370" cy="6483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2" name="Google Shape;4502;p62"/>
          <p:cNvSpPr/>
          <p:nvPr/>
        </p:nvSpPr>
        <p:spPr>
          <a:xfrm>
            <a:off x="2019991" y="3566160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3" name="Google Shape;4503;p62"/>
          <p:cNvSpPr/>
          <p:nvPr/>
        </p:nvSpPr>
        <p:spPr>
          <a:xfrm>
            <a:off x="1956261" y="4283824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4" name="Google Shape;4504;p62"/>
          <p:cNvSpPr/>
          <p:nvPr/>
        </p:nvSpPr>
        <p:spPr>
          <a:xfrm>
            <a:off x="1856507" y="5469775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5" name="Google Shape;4505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0" name="Shape 4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1" name="Google Shape;4511;p6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SMTP: observations</a:t>
            </a:r>
            <a:endParaRPr sz="4400"/>
          </a:p>
        </p:txBody>
      </p:sp>
      <p:sp>
        <p:nvSpPr>
          <p:cNvPr id="4512" name="Google Shape;4512;p63"/>
          <p:cNvSpPr txBox="1"/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uses persistent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requires message (header &amp; body) to be in 7-bit ASCII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server uses CRLF.CRLF to determine end of message</a:t>
            </a:r>
            <a:endParaRPr/>
          </a:p>
        </p:txBody>
      </p:sp>
      <p:sp>
        <p:nvSpPr>
          <p:cNvPr id="4513" name="Google Shape;4513;p63"/>
          <p:cNvSpPr txBox="1"/>
          <p:nvPr/>
        </p:nvSpPr>
        <p:spPr>
          <a:xfrm>
            <a:off x="651330" y="1460390"/>
            <a:ext cx="618308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comparison with HTTP: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client pull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client push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have ASCII command/response interaction, status codes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each object encapsulated in its own response message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multiple objects sent in multipart message</a:t>
            </a:r>
            <a:endParaRPr/>
          </a:p>
        </p:txBody>
      </p:sp>
      <p:sp>
        <p:nvSpPr>
          <p:cNvPr id="4514" name="Google Shape;4514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9" name="Shape 4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0" name="Google Shape;4520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Mail message format</a:t>
            </a:r>
            <a:endParaRPr sz="4400"/>
          </a:p>
        </p:txBody>
      </p:sp>
      <p:sp>
        <p:nvSpPr>
          <p:cNvPr id="4521" name="Google Shape;4521;p64"/>
          <p:cNvSpPr txBox="1"/>
          <p:nvPr/>
        </p:nvSpPr>
        <p:spPr>
          <a:xfrm>
            <a:off x="819954" y="1518446"/>
            <a:ext cx="10701485" cy="185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protocol for exchanging e-mail messages, defined in RFC 5321 (like RFC 7231 defines HTTP)</a:t>
            </a:r>
            <a:endParaRPr/>
          </a:p>
          <a:p>
            <a:pPr indent="0" lvl="0" marL="14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2822 defines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e-mail message itself (like HTML defines syntax for web documents)</a:t>
            </a:r>
            <a:endParaRPr/>
          </a:p>
        </p:txBody>
      </p:sp>
      <p:sp>
        <p:nvSpPr>
          <p:cNvPr id="4522" name="Google Shape;4522;p64"/>
          <p:cNvSpPr/>
          <p:nvPr/>
        </p:nvSpPr>
        <p:spPr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523" name="Google Shape;4523;p64"/>
          <p:cNvSpPr/>
          <p:nvPr/>
        </p:nvSpPr>
        <p:spPr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4524" name="Google Shape;4524;p64"/>
          <p:cNvSpPr/>
          <p:nvPr/>
        </p:nvSpPr>
        <p:spPr>
          <a:xfrm>
            <a:off x="7908339" y="3202771"/>
            <a:ext cx="3238500" cy="3073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5" name="Google Shape;4525;p64"/>
          <p:cNvCxnSpPr/>
          <p:nvPr/>
        </p:nvCxnSpPr>
        <p:spPr>
          <a:xfrm flipH="1" rot="10800000">
            <a:off x="1567314" y="5094521"/>
            <a:ext cx="6544225" cy="81279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6" name="Google Shape;4526;p64"/>
          <p:cNvSpPr txBox="1"/>
          <p:nvPr/>
        </p:nvSpPr>
        <p:spPr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cxnSp>
        <p:nvCxnSpPr>
          <p:cNvPr id="4527" name="Google Shape;4527;p64"/>
          <p:cNvCxnSpPr/>
          <p:nvPr/>
        </p:nvCxnSpPr>
        <p:spPr>
          <a:xfrm rot="10800000">
            <a:off x="10384839" y="3977471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8" name="Google Shape;4528;p64"/>
          <p:cNvCxnSpPr/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9" name="Google Shape;4529;p64"/>
          <p:cNvSpPr txBox="1"/>
          <p:nvPr/>
        </p:nvSpPr>
        <p:spPr>
          <a:xfrm>
            <a:off x="889227" y="3300140"/>
            <a:ext cx="6379126" cy="3034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header lines, e.g.,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Subject:</a:t>
            </a:r>
            <a:endParaRPr/>
          </a:p>
          <a:p>
            <a:pPr indent="0" lvl="1" marL="4032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lines, within the body of the email message area different from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MAIL FROM:, RCPT TO: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commands!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Body: the “message” , ASCII characters only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0" name="Google Shape;4530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p6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Retrieving email: mail access protocols</a:t>
            </a:r>
            <a:endParaRPr sz="4400"/>
          </a:p>
        </p:txBody>
      </p:sp>
      <p:grpSp>
        <p:nvGrpSpPr>
          <p:cNvPr id="4537" name="Google Shape;4537;p65"/>
          <p:cNvGrpSpPr/>
          <p:nvPr/>
        </p:nvGrpSpPr>
        <p:grpSpPr>
          <a:xfrm>
            <a:off x="4451528" y="1694089"/>
            <a:ext cx="511175" cy="693738"/>
            <a:chOff x="4140" y="429"/>
            <a:chExt cx="1425" cy="2396"/>
          </a:xfrm>
        </p:grpSpPr>
        <p:sp>
          <p:nvSpPr>
            <p:cNvPr id="4538" name="Google Shape;4538;p6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9" name="Google Shape;4539;p6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0" name="Google Shape;4540;p6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1" name="Google Shape;4541;p6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2" name="Google Shape;4542;p6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3" name="Google Shape;4543;p6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544" name="Google Shape;4544;p6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5" name="Google Shape;4545;p6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6" name="Google Shape;4546;p6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6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548" name="Google Shape;4548;p6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6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6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1" name="Google Shape;4551;p6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2" name="Google Shape;4552;p6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553" name="Google Shape;4553;p6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4" name="Google Shape;4554;p6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5" name="Google Shape;4555;p6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6" name="Google Shape;4556;p6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557" name="Google Shape;4557;p6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8" name="Google Shape;4558;p6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9" name="Google Shape;4559;p6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6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6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6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6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6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6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6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6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6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6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0" name="Google Shape;4570;p65"/>
          <p:cNvGrpSpPr/>
          <p:nvPr/>
        </p:nvGrpSpPr>
        <p:grpSpPr>
          <a:xfrm>
            <a:off x="6137453" y="1703614"/>
            <a:ext cx="511175" cy="693738"/>
            <a:chOff x="4140" y="429"/>
            <a:chExt cx="1425" cy="2396"/>
          </a:xfrm>
        </p:grpSpPr>
        <p:sp>
          <p:nvSpPr>
            <p:cNvPr id="4571" name="Google Shape;4571;p6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2" name="Google Shape;4572;p6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3" name="Google Shape;4573;p6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4" name="Google Shape;4574;p6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5" name="Google Shape;4575;p6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6" name="Google Shape;4576;p6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577" name="Google Shape;4577;p6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8" name="Google Shape;4578;p6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9" name="Google Shape;4579;p6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6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581" name="Google Shape;4581;p6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6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6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4" name="Google Shape;4584;p6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5" name="Google Shape;4585;p6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586" name="Google Shape;4586;p6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7" name="Google Shape;4587;p6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8" name="Google Shape;4588;p6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9" name="Google Shape;4589;p6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590" name="Google Shape;4590;p6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1" name="Google Shape;4591;p6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2" name="Google Shape;4592;p6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6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6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6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6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6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6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6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6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6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6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3" name="Google Shape;4603;p65"/>
          <p:cNvGrpSpPr/>
          <p:nvPr/>
        </p:nvGrpSpPr>
        <p:grpSpPr>
          <a:xfrm>
            <a:off x="4159429" y="2103665"/>
            <a:ext cx="1689101" cy="1133476"/>
            <a:chOff x="1716" y="1206"/>
            <a:chExt cx="1064" cy="714"/>
          </a:xfrm>
        </p:grpSpPr>
        <p:sp>
          <p:nvSpPr>
            <p:cNvPr id="4604" name="Google Shape;4604;p65"/>
            <p:cNvSpPr txBox="1"/>
            <p:nvPr/>
          </p:nvSpPr>
          <p:spPr>
            <a:xfrm>
              <a:off x="1716" y="1583"/>
              <a:ext cx="1064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sender’s e-mail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5" name="Google Shape;4605;p65"/>
            <p:cNvGrpSpPr/>
            <p:nvPr/>
          </p:nvGrpSpPr>
          <p:grpSpPr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4606" name="Google Shape;4606;p65"/>
              <p:cNvSpPr/>
              <p:nvPr/>
            </p:nvSpPr>
            <p:spPr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07" name="Google Shape;4607;p65"/>
              <p:cNvSpPr/>
              <p:nvPr/>
            </p:nvSpPr>
            <p:spPr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4608" name="Google Shape;4608;p65"/>
              <p:cNvCxnSpPr/>
              <p:nvPr/>
            </p:nvCxnSpPr>
            <p:spPr>
              <a:xfrm>
                <a:off x="2143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9" name="Google Shape;4609;p65"/>
              <p:cNvCxnSpPr/>
              <p:nvPr/>
            </p:nvCxnSpPr>
            <p:spPr>
              <a:xfrm>
                <a:off x="2252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0" name="Google Shape;4610;p65"/>
              <p:cNvCxnSpPr/>
              <p:nvPr/>
            </p:nvCxnSpPr>
            <p:spPr>
              <a:xfrm>
                <a:off x="2307" y="210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1" name="Google Shape;4611;p65"/>
              <p:cNvCxnSpPr/>
              <p:nvPr/>
            </p:nvCxnSpPr>
            <p:spPr>
              <a:xfrm>
                <a:off x="2364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2" name="Google Shape;4612;p65"/>
              <p:cNvCxnSpPr/>
              <p:nvPr/>
            </p:nvCxnSpPr>
            <p:spPr>
              <a:xfrm>
                <a:off x="2425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3" name="Google Shape;4613;p65"/>
              <p:cNvCxnSpPr/>
              <p:nvPr/>
            </p:nvCxnSpPr>
            <p:spPr>
              <a:xfrm>
                <a:off x="2481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4" name="Google Shape;4614;p65"/>
              <p:cNvCxnSpPr/>
              <p:nvPr/>
            </p:nvCxnSpPr>
            <p:spPr>
              <a:xfrm>
                <a:off x="2196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5" name="Google Shape;4615;p65"/>
              <p:cNvSpPr/>
              <p:nvPr/>
            </p:nvSpPr>
            <p:spPr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6" name="Google Shape;4616;p65"/>
              <p:cNvSpPr/>
              <p:nvPr/>
            </p:nvSpPr>
            <p:spPr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7" name="Google Shape;4617;p65"/>
              <p:cNvSpPr/>
              <p:nvPr/>
            </p:nvSpPr>
            <p:spPr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8" name="Google Shape;4618;p65"/>
              <p:cNvSpPr/>
              <p:nvPr/>
            </p:nvSpPr>
            <p:spPr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9" name="Google Shape;4619;p65"/>
              <p:cNvSpPr/>
              <p:nvPr/>
            </p:nvSpPr>
            <p:spPr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sp>
        <p:nvSpPr>
          <p:cNvPr id="4620" name="Google Shape;4620;p65"/>
          <p:cNvSpPr txBox="1"/>
          <p:nvPr/>
        </p:nvSpPr>
        <p:spPr>
          <a:xfrm>
            <a:off x="3510141" y="1582964"/>
            <a:ext cx="8905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4621" name="Google Shape;4621;p65"/>
          <p:cNvSpPr/>
          <p:nvPr/>
        </p:nvSpPr>
        <p:spPr>
          <a:xfrm>
            <a:off x="5270678" y="1573439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22" name="Google Shape;4622;p65"/>
          <p:cNvSpPr txBox="1"/>
          <p:nvPr/>
        </p:nvSpPr>
        <p:spPr>
          <a:xfrm>
            <a:off x="5111928" y="1594077"/>
            <a:ext cx="8905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4623" name="Google Shape;4623;p65"/>
          <p:cNvSpPr txBox="1"/>
          <p:nvPr/>
        </p:nvSpPr>
        <p:spPr>
          <a:xfrm>
            <a:off x="5734133" y="2714852"/>
            <a:ext cx="179247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receiver’s e-mail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4" name="Google Shape;4624;p65"/>
          <p:cNvGrpSpPr/>
          <p:nvPr/>
        </p:nvGrpSpPr>
        <p:grpSpPr>
          <a:xfrm>
            <a:off x="6289853" y="2116364"/>
            <a:ext cx="809625" cy="561975"/>
            <a:chOff x="2070" y="2004"/>
            <a:chExt cx="510" cy="354"/>
          </a:xfrm>
        </p:grpSpPr>
        <p:sp>
          <p:nvSpPr>
            <p:cNvPr id="4625" name="Google Shape;4625;p65"/>
            <p:cNvSpPr/>
            <p:nvPr/>
          </p:nvSpPr>
          <p:spPr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26" name="Google Shape;4626;p65"/>
            <p:cNvSpPr/>
            <p:nvPr/>
          </p:nvSpPr>
          <p:spPr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4627" name="Google Shape;4627;p65"/>
            <p:cNvCxnSpPr/>
            <p:nvPr/>
          </p:nvCxnSpPr>
          <p:spPr>
            <a:xfrm>
              <a:off x="2143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8" name="Google Shape;4628;p65"/>
            <p:cNvCxnSpPr/>
            <p:nvPr/>
          </p:nvCxnSpPr>
          <p:spPr>
            <a:xfrm>
              <a:off x="2252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9" name="Google Shape;4629;p65"/>
            <p:cNvCxnSpPr/>
            <p:nvPr/>
          </p:nvCxnSpPr>
          <p:spPr>
            <a:xfrm>
              <a:off x="2307" y="210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0" name="Google Shape;4630;p65"/>
            <p:cNvCxnSpPr/>
            <p:nvPr/>
          </p:nvCxnSpPr>
          <p:spPr>
            <a:xfrm>
              <a:off x="2364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1" name="Google Shape;4631;p65"/>
            <p:cNvCxnSpPr/>
            <p:nvPr/>
          </p:nvCxnSpPr>
          <p:spPr>
            <a:xfrm>
              <a:off x="2425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2" name="Google Shape;4632;p65"/>
            <p:cNvCxnSpPr/>
            <p:nvPr/>
          </p:nvCxnSpPr>
          <p:spPr>
            <a:xfrm>
              <a:off x="2481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3" name="Google Shape;4633;p65"/>
            <p:cNvCxnSpPr/>
            <p:nvPr/>
          </p:nvCxnSpPr>
          <p:spPr>
            <a:xfrm>
              <a:off x="2196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34" name="Google Shape;4634;p65"/>
            <p:cNvSpPr/>
            <p:nvPr/>
          </p:nvSpPr>
          <p:spPr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5" name="Google Shape;4635;p65"/>
            <p:cNvSpPr/>
            <p:nvPr/>
          </p:nvSpPr>
          <p:spPr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6" name="Google Shape;4636;p65"/>
            <p:cNvSpPr/>
            <p:nvPr/>
          </p:nvSpPr>
          <p:spPr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7" name="Google Shape;4637;p65"/>
            <p:cNvSpPr/>
            <p:nvPr/>
          </p:nvSpPr>
          <p:spPr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8" name="Google Shape;4638;p65"/>
            <p:cNvSpPr/>
            <p:nvPr/>
          </p:nvSpPr>
          <p:spPr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descr="Alice" id="4639" name="Google Shape;46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3753" y="1673452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640" name="Google Shape;4640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2953" y="1687739"/>
            <a:ext cx="676275" cy="690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1" name="Google Shape;4641;p65"/>
          <p:cNvCxnSpPr/>
          <p:nvPr/>
        </p:nvCxnSpPr>
        <p:spPr>
          <a:xfrm>
            <a:off x="3492678" y="2021114"/>
            <a:ext cx="903288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2" name="Google Shape;4642;p65"/>
          <p:cNvCxnSpPr/>
          <p:nvPr/>
        </p:nvCxnSpPr>
        <p:spPr>
          <a:xfrm>
            <a:off x="5123041" y="2017939"/>
            <a:ext cx="903287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43" name="Google Shape;4643;p65"/>
          <p:cNvGrpSpPr/>
          <p:nvPr/>
        </p:nvGrpSpPr>
        <p:grpSpPr>
          <a:xfrm>
            <a:off x="6699252" y="1424214"/>
            <a:ext cx="1816276" cy="1182356"/>
            <a:chOff x="6699252" y="1424214"/>
            <a:chExt cx="1816276" cy="1182356"/>
          </a:xfrm>
        </p:grpSpPr>
        <p:sp>
          <p:nvSpPr>
            <p:cNvPr id="4644" name="Google Shape;4644;p65"/>
            <p:cNvSpPr txBox="1"/>
            <p:nvPr/>
          </p:nvSpPr>
          <p:spPr>
            <a:xfrm>
              <a:off x="6699252" y="1424214"/>
              <a:ext cx="1786114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e-mail access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protocol</a:t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5" name="Google Shape;4645;p65"/>
            <p:cNvCxnSpPr/>
            <p:nvPr/>
          </p:nvCxnSpPr>
          <p:spPr>
            <a:xfrm>
              <a:off x="6742291" y="2014764"/>
              <a:ext cx="1697037" cy="158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46" name="Google Shape;4646;p65"/>
            <p:cNvSpPr txBox="1"/>
            <p:nvPr/>
          </p:nvSpPr>
          <p:spPr>
            <a:xfrm>
              <a:off x="7064731" y="2043339"/>
              <a:ext cx="1450797" cy="563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(e.g.,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IMAP, HTTP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</p:grpSp>
      <p:grpSp>
        <p:nvGrpSpPr>
          <p:cNvPr id="4647" name="Google Shape;4647;p65"/>
          <p:cNvGrpSpPr/>
          <p:nvPr/>
        </p:nvGrpSpPr>
        <p:grpSpPr>
          <a:xfrm>
            <a:off x="2556053" y="1535339"/>
            <a:ext cx="912813" cy="1054100"/>
            <a:chOff x="3574" y="550"/>
            <a:chExt cx="575" cy="664"/>
          </a:xfrm>
        </p:grpSpPr>
        <p:grpSp>
          <p:nvGrpSpPr>
            <p:cNvPr id="4648" name="Google Shape;4648;p6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649" name="Google Shape;4649;p6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50" name="Google Shape;4650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1" name="Google Shape;4651;p6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6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3" name="Google Shape;4653;p65"/>
          <p:cNvGrpSpPr/>
          <p:nvPr/>
        </p:nvGrpSpPr>
        <p:grpSpPr>
          <a:xfrm>
            <a:off x="8456791" y="1538514"/>
            <a:ext cx="912812" cy="1054100"/>
            <a:chOff x="3574" y="550"/>
            <a:chExt cx="575" cy="664"/>
          </a:xfrm>
        </p:grpSpPr>
        <p:grpSp>
          <p:nvGrpSpPr>
            <p:cNvPr id="4654" name="Google Shape;4654;p6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655" name="Google Shape;4655;p6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56" name="Google Shape;4656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7" name="Google Shape;4657;p6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6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9" name="Google Shape;4659;p65"/>
          <p:cNvSpPr txBox="1"/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delivery/storage of e-mail messages to receiver’s server</a:t>
            </a:r>
            <a:endParaRPr/>
          </a:p>
          <a:p>
            <a:pPr indent="-222250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access protocol: retrieval from server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IMAP: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Internet Mail Access Protocol [RFC 3501]: messages stored on server, IMAP provides retrieval, deletion, folders of stored messages on server</a:t>
            </a:r>
            <a:endParaRPr/>
          </a:p>
          <a:p>
            <a:pPr indent="-288925" lvl="0" marL="34607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gmail, Hotmail, Yahoo!Mail, etc. provides web-based interface on top of STMP (to send), IMAP (or POP) to retrieve e-mail messages</a:t>
            </a:r>
            <a:endParaRPr/>
          </a:p>
          <a:p>
            <a:pPr indent="-920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0" name="Google Shape;466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5" name="Shape 4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Google Shape;4666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67" name="Google Shape;4667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verview of SMTP commands" id="4668" name="Google Shape;466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6350"/>
            <a:ext cx="7747000" cy="68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2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3" name="Google Shape;4673;p6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74" name="Google Shape;4674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tting up IMAP in Outlook" id="4675" name="Google Shape;467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146050"/>
            <a:ext cx="7747000" cy="65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0" name="Shape 4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1" name="Google Shape;4681;p6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4682" name="Google Shape;4682;p6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3" name="Google Shape;4683;p6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4" name="Google Shape;4684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4685" name="Google Shape;468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0" name="Shape 4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1" name="Google Shape;4691;p6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Domain Name System</a:t>
            </a:r>
            <a:endParaRPr sz="4400"/>
          </a:p>
        </p:txBody>
      </p:sp>
      <p:sp>
        <p:nvSpPr>
          <p:cNvPr id="4692" name="Google Shape;4692;p69"/>
          <p:cNvSpPr txBox="1"/>
          <p:nvPr/>
        </p:nvSpPr>
        <p:spPr>
          <a:xfrm>
            <a:off x="753721" y="1340962"/>
            <a:ext cx="490197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people: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many identifiers: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SSN, name, passport #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Internet hosts, routers: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 (32 bit) - used for addressing datagrams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“name”, e.g., cs.umass.edu - used by humans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to map between IP address and name, and vice versa ?</a:t>
            </a:r>
            <a:endParaRPr/>
          </a:p>
        </p:txBody>
      </p:sp>
      <p:sp>
        <p:nvSpPr>
          <p:cNvPr id="4693" name="Google Shape;4693;p69"/>
          <p:cNvSpPr txBox="1"/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Domain Name System (DNS):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implemented in hierarchy of many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name servers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application-layer protocol: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hosts, DNS servers communicate to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resolve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 (address/name translation)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Internet function,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implemented as application-layer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complexity at network’s “edge”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4" name="Google Shape;4694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9" name="Shape 4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" name="Google Shape;4700;p7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services, structure</a:t>
            </a:r>
            <a:endParaRPr sz="4400"/>
          </a:p>
        </p:txBody>
      </p:sp>
      <p:sp>
        <p:nvSpPr>
          <p:cNvPr id="4701" name="Google Shape;4701;p70"/>
          <p:cNvSpPr txBox="1"/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Why not centralize DNS?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volume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distant centralized database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p70"/>
          <p:cNvSpPr txBox="1"/>
          <p:nvPr/>
        </p:nvSpPr>
        <p:spPr>
          <a:xfrm>
            <a:off x="731837" y="1300163"/>
            <a:ext cx="580866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services: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hostname-to-IP-address translation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aliasing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canonical, alias names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 aliasing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distribution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replicated Web servers: many IP addresses correspond to one name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03" name="Google Shape;4703;p70"/>
          <p:cNvSpPr txBox="1"/>
          <p:nvPr/>
        </p:nvSpPr>
        <p:spPr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1788" lvl="0" marL="346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doesn‘t scale!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Comcast DNS servers alone: 600B DNS queries/day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 DNS servers alone: 2.2T DNS queries/day</a:t>
            </a:r>
            <a:endParaRPr/>
          </a:p>
        </p:txBody>
      </p:sp>
      <p:sp>
        <p:nvSpPr>
          <p:cNvPr id="4704" name="Google Shape;470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9" name="Shape 4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" name="Google Shape;4710;p71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4711" name="Google Shape;4711;p71"/>
          <p:cNvSpPr txBox="1"/>
          <p:nvPr/>
        </p:nvSpPr>
        <p:spPr>
          <a:xfrm>
            <a:off x="731837" y="1300163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/>
          </a:p>
        </p:txBody>
      </p:sp>
      <p:sp>
        <p:nvSpPr>
          <p:cNvPr id="4712" name="Google Shape;4712;p71"/>
          <p:cNvSpPr txBox="1"/>
          <p:nvPr/>
        </p:nvSpPr>
        <p:spPr>
          <a:xfrm>
            <a:off x="716718" y="228108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13" name="Google Shape;4713;p71"/>
          <p:cNvSpPr txBox="1"/>
          <p:nvPr/>
        </p:nvSpPr>
        <p:spPr>
          <a:xfrm>
            <a:off x="716717" y="443230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14" name="Google Shape;4714;p71"/>
          <p:cNvSpPr txBox="1"/>
          <p:nvPr/>
        </p:nvSpPr>
        <p:spPr>
          <a:xfrm>
            <a:off x="750584" y="5871634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4715" name="Google Shape;471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4716" name="Google Shape;4716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1" name="Shape 4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p7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a distributed, hierarchical </a:t>
            </a:r>
            <a:r>
              <a:rPr lang="en-US"/>
              <a:t>d</a:t>
            </a:r>
            <a:r>
              <a:rPr lang="en-US" sz="4400"/>
              <a:t>atabase</a:t>
            </a:r>
            <a:endParaRPr sz="4400"/>
          </a:p>
        </p:txBody>
      </p:sp>
      <p:sp>
        <p:nvSpPr>
          <p:cNvPr id="4723" name="Google Shape;4723;p72"/>
          <p:cNvSpPr txBox="1"/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 wants IP address for 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; 1</a:t>
            </a:r>
            <a:r>
              <a:rPr b="0" baseline="3000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approximation: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root server to find .com 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.com DNS server to get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 to get 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24" name="Google Shape;4724;p72"/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4725" name="Google Shape;4725;p72"/>
            <p:cNvSpPr txBox="1"/>
            <p:nvPr/>
          </p:nvSpPr>
          <p:spPr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.com DNS servers</a:t>
              </a:r>
              <a:endParaRPr/>
            </a:p>
          </p:txBody>
        </p:sp>
        <p:sp>
          <p:nvSpPr>
            <p:cNvPr id="4726" name="Google Shape;4726;p72"/>
            <p:cNvSpPr txBox="1"/>
            <p:nvPr/>
          </p:nvSpPr>
          <p:spPr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.org DNS servers</a:t>
              </a:r>
              <a:endParaRPr/>
            </a:p>
          </p:txBody>
        </p:sp>
        <p:sp>
          <p:nvSpPr>
            <p:cNvPr id="4727" name="Google Shape;4727;p72"/>
            <p:cNvSpPr txBox="1"/>
            <p:nvPr/>
          </p:nvSpPr>
          <p:spPr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.edu DNS servers</a:t>
              </a:r>
              <a:endParaRPr/>
            </a:p>
          </p:txBody>
        </p:sp>
        <p:cxnSp>
          <p:nvCxnSpPr>
            <p:cNvPr id="4728" name="Google Shape;4728;p72"/>
            <p:cNvCxnSpPr/>
            <p:nvPr/>
          </p:nvCxnSpPr>
          <p:spPr>
            <a:xfrm flipH="1">
              <a:off x="2538547" y="1831861"/>
              <a:ext cx="2075302" cy="60110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9" name="Google Shape;4729;p72"/>
            <p:cNvCxnSpPr/>
            <p:nvPr/>
          </p:nvCxnSpPr>
          <p:spPr>
            <a:xfrm>
              <a:off x="4901588" y="1815164"/>
              <a:ext cx="0" cy="61640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0" name="Google Shape;4730;p72"/>
            <p:cNvCxnSpPr/>
            <p:nvPr/>
          </p:nvCxnSpPr>
          <p:spPr>
            <a:xfrm>
              <a:off x="5257908" y="1831861"/>
              <a:ext cx="2146864" cy="6011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31" name="Google Shape;4731;p72"/>
            <p:cNvSpPr txBox="1"/>
            <p:nvPr/>
          </p:nvSpPr>
          <p:spPr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32" name="Google Shape;4732;p72"/>
            <p:cNvSpPr txBox="1"/>
            <p:nvPr/>
          </p:nvSpPr>
          <p:spPr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33" name="Google Shape;4733;p72"/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Top Level Domain</a:t>
              </a:r>
              <a:endParaRPr/>
            </a:p>
          </p:txBody>
        </p:sp>
      </p:grpSp>
      <p:grpSp>
        <p:nvGrpSpPr>
          <p:cNvPr id="4734" name="Google Shape;4734;p72"/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4735" name="Google Shape;4735;p72"/>
            <p:cNvSpPr txBox="1"/>
            <p:nvPr/>
          </p:nvSpPr>
          <p:spPr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Root DNS Servers</a:t>
              </a:r>
              <a:endParaRPr/>
            </a:p>
          </p:txBody>
        </p:sp>
        <p:sp>
          <p:nvSpPr>
            <p:cNvPr id="4736" name="Google Shape;4736;p72"/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/>
            </a:p>
          </p:txBody>
        </p:sp>
      </p:grpSp>
      <p:grpSp>
        <p:nvGrpSpPr>
          <p:cNvPr id="4737" name="Google Shape;4737;p72"/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4738" name="Google Shape;4738;p72"/>
            <p:cNvSpPr txBox="1"/>
            <p:nvPr/>
          </p:nvSpPr>
          <p:spPr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nyu.edu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4739" name="Google Shape;4739;p72"/>
            <p:cNvSpPr txBox="1"/>
            <p:nvPr/>
          </p:nvSpPr>
          <p:spPr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umass.edu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0" name="Google Shape;4740;p72"/>
            <p:cNvCxnSpPr/>
            <p:nvPr/>
          </p:nvCxnSpPr>
          <p:spPr>
            <a:xfrm flipH="1">
              <a:off x="6774130" y="2766905"/>
              <a:ext cx="559079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1" name="Google Shape;4741;p72"/>
            <p:cNvCxnSpPr/>
            <p:nvPr/>
          </p:nvCxnSpPr>
          <p:spPr>
            <a:xfrm>
              <a:off x="7762582" y="2766905"/>
              <a:ext cx="500935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2" name="Google Shape;4742;p72"/>
            <p:cNvSpPr txBox="1"/>
            <p:nvPr/>
          </p:nvSpPr>
          <p:spPr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yahoo.com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4743" name="Google Shape;4743;p72"/>
            <p:cNvSpPr txBox="1"/>
            <p:nvPr/>
          </p:nvSpPr>
          <p:spPr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amazon.com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4" name="Google Shape;4744;p72"/>
            <p:cNvCxnSpPr/>
            <p:nvPr/>
          </p:nvCxnSpPr>
          <p:spPr>
            <a:xfrm flipH="1">
              <a:off x="1666383" y="2773863"/>
              <a:ext cx="369738" cy="41325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5" name="Google Shape;4745;p72"/>
            <p:cNvCxnSpPr/>
            <p:nvPr/>
          </p:nvCxnSpPr>
          <p:spPr>
            <a:xfrm>
              <a:off x="2538547" y="2773863"/>
              <a:ext cx="429373" cy="425779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6" name="Google Shape;4746;p72"/>
            <p:cNvSpPr txBox="1"/>
            <p:nvPr/>
          </p:nvSpPr>
          <p:spPr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pbs.org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7" name="Google Shape;4747;p72"/>
            <p:cNvCxnSpPr/>
            <p:nvPr/>
          </p:nvCxnSpPr>
          <p:spPr>
            <a:xfrm>
              <a:off x="4904570" y="2766905"/>
              <a:ext cx="0" cy="41743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8" name="Google Shape;4748;p72"/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Authoritative</a:t>
              </a:r>
              <a:endParaRPr/>
            </a:p>
          </p:txBody>
        </p:sp>
        <p:sp>
          <p:nvSpPr>
            <p:cNvPr id="4749" name="Google Shape;4749;p72"/>
            <p:cNvSpPr txBox="1"/>
            <p:nvPr/>
          </p:nvSpPr>
          <p:spPr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0" name="Google Shape;4750;p72"/>
            <p:cNvSpPr txBox="1"/>
            <p:nvPr/>
          </p:nvSpPr>
          <p:spPr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1" name="Google Shape;4751;p72"/>
            <p:cNvSpPr txBox="1"/>
            <p:nvPr/>
          </p:nvSpPr>
          <p:spPr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2" name="Google Shape;4752;p72"/>
            <p:cNvSpPr txBox="1"/>
            <p:nvPr/>
          </p:nvSpPr>
          <p:spPr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4753" name="Google Shape;4753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8" name="Shape 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9" name="Google Shape;475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464" y="1529543"/>
            <a:ext cx="7122656" cy="21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4760" name="Google Shape;4760;p73"/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1" name="Google Shape;4761;p7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62" name="Google Shape;4762;p73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</p:txBody>
      </p:sp>
      <p:sp>
        <p:nvSpPr>
          <p:cNvPr id="4763" name="Google Shape;4763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8" name="Shape 4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9" name="Google Shape;4769;p7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pic>
        <p:nvPicPr>
          <p:cNvPr id="4770" name="Google Shape;477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00" y="2856025"/>
            <a:ext cx="62611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1" name="Google Shape;4771;p74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DNSSEC – provides security (authentication, message integrity)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2" name="Google Shape;4772;p74"/>
          <p:cNvSpPr/>
          <p:nvPr/>
        </p:nvSpPr>
        <p:spPr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2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3" name="Google Shape;4773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7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80" name="Google Shape;4780;p75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1" name="Google Shape;4781;p75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authoritative DNS servers: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2" name="Google Shape;478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3122476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3" name="Google Shape;4783;p75"/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784" name="Google Shape;4784;p75"/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85" name="Google Shape;4785;p75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786" name="Google Shape;4786;p75"/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4787" name="Google Shape;4787;p75"/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88" name="Google Shape;4788;p75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789" name="Google Shape;478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4" name="Shape 4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5" name="Google Shape;4795;p7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Local DNS name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96" name="Google Shape;4796;p76"/>
          <p:cNvSpPr txBox="1"/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host makes DNS query, it is sent to its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returns reply, answering: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its local cache of recent name-to-address translation pairs (possibly out of date!)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forwarding request into DNS hierarchy for resolution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 b="0" i="0" sz="2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doesn’t strictly belong to hierarchy</a:t>
            </a:r>
            <a:endParaRPr/>
          </a:p>
        </p:txBody>
      </p:sp>
      <p:sp>
        <p:nvSpPr>
          <p:cNvPr id="4797" name="Google Shape;4797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2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3" name="Google Shape;4803;p7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iterated query</a:t>
            </a:r>
            <a:endParaRPr sz="4400"/>
          </a:p>
        </p:txBody>
      </p:sp>
      <p:sp>
        <p:nvSpPr>
          <p:cNvPr id="4804" name="Google Shape;4804;p77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5" name="Google Shape;4805;p77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6" name="Google Shape;4806;p77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7" name="Google Shape;4807;p77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8" name="Google Shape;4808;p77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9" name="Google Shape;4809;p77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0" name="Google Shape;4810;p77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1" name="Google Shape;4811;p77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2" name="Google Shape;4812;p77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3" name="Google Shape;4813;p77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4" name="Google Shape;4814;p77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815" name="Google Shape;4815;p77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4816" name="Google Shape;4816;p77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7" name="Google Shape;4817;p77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8" name="Google Shape;4818;p77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9" name="Google Shape;4819;p77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0" name="Google Shape;4820;p77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1" name="Google Shape;4821;p77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2" name="Google Shape;4822;p77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3" name="Google Shape;4823;p77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4" name="Google Shape;4824;p77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5" name="Google Shape;4825;p77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6" name="Google Shape;4826;p77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7" name="Google Shape;4827;p77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8" name="Google Shape;4828;p77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9" name="Google Shape;4829;p77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0" name="Google Shape;4830;p77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4831" name="Google Shape;4831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2" name="Google Shape;4832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3" name="Google Shape;4833;p77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4834" name="Google Shape;4834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5" name="Google Shape;4835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6" name="Google Shape;4836;p77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4837" name="Google Shape;4837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8" name="Google Shape;4838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9" name="Google Shape;4839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0" name="Google Shape;4840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1" name="Google Shape;4841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42" name="Google Shape;4842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843" name="Google Shape;4843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4" name="Google Shape;4844;p77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5" name="Google Shape;4845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46" name="Google Shape;4846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47" name="Google Shape;4847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8" name="Google Shape;4848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9" name="Google Shape;4849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0" name="Google Shape;4850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1" name="Google Shape;4851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852" name="Google Shape;4852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3" name="Google Shape;4853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4" name="Google Shape;4854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5" name="Google Shape;4855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856" name="Google Shape;4856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7" name="Google Shape;4857;p77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8" name="Google Shape;4858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9" name="Google Shape;4859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0" name="Google Shape;4860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1" name="Google Shape;4861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2" name="Google Shape;4862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3" name="Google Shape;4863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9" name="Google Shape;4869;p77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4870" name="Google Shape;4870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2" name="Google Shape;4872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75" name="Google Shape;4875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876" name="Google Shape;4876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7" name="Google Shape;4877;p77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78" name="Google Shape;4878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79" name="Google Shape;4879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80" name="Google Shape;4880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1" name="Google Shape;4881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2" name="Google Shape;4882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3" name="Google Shape;4883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4" name="Google Shape;4884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885" name="Google Shape;4885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6" name="Google Shape;4886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7" name="Google Shape;4887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8" name="Google Shape;4888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889" name="Google Shape;4889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0" name="Google Shape;4890;p77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1" name="Google Shape;4891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4" name="Google Shape;4894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8" name="Google Shape;4898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1" name="Google Shape;4901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2" name="Google Shape;4902;p77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4903" name="Google Shape;4903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5" name="Google Shape;4905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6" name="Google Shape;4906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08" name="Google Shape;4908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909" name="Google Shape;4909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0" name="Google Shape;4910;p77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1" name="Google Shape;4911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2" name="Google Shape;4912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913" name="Google Shape;4913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4" name="Google Shape;4914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5" name="Google Shape;4915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6" name="Google Shape;4916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7" name="Google Shape;4917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918" name="Google Shape;4918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9" name="Google Shape;4919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0" name="Google Shape;4920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21" name="Google Shape;4921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22" name="Google Shape;4922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77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4" name="Google Shape;4924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5" name="Google Shape;4925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6" name="Google Shape;4926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7" name="Google Shape;4927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8" name="Google Shape;4928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0" name="Google Shape;4930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3" name="Google Shape;4933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4" name="Google Shape;4934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5" name="Google Shape;4935;p77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4936" name="Google Shape;4936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7" name="Google Shape;4937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8" name="Google Shape;4938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9" name="Google Shape;4939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0" name="Google Shape;4940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1" name="Google Shape;4941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942" name="Google Shape;4942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3" name="Google Shape;4943;p77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4" name="Google Shape;4944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5" name="Google Shape;4945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946" name="Google Shape;4946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7" name="Google Shape;4947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8" name="Google Shape;4948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9" name="Google Shape;4949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0" name="Google Shape;4950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951" name="Google Shape;4951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2" name="Google Shape;4952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3" name="Google Shape;4953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4" name="Google Shape;4954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55" name="Google Shape;4955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6" name="Google Shape;4956;p77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7" name="Google Shape;4957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8" name="Google Shape;4958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9" name="Google Shape;4959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0" name="Google Shape;4960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1" name="Google Shape;4961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2" name="Google Shape;4962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3" name="Google Shape;4963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4" name="Google Shape;4964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5" name="Google Shape;4965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6" name="Google Shape;4966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7" name="Google Shape;4967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8" name="Google Shape;4968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3" name="Shape 4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4" name="Google Shape;4974;p7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recursive query</a:t>
            </a:r>
            <a:endParaRPr sz="4400"/>
          </a:p>
        </p:txBody>
      </p:sp>
      <p:sp>
        <p:nvSpPr>
          <p:cNvPr id="4975" name="Google Shape;4975;p78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6" name="Google Shape;4976;p78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7" name="Google Shape;4977;p78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8" name="Google Shape;4978;p78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9" name="Google Shape;4979;p78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0" name="Google Shape;4980;p78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1" name="Google Shape;4981;p78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2" name="Google Shape;4982;p78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3" name="Google Shape;4983;p78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984" name="Google Shape;4984;p78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4985" name="Google Shape;4985;p78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p78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7" name="Google Shape;4987;p78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8" name="Google Shape;4988;p78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9" name="Google Shape;4989;p78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0" name="Google Shape;4990;p78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1" name="Google Shape;4991;p78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2" name="Google Shape;4992;p78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3" name="Google Shape;4993;p78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4" name="Google Shape;4994;p78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5" name="Google Shape;4995;p78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6" name="Google Shape;4996;p78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7" name="Google Shape;4997;p78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8" name="Google Shape;4998;p78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9" name="Google Shape;4999;p78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5000" name="Google Shape;5000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1" name="Google Shape;5001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2" name="Google Shape;5002;p78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5003" name="Google Shape;5003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4" name="Google Shape;5004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5" name="Google Shape;5005;p78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5006" name="Google Shape;5006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7" name="Google Shape;5007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8" name="Google Shape;5008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9" name="Google Shape;5009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0" name="Google Shape;5010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1" name="Google Shape;5011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12" name="Google Shape;5012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3" name="Google Shape;5013;p7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4" name="Google Shape;5014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5" name="Google Shape;5015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16" name="Google Shape;5016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7" name="Google Shape;5017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8" name="Google Shape;5018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9" name="Google Shape;5019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0" name="Google Shape;5020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21" name="Google Shape;5021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2" name="Google Shape;5022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3" name="Google Shape;5023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4" name="Google Shape;5024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25" name="Google Shape;5025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6" name="Google Shape;5026;p7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7" name="Google Shape;5027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9" name="Google Shape;5029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0" name="Google Shape;5030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1" name="Google Shape;5031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2" name="Google Shape;5032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3" name="Google Shape;5033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4" name="Google Shape;5034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5" name="Google Shape;5035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6" name="Google Shape;5036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7" name="Google Shape;5037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8" name="Google Shape;5038;p78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5039" name="Google Shape;5039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0" name="Google Shape;5040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1" name="Google Shape;5041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2" name="Google Shape;5042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3" name="Google Shape;5043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4" name="Google Shape;5044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45" name="Google Shape;5045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6" name="Google Shape;5046;p7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7" name="Google Shape;5047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8" name="Google Shape;5048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49" name="Google Shape;5049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0" name="Google Shape;5050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51" name="Google Shape;5051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2" name="Google Shape;5052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3" name="Google Shape;5053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54" name="Google Shape;5054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5" name="Google Shape;5055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56" name="Google Shape;5056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7" name="Google Shape;5057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58" name="Google Shape;5058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9" name="Google Shape;5059;p7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60" name="Google Shape;5060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1" name="Google Shape;5061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2" name="Google Shape;5062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3" name="Google Shape;5063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4" name="Google Shape;5064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5" name="Google Shape;5065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6" name="Google Shape;5066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7" name="Google Shape;5067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8" name="Google Shape;5068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9" name="Google Shape;5069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0" name="Google Shape;5070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1" name="Google Shape;5071;p78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5072" name="Google Shape;5072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3" name="Google Shape;5073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4" name="Google Shape;5074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6" name="Google Shape;5076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77" name="Google Shape;5077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78" name="Google Shape;5078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9" name="Google Shape;5079;p7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0" name="Google Shape;5080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1" name="Google Shape;5081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82" name="Google Shape;5082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3" name="Google Shape;5083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4" name="Google Shape;5084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5" name="Google Shape;5085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6" name="Google Shape;5086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87" name="Google Shape;5087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8" name="Google Shape;5088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9" name="Google Shape;5089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90" name="Google Shape;5090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91" name="Google Shape;5091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2" name="Google Shape;5092;p7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93" name="Google Shape;5093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4" name="Google Shape;5094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5" name="Google Shape;5095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6" name="Google Shape;5096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7" name="Google Shape;5097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8" name="Google Shape;5098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9" name="Google Shape;5099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0" name="Google Shape;5100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1" name="Google Shape;5101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2" name="Google Shape;5102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3" name="Google Shape;5103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04" name="Google Shape;5104;p78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5105" name="Google Shape;5105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6" name="Google Shape;5106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7" name="Google Shape;5107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8" name="Google Shape;5108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9" name="Google Shape;5109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0" name="Google Shape;5110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111" name="Google Shape;5111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2" name="Google Shape;5112;p7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3" name="Google Shape;5113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4" name="Google Shape;5114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115" name="Google Shape;5115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6" name="Google Shape;5116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7" name="Google Shape;5117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8" name="Google Shape;5118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9" name="Google Shape;5119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120" name="Google Shape;5120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1" name="Google Shape;5121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22" name="Google Shape;5122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23" name="Google Shape;5123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124" name="Google Shape;5124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5" name="Google Shape;5125;p7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26" name="Google Shape;5126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7" name="Google Shape;5127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8" name="Google Shape;5128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9" name="Google Shape;5129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0" name="Google Shape;5130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4" name="Google Shape;5134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5" name="Google Shape;5135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6" name="Google Shape;5136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7" name="Google Shape;5137;p78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138" name="Google Shape;5138;p78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4" name="Shape 5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5" name="Google Shape;5145;p7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Caching DNS Information</a:t>
            </a:r>
            <a:endParaRPr sz="4400"/>
          </a:p>
        </p:txBody>
      </p:sp>
      <p:sp>
        <p:nvSpPr>
          <p:cNvPr id="5146" name="Google Shape;5146;p79"/>
          <p:cNvSpPr txBox="1"/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(any) name server learns mapping, it 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caches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mapping, and i</a:t>
            </a: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mmediately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returns a cached mapping in response to a query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caching improves response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entries timeout (disappear) after some time (TTL)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TLD servers typically cached in local name servers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cached entries may be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out-of-date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named host changes IP address, may not be known Internet-wide until all TTLs expire!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best-effort name-to-address translation!</a:t>
            </a:r>
            <a:endParaRPr b="0" i="1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7" name="Google Shape;5147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2" name="Shape 5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3" name="Google Shape;5153;p80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records</a:t>
            </a:r>
            <a:endParaRPr sz="4400"/>
          </a:p>
        </p:txBody>
      </p:sp>
      <p:sp>
        <p:nvSpPr>
          <p:cNvPr id="5154" name="Google Shape;5154;p80"/>
          <p:cNvSpPr txBox="1"/>
          <p:nvPr/>
        </p:nvSpPr>
        <p:spPr>
          <a:xfrm>
            <a:off x="1347787" y="1358900"/>
            <a:ext cx="95742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distributed database storing resource records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(RR)</a:t>
            </a:r>
            <a:endParaRPr/>
          </a:p>
        </p:txBody>
      </p:sp>
      <p:sp>
        <p:nvSpPr>
          <p:cNvPr id="5155" name="Google Shape;5155;p80"/>
          <p:cNvSpPr txBox="1"/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type=NS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domain (e.g., foo.com)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hostname of authoritative name server for this domain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6" name="Google Shape;5156;p80"/>
          <p:cNvSpPr txBox="1"/>
          <p:nvPr/>
        </p:nvSpPr>
        <p:spPr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 format: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name, value, type, ttl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7" name="Google Shape;5157;p80"/>
          <p:cNvSpPr/>
          <p:nvPr/>
        </p:nvSpPr>
        <p:spPr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type=A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hostname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IP address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8" name="Google Shape;5158;p80"/>
          <p:cNvSpPr/>
          <p:nvPr/>
        </p:nvSpPr>
        <p:spPr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type=CNAME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alias name for some “canonical” (the real) 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www.ibm.com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really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servereast.backup2.ibm.com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canonical 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9" name="Google Shape;5159;p80"/>
          <p:cNvSpPr/>
          <p:nvPr/>
        </p:nvSpPr>
        <p:spPr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type=MX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name of SMTP mail server associated with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0" name="Google Shape;5160;p80"/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6" name="Shape 5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7" name="Google Shape;5167;p81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168" name="Google Shape;5168;p81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69" name="Google Shape;5169;p81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0" name="Google Shape;5170;p81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1" name="Google Shape;5171;p81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2" name="Google Shape;5172;p81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3" name="Google Shape;5173;p81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4" name="Google Shape;5174;p81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5" name="Google Shape;5175;p81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76" name="Google Shape;5176;p81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177" name="Google Shape;5177;p81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178" name="Google Shape;5178;p81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179" name="Google Shape;5179;p81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180" name="Google Shape;5180;p81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181" name="Google Shape;5181;p81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182" name="Google Shape;5182;p81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183" name="Google Shape;5183;p81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184" name="Google Shape;5184;p81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185" name="Google Shape;5185;p81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186" name="Google Shape;5186;p81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187" name="Google Shape;5187;p81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188" name="Google Shape;5188;p81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89" name="Google Shape;5189;p81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190" name="Google Shape;5190;p81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191" name="Google Shape;5191;p81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192" name="Google Shape;5192;p81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93" name="Google Shape;5193;p81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194" name="Google Shape;5194;p81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195" name="Google Shape;5195;p81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6" name="Google Shape;5196;p81"/>
          <p:cNvSpPr/>
          <p:nvPr/>
        </p:nvSpPr>
        <p:spPr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 header: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identification: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16 bit # for query, reply to query uses same #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flags: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query or reply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desired 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available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reply is authoritative</a:t>
            </a:r>
            <a:endParaRPr/>
          </a:p>
        </p:txBody>
      </p:sp>
      <p:cxnSp>
        <p:nvCxnSpPr>
          <p:cNvPr id="5197" name="Google Shape;5197;p81"/>
          <p:cNvCxnSpPr/>
          <p:nvPr/>
        </p:nvCxnSpPr>
        <p:spPr>
          <a:xfrm flipH="1" rot="10800000">
            <a:off x="3710672" y="2610864"/>
            <a:ext cx="2902854" cy="295274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8" name="Google Shape;5198;p81"/>
          <p:cNvCxnSpPr/>
          <p:nvPr/>
        </p:nvCxnSpPr>
        <p:spPr>
          <a:xfrm flipH="1" rot="10800000">
            <a:off x="2352675" y="2590227"/>
            <a:ext cx="6383337" cy="1208088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9" name="Google Shape;5199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4" name="Shape 5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5" name="Google Shape;5205;p82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206" name="Google Shape;5206;p82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07" name="Google Shape;5207;p82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8" name="Google Shape;5208;p82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9" name="Google Shape;5209;p82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0" name="Google Shape;5210;p82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1" name="Google Shape;5211;p82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2" name="Google Shape;5212;p82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3" name="Google Shape;5213;p82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14" name="Google Shape;5214;p82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215" name="Google Shape;5215;p82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216" name="Google Shape;5216;p82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217" name="Google Shape;5217;p82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218" name="Google Shape;5218;p82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219" name="Google Shape;5219;p82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220" name="Google Shape;5220;p82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221" name="Google Shape;5221;p82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222" name="Google Shape;5222;p82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223" name="Google Shape;5223;p82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224" name="Google Shape;5224;p82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225" name="Google Shape;5225;p82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226" name="Google Shape;5226;p82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27" name="Google Shape;5227;p82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228" name="Google Shape;5228;p82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229" name="Google Shape;5229;p82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230" name="Google Shape;5230;p82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31" name="Google Shape;5231;p82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232" name="Google Shape;5232;p82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3" name="Google Shape;5233;p82"/>
          <p:cNvSpPr txBox="1"/>
          <p:nvPr/>
        </p:nvSpPr>
        <p:spPr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name, type fields for a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4" name="Google Shape;5234;p82"/>
          <p:cNvSpPr txBox="1"/>
          <p:nvPr/>
        </p:nvSpPr>
        <p:spPr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RRs in response to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5" name="Google Shape;5235;p82"/>
          <p:cNvSpPr txBox="1"/>
          <p:nvPr/>
        </p:nvSpPr>
        <p:spPr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for authoritative servers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6" name="Google Shape;5236;p82"/>
          <p:cNvSpPr txBox="1"/>
          <p:nvPr/>
        </p:nvSpPr>
        <p:spPr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 “ helpful” info that may be used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7" name="Google Shape;5237;p82"/>
          <p:cNvCxnSpPr/>
          <p:nvPr/>
        </p:nvCxnSpPr>
        <p:spPr>
          <a:xfrm rot="10800000">
            <a:off x="5070475" y="6126704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8" name="Google Shape;5238;p82"/>
          <p:cNvCxnSpPr/>
          <p:nvPr/>
        </p:nvCxnSpPr>
        <p:spPr>
          <a:xfrm rot="10800000">
            <a:off x="5078413" y="54678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9" name="Google Shape;5239;p82"/>
          <p:cNvCxnSpPr/>
          <p:nvPr/>
        </p:nvCxnSpPr>
        <p:spPr>
          <a:xfrm rot="10800000">
            <a:off x="5086350" y="4809079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0" name="Google Shape;5240;p82"/>
          <p:cNvCxnSpPr/>
          <p:nvPr/>
        </p:nvCxnSpPr>
        <p:spPr>
          <a:xfrm rot="10800000">
            <a:off x="5072063" y="40835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1" name="Google Shape;5241;p82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242" name="Google Shape;5242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7" name="Shape 5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8" name="Google Shape;5248;p83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Getting your info into the DNS</a:t>
            </a:r>
            <a:endParaRPr sz="4400"/>
          </a:p>
        </p:txBody>
      </p:sp>
      <p:sp>
        <p:nvSpPr>
          <p:cNvPr id="5249" name="Google Shape;5249;p83"/>
          <p:cNvSpPr txBox="1"/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new startup “Network Utopia”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 name networkuptopia.com at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registrar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Network Solutions)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names, IP addresses of authoritative name server (primary and secondary)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 inserts NS, A RRs into .com TLD server: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63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(networkutopia.com, dns1.networkutopia.com, 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Noto Sans Symbol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(dns1.networkutopia.com, 212.212.212.1, A)</a:t>
            </a:r>
            <a:endParaRPr b="0" i="0" sz="2200" u="none" cap="none" strike="noStrike">
              <a:solidFill>
                <a:srgbClr val="ED7D3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authoritative server locally with IP address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212.212.212.1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A record for www.networkuptopia.com</a:t>
            </a:r>
            <a:endParaRPr/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MX record for networkutopia.com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5" name="Shape 5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6" name="Google Shape;5256;p84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security</a:t>
            </a:r>
            <a:endParaRPr sz="4400"/>
          </a:p>
        </p:txBody>
      </p:sp>
      <p:sp>
        <p:nvSpPr>
          <p:cNvPr id="5257" name="Google Shape;5257;p84"/>
          <p:cNvSpPr txBox="1"/>
          <p:nvPr/>
        </p:nvSpPr>
        <p:spPr>
          <a:xfrm>
            <a:off x="838200" y="1526094"/>
            <a:ext cx="502557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DDoS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root servers with traffic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successful to date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filtering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servers cache IPs of TLD servers, allowing root server bypass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TLD servers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potentially more dangerous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omic Sans M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58" name="Google Shape;5258;p84"/>
          <p:cNvSpPr txBox="1"/>
          <p:nvPr/>
        </p:nvSpPr>
        <p:spPr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1218A"/>
                </a:solidFill>
                <a:latin typeface="Calibri"/>
                <a:ea typeface="Calibri"/>
                <a:cs typeface="Calibri"/>
                <a:sym typeface="Calibri"/>
              </a:rPr>
              <a:t>Spoofing  attacks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intercept DNS queries, returning bogus replies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cache poisoning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4033: DNSSEC authentication services</a:t>
            </a:r>
            <a:endParaRPr/>
          </a:p>
        </p:txBody>
      </p:sp>
      <p:sp>
        <p:nvSpPr>
          <p:cNvPr id="5259" name="Google Shape;5259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3" name="Shape 5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4" name="Google Shape;5264;p8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CNAME Records</a:t>
            </a:r>
            <a:endParaRPr/>
          </a:p>
        </p:txBody>
      </p:sp>
      <p:sp>
        <p:nvSpPr>
          <p:cNvPr id="5265" name="Google Shape;5265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66" name="Google Shape;5266;p8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medium confidence" id="5267" name="Google Shape;526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00" y="1482151"/>
            <a:ext cx="7772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1" name="Shape 5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2" name="Google Shape;5272;p86"/>
          <p:cNvSpPr txBox="1"/>
          <p:nvPr>
            <p:ph type="title"/>
          </p:nvPr>
        </p:nvSpPr>
        <p:spPr>
          <a:xfrm>
            <a:off x="838199" y="291090"/>
            <a:ext cx="10515599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Types</a:t>
            </a:r>
            <a:endParaRPr/>
          </a:p>
        </p:txBody>
      </p:sp>
      <p:pic>
        <p:nvPicPr>
          <p:cNvPr descr="Text&#10;&#10;Description automatically generated with low confidence" id="5273" name="Google Shape;52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4493" y="1863801"/>
            <a:ext cx="6703013" cy="4440746"/>
          </a:xfrm>
          <a:prstGeom prst="rect">
            <a:avLst/>
          </a:prstGeom>
          <a:noFill/>
          <a:ln>
            <a:noFill/>
          </a:ln>
        </p:spPr>
      </p:pic>
      <p:sp>
        <p:nvSpPr>
          <p:cNvPr id="5274" name="Google Shape;5274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Application Layer: 2-</a:t>
            </a: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8" name="Shape 5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9" name="Google Shape;5279;p8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80" name="Google Shape;5280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iagram&#10;&#10;Description automatically generated" id="5281" name="Google Shape;528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262679"/>
            <a:ext cx="7772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6" name="Shape 5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7" name="Google Shape;5287;p8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5288" name="Google Shape;5288;p8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9" name="Google Shape;5289;p8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0" name="Google Shape;5290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5291" name="Google Shape;5291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6" name="Shape 5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7" name="Google Shape;5297;p89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8" name="Google Shape;5298;p89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9" name="Google Shape;5299;p89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0" name="Google Shape;5300;p89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1" name="Google Shape;5301;p89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2" name="Google Shape;5302;p89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303" name="Google Shape;5303;p89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304" name="Google Shape;5304;p89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305" name="Google Shape;5305;p89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6" name="Google Shape;5306;p89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307" name="Google Shape;5307;p8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8" name="Google Shape;5308;p8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09" name="Google Shape;5309;p8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0" name="Google Shape;5310;p8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1" name="Google Shape;5311;p8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2" name="Google Shape;5312;p8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3" name="Google Shape;5313;p8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4" name="Google Shape;5314;p8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315" name="Google Shape;5315;p89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316" name="Google Shape;5316;p8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7" name="Google Shape;5317;p8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18" name="Google Shape;5318;p8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9" name="Google Shape;5319;p8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0" name="Google Shape;5320;p8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1" name="Google Shape;5321;p8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2" name="Google Shape;5322;p8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3" name="Google Shape;5323;p8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24" name="Google Shape;5324;p89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Google Shape;5325;p89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326" name="Google Shape;5326;p89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Google Shape;5327;p89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328" name="Google Shape;5328;p89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329" name="Google Shape;5329;p89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0" name="Google Shape;5330;p89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1" name="Google Shape;5331;p89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2" name="Google Shape;5332;p89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3" name="Google Shape;5333;p89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4" name="Google Shape;5334;p89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5" name="Google Shape;5335;p89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6" name="Google Shape;5336;p89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7" name="Google Shape;5337;p89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8" name="Google Shape;5338;p89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9" name="Google Shape;5339;p89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0" name="Google Shape;5340;p89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341" name="Google Shape;5341;p89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5342" name="Google Shape;5342;p89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5343" name="Google Shape;5343;p89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4" name="Google Shape;5344;p89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5" name="Google Shape;5345;p89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6" name="Google Shape;5346;p89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7" name="Google Shape;5347;p89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8" name="Google Shape;5348;p89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9" name="Google Shape;5349;p89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0" name="Google Shape;5350;p89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1" name="Google Shape;5351;p89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2" name="Google Shape;5352;p89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3" name="Google Shape;5353;p89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4" name="Google Shape;5354;p89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5" name="Google Shape;5355;p89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89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89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58" name="Google Shape;5358;p89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59" name="Google Shape;5359;p89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0" name="Google Shape;5360;p89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1" name="Google Shape;5361;p89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2" name="Google Shape;5362;p89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3" name="Google Shape;5363;p89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4" name="Google Shape;5364;p89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5" name="Google Shape;5365;p89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6" name="Google Shape;5366;p89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5367" name="Google Shape;536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368" name="Google Shape;536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5369" name="Google Shape;5369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0" name="Google Shape;5370;p89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71" name="Google Shape;5371;p89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72" name="Google Shape;5372;p89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5373" name="Google Shape;5373;p89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4" name="Google Shape;5374;p89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5" name="Google Shape;5375;p89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6" name="Google Shape;5376;p89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7" name="Google Shape;5377;p89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8" name="Google Shape;5378;p89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9" name="Google Shape;5379;p89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0" name="Google Shape;5380;p89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1" name="Google Shape;5381;p89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2" name="Google Shape;5382;p89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3" name="Google Shape;5383;p89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4" name="Google Shape;5384;p89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5" name="Google Shape;5385;p89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6" name="Google Shape;5386;p89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7" name="Google Shape;5387;p89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5388" name="Google Shape;5388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5389" name="Google Shape;5389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90" name="Google Shape;5390;p89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391" name="Google Shape;539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92" name="Google Shape;539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93" name="Google Shape;539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94" name="Google Shape;539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5" name="Google Shape;539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6" name="Google Shape;539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7" name="Google Shape;539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98" name="Google Shape;5398;p89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399" name="Google Shape;5399;p8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0" name="Google Shape;5400;p8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01" name="Google Shape;5401;p8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402" name="Google Shape;5402;p8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3" name="Google Shape;5403;p8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4" name="Google Shape;5404;p8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8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06" name="Google Shape;5406;p89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5407" name="Google Shape;540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08" name="Google Shape;540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09" name="Google Shape;540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10" name="Google Shape;541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1" name="Google Shape;541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2" name="Google Shape;541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3" name="Google Shape;541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14" name="Google Shape;5414;p89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415" name="Google Shape;5415;p8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8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17" name="Google Shape;5417;p8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418" name="Google Shape;5418;p8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8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8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1" name="Google Shape;5421;p8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2" name="Google Shape;5422;p89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5423" name="Google Shape;542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4" name="Google Shape;542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5" name="Google Shape;542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6" name="Google Shape;542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0" name="Google Shape;5430;p89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5431" name="Google Shape;543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2" name="Google Shape;543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3" name="Google Shape;543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4" name="Google Shape;543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8" name="Google Shape;5438;p89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5439" name="Google Shape;543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0" name="Google Shape;544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1" name="Google Shape;544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2" name="Google Shape;544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6" name="Google Shape;5446;p89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447" name="Google Shape;544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8" name="Google Shape;544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9" name="Google Shape;544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0" name="Google Shape;545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1" name="Google Shape;545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4" name="Google Shape;5454;p89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455" name="Google Shape;5455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56" name="Google Shape;5456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7" name="Google Shape;5457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8" name="Google Shape;5458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9" name="Google Shape;5459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2" name="Google Shape;5462;p89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463" name="Google Shape;546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4" name="Google Shape;546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5" name="Google Shape;546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6" name="Google Shape;546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0" name="Google Shape;5470;p89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5471" name="Google Shape;547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2" name="Google Shape;547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3" name="Google Shape;547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4" name="Google Shape;547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8" name="Google Shape;5478;p89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479" name="Google Shape;547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0" name="Google Shape;548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1" name="Google Shape;548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2" name="Google Shape;548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86" name="Google Shape;5486;p89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487" name="Google Shape;548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8" name="Google Shape;548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9" name="Google Shape;548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0" name="Google Shape;549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4" name="Google Shape;5494;p89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495" name="Google Shape;5495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6" name="Google Shape;5496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7" name="Google Shape;5497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8" name="Google Shape;5498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9" name="Google Shape;5499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2" name="Google Shape;5502;p89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503" name="Google Shape;550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04" name="Google Shape;550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5" name="Google Shape;550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6" name="Google Shape;550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7" name="Google Shape;550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0" name="Google Shape;5510;p89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5511" name="Google Shape;551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2" name="Google Shape;551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3" name="Google Shape;551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4" name="Google Shape;551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8" name="Google Shape;5518;p89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5519" name="Google Shape;551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0" name="Google Shape;552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1" name="Google Shape;552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2" name="Google Shape;552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6" name="Google Shape;5526;p89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5527" name="Google Shape;552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8" name="Google Shape;552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9" name="Google Shape;552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0" name="Google Shape;553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4" name="Google Shape;5534;p89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5535" name="Google Shape;5535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536" name="Google Shape;5536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7" name="Google Shape;5537;p89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538" name="Google Shape;5538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9" name="Google Shape;5539;p89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0" name="Google Shape;5540;p89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1" name="Google Shape;5541;p89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2" name="Google Shape;5542;p89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3" name="Google Shape;5543;p89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4" name="Google Shape;5544;p8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45" name="Google Shape;5545;p8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5546" name="Google Shape;5546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8" name="Google Shape;5548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9" name="Google Shape;5549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0" name="Google Shape;5550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1" name="Google Shape;5551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52" name="Google Shape;5552;p89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3" name="Google Shape;5553;p89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4" name="Google Shape;5554;p8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5" name="Google Shape;5555;p8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6" name="Google Shape;5556;p89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7" name="Google Shape;5557;p89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8" name="Google Shape;5558;p89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5559" name="Google Shape;5559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560" name="Google Shape;5560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61" name="Google Shape;5561;p89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5562" name="Google Shape;5562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563" name="Google Shape;5563;p8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4" name="Google Shape;5564;p89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565" name="Google Shape;5565;p8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6" name="Google Shape;5566;p89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7" name="Google Shape;5567;p89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8" name="Google Shape;5568;p89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9" name="Google Shape;5569;p89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0" name="Google Shape;5570;p89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1" name="Google Shape;5571;p89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72" name="Google Shape;5572;p89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5573" name="Google Shape;5573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4" name="Google Shape;5574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5" name="Google Shape;5575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6" name="Google Shape;5576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7" name="Google Shape;5577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8" name="Google Shape;5578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79" name="Google Shape;5579;p89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89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1" name="Google Shape;5581;p89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2" name="Google Shape;5582;p89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3" name="Google Shape;5583;p89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4" name="Google Shape;5584;p89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5" name="Google Shape;5585;p89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5586" name="Google Shape;5586;p8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587" name="Google Shape;5587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88" name="Google Shape;5588;p89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5589" name="Google Shape;5589;p89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5590" name="Google Shape;5590;p8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591" name="Google Shape;5591;p8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5592" name="Google Shape;5592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3" name="Google Shape;5593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4" name="Google Shape;5594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595" name="Google Shape;5595;p89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5596" name="Google Shape;5596;p8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597" name="Google Shape;5597;p8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5598" name="Google Shape;5598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9" name="Google Shape;5599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600" name="Google Shape;5600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5601" name="Google Shape;5601;p89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5602" name="Google Shape;5602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3" name="Google Shape;5603;p8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4" name="Google Shape;5604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5" name="Google Shape;5605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6" name="Google Shape;5606;p8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07" name="Google Shape;5607;p8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608" name="Google Shape;5608;p8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9" name="Google Shape;5609;p8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0" name="Google Shape;5610;p8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1" name="Google Shape;5611;p8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612" name="Google Shape;5612;p8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3" name="Google Shape;5613;p8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4" name="Google Shape;5614;p8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5" name="Google Shape;5615;p8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6" name="Google Shape;5616;p8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617" name="Google Shape;5617;p8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8" name="Google Shape;5618;p8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9" name="Google Shape;5619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20" name="Google Shape;5620;p8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621" name="Google Shape;5621;p8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2" name="Google Shape;5622;p8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23" name="Google Shape;5623;p8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4" name="Google Shape;5624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5" name="Google Shape;5625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6" name="Google Shape;5626;p8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7" name="Google Shape;5627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8" name="Google Shape;5628;p8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9" name="Google Shape;5629;p8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0" name="Google Shape;5630;p8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1" name="Google Shape;5631;p8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2" name="Google Shape;5632;p8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3" name="Google Shape;5633;p8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4" name="Google Shape;5634;p89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635" name="Google Shape;5635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6" name="Google Shape;5636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7" name="Google Shape;5637;p89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638" name="Google Shape;5638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9" name="Google Shape;5639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0" name="Google Shape;5640;p89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641" name="Google Shape;5641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2" name="Google Shape;5642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3" name="Google Shape;5643;p89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5644" name="Google Shape;5644;p8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645" name="Google Shape;5645;p8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6" name="Google Shape;5646;p8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647" name="Google Shape;5647;p8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8" name="Google Shape;5648;p8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9" name="Google Shape;5649;p8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0" name="Google Shape;5650;p8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1" name="Google Shape;5651;p8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2" name="Google Shape;5652;p8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3" name="Google Shape;5653;p8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54" name="Google Shape;5654;p8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655" name="Google Shape;5655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6" name="Google Shape;5656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7" name="Google Shape;5657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8" name="Google Shape;5658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9" name="Google Shape;5659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0" name="Google Shape;5660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61" name="Google Shape;5661;p8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2" name="Google Shape;5662;p8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3" name="Google Shape;5663;p8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4" name="Google Shape;5664;p8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5" name="Google Shape;5665;p8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6" name="Google Shape;5666;p8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7" name="Google Shape;5667;p89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8" name="Google Shape;5668;p89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9" name="Google Shape;5669;p89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0" name="Google Shape;5670;p89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71" name="Google Shape;5671;p89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5672" name="Google Shape;5672;p89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3" name="Google Shape;5673;p89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4" name="Google Shape;5674;p89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75" name="Google Shape;5675;p89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5676" name="Google Shape;5676;p89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7" name="Google Shape;5677;p89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8" name="Google Shape;5678;p89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9" name="Google Shape;5679;p89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0" name="Google Shape;5680;p89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5681" name="Google Shape;5681;p89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2" name="Google Shape;5682;p89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3" name="Google Shape;5683;p89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84" name="Google Shape;5684;p89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5685" name="Google Shape;5685;p89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6" name="Google Shape;5686;p89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7" name="Google Shape;5687;p89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8" name="Google Shape;5688;p89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9" name="Google Shape;5689;p89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0" name="Google Shape;5690;p89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1" name="Google Shape;5691;p89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2" name="Google Shape;5692;p89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3" name="Google Shape;5693;p89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4" name="Google Shape;5694;p89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5" name="Google Shape;5695;p89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6" name="Google Shape;5696;p89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7" name="Google Shape;5697;p89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8" name="Google Shape;5698;p8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Peer-to-peer </a:t>
            </a:r>
            <a:r>
              <a:rPr lang="en-US" sz="3600"/>
              <a:t>(P2P)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5699" name="Google Shape;5699;p89"/>
          <p:cNvSpPr txBox="1"/>
          <p:nvPr/>
        </p:nvSpPr>
        <p:spPr>
          <a:xfrm>
            <a:off x="664326" y="1290326"/>
            <a:ext cx="606784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/>
          </a:p>
          <a:p>
            <a:pPr indent="-225425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and new service demands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file sharing (BitTorrent), streaming (KanKan), VoIP (Skype)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0" name="Google Shape;5700;p89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701" name="Google Shape;5701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2" name="Google Shape;5702;p8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3" name="Google Shape;5703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4" name="Google Shape;5704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5" name="Google Shape;5705;p8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06" name="Google Shape;5706;p8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707" name="Google Shape;5707;p8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8" name="Google Shape;5708;p8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09" name="Google Shape;5709;p8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0" name="Google Shape;5710;p8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711" name="Google Shape;5711;p8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2" name="Google Shape;5712;p8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3" name="Google Shape;5713;p8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4" name="Google Shape;5714;p8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5" name="Google Shape;5715;p8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716" name="Google Shape;5716;p8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7" name="Google Shape;5717;p8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8" name="Google Shape;5718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19" name="Google Shape;5719;p8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720" name="Google Shape;5720;p8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1" name="Google Shape;5721;p8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22" name="Google Shape;5722;p8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3" name="Google Shape;5723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4" name="Google Shape;5724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5" name="Google Shape;5725;p8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6" name="Google Shape;5726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7" name="Google Shape;5727;p8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8" name="Google Shape;5728;p8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9" name="Google Shape;5729;p8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0" name="Google Shape;5730;p8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1" name="Google Shape;5731;p8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2" name="Google Shape;5732;p8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3" name="Google Shape;5733;p89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4" name="Google Shape;5734;p89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5735" name="Google Shape;5735;p89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6" name="Google Shape;5736;p89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37" name="Google Shape;5737;p89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38" name="Google Shape;5738;p89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739" name="Google Shape;5739;p89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0" name="Google Shape;5740;p89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1" name="Google Shape;5741;p89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42" name="Google Shape;5742;p89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43" name="Google Shape;5743;p89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744" name="Google Shape;5744;p89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5745" name="Google Shape;5745;p8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46" name="Google Shape;5746;p8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47" name="Google Shape;5747;p89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5748" name="Google Shape;5748;p8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749" name="Google Shape;5749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0" name="Google Shape;5750;p89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5751" name="Google Shape;5751;p8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2" name="Google Shape;5752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3" name="Google Shape;5753;p89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5754" name="Google Shape;5754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5" name="Google Shape;5755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6" name="Google Shape;5756;p89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5757" name="Google Shape;5757;p8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758" name="Google Shape;5758;p8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9" name="Google Shape;5759;p8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760" name="Google Shape;5760;p8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1" name="Google Shape;5761;p8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2" name="Google Shape;5762;p8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3" name="Google Shape;5763;p8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4" name="Google Shape;5764;p8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5" name="Google Shape;5765;p8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6" name="Google Shape;5766;p8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67" name="Google Shape;5767;p8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768" name="Google Shape;5768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9" name="Google Shape;5769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0" name="Google Shape;5770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1" name="Google Shape;5771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2" name="Google Shape;5772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3" name="Google Shape;5773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74" name="Google Shape;5774;p8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5" name="Google Shape;5775;p8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6" name="Google Shape;5776;p8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7" name="Google Shape;5777;p8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8" name="Google Shape;5778;p8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9" name="Google Shape;5779;p8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80" name="Google Shape;5780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5" name="Shape 5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6" name="Google Shape;5786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87" name="Google Shape;5787;p9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distribution: client-server vs P2P</a:t>
            </a:r>
            <a:endParaRPr sz="4400"/>
          </a:p>
        </p:txBody>
      </p:sp>
      <p:sp>
        <p:nvSpPr>
          <p:cNvPr id="5788" name="Google Shape;5788;p90"/>
          <p:cNvSpPr txBox="1"/>
          <p:nvPr/>
        </p:nvSpPr>
        <p:spPr>
          <a:xfrm>
            <a:off x="863043" y="1302088"/>
            <a:ext cx="10515600" cy="129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42925" lvl="0" marL="6080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much time to distribute file (size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from one server to 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 peers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38125" lvl="1" marL="8588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upload/download capacity is limited resource</a:t>
            </a:r>
            <a:endParaRPr/>
          </a:p>
        </p:txBody>
      </p:sp>
      <p:sp>
        <p:nvSpPr>
          <p:cNvPr id="5789" name="Google Shape;5789;p90"/>
          <p:cNvSpPr/>
          <p:nvPr/>
        </p:nvSpPr>
        <p:spPr>
          <a:xfrm>
            <a:off x="4208462" y="4079079"/>
            <a:ext cx="3775075" cy="1755775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0" name="Google Shape;5790;p90"/>
          <p:cNvCxnSpPr/>
          <p:nvPr/>
        </p:nvCxnSpPr>
        <p:spPr>
          <a:xfrm>
            <a:off x="3743324" y="4042566"/>
            <a:ext cx="803275" cy="311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1" name="Google Shape;5791;p90"/>
          <p:cNvSpPr txBox="1"/>
          <p:nvPr/>
        </p:nvSpPr>
        <p:spPr>
          <a:xfrm>
            <a:off x="4027487" y="3840954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5792" name="Google Shape;5792;p90"/>
          <p:cNvCxnSpPr/>
          <p:nvPr/>
        </p:nvCxnSpPr>
        <p:spPr>
          <a:xfrm>
            <a:off x="3300412" y="4953791"/>
            <a:ext cx="101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3" name="Google Shape;5793;p90"/>
          <p:cNvCxnSpPr/>
          <p:nvPr/>
        </p:nvCxnSpPr>
        <p:spPr>
          <a:xfrm rot="10800000">
            <a:off x="3355974" y="5101429"/>
            <a:ext cx="100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4" name="Google Shape;5794;p90"/>
          <p:cNvSpPr txBox="1"/>
          <p:nvPr/>
        </p:nvSpPr>
        <p:spPr>
          <a:xfrm>
            <a:off x="3589337" y="4564854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795" name="Google Shape;5795;p90"/>
          <p:cNvSpPr txBox="1"/>
          <p:nvPr/>
        </p:nvSpPr>
        <p:spPr>
          <a:xfrm>
            <a:off x="3570287" y="5079204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796" name="Google Shape;5796;p90"/>
          <p:cNvSpPr txBox="1"/>
          <p:nvPr/>
        </p:nvSpPr>
        <p:spPr>
          <a:xfrm>
            <a:off x="3070224" y="4063204"/>
            <a:ext cx="11731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baseline="-2500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7" name="Google Shape;5797;p90"/>
          <p:cNvSpPr txBox="1"/>
          <p:nvPr/>
        </p:nvSpPr>
        <p:spPr>
          <a:xfrm>
            <a:off x="4605759" y="4590254"/>
            <a:ext cx="28344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network (with abundant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bandwidth)</a:t>
            </a:r>
            <a:endParaRPr/>
          </a:p>
        </p:txBody>
      </p:sp>
      <p:sp>
        <p:nvSpPr>
          <p:cNvPr id="5798" name="Google Shape;5798;p90"/>
          <p:cNvSpPr txBox="1"/>
          <p:nvPr/>
        </p:nvSpPr>
        <p:spPr>
          <a:xfrm>
            <a:off x="2178049" y="3815554"/>
            <a:ext cx="139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file, size F</a:t>
            </a:r>
            <a:endParaRPr b="0" baseline="-2500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9" name="Google Shape;5799;p90"/>
          <p:cNvSpPr txBox="1"/>
          <p:nvPr/>
        </p:nvSpPr>
        <p:spPr>
          <a:xfrm>
            <a:off x="3348953" y="2641737"/>
            <a:ext cx="248651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server upload capacity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0" name="Google Shape;5800;p90"/>
          <p:cNvSpPr txBox="1"/>
          <p:nvPr/>
        </p:nvSpPr>
        <p:spPr>
          <a:xfrm>
            <a:off x="8201024" y="5482429"/>
            <a:ext cx="259080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 i upload capacity</a:t>
            </a:r>
            <a:endParaRPr/>
          </a:p>
        </p:txBody>
      </p:sp>
      <p:sp>
        <p:nvSpPr>
          <p:cNvPr id="5801" name="Google Shape;5801;p90"/>
          <p:cNvSpPr txBox="1"/>
          <p:nvPr/>
        </p:nvSpPr>
        <p:spPr>
          <a:xfrm>
            <a:off x="8263868" y="3463243"/>
            <a:ext cx="274320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 i download capacity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90"/>
          <p:cNvSpPr/>
          <p:nvPr/>
        </p:nvSpPr>
        <p:spPr>
          <a:xfrm>
            <a:off x="2687637" y="3261516"/>
            <a:ext cx="592137" cy="581025"/>
          </a:xfrm>
          <a:prstGeom prst="can">
            <a:avLst>
              <a:gd fmla="val 2021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03" name="Google Shape;5803;p90"/>
          <p:cNvGrpSpPr/>
          <p:nvPr/>
        </p:nvGrpSpPr>
        <p:grpSpPr>
          <a:xfrm>
            <a:off x="5422899" y="3539329"/>
            <a:ext cx="2138363" cy="903287"/>
            <a:chOff x="2204" y="2030"/>
            <a:chExt cx="1347" cy="774"/>
          </a:xfrm>
        </p:grpSpPr>
        <p:sp>
          <p:nvSpPr>
            <p:cNvPr id="5804" name="Google Shape;5804;p90"/>
            <p:cNvSpPr txBox="1"/>
            <p:nvPr/>
          </p:nvSpPr>
          <p:spPr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5805" name="Google Shape;5805;p90"/>
            <p:cNvCxnSpPr/>
            <p:nvPr/>
          </p:nvCxnSpPr>
          <p:spPr>
            <a:xfrm flipH="1" rot="10800000">
              <a:off x="2997" y="2133"/>
              <a:ext cx="200" cy="65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06" name="Google Shape;5806;p90"/>
            <p:cNvCxnSpPr/>
            <p:nvPr/>
          </p:nvCxnSpPr>
          <p:spPr>
            <a:xfrm flipH="1">
              <a:off x="3082" y="2141"/>
              <a:ext cx="208" cy="6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07" name="Google Shape;5807;p90"/>
            <p:cNvSpPr txBox="1"/>
            <p:nvPr/>
          </p:nvSpPr>
          <p:spPr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808" name="Google Shape;5808;p90"/>
            <p:cNvSpPr txBox="1"/>
            <p:nvPr/>
          </p:nvSpPr>
          <p:spPr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809" name="Google Shape;5809;p90"/>
            <p:cNvCxnSpPr/>
            <p:nvPr/>
          </p:nvCxnSpPr>
          <p:spPr>
            <a:xfrm flipH="1" rot="10800000">
              <a:off x="2345" y="2030"/>
              <a:ext cx="200" cy="65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10" name="Google Shape;5810;p90"/>
            <p:cNvCxnSpPr/>
            <p:nvPr/>
          </p:nvCxnSpPr>
          <p:spPr>
            <a:xfrm flipH="1">
              <a:off x="2430" y="2038"/>
              <a:ext cx="208" cy="6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11" name="Google Shape;5811;p90"/>
            <p:cNvSpPr txBox="1"/>
            <p:nvPr/>
          </p:nvSpPr>
          <p:spPr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cxnSp>
        <p:nvCxnSpPr>
          <p:cNvPr id="5812" name="Google Shape;5812;p90"/>
          <p:cNvCxnSpPr/>
          <p:nvPr/>
        </p:nvCxnSpPr>
        <p:spPr>
          <a:xfrm>
            <a:off x="7954962" y="4758529"/>
            <a:ext cx="116522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3" name="Google Shape;5813;p90"/>
          <p:cNvCxnSpPr/>
          <p:nvPr/>
        </p:nvCxnSpPr>
        <p:spPr>
          <a:xfrm>
            <a:off x="7962899" y="4910929"/>
            <a:ext cx="116522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814" name="Google Shape;5814;p90"/>
          <p:cNvSpPr txBox="1"/>
          <p:nvPr/>
        </p:nvSpPr>
        <p:spPr>
          <a:xfrm>
            <a:off x="8115299" y="4347366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5815" name="Google Shape;5815;p90"/>
          <p:cNvSpPr txBox="1"/>
          <p:nvPr/>
        </p:nvSpPr>
        <p:spPr>
          <a:xfrm>
            <a:off x="8139112" y="4880766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cxnSp>
        <p:nvCxnSpPr>
          <p:cNvPr id="5816" name="Google Shape;5816;p90"/>
          <p:cNvCxnSpPr/>
          <p:nvPr/>
        </p:nvCxnSpPr>
        <p:spPr>
          <a:xfrm>
            <a:off x="4189412" y="3223416"/>
            <a:ext cx="0" cy="6635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90"/>
          <p:cNvCxnSpPr/>
          <p:nvPr/>
        </p:nvCxnSpPr>
        <p:spPr>
          <a:xfrm flipH="1">
            <a:off x="8402637" y="4137816"/>
            <a:ext cx="369887" cy="414338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8" name="Google Shape;5818;p90"/>
          <p:cNvCxnSpPr/>
          <p:nvPr/>
        </p:nvCxnSpPr>
        <p:spPr>
          <a:xfrm rot="10800000">
            <a:off x="8432799" y="5083966"/>
            <a:ext cx="369888" cy="414338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19" name="Google Shape;5819;p90"/>
          <p:cNvGrpSpPr/>
          <p:nvPr/>
        </p:nvGrpSpPr>
        <p:grpSpPr>
          <a:xfrm>
            <a:off x="3459162" y="3323429"/>
            <a:ext cx="465137" cy="803275"/>
            <a:chOff x="4140" y="429"/>
            <a:chExt cx="1425" cy="2396"/>
          </a:xfrm>
        </p:grpSpPr>
        <p:sp>
          <p:nvSpPr>
            <p:cNvPr id="5820" name="Google Shape;5820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1" name="Google Shape;5821;p90"/>
            <p:cNvSpPr/>
            <p:nvPr/>
          </p:nvSpPr>
          <p:spPr>
            <a:xfrm>
              <a:off x="4208" y="429"/>
              <a:ext cx="1046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2" name="Google Shape;5822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3" name="Google Shape;5823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4" name="Google Shape;5824;p90"/>
            <p:cNvSpPr/>
            <p:nvPr/>
          </p:nvSpPr>
          <p:spPr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5" name="Google Shape;5825;p90"/>
            <p:cNvGrpSpPr/>
            <p:nvPr/>
          </p:nvGrpSpPr>
          <p:grpSpPr>
            <a:xfrm>
              <a:off x="4748" y="666"/>
              <a:ext cx="583" cy="147"/>
              <a:chOff x="613" y="2566"/>
              <a:chExt cx="728" cy="141"/>
            </a:xfrm>
          </p:grpSpPr>
          <p:sp>
            <p:nvSpPr>
              <p:cNvPr id="5826" name="Google Shape;5826;p90"/>
              <p:cNvSpPr/>
              <p:nvPr/>
            </p:nvSpPr>
            <p:spPr>
              <a:xfrm>
                <a:off x="613" y="2566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7" name="Google Shape;5827;p90"/>
              <p:cNvSpPr/>
              <p:nvPr/>
            </p:nvSpPr>
            <p:spPr>
              <a:xfrm>
                <a:off x="631" y="2584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28" name="Google Shape;5828;p90"/>
            <p:cNvSpPr/>
            <p:nvPr/>
          </p:nvSpPr>
          <p:spPr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9" name="Google Shape;5829;p90"/>
            <p:cNvGrpSpPr/>
            <p:nvPr/>
          </p:nvGrpSpPr>
          <p:grpSpPr>
            <a:xfrm>
              <a:off x="4748" y="992"/>
              <a:ext cx="579" cy="137"/>
              <a:chOff x="615" y="2566"/>
              <a:chExt cx="722" cy="142"/>
            </a:xfrm>
          </p:grpSpPr>
          <p:sp>
            <p:nvSpPr>
              <p:cNvPr id="5830" name="Google Shape;5830;p90"/>
              <p:cNvSpPr/>
              <p:nvPr/>
            </p:nvSpPr>
            <p:spPr>
              <a:xfrm>
                <a:off x="615" y="2566"/>
                <a:ext cx="722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1" name="Google Shape;5831;p90"/>
              <p:cNvSpPr/>
              <p:nvPr/>
            </p:nvSpPr>
            <p:spPr>
              <a:xfrm>
                <a:off x="633" y="2581"/>
                <a:ext cx="68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32" name="Google Shape;5832;p90"/>
            <p:cNvSpPr/>
            <p:nvPr/>
          </p:nvSpPr>
          <p:spPr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3" name="Google Shape;5833;p90"/>
            <p:cNvSpPr/>
            <p:nvPr/>
          </p:nvSpPr>
          <p:spPr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4" name="Google Shape;5834;p90"/>
            <p:cNvGrpSpPr/>
            <p:nvPr/>
          </p:nvGrpSpPr>
          <p:grpSpPr>
            <a:xfrm>
              <a:off x="4733" y="1627"/>
              <a:ext cx="584" cy="151"/>
              <a:chOff x="612" y="2568"/>
              <a:chExt cx="727" cy="139"/>
            </a:xfrm>
          </p:grpSpPr>
          <p:sp>
            <p:nvSpPr>
              <p:cNvPr id="5835" name="Google Shape;5835;p90"/>
              <p:cNvSpPr/>
              <p:nvPr/>
            </p:nvSpPr>
            <p:spPr>
              <a:xfrm>
                <a:off x="612" y="2568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6" name="Google Shape;5836;p90"/>
              <p:cNvSpPr/>
              <p:nvPr/>
            </p:nvSpPr>
            <p:spPr>
              <a:xfrm>
                <a:off x="630" y="2585"/>
                <a:ext cx="691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37" name="Google Shape;5837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8" name="Google Shape;5838;p90"/>
            <p:cNvGrpSpPr/>
            <p:nvPr/>
          </p:nvGrpSpPr>
          <p:grpSpPr>
            <a:xfrm>
              <a:off x="4738" y="1329"/>
              <a:ext cx="584" cy="137"/>
              <a:chOff x="613" y="2570"/>
              <a:chExt cx="727" cy="137"/>
            </a:xfrm>
          </p:grpSpPr>
          <p:sp>
            <p:nvSpPr>
              <p:cNvPr id="5839" name="Google Shape;5839;p90"/>
              <p:cNvSpPr/>
              <p:nvPr/>
            </p:nvSpPr>
            <p:spPr>
              <a:xfrm>
                <a:off x="613" y="2570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0" name="Google Shape;5840;p90"/>
              <p:cNvSpPr/>
              <p:nvPr/>
            </p:nvSpPr>
            <p:spPr>
              <a:xfrm>
                <a:off x="631" y="2584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41" name="Google Shape;5841;p90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2" name="Google Shape;5842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3" name="Google Shape;5843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4" name="Google Shape;5844;p90"/>
            <p:cNvSpPr/>
            <p:nvPr/>
          </p:nvSpPr>
          <p:spPr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5" name="Google Shape;5845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6" name="Google Shape;5846;p90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7" name="Google Shape;5847;p90"/>
            <p:cNvSpPr/>
            <p:nvPr/>
          </p:nvSpPr>
          <p:spPr>
            <a:xfrm>
              <a:off x="4208" y="2711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8" name="Google Shape;5848;p90"/>
            <p:cNvSpPr/>
            <p:nvPr/>
          </p:nvSpPr>
          <p:spPr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9" name="Google Shape;5849;p90"/>
            <p:cNvSpPr/>
            <p:nvPr/>
          </p:nvSpPr>
          <p:spPr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0" name="Google Shape;5850;p90"/>
            <p:cNvSpPr/>
            <p:nvPr/>
          </p:nvSpPr>
          <p:spPr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1" name="Google Shape;5851;p90"/>
            <p:cNvSpPr/>
            <p:nvPr/>
          </p:nvSpPr>
          <p:spPr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2" name="Google Shape;5852;p90"/>
          <p:cNvGrpSpPr/>
          <p:nvPr/>
        </p:nvGrpSpPr>
        <p:grpSpPr>
          <a:xfrm>
            <a:off x="2368549" y="4626766"/>
            <a:ext cx="925513" cy="795338"/>
            <a:chOff x="-44" y="1473"/>
            <a:chExt cx="981" cy="1105"/>
          </a:xfrm>
        </p:grpSpPr>
        <p:pic>
          <p:nvPicPr>
            <p:cNvPr descr="desktop_computer_stylized_medium" id="5853" name="Google Shape;5853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4" name="Google Shape;5854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5" name="Google Shape;5855;p90"/>
          <p:cNvGrpSpPr/>
          <p:nvPr/>
        </p:nvGrpSpPr>
        <p:grpSpPr>
          <a:xfrm>
            <a:off x="5589587" y="2807491"/>
            <a:ext cx="925512" cy="795338"/>
            <a:chOff x="-44" y="1473"/>
            <a:chExt cx="981" cy="1105"/>
          </a:xfrm>
        </p:grpSpPr>
        <p:pic>
          <p:nvPicPr>
            <p:cNvPr descr="desktop_computer_stylized_medium" id="5856" name="Google Shape;5856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7" name="Google Shape;5857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8" name="Google Shape;5858;p90"/>
          <p:cNvGrpSpPr/>
          <p:nvPr/>
        </p:nvGrpSpPr>
        <p:grpSpPr>
          <a:xfrm>
            <a:off x="6634162" y="2948779"/>
            <a:ext cx="925512" cy="795337"/>
            <a:chOff x="-44" y="1473"/>
            <a:chExt cx="981" cy="1105"/>
          </a:xfrm>
        </p:grpSpPr>
        <p:pic>
          <p:nvPicPr>
            <p:cNvPr descr="desktop_computer_stylized_medium" id="5859" name="Google Shape;5859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0" name="Google Shape;5860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1" name="Google Shape;5861;p90"/>
          <p:cNvGrpSpPr/>
          <p:nvPr/>
        </p:nvGrpSpPr>
        <p:grpSpPr>
          <a:xfrm flipH="1">
            <a:off x="9104312" y="4396579"/>
            <a:ext cx="925512" cy="795337"/>
            <a:chOff x="-44" y="1473"/>
            <a:chExt cx="981" cy="1105"/>
          </a:xfrm>
        </p:grpSpPr>
        <p:pic>
          <p:nvPicPr>
            <p:cNvPr descr="desktop_computer_stylized_medium" id="5862" name="Google Shape;5862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3" name="Google Shape;5863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8" name="Shape 5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9" name="Google Shape;5869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70" name="Google Shape;5870;p9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 time: client-server</a:t>
            </a:r>
            <a:endParaRPr sz="4400"/>
          </a:p>
        </p:txBody>
      </p:sp>
      <p:sp>
        <p:nvSpPr>
          <p:cNvPr id="5871" name="Google Shape;5871;p91"/>
          <p:cNvSpPr txBox="1"/>
          <p:nvPr/>
        </p:nvSpPr>
        <p:spPr>
          <a:xfrm>
            <a:off x="545123" y="1309462"/>
            <a:ext cx="6098355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 transmission: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sequentially send (upload)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copies: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one copy: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copies: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2" name="Google Shape;5872;p91"/>
          <p:cNvSpPr/>
          <p:nvPr/>
        </p:nvSpPr>
        <p:spPr>
          <a:xfrm>
            <a:off x="649899" y="3219848"/>
            <a:ext cx="5773736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 must download file copy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min client download rate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client download 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3" name="Google Shape;5873;p91"/>
          <p:cNvGrpSpPr/>
          <p:nvPr/>
        </p:nvGrpSpPr>
        <p:grpSpPr>
          <a:xfrm>
            <a:off x="6796266" y="1727769"/>
            <a:ext cx="4518025" cy="2036762"/>
            <a:chOff x="4471988" y="1284288"/>
            <a:chExt cx="4518025" cy="2036762"/>
          </a:xfrm>
        </p:grpSpPr>
        <p:sp>
          <p:nvSpPr>
            <p:cNvPr id="5874" name="Google Shape;5874;p91"/>
            <p:cNvSpPr/>
            <p:nvPr/>
          </p:nvSpPr>
          <p:spPr>
            <a:xfrm>
              <a:off x="5600700" y="2111375"/>
              <a:ext cx="2136775" cy="1209675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75" name="Google Shape;5875;p91"/>
            <p:cNvCxnSpPr/>
            <p:nvPr/>
          </p:nvCxnSpPr>
          <p:spPr>
            <a:xfrm>
              <a:off x="5338763" y="2085975"/>
              <a:ext cx="455612" cy="2143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76" name="Google Shape;5876;p91"/>
            <p:cNvSpPr txBox="1"/>
            <p:nvPr/>
          </p:nvSpPr>
          <p:spPr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  <p:cxnSp>
          <p:nvCxnSpPr>
            <p:cNvPr id="5877" name="Google Shape;5877;p91"/>
            <p:cNvCxnSpPr/>
            <p:nvPr/>
          </p:nvCxnSpPr>
          <p:spPr>
            <a:xfrm>
              <a:off x="5089525" y="2713038"/>
              <a:ext cx="574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78" name="Google Shape;5878;p91"/>
            <p:cNvCxnSpPr/>
            <p:nvPr/>
          </p:nvCxnSpPr>
          <p:spPr>
            <a:xfrm rot="10800000">
              <a:off x="5119688" y="2814638"/>
              <a:ext cx="566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79" name="Google Shape;5879;p91"/>
            <p:cNvSpPr txBox="1"/>
            <p:nvPr/>
          </p:nvSpPr>
          <p:spPr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0" name="Google Shape;5880;p91"/>
            <p:cNvSpPr/>
            <p:nvPr/>
          </p:nvSpPr>
          <p:spPr>
            <a:xfrm>
              <a:off x="4740275" y="1562100"/>
              <a:ext cx="334963" cy="401638"/>
            </a:xfrm>
            <a:prstGeom prst="can">
              <a:avLst>
                <a:gd fmla="val 24242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81" name="Google Shape;5881;p91"/>
            <p:cNvCxnSpPr/>
            <p:nvPr/>
          </p:nvCxnSpPr>
          <p:spPr>
            <a:xfrm flipH="1" rot="10800000">
              <a:off x="7000875" y="1819275"/>
              <a:ext cx="180975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2" name="Google Shape;5882;p91"/>
            <p:cNvCxnSpPr/>
            <p:nvPr/>
          </p:nvCxnSpPr>
          <p:spPr>
            <a:xfrm flipH="1">
              <a:off x="7078663" y="1825625"/>
              <a:ext cx="187325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3" name="Google Shape;5883;p91"/>
            <p:cNvCxnSpPr/>
            <p:nvPr/>
          </p:nvCxnSpPr>
          <p:spPr>
            <a:xfrm flipH="1" rot="10800000">
              <a:off x="6416675" y="1736725"/>
              <a:ext cx="179388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4" name="Google Shape;5884;p91"/>
            <p:cNvCxnSpPr/>
            <p:nvPr/>
          </p:nvCxnSpPr>
          <p:spPr>
            <a:xfrm flipH="1">
              <a:off x="6492875" y="1743075"/>
              <a:ext cx="185738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5" name="Google Shape;5885;p91"/>
            <p:cNvCxnSpPr/>
            <p:nvPr/>
          </p:nvCxnSpPr>
          <p:spPr>
            <a:xfrm>
              <a:off x="7723188" y="2579688"/>
              <a:ext cx="65881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86" name="Google Shape;5886;p91"/>
            <p:cNvCxnSpPr/>
            <p:nvPr/>
          </p:nvCxnSpPr>
          <p:spPr>
            <a:xfrm>
              <a:off x="7726363" y="2682875"/>
              <a:ext cx="660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87" name="Google Shape;5887;p91"/>
            <p:cNvSpPr txBox="1"/>
            <p:nvPr/>
          </p:nvSpPr>
          <p:spPr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888" name="Google Shape;5888;p91"/>
            <p:cNvSpPr txBox="1"/>
            <p:nvPr/>
          </p:nvSpPr>
          <p:spPr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889" name="Google Shape;5889;p91"/>
            <p:cNvSpPr txBox="1"/>
            <p:nvPr/>
          </p:nvSpPr>
          <p:spPr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aseline="-25000" i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90" name="Google Shape;5890;p91"/>
            <p:cNvGrpSpPr/>
            <p:nvPr/>
          </p:nvGrpSpPr>
          <p:grpSpPr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5891" name="Google Shape;5891;p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2" name="Google Shape;5892;p91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3" name="Google Shape;5893;p9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4" name="Google Shape;5894;p9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5" name="Google Shape;5895;p91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96" name="Google Shape;5896;p91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5897" name="Google Shape;5897;p91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8" name="Google Shape;5898;p91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99" name="Google Shape;5899;p91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0" name="Google Shape;5900;p91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5901" name="Google Shape;5901;p91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2" name="Google Shape;5902;p91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3" name="Google Shape;5903;p91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4" name="Google Shape;5904;p91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5" name="Google Shape;5905;p91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5906" name="Google Shape;5906;p91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7" name="Google Shape;5907;p91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8" name="Google Shape;5908;p9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9" name="Google Shape;5909;p91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5910" name="Google Shape;5910;p91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1" name="Google Shape;5911;p91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12" name="Google Shape;5912;p91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3" name="Google Shape;5913;p9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4" name="Google Shape;5914;p9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5" name="Google Shape;5915;p91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6" name="Google Shape;5916;p9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7" name="Google Shape;5917;p91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91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91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91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1" name="Google Shape;5921;p91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2" name="Google Shape;5922;p91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3" name="Google Shape;5923;p91"/>
            <p:cNvGrpSpPr/>
            <p:nvPr/>
          </p:nvGrpSpPr>
          <p:grpSpPr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descr="desktop_computer_stylized_medium" id="5924" name="Google Shape;5924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5" name="Google Shape;5925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6" name="Google Shape;5926;p91"/>
            <p:cNvGrpSpPr/>
            <p:nvPr/>
          </p:nvGrpSpPr>
          <p:grpSpPr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5927" name="Google Shape;5927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8" name="Google Shape;5928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9" name="Google Shape;5929;p91"/>
            <p:cNvGrpSpPr/>
            <p:nvPr/>
          </p:nvGrpSpPr>
          <p:grpSpPr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5930" name="Google Shape;5930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1" name="Google Shape;5931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32" name="Google Shape;5932;p91"/>
            <p:cNvGrpSpPr/>
            <p:nvPr/>
          </p:nvGrpSpPr>
          <p:grpSpPr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descr="desktop_computer_stylized_medium" id="5933" name="Google Shape;5933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4" name="Google Shape;5934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935" name="Google Shape;5935;p91"/>
          <p:cNvCxnSpPr/>
          <p:nvPr/>
        </p:nvCxnSpPr>
        <p:spPr>
          <a:xfrm flipH="1" rot="10800000">
            <a:off x="7346884" y="5742831"/>
            <a:ext cx="430213" cy="692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6" name="Google Shape;5936;p91"/>
          <p:cNvSpPr txBox="1"/>
          <p:nvPr/>
        </p:nvSpPr>
        <p:spPr>
          <a:xfrm>
            <a:off x="4493784" y="6271469"/>
            <a:ext cx="2905732" cy="39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increases linearly in N</a:t>
            </a:r>
            <a:endParaRPr/>
          </a:p>
        </p:txBody>
      </p:sp>
      <p:sp>
        <p:nvSpPr>
          <p:cNvPr id="5937" name="Google Shape;5937;p91"/>
          <p:cNvSpPr txBox="1"/>
          <p:nvPr/>
        </p:nvSpPr>
        <p:spPr>
          <a:xfrm>
            <a:off x="2736226" y="5036394"/>
            <a:ext cx="3049233" cy="1036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 distribute F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 clients using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client-server approach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8" name="Google Shape;5938;p91"/>
          <p:cNvSpPr/>
          <p:nvPr/>
        </p:nvSpPr>
        <p:spPr>
          <a:xfrm>
            <a:off x="2518348" y="4964956"/>
            <a:ext cx="7421599" cy="1235075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9" name="Google Shape;5939;p91"/>
          <p:cNvSpPr txBox="1"/>
          <p:nvPr/>
        </p:nvSpPr>
        <p:spPr>
          <a:xfrm>
            <a:off x="5696559" y="5279281"/>
            <a:ext cx="43436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c-s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max{NF/u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,F/d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5940" name="Google Shape;5940;p91"/>
          <p:cNvCxnSpPr/>
          <p:nvPr/>
        </p:nvCxnSpPr>
        <p:spPr>
          <a:xfrm>
            <a:off x="6593497" y="5707906"/>
            <a:ext cx="1746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5" name="Shape 5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6" name="Google Shape;5946;p9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 time: P2P</a:t>
            </a:r>
            <a:endParaRPr sz="4400"/>
          </a:p>
        </p:txBody>
      </p:sp>
      <p:sp>
        <p:nvSpPr>
          <p:cNvPr id="5947" name="Google Shape;5947;p92"/>
          <p:cNvSpPr txBox="1"/>
          <p:nvPr/>
        </p:nvSpPr>
        <p:spPr>
          <a:xfrm>
            <a:off x="755629" y="1323701"/>
            <a:ext cx="6098355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 transmission: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at least one copy: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one copy: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92"/>
          <p:cNvSpPr/>
          <p:nvPr/>
        </p:nvSpPr>
        <p:spPr>
          <a:xfrm>
            <a:off x="877866" y="2707749"/>
            <a:ext cx="5773736" cy="1209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 must download file copy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client download 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9" name="Google Shape;5949;p92"/>
          <p:cNvGrpSpPr/>
          <p:nvPr/>
        </p:nvGrpSpPr>
        <p:grpSpPr>
          <a:xfrm>
            <a:off x="7006772" y="1790995"/>
            <a:ext cx="4518025" cy="2036762"/>
            <a:chOff x="4471988" y="1284288"/>
            <a:chExt cx="4518025" cy="2036762"/>
          </a:xfrm>
        </p:grpSpPr>
        <p:sp>
          <p:nvSpPr>
            <p:cNvPr id="5950" name="Google Shape;5950;p92"/>
            <p:cNvSpPr/>
            <p:nvPr/>
          </p:nvSpPr>
          <p:spPr>
            <a:xfrm>
              <a:off x="5600700" y="2111375"/>
              <a:ext cx="2136775" cy="1209675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51" name="Google Shape;5951;p92"/>
            <p:cNvCxnSpPr/>
            <p:nvPr/>
          </p:nvCxnSpPr>
          <p:spPr>
            <a:xfrm>
              <a:off x="5338763" y="2085975"/>
              <a:ext cx="455612" cy="2143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2" name="Google Shape;5952;p92"/>
            <p:cNvSpPr txBox="1"/>
            <p:nvPr/>
          </p:nvSpPr>
          <p:spPr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  <p:cxnSp>
          <p:nvCxnSpPr>
            <p:cNvPr id="5953" name="Google Shape;5953;p92"/>
            <p:cNvCxnSpPr/>
            <p:nvPr/>
          </p:nvCxnSpPr>
          <p:spPr>
            <a:xfrm>
              <a:off x="5089525" y="2713038"/>
              <a:ext cx="574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54" name="Google Shape;5954;p92"/>
            <p:cNvCxnSpPr/>
            <p:nvPr/>
          </p:nvCxnSpPr>
          <p:spPr>
            <a:xfrm rot="10800000">
              <a:off x="5119688" y="2814638"/>
              <a:ext cx="566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5" name="Google Shape;5955;p92"/>
            <p:cNvSpPr txBox="1"/>
            <p:nvPr/>
          </p:nvSpPr>
          <p:spPr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6" name="Google Shape;5956;p92"/>
            <p:cNvSpPr/>
            <p:nvPr/>
          </p:nvSpPr>
          <p:spPr>
            <a:xfrm>
              <a:off x="4740275" y="1562100"/>
              <a:ext cx="334963" cy="401638"/>
            </a:xfrm>
            <a:prstGeom prst="can">
              <a:avLst>
                <a:gd fmla="val 24242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57" name="Google Shape;5957;p92"/>
            <p:cNvCxnSpPr/>
            <p:nvPr/>
          </p:nvCxnSpPr>
          <p:spPr>
            <a:xfrm flipH="1" rot="10800000">
              <a:off x="7000875" y="1819275"/>
              <a:ext cx="180975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58" name="Google Shape;5958;p92"/>
            <p:cNvCxnSpPr/>
            <p:nvPr/>
          </p:nvCxnSpPr>
          <p:spPr>
            <a:xfrm flipH="1">
              <a:off x="7078663" y="1825625"/>
              <a:ext cx="187325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59" name="Google Shape;5959;p92"/>
            <p:cNvCxnSpPr/>
            <p:nvPr/>
          </p:nvCxnSpPr>
          <p:spPr>
            <a:xfrm flipH="1" rot="10800000">
              <a:off x="6416675" y="1736725"/>
              <a:ext cx="179388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60" name="Google Shape;5960;p92"/>
            <p:cNvCxnSpPr/>
            <p:nvPr/>
          </p:nvCxnSpPr>
          <p:spPr>
            <a:xfrm flipH="1">
              <a:off x="6492875" y="1743075"/>
              <a:ext cx="185738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61" name="Google Shape;5961;p92"/>
            <p:cNvCxnSpPr/>
            <p:nvPr/>
          </p:nvCxnSpPr>
          <p:spPr>
            <a:xfrm>
              <a:off x="7723188" y="2579688"/>
              <a:ext cx="65881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62" name="Google Shape;5962;p92"/>
            <p:cNvCxnSpPr/>
            <p:nvPr/>
          </p:nvCxnSpPr>
          <p:spPr>
            <a:xfrm>
              <a:off x="7726363" y="2682875"/>
              <a:ext cx="660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963" name="Google Shape;5963;p92"/>
            <p:cNvSpPr txBox="1"/>
            <p:nvPr/>
          </p:nvSpPr>
          <p:spPr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964" name="Google Shape;5964;p92"/>
            <p:cNvSpPr txBox="1"/>
            <p:nvPr/>
          </p:nvSpPr>
          <p:spPr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965" name="Google Shape;5965;p92"/>
            <p:cNvSpPr txBox="1"/>
            <p:nvPr/>
          </p:nvSpPr>
          <p:spPr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aseline="-25000" i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66" name="Google Shape;5966;p92"/>
            <p:cNvGrpSpPr/>
            <p:nvPr/>
          </p:nvGrpSpPr>
          <p:grpSpPr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5967" name="Google Shape;5967;p9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8" name="Google Shape;5968;p92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9" name="Google Shape;5969;p9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0" name="Google Shape;5970;p9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1" name="Google Shape;5971;p92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72" name="Google Shape;5972;p92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5973" name="Google Shape;5973;p92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4" name="Google Shape;5974;p92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75" name="Google Shape;5975;p92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76" name="Google Shape;5976;p92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5977" name="Google Shape;5977;p92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8" name="Google Shape;5978;p92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79" name="Google Shape;5979;p92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0" name="Google Shape;5980;p92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81" name="Google Shape;5981;p92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5982" name="Google Shape;5982;p92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3" name="Google Shape;5983;p92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4" name="Google Shape;5984;p9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85" name="Google Shape;5985;p92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5986" name="Google Shape;5986;p92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7" name="Google Shape;5987;p92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8" name="Google Shape;5988;p92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9" name="Google Shape;5989;p9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0" name="Google Shape;5990;p9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1" name="Google Shape;5991;p92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2" name="Google Shape;5992;p9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3" name="Google Shape;5993;p92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4" name="Google Shape;5994;p92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5" name="Google Shape;5995;p92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6" name="Google Shape;5996;p92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7" name="Google Shape;5997;p92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8" name="Google Shape;5998;p92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99" name="Google Shape;5999;p92"/>
            <p:cNvGrpSpPr/>
            <p:nvPr/>
          </p:nvGrpSpPr>
          <p:grpSpPr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descr="desktop_computer_stylized_medium" id="6000" name="Google Shape;6000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1" name="Google Shape;6001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2" name="Google Shape;6002;p92"/>
            <p:cNvGrpSpPr/>
            <p:nvPr/>
          </p:nvGrpSpPr>
          <p:grpSpPr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6003" name="Google Shape;6003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4" name="Google Shape;6004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5" name="Google Shape;6005;p92"/>
            <p:cNvGrpSpPr/>
            <p:nvPr/>
          </p:nvGrpSpPr>
          <p:grpSpPr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6006" name="Google Shape;6006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7" name="Google Shape;6007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8" name="Google Shape;6008;p92"/>
            <p:cNvGrpSpPr/>
            <p:nvPr/>
          </p:nvGrpSpPr>
          <p:grpSpPr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descr="desktop_computer_stylized_medium" id="6009" name="Google Shape;6009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10" name="Google Shape;6010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11" name="Google Shape;6011;p92"/>
          <p:cNvSpPr/>
          <p:nvPr/>
        </p:nvSpPr>
        <p:spPr>
          <a:xfrm>
            <a:off x="865984" y="3876829"/>
            <a:ext cx="8524160" cy="125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aggregate must download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upload rate (limiting max download rate) is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28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6012" name="Google Shape;6012;p92"/>
          <p:cNvSpPr txBox="1"/>
          <p:nvPr/>
        </p:nvSpPr>
        <p:spPr>
          <a:xfrm>
            <a:off x="1496934" y="5088499"/>
            <a:ext cx="2267800" cy="887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 distribute F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 clients using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approach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3" name="Google Shape;6013;p92"/>
          <p:cNvSpPr/>
          <p:nvPr/>
        </p:nvSpPr>
        <p:spPr>
          <a:xfrm>
            <a:off x="1336619" y="4991768"/>
            <a:ext cx="9155099" cy="1006589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4" name="Google Shape;6014;p92"/>
          <p:cNvSpPr txBox="1"/>
          <p:nvPr/>
        </p:nvSpPr>
        <p:spPr>
          <a:xfrm>
            <a:off x="4214018" y="5202837"/>
            <a:ext cx="62620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max{F/u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,F/d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,NF/(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6015" name="Google Shape;6015;p92"/>
          <p:cNvGrpSpPr/>
          <p:nvPr/>
        </p:nvGrpSpPr>
        <p:grpSpPr>
          <a:xfrm>
            <a:off x="3027135" y="5637812"/>
            <a:ext cx="7034618" cy="1072227"/>
            <a:chOff x="3027135" y="5637812"/>
            <a:chExt cx="7034618" cy="1072227"/>
          </a:xfrm>
        </p:grpSpPr>
        <p:cxnSp>
          <p:nvCxnSpPr>
            <p:cNvPr id="6016" name="Google Shape;6016;p92"/>
            <p:cNvCxnSpPr/>
            <p:nvPr/>
          </p:nvCxnSpPr>
          <p:spPr>
            <a:xfrm>
              <a:off x="5247481" y="5669562"/>
              <a:ext cx="174625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7" name="Google Shape;6017;p92"/>
            <p:cNvCxnSpPr/>
            <p:nvPr/>
          </p:nvCxnSpPr>
          <p:spPr>
            <a:xfrm flipH="1" rot="10800000">
              <a:off x="9282594" y="5731183"/>
              <a:ext cx="376235" cy="57991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18" name="Google Shape;6018;p92"/>
            <p:cNvSpPr txBox="1"/>
            <p:nvPr/>
          </p:nvSpPr>
          <p:spPr>
            <a:xfrm>
              <a:off x="3027135" y="6314866"/>
              <a:ext cx="7034618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 but so does this, as each peer brings service capacity</a:t>
              </a:r>
              <a:endParaRPr/>
            </a:p>
          </p:txBody>
        </p:sp>
        <p:cxnSp>
          <p:nvCxnSpPr>
            <p:cNvPr id="6019" name="Google Shape;6019;p92"/>
            <p:cNvCxnSpPr/>
            <p:nvPr/>
          </p:nvCxnSpPr>
          <p:spPr>
            <a:xfrm flipH="1" rot="10800000">
              <a:off x="7935121" y="5637812"/>
              <a:ext cx="376235" cy="462537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20" name="Google Shape;6020;p92"/>
            <p:cNvSpPr txBox="1"/>
            <p:nvPr/>
          </p:nvSpPr>
          <p:spPr>
            <a:xfrm>
              <a:off x="5084684" y="6045728"/>
              <a:ext cx="3187860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increases linearly in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…</a:t>
              </a:r>
              <a:endParaRPr/>
            </a:p>
          </p:txBody>
        </p:sp>
      </p:grpSp>
      <p:sp>
        <p:nvSpPr>
          <p:cNvPr id="6021" name="Google Shape;6021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6" name="Shape 6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7" name="Google Shape;6027;p9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vs. P2P: example</a:t>
            </a:r>
            <a:endParaRPr/>
          </a:p>
        </p:txBody>
      </p:sp>
      <p:sp>
        <p:nvSpPr>
          <p:cNvPr id="6028" name="Google Shape;6028;p93"/>
          <p:cNvSpPr txBox="1"/>
          <p:nvPr/>
        </p:nvSpPr>
        <p:spPr>
          <a:xfrm>
            <a:off x="2752045" y="1362602"/>
            <a:ext cx="7481468" cy="474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upload rate =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hour,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10u,  d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≥ u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pic>
        <p:nvPicPr>
          <p:cNvPr id="6029" name="Google Shape;602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6864" y="1835409"/>
            <a:ext cx="7031830" cy="4790242"/>
          </a:xfrm>
          <a:prstGeom prst="rect">
            <a:avLst/>
          </a:prstGeom>
          <a:noFill/>
          <a:ln>
            <a:noFill/>
          </a:ln>
        </p:spPr>
      </p:pic>
      <p:sp>
        <p:nvSpPr>
          <p:cNvPr id="6030" name="Google Shape;6030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5" name="Shape 6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6" name="Google Shape;6036;p9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P2P file distribution: BitTorrent </a:t>
            </a:r>
            <a:endParaRPr/>
          </a:p>
        </p:txBody>
      </p:sp>
      <p:sp>
        <p:nvSpPr>
          <p:cNvPr id="6037" name="Google Shape;6037;p94"/>
          <p:cNvSpPr/>
          <p:nvPr/>
        </p:nvSpPr>
        <p:spPr>
          <a:xfrm>
            <a:off x="745784" y="1260022"/>
            <a:ext cx="71247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divided into 256KB chunks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in torrent send/receive file chunks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8" name="Google Shape;6038;p94"/>
          <p:cNvSpPr txBox="1"/>
          <p:nvPr/>
        </p:nvSpPr>
        <p:spPr>
          <a:xfrm>
            <a:off x="1812096" y="2371997"/>
            <a:ext cx="3018775" cy="775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tracker: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tracks peers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participating in torrent</a:t>
            </a:r>
            <a:endParaRPr/>
          </a:p>
        </p:txBody>
      </p:sp>
      <p:sp>
        <p:nvSpPr>
          <p:cNvPr id="6039" name="Google Shape;6039;p94"/>
          <p:cNvSpPr txBox="1"/>
          <p:nvPr/>
        </p:nvSpPr>
        <p:spPr>
          <a:xfrm>
            <a:off x="7124019" y="2385559"/>
            <a:ext cx="4044723" cy="775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torrent: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of peers exchanging  chunks of a file</a:t>
            </a:r>
            <a:endParaRPr/>
          </a:p>
        </p:txBody>
      </p:sp>
      <p:cxnSp>
        <p:nvCxnSpPr>
          <p:cNvPr id="6040" name="Google Shape;6040;p94"/>
          <p:cNvCxnSpPr/>
          <p:nvPr/>
        </p:nvCxnSpPr>
        <p:spPr>
          <a:xfrm>
            <a:off x="4149045" y="3765096"/>
            <a:ext cx="1587" cy="5365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1" name="Google Shape;6041;p94"/>
          <p:cNvCxnSpPr/>
          <p:nvPr/>
        </p:nvCxnSpPr>
        <p:spPr>
          <a:xfrm>
            <a:off x="5495245" y="3493634"/>
            <a:ext cx="2551112" cy="140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2" name="Google Shape;6042;p94"/>
          <p:cNvCxnSpPr/>
          <p:nvPr/>
        </p:nvCxnSpPr>
        <p:spPr>
          <a:xfrm>
            <a:off x="5292045" y="3644446"/>
            <a:ext cx="247650" cy="181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3" name="Google Shape;6043;p94"/>
          <p:cNvCxnSpPr/>
          <p:nvPr/>
        </p:nvCxnSpPr>
        <p:spPr>
          <a:xfrm rot="10800000">
            <a:off x="6931932" y="3404734"/>
            <a:ext cx="1168400" cy="306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4" name="Google Shape;6044;p94"/>
          <p:cNvCxnSpPr/>
          <p:nvPr/>
        </p:nvCxnSpPr>
        <p:spPr>
          <a:xfrm flipH="1">
            <a:off x="6115957" y="3941309"/>
            <a:ext cx="2039938" cy="1987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5" name="Google Shape;6045;p94"/>
          <p:cNvCxnSpPr/>
          <p:nvPr/>
        </p:nvCxnSpPr>
        <p:spPr>
          <a:xfrm flipH="1">
            <a:off x="6203270" y="5906634"/>
            <a:ext cx="739775" cy="163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6" name="Google Shape;6046;p94"/>
          <p:cNvCxnSpPr/>
          <p:nvPr/>
        </p:nvCxnSpPr>
        <p:spPr>
          <a:xfrm flipH="1">
            <a:off x="5722257" y="3603171"/>
            <a:ext cx="900113" cy="16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7" name="Google Shape;6047;p94"/>
          <p:cNvCxnSpPr/>
          <p:nvPr/>
        </p:nvCxnSpPr>
        <p:spPr>
          <a:xfrm flipH="1" rot="10800000">
            <a:off x="5887357" y="4989059"/>
            <a:ext cx="2120900" cy="4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8" name="Google Shape;6048;p94"/>
          <p:cNvCxnSpPr/>
          <p:nvPr/>
        </p:nvCxnSpPr>
        <p:spPr>
          <a:xfrm>
            <a:off x="6887482" y="3547609"/>
            <a:ext cx="1182688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9" name="Google Shape;6049;p94"/>
          <p:cNvCxnSpPr/>
          <p:nvPr/>
        </p:nvCxnSpPr>
        <p:spPr>
          <a:xfrm>
            <a:off x="7330395" y="5928859"/>
            <a:ext cx="376237" cy="2174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50" name="Google Shape;6050;p94"/>
          <p:cNvCxnSpPr/>
          <p:nvPr/>
        </p:nvCxnSpPr>
        <p:spPr>
          <a:xfrm>
            <a:off x="6215970" y="6224134"/>
            <a:ext cx="1490662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051" name="Google Shape;6051;p94"/>
          <p:cNvSpPr txBox="1"/>
          <p:nvPr/>
        </p:nvSpPr>
        <p:spPr>
          <a:xfrm>
            <a:off x="2380570" y="4766809"/>
            <a:ext cx="1585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arrives  …</a:t>
            </a:r>
            <a:endParaRPr/>
          </a:p>
        </p:txBody>
      </p:sp>
      <p:cxnSp>
        <p:nvCxnSpPr>
          <p:cNvPr id="6052" name="Google Shape;6052;p94"/>
          <p:cNvCxnSpPr/>
          <p:nvPr/>
        </p:nvCxnSpPr>
        <p:spPr>
          <a:xfrm flipH="1">
            <a:off x="7881257" y="5163684"/>
            <a:ext cx="263525" cy="93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Alice" id="6053" name="Google Shape;605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270" y="4284209"/>
            <a:ext cx="474662" cy="51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54" name="Google Shape;6054;p94"/>
          <p:cNvCxnSpPr/>
          <p:nvPr/>
        </p:nvCxnSpPr>
        <p:spPr>
          <a:xfrm>
            <a:off x="3364820" y="3122159"/>
            <a:ext cx="476250" cy="258762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5" name="Google Shape;6055;p94"/>
          <p:cNvSpPr txBox="1"/>
          <p:nvPr/>
        </p:nvSpPr>
        <p:spPr>
          <a:xfrm>
            <a:off x="2394857" y="5027159"/>
            <a:ext cx="21605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obtains list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peers from tracker</a:t>
            </a:r>
            <a:endParaRPr/>
          </a:p>
        </p:txBody>
      </p:sp>
      <p:grpSp>
        <p:nvGrpSpPr>
          <p:cNvPr id="6056" name="Google Shape;6056;p94"/>
          <p:cNvGrpSpPr/>
          <p:nvPr/>
        </p:nvGrpSpPr>
        <p:grpSpPr>
          <a:xfrm>
            <a:off x="4528457" y="3571421"/>
            <a:ext cx="3492500" cy="2163763"/>
            <a:chOff x="1752" y="2166"/>
            <a:chExt cx="2200" cy="1363"/>
          </a:xfrm>
        </p:grpSpPr>
        <p:cxnSp>
          <p:nvCxnSpPr>
            <p:cNvPr id="6057" name="Google Shape;6057;p94"/>
            <p:cNvCxnSpPr/>
            <p:nvPr/>
          </p:nvCxnSpPr>
          <p:spPr>
            <a:xfrm flipH="1" rot="10800000">
              <a:off x="1752" y="2166"/>
              <a:ext cx="361" cy="5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058" name="Google Shape;6058;p94"/>
            <p:cNvCxnSpPr/>
            <p:nvPr/>
          </p:nvCxnSpPr>
          <p:spPr>
            <a:xfrm flipH="1" rot="10800000">
              <a:off x="1770" y="2352"/>
              <a:ext cx="2182" cy="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059" name="Google Shape;6059;p94"/>
            <p:cNvCxnSpPr/>
            <p:nvPr/>
          </p:nvCxnSpPr>
          <p:spPr>
            <a:xfrm>
              <a:off x="1786" y="2820"/>
              <a:ext cx="1550" cy="7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6060" name="Google Shape;6060;p94"/>
          <p:cNvSpPr txBox="1"/>
          <p:nvPr/>
        </p:nvSpPr>
        <p:spPr>
          <a:xfrm>
            <a:off x="2355170" y="5568496"/>
            <a:ext cx="31720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and begins exchanging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chunks with peers in torrent</a:t>
            </a:r>
            <a:endParaRPr/>
          </a:p>
        </p:txBody>
      </p:sp>
      <p:grpSp>
        <p:nvGrpSpPr>
          <p:cNvPr id="6061" name="Google Shape;6061;p94"/>
          <p:cNvGrpSpPr/>
          <p:nvPr/>
        </p:nvGrpSpPr>
        <p:grpSpPr>
          <a:xfrm>
            <a:off x="3931557" y="3080884"/>
            <a:ext cx="379413" cy="604837"/>
            <a:chOff x="4140" y="429"/>
            <a:chExt cx="1425" cy="2396"/>
          </a:xfrm>
        </p:grpSpPr>
        <p:sp>
          <p:nvSpPr>
            <p:cNvPr id="6062" name="Google Shape;6062;p9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3" name="Google Shape;6063;p94"/>
            <p:cNvSpPr/>
            <p:nvPr/>
          </p:nvSpPr>
          <p:spPr>
            <a:xfrm>
              <a:off x="4206" y="429"/>
              <a:ext cx="1049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4" name="Google Shape;6064;p9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5" name="Google Shape;6065;p9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6" name="Google Shape;6066;p94"/>
            <p:cNvSpPr/>
            <p:nvPr/>
          </p:nvSpPr>
          <p:spPr>
            <a:xfrm>
              <a:off x="4212" y="693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67" name="Google Shape;6067;p94"/>
            <p:cNvGrpSpPr/>
            <p:nvPr/>
          </p:nvGrpSpPr>
          <p:grpSpPr>
            <a:xfrm>
              <a:off x="4748" y="668"/>
              <a:ext cx="584" cy="145"/>
              <a:chOff x="613" y="2568"/>
              <a:chExt cx="729" cy="139"/>
            </a:xfrm>
          </p:grpSpPr>
          <p:sp>
            <p:nvSpPr>
              <p:cNvPr id="6068" name="Google Shape;6068;p94"/>
              <p:cNvSpPr/>
              <p:nvPr/>
            </p:nvSpPr>
            <p:spPr>
              <a:xfrm>
                <a:off x="613" y="2568"/>
                <a:ext cx="729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9" name="Google Shape;6069;p94"/>
              <p:cNvSpPr/>
              <p:nvPr/>
            </p:nvSpPr>
            <p:spPr>
              <a:xfrm>
                <a:off x="628" y="2586"/>
                <a:ext cx="699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0" name="Google Shape;6070;p94"/>
            <p:cNvSpPr/>
            <p:nvPr/>
          </p:nvSpPr>
          <p:spPr>
            <a:xfrm>
              <a:off x="4223" y="1020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1" name="Google Shape;6071;p94"/>
            <p:cNvGrpSpPr/>
            <p:nvPr/>
          </p:nvGrpSpPr>
          <p:grpSpPr>
            <a:xfrm>
              <a:off x="4748" y="995"/>
              <a:ext cx="579" cy="132"/>
              <a:chOff x="615" y="2569"/>
              <a:chExt cx="722" cy="137"/>
            </a:xfrm>
          </p:grpSpPr>
          <p:sp>
            <p:nvSpPr>
              <p:cNvPr id="6072" name="Google Shape;6072;p94"/>
              <p:cNvSpPr/>
              <p:nvPr/>
            </p:nvSpPr>
            <p:spPr>
              <a:xfrm>
                <a:off x="615" y="2569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3" name="Google Shape;6073;p94"/>
              <p:cNvSpPr/>
              <p:nvPr/>
            </p:nvSpPr>
            <p:spPr>
              <a:xfrm>
                <a:off x="630" y="2582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4" name="Google Shape;6074;p94"/>
            <p:cNvSpPr/>
            <p:nvPr/>
          </p:nvSpPr>
          <p:spPr>
            <a:xfrm>
              <a:off x="4218" y="1360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5" name="Google Shape;6075;p94"/>
            <p:cNvSpPr/>
            <p:nvPr/>
          </p:nvSpPr>
          <p:spPr>
            <a:xfrm>
              <a:off x="4229" y="1655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6" name="Google Shape;6076;p94"/>
            <p:cNvGrpSpPr/>
            <p:nvPr/>
          </p:nvGrpSpPr>
          <p:grpSpPr>
            <a:xfrm>
              <a:off x="4737" y="1642"/>
              <a:ext cx="578" cy="151"/>
              <a:chOff x="616" y="2582"/>
              <a:chExt cx="720" cy="139"/>
            </a:xfrm>
          </p:grpSpPr>
          <p:sp>
            <p:nvSpPr>
              <p:cNvPr id="6077" name="Google Shape;6077;p94"/>
              <p:cNvSpPr/>
              <p:nvPr/>
            </p:nvSpPr>
            <p:spPr>
              <a:xfrm>
                <a:off x="616" y="2582"/>
                <a:ext cx="72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8" name="Google Shape;6078;p94"/>
              <p:cNvSpPr/>
              <p:nvPr/>
            </p:nvSpPr>
            <p:spPr>
              <a:xfrm>
                <a:off x="630" y="2588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9" name="Google Shape;6079;p9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0" name="Google Shape;6080;p94"/>
            <p:cNvGrpSpPr/>
            <p:nvPr/>
          </p:nvGrpSpPr>
          <p:grpSpPr>
            <a:xfrm>
              <a:off x="4737" y="1328"/>
              <a:ext cx="584" cy="138"/>
              <a:chOff x="611" y="2569"/>
              <a:chExt cx="728" cy="138"/>
            </a:xfrm>
          </p:grpSpPr>
          <p:sp>
            <p:nvSpPr>
              <p:cNvPr id="6081" name="Google Shape;6081;p94"/>
              <p:cNvSpPr/>
              <p:nvPr/>
            </p:nvSpPr>
            <p:spPr>
              <a:xfrm>
                <a:off x="611" y="2569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2" name="Google Shape;6082;p94"/>
              <p:cNvSpPr/>
              <p:nvPr/>
            </p:nvSpPr>
            <p:spPr>
              <a:xfrm>
                <a:off x="618" y="2588"/>
                <a:ext cx="706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83" name="Google Shape;6083;p94"/>
            <p:cNvSpPr/>
            <p:nvPr/>
          </p:nvSpPr>
          <p:spPr>
            <a:xfrm>
              <a:off x="5249" y="429"/>
              <a:ext cx="72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4" name="Google Shape;6084;p9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5" name="Google Shape;6085;p9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6" name="Google Shape;6086;p94"/>
            <p:cNvSpPr/>
            <p:nvPr/>
          </p:nvSpPr>
          <p:spPr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7" name="Google Shape;6087;p9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8" name="Google Shape;6088;p94"/>
            <p:cNvSpPr/>
            <p:nvPr/>
          </p:nvSpPr>
          <p:spPr>
            <a:xfrm>
              <a:off x="4140" y="2680"/>
              <a:ext cx="1198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9" name="Google Shape;6089;p94"/>
            <p:cNvSpPr/>
            <p:nvPr/>
          </p:nvSpPr>
          <p:spPr>
            <a:xfrm>
              <a:off x="4206" y="2712"/>
              <a:ext cx="1073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0" name="Google Shape;6090;p94"/>
            <p:cNvSpPr/>
            <p:nvPr/>
          </p:nvSpPr>
          <p:spPr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1" name="Google Shape;6091;p94"/>
            <p:cNvSpPr/>
            <p:nvPr/>
          </p:nvSpPr>
          <p:spPr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2" name="Google Shape;6092;p94"/>
            <p:cNvSpPr/>
            <p:nvPr/>
          </p:nvSpPr>
          <p:spPr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3" name="Google Shape;6093;p94"/>
            <p:cNvSpPr/>
            <p:nvPr/>
          </p:nvSpPr>
          <p:spPr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94" name="Google Shape;6094;p94"/>
          <p:cNvGrpSpPr/>
          <p:nvPr/>
        </p:nvGrpSpPr>
        <p:grpSpPr>
          <a:xfrm>
            <a:off x="3825195" y="4320721"/>
            <a:ext cx="685800" cy="588963"/>
            <a:chOff x="-44" y="1473"/>
            <a:chExt cx="981" cy="1105"/>
          </a:xfrm>
        </p:grpSpPr>
        <p:pic>
          <p:nvPicPr>
            <p:cNvPr descr="desktop_computer_stylized_medium" id="6095" name="Google Shape;6095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6" name="Google Shape;6096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97" name="Google Shape;6097;p94"/>
          <p:cNvGrpSpPr/>
          <p:nvPr/>
        </p:nvGrpSpPr>
        <p:grpSpPr>
          <a:xfrm>
            <a:off x="5195207" y="5333546"/>
            <a:ext cx="728663" cy="620713"/>
            <a:chOff x="-44" y="1473"/>
            <a:chExt cx="981" cy="1105"/>
          </a:xfrm>
        </p:grpSpPr>
        <p:pic>
          <p:nvPicPr>
            <p:cNvPr descr="desktop_computer_stylized_medium" id="6098" name="Google Shape;6098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9" name="Google Shape;6099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0" name="Google Shape;6100;p94"/>
          <p:cNvGrpSpPr/>
          <p:nvPr/>
        </p:nvGrpSpPr>
        <p:grpSpPr>
          <a:xfrm>
            <a:off x="5477782" y="5911396"/>
            <a:ext cx="728663" cy="620713"/>
            <a:chOff x="-44" y="1473"/>
            <a:chExt cx="981" cy="1105"/>
          </a:xfrm>
        </p:grpSpPr>
        <p:pic>
          <p:nvPicPr>
            <p:cNvPr descr="desktop_computer_stylized_medium" id="6101" name="Google Shape;6101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2" name="Google Shape;6102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3" name="Google Shape;6103;p94"/>
          <p:cNvGrpSpPr/>
          <p:nvPr/>
        </p:nvGrpSpPr>
        <p:grpSpPr>
          <a:xfrm flipH="1">
            <a:off x="8111445" y="4757284"/>
            <a:ext cx="728662" cy="620712"/>
            <a:chOff x="-44" y="1473"/>
            <a:chExt cx="981" cy="1105"/>
          </a:xfrm>
        </p:grpSpPr>
        <p:pic>
          <p:nvPicPr>
            <p:cNvPr descr="desktop_computer_stylized_medium" id="6104" name="Google Shape;6104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5" name="Google Shape;6105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6" name="Google Shape;6106;p94"/>
          <p:cNvGrpSpPr/>
          <p:nvPr/>
        </p:nvGrpSpPr>
        <p:grpSpPr>
          <a:xfrm flipH="1">
            <a:off x="7763782" y="6095546"/>
            <a:ext cx="728663" cy="620713"/>
            <a:chOff x="-44" y="1473"/>
            <a:chExt cx="981" cy="1105"/>
          </a:xfrm>
        </p:grpSpPr>
        <p:pic>
          <p:nvPicPr>
            <p:cNvPr descr="desktop_computer_stylized_medium" id="6107" name="Google Shape;610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8" name="Google Shape;6108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9" name="Google Shape;6109;p94"/>
          <p:cNvGrpSpPr/>
          <p:nvPr/>
        </p:nvGrpSpPr>
        <p:grpSpPr>
          <a:xfrm flipH="1">
            <a:off x="8165420" y="3569834"/>
            <a:ext cx="728662" cy="620712"/>
            <a:chOff x="-44" y="1473"/>
            <a:chExt cx="981" cy="1105"/>
          </a:xfrm>
        </p:grpSpPr>
        <p:pic>
          <p:nvPicPr>
            <p:cNvPr descr="desktop_computer_stylized_medium" id="6110" name="Google Shape;6110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1" name="Google Shape;6111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2" name="Google Shape;6112;p94"/>
          <p:cNvGrpSpPr/>
          <p:nvPr/>
        </p:nvGrpSpPr>
        <p:grpSpPr>
          <a:xfrm flipH="1">
            <a:off x="6368370" y="3036434"/>
            <a:ext cx="641350" cy="620712"/>
            <a:chOff x="-44" y="1473"/>
            <a:chExt cx="981" cy="1105"/>
          </a:xfrm>
        </p:grpSpPr>
        <p:pic>
          <p:nvPicPr>
            <p:cNvPr descr="desktop_computer_stylized_medium" id="6113" name="Google Shape;611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4" name="Google Shape;6114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5" name="Google Shape;6115;p94"/>
          <p:cNvGrpSpPr/>
          <p:nvPr/>
        </p:nvGrpSpPr>
        <p:grpSpPr>
          <a:xfrm>
            <a:off x="4758645" y="3026909"/>
            <a:ext cx="728662" cy="620712"/>
            <a:chOff x="-44" y="1473"/>
            <a:chExt cx="981" cy="1105"/>
          </a:xfrm>
        </p:grpSpPr>
        <p:pic>
          <p:nvPicPr>
            <p:cNvPr descr="desktop_computer_stylized_medium" id="6116" name="Google Shape;6116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7" name="Google Shape;6117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8" name="Google Shape;6118;p94"/>
          <p:cNvGrpSpPr/>
          <p:nvPr/>
        </p:nvGrpSpPr>
        <p:grpSpPr>
          <a:xfrm>
            <a:off x="6858907" y="5639934"/>
            <a:ext cx="490538" cy="412750"/>
            <a:chOff x="-44" y="1473"/>
            <a:chExt cx="981" cy="1105"/>
          </a:xfrm>
        </p:grpSpPr>
        <p:pic>
          <p:nvPicPr>
            <p:cNvPr descr="desktop_computer_stylized_medium" id="6119" name="Google Shape;6119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0" name="Google Shape;6120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21" name="Google Shape;6121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6" name="Shape 6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7" name="Google Shape;6127;p9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P2P file distribution: BitTorrent </a:t>
            </a:r>
            <a:endParaRPr/>
          </a:p>
        </p:txBody>
      </p:sp>
      <p:sp>
        <p:nvSpPr>
          <p:cNvPr id="6128" name="Google Shape;6128;p95"/>
          <p:cNvSpPr txBox="1"/>
          <p:nvPr/>
        </p:nvSpPr>
        <p:spPr>
          <a:xfrm>
            <a:off x="672727" y="1548887"/>
            <a:ext cx="5988276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joining torrent: 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no chunks, but will accumulate them over time from other peers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 with tracker to get list of peers, connects to subset of peers (“neighbors”)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9" name="Google Shape;6129;p95"/>
          <p:cNvSpPr/>
          <p:nvPr/>
        </p:nvSpPr>
        <p:spPr>
          <a:xfrm>
            <a:off x="689056" y="3728719"/>
            <a:ext cx="10987087" cy="233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downloading, peer uploads chunks to other peers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 may change peers with whom it exchanges chunks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churn: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peers may come and go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peer has entire file, it may (selfishly) leave or (altruistically) remain in torrent</a:t>
            </a:r>
            <a:endParaRPr/>
          </a:p>
        </p:txBody>
      </p:sp>
      <p:grpSp>
        <p:nvGrpSpPr>
          <p:cNvPr id="6130" name="Google Shape;6130;p95"/>
          <p:cNvGrpSpPr/>
          <p:nvPr/>
        </p:nvGrpSpPr>
        <p:grpSpPr>
          <a:xfrm>
            <a:off x="7622267" y="1307114"/>
            <a:ext cx="3567113" cy="2233613"/>
            <a:chOff x="4911725" y="1368425"/>
            <a:chExt cx="3567113" cy="2233613"/>
          </a:xfrm>
        </p:grpSpPr>
        <p:cxnSp>
          <p:nvCxnSpPr>
            <p:cNvPr id="6131" name="Google Shape;6131;p95"/>
            <p:cNvCxnSpPr/>
            <p:nvPr/>
          </p:nvCxnSpPr>
          <p:spPr>
            <a:xfrm>
              <a:off x="6245225" y="1646238"/>
              <a:ext cx="1736725" cy="8794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2" name="Google Shape;6132;p95"/>
            <p:cNvCxnSpPr/>
            <p:nvPr/>
          </p:nvCxnSpPr>
          <p:spPr>
            <a:xfrm>
              <a:off x="6107113" y="1739900"/>
              <a:ext cx="168275" cy="11334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3" name="Google Shape;6133;p95"/>
            <p:cNvCxnSpPr/>
            <p:nvPr/>
          </p:nvCxnSpPr>
          <p:spPr>
            <a:xfrm rot="10800000">
              <a:off x="7223125" y="1590675"/>
              <a:ext cx="795338" cy="190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4" name="Google Shape;6134;p95"/>
            <p:cNvCxnSpPr/>
            <p:nvPr/>
          </p:nvCxnSpPr>
          <p:spPr>
            <a:xfrm flipH="1">
              <a:off x="6667500" y="1925638"/>
              <a:ext cx="1389063" cy="12398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5" name="Google Shape;6135;p95"/>
            <p:cNvCxnSpPr/>
            <p:nvPr/>
          </p:nvCxnSpPr>
          <p:spPr>
            <a:xfrm flipH="1">
              <a:off x="6726238" y="3152775"/>
              <a:ext cx="504825" cy="1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6" name="Google Shape;6136;p95"/>
            <p:cNvCxnSpPr/>
            <p:nvPr/>
          </p:nvCxnSpPr>
          <p:spPr>
            <a:xfrm flipH="1">
              <a:off x="6399213" y="1714500"/>
              <a:ext cx="612775" cy="10461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7" name="Google Shape;6137;p95"/>
            <p:cNvCxnSpPr/>
            <p:nvPr/>
          </p:nvCxnSpPr>
          <p:spPr>
            <a:xfrm flipH="1" rot="10800000">
              <a:off x="6511925" y="2579688"/>
              <a:ext cx="1443038" cy="3016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8" name="Google Shape;6138;p95"/>
            <p:cNvCxnSpPr/>
            <p:nvPr/>
          </p:nvCxnSpPr>
          <p:spPr>
            <a:xfrm>
              <a:off x="7192963" y="1679575"/>
              <a:ext cx="804862" cy="796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9" name="Google Shape;6139;p95"/>
            <p:cNvCxnSpPr/>
            <p:nvPr/>
          </p:nvCxnSpPr>
          <p:spPr>
            <a:xfrm>
              <a:off x="7494588" y="3165475"/>
              <a:ext cx="255587" cy="1365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40" name="Google Shape;6140;p95"/>
            <p:cNvCxnSpPr/>
            <p:nvPr/>
          </p:nvCxnSpPr>
          <p:spPr>
            <a:xfrm>
              <a:off x="6735763" y="3351213"/>
              <a:ext cx="10144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41" name="Google Shape;6141;p95"/>
            <p:cNvCxnSpPr/>
            <p:nvPr/>
          </p:nvCxnSpPr>
          <p:spPr>
            <a:xfrm flipH="1">
              <a:off x="7869238" y="2689225"/>
              <a:ext cx="179387" cy="5857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pic>
          <p:nvPicPr>
            <p:cNvPr descr="Alice" id="6142" name="Google Shape;6142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11725" y="2139950"/>
              <a:ext cx="323850" cy="3190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43" name="Google Shape;6143;p95"/>
            <p:cNvGrpSpPr/>
            <p:nvPr/>
          </p:nvGrpSpPr>
          <p:grpSpPr>
            <a:xfrm>
              <a:off x="5586413" y="1693863"/>
              <a:ext cx="2378075" cy="1350962"/>
              <a:chOff x="1752" y="2166"/>
              <a:chExt cx="2200" cy="1363"/>
            </a:xfrm>
          </p:grpSpPr>
          <p:cxnSp>
            <p:nvCxnSpPr>
              <p:cNvPr id="6144" name="Google Shape;6144;p95"/>
              <p:cNvCxnSpPr/>
              <p:nvPr/>
            </p:nvCxnSpPr>
            <p:spPr>
              <a:xfrm flipH="1" rot="10800000">
                <a:off x="1752" y="2166"/>
                <a:ext cx="361" cy="5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6145" name="Google Shape;6145;p95"/>
              <p:cNvCxnSpPr/>
              <p:nvPr/>
            </p:nvCxnSpPr>
            <p:spPr>
              <a:xfrm flipH="1" rot="10800000">
                <a:off x="1770" y="2352"/>
                <a:ext cx="2182" cy="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6146" name="Google Shape;6146;p95"/>
              <p:cNvCxnSpPr/>
              <p:nvPr/>
            </p:nvCxnSpPr>
            <p:spPr>
              <a:xfrm>
                <a:off x="1786" y="2820"/>
                <a:ext cx="1550" cy="7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6147" name="Google Shape;6147;p95"/>
            <p:cNvGrpSpPr/>
            <p:nvPr/>
          </p:nvGrpSpPr>
          <p:grpSpPr>
            <a:xfrm>
              <a:off x="5245100" y="1374775"/>
              <a:ext cx="292100" cy="517525"/>
              <a:chOff x="4140" y="429"/>
              <a:chExt cx="1425" cy="2396"/>
            </a:xfrm>
          </p:grpSpPr>
          <p:sp>
            <p:nvSpPr>
              <p:cNvPr id="6148" name="Google Shape;6148;p9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9" name="Google Shape;6149;p95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0" name="Google Shape;6150;p9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1" name="Google Shape;6151;p9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2" name="Google Shape;6152;p95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3" name="Google Shape;6153;p95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6154" name="Google Shape;6154;p95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5" name="Google Shape;6155;p95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56" name="Google Shape;6156;p95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7" name="Google Shape;6157;p95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6158" name="Google Shape;6158;p95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9" name="Google Shape;6159;p95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0" name="Google Shape;6160;p95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1" name="Google Shape;6161;p95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62" name="Google Shape;6162;p95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6163" name="Google Shape;6163;p95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4" name="Google Shape;6164;p95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5" name="Google Shape;6165;p9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66" name="Google Shape;6166;p95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6167" name="Google Shape;6167;p95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8" name="Google Shape;6168;p95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9" name="Google Shape;6169;p95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0" name="Google Shape;6170;p9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1" name="Google Shape;6171;p9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2" name="Google Shape;6172;p95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3" name="Google Shape;6173;p9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4" name="Google Shape;6174;p95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5" name="Google Shape;6175;p95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6" name="Google Shape;6176;p95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7" name="Google Shape;6177;p95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8" name="Google Shape;6178;p95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9" name="Google Shape;6179;p95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0" name="Google Shape;6180;p95"/>
            <p:cNvGrpSpPr/>
            <p:nvPr/>
          </p:nvGrpSpPr>
          <p:grpSpPr>
            <a:xfrm>
              <a:off x="6311900" y="31765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1" name="Google Shape;6181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2" name="Google Shape;6182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3" name="Google Shape;6183;p95"/>
            <p:cNvGrpSpPr/>
            <p:nvPr/>
          </p:nvGrpSpPr>
          <p:grpSpPr>
            <a:xfrm flipH="1">
              <a:off x="7716838" y="32527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4" name="Google Shape;6184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5" name="Google Shape;6185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6" name="Google Shape;6186;p95"/>
            <p:cNvGrpSpPr/>
            <p:nvPr/>
          </p:nvGrpSpPr>
          <p:grpSpPr>
            <a:xfrm flipH="1">
              <a:off x="7988300" y="2457450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7" name="Google Shape;6187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8" name="Google Shape;6188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9" name="Google Shape;6189;p95"/>
            <p:cNvGrpSpPr/>
            <p:nvPr/>
          </p:nvGrpSpPr>
          <p:grpSpPr>
            <a:xfrm flipH="1">
              <a:off x="8043863" y="1706563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0" name="Google Shape;6190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1" name="Google Shape;6191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2" name="Google Shape;6192;p95"/>
            <p:cNvGrpSpPr/>
            <p:nvPr/>
          </p:nvGrpSpPr>
          <p:grpSpPr>
            <a:xfrm flipH="1">
              <a:off x="6911975" y="1368425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3" name="Google Shape;6193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4" name="Google Shape;6194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5" name="Google Shape;6195;p95"/>
            <p:cNvGrpSpPr/>
            <p:nvPr/>
          </p:nvGrpSpPr>
          <p:grpSpPr>
            <a:xfrm>
              <a:off x="5824538" y="14112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6" name="Google Shape;6196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7" name="Google Shape;6197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8" name="Google Shape;6198;p95"/>
            <p:cNvGrpSpPr/>
            <p:nvPr/>
          </p:nvGrpSpPr>
          <p:grpSpPr>
            <a:xfrm>
              <a:off x="5159375" y="2162175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9" name="Google Shape;6199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0" name="Google Shape;6200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1" name="Google Shape;6201;p95"/>
            <p:cNvGrpSpPr/>
            <p:nvPr/>
          </p:nvGrpSpPr>
          <p:grpSpPr>
            <a:xfrm>
              <a:off x="6129338" y="2749550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202" name="Google Shape;6202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3" name="Google Shape;6203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4" name="Google Shape;6204;p95"/>
            <p:cNvGrpSpPr/>
            <p:nvPr/>
          </p:nvGrpSpPr>
          <p:grpSpPr>
            <a:xfrm>
              <a:off x="7185025" y="2989263"/>
              <a:ext cx="325438" cy="261937"/>
              <a:chOff x="-44" y="1473"/>
              <a:chExt cx="981" cy="1105"/>
            </a:xfrm>
          </p:grpSpPr>
          <p:pic>
            <p:nvPicPr>
              <p:cNvPr descr="desktop_computer_stylized_medium" id="6205" name="Google Shape;6205;p9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6" name="Google Shape;6206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207" name="Google Shape;6207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2" name="Shape 6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3" name="Google Shape;6213;p9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BitTorrent: requesting, sending file chunks</a:t>
            </a:r>
            <a:endParaRPr/>
          </a:p>
        </p:txBody>
      </p:sp>
      <p:sp>
        <p:nvSpPr>
          <p:cNvPr id="6214" name="Google Shape;6214;p96"/>
          <p:cNvSpPr txBox="1"/>
          <p:nvPr/>
        </p:nvSpPr>
        <p:spPr>
          <a:xfrm>
            <a:off x="798691" y="1510619"/>
            <a:ext cx="4521200" cy="411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Requesting chunks: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any given time, different peers have different subsets of file chunks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periodically, Alice asks each peer for list of chunks that they have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requests missing chunks from peers, rarest first</a:t>
            </a:r>
            <a:endParaRPr/>
          </a:p>
        </p:txBody>
      </p:sp>
      <p:sp>
        <p:nvSpPr>
          <p:cNvPr id="6215" name="Google Shape;6215;p96"/>
          <p:cNvSpPr/>
          <p:nvPr/>
        </p:nvSpPr>
        <p:spPr>
          <a:xfrm>
            <a:off x="5927271" y="1412473"/>
            <a:ext cx="5714999" cy="503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Sending chunks: tit-for-tat</a:t>
            </a:r>
            <a:endParaRPr/>
          </a:p>
          <a:p>
            <a:pPr indent="-341313" lvl="0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sends chunks to those four peers currently sending her chunks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highest rate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peers are choked by Alice (do not receive chunks from her)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re-evaluate top 4 every10 secs</a:t>
            </a:r>
            <a:endParaRPr/>
          </a:p>
          <a:p>
            <a:pPr indent="-341313" lvl="0" marL="47148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30 secs: randomly select another peer, starts sending chunks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“optimistically unchoke” this peer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newly chosen peer may join top 4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16" name="Google Shape;6216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1" name="Shape 6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Google Shape;6222;p9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BitTorrent: tit-for-tat</a:t>
            </a:r>
            <a:endParaRPr/>
          </a:p>
        </p:txBody>
      </p:sp>
      <p:pic>
        <p:nvPicPr>
          <p:cNvPr descr="Alice" id="6223" name="Google Shape;622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9027" y="5178425"/>
            <a:ext cx="561975" cy="6937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24" name="Google Shape;6224;p97"/>
          <p:cNvCxnSpPr/>
          <p:nvPr/>
        </p:nvCxnSpPr>
        <p:spPr>
          <a:xfrm rot="10800000">
            <a:off x="2452914" y="4184650"/>
            <a:ext cx="1473200" cy="596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5" name="Google Shape;6225;p97"/>
          <p:cNvCxnSpPr/>
          <p:nvPr/>
        </p:nvCxnSpPr>
        <p:spPr>
          <a:xfrm flipH="1">
            <a:off x="2933927" y="5010150"/>
            <a:ext cx="9652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6" name="Google Shape;6226;p97"/>
          <p:cNvCxnSpPr/>
          <p:nvPr/>
        </p:nvCxnSpPr>
        <p:spPr>
          <a:xfrm flipH="1">
            <a:off x="3608614" y="5124450"/>
            <a:ext cx="596900" cy="1041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7" name="Google Shape;6227;p97"/>
          <p:cNvCxnSpPr/>
          <p:nvPr/>
        </p:nvCxnSpPr>
        <p:spPr>
          <a:xfrm flipH="1" rot="10800000">
            <a:off x="6491514" y="3308350"/>
            <a:ext cx="419100" cy="647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8" name="Google Shape;6228;p97"/>
          <p:cNvCxnSpPr/>
          <p:nvPr/>
        </p:nvCxnSpPr>
        <p:spPr>
          <a:xfrm flipH="1" rot="10800000">
            <a:off x="6593114" y="3892550"/>
            <a:ext cx="787400" cy="304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9" name="Google Shape;6229;p97"/>
          <p:cNvCxnSpPr/>
          <p:nvPr/>
        </p:nvCxnSpPr>
        <p:spPr>
          <a:xfrm>
            <a:off x="6593114" y="4362450"/>
            <a:ext cx="596900" cy="317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Bob" id="6230" name="Google Shape;6230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9702" y="4606925"/>
            <a:ext cx="676275" cy="690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31" name="Google Shape;6231;p97"/>
          <p:cNvCxnSpPr/>
          <p:nvPr/>
        </p:nvCxnSpPr>
        <p:spPr>
          <a:xfrm flipH="1" rot="10800000">
            <a:off x="4510314" y="4159250"/>
            <a:ext cx="1435100" cy="4826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232" name="Google Shape;6232;p97"/>
          <p:cNvCxnSpPr/>
          <p:nvPr/>
        </p:nvCxnSpPr>
        <p:spPr>
          <a:xfrm flipH="1">
            <a:off x="4523014" y="4248150"/>
            <a:ext cx="1397000" cy="4699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3" name="Google Shape;6233;p97"/>
          <p:cNvCxnSpPr/>
          <p:nvPr/>
        </p:nvCxnSpPr>
        <p:spPr>
          <a:xfrm flipH="1" rot="10800000">
            <a:off x="4561114" y="4349750"/>
            <a:ext cx="1371600" cy="4826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4" name="Google Shape;6234;p97"/>
          <p:cNvSpPr txBox="1"/>
          <p:nvPr/>
        </p:nvSpPr>
        <p:spPr>
          <a:xfrm>
            <a:off x="825046" y="1288142"/>
            <a:ext cx="4789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Alice “optimistically unchokes” Bob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5" name="Google Shape;6235;p97"/>
          <p:cNvSpPr txBox="1"/>
          <p:nvPr/>
        </p:nvSpPr>
        <p:spPr>
          <a:xfrm>
            <a:off x="822327" y="1711330"/>
            <a:ext cx="8496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(2) Alice becomes one of Bob’s top-four providers; Bob reciprocates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6" name="Google Shape;6236;p97"/>
          <p:cNvSpPr txBox="1"/>
          <p:nvPr/>
        </p:nvSpPr>
        <p:spPr>
          <a:xfrm>
            <a:off x="814389" y="2124086"/>
            <a:ext cx="62574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Bob becomes one of Alice’s top-four providers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7" name="Google Shape;6237;p97"/>
          <p:cNvSpPr txBox="1"/>
          <p:nvPr/>
        </p:nvSpPr>
        <p:spPr>
          <a:xfrm>
            <a:off x="6416902" y="5338537"/>
            <a:ext cx="4897389" cy="830997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upload rate: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find better trading partners, get file faster !</a:t>
            </a:r>
            <a:endParaRPr/>
          </a:p>
        </p:txBody>
      </p:sp>
      <p:grpSp>
        <p:nvGrpSpPr>
          <p:cNvPr id="6238" name="Google Shape;6238;p97"/>
          <p:cNvGrpSpPr/>
          <p:nvPr/>
        </p:nvGrpSpPr>
        <p:grpSpPr>
          <a:xfrm>
            <a:off x="2194152" y="5014913"/>
            <a:ext cx="762000" cy="752475"/>
            <a:chOff x="-44" y="1473"/>
            <a:chExt cx="981" cy="1105"/>
          </a:xfrm>
        </p:grpSpPr>
        <p:pic>
          <p:nvPicPr>
            <p:cNvPr descr="desktop_computer_stylized_medium" id="6239" name="Google Shape;6239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0" name="Google Shape;6240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1" name="Google Shape;6241;p97"/>
          <p:cNvGrpSpPr/>
          <p:nvPr/>
        </p:nvGrpSpPr>
        <p:grpSpPr>
          <a:xfrm>
            <a:off x="2889477" y="5776913"/>
            <a:ext cx="762000" cy="752475"/>
            <a:chOff x="-44" y="1473"/>
            <a:chExt cx="981" cy="1105"/>
          </a:xfrm>
        </p:grpSpPr>
        <p:pic>
          <p:nvPicPr>
            <p:cNvPr descr="desktop_computer_stylized_medium" id="6242" name="Google Shape;6242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3" name="Google Shape;6243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4" name="Google Shape;6244;p97"/>
          <p:cNvGrpSpPr/>
          <p:nvPr/>
        </p:nvGrpSpPr>
        <p:grpSpPr>
          <a:xfrm>
            <a:off x="1708377" y="38941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45" name="Google Shape;6245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6" name="Google Shape;6246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7" name="Google Shape;6247;p97"/>
          <p:cNvGrpSpPr/>
          <p:nvPr/>
        </p:nvGrpSpPr>
        <p:grpSpPr>
          <a:xfrm>
            <a:off x="3672114" y="44275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48" name="Google Shape;6248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9" name="Google Shape;6249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0" name="Google Shape;6250;p97"/>
          <p:cNvGrpSpPr/>
          <p:nvPr/>
        </p:nvGrpSpPr>
        <p:grpSpPr>
          <a:xfrm flipH="1">
            <a:off x="7199539" y="43513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51" name="Google Shape;6251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2" name="Google Shape;6252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3" name="Google Shape;6253;p97"/>
          <p:cNvGrpSpPr/>
          <p:nvPr/>
        </p:nvGrpSpPr>
        <p:grpSpPr>
          <a:xfrm flipH="1">
            <a:off x="7350352" y="35131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54" name="Google Shape;6254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5" name="Google Shape;6255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6" name="Google Shape;6256;p97"/>
          <p:cNvGrpSpPr/>
          <p:nvPr/>
        </p:nvGrpSpPr>
        <p:grpSpPr>
          <a:xfrm flipH="1">
            <a:off x="6958239" y="2892425"/>
            <a:ext cx="762000" cy="752475"/>
            <a:chOff x="-44" y="1473"/>
            <a:chExt cx="981" cy="1105"/>
          </a:xfrm>
        </p:grpSpPr>
        <p:pic>
          <p:nvPicPr>
            <p:cNvPr descr="desktop_computer_stylized_medium" id="6257" name="Google Shape;6257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8" name="Google Shape;6258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9" name="Google Shape;6259;p97"/>
          <p:cNvGrpSpPr/>
          <p:nvPr/>
        </p:nvGrpSpPr>
        <p:grpSpPr>
          <a:xfrm flipH="1">
            <a:off x="6035902" y="3883025"/>
            <a:ext cx="762000" cy="752475"/>
            <a:chOff x="-44" y="1473"/>
            <a:chExt cx="981" cy="1105"/>
          </a:xfrm>
        </p:grpSpPr>
        <p:pic>
          <p:nvPicPr>
            <p:cNvPr descr="desktop_computer_stylized_medium" id="6260" name="Google Shape;6260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1" name="Google Shape;6261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2" name="Google Shape;6262;p97"/>
          <p:cNvGrpSpPr/>
          <p:nvPr/>
        </p:nvGrpSpPr>
        <p:grpSpPr>
          <a:xfrm>
            <a:off x="5815239" y="2717800"/>
            <a:ext cx="762000" cy="1177925"/>
            <a:chOff x="4746" y="1528"/>
            <a:chExt cx="480" cy="742"/>
          </a:xfrm>
        </p:grpSpPr>
        <p:cxnSp>
          <p:nvCxnSpPr>
            <p:cNvPr id="6263" name="Google Shape;6263;p97"/>
            <p:cNvCxnSpPr/>
            <p:nvPr/>
          </p:nvCxnSpPr>
          <p:spPr>
            <a:xfrm>
              <a:off x="4964" y="1962"/>
              <a:ext cx="2" cy="30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264" name="Google Shape;6264;p97"/>
            <p:cNvGrpSpPr/>
            <p:nvPr/>
          </p:nvGrpSpPr>
          <p:grpSpPr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descr="desktop_computer_stylized_medium" id="6265" name="Google Shape;6265;p9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66" name="Google Shape;6266;p9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67" name="Google Shape;6267;p97"/>
          <p:cNvGrpSpPr/>
          <p:nvPr/>
        </p:nvGrpSpPr>
        <p:grpSpPr>
          <a:xfrm>
            <a:off x="2905352" y="3206750"/>
            <a:ext cx="1112837" cy="1219200"/>
            <a:chOff x="4779" y="2386"/>
            <a:chExt cx="701" cy="768"/>
          </a:xfrm>
        </p:grpSpPr>
        <p:cxnSp>
          <p:nvCxnSpPr>
            <p:cNvPr id="6268" name="Google Shape;6268;p97"/>
            <p:cNvCxnSpPr/>
            <p:nvPr/>
          </p:nvCxnSpPr>
          <p:spPr>
            <a:xfrm>
              <a:off x="5239" y="2812"/>
              <a:ext cx="241" cy="34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269" name="Google Shape;6269;p97"/>
            <p:cNvGrpSpPr/>
            <p:nvPr/>
          </p:nvGrpSpPr>
          <p:grpSpPr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descr="desktop_computer_stylized_medium" id="6270" name="Google Shape;6270;p9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71" name="Google Shape;6271;p9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72" name="Google Shape;6272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7" name="Shape 6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8" name="Google Shape;6278;p9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6279" name="Google Shape;6279;p9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0" name="Google Shape;6280;p9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1" name="Google Shape;6281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6282" name="Google Shape;628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7" name="Shape 6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8" name="Google Shape;6288;p9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Video Streaming and CDNs: context</a:t>
            </a:r>
            <a:endParaRPr/>
          </a:p>
        </p:txBody>
      </p:sp>
      <p:sp>
        <p:nvSpPr>
          <p:cNvPr id="6289" name="Google Shape;6289;p99"/>
          <p:cNvSpPr/>
          <p:nvPr/>
        </p:nvSpPr>
        <p:spPr>
          <a:xfrm>
            <a:off x="703683" y="1457742"/>
            <a:ext cx="8448901" cy="894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0" name="Google Shape;6290;p99"/>
          <p:cNvSpPr/>
          <p:nvPr/>
        </p:nvSpPr>
        <p:spPr>
          <a:xfrm>
            <a:off x="799123" y="1492538"/>
            <a:ext cx="6164385" cy="4821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 video traffic: major consumer of Internet bandwidth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Netflix, YouTube, Amazon Prime: 80% of residential ISP traffic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(2020)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scale - how to reach ~1B users?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91" name="Google Shape;6291;p99"/>
          <p:cNvGrpSpPr/>
          <p:nvPr/>
        </p:nvGrpSpPr>
        <p:grpSpPr>
          <a:xfrm>
            <a:off x="8502619" y="3784268"/>
            <a:ext cx="3689381" cy="2624305"/>
            <a:chOff x="8502619" y="4539639"/>
            <a:chExt cx="3689381" cy="2624305"/>
          </a:xfrm>
        </p:grpSpPr>
        <p:pic>
          <p:nvPicPr>
            <p:cNvPr id="6292" name="Google Shape;629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30975" y="6101881"/>
              <a:ext cx="1710592" cy="1062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3" name="Google Shape;6293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20238" y="4539639"/>
              <a:ext cx="2671762" cy="149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4" name="Google Shape;6294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02619" y="4874389"/>
              <a:ext cx="1227138" cy="569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5" name="Google Shape;6295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972122" y="5629397"/>
              <a:ext cx="1501775" cy="708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96" name="Google Shape;6296;p99"/>
          <p:cNvSpPr/>
          <p:nvPr/>
        </p:nvSpPr>
        <p:spPr>
          <a:xfrm>
            <a:off x="857738" y="4177497"/>
            <a:ext cx="934133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heterogeneity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users have different capabilities (e.g., wired versus mobile; bandwidth rich versus bandwidth poor)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distributed, application-level infrastructure</a:t>
            </a:r>
            <a:endParaRPr/>
          </a:p>
        </p:txBody>
      </p:sp>
      <p:sp>
        <p:nvSpPr>
          <p:cNvPr id="6297" name="Google Shape;6297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2" name="Shape 6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3" name="Google Shape;6303;p10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sp>
        <p:nvSpPr>
          <p:cNvPr id="6304" name="Google Shape;6304;p100"/>
          <p:cNvSpPr txBox="1"/>
          <p:nvPr/>
        </p:nvSpPr>
        <p:spPr>
          <a:xfrm>
            <a:off x="864007" y="1452894"/>
            <a:ext cx="5710237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 sequence of images displayed at constant rate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24 images/sec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image: array of pixels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pixel represented by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coding: use redundancy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to decrease # bits used to encode image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spatial (within image)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temporal (from one image to next)</a:t>
            </a:r>
            <a:endParaRPr/>
          </a:p>
        </p:txBody>
      </p:sp>
      <p:pic>
        <p:nvPicPr>
          <p:cNvPr id="6305" name="Google Shape;63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760" y="2016918"/>
            <a:ext cx="1642671" cy="1860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06" name="Google Shape;6306;p100"/>
          <p:cNvGrpSpPr/>
          <p:nvPr/>
        </p:nvGrpSpPr>
        <p:grpSpPr>
          <a:xfrm>
            <a:off x="7728905" y="562768"/>
            <a:ext cx="3274430" cy="1730347"/>
            <a:chOff x="5345311" y="524250"/>
            <a:chExt cx="3274238" cy="1730214"/>
          </a:xfrm>
        </p:grpSpPr>
        <p:sp>
          <p:nvSpPr>
            <p:cNvPr id="6307" name="Google Shape;6307;p100"/>
            <p:cNvSpPr txBox="1"/>
            <p:nvPr/>
          </p:nvSpPr>
          <p:spPr>
            <a:xfrm>
              <a:off x="5345311" y="1789936"/>
              <a:ext cx="1856071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……………………..</a:t>
              </a:r>
              <a:endParaRPr/>
            </a:p>
          </p:txBody>
        </p:sp>
        <p:sp>
          <p:nvSpPr>
            <p:cNvPr id="6308" name="Google Shape;6308;p100"/>
            <p:cNvSpPr txBox="1"/>
            <p:nvPr/>
          </p:nvSpPr>
          <p:spPr>
            <a:xfrm>
              <a:off x="5808125" y="524250"/>
              <a:ext cx="2811424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spatial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values of same color (all purple), send only two values: color  value (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purple)  and number of repeated values (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N)</a:t>
              </a:r>
              <a:endParaRPr/>
            </a:p>
          </p:txBody>
        </p:sp>
        <p:sp>
          <p:nvSpPr>
            <p:cNvPr id="6309" name="Google Shape;6309;p100"/>
            <p:cNvSpPr txBox="1"/>
            <p:nvPr/>
          </p:nvSpPr>
          <p:spPr>
            <a:xfrm>
              <a:off x="5354771" y="1885160"/>
              <a:ext cx="1803448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……………….…….</a:t>
              </a:r>
              <a:endParaRPr/>
            </a:p>
          </p:txBody>
        </p:sp>
        <p:cxnSp>
          <p:nvCxnSpPr>
            <p:cNvPr id="6310" name="Google Shape;6310;p100"/>
            <p:cNvCxnSpPr/>
            <p:nvPr/>
          </p:nvCxnSpPr>
          <p:spPr>
            <a:xfrm flipH="1">
              <a:off x="5565603" y="756253"/>
              <a:ext cx="313958" cy="11557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11" name="Google Shape;6311;p100"/>
          <p:cNvSpPr txBox="1"/>
          <p:nvPr/>
        </p:nvSpPr>
        <p:spPr>
          <a:xfrm>
            <a:off x="7707517" y="3922158"/>
            <a:ext cx="933284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endParaRPr/>
          </a:p>
        </p:txBody>
      </p:sp>
      <p:sp>
        <p:nvSpPr>
          <p:cNvPr id="6312" name="Google Shape;6312;p100"/>
          <p:cNvSpPr txBox="1"/>
          <p:nvPr/>
        </p:nvSpPr>
        <p:spPr>
          <a:xfrm>
            <a:off x="9435347" y="5878584"/>
            <a:ext cx="119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i+1</a:t>
            </a:r>
            <a:endParaRPr/>
          </a:p>
        </p:txBody>
      </p:sp>
      <p:grpSp>
        <p:nvGrpSpPr>
          <p:cNvPr id="6313" name="Google Shape;6313;p100"/>
          <p:cNvGrpSpPr/>
          <p:nvPr/>
        </p:nvGrpSpPr>
        <p:grpSpPr>
          <a:xfrm>
            <a:off x="6722609" y="4288938"/>
            <a:ext cx="2646470" cy="2006293"/>
            <a:chOff x="6722609" y="4288938"/>
            <a:chExt cx="2646470" cy="2006293"/>
          </a:xfrm>
        </p:grpSpPr>
        <p:sp>
          <p:nvSpPr>
            <p:cNvPr id="6314" name="Google Shape;6314;p100"/>
            <p:cNvSpPr txBox="1"/>
            <p:nvPr/>
          </p:nvSpPr>
          <p:spPr>
            <a:xfrm>
              <a:off x="6722609" y="5125243"/>
              <a:ext cx="2277657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6315" name="Google Shape;6315;p100"/>
            <p:cNvCxnSpPr/>
            <p:nvPr/>
          </p:nvCxnSpPr>
          <p:spPr>
            <a:xfrm>
              <a:off x="8356199" y="4288938"/>
              <a:ext cx="101288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6316" name="Google Shape;6316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6363" y="4074213"/>
            <a:ext cx="1642671" cy="1860574"/>
          </a:xfrm>
          <a:prstGeom prst="rect">
            <a:avLst/>
          </a:prstGeom>
          <a:noFill/>
          <a:ln>
            <a:noFill/>
          </a:ln>
        </p:spPr>
      </p:pic>
      <p:sp>
        <p:nvSpPr>
          <p:cNvPr id="6317" name="Google Shape;6317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2" name="Shape 6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3" name="Google Shape;6323;p10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grpSp>
        <p:nvGrpSpPr>
          <p:cNvPr id="6324" name="Google Shape;6324;p101"/>
          <p:cNvGrpSpPr/>
          <p:nvPr/>
        </p:nvGrpSpPr>
        <p:grpSpPr>
          <a:xfrm>
            <a:off x="6722609" y="562768"/>
            <a:ext cx="4416425" cy="5732463"/>
            <a:chOff x="4338638" y="295275"/>
            <a:chExt cx="4417210" cy="5732463"/>
          </a:xfrm>
        </p:grpSpPr>
        <p:pic>
          <p:nvPicPr>
            <p:cNvPr id="6325" name="Google Shape;6325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87975" y="1749425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26" name="Google Shape;6326;p101"/>
            <p:cNvGrpSpPr/>
            <p:nvPr/>
          </p:nvGrpSpPr>
          <p:grpSpPr>
            <a:xfrm>
              <a:off x="5345113" y="295275"/>
              <a:ext cx="3275012" cy="1730347"/>
              <a:chOff x="5345311" y="524250"/>
              <a:chExt cx="3274238" cy="1730214"/>
            </a:xfrm>
          </p:grpSpPr>
          <p:sp>
            <p:nvSpPr>
              <p:cNvPr id="6327" name="Google Shape;6327;p101"/>
              <p:cNvSpPr txBox="1"/>
              <p:nvPr/>
            </p:nvSpPr>
            <p:spPr>
              <a:xfrm>
                <a:off x="5345311" y="1789936"/>
                <a:ext cx="1856071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……………………..</a:t>
                </a:r>
                <a:endParaRPr/>
              </a:p>
            </p:txBody>
          </p:sp>
          <p:sp>
            <p:nvSpPr>
              <p:cNvPr id="6328" name="Google Shape;6328;p101"/>
              <p:cNvSpPr txBox="1"/>
              <p:nvPr/>
            </p:nvSpPr>
            <p:spPr>
              <a:xfrm>
                <a:off x="5808125" y="524250"/>
                <a:ext cx="2811424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1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spatial coding example: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instead of sending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N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values of same color (all purple), send only two values: color  value (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purple)  and number of repeated values (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N)</a:t>
                </a:r>
                <a:endParaRPr/>
              </a:p>
            </p:txBody>
          </p:sp>
          <p:sp>
            <p:nvSpPr>
              <p:cNvPr id="6329" name="Google Shape;6329;p101"/>
              <p:cNvSpPr txBox="1"/>
              <p:nvPr/>
            </p:nvSpPr>
            <p:spPr>
              <a:xfrm>
                <a:off x="5354771" y="1885160"/>
                <a:ext cx="1803448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……………….…….</a:t>
                </a:r>
                <a:endParaRPr/>
              </a:p>
            </p:txBody>
          </p:sp>
          <p:cxnSp>
            <p:nvCxnSpPr>
              <p:cNvPr id="6330" name="Google Shape;6330;p101"/>
              <p:cNvCxnSpPr/>
              <p:nvPr/>
            </p:nvCxnSpPr>
            <p:spPr>
              <a:xfrm flipH="1">
                <a:off x="5565603" y="756253"/>
                <a:ext cx="313958" cy="1155782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331" name="Google Shape;6331;p101"/>
            <p:cNvSpPr txBox="1"/>
            <p:nvPr/>
          </p:nvSpPr>
          <p:spPr>
            <a:xfrm>
              <a:off x="5323721" y="3654665"/>
              <a:ext cx="933450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</a:t>
              </a:r>
              <a:endParaRPr/>
            </a:p>
          </p:txBody>
        </p:sp>
        <p:sp>
          <p:nvSpPr>
            <p:cNvPr id="6332" name="Google Shape;6332;p101"/>
            <p:cNvSpPr txBox="1"/>
            <p:nvPr/>
          </p:nvSpPr>
          <p:spPr>
            <a:xfrm>
              <a:off x="7051858" y="5611091"/>
              <a:ext cx="11969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i+1</a:t>
              </a:r>
              <a:endParaRPr/>
            </a:p>
          </p:txBody>
        </p:sp>
        <p:sp>
          <p:nvSpPr>
            <p:cNvPr id="6333" name="Google Shape;6333;p101"/>
            <p:cNvSpPr txBox="1"/>
            <p:nvPr/>
          </p:nvSpPr>
          <p:spPr>
            <a:xfrm>
              <a:off x="4338638" y="4857750"/>
              <a:ext cx="2278062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6334" name="Google Shape;6334;p101"/>
            <p:cNvCxnSpPr/>
            <p:nvPr/>
          </p:nvCxnSpPr>
          <p:spPr>
            <a:xfrm>
              <a:off x="5972518" y="4021445"/>
              <a:ext cx="101306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6335" name="Google Shape;6335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12885" y="3806720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36" name="Google Shape;6336;p101"/>
          <p:cNvSpPr txBox="1"/>
          <p:nvPr/>
        </p:nvSpPr>
        <p:spPr>
          <a:xfrm>
            <a:off x="1033466" y="1458684"/>
            <a:ext cx="5254061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CBR: (constant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fixed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VBR:  (variable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changes as amount of spatial, temporal coding changes 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 1 (CD-ROM) 1.5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MPEG2 (DVD) 3-6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MPEG4 (often used in Internet,  64Kbps – 12 Mbps)</a:t>
            </a:r>
            <a:endParaRPr/>
          </a:p>
        </p:txBody>
      </p:sp>
      <p:sp>
        <p:nvSpPr>
          <p:cNvPr id="6337" name="Google Shape;6337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2" name="Shape 6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3" name="Google Shape;6343;p102"/>
          <p:cNvSpPr txBox="1"/>
          <p:nvPr>
            <p:ph idx="1" type="body"/>
          </p:nvPr>
        </p:nvSpPr>
        <p:spPr>
          <a:xfrm>
            <a:off x="847142" y="4099627"/>
            <a:ext cx="10923837" cy="2543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58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/>
              <a:t>Main challenges: 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server-to-client bandwidth will </a:t>
            </a:r>
            <a:r>
              <a:rPr i="1" lang="en-US">
                <a:solidFill>
                  <a:srgbClr val="C00000"/>
                </a:solidFill>
              </a:rPr>
              <a:t>vary</a:t>
            </a:r>
            <a:r>
              <a:rPr lang="en-US"/>
              <a:t> over time, with changing network congestion levels (in house, access network, network core, video server)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 loss, delay due to congestion will delay playout, or result in poor video quality</a:t>
            </a:r>
            <a:endParaRPr/>
          </a:p>
        </p:txBody>
      </p:sp>
      <p:sp>
        <p:nvSpPr>
          <p:cNvPr id="6344" name="Google Shape;6344;p10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sp>
        <p:nvSpPr>
          <p:cNvPr id="6345" name="Google Shape;6345;p102"/>
          <p:cNvSpPr txBox="1"/>
          <p:nvPr/>
        </p:nvSpPr>
        <p:spPr>
          <a:xfrm>
            <a:off x="885242" y="1331912"/>
            <a:ext cx="27495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scenario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6346" name="Google Shape;6346;p102"/>
          <p:cNvSpPr txBox="1"/>
          <p:nvPr/>
        </p:nvSpPr>
        <p:spPr>
          <a:xfrm>
            <a:off x="923341" y="3132138"/>
            <a:ext cx="165258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 server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(stored video)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7" name="Google Shape;6347;p102"/>
          <p:cNvGrpSpPr/>
          <p:nvPr/>
        </p:nvGrpSpPr>
        <p:grpSpPr>
          <a:xfrm>
            <a:off x="4485341" y="1757362"/>
            <a:ext cx="1815446" cy="1481575"/>
            <a:chOff x="1842724" y="2867233"/>
            <a:chExt cx="5649912" cy="3416300"/>
          </a:xfrm>
        </p:grpSpPr>
        <p:sp>
          <p:nvSpPr>
            <p:cNvPr id="6348" name="Google Shape;6348;p102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9" name="Google Shape;6349;p102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0" name="Google Shape;6350;p102"/>
          <p:cNvGrpSpPr/>
          <p:nvPr/>
        </p:nvGrpSpPr>
        <p:grpSpPr>
          <a:xfrm>
            <a:off x="1538452" y="2381945"/>
            <a:ext cx="367460" cy="735587"/>
            <a:chOff x="4140" y="429"/>
            <a:chExt cx="1425" cy="2396"/>
          </a:xfrm>
        </p:grpSpPr>
        <p:sp>
          <p:nvSpPr>
            <p:cNvPr id="6351" name="Google Shape;6351;p10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2" name="Google Shape;6352;p102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3" name="Google Shape;6353;p10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4" name="Google Shape;6354;p10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5" name="Google Shape;6355;p102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6" name="Google Shape;6356;p102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357" name="Google Shape;6357;p102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8" name="Google Shape;6358;p102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59" name="Google Shape;6359;p102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60" name="Google Shape;6360;p102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361" name="Google Shape;6361;p102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2" name="Google Shape;6362;p102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3" name="Google Shape;6363;p102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4" name="Google Shape;6364;p102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65" name="Google Shape;6365;p102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366" name="Google Shape;6366;p102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7" name="Google Shape;6367;p102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8" name="Google Shape;6368;p10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69" name="Google Shape;6369;p102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370" name="Google Shape;6370;p102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1" name="Google Shape;6371;p102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72" name="Google Shape;6372;p102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3" name="Google Shape;6373;p10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4" name="Google Shape;6374;p10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5" name="Google Shape;6375;p102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6" name="Google Shape;6376;p10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7" name="Google Shape;6377;p102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8" name="Google Shape;6378;p102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9" name="Google Shape;6379;p102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0" name="Google Shape;6380;p102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1" name="Google Shape;6381;p102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2" name="Google Shape;6382;p102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3" name="Google Shape;6383;p102"/>
          <p:cNvGrpSpPr/>
          <p:nvPr/>
        </p:nvGrpSpPr>
        <p:grpSpPr>
          <a:xfrm>
            <a:off x="1170991" y="2037185"/>
            <a:ext cx="1102382" cy="340302"/>
            <a:chOff x="3621" y="3265"/>
            <a:chExt cx="1776" cy="744"/>
          </a:xfrm>
        </p:grpSpPr>
        <p:pic>
          <p:nvPicPr>
            <p:cNvPr descr="reellogo" id="6384" name="Google Shape;6384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5" name="Google Shape;6385;p102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6" name="Google Shape;6386;p102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video1" id="6387" name="Google Shape;6387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88" name="Google Shape;6388;p102"/>
          <p:cNvGrpSpPr/>
          <p:nvPr/>
        </p:nvGrpSpPr>
        <p:grpSpPr>
          <a:xfrm>
            <a:off x="5138301" y="2487004"/>
            <a:ext cx="583292" cy="621162"/>
            <a:chOff x="4437" y="1472"/>
            <a:chExt cx="427" cy="418"/>
          </a:xfrm>
        </p:grpSpPr>
        <p:sp>
          <p:nvSpPr>
            <p:cNvPr id="6389" name="Google Shape;6389;p102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0" name="Google Shape;6390;p102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1" name="Google Shape;6391;p102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2" name="Google Shape;6392;p102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3" name="Google Shape;6393;p102"/>
          <p:cNvSpPr/>
          <p:nvPr/>
        </p:nvSpPr>
        <p:spPr>
          <a:xfrm>
            <a:off x="2405877" y="2063933"/>
            <a:ext cx="1997127" cy="1150190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4" name="Google Shape;6394;p102"/>
          <p:cNvCxnSpPr/>
          <p:nvPr/>
        </p:nvCxnSpPr>
        <p:spPr>
          <a:xfrm>
            <a:off x="2097155" y="2592961"/>
            <a:ext cx="1068231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5" name="Google Shape;6395;p102"/>
          <p:cNvCxnSpPr/>
          <p:nvPr/>
        </p:nvCxnSpPr>
        <p:spPr>
          <a:xfrm>
            <a:off x="3827908" y="2621196"/>
            <a:ext cx="1044130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6" name="Google Shape;6396;p102"/>
          <p:cNvSpPr txBox="1"/>
          <p:nvPr/>
        </p:nvSpPr>
        <p:spPr>
          <a:xfrm>
            <a:off x="5065901" y="3249340"/>
            <a:ext cx="659790" cy="3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7" name="Google Shape;6397;p102"/>
          <p:cNvSpPr txBox="1"/>
          <p:nvPr/>
        </p:nvSpPr>
        <p:spPr>
          <a:xfrm>
            <a:off x="2968679" y="2839643"/>
            <a:ext cx="790928" cy="316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8" name="Google Shape;6398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3" name="Shape 6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4" name="Google Shape;6404;p10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grpSp>
        <p:nvGrpSpPr>
          <p:cNvPr id="6405" name="Google Shape;6405;p103"/>
          <p:cNvGrpSpPr/>
          <p:nvPr/>
        </p:nvGrpSpPr>
        <p:grpSpPr>
          <a:xfrm>
            <a:off x="3788806" y="4809551"/>
            <a:ext cx="427037" cy="785812"/>
            <a:chOff x="4140" y="429"/>
            <a:chExt cx="1425" cy="2396"/>
          </a:xfrm>
        </p:grpSpPr>
        <p:sp>
          <p:nvSpPr>
            <p:cNvPr id="6406" name="Google Shape;6406;p10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7" name="Google Shape;6407;p103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8" name="Google Shape;6408;p10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9" name="Google Shape;6409;p10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0" name="Google Shape;6410;p103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11" name="Google Shape;6411;p103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412" name="Google Shape;6412;p103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3" name="Google Shape;6413;p103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14" name="Google Shape;6414;p103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15" name="Google Shape;6415;p103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416" name="Google Shape;6416;p103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7" name="Google Shape;6417;p103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18" name="Google Shape;6418;p103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9" name="Google Shape;6419;p103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20" name="Google Shape;6420;p103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421" name="Google Shape;6421;p103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2" name="Google Shape;6422;p103"/>
              <p:cNvSpPr/>
              <p:nvPr/>
            </p:nvSpPr>
            <p:spPr>
              <a:xfrm>
                <a:off x="625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3" name="Google Shape;6423;p10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24" name="Google Shape;6424;p103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425" name="Google Shape;6425;p103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6" name="Google Shape;6426;p103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7" name="Google Shape;6427;p103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8" name="Google Shape;6428;p10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9" name="Google Shape;6429;p10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0" name="Google Shape;6430;p103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1" name="Google Shape;6431;p10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2" name="Google Shape;6432;p103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3" name="Google Shape;6433;p103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4" name="Google Shape;6434;p103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5" name="Google Shape;6435;p103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6" name="Google Shape;6436;p103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7" name="Google Shape;6437;p103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8" name="Google Shape;6438;p103"/>
          <p:cNvGrpSpPr/>
          <p:nvPr/>
        </p:nvGrpSpPr>
        <p:grpSpPr>
          <a:xfrm>
            <a:off x="3361768" y="4441251"/>
            <a:ext cx="1281113" cy="363537"/>
            <a:chOff x="3621" y="3265"/>
            <a:chExt cx="1776" cy="744"/>
          </a:xfrm>
        </p:grpSpPr>
        <p:pic>
          <p:nvPicPr>
            <p:cNvPr descr="reellogo" id="6439" name="Google Shape;6439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40" name="Google Shape;6440;p103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1" name="Google Shape;6441;p103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video1" id="6442" name="Google Shape;6442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443" name="Google Shape;6443;p103"/>
          <p:cNvCxnSpPr/>
          <p:nvPr/>
        </p:nvCxnSpPr>
        <p:spPr>
          <a:xfrm>
            <a:off x="1396443" y="1371026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444" name="Google Shape;6444;p103"/>
          <p:cNvGrpSpPr/>
          <p:nvPr/>
        </p:nvGrpSpPr>
        <p:grpSpPr>
          <a:xfrm>
            <a:off x="2056843" y="3347465"/>
            <a:ext cx="1662113" cy="1489076"/>
            <a:chOff x="944" y="2184"/>
            <a:chExt cx="1047" cy="938"/>
          </a:xfrm>
        </p:grpSpPr>
        <p:sp>
          <p:nvSpPr>
            <p:cNvPr id="6445" name="Google Shape;6445;p103"/>
            <p:cNvSpPr/>
            <p:nvPr/>
          </p:nvSpPr>
          <p:spPr>
            <a:xfrm>
              <a:off x="1278" y="2184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6" name="Google Shape;6446;p103"/>
            <p:cNvSpPr txBox="1"/>
            <p:nvPr/>
          </p:nvSpPr>
          <p:spPr>
            <a:xfrm>
              <a:off x="944" y="2366"/>
              <a:ext cx="1047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eriod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recorded (e.g., 30 frames/sec)</a:t>
              </a:r>
              <a:endParaRPr/>
            </a:p>
          </p:txBody>
        </p:sp>
      </p:grpSp>
      <p:grpSp>
        <p:nvGrpSpPr>
          <p:cNvPr id="6447" name="Google Shape;6447;p103"/>
          <p:cNvGrpSpPr/>
          <p:nvPr/>
        </p:nvGrpSpPr>
        <p:grpSpPr>
          <a:xfrm>
            <a:off x="1586943" y="1691701"/>
            <a:ext cx="2552700" cy="2525712"/>
            <a:chOff x="648" y="1147"/>
            <a:chExt cx="1608" cy="1591"/>
          </a:xfrm>
        </p:grpSpPr>
        <p:grpSp>
          <p:nvGrpSpPr>
            <p:cNvPr id="6448" name="Google Shape;6448;p103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449" name="Google Shape;6449;p103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450" name="Google Shape;6450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451" name="Google Shape;6451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2" name="Google Shape;645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53" name="Google Shape;645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454" name="Google Shape;6454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5" name="Google Shape;6455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56" name="Google Shape;6456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457" name="Google Shape;6457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458" name="Google Shape;645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9" name="Google Shape;645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60" name="Google Shape;646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461" name="Google Shape;646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62" name="Google Shape;646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63" name="Google Shape;646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464" name="Google Shape;6464;p103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465" name="Google Shape;6465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66" name="Google Shape;6466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67" name="Google Shape;6467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68" name="Google Shape;6468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69" name="Google Shape;6469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70" name="Google Shape;6470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471" name="Google Shape;6471;p103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472" name="Google Shape;6472;p103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73" name="Google Shape;6473;p103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474" name="Google Shape;6474;p103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475" name="Google Shape;6475;p103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476" name="Google Shape;6476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77" name="Google Shape;647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78" name="Google Shape;647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79" name="Google Shape;6479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0" name="Google Shape;6480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1" name="Google Shape;6481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482" name="Google Shape;6482;p103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483" name="Google Shape;6483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4" name="Google Shape;6484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5" name="Google Shape;6485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86" name="Google Shape;6486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7" name="Google Shape;648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8" name="Google Shape;648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6489" name="Google Shape;6489;p103"/>
          <p:cNvGrpSpPr/>
          <p:nvPr/>
        </p:nvGrpSpPr>
        <p:grpSpPr>
          <a:xfrm>
            <a:off x="3723718" y="3122038"/>
            <a:ext cx="1373188" cy="1296988"/>
            <a:chOff x="1994" y="2042"/>
            <a:chExt cx="865" cy="817"/>
          </a:xfrm>
        </p:grpSpPr>
        <p:sp>
          <p:nvSpPr>
            <p:cNvPr id="6490" name="Google Shape;6490;p103"/>
            <p:cNvSpPr/>
            <p:nvPr/>
          </p:nvSpPr>
          <p:spPr>
            <a:xfrm rot="-5400000">
              <a:off x="2196" y="2196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1" name="Google Shape;6491;p103"/>
            <p:cNvSpPr txBox="1"/>
            <p:nvPr/>
          </p:nvSpPr>
          <p:spPr>
            <a:xfrm>
              <a:off x="1994" y="2042"/>
              <a:ext cx="638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sent</a:t>
              </a:r>
              <a:endParaRPr/>
            </a:p>
          </p:txBody>
        </p:sp>
      </p:grpSp>
      <p:sp>
        <p:nvSpPr>
          <p:cNvPr id="6492" name="Google Shape;6492;p103"/>
          <p:cNvSpPr txBox="1"/>
          <p:nvPr/>
        </p:nvSpPr>
        <p:spPr>
          <a:xfrm rot="-5433387">
            <a:off x="145493" y="2518789"/>
            <a:ext cx="19573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Cumulative data</a:t>
            </a:r>
            <a:endParaRPr/>
          </a:p>
        </p:txBody>
      </p:sp>
      <p:grpSp>
        <p:nvGrpSpPr>
          <p:cNvPr id="6493" name="Google Shape;6493;p103"/>
          <p:cNvGrpSpPr/>
          <p:nvPr/>
        </p:nvGrpSpPr>
        <p:grpSpPr>
          <a:xfrm>
            <a:off x="5009593" y="1507551"/>
            <a:ext cx="5768976" cy="4732339"/>
            <a:chOff x="2804" y="903"/>
            <a:chExt cx="3634" cy="2981"/>
          </a:xfrm>
        </p:grpSpPr>
        <p:cxnSp>
          <p:nvCxnSpPr>
            <p:cNvPr id="6494" name="Google Shape;6494;p103"/>
            <p:cNvCxnSpPr/>
            <p:nvPr/>
          </p:nvCxnSpPr>
          <p:spPr>
            <a:xfrm>
              <a:off x="3852" y="903"/>
              <a:ext cx="0" cy="229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495" name="Google Shape;6495;p103"/>
            <p:cNvSpPr txBox="1"/>
            <p:nvPr/>
          </p:nvSpPr>
          <p:spPr>
            <a:xfrm>
              <a:off x="2804" y="3198"/>
              <a:ext cx="3634" cy="68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 at this time, client  playing out early part of video, while server still sending later part of video</a:t>
              </a:r>
              <a:endParaRPr/>
            </a:p>
          </p:txBody>
        </p:sp>
      </p:grpSp>
      <p:sp>
        <p:nvSpPr>
          <p:cNvPr id="6496" name="Google Shape;6496;p103"/>
          <p:cNvSpPr txBox="1"/>
          <p:nvPr/>
        </p:nvSpPr>
        <p:spPr>
          <a:xfrm>
            <a:off x="8657668" y="4236463"/>
            <a:ext cx="620713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grpSp>
        <p:nvGrpSpPr>
          <p:cNvPr id="6497" name="Google Shape;6497;p103"/>
          <p:cNvGrpSpPr/>
          <p:nvPr/>
        </p:nvGrpSpPr>
        <p:grpSpPr>
          <a:xfrm>
            <a:off x="4478338" y="1693820"/>
            <a:ext cx="2552700" cy="2525713"/>
            <a:chOff x="648" y="1147"/>
            <a:chExt cx="1608" cy="1591"/>
          </a:xfrm>
        </p:grpSpPr>
        <p:grpSp>
          <p:nvGrpSpPr>
            <p:cNvPr id="6498" name="Google Shape;6498;p103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499" name="Google Shape;6499;p103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500" name="Google Shape;6500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01" name="Google Shape;6501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2" name="Google Shape;650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03" name="Google Shape;650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04" name="Google Shape;6504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5" name="Google Shape;6505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06" name="Google Shape;6506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07" name="Google Shape;6507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08" name="Google Shape;650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9" name="Google Shape;650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10" name="Google Shape;651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11" name="Google Shape;651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12" name="Google Shape;651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13" name="Google Shape;651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514" name="Google Shape;6514;p103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515" name="Google Shape;6515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16" name="Google Shape;6516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17" name="Google Shape;6517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18" name="Google Shape;6518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19" name="Google Shape;6519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20" name="Google Shape;6520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21" name="Google Shape;6521;p103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522" name="Google Shape;6522;p103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23" name="Google Shape;6523;p103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524" name="Google Shape;6524;p103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525" name="Google Shape;6525;p103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526" name="Google Shape;6526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27" name="Google Shape;652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28" name="Google Shape;652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29" name="Google Shape;6529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0" name="Google Shape;6530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1" name="Google Shape;6531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32" name="Google Shape;6532;p103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533" name="Google Shape;6533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4" name="Google Shape;6534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5" name="Google Shape;6535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36" name="Google Shape;6536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7" name="Google Shape;653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8" name="Google Shape;653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6539" name="Google Shape;6539;p103"/>
          <p:cNvGrpSpPr/>
          <p:nvPr/>
        </p:nvGrpSpPr>
        <p:grpSpPr>
          <a:xfrm>
            <a:off x="6369579" y="1703345"/>
            <a:ext cx="4535488" cy="2581276"/>
            <a:chOff x="7656512" y="-921322"/>
            <a:chExt cx="4535488" cy="2581276"/>
          </a:xfrm>
        </p:grpSpPr>
        <p:grpSp>
          <p:nvGrpSpPr>
            <p:cNvPr id="6540" name="Google Shape;6540;p103"/>
            <p:cNvGrpSpPr/>
            <p:nvPr/>
          </p:nvGrpSpPr>
          <p:grpSpPr>
            <a:xfrm>
              <a:off x="7656512" y="-921322"/>
              <a:ext cx="2552700" cy="2525713"/>
              <a:chOff x="648" y="1147"/>
              <a:chExt cx="1608" cy="1591"/>
            </a:xfrm>
          </p:grpSpPr>
          <p:grpSp>
            <p:nvGrpSpPr>
              <p:cNvPr id="6541" name="Google Shape;6541;p103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6542" name="Google Shape;6542;p103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6543" name="Google Shape;6543;p103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544" name="Google Shape;6544;p103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45" name="Google Shape;6545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46" name="Google Shape;6546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547" name="Google Shape;6547;p103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48" name="Google Shape;6548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49" name="Google Shape;6549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6550" name="Google Shape;6550;p103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551" name="Google Shape;6551;p103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52" name="Google Shape;6552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53" name="Google Shape;6553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554" name="Google Shape;6554;p103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55" name="Google Shape;6555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56" name="Google Shape;6556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6557" name="Google Shape;6557;p103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58" name="Google Shape;655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59" name="Google Shape;655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60" name="Google Shape;656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61" name="Google Shape;656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62" name="Google Shape;656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63" name="Google Shape;656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64" name="Google Shape;6564;p103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65" name="Google Shape;6565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66" name="Google Shape;6566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67" name="Google Shape;6567;p103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6568" name="Google Shape;6568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69" name="Google Shape;6569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0" name="Google Shape;6570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1" name="Google Shape;6571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72" name="Google Shape;6572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3" name="Google Shape;6573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4" name="Google Shape;6574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75" name="Google Shape;6575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76" name="Google Shape;6576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7" name="Google Shape;6577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8" name="Google Shape;6578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79" name="Google Shape;6579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80" name="Google Shape;6580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81" name="Google Shape;6581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6582" name="Google Shape;6582;p103"/>
            <p:cNvSpPr txBox="1"/>
            <p:nvPr/>
          </p:nvSpPr>
          <p:spPr>
            <a:xfrm>
              <a:off x="8126412" y="951929"/>
              <a:ext cx="4065588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3.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video received, played out at client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(30 frames/sec)</a:t>
              </a:r>
              <a:endParaRPr b="0" i="0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83" name="Google Shape;6583;p103"/>
            <p:cNvGrpSpPr/>
            <p:nvPr/>
          </p:nvGrpSpPr>
          <p:grpSpPr>
            <a:xfrm>
              <a:off x="9312275" y="210566"/>
              <a:ext cx="677863" cy="663575"/>
              <a:chOff x="4437" y="1472"/>
              <a:chExt cx="427" cy="418"/>
            </a:xfrm>
          </p:grpSpPr>
          <p:sp>
            <p:nvSpPr>
              <p:cNvPr id="6584" name="Google Shape;6584;p103"/>
              <p:cNvSpPr/>
              <p:nvPr/>
            </p:nvSpPr>
            <p:spPr>
              <a:xfrm>
                <a:off x="4443" y="1475"/>
                <a:ext cx="421" cy="361"/>
              </a:xfrm>
              <a:prstGeom prst="rect">
                <a:avLst/>
              </a:prstGeom>
              <a:gradFill>
                <a:gsLst>
                  <a:gs pos="0">
                    <a:srgbClr val="6B8FB3"/>
                  </a:gs>
                  <a:gs pos="50000">
                    <a:srgbClr val="99CCFF"/>
                  </a:gs>
                  <a:gs pos="100000">
                    <a:srgbClr val="6B8FB3"/>
                  </a:gs>
                </a:gsLst>
                <a:lin ang="5400000" scaled="0"/>
              </a:gra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5" name="Google Shape;6585;p103"/>
              <p:cNvSpPr/>
              <p:nvPr/>
            </p:nvSpPr>
            <p:spPr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6" name="Google Shape;6586;p103"/>
              <p:cNvSpPr/>
              <p:nvPr/>
            </p:nvSpPr>
            <p:spPr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dk2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7" name="Google Shape;6587;p103"/>
              <p:cNvSpPr/>
              <p:nvPr/>
            </p:nvSpPr>
            <p:spPr>
              <a:xfrm>
                <a:off x="4437" y="1472"/>
                <a:ext cx="423" cy="356"/>
              </a:xfrm>
              <a:prstGeom prst="rect">
                <a:avLst/>
              </a:prstGeom>
              <a:noFill/>
              <a:ln cap="flat" cmpd="sng" w="1905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6588" name="Google Shape;6588;p103"/>
          <p:cNvCxnSpPr/>
          <p:nvPr/>
        </p:nvCxnSpPr>
        <p:spPr>
          <a:xfrm flipH="1">
            <a:off x="1386918" y="4214238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6589" name="Google Shape;6589;p103"/>
          <p:cNvGrpSpPr/>
          <p:nvPr/>
        </p:nvGrpSpPr>
        <p:grpSpPr>
          <a:xfrm>
            <a:off x="3775832" y="4020339"/>
            <a:ext cx="253708" cy="320529"/>
            <a:chOff x="9051559" y="591777"/>
            <a:chExt cx="253708" cy="320529"/>
          </a:xfrm>
        </p:grpSpPr>
        <p:sp>
          <p:nvSpPr>
            <p:cNvPr id="6590" name="Google Shape;6590;p103"/>
            <p:cNvSpPr/>
            <p:nvPr/>
          </p:nvSpPr>
          <p:spPr>
            <a:xfrm rot="1596992">
              <a:off x="9109854" y="606165"/>
              <a:ext cx="133240" cy="2917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91" name="Google Shape;6591;p103"/>
            <p:cNvCxnSpPr/>
            <p:nvPr/>
          </p:nvCxnSpPr>
          <p:spPr>
            <a:xfrm flipH="1">
              <a:off x="9055510" y="634181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92" name="Google Shape;6592;p103"/>
            <p:cNvCxnSpPr/>
            <p:nvPr/>
          </p:nvCxnSpPr>
          <p:spPr>
            <a:xfrm flipH="1">
              <a:off x="9176862" y="638677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93" name="Google Shape;6593;p103"/>
          <p:cNvGrpSpPr/>
          <p:nvPr/>
        </p:nvGrpSpPr>
        <p:grpSpPr>
          <a:xfrm>
            <a:off x="4470401" y="4318000"/>
            <a:ext cx="1930400" cy="869908"/>
            <a:chOff x="6858000" y="237067"/>
            <a:chExt cx="1930400" cy="869908"/>
          </a:xfrm>
        </p:grpSpPr>
        <p:sp>
          <p:nvSpPr>
            <p:cNvPr id="6594" name="Google Shape;6594;p103"/>
            <p:cNvSpPr txBox="1"/>
            <p:nvPr/>
          </p:nvSpPr>
          <p:spPr>
            <a:xfrm>
              <a:off x="6999260" y="267187"/>
              <a:ext cx="1616075" cy="8397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delay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(fixed in this example)</a:t>
              </a:r>
              <a:endParaRPr/>
            </a:p>
          </p:txBody>
        </p:sp>
        <p:cxnSp>
          <p:nvCxnSpPr>
            <p:cNvPr id="6595" name="Google Shape;6595;p103"/>
            <p:cNvCxnSpPr/>
            <p:nvPr/>
          </p:nvCxnSpPr>
          <p:spPr>
            <a:xfrm>
              <a:off x="6858000" y="237067"/>
              <a:ext cx="193040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6596" name="Google Shape;6596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1" name="Shape 6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2" name="Google Shape;6602;p10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challenges</a:t>
            </a:r>
            <a:endParaRPr/>
          </a:p>
        </p:txBody>
      </p:sp>
      <p:sp>
        <p:nvSpPr>
          <p:cNvPr id="6603" name="Google Shape;6603;p104"/>
          <p:cNvSpPr/>
          <p:nvPr/>
        </p:nvSpPr>
        <p:spPr>
          <a:xfrm>
            <a:off x="1047801" y="1389828"/>
            <a:ext cx="8553400" cy="4488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continuous playout constraint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during client video playout, playout timing must match original timing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but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delays are variable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(jitter), so will need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client-side buffer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match continuous playout constraint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netflix rebuffering" id="6604" name="Google Shape;660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5393" y="3044149"/>
            <a:ext cx="2124226" cy="11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05" name="Google Shape;6605;p104"/>
          <p:cNvSpPr/>
          <p:nvPr/>
        </p:nvSpPr>
        <p:spPr>
          <a:xfrm>
            <a:off x="1047801" y="4167220"/>
            <a:ext cx="8171815" cy="116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challenges: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interactivity: pause, fast-forward, rewind, jump through video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packets may be lost, retransmitted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6" name="Google Shape;6606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1" name="Shape 6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2" name="Google Shape;6612;p10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playout buffering</a:t>
            </a:r>
            <a:endParaRPr/>
          </a:p>
        </p:txBody>
      </p:sp>
      <p:cxnSp>
        <p:nvCxnSpPr>
          <p:cNvPr id="6613" name="Google Shape;6613;p105"/>
          <p:cNvCxnSpPr/>
          <p:nvPr/>
        </p:nvCxnSpPr>
        <p:spPr>
          <a:xfrm>
            <a:off x="2445774" y="1667644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4" name="Google Shape;6614;p105"/>
          <p:cNvCxnSpPr/>
          <p:nvPr/>
        </p:nvCxnSpPr>
        <p:spPr>
          <a:xfrm flipH="1">
            <a:off x="2436249" y="4510856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615" name="Google Shape;6615;p105"/>
          <p:cNvSpPr txBox="1"/>
          <p:nvPr/>
        </p:nvSpPr>
        <p:spPr>
          <a:xfrm>
            <a:off x="3077599" y="1770831"/>
            <a:ext cx="188455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constant bit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rate video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grpSp>
        <p:nvGrpSpPr>
          <p:cNvPr id="6616" name="Google Shape;6616;p105"/>
          <p:cNvGrpSpPr/>
          <p:nvPr/>
        </p:nvGrpSpPr>
        <p:grpSpPr>
          <a:xfrm>
            <a:off x="2826774" y="1997844"/>
            <a:ext cx="2552700" cy="2525712"/>
            <a:chOff x="648" y="1147"/>
            <a:chExt cx="1608" cy="1591"/>
          </a:xfrm>
        </p:grpSpPr>
        <p:grpSp>
          <p:nvGrpSpPr>
            <p:cNvPr id="6617" name="Google Shape;6617;p105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618" name="Google Shape;6618;p105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619" name="Google Shape;6619;p105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620" name="Google Shape;6620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1" name="Google Shape;662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2" name="Google Shape;662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623" name="Google Shape;6623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4" name="Google Shape;6624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5" name="Google Shape;6625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626" name="Google Shape;6626;p105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627" name="Google Shape;6627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8" name="Google Shape;6628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9" name="Google Shape;6629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630" name="Google Shape;6630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31" name="Google Shape;663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32" name="Google Shape;663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633" name="Google Shape;6633;p105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634" name="Google Shape;6634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35" name="Google Shape;6635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6" name="Google Shape;6636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37" name="Google Shape;6637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38" name="Google Shape;6638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9" name="Google Shape;6639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40" name="Google Shape;6640;p105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641" name="Google Shape;6641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42" name="Google Shape;6642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643" name="Google Shape;6643;p105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644" name="Google Shape;6644;p105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645" name="Google Shape;6645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46" name="Google Shape;6646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47" name="Google Shape;664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48" name="Google Shape;6648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49" name="Google Shape;6649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0" name="Google Shape;6650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51" name="Google Shape;6651;p105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652" name="Google Shape;6652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53" name="Google Shape;6653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4" name="Google Shape;6654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55" name="Google Shape;6655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56" name="Google Shape;6656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7" name="Google Shape;665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sp>
        <p:nvSpPr>
          <p:cNvPr id="6658" name="Google Shape;6658;p105"/>
          <p:cNvSpPr txBox="1"/>
          <p:nvPr/>
        </p:nvSpPr>
        <p:spPr>
          <a:xfrm rot="-5433387">
            <a:off x="1194824" y="2814097"/>
            <a:ext cx="1957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Cumulative data</a:t>
            </a:r>
            <a:endParaRPr/>
          </a:p>
        </p:txBody>
      </p:sp>
      <p:sp>
        <p:nvSpPr>
          <p:cNvPr id="6659" name="Google Shape;6659;p105"/>
          <p:cNvSpPr txBox="1"/>
          <p:nvPr/>
        </p:nvSpPr>
        <p:spPr>
          <a:xfrm>
            <a:off x="9706999" y="4533081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6660" name="Google Shape;6660;p105"/>
          <p:cNvGrpSpPr/>
          <p:nvPr/>
        </p:nvGrpSpPr>
        <p:grpSpPr>
          <a:xfrm>
            <a:off x="4103124" y="2012131"/>
            <a:ext cx="3500438" cy="2520950"/>
            <a:chOff x="1572" y="1156"/>
            <a:chExt cx="2205" cy="1588"/>
          </a:xfrm>
        </p:grpSpPr>
        <p:grpSp>
          <p:nvGrpSpPr>
            <p:cNvPr id="6661" name="Google Shape;6661;p105"/>
            <p:cNvGrpSpPr/>
            <p:nvPr/>
          </p:nvGrpSpPr>
          <p:grpSpPr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6662" name="Google Shape;6662;p105"/>
              <p:cNvGrpSpPr/>
              <p:nvPr/>
            </p:nvGrpSpPr>
            <p:grpSpPr>
              <a:xfrm>
                <a:off x="1938" y="2600"/>
                <a:ext cx="319" cy="144"/>
                <a:chOff x="672" y="1920"/>
                <a:chExt cx="145" cy="144"/>
              </a:xfrm>
            </p:grpSpPr>
            <p:cxnSp>
              <p:nvCxnSpPr>
                <p:cNvPr id="6663" name="Google Shape;6663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64" name="Google Shape;6664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65" name="Google Shape;6665;p105"/>
              <p:cNvGrpSpPr/>
              <p:nvPr/>
            </p:nvGrpSpPr>
            <p:grpSpPr>
              <a:xfrm>
                <a:off x="2252" y="2455"/>
                <a:ext cx="72" cy="145"/>
                <a:chOff x="672" y="1919"/>
                <a:chExt cx="143" cy="145"/>
              </a:xfrm>
            </p:grpSpPr>
            <p:cxnSp>
              <p:nvCxnSpPr>
                <p:cNvPr id="6666" name="Google Shape;6666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67" name="Google Shape;6667;p105"/>
                <p:cNvCxnSpPr/>
                <p:nvPr/>
              </p:nvCxnSpPr>
              <p:spPr>
                <a:xfrm>
                  <a:off x="745" y="1849"/>
                  <a:ext cx="0" cy="14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68" name="Google Shape;6668;p105"/>
              <p:cNvGrpSpPr/>
              <p:nvPr/>
            </p:nvGrpSpPr>
            <p:grpSpPr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6669" name="Google Shape;6669;p105"/>
                <p:cNvGrpSpPr/>
                <p:nvPr/>
              </p:nvGrpSpPr>
              <p:grpSpPr>
                <a:xfrm>
                  <a:off x="672" y="1920"/>
                  <a:ext cx="146" cy="145"/>
                  <a:chOff x="672" y="1920"/>
                  <a:chExt cx="146" cy="145"/>
                </a:xfrm>
              </p:grpSpPr>
              <p:cxnSp>
                <p:nvCxnSpPr>
                  <p:cNvPr id="6670" name="Google Shape;6670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1" name="Google Shape;6671;p105"/>
                  <p:cNvCxnSpPr/>
                  <p:nvPr/>
                </p:nvCxnSpPr>
                <p:spPr>
                  <a:xfrm>
                    <a:off x="745" y="1847"/>
                    <a:ext cx="0" cy="14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72" name="Google Shape;6672;p105"/>
                <p:cNvGrpSpPr/>
                <p:nvPr/>
              </p:nvGrpSpPr>
              <p:grpSpPr>
                <a:xfrm>
                  <a:off x="817" y="1776"/>
                  <a:ext cx="146" cy="144"/>
                  <a:chOff x="671" y="1920"/>
                  <a:chExt cx="146" cy="144"/>
                </a:xfrm>
              </p:grpSpPr>
              <p:cxnSp>
                <p:nvCxnSpPr>
                  <p:cNvPr id="6673" name="Google Shape;6673;p105"/>
                  <p:cNvCxnSpPr/>
                  <p:nvPr/>
                </p:nvCxnSpPr>
                <p:spPr>
                  <a:xfrm>
                    <a:off x="671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4" name="Google Shape;6674;p105"/>
                  <p:cNvCxnSpPr/>
                  <p:nvPr/>
                </p:nvCxnSpPr>
                <p:spPr>
                  <a:xfrm>
                    <a:off x="744" y="1847"/>
                    <a:ext cx="0" cy="14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75" name="Google Shape;6675;p105"/>
              <p:cNvGrpSpPr/>
              <p:nvPr/>
            </p:nvGrpSpPr>
            <p:grpSpPr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6676" name="Google Shape;6676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77" name="Google Shape;6677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8" name="Google Shape;6678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79" name="Google Shape;6679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80" name="Google Shape;6680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81" name="Google Shape;6681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82" name="Google Shape;6682;p105"/>
              <p:cNvGrpSpPr/>
              <p:nvPr/>
            </p:nvGrpSpPr>
            <p:grpSpPr>
              <a:xfrm>
                <a:off x="3045" y="1740"/>
                <a:ext cx="52" cy="144"/>
                <a:chOff x="672" y="1920"/>
                <a:chExt cx="146" cy="144"/>
              </a:xfrm>
            </p:grpSpPr>
            <p:cxnSp>
              <p:nvCxnSpPr>
                <p:cNvPr id="6683" name="Google Shape;6683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84" name="Google Shape;6684;p105"/>
                <p:cNvCxnSpPr/>
                <p:nvPr/>
              </p:nvCxnSpPr>
              <p:spPr>
                <a:xfrm>
                  <a:off x="745" y="1849"/>
                  <a:ext cx="0" cy="14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85" name="Google Shape;6685;p105"/>
              <p:cNvGrpSpPr/>
              <p:nvPr/>
            </p:nvGrpSpPr>
            <p:grpSpPr>
              <a:xfrm>
                <a:off x="3092" y="1590"/>
                <a:ext cx="469" cy="144"/>
                <a:chOff x="672" y="1920"/>
                <a:chExt cx="145" cy="144"/>
              </a:xfrm>
            </p:grpSpPr>
            <p:cxnSp>
              <p:nvCxnSpPr>
                <p:cNvPr id="6686" name="Google Shape;6686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87" name="Google Shape;6687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88" name="Google Shape;6688;p105"/>
              <p:cNvGrpSpPr/>
              <p:nvPr/>
            </p:nvGrpSpPr>
            <p:grpSpPr>
              <a:xfrm>
                <a:off x="3550" y="1446"/>
                <a:ext cx="145" cy="144"/>
                <a:chOff x="672" y="1920"/>
                <a:chExt cx="145" cy="144"/>
              </a:xfrm>
            </p:grpSpPr>
            <p:cxnSp>
              <p:nvCxnSpPr>
                <p:cNvPr id="6689" name="Google Shape;6689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90" name="Google Shape;6690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91" name="Google Shape;6691;p105"/>
              <p:cNvGrpSpPr/>
              <p:nvPr/>
            </p:nvGrpSpPr>
            <p:grpSpPr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6692" name="Google Shape;6692;p105"/>
                <p:cNvGrpSpPr/>
                <p:nvPr/>
              </p:nvGrpSpPr>
              <p:grpSpPr>
                <a:xfrm>
                  <a:off x="672" y="1920"/>
                  <a:ext cx="144" cy="144"/>
                  <a:chOff x="672" y="1920"/>
                  <a:chExt cx="144" cy="144"/>
                </a:xfrm>
              </p:grpSpPr>
              <p:cxnSp>
                <p:nvCxnSpPr>
                  <p:cNvPr id="6693" name="Google Shape;6693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94" name="Google Shape;6694;p105"/>
                  <p:cNvCxnSpPr/>
                  <p:nvPr/>
                </p:nvCxnSpPr>
                <p:spPr>
                  <a:xfrm>
                    <a:off x="744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95" name="Google Shape;6695;p105"/>
                <p:cNvGrpSpPr/>
                <p:nvPr/>
              </p:nvGrpSpPr>
              <p:grpSpPr>
                <a:xfrm>
                  <a:off x="819" y="1776"/>
                  <a:ext cx="144" cy="144"/>
                  <a:chOff x="673" y="1920"/>
                  <a:chExt cx="144" cy="144"/>
                </a:xfrm>
              </p:grpSpPr>
              <p:cxnSp>
                <p:nvCxnSpPr>
                  <p:cNvPr id="6696" name="Google Shape;6696;p105"/>
                  <p:cNvCxnSpPr/>
                  <p:nvPr/>
                </p:nvCxnSpPr>
                <p:spPr>
                  <a:xfrm>
                    <a:off x="673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97" name="Google Shape;669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6698" name="Google Shape;6698;p105"/>
            <p:cNvSpPr txBox="1"/>
            <p:nvPr/>
          </p:nvSpPr>
          <p:spPr>
            <a:xfrm>
              <a:off x="1737" y="1724"/>
              <a:ext cx="664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cxnSp>
          <p:nvCxnSpPr>
            <p:cNvPr id="6699" name="Google Shape;6699;p105"/>
            <p:cNvCxnSpPr/>
            <p:nvPr/>
          </p:nvCxnSpPr>
          <p:spPr>
            <a:xfrm>
              <a:off x="1572" y="1938"/>
              <a:ext cx="109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700" name="Google Shape;6700;p105"/>
            <p:cNvSpPr txBox="1"/>
            <p:nvPr/>
          </p:nvSpPr>
          <p:spPr>
            <a:xfrm>
              <a:off x="2651" y="1196"/>
              <a:ext cx="87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 video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reception</a:t>
              </a:r>
              <a:endParaRPr/>
            </a:p>
          </p:txBody>
        </p:sp>
      </p:grpSp>
      <p:grpSp>
        <p:nvGrpSpPr>
          <p:cNvPr id="6701" name="Google Shape;6701;p105"/>
          <p:cNvGrpSpPr/>
          <p:nvPr/>
        </p:nvGrpSpPr>
        <p:grpSpPr>
          <a:xfrm>
            <a:off x="4582549" y="1983556"/>
            <a:ext cx="5226054" cy="3214688"/>
            <a:chOff x="1874" y="1138"/>
            <a:chExt cx="3292" cy="2025"/>
          </a:xfrm>
        </p:grpSpPr>
        <p:grpSp>
          <p:nvGrpSpPr>
            <p:cNvPr id="6702" name="Google Shape;6702;p105"/>
            <p:cNvGrpSpPr/>
            <p:nvPr/>
          </p:nvGrpSpPr>
          <p:grpSpPr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6703" name="Google Shape;6703;p105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6704" name="Google Shape;6704;p105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6705" name="Google Shape;6705;p105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706" name="Google Shape;6706;p105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07" name="Google Shape;6707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08" name="Google Shape;6708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709" name="Google Shape;6709;p105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0" name="Google Shape;6710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1" name="Google Shape;6711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6712" name="Google Shape;6712;p105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713" name="Google Shape;6713;p105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4" name="Google Shape;6714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5" name="Google Shape;6715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716" name="Google Shape;6716;p105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7" name="Google Shape;6717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8" name="Google Shape;6718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6719" name="Google Shape;6719;p105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20" name="Google Shape;6720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21" name="Google Shape;672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22" name="Google Shape;672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23" name="Google Shape;6723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24" name="Google Shape;6724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25" name="Google Shape;6725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726" name="Google Shape;6726;p105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727" name="Google Shape;6727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728" name="Google Shape;6728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729" name="Google Shape;6729;p105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6730" name="Google Shape;6730;p105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31" name="Google Shape;6731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2" name="Google Shape;6732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33" name="Google Shape;6733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34" name="Google Shape;6734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5" name="Google Shape;6735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36" name="Google Shape;6736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737" name="Google Shape;6737;p105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38" name="Google Shape;6738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9" name="Google Shape;6739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40" name="Google Shape;6740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41" name="Google Shape;6741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42" name="Google Shape;6742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43" name="Google Shape;6743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6744" name="Google Shape;6744;p105"/>
            <p:cNvSpPr txBox="1"/>
            <p:nvPr/>
          </p:nvSpPr>
          <p:spPr>
            <a:xfrm>
              <a:off x="3956" y="1225"/>
              <a:ext cx="1210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  constant bit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rate 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playout at client</a:t>
              </a:r>
              <a:endParaRPr/>
            </a:p>
          </p:txBody>
        </p:sp>
        <p:grpSp>
          <p:nvGrpSpPr>
            <p:cNvPr id="6745" name="Google Shape;6745;p105"/>
            <p:cNvGrpSpPr/>
            <p:nvPr/>
          </p:nvGrpSpPr>
          <p:grpSpPr>
            <a:xfrm>
              <a:off x="1874" y="2756"/>
              <a:ext cx="1059" cy="407"/>
              <a:chOff x="1874" y="2756"/>
              <a:chExt cx="1059" cy="407"/>
            </a:xfrm>
          </p:grpSpPr>
          <p:sp>
            <p:nvSpPr>
              <p:cNvPr id="6746" name="Google Shape;6746;p105"/>
              <p:cNvSpPr txBox="1"/>
              <p:nvPr/>
            </p:nvSpPr>
            <p:spPr>
              <a:xfrm>
                <a:off x="1874" y="2756"/>
                <a:ext cx="1059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playout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delay</a:t>
                </a:r>
                <a:endParaRPr/>
              </a:p>
            </p:txBody>
          </p:sp>
          <p:cxnSp>
            <p:nvCxnSpPr>
              <p:cNvPr id="6747" name="Google Shape;6747;p105"/>
              <p:cNvCxnSpPr/>
              <p:nvPr/>
            </p:nvCxnSpPr>
            <p:spPr>
              <a:xfrm>
                <a:off x="1938" y="2952"/>
                <a:ext cx="90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008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grpSp>
        <p:nvGrpSpPr>
          <p:cNvPr id="6748" name="Google Shape;6748;p105"/>
          <p:cNvGrpSpPr/>
          <p:nvPr/>
        </p:nvGrpSpPr>
        <p:grpSpPr>
          <a:xfrm>
            <a:off x="6060511" y="3126165"/>
            <a:ext cx="534988" cy="923926"/>
            <a:chOff x="2822" y="1854"/>
            <a:chExt cx="337" cy="582"/>
          </a:xfrm>
        </p:grpSpPr>
        <p:cxnSp>
          <p:nvCxnSpPr>
            <p:cNvPr id="6749" name="Google Shape;6749;p105"/>
            <p:cNvCxnSpPr/>
            <p:nvPr/>
          </p:nvCxnSpPr>
          <p:spPr>
            <a:xfrm rot="10800000">
              <a:off x="2988" y="1872"/>
              <a:ext cx="0" cy="564"/>
            </a:xfrm>
            <a:prstGeom prst="straightConnector1">
              <a:avLst/>
            </a:prstGeom>
            <a:noFill/>
            <a:ln cap="flat" cmpd="sng" w="19050">
              <a:solidFill>
                <a:srgbClr val="0000A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750" name="Google Shape;6750;p105"/>
            <p:cNvSpPr txBox="1"/>
            <p:nvPr/>
          </p:nvSpPr>
          <p:spPr>
            <a:xfrm rot="-5400000">
              <a:off x="2707" y="1969"/>
              <a:ext cx="567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buffered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b="0" i="0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51" name="Google Shape;6751;p105"/>
          <p:cNvSpPr txBox="1"/>
          <p:nvPr/>
        </p:nvSpPr>
        <p:spPr>
          <a:xfrm>
            <a:off x="1252768" y="5367320"/>
            <a:ext cx="10515599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client-side buffering and playout delay: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compensate for network-added delay, delay jitter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2" name="Google Shape;6752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7" name="Shape 6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" name="Google Shape;6758;p10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6759" name="Google Shape;6759;p106"/>
          <p:cNvSpPr txBox="1"/>
          <p:nvPr/>
        </p:nvSpPr>
        <p:spPr>
          <a:xfrm>
            <a:off x="822435" y="1484670"/>
            <a:ext cx="10369274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divides video file into multiple chunks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chunk encoded at multiple different rates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rate encodings stored in different files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files replicated in various CDN nodes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manifest file: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URLs for different chunks</a:t>
            </a:r>
            <a:endParaRPr/>
          </a:p>
        </p:txBody>
      </p:sp>
      <p:grpSp>
        <p:nvGrpSpPr>
          <p:cNvPr id="6760" name="Google Shape;6760;p106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6761" name="Google Shape;6761;p106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2" name="Google Shape;6762;p106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3" name="Google Shape;6763;p106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6764" name="Google Shape;6764;p106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5" name="Google Shape;6765;p106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6" name="Google Shape;6766;p106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7" name="Google Shape;6767;p106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8" name="Google Shape;6768;p106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9" name="Google Shape;6769;p106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70" name="Google Shape;6770;p106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1" name="Google Shape;6771;p106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2" name="Google Shape;6772;p106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73" name="Google Shape;6773;p106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6774" name="Google Shape;6774;p106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5" name="Google Shape;6775;p106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sp>
        <p:nvSpPr>
          <p:cNvPr id="6776" name="Google Shape;6776;p106"/>
          <p:cNvSpPr txBox="1"/>
          <p:nvPr/>
        </p:nvSpPr>
        <p:spPr>
          <a:xfrm>
            <a:off x="857469" y="4086563"/>
            <a:ext cx="10369274" cy="2566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periodically estimates server-to-client bandwidth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consulting manifest, requests one chunk at a time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chooses maximum coding rate sustainable given current bandwidth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choose different coding rates at different points in time (depending on available bandwidth at time), and from different servers</a:t>
            </a:r>
            <a:endParaRPr/>
          </a:p>
        </p:txBody>
      </p:sp>
      <p:grpSp>
        <p:nvGrpSpPr>
          <p:cNvPr id="6777" name="Google Shape;6777;p106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778" name="Google Shape;6778;p106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779" name="Google Shape;6779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0" name="Google Shape;6780;p106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1" name="Google Shape;6781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2" name="Google Shape;6782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3" name="Google Shape;6783;p106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84" name="Google Shape;6784;p106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6785" name="Google Shape;6785;p106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86" name="Google Shape;6786;p106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87" name="Google Shape;6787;p106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88" name="Google Shape;6788;p106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6789" name="Google Shape;6789;p106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0" name="Google Shape;6790;p106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91" name="Google Shape;6791;p106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2" name="Google Shape;6792;p106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93" name="Google Shape;6793;p106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6794" name="Google Shape;6794;p106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5" name="Google Shape;6795;p106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96" name="Google Shape;6796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97" name="Google Shape;6797;p106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6798" name="Google Shape;6798;p106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9" name="Google Shape;6799;p106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00" name="Google Shape;6800;p106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1" name="Google Shape;6801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2" name="Google Shape;6802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3" name="Google Shape;6803;p106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4" name="Google Shape;6804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5" name="Google Shape;6805;p106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6" name="Google Shape;6806;p106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7" name="Google Shape;6807;p106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8" name="Google Shape;6808;p106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9" name="Google Shape;6809;p106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0" name="Google Shape;6810;p106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11" name="Google Shape;6811;p106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6812" name="Google Shape;681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813" name="Google Shape;6813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814" name="Google Shape;6814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5" name="Google Shape;6815;p106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6816" name="Google Shape;6816;p106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6817" name="Google Shape;6817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8" name="Google Shape;6818;p106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9" name="Google Shape;6819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0" name="Google Shape;6820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1" name="Google Shape;6821;p106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2" name="Google Shape;6822;p106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823" name="Google Shape;6823;p106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4" name="Google Shape;6824;p106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25" name="Google Shape;6825;p106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6" name="Google Shape;6826;p106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827" name="Google Shape;6827;p106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8" name="Google Shape;6828;p106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29" name="Google Shape;6829;p106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0" name="Google Shape;6830;p106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31" name="Google Shape;6831;p106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832" name="Google Shape;6832;p106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3" name="Google Shape;6833;p106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34" name="Google Shape;6834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35" name="Google Shape;6835;p106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836" name="Google Shape;6836;p106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7" name="Google Shape;6837;p106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38" name="Google Shape;6838;p106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9" name="Google Shape;6839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0" name="Google Shape;6840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1" name="Google Shape;6841;p106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2" name="Google Shape;6842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3" name="Google Shape;6843;p106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4" name="Google Shape;6844;p106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5" name="Google Shape;6845;p106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6" name="Google Shape;6846;p106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7" name="Google Shape;6847;p106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8" name="Google Shape;6848;p106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9" name="Google Shape;6849;p106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850" name="Google Shape;685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51" name="Google Shape;6851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52" name="Google Shape;6852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53" name="Google Shape;6853;p106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6854" name="Google Shape;6854;p106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6855" name="Google Shape;6855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6" name="Google Shape;6856;p106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7" name="Google Shape;6857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8" name="Google Shape;6858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9" name="Google Shape;6859;p106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0" name="Google Shape;6860;p106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861" name="Google Shape;6861;p106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2" name="Google Shape;6862;p106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63" name="Google Shape;6863;p106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4" name="Google Shape;6864;p106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865" name="Google Shape;6865;p106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6" name="Google Shape;6866;p106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67" name="Google Shape;6867;p106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8" name="Google Shape;6868;p106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9" name="Google Shape;6869;p106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870" name="Google Shape;6870;p106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1" name="Google Shape;6871;p106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72" name="Google Shape;6872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73" name="Google Shape;6873;p106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874" name="Google Shape;6874;p106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5" name="Google Shape;6875;p106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76" name="Google Shape;6876;p106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7" name="Google Shape;6877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8" name="Google Shape;6878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9" name="Google Shape;6879;p106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0" name="Google Shape;6880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1" name="Google Shape;6881;p106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2" name="Google Shape;6882;p106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3" name="Google Shape;6883;p106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4" name="Google Shape;6884;p106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5" name="Google Shape;6885;p106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6" name="Google Shape;6886;p106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7" name="Google Shape;6887;p106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888" name="Google Shape;6888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89" name="Google Shape;6889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90" name="Google Shape;689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1" name="Google Shape;6891;p106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6892" name="Google Shape;6892;p106"/>
          <p:cNvSpPr txBox="1"/>
          <p:nvPr/>
        </p:nvSpPr>
        <p:spPr>
          <a:xfrm>
            <a:off x="8056179" y="362607"/>
            <a:ext cx="334229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ynamic,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daptive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treaming over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TTP</a:t>
            </a:r>
            <a:endParaRPr/>
          </a:p>
        </p:txBody>
      </p:sp>
      <p:sp>
        <p:nvSpPr>
          <p:cNvPr id="6893" name="Google Shape;6893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8" name="Shape 6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9" name="Google Shape;6899;p107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0" name="Google Shape;6900;p107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901" name="Google Shape;6901;p107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902" name="Google Shape;6902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3" name="Google Shape;6903;p107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4" name="Google Shape;6904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5" name="Google Shape;6905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6" name="Google Shape;6906;p107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07" name="Google Shape;6907;p107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6908" name="Google Shape;6908;p107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09" name="Google Shape;6909;p107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0" name="Google Shape;6910;p107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11" name="Google Shape;6911;p107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6912" name="Google Shape;6912;p107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3" name="Google Shape;6913;p107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4" name="Google Shape;6914;p107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5" name="Google Shape;6915;p107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16" name="Google Shape;6916;p107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6917" name="Google Shape;6917;p107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8" name="Google Shape;6918;p107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9" name="Google Shape;6919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20" name="Google Shape;6920;p107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6921" name="Google Shape;6921;p107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22" name="Google Shape;6922;p107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23" name="Google Shape;6923;p107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4" name="Google Shape;6924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5" name="Google Shape;6925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6" name="Google Shape;6926;p107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7" name="Google Shape;6927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8" name="Google Shape;6928;p107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9" name="Google Shape;6929;p107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0" name="Google Shape;6930;p107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1" name="Google Shape;6931;p107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2" name="Google Shape;6932;p107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3" name="Google Shape;6933;p107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34" name="Google Shape;6934;p107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6935" name="Google Shape;6935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936" name="Google Shape;6936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937" name="Google Shape;6937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38" name="Google Shape;6938;p107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6939" name="Google Shape;6939;p107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6940" name="Google Shape;6940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1" name="Google Shape;6941;p107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2" name="Google Shape;6942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3" name="Google Shape;6943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4" name="Google Shape;6944;p107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5" name="Google Shape;6945;p107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946" name="Google Shape;6946;p107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7" name="Google Shape;6947;p107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48" name="Google Shape;6948;p107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9" name="Google Shape;6949;p107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950" name="Google Shape;6950;p107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1" name="Google Shape;6951;p107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2" name="Google Shape;6952;p107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3" name="Google Shape;6953;p107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54" name="Google Shape;6954;p107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955" name="Google Shape;6955;p107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6" name="Google Shape;6956;p107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7" name="Google Shape;6957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58" name="Google Shape;6958;p107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959" name="Google Shape;6959;p107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0" name="Google Shape;6960;p107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61" name="Google Shape;6961;p107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2" name="Google Shape;6962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3" name="Google Shape;6963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4" name="Google Shape;6964;p107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5" name="Google Shape;6965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6" name="Google Shape;6966;p107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7" name="Google Shape;6967;p107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8" name="Google Shape;6968;p107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9" name="Google Shape;6969;p107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0" name="Google Shape;6970;p107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1" name="Google Shape;6971;p107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2" name="Google Shape;6972;p107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973" name="Google Shape;6973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974" name="Google Shape;6974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975" name="Google Shape;6975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6" name="Google Shape;6976;p107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6977" name="Google Shape;6977;p107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6978" name="Google Shape;6978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9" name="Google Shape;6979;p107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0" name="Google Shape;6980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1" name="Google Shape;6981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2" name="Google Shape;6982;p107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3" name="Google Shape;6983;p107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984" name="Google Shape;6984;p107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5" name="Google Shape;6985;p107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86" name="Google Shape;6986;p107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7" name="Google Shape;6987;p107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988" name="Google Shape;6988;p107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9" name="Google Shape;6989;p107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0" name="Google Shape;6990;p107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1" name="Google Shape;6991;p107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92" name="Google Shape;6992;p107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993" name="Google Shape;6993;p107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4" name="Google Shape;6994;p107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5" name="Google Shape;6995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96" name="Google Shape;6996;p107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997" name="Google Shape;6997;p107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8" name="Google Shape;6998;p107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9" name="Google Shape;6999;p107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0" name="Google Shape;7000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1" name="Google Shape;7001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2" name="Google Shape;7002;p107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3" name="Google Shape;7003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4" name="Google Shape;7004;p107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5" name="Google Shape;7005;p107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6" name="Google Shape;7006;p107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7" name="Google Shape;7007;p107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8" name="Google Shape;7008;p107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9" name="Google Shape;7009;p107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10" name="Google Shape;7010;p107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7011" name="Google Shape;7011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012" name="Google Shape;7012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013" name="Google Shape;7013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4" name="Google Shape;7014;p107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7015" name="Google Shape;7015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7016" name="Google Shape;7016;p107"/>
          <p:cNvSpPr txBox="1"/>
          <p:nvPr/>
        </p:nvSpPr>
        <p:spPr>
          <a:xfrm>
            <a:off x="750123" y="1425422"/>
            <a:ext cx="6582550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“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intelligence” </a:t>
            </a: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at client: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determines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(so that buffer starvation, or overflow does not occur)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encoding rate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(higher quality when more bandwidth available)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7" name="Google Shape;7017;p107"/>
          <p:cNvSpPr txBox="1"/>
          <p:nvPr/>
        </p:nvSpPr>
        <p:spPr>
          <a:xfrm>
            <a:off x="764871" y="4418084"/>
            <a:ext cx="6296330" cy="1601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(can request from URL server that is “close” to client or has high available bandwidth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</a:t>
            </a:r>
            <a:endParaRPr/>
          </a:p>
        </p:txBody>
      </p:sp>
      <p:sp>
        <p:nvSpPr>
          <p:cNvPr id="7018" name="Google Shape;7018;p107"/>
          <p:cNvSpPr txBox="1"/>
          <p:nvPr/>
        </p:nvSpPr>
        <p:spPr>
          <a:xfrm>
            <a:off x="1455456" y="6024759"/>
            <a:ext cx="9389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Streaming video =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encoding +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 + playout buffering</a:t>
            </a:r>
            <a:endParaRPr/>
          </a:p>
        </p:txBody>
      </p:sp>
      <p:grpSp>
        <p:nvGrpSpPr>
          <p:cNvPr id="7019" name="Google Shape;7019;p107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7020" name="Google Shape;7020;p107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1" name="Google Shape;7021;p107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22" name="Google Shape;7022;p107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7023" name="Google Shape;7023;p107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4" name="Google Shape;7024;p107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5" name="Google Shape;7025;p107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6" name="Google Shape;7026;p107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027" name="Google Shape;7027;p107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8" name="Google Shape;7028;p107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9" name="Google Shape;7029;p107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0" name="Google Shape;7030;p107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31" name="Google Shape;7031;p107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7032" name="Google Shape;7032;p107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3" name="Google Shape;7033;p107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pic>
        <p:nvPicPr>
          <p:cNvPr descr="A close up of a logo&#10;&#10;Description automatically generated" id="7034" name="Google Shape;7034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2982" y="1738745"/>
            <a:ext cx="2003136" cy="1602509"/>
          </a:xfrm>
          <a:prstGeom prst="rect">
            <a:avLst/>
          </a:prstGeom>
          <a:noFill/>
          <a:ln>
            <a:noFill/>
          </a:ln>
        </p:spPr>
      </p:pic>
      <p:sp>
        <p:nvSpPr>
          <p:cNvPr id="7035" name="Google Shape;7035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0" name="Shape 7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1" name="Google Shape;7041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7042" name="Google Shape;7042;p108"/>
          <p:cNvSpPr txBox="1"/>
          <p:nvPr/>
        </p:nvSpPr>
        <p:spPr>
          <a:xfrm>
            <a:off x="1013029" y="1454599"/>
            <a:ext cx="10515599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3" name="Google Shape;7043;p108"/>
          <p:cNvSpPr txBox="1"/>
          <p:nvPr/>
        </p:nvSpPr>
        <p:spPr>
          <a:xfrm>
            <a:off x="1010693" y="2685802"/>
            <a:ext cx="5831541" cy="2508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1: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single, large “mega-server”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 of network congestion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 (and possibly congested) path to distant clients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4" name="Google Shape;7044;p108"/>
          <p:cNvSpPr txBox="1"/>
          <p:nvPr/>
        </p:nvSpPr>
        <p:spPr>
          <a:xfrm>
            <a:off x="894495" y="5517758"/>
            <a:ext cx="10515599" cy="832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….quite simply: this solution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doesn’t scale</a:t>
            </a:r>
            <a:endParaRPr/>
          </a:p>
          <a:p>
            <a:pPr indent="-714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5" name="Google Shape;7045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0" name="Shape 7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1" name="Google Shape;7051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7052" name="Google Shape;7052;p109"/>
          <p:cNvSpPr txBox="1"/>
          <p:nvPr/>
        </p:nvSpPr>
        <p:spPr>
          <a:xfrm>
            <a:off x="1013029" y="1454599"/>
            <a:ext cx="10515599" cy="53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melight Networks" id="7053" name="Google Shape;705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0180" y="5450903"/>
            <a:ext cx="3162300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4" name="Google Shape;7054;p109"/>
          <p:cNvSpPr txBox="1"/>
          <p:nvPr/>
        </p:nvSpPr>
        <p:spPr>
          <a:xfrm>
            <a:off x="804333" y="3569967"/>
            <a:ext cx="10027722" cy="18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enter deep: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 CDN servers deep into many access networks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to users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Akamai: 240,000 servers deployed 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in &gt; 120 countries (2015)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kamai logo" id="7055" name="Google Shape;7055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0180" y="4361465"/>
            <a:ext cx="1886155" cy="7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6" name="Google Shape;7056;p109"/>
          <p:cNvSpPr txBox="1"/>
          <p:nvPr/>
        </p:nvSpPr>
        <p:spPr>
          <a:xfrm>
            <a:off x="976811" y="2027274"/>
            <a:ext cx="10515599" cy="15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1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2: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store/serve multiple copies of videos at multiple geographically distributed sites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(CDN)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7" name="Google Shape;7057;p109"/>
          <p:cNvSpPr txBox="1"/>
          <p:nvPr/>
        </p:nvSpPr>
        <p:spPr>
          <a:xfrm>
            <a:off x="812910" y="4953442"/>
            <a:ext cx="7025245" cy="1337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bring home: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 number (10’s) of larger clusters in POPs near access nets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by Limelight</a:t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0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8" name="Google Shape;7058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3" name="Shape 7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4" name="Google Shape;7064;p110"/>
          <p:cNvGrpSpPr/>
          <p:nvPr/>
        </p:nvGrpSpPr>
        <p:grpSpPr>
          <a:xfrm>
            <a:off x="3201988" y="3854450"/>
            <a:ext cx="347662" cy="681038"/>
            <a:chOff x="7923189" y="2486664"/>
            <a:chExt cx="360377" cy="884585"/>
          </a:xfrm>
        </p:grpSpPr>
        <p:pic>
          <p:nvPicPr>
            <p:cNvPr id="7065" name="Google Shape;7065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66" name="Google Shape;7066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067" name="Google Shape;7067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8" name="Google Shape;7068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9" name="Google Shape;7069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0" name="Google Shape;7070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1" name="Google Shape;7071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72" name="Google Shape;7072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073" name="Google Shape;7073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4" name="Google Shape;7074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75" name="Google Shape;7075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76" name="Google Shape;7076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077" name="Google Shape;7077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8" name="Google Shape;7078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79" name="Google Shape;7079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0" name="Google Shape;7080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81" name="Google Shape;7081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082" name="Google Shape;7082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83" name="Google Shape;7083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84" name="Google Shape;7084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85" name="Google Shape;7085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086" name="Google Shape;7086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87" name="Google Shape;7087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88" name="Google Shape;7088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9" name="Google Shape;7089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0" name="Google Shape;7090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1" name="Google Shape;7091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2" name="Google Shape;7092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3" name="Google Shape;7093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4" name="Google Shape;7094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5" name="Google Shape;7095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6" name="Google Shape;7096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7" name="Google Shape;7097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8" name="Google Shape;7098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99" name="Google Shape;7099;p110"/>
          <p:cNvGrpSpPr/>
          <p:nvPr/>
        </p:nvGrpSpPr>
        <p:grpSpPr>
          <a:xfrm>
            <a:off x="2595259" y="3758984"/>
            <a:ext cx="7093255" cy="2812587"/>
            <a:chOff x="340191" y="1406493"/>
            <a:chExt cx="8496780" cy="5350000"/>
          </a:xfrm>
        </p:grpSpPr>
        <p:sp>
          <p:nvSpPr>
            <p:cNvPr id="7100" name="Google Shape;7100;p110"/>
            <p:cNvSpPr/>
            <p:nvPr/>
          </p:nvSpPr>
          <p:spPr>
            <a:xfrm>
              <a:off x="1825539" y="224138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1" name="Google Shape;7101;p110"/>
            <p:cNvSpPr/>
            <p:nvPr/>
          </p:nvSpPr>
          <p:spPr>
            <a:xfrm>
              <a:off x="669683" y="304142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2" name="Google Shape;7102;p110"/>
            <p:cNvSpPr/>
            <p:nvPr/>
          </p:nvSpPr>
          <p:spPr>
            <a:xfrm>
              <a:off x="6334646" y="249536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3" name="Google Shape;7103;p110"/>
            <p:cNvSpPr/>
            <p:nvPr/>
          </p:nvSpPr>
          <p:spPr>
            <a:xfrm>
              <a:off x="1241260" y="535264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4" name="Google Shape;7104;p110"/>
            <p:cNvSpPr/>
            <p:nvPr/>
          </p:nvSpPr>
          <p:spPr>
            <a:xfrm>
              <a:off x="822104" y="473039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5" name="Google Shape;7105;p110"/>
            <p:cNvSpPr/>
            <p:nvPr/>
          </p:nvSpPr>
          <p:spPr>
            <a:xfrm>
              <a:off x="593473" y="407004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6" name="Google Shape;7106;p110"/>
            <p:cNvSpPr/>
            <p:nvPr/>
          </p:nvSpPr>
          <p:spPr>
            <a:xfrm>
              <a:off x="7084047" y="2927129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7" name="Google Shape;7107;p110"/>
            <p:cNvSpPr/>
            <p:nvPr/>
          </p:nvSpPr>
          <p:spPr>
            <a:xfrm>
              <a:off x="3425955" y="200010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8" name="Google Shape;7108;p110"/>
            <p:cNvSpPr/>
            <p:nvPr/>
          </p:nvSpPr>
          <p:spPr>
            <a:xfrm>
              <a:off x="1050735" y="264775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9" name="Google Shape;7109;p110"/>
            <p:cNvSpPr/>
            <p:nvPr/>
          </p:nvSpPr>
          <p:spPr>
            <a:xfrm>
              <a:off x="4340478" y="197470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0" name="Google Shape;7110;p110"/>
            <p:cNvSpPr/>
            <p:nvPr/>
          </p:nvSpPr>
          <p:spPr>
            <a:xfrm>
              <a:off x="7401590" y="560662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1" name="Google Shape;7111;p110"/>
            <p:cNvSpPr/>
            <p:nvPr/>
          </p:nvSpPr>
          <p:spPr>
            <a:xfrm>
              <a:off x="8239903" y="495897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2" name="Google Shape;7112;p110"/>
            <p:cNvSpPr/>
            <p:nvPr/>
          </p:nvSpPr>
          <p:spPr>
            <a:xfrm>
              <a:off x="8011272" y="404464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3" name="Google Shape;7113;p110"/>
            <p:cNvSpPr/>
            <p:nvPr/>
          </p:nvSpPr>
          <p:spPr>
            <a:xfrm>
              <a:off x="5166089" y="5847904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4" name="Google Shape;7114;p110"/>
            <p:cNvSpPr/>
            <p:nvPr/>
          </p:nvSpPr>
          <p:spPr>
            <a:xfrm>
              <a:off x="4251566" y="598759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5" name="Google Shape;7115;p110"/>
            <p:cNvSpPr/>
            <p:nvPr/>
          </p:nvSpPr>
          <p:spPr>
            <a:xfrm>
              <a:off x="3032202" y="5835205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6" name="Google Shape;7116;p110"/>
            <p:cNvSpPr txBox="1"/>
            <p:nvPr/>
          </p:nvSpPr>
          <p:spPr>
            <a:xfrm rot="307360">
              <a:off x="5241475" y="1433583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7" name="Google Shape;7117;p110"/>
            <p:cNvSpPr txBox="1"/>
            <p:nvPr/>
          </p:nvSpPr>
          <p:spPr>
            <a:xfrm rot="2829263">
              <a:off x="7390643" y="3033433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8" name="Google Shape;7118;p110"/>
            <p:cNvSpPr txBox="1"/>
            <p:nvPr/>
          </p:nvSpPr>
          <p:spPr>
            <a:xfrm rot="9845918">
              <a:off x="6341242" y="5649524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9" name="Google Shape;7119;p110"/>
            <p:cNvSpPr txBox="1"/>
            <p:nvPr/>
          </p:nvSpPr>
          <p:spPr>
            <a:xfrm rot="-9948738">
              <a:off x="2063761" y="5696601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20" name="Google Shape;7120;p110"/>
            <p:cNvSpPr txBox="1"/>
            <p:nvPr/>
          </p:nvSpPr>
          <p:spPr>
            <a:xfrm rot="-4992697">
              <a:off x="195355" y="3660810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21" name="Google Shape;7121;p110"/>
            <p:cNvSpPr txBox="1"/>
            <p:nvPr/>
          </p:nvSpPr>
          <p:spPr>
            <a:xfrm rot="-520651">
              <a:off x="2482309" y="1498435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122" name="Google Shape;7122;p110"/>
            <p:cNvGrpSpPr/>
            <p:nvPr/>
          </p:nvGrpSpPr>
          <p:grpSpPr>
            <a:xfrm>
              <a:off x="4546600" y="3746500"/>
              <a:ext cx="3225800" cy="1117600"/>
              <a:chOff x="7848600" y="2044700"/>
              <a:chExt cx="3200399" cy="1371600"/>
            </a:xfrm>
          </p:grpSpPr>
          <p:sp>
            <p:nvSpPr>
              <p:cNvPr id="7123" name="Google Shape;7123;p110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24" name="Google Shape;7124;p110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125" name="Google Shape;7125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26" name="Google Shape;7126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27" name="Google Shape;7127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28" name="Google Shape;7128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29" name="Google Shape;7129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30" name="Google Shape;7130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31" name="Google Shape;7131;p110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32" name="Google Shape;7132;p110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133" name="Google Shape;7133;p110"/>
              <p:cNvCxnSpPr>
                <a:stCxn id="7132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4" name="Google Shape;7134;p110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5" name="Google Shape;7135;p110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6" name="Google Shape;7136;p110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7" name="Google Shape;7137;p110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8" name="Google Shape;7138;p110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9" name="Google Shape;7139;p110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0" name="Google Shape;7140;p110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1" name="Google Shape;7141;p110"/>
              <p:cNvCxnSpPr>
                <a:endCxn id="7125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142" name="Google Shape;7142;p110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143" name="Google Shape;7143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44" name="Google Shape;7144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45" name="Google Shape;7145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46" name="Google Shape;7146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47" name="Google Shape;7147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48" name="Google Shape;7148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49" name="Google Shape;7149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0" name="Google Shape;7150;p110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51" name="Google Shape;7151;p110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152" name="Google Shape;7152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53" name="Google Shape;7153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54" name="Google Shape;7154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55" name="Google Shape;7155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56" name="Google Shape;7156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57" name="Google Shape;7157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58" name="Google Shape;7158;p110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9" name="Google Shape;7159;p110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60" name="Google Shape;7160;p110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161" name="Google Shape;7161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62" name="Google Shape;7162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63" name="Google Shape;7163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64" name="Google Shape;7164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65" name="Google Shape;7165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66" name="Google Shape;7166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67" name="Google Shape;7167;p110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68" name="Google Shape;7168;p110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69" name="Google Shape;7169;p110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170" name="Google Shape;7170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71" name="Google Shape;7171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72" name="Google Shape;7172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73" name="Google Shape;7173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74" name="Google Shape;7174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75" name="Google Shape;7175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76" name="Google Shape;7176;p110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7" name="Google Shape;7177;p110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78" name="Google Shape;7178;p110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179" name="Google Shape;7179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0" name="Google Shape;7180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1" name="Google Shape;7181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82" name="Google Shape;7182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83" name="Google Shape;7183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84" name="Google Shape;7184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85" name="Google Shape;7185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86" name="Google Shape;7186;p110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87" name="Google Shape;7187;p110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188" name="Google Shape;7188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9" name="Google Shape;7189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0" name="Google Shape;7190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91" name="Google Shape;7191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92" name="Google Shape;7192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93" name="Google Shape;7193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94" name="Google Shape;7194;p110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95" name="Google Shape;7195;p110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96" name="Google Shape;7196;p110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197" name="Google Shape;7197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8" name="Google Shape;7198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9" name="Google Shape;7199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00" name="Google Shape;7200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01" name="Google Shape;7201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02" name="Google Shape;7202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03" name="Google Shape;7203;p110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4" name="Google Shape;7204;p110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205" name="Google Shape;7205;p110"/>
            <p:cNvGrpSpPr/>
            <p:nvPr/>
          </p:nvGrpSpPr>
          <p:grpSpPr>
            <a:xfrm>
              <a:off x="1803400" y="2755900"/>
              <a:ext cx="3467100" cy="1193800"/>
              <a:chOff x="7848600" y="2044700"/>
              <a:chExt cx="3200399" cy="1371600"/>
            </a:xfrm>
          </p:grpSpPr>
          <p:sp>
            <p:nvSpPr>
              <p:cNvPr id="7206" name="Google Shape;7206;p110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07" name="Google Shape;7207;p110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208" name="Google Shape;7208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09" name="Google Shape;7209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10" name="Google Shape;7210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11" name="Google Shape;7211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12" name="Google Shape;7212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13" name="Google Shape;7213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14" name="Google Shape;7214;p110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15" name="Google Shape;7215;p110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216" name="Google Shape;7216;p110"/>
              <p:cNvCxnSpPr>
                <a:stCxn id="7215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7" name="Google Shape;7217;p110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8" name="Google Shape;7218;p110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9" name="Google Shape;7219;p110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0" name="Google Shape;7220;p110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1" name="Google Shape;7221;p110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2" name="Google Shape;7222;p110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3" name="Google Shape;7223;p110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4" name="Google Shape;7224;p110"/>
              <p:cNvCxnSpPr>
                <a:endCxn id="7208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225" name="Google Shape;7225;p110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226" name="Google Shape;7226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27" name="Google Shape;7227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28" name="Google Shape;7228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29" name="Google Shape;7229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30" name="Google Shape;7230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31" name="Google Shape;7231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32" name="Google Shape;7232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33" name="Google Shape;7233;p110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34" name="Google Shape;7234;p110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235" name="Google Shape;7235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36" name="Google Shape;7236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37" name="Google Shape;7237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38" name="Google Shape;7238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39" name="Google Shape;7239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40" name="Google Shape;7240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41" name="Google Shape;7241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2" name="Google Shape;7242;p110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43" name="Google Shape;7243;p110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244" name="Google Shape;7244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45" name="Google Shape;7245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46" name="Google Shape;7246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47" name="Google Shape;7247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48" name="Google Shape;7248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49" name="Google Shape;7249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50" name="Google Shape;7250;p110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1" name="Google Shape;7251;p110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52" name="Google Shape;7252;p110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253" name="Google Shape;7253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54" name="Google Shape;7254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55" name="Google Shape;7255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56" name="Google Shape;7256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57" name="Google Shape;7257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58" name="Google Shape;7258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59" name="Google Shape;7259;p110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60" name="Google Shape;7260;p110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61" name="Google Shape;7261;p110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262" name="Google Shape;7262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63" name="Google Shape;7263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64" name="Google Shape;7264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65" name="Google Shape;7265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66" name="Google Shape;7266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67" name="Google Shape;7267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68" name="Google Shape;7268;p110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69" name="Google Shape;7269;p110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0" name="Google Shape;7270;p110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271" name="Google Shape;7271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72" name="Google Shape;7272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73" name="Google Shape;7273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74" name="Google Shape;7274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75" name="Google Shape;7275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76" name="Google Shape;7276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77" name="Google Shape;7277;p110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78" name="Google Shape;7278;p110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9" name="Google Shape;7279;p110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280" name="Google Shape;7280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81" name="Google Shape;7281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82" name="Google Shape;7282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83" name="Google Shape;7283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84" name="Google Shape;7284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85" name="Google Shape;7285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86" name="Google Shape;7286;p110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7" name="Google Shape;7287;p110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288" name="Google Shape;7288;p110"/>
            <p:cNvSpPr/>
            <p:nvPr/>
          </p:nvSpPr>
          <p:spPr>
            <a:xfrm>
              <a:off x="1498600" y="4165600"/>
              <a:ext cx="3086100" cy="1168400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89" name="Google Shape;7289;p110"/>
            <p:cNvGrpSpPr/>
            <p:nvPr/>
          </p:nvGrpSpPr>
          <p:grpSpPr>
            <a:xfrm>
              <a:off x="2152272" y="4264503"/>
              <a:ext cx="513732" cy="157430"/>
              <a:chOff x="2356" y="1300"/>
              <a:chExt cx="555" cy="194"/>
            </a:xfrm>
          </p:grpSpPr>
          <p:sp>
            <p:nvSpPr>
              <p:cNvPr id="7290" name="Google Shape;7290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1" name="Google Shape;7291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2" name="Google Shape;7292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293" name="Google Shape;7293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294" name="Google Shape;7294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5" name="Google Shape;7295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296" name="Google Shape;7296;p110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7" name="Google Shape;7297;p110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298" name="Google Shape;7298;p110"/>
            <p:cNvCxnSpPr>
              <a:stCxn id="7297" idx="0"/>
            </p:cNvCxnSpPr>
            <p:nvPr/>
          </p:nvCxnSpPr>
          <p:spPr>
            <a:xfrm>
              <a:off x="2662301" y="4315627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9" name="Google Shape;7299;p110"/>
            <p:cNvCxnSpPr/>
            <p:nvPr/>
          </p:nvCxnSpPr>
          <p:spPr>
            <a:xfrm>
              <a:off x="3112420" y="4624312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0" name="Google Shape;7300;p110"/>
            <p:cNvCxnSpPr/>
            <p:nvPr/>
          </p:nvCxnSpPr>
          <p:spPr>
            <a:xfrm flipH="1" rot="10800000">
              <a:off x="2920421" y="4797923"/>
              <a:ext cx="234667" cy="388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1" name="Google Shape;7301;p110"/>
            <p:cNvCxnSpPr/>
            <p:nvPr/>
          </p:nvCxnSpPr>
          <p:spPr>
            <a:xfrm flipH="1" rot="10800000">
              <a:off x="2636021" y="4648552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2" name="Google Shape;7302;p110"/>
            <p:cNvCxnSpPr/>
            <p:nvPr/>
          </p:nvCxnSpPr>
          <p:spPr>
            <a:xfrm flipH="1" rot="10800000">
              <a:off x="2348386" y="4902261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3" name="Google Shape;7303;p110"/>
            <p:cNvCxnSpPr/>
            <p:nvPr/>
          </p:nvCxnSpPr>
          <p:spPr>
            <a:xfrm flipH="1" rot="10800000">
              <a:off x="3127556" y="4839861"/>
              <a:ext cx="243934" cy="2154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4" name="Google Shape;7304;p110"/>
            <p:cNvCxnSpPr/>
            <p:nvPr/>
          </p:nvCxnSpPr>
          <p:spPr>
            <a:xfrm rot="10800000">
              <a:off x="3601475" y="4827802"/>
              <a:ext cx="342282" cy="1059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5" name="Google Shape;7305;p110"/>
            <p:cNvCxnSpPr/>
            <p:nvPr/>
          </p:nvCxnSpPr>
          <p:spPr>
            <a:xfrm flipH="1" rot="10800000">
              <a:off x="3587812" y="4532358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6" name="Google Shape;7306;p110"/>
            <p:cNvCxnSpPr>
              <a:endCxn id="7290" idx="4"/>
            </p:cNvCxnSpPr>
            <p:nvPr/>
          </p:nvCxnSpPr>
          <p:spPr>
            <a:xfrm rot="10800000">
              <a:off x="2408212" y="4421933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307" name="Google Shape;7307;p110"/>
            <p:cNvGrpSpPr/>
            <p:nvPr/>
          </p:nvGrpSpPr>
          <p:grpSpPr>
            <a:xfrm>
              <a:off x="3144256" y="4681760"/>
              <a:ext cx="513732" cy="157430"/>
              <a:chOff x="2356" y="1300"/>
              <a:chExt cx="555" cy="194"/>
            </a:xfrm>
          </p:grpSpPr>
          <p:sp>
            <p:nvSpPr>
              <p:cNvPr id="7308" name="Google Shape;7308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09" name="Google Shape;7309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0" name="Google Shape;7310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11" name="Google Shape;7311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12" name="Google Shape;7312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3" name="Google Shape;7313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14" name="Google Shape;7314;p110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5" name="Google Shape;7315;p110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16" name="Google Shape;7316;p110"/>
            <p:cNvGrpSpPr/>
            <p:nvPr/>
          </p:nvGrpSpPr>
          <p:grpSpPr>
            <a:xfrm>
              <a:off x="2389607" y="4745634"/>
              <a:ext cx="513732" cy="157430"/>
              <a:chOff x="2356" y="1300"/>
              <a:chExt cx="555" cy="194"/>
            </a:xfrm>
          </p:grpSpPr>
          <p:sp>
            <p:nvSpPr>
              <p:cNvPr id="7317" name="Google Shape;7317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8" name="Google Shape;7318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9" name="Google Shape;7319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20" name="Google Shape;7320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21" name="Google Shape;7321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22" name="Google Shape;7322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23" name="Google Shape;7323;p110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4" name="Google Shape;7324;p110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25" name="Google Shape;7325;p110"/>
            <p:cNvGrpSpPr/>
            <p:nvPr/>
          </p:nvGrpSpPr>
          <p:grpSpPr>
            <a:xfrm>
              <a:off x="2667612" y="4492209"/>
              <a:ext cx="513732" cy="157430"/>
              <a:chOff x="2356" y="1300"/>
              <a:chExt cx="555" cy="194"/>
            </a:xfrm>
          </p:grpSpPr>
          <p:sp>
            <p:nvSpPr>
              <p:cNvPr id="7326" name="Google Shape;7326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7" name="Google Shape;7327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8" name="Google Shape;7328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29" name="Google Shape;7329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30" name="Google Shape;7330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31" name="Google Shape;7331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32" name="Google Shape;7332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3" name="Google Shape;7333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34" name="Google Shape;7334;p110"/>
            <p:cNvGrpSpPr/>
            <p:nvPr/>
          </p:nvGrpSpPr>
          <p:grpSpPr>
            <a:xfrm>
              <a:off x="3578257" y="4374518"/>
              <a:ext cx="513732" cy="157430"/>
              <a:chOff x="2356" y="1300"/>
              <a:chExt cx="555" cy="194"/>
            </a:xfrm>
          </p:grpSpPr>
          <p:sp>
            <p:nvSpPr>
              <p:cNvPr id="7335" name="Google Shape;7335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6" name="Google Shape;7336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7" name="Google Shape;7337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38" name="Google Shape;7338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39" name="Google Shape;7339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40" name="Google Shape;7340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41" name="Google Shape;7341;p110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2" name="Google Shape;7342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43" name="Google Shape;7343;p110"/>
            <p:cNvGrpSpPr/>
            <p:nvPr/>
          </p:nvGrpSpPr>
          <p:grpSpPr>
            <a:xfrm>
              <a:off x="3797517" y="4879602"/>
              <a:ext cx="513732" cy="157430"/>
              <a:chOff x="2356" y="1300"/>
              <a:chExt cx="555" cy="194"/>
            </a:xfrm>
          </p:grpSpPr>
          <p:sp>
            <p:nvSpPr>
              <p:cNvPr id="7344" name="Google Shape;7344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5" name="Google Shape;7345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6" name="Google Shape;7346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47" name="Google Shape;7347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48" name="Google Shape;7348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49" name="Google Shape;7349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50" name="Google Shape;7350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1" name="Google Shape;7351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52" name="Google Shape;7352;p110"/>
            <p:cNvGrpSpPr/>
            <p:nvPr/>
          </p:nvGrpSpPr>
          <p:grpSpPr>
            <a:xfrm>
              <a:off x="2927730" y="5041361"/>
              <a:ext cx="513732" cy="157430"/>
              <a:chOff x="2356" y="1300"/>
              <a:chExt cx="555" cy="194"/>
            </a:xfrm>
          </p:grpSpPr>
          <p:sp>
            <p:nvSpPr>
              <p:cNvPr id="7353" name="Google Shape;7353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54" name="Google Shape;7354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55" name="Google Shape;7355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56" name="Google Shape;7356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57" name="Google Shape;7357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58" name="Google Shape;7358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59" name="Google Shape;7359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0" name="Google Shape;7360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61" name="Google Shape;7361;p110"/>
            <p:cNvGrpSpPr/>
            <p:nvPr/>
          </p:nvGrpSpPr>
          <p:grpSpPr>
            <a:xfrm>
              <a:off x="2066981" y="4995528"/>
              <a:ext cx="513732" cy="157430"/>
              <a:chOff x="2356" y="1300"/>
              <a:chExt cx="555" cy="194"/>
            </a:xfrm>
          </p:grpSpPr>
          <p:sp>
            <p:nvSpPr>
              <p:cNvPr id="7362" name="Google Shape;7362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3" name="Google Shape;7363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4" name="Google Shape;7364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65" name="Google Shape;7365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66" name="Google Shape;7366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67" name="Google Shape;7367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68" name="Google Shape;7368;p110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9" name="Google Shape;7369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370" name="Google Shape;7370;p110"/>
            <p:cNvCxnSpPr>
              <a:endCxn id="7210" idx="1"/>
            </p:cNvCxnSpPr>
            <p:nvPr/>
          </p:nvCxnSpPr>
          <p:spPr>
            <a:xfrm>
              <a:off x="2383486" y="2610474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1" name="Google Shape;7371;p110"/>
            <p:cNvCxnSpPr>
              <a:stCxn id="7108" idx="8"/>
              <a:endCxn id="7372" idx="2"/>
            </p:cNvCxnSpPr>
            <p:nvPr/>
          </p:nvCxnSpPr>
          <p:spPr>
            <a:xfrm>
              <a:off x="1455738" y="2990814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3" name="Google Shape;7373;p110"/>
            <p:cNvCxnSpPr>
              <a:endCxn id="7372" idx="3"/>
            </p:cNvCxnSpPr>
            <p:nvPr/>
          </p:nvCxnSpPr>
          <p:spPr>
            <a:xfrm>
              <a:off x="1235234" y="3271143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4" name="Google Shape;7374;p110"/>
            <p:cNvCxnSpPr>
              <a:endCxn id="7255" idx="1"/>
            </p:cNvCxnSpPr>
            <p:nvPr/>
          </p:nvCxnSpPr>
          <p:spPr>
            <a:xfrm>
              <a:off x="3915618" y="2411781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5" name="Google Shape;7375;p110"/>
            <p:cNvCxnSpPr>
              <a:endCxn id="7255" idx="0"/>
            </p:cNvCxnSpPr>
            <p:nvPr/>
          </p:nvCxnSpPr>
          <p:spPr>
            <a:xfrm flipH="1">
              <a:off x="4426303" y="2390060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6" name="Google Shape;7376;p110"/>
            <p:cNvCxnSpPr>
              <a:endCxn id="7172" idx="0"/>
            </p:cNvCxnSpPr>
            <p:nvPr/>
          </p:nvCxnSpPr>
          <p:spPr>
            <a:xfrm>
              <a:off x="6770957" y="2900235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7" name="Google Shape;7377;p110"/>
            <p:cNvCxnSpPr/>
            <p:nvPr/>
          </p:nvCxnSpPr>
          <p:spPr>
            <a:xfrm flipH="1">
              <a:off x="7137400" y="3251200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8" name="Google Shape;7378;p110"/>
            <p:cNvCxnSpPr>
              <a:stCxn id="7112" idx="4"/>
              <a:endCxn id="7186" idx="0"/>
            </p:cNvCxnSpPr>
            <p:nvPr/>
          </p:nvCxnSpPr>
          <p:spPr>
            <a:xfrm flipH="1">
              <a:off x="7483613" y="4229100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9" name="Google Shape;7379;p110"/>
            <p:cNvCxnSpPr/>
            <p:nvPr/>
          </p:nvCxnSpPr>
          <p:spPr>
            <a:xfrm rot="10800000">
              <a:off x="7454900" y="4573588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0" name="Google Shape;7380;p110"/>
            <p:cNvCxnSpPr>
              <a:endCxn id="7188" idx="5"/>
            </p:cNvCxnSpPr>
            <p:nvPr/>
          </p:nvCxnSpPr>
          <p:spPr>
            <a:xfrm rot="10800000">
              <a:off x="6496434" y="4722379"/>
              <a:ext cx="10479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1" name="Google Shape;7381;p110"/>
            <p:cNvCxnSpPr>
              <a:stCxn id="7113" idx="0"/>
              <a:endCxn id="7382" idx="5"/>
            </p:cNvCxnSpPr>
            <p:nvPr/>
          </p:nvCxnSpPr>
          <p:spPr>
            <a:xfrm rot="10800000">
              <a:off x="5085361" y="5684604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3" name="Google Shape;7383;p110"/>
            <p:cNvCxnSpPr/>
            <p:nvPr/>
          </p:nvCxnSpPr>
          <p:spPr>
            <a:xfrm rot="10800000">
              <a:off x="4068763" y="5045075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4" name="Google Shape;7384;p110"/>
            <p:cNvCxnSpPr/>
            <p:nvPr/>
          </p:nvCxnSpPr>
          <p:spPr>
            <a:xfrm flipH="1" rot="10800000">
              <a:off x="3389313" y="5689600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5" name="Google Shape;7385;p110"/>
            <p:cNvCxnSpPr/>
            <p:nvPr/>
          </p:nvCxnSpPr>
          <p:spPr>
            <a:xfrm flipH="1" rot="10800000">
              <a:off x="1790700" y="5160963"/>
              <a:ext cx="401638" cy="2095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6" name="Google Shape;7386;p110"/>
            <p:cNvCxnSpPr/>
            <p:nvPr/>
          </p:nvCxnSpPr>
          <p:spPr>
            <a:xfrm flipH="1" rot="10800000">
              <a:off x="1179513" y="4467225"/>
              <a:ext cx="227012" cy="282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7" name="Google Shape;7387;p110"/>
            <p:cNvCxnSpPr>
              <a:endCxn id="7372" idx="5"/>
            </p:cNvCxnSpPr>
            <p:nvPr/>
          </p:nvCxnSpPr>
          <p:spPr>
            <a:xfrm flipH="1" rot="10800000">
              <a:off x="1156034" y="4369521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88" name="Google Shape;7388;p110"/>
            <p:cNvSpPr/>
            <p:nvPr/>
          </p:nvSpPr>
          <p:spPr>
            <a:xfrm>
              <a:off x="5677595" y="2896842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89" name="Google Shape;7389;p110"/>
            <p:cNvCxnSpPr/>
            <p:nvPr/>
          </p:nvCxnSpPr>
          <p:spPr>
            <a:xfrm>
              <a:off x="4713288" y="3051291"/>
              <a:ext cx="964307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0" name="Google Shape;7390;p110"/>
            <p:cNvCxnSpPr/>
            <p:nvPr/>
          </p:nvCxnSpPr>
          <p:spPr>
            <a:xfrm>
              <a:off x="6139457" y="3169615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1" name="Google Shape;7391;p110"/>
            <p:cNvCxnSpPr>
              <a:stCxn id="7337" idx="0"/>
            </p:cNvCxnSpPr>
            <p:nvPr/>
          </p:nvCxnSpPr>
          <p:spPr>
            <a:xfrm flipH="1" rot="10800000">
              <a:off x="3833272" y="4233218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92" name="Google Shape;7392;p110"/>
            <p:cNvSpPr/>
            <p:nvPr/>
          </p:nvSpPr>
          <p:spPr>
            <a:xfrm>
              <a:off x="3932543" y="3959560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7393" name="Google Shape;7393;p110"/>
            <p:cNvCxnSpPr>
              <a:stCxn id="7392" idx="6"/>
              <a:endCxn id="7131" idx="1"/>
            </p:cNvCxnSpPr>
            <p:nvPr/>
          </p:nvCxnSpPr>
          <p:spPr>
            <a:xfrm flipH="1" rot="10800000">
              <a:off x="4460773" y="3953985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4" name="Google Shape;7394;p110"/>
            <p:cNvCxnSpPr/>
            <p:nvPr/>
          </p:nvCxnSpPr>
          <p:spPr>
            <a:xfrm>
              <a:off x="3692525" y="3789363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5" name="Google Shape;7395;p110"/>
            <p:cNvCxnSpPr>
              <a:stCxn id="7262" idx="5"/>
              <a:endCxn id="7127" idx="1"/>
            </p:cNvCxnSpPr>
            <p:nvPr/>
          </p:nvCxnSpPr>
          <p:spPr>
            <a:xfrm>
              <a:off x="4876256" y="3633041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6" name="Google Shape;7396;p110"/>
            <p:cNvCxnSpPr>
              <a:endCxn id="7292" idx="0"/>
            </p:cNvCxnSpPr>
            <p:nvPr/>
          </p:nvCxnSpPr>
          <p:spPr>
            <a:xfrm flipH="1">
              <a:off x="2407287" y="3753303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7" name="Google Shape;7397;p110"/>
            <p:cNvCxnSpPr>
              <a:stCxn id="7351" idx="0"/>
            </p:cNvCxnSpPr>
            <p:nvPr/>
          </p:nvCxnSpPr>
          <p:spPr>
            <a:xfrm flipH="1" rot="10800000">
              <a:off x="4307761" y="4626575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82" name="Google Shape;7382;p110"/>
            <p:cNvSpPr/>
            <p:nvPr/>
          </p:nvSpPr>
          <p:spPr>
            <a:xfrm>
              <a:off x="3340100" y="5359400"/>
              <a:ext cx="2044700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2" name="Google Shape;7372;p110"/>
            <p:cNvSpPr/>
            <p:nvPr/>
          </p:nvSpPr>
          <p:spPr>
            <a:xfrm rot="5400000">
              <a:off x="867569" y="3736182"/>
              <a:ext cx="1252537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98" name="Google Shape;7398;p110"/>
            <p:cNvCxnSpPr>
              <a:stCxn id="7372" idx="0"/>
              <a:endCxn id="7286" idx="0"/>
            </p:cNvCxnSpPr>
            <p:nvPr/>
          </p:nvCxnSpPr>
          <p:spPr>
            <a:xfrm flipH="1" rot="10800000">
              <a:off x="1684338" y="3653682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9" name="Google Shape;7399;p110"/>
            <p:cNvCxnSpPr>
              <a:endCxn id="7296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0" name="Google Shape;7400;p110"/>
          <p:cNvGrpSpPr/>
          <p:nvPr/>
        </p:nvGrpSpPr>
        <p:grpSpPr>
          <a:xfrm>
            <a:off x="1963738" y="4827588"/>
            <a:ext cx="874712" cy="506412"/>
            <a:chOff x="2889" y="1631"/>
            <a:chExt cx="980" cy="743"/>
          </a:xfrm>
        </p:grpSpPr>
        <p:sp>
          <p:nvSpPr>
            <p:cNvPr id="7401" name="Google Shape;7401;p1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2" name="Google Shape;7402;p110"/>
            <p:cNvSpPr/>
            <p:nvPr/>
          </p:nvSpPr>
          <p:spPr>
            <a:xfrm>
              <a:off x="2889" y="1631"/>
              <a:ext cx="980" cy="254"/>
            </a:xfrm>
            <a:prstGeom prst="triangle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403" name="Google Shape;7403;p110"/>
          <p:cNvCxnSpPr/>
          <p:nvPr/>
        </p:nvCxnSpPr>
        <p:spPr>
          <a:xfrm flipH="1" rot="10800000">
            <a:off x="2686051" y="5280026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4" name="Google Shape;7404;p110"/>
          <p:cNvSpPr txBox="1"/>
          <p:nvPr>
            <p:ph idx="1" type="body"/>
          </p:nvPr>
        </p:nvSpPr>
        <p:spPr>
          <a:xfrm>
            <a:off x="991026" y="1906929"/>
            <a:ext cx="1053595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subscriber requests content, service provider returns manifest</a:t>
            </a:r>
            <a:endParaRPr/>
          </a:p>
        </p:txBody>
      </p:sp>
      <p:sp>
        <p:nvSpPr>
          <p:cNvPr id="7405" name="Google Shape;7405;p1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grpSp>
        <p:nvGrpSpPr>
          <p:cNvPr id="7406" name="Google Shape;7406;p110"/>
          <p:cNvGrpSpPr/>
          <p:nvPr/>
        </p:nvGrpSpPr>
        <p:grpSpPr>
          <a:xfrm>
            <a:off x="4745038" y="5776913"/>
            <a:ext cx="349250" cy="679450"/>
            <a:chOff x="7923189" y="2486664"/>
            <a:chExt cx="360377" cy="884585"/>
          </a:xfrm>
        </p:grpSpPr>
        <p:pic>
          <p:nvPicPr>
            <p:cNvPr id="7407" name="Google Shape;740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08" name="Google Shape;740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09" name="Google Shape;740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0" name="Google Shape;741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1" name="Google Shape;741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2" name="Google Shape;741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3" name="Google Shape;741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14" name="Google Shape;741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15" name="Google Shape;741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16" name="Google Shape;741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17" name="Google Shape;741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18" name="Google Shape;741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19" name="Google Shape;741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0" name="Google Shape;742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21" name="Google Shape;742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2" name="Google Shape;742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23" name="Google Shape;742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24" name="Google Shape;742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5" name="Google Shape;742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26" name="Google Shape;742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27" name="Google Shape;742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28" name="Google Shape;742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9" name="Google Shape;742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30" name="Google Shape;743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1" name="Google Shape;743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2" name="Google Shape;743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3" name="Google Shape;743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4" name="Google Shape;743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5" name="Google Shape;743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6" name="Google Shape;743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7" name="Google Shape;743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8" name="Google Shape;743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9" name="Google Shape;743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0" name="Google Shape;744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41" name="Google Shape;7441;p110"/>
          <p:cNvGrpSpPr/>
          <p:nvPr/>
        </p:nvGrpSpPr>
        <p:grpSpPr>
          <a:xfrm>
            <a:off x="5911851" y="3556000"/>
            <a:ext cx="347663" cy="679450"/>
            <a:chOff x="7923189" y="2486664"/>
            <a:chExt cx="360377" cy="884585"/>
          </a:xfrm>
        </p:grpSpPr>
        <p:pic>
          <p:nvPicPr>
            <p:cNvPr id="7442" name="Google Shape;7442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43" name="Google Shape;7443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44" name="Google Shape;744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5" name="Google Shape;7445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6" name="Google Shape;744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7" name="Google Shape;744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8" name="Google Shape;7448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49" name="Google Shape;7449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50" name="Google Shape;7450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1" name="Google Shape;7451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52" name="Google Shape;7452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53" name="Google Shape;7453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54" name="Google Shape;7454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5" name="Google Shape;7455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56" name="Google Shape;7456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7" name="Google Shape;7457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58" name="Google Shape;7458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59" name="Google Shape;7459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60" name="Google Shape;7460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61" name="Google Shape;746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62" name="Google Shape;7462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63" name="Google Shape;7463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64" name="Google Shape;7464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65" name="Google Shape;7465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6" name="Google Shape;746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7" name="Google Shape;746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8" name="Google Shape;7468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9" name="Google Shape;746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0" name="Google Shape;7470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1" name="Google Shape;7471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2" name="Google Shape;7472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3" name="Google Shape;7473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4" name="Google Shape;7474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5" name="Google Shape;7475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76" name="Google Shape;7476;p110"/>
          <p:cNvGrpSpPr/>
          <p:nvPr/>
        </p:nvGrpSpPr>
        <p:grpSpPr>
          <a:xfrm>
            <a:off x="6608763" y="5611814"/>
            <a:ext cx="347662" cy="681037"/>
            <a:chOff x="7923189" y="2486664"/>
            <a:chExt cx="360377" cy="884585"/>
          </a:xfrm>
        </p:grpSpPr>
        <p:pic>
          <p:nvPicPr>
            <p:cNvPr id="7477" name="Google Shape;747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78" name="Google Shape;747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79" name="Google Shape;747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0" name="Google Shape;748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1" name="Google Shape;748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2" name="Google Shape;748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3" name="Google Shape;748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84" name="Google Shape;748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85" name="Google Shape;748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86" name="Google Shape;748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87" name="Google Shape;748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88" name="Google Shape;748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89" name="Google Shape;748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0" name="Google Shape;749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91" name="Google Shape;749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2" name="Google Shape;749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93" name="Google Shape;749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94" name="Google Shape;749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5" name="Google Shape;749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96" name="Google Shape;749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97" name="Google Shape;749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98" name="Google Shape;749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9" name="Google Shape;749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00" name="Google Shape;750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1" name="Google Shape;750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2" name="Google Shape;750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3" name="Google Shape;750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4" name="Google Shape;750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5" name="Google Shape;750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6" name="Google Shape;750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7" name="Google Shape;750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8" name="Google Shape;750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9" name="Google Shape;750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0" name="Google Shape;751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11" name="Google Shape;7511;p110"/>
          <p:cNvGrpSpPr/>
          <p:nvPr/>
        </p:nvGrpSpPr>
        <p:grpSpPr>
          <a:xfrm>
            <a:off x="7591426" y="3829050"/>
            <a:ext cx="347663" cy="681038"/>
            <a:chOff x="7923189" y="2486664"/>
            <a:chExt cx="360377" cy="884585"/>
          </a:xfrm>
        </p:grpSpPr>
        <p:pic>
          <p:nvPicPr>
            <p:cNvPr id="7512" name="Google Shape;7512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13" name="Google Shape;7513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514" name="Google Shape;751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5" name="Google Shape;7515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6" name="Google Shape;751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7" name="Google Shape;751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8" name="Google Shape;7518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19" name="Google Shape;7519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520" name="Google Shape;7520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21" name="Google Shape;7521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22" name="Google Shape;7522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3" name="Google Shape;7523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524" name="Google Shape;7524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25" name="Google Shape;7525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26" name="Google Shape;7526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7" name="Google Shape;7527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8" name="Google Shape;7528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529" name="Google Shape;7529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30" name="Google Shape;7530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31" name="Google Shape;753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32" name="Google Shape;7532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533" name="Google Shape;7533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34" name="Google Shape;7534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35" name="Google Shape;7535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6" name="Google Shape;753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7" name="Google Shape;753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8" name="Google Shape;7538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9" name="Google Shape;753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0" name="Google Shape;7540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1" name="Google Shape;7541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2" name="Google Shape;7542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3" name="Google Shape;7543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4" name="Google Shape;7544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5" name="Google Shape;7545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46" name="Google Shape;7546;p110"/>
          <p:cNvGrpSpPr/>
          <p:nvPr/>
        </p:nvGrpSpPr>
        <p:grpSpPr>
          <a:xfrm>
            <a:off x="3646488" y="5629275"/>
            <a:ext cx="347662" cy="681038"/>
            <a:chOff x="7923189" y="2486664"/>
            <a:chExt cx="360377" cy="884585"/>
          </a:xfrm>
        </p:grpSpPr>
        <p:pic>
          <p:nvPicPr>
            <p:cNvPr id="7547" name="Google Shape;754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48" name="Google Shape;754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549" name="Google Shape;754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0" name="Google Shape;755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1" name="Google Shape;755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2" name="Google Shape;755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3" name="Google Shape;755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54" name="Google Shape;755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555" name="Google Shape;755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56" name="Google Shape;755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57" name="Google Shape;755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58" name="Google Shape;755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559" name="Google Shape;755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0" name="Google Shape;756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61" name="Google Shape;756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2" name="Google Shape;756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63" name="Google Shape;756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564" name="Google Shape;756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5" name="Google Shape;756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66" name="Google Shape;756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67" name="Google Shape;756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568" name="Google Shape;756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9" name="Google Shape;756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70" name="Google Shape;757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1" name="Google Shape;757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2" name="Google Shape;757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3" name="Google Shape;757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4" name="Google Shape;757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5" name="Google Shape;757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6" name="Google Shape;757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7" name="Google Shape;757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8" name="Google Shape;757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9" name="Google Shape;757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0" name="Google Shape;758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81" name="Google Shape;7581;p110"/>
          <p:cNvGrpSpPr/>
          <p:nvPr/>
        </p:nvGrpSpPr>
        <p:grpSpPr>
          <a:xfrm>
            <a:off x="9231313" y="4368777"/>
            <a:ext cx="990600" cy="731861"/>
            <a:chOff x="7707615" y="4368869"/>
            <a:chExt cx="990551" cy="731658"/>
          </a:xfrm>
        </p:grpSpPr>
        <p:pic>
          <p:nvPicPr>
            <p:cNvPr id="7582" name="Google Shape;7582;p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71833" y="4640202"/>
              <a:ext cx="822008" cy="460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83" name="Google Shape;7583;p110"/>
            <p:cNvGrpSpPr/>
            <p:nvPr/>
          </p:nvGrpSpPr>
          <p:grpSpPr>
            <a:xfrm flipH="1">
              <a:off x="7707615" y="4368892"/>
              <a:ext cx="225477" cy="395239"/>
              <a:chOff x="4143" y="429"/>
              <a:chExt cx="1422" cy="2392"/>
            </a:xfrm>
          </p:grpSpPr>
          <p:sp>
            <p:nvSpPr>
              <p:cNvPr id="7584" name="Google Shape;758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5" name="Google Shape;7585;p110"/>
              <p:cNvSpPr/>
              <p:nvPr/>
            </p:nvSpPr>
            <p:spPr>
              <a:xfrm>
                <a:off x="4203" y="429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6" name="Google Shape;758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7" name="Google Shape;758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8" name="Google Shape;7588;p110"/>
              <p:cNvSpPr/>
              <p:nvPr/>
            </p:nvSpPr>
            <p:spPr>
              <a:xfrm>
                <a:off x="4213" y="688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89" name="Google Shape;7589;p110"/>
              <p:cNvGrpSpPr/>
              <p:nvPr/>
            </p:nvGrpSpPr>
            <p:grpSpPr>
              <a:xfrm>
                <a:off x="4754" y="669"/>
                <a:ext cx="581" cy="144"/>
                <a:chOff x="620" y="2569"/>
                <a:chExt cx="725" cy="138"/>
              </a:xfrm>
            </p:grpSpPr>
            <p:sp>
              <p:nvSpPr>
                <p:cNvPr id="7590" name="Google Shape;7590;p110"/>
                <p:cNvSpPr/>
                <p:nvPr/>
              </p:nvSpPr>
              <p:spPr>
                <a:xfrm>
                  <a:off x="620" y="2569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1" name="Google Shape;7591;p110"/>
                <p:cNvSpPr/>
                <p:nvPr/>
              </p:nvSpPr>
              <p:spPr>
                <a:xfrm>
                  <a:off x="645" y="2587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92" name="Google Shape;7592;p110"/>
              <p:cNvSpPr/>
              <p:nvPr/>
            </p:nvSpPr>
            <p:spPr>
              <a:xfrm>
                <a:off x="4223" y="1015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93" name="Google Shape;7593;p110"/>
              <p:cNvGrpSpPr/>
              <p:nvPr/>
            </p:nvGrpSpPr>
            <p:grpSpPr>
              <a:xfrm>
                <a:off x="4744" y="996"/>
                <a:ext cx="581" cy="134"/>
                <a:chOff x="610" y="2570"/>
                <a:chExt cx="725" cy="139"/>
              </a:xfrm>
            </p:grpSpPr>
            <p:sp>
              <p:nvSpPr>
                <p:cNvPr id="7594" name="Google Shape;7594;p110"/>
                <p:cNvSpPr/>
                <p:nvPr/>
              </p:nvSpPr>
              <p:spPr>
                <a:xfrm>
                  <a:off x="610" y="2570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5" name="Google Shape;7595;p110"/>
                <p:cNvSpPr/>
                <p:nvPr/>
              </p:nvSpPr>
              <p:spPr>
                <a:xfrm>
                  <a:off x="623" y="2590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96" name="Google Shape;7596;p110"/>
              <p:cNvSpPr/>
              <p:nvPr/>
            </p:nvSpPr>
            <p:spPr>
              <a:xfrm>
                <a:off x="4223" y="1361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7" name="Google Shape;7597;p110"/>
              <p:cNvSpPr/>
              <p:nvPr/>
            </p:nvSpPr>
            <p:spPr>
              <a:xfrm>
                <a:off x="4234" y="164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98" name="Google Shape;7598;p110"/>
              <p:cNvGrpSpPr/>
              <p:nvPr/>
            </p:nvGrpSpPr>
            <p:grpSpPr>
              <a:xfrm>
                <a:off x="4734" y="1629"/>
                <a:ext cx="571" cy="144"/>
                <a:chOff x="613" y="2570"/>
                <a:chExt cx="711" cy="133"/>
              </a:xfrm>
            </p:grpSpPr>
            <p:sp>
              <p:nvSpPr>
                <p:cNvPr id="7599" name="Google Shape;7599;p110"/>
                <p:cNvSpPr/>
                <p:nvPr/>
              </p:nvSpPr>
              <p:spPr>
                <a:xfrm>
                  <a:off x="613" y="2570"/>
                  <a:ext cx="711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0" name="Google Shape;7600;p110"/>
                <p:cNvSpPr/>
                <p:nvPr/>
              </p:nvSpPr>
              <p:spPr>
                <a:xfrm>
                  <a:off x="625" y="2588"/>
                  <a:ext cx="673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01" name="Google Shape;760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02" name="Google Shape;7602;p110"/>
              <p:cNvGrpSpPr/>
              <p:nvPr/>
            </p:nvGrpSpPr>
            <p:grpSpPr>
              <a:xfrm>
                <a:off x="4744" y="1303"/>
                <a:ext cx="580" cy="163"/>
                <a:chOff x="620" y="2544"/>
                <a:chExt cx="723" cy="163"/>
              </a:xfrm>
            </p:grpSpPr>
            <p:sp>
              <p:nvSpPr>
                <p:cNvPr id="7603" name="Google Shape;7603;p110"/>
                <p:cNvSpPr/>
                <p:nvPr/>
              </p:nvSpPr>
              <p:spPr>
                <a:xfrm>
                  <a:off x="620" y="2544"/>
                  <a:ext cx="723" cy="16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4" name="Google Shape;7604;p110"/>
                <p:cNvSpPr/>
                <p:nvPr/>
              </p:nvSpPr>
              <p:spPr>
                <a:xfrm>
                  <a:off x="645" y="2582"/>
                  <a:ext cx="673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05" name="Google Shape;7605;p110"/>
              <p:cNvSpPr/>
              <p:nvPr/>
            </p:nvSpPr>
            <p:spPr>
              <a:xfrm>
                <a:off x="5255" y="429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6" name="Google Shape;760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7" name="Google Shape;760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8" name="Google Shape;7608;p110"/>
              <p:cNvSpPr/>
              <p:nvPr/>
            </p:nvSpPr>
            <p:spPr>
              <a:xfrm>
                <a:off x="5515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9" name="Google Shape;760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0" name="Google Shape;7610;p110"/>
              <p:cNvSpPr/>
              <p:nvPr/>
            </p:nvSpPr>
            <p:spPr>
              <a:xfrm>
                <a:off x="4143" y="2677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1" name="Google Shape;7611;p110"/>
              <p:cNvSpPr/>
              <p:nvPr/>
            </p:nvSpPr>
            <p:spPr>
              <a:xfrm>
                <a:off x="4203" y="2705"/>
                <a:ext cx="1071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2" name="Google Shape;7612;p110"/>
              <p:cNvSpPr/>
              <p:nvPr/>
            </p:nvSpPr>
            <p:spPr>
              <a:xfrm>
                <a:off x="4314" y="2379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3" name="Google Shape;7613;p110"/>
              <p:cNvSpPr/>
              <p:nvPr/>
            </p:nvSpPr>
            <p:spPr>
              <a:xfrm>
                <a:off x="4484" y="2379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4" name="Google Shape;7614;p110"/>
              <p:cNvSpPr/>
              <p:nvPr/>
            </p:nvSpPr>
            <p:spPr>
              <a:xfrm>
                <a:off x="4664" y="2379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5" name="Google Shape;7615;p110"/>
              <p:cNvSpPr/>
              <p:nvPr/>
            </p:nvSpPr>
            <p:spPr>
              <a:xfrm>
                <a:off x="5064" y="1831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6" name="Google Shape;7616;p110"/>
            <p:cNvGrpSpPr/>
            <p:nvPr/>
          </p:nvGrpSpPr>
          <p:grpSpPr>
            <a:xfrm flipH="1">
              <a:off x="7939390" y="4368869"/>
              <a:ext cx="227063" cy="396726"/>
              <a:chOff x="4136" y="427"/>
              <a:chExt cx="1432" cy="2401"/>
            </a:xfrm>
          </p:grpSpPr>
          <p:sp>
            <p:nvSpPr>
              <p:cNvPr id="7617" name="Google Shape;7617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8" name="Google Shape;7618;p110"/>
              <p:cNvSpPr/>
              <p:nvPr/>
            </p:nvSpPr>
            <p:spPr>
              <a:xfrm>
                <a:off x="4207" y="427"/>
                <a:ext cx="1051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9" name="Google Shape;7619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0" name="Google Shape;7620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1" name="Google Shape;7621;p110"/>
              <p:cNvSpPr/>
              <p:nvPr/>
            </p:nvSpPr>
            <p:spPr>
              <a:xfrm>
                <a:off x="4207" y="696"/>
                <a:ext cx="60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22" name="Google Shape;7622;p110"/>
              <p:cNvGrpSpPr/>
              <p:nvPr/>
            </p:nvGrpSpPr>
            <p:grpSpPr>
              <a:xfrm>
                <a:off x="4747" y="667"/>
                <a:ext cx="581" cy="144"/>
                <a:chOff x="612" y="2567"/>
                <a:chExt cx="725" cy="138"/>
              </a:xfrm>
            </p:grpSpPr>
            <p:sp>
              <p:nvSpPr>
                <p:cNvPr id="7623" name="Google Shape;7623;p110"/>
                <p:cNvSpPr/>
                <p:nvPr/>
              </p:nvSpPr>
              <p:spPr>
                <a:xfrm>
                  <a:off x="612" y="2567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4" name="Google Shape;7624;p110"/>
                <p:cNvSpPr/>
                <p:nvPr/>
              </p:nvSpPr>
              <p:spPr>
                <a:xfrm>
                  <a:off x="624" y="2586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25" name="Google Shape;7625;p110"/>
              <p:cNvSpPr/>
              <p:nvPr/>
            </p:nvSpPr>
            <p:spPr>
              <a:xfrm>
                <a:off x="4227" y="102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26" name="Google Shape;7626;p110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627" name="Google Shape;7627;p110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8" name="Google Shape;7628;p110"/>
                <p:cNvSpPr/>
                <p:nvPr/>
              </p:nvSpPr>
              <p:spPr>
                <a:xfrm>
                  <a:off x="627" y="2588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29" name="Google Shape;7629;p110"/>
              <p:cNvSpPr/>
              <p:nvPr/>
            </p:nvSpPr>
            <p:spPr>
              <a:xfrm>
                <a:off x="4217" y="135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0" name="Google Shape;7630;p110"/>
              <p:cNvSpPr/>
              <p:nvPr/>
            </p:nvSpPr>
            <p:spPr>
              <a:xfrm>
                <a:off x="4227" y="165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1" name="Google Shape;7631;p110"/>
              <p:cNvGrpSpPr/>
              <p:nvPr/>
            </p:nvGrpSpPr>
            <p:grpSpPr>
              <a:xfrm>
                <a:off x="4737" y="1628"/>
                <a:ext cx="571" cy="153"/>
                <a:chOff x="617" y="2569"/>
                <a:chExt cx="711" cy="141"/>
              </a:xfrm>
            </p:grpSpPr>
            <p:sp>
              <p:nvSpPr>
                <p:cNvPr id="7632" name="Google Shape;7632;p110"/>
                <p:cNvSpPr/>
                <p:nvPr/>
              </p:nvSpPr>
              <p:spPr>
                <a:xfrm>
                  <a:off x="617" y="2569"/>
                  <a:ext cx="711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3" name="Google Shape;7633;p110"/>
                <p:cNvSpPr/>
                <p:nvPr/>
              </p:nvSpPr>
              <p:spPr>
                <a:xfrm>
                  <a:off x="629" y="2586"/>
                  <a:ext cx="67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34" name="Google Shape;7634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5" name="Google Shape;7635;p110"/>
              <p:cNvGrpSpPr/>
              <p:nvPr/>
            </p:nvGrpSpPr>
            <p:grpSpPr>
              <a:xfrm>
                <a:off x="4737" y="1330"/>
                <a:ext cx="611" cy="134"/>
                <a:chOff x="612" y="2571"/>
                <a:chExt cx="761" cy="134"/>
              </a:xfrm>
            </p:grpSpPr>
            <p:sp>
              <p:nvSpPr>
                <p:cNvPr id="7636" name="Google Shape;7636;p110"/>
                <p:cNvSpPr/>
                <p:nvPr/>
              </p:nvSpPr>
              <p:spPr>
                <a:xfrm>
                  <a:off x="612" y="2571"/>
                  <a:ext cx="761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7" name="Google Shape;7637;p110"/>
                <p:cNvSpPr/>
                <p:nvPr/>
              </p:nvSpPr>
              <p:spPr>
                <a:xfrm>
                  <a:off x="624" y="2590"/>
                  <a:ext cx="72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38" name="Google Shape;7638;p110"/>
              <p:cNvSpPr/>
              <p:nvPr/>
            </p:nvSpPr>
            <p:spPr>
              <a:xfrm>
                <a:off x="5248" y="427"/>
                <a:ext cx="70" cy="229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9" name="Google Shape;7639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0" name="Google Shape;7640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1" name="Google Shape;7641;p110"/>
              <p:cNvSpPr/>
              <p:nvPr/>
            </p:nvSpPr>
            <p:spPr>
              <a:xfrm>
                <a:off x="5518" y="2617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2" name="Google Shape;7642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3" name="Google Shape;7643;p110"/>
              <p:cNvSpPr/>
              <p:nvPr/>
            </p:nvSpPr>
            <p:spPr>
              <a:xfrm>
                <a:off x="4136" y="2684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4" name="Google Shape;7644;p110"/>
              <p:cNvSpPr/>
              <p:nvPr/>
            </p:nvSpPr>
            <p:spPr>
              <a:xfrm>
                <a:off x="4207" y="2713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5" name="Google Shape;7645;p110"/>
              <p:cNvSpPr/>
              <p:nvPr/>
            </p:nvSpPr>
            <p:spPr>
              <a:xfrm>
                <a:off x="4307" y="2387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6" name="Google Shape;7646;p110"/>
              <p:cNvSpPr/>
              <p:nvPr/>
            </p:nvSpPr>
            <p:spPr>
              <a:xfrm>
                <a:off x="4487" y="2387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7" name="Google Shape;7647;p110"/>
              <p:cNvSpPr/>
              <p:nvPr/>
            </p:nvSpPr>
            <p:spPr>
              <a:xfrm>
                <a:off x="4657" y="2387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8" name="Google Shape;7648;p110"/>
              <p:cNvSpPr/>
              <p:nvPr/>
            </p:nvSpPr>
            <p:spPr>
              <a:xfrm>
                <a:off x="5068" y="1839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49" name="Google Shape;7649;p110"/>
            <p:cNvGrpSpPr/>
            <p:nvPr/>
          </p:nvGrpSpPr>
          <p:grpSpPr>
            <a:xfrm flipH="1">
              <a:off x="8472689" y="4384738"/>
              <a:ext cx="225477" cy="395239"/>
              <a:chOff x="4140" y="431"/>
              <a:chExt cx="1422" cy="2392"/>
            </a:xfrm>
          </p:grpSpPr>
          <p:sp>
            <p:nvSpPr>
              <p:cNvPr id="7650" name="Google Shape;7650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1" name="Google Shape;7651;p110"/>
              <p:cNvSpPr/>
              <p:nvPr/>
            </p:nvSpPr>
            <p:spPr>
              <a:xfrm>
                <a:off x="4200" y="431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2" name="Google Shape;7652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3" name="Google Shape;7653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4" name="Google Shape;7654;p110"/>
              <p:cNvSpPr/>
              <p:nvPr/>
            </p:nvSpPr>
            <p:spPr>
              <a:xfrm>
                <a:off x="4210" y="690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55" name="Google Shape;7655;p110"/>
              <p:cNvGrpSpPr/>
              <p:nvPr/>
            </p:nvGrpSpPr>
            <p:grpSpPr>
              <a:xfrm>
                <a:off x="4751" y="671"/>
                <a:ext cx="581" cy="144"/>
                <a:chOff x="616" y="2571"/>
                <a:chExt cx="725" cy="138"/>
              </a:xfrm>
            </p:grpSpPr>
            <p:sp>
              <p:nvSpPr>
                <p:cNvPr id="7656" name="Google Shape;7656;p110"/>
                <p:cNvSpPr/>
                <p:nvPr/>
              </p:nvSpPr>
              <p:spPr>
                <a:xfrm>
                  <a:off x="616" y="2571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7" name="Google Shape;7657;p110"/>
                <p:cNvSpPr/>
                <p:nvPr/>
              </p:nvSpPr>
              <p:spPr>
                <a:xfrm>
                  <a:off x="629" y="2590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58" name="Google Shape;7658;p110"/>
              <p:cNvSpPr/>
              <p:nvPr/>
            </p:nvSpPr>
            <p:spPr>
              <a:xfrm>
                <a:off x="4220" y="101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59" name="Google Shape;7659;p110"/>
              <p:cNvGrpSpPr/>
              <p:nvPr/>
            </p:nvGrpSpPr>
            <p:grpSpPr>
              <a:xfrm>
                <a:off x="4721" y="998"/>
                <a:ext cx="581" cy="134"/>
                <a:chOff x="581" y="2572"/>
                <a:chExt cx="725" cy="139"/>
              </a:xfrm>
            </p:grpSpPr>
            <p:sp>
              <p:nvSpPr>
                <p:cNvPr id="7660" name="Google Shape;7660;p110"/>
                <p:cNvSpPr/>
                <p:nvPr/>
              </p:nvSpPr>
              <p:spPr>
                <a:xfrm>
                  <a:off x="581" y="2572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1" name="Google Shape;7661;p110"/>
                <p:cNvSpPr/>
                <p:nvPr/>
              </p:nvSpPr>
              <p:spPr>
                <a:xfrm>
                  <a:off x="594" y="2592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62" name="Google Shape;7662;p110"/>
              <p:cNvSpPr/>
              <p:nvPr/>
            </p:nvSpPr>
            <p:spPr>
              <a:xfrm>
                <a:off x="4220" y="136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3" name="Google Shape;7663;p110"/>
              <p:cNvSpPr/>
              <p:nvPr/>
            </p:nvSpPr>
            <p:spPr>
              <a:xfrm>
                <a:off x="4230" y="1651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64" name="Google Shape;7664;p110"/>
              <p:cNvGrpSpPr/>
              <p:nvPr/>
            </p:nvGrpSpPr>
            <p:grpSpPr>
              <a:xfrm>
                <a:off x="4731" y="1631"/>
                <a:ext cx="551" cy="144"/>
                <a:chOff x="609" y="2572"/>
                <a:chExt cx="686" cy="133"/>
              </a:xfrm>
            </p:grpSpPr>
            <p:sp>
              <p:nvSpPr>
                <p:cNvPr id="7665" name="Google Shape;7665;p110"/>
                <p:cNvSpPr/>
                <p:nvPr/>
              </p:nvSpPr>
              <p:spPr>
                <a:xfrm>
                  <a:off x="609" y="2572"/>
                  <a:ext cx="686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6" name="Google Shape;7666;p110"/>
                <p:cNvSpPr/>
                <p:nvPr/>
              </p:nvSpPr>
              <p:spPr>
                <a:xfrm>
                  <a:off x="621" y="2590"/>
                  <a:ext cx="648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67" name="Google Shape;7667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68" name="Google Shape;7668;p110"/>
              <p:cNvGrpSpPr/>
              <p:nvPr/>
            </p:nvGrpSpPr>
            <p:grpSpPr>
              <a:xfrm>
                <a:off x="4741" y="1324"/>
                <a:ext cx="580" cy="144"/>
                <a:chOff x="616" y="2565"/>
                <a:chExt cx="723" cy="144"/>
              </a:xfrm>
            </p:grpSpPr>
            <p:sp>
              <p:nvSpPr>
                <p:cNvPr id="7669" name="Google Shape;7669;p110"/>
                <p:cNvSpPr/>
                <p:nvPr/>
              </p:nvSpPr>
              <p:spPr>
                <a:xfrm>
                  <a:off x="616" y="2565"/>
                  <a:ext cx="723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0" name="Google Shape;7670;p110"/>
                <p:cNvSpPr/>
                <p:nvPr/>
              </p:nvSpPr>
              <p:spPr>
                <a:xfrm>
                  <a:off x="629" y="2585"/>
                  <a:ext cx="686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71" name="Google Shape;7671;p110"/>
              <p:cNvSpPr/>
              <p:nvPr/>
            </p:nvSpPr>
            <p:spPr>
              <a:xfrm>
                <a:off x="5251" y="431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2" name="Google Shape;7672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3" name="Google Shape;7673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4" name="Google Shape;7674;p110"/>
              <p:cNvSpPr/>
              <p:nvPr/>
            </p:nvSpPr>
            <p:spPr>
              <a:xfrm>
                <a:off x="5512" y="2611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5" name="Google Shape;7675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6" name="Google Shape;7676;p110"/>
              <p:cNvSpPr/>
              <p:nvPr/>
            </p:nvSpPr>
            <p:spPr>
              <a:xfrm>
                <a:off x="4140" y="2679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7" name="Google Shape;7677;p110"/>
              <p:cNvSpPr/>
              <p:nvPr/>
            </p:nvSpPr>
            <p:spPr>
              <a:xfrm>
                <a:off x="4200" y="2708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8" name="Google Shape;7678;p110"/>
              <p:cNvSpPr/>
              <p:nvPr/>
            </p:nvSpPr>
            <p:spPr>
              <a:xfrm>
                <a:off x="4310" y="2381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9" name="Google Shape;7679;p110"/>
              <p:cNvSpPr/>
              <p:nvPr/>
            </p:nvSpPr>
            <p:spPr>
              <a:xfrm>
                <a:off x="4480" y="2381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0" name="Google Shape;7680;p110"/>
              <p:cNvSpPr/>
              <p:nvPr/>
            </p:nvSpPr>
            <p:spPr>
              <a:xfrm>
                <a:off x="4661" y="2381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1" name="Google Shape;7681;p110"/>
              <p:cNvSpPr/>
              <p:nvPr/>
            </p:nvSpPr>
            <p:spPr>
              <a:xfrm>
                <a:off x="5061" y="1833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2" name="Google Shape;7682;p110"/>
          <p:cNvGrpSpPr/>
          <p:nvPr/>
        </p:nvGrpSpPr>
        <p:grpSpPr>
          <a:xfrm>
            <a:off x="8710613" y="5734050"/>
            <a:ext cx="347662" cy="681038"/>
            <a:chOff x="7923189" y="2486664"/>
            <a:chExt cx="360377" cy="884585"/>
          </a:xfrm>
        </p:grpSpPr>
        <p:pic>
          <p:nvPicPr>
            <p:cNvPr id="7683" name="Google Shape;7683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684" name="Google Shape;7684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685" name="Google Shape;7685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6" name="Google Shape;7686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7" name="Google Shape;7687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8" name="Google Shape;7688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9" name="Google Shape;7689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0" name="Google Shape;7690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691" name="Google Shape;7691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2" name="Google Shape;7692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93" name="Google Shape;7693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4" name="Google Shape;7694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695" name="Google Shape;7695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6" name="Google Shape;7696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97" name="Google Shape;7697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8" name="Google Shape;7698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9" name="Google Shape;7699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00" name="Google Shape;7700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1" name="Google Shape;7701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02" name="Google Shape;7702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03" name="Google Shape;7703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04" name="Google Shape;7704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5" name="Google Shape;7705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06" name="Google Shape;7706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7" name="Google Shape;7707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8" name="Google Shape;7708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9" name="Google Shape;7709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0" name="Google Shape;7710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1" name="Google Shape;7711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2" name="Google Shape;7712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3" name="Google Shape;7713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4" name="Google Shape;7714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5" name="Google Shape;7715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6" name="Google Shape;7716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17" name="Google Shape;7717;p110"/>
          <p:cNvGrpSpPr/>
          <p:nvPr/>
        </p:nvGrpSpPr>
        <p:grpSpPr>
          <a:xfrm>
            <a:off x="1751013" y="3719513"/>
            <a:ext cx="982662" cy="1585912"/>
            <a:chOff x="226804" y="3719080"/>
            <a:chExt cx="982820" cy="1586234"/>
          </a:xfrm>
        </p:grpSpPr>
        <p:pic>
          <p:nvPicPr>
            <p:cNvPr id="7718" name="Google Shape;7718;p1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3109" y="5014480"/>
              <a:ext cx="405029" cy="290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9" name="Google Shape;7719;p110"/>
            <p:cNvSpPr/>
            <p:nvPr/>
          </p:nvSpPr>
          <p:spPr>
            <a:xfrm flipH="1">
              <a:off x="226804" y="3719080"/>
              <a:ext cx="982820" cy="514019"/>
            </a:xfrm>
            <a:prstGeom prst="cloudCallout">
              <a:avLst>
                <a:gd fmla="val -7606" name="adj1"/>
                <a:gd fmla="val 14786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madman.jpg" id="7720" name="Google Shape;7720;p1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7767" y="3870258"/>
              <a:ext cx="767350" cy="211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21" name="Google Shape;7721;p110"/>
          <p:cNvSpPr txBox="1"/>
          <p:nvPr/>
        </p:nvSpPr>
        <p:spPr>
          <a:xfrm>
            <a:off x="1057413" y="1427018"/>
            <a:ext cx="9735279" cy="540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CDN: stores copies of content (e.g. MADMEN) at CDN nodes </a:t>
            </a:r>
            <a:endParaRPr/>
          </a:p>
        </p:txBody>
      </p:sp>
      <p:grpSp>
        <p:nvGrpSpPr>
          <p:cNvPr id="7722" name="Google Shape;7722;p110"/>
          <p:cNvGrpSpPr/>
          <p:nvPr/>
        </p:nvGrpSpPr>
        <p:grpSpPr>
          <a:xfrm>
            <a:off x="1558926" y="5030789"/>
            <a:ext cx="1857375" cy="338137"/>
            <a:chOff x="5957397" y="-30236"/>
            <a:chExt cx="1857399" cy="338554"/>
          </a:xfrm>
        </p:grpSpPr>
        <p:sp>
          <p:nvSpPr>
            <p:cNvPr id="7723" name="Google Shape;7723;p110"/>
            <p:cNvSpPr/>
            <p:nvPr/>
          </p:nvSpPr>
          <p:spPr>
            <a:xfrm>
              <a:off x="5957398" y="0"/>
              <a:ext cx="1829556" cy="27212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4" name="Google Shape;7724;p110"/>
            <p:cNvSpPr txBox="1"/>
            <p:nvPr/>
          </p:nvSpPr>
          <p:spPr>
            <a:xfrm>
              <a:off x="5957397" y="-30236"/>
              <a:ext cx="18573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where’s Madmen?</a:t>
              </a:r>
              <a:endParaRPr/>
            </a:p>
          </p:txBody>
        </p:sp>
      </p:grpSp>
      <p:grpSp>
        <p:nvGrpSpPr>
          <p:cNvPr id="7725" name="Google Shape;7725;p110"/>
          <p:cNvGrpSpPr/>
          <p:nvPr/>
        </p:nvGrpSpPr>
        <p:grpSpPr>
          <a:xfrm>
            <a:off x="8785226" y="4778375"/>
            <a:ext cx="1279525" cy="338138"/>
            <a:chOff x="5931471" y="-30236"/>
            <a:chExt cx="1279747" cy="338971"/>
          </a:xfrm>
        </p:grpSpPr>
        <p:sp>
          <p:nvSpPr>
            <p:cNvPr id="7726" name="Google Shape;7726;p110"/>
            <p:cNvSpPr/>
            <p:nvPr/>
          </p:nvSpPr>
          <p:spPr>
            <a:xfrm>
              <a:off x="5957398" y="13898"/>
              <a:ext cx="1225865" cy="25822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7" name="Google Shape;7727;p110"/>
            <p:cNvSpPr txBox="1"/>
            <p:nvPr/>
          </p:nvSpPr>
          <p:spPr>
            <a:xfrm>
              <a:off x="5931471" y="-30236"/>
              <a:ext cx="1279747" cy="338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manifest file</a:t>
              </a:r>
              <a:endParaRPr/>
            </a:p>
          </p:txBody>
        </p:sp>
      </p:grpSp>
      <p:sp>
        <p:nvSpPr>
          <p:cNvPr id="7728" name="Google Shape;7728;p110"/>
          <p:cNvSpPr/>
          <p:nvPr/>
        </p:nvSpPr>
        <p:spPr>
          <a:xfrm>
            <a:off x="2571029" y="4229534"/>
            <a:ext cx="1008062" cy="881062"/>
          </a:xfrm>
          <a:custGeom>
            <a:rect b="b" l="l" r="r" t="t"/>
            <a:pathLst>
              <a:path extrusionOk="0" h="1108430" w="1284637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9" name="Google Shape;7729;p110"/>
          <p:cNvSpPr/>
          <p:nvPr/>
        </p:nvSpPr>
        <p:spPr>
          <a:xfrm flipH="1" rot="10800000">
            <a:off x="2624139" y="5127626"/>
            <a:ext cx="2166937" cy="709613"/>
          </a:xfrm>
          <a:custGeom>
            <a:rect b="b" l="l" r="r" t="t"/>
            <a:pathLst>
              <a:path extrusionOk="0" h="980345" w="1898925">
                <a:moveTo>
                  <a:pt x="1179521" y="0"/>
                </a:moveTo>
                <a:lnTo>
                  <a:pt x="1898925" y="600997"/>
                </a:lnTo>
                <a:lnTo>
                  <a:pt x="1462589" y="682836"/>
                </a:lnTo>
                <a:cubicBezTo>
                  <a:pt x="1258197" y="730637"/>
                  <a:pt x="1110581" y="844165"/>
                  <a:pt x="849414" y="957692"/>
                </a:cubicBezTo>
                <a:lnTo>
                  <a:pt x="0" y="980345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0" name="Google Shape;7730;p110"/>
          <p:cNvSpPr txBox="1"/>
          <p:nvPr/>
        </p:nvSpPr>
        <p:spPr>
          <a:xfrm>
            <a:off x="1168393" y="2402083"/>
            <a:ext cx="9901388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manifest, client retrieves content at highest supportable rate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1" name="Google Shape;7731;p110"/>
          <p:cNvSpPr txBox="1"/>
          <p:nvPr/>
        </p:nvSpPr>
        <p:spPr>
          <a:xfrm>
            <a:off x="1170413" y="2819021"/>
            <a:ext cx="91138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choose different rate or copy if network path congested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2" name="Google Shape;7732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7" name="Shape 7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8" name="Google Shape;7738;p111"/>
          <p:cNvGrpSpPr/>
          <p:nvPr/>
        </p:nvGrpSpPr>
        <p:grpSpPr>
          <a:xfrm>
            <a:off x="2595259" y="3755808"/>
            <a:ext cx="7093255" cy="2812587"/>
            <a:chOff x="340191" y="1406490"/>
            <a:chExt cx="8496779" cy="5349995"/>
          </a:xfrm>
        </p:grpSpPr>
        <p:sp>
          <p:nvSpPr>
            <p:cNvPr id="7739" name="Google Shape;7739;p111"/>
            <p:cNvSpPr/>
            <p:nvPr/>
          </p:nvSpPr>
          <p:spPr>
            <a:xfrm>
              <a:off x="1825540" y="224137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0" name="Google Shape;7740;p111"/>
            <p:cNvSpPr/>
            <p:nvPr/>
          </p:nvSpPr>
          <p:spPr>
            <a:xfrm>
              <a:off x="669684" y="304141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1" name="Google Shape;7741;p111"/>
            <p:cNvSpPr/>
            <p:nvPr/>
          </p:nvSpPr>
          <p:spPr>
            <a:xfrm>
              <a:off x="6334646" y="249535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2" name="Google Shape;7742;p111"/>
            <p:cNvSpPr/>
            <p:nvPr/>
          </p:nvSpPr>
          <p:spPr>
            <a:xfrm>
              <a:off x="1241261" y="535263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3" name="Google Shape;7743;p111"/>
            <p:cNvSpPr/>
            <p:nvPr/>
          </p:nvSpPr>
          <p:spPr>
            <a:xfrm>
              <a:off x="822105" y="4730385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4" name="Google Shape;7744;p111"/>
            <p:cNvSpPr/>
            <p:nvPr/>
          </p:nvSpPr>
          <p:spPr>
            <a:xfrm>
              <a:off x="593474" y="407003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5" name="Google Shape;7745;p111"/>
            <p:cNvSpPr/>
            <p:nvPr/>
          </p:nvSpPr>
          <p:spPr>
            <a:xfrm>
              <a:off x="7084047" y="292712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6" name="Google Shape;7746;p111"/>
            <p:cNvSpPr/>
            <p:nvPr/>
          </p:nvSpPr>
          <p:spPr>
            <a:xfrm>
              <a:off x="3425955" y="200009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7" name="Google Shape;7747;p111"/>
            <p:cNvSpPr/>
            <p:nvPr/>
          </p:nvSpPr>
          <p:spPr>
            <a:xfrm>
              <a:off x="1050735" y="264774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8" name="Google Shape;7748;p111"/>
            <p:cNvSpPr/>
            <p:nvPr/>
          </p:nvSpPr>
          <p:spPr>
            <a:xfrm>
              <a:off x="4340478" y="19746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9" name="Google Shape;7749;p111"/>
            <p:cNvSpPr/>
            <p:nvPr/>
          </p:nvSpPr>
          <p:spPr>
            <a:xfrm>
              <a:off x="7401589" y="560661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0" name="Google Shape;7750;p111"/>
            <p:cNvSpPr/>
            <p:nvPr/>
          </p:nvSpPr>
          <p:spPr>
            <a:xfrm>
              <a:off x="8239902" y="495896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1" name="Google Shape;7751;p111"/>
            <p:cNvSpPr/>
            <p:nvPr/>
          </p:nvSpPr>
          <p:spPr>
            <a:xfrm>
              <a:off x="8011271" y="404463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2" name="Google Shape;7752;p111"/>
            <p:cNvSpPr/>
            <p:nvPr/>
          </p:nvSpPr>
          <p:spPr>
            <a:xfrm>
              <a:off x="5166088" y="58478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3" name="Google Shape;7753;p111"/>
            <p:cNvSpPr/>
            <p:nvPr/>
          </p:nvSpPr>
          <p:spPr>
            <a:xfrm>
              <a:off x="4251565" y="598758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4" name="Google Shape;7754;p111"/>
            <p:cNvSpPr/>
            <p:nvPr/>
          </p:nvSpPr>
          <p:spPr>
            <a:xfrm>
              <a:off x="3032203" y="58351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5" name="Google Shape;7755;p111"/>
            <p:cNvSpPr txBox="1"/>
            <p:nvPr/>
          </p:nvSpPr>
          <p:spPr>
            <a:xfrm rot="307360">
              <a:off x="5241476" y="1433580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6" name="Google Shape;7756;p111"/>
            <p:cNvSpPr txBox="1"/>
            <p:nvPr/>
          </p:nvSpPr>
          <p:spPr>
            <a:xfrm rot="2829263">
              <a:off x="7390643" y="3033432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7" name="Google Shape;7757;p111"/>
            <p:cNvSpPr txBox="1"/>
            <p:nvPr/>
          </p:nvSpPr>
          <p:spPr>
            <a:xfrm rot="9845918">
              <a:off x="6341242" y="5649517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8" name="Google Shape;7758;p111"/>
            <p:cNvSpPr txBox="1"/>
            <p:nvPr/>
          </p:nvSpPr>
          <p:spPr>
            <a:xfrm rot="-9948738">
              <a:off x="2063761" y="5696594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9" name="Google Shape;7759;p111"/>
            <p:cNvSpPr txBox="1"/>
            <p:nvPr/>
          </p:nvSpPr>
          <p:spPr>
            <a:xfrm rot="-4992697">
              <a:off x="195356" y="3660805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60" name="Google Shape;7760;p111"/>
            <p:cNvSpPr txBox="1"/>
            <p:nvPr/>
          </p:nvSpPr>
          <p:spPr>
            <a:xfrm rot="-520651">
              <a:off x="2482310" y="1498432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761" name="Google Shape;7761;p111"/>
            <p:cNvGrpSpPr/>
            <p:nvPr/>
          </p:nvGrpSpPr>
          <p:grpSpPr>
            <a:xfrm>
              <a:off x="4546600" y="3746496"/>
              <a:ext cx="3225799" cy="1117598"/>
              <a:chOff x="7848600" y="2044700"/>
              <a:chExt cx="3200399" cy="1371600"/>
            </a:xfrm>
          </p:grpSpPr>
          <p:sp>
            <p:nvSpPr>
              <p:cNvPr id="7762" name="Google Shape;7762;p111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3" name="Google Shape;7763;p111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764" name="Google Shape;7764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65" name="Google Shape;7765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66" name="Google Shape;7766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67" name="Google Shape;7767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68" name="Google Shape;7768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69" name="Google Shape;7769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70" name="Google Shape;7770;p111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71" name="Google Shape;7771;p111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772" name="Google Shape;7772;p111"/>
              <p:cNvCxnSpPr>
                <a:stCxn id="7771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3" name="Google Shape;7773;p111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4" name="Google Shape;7774;p111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5" name="Google Shape;7775;p111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6" name="Google Shape;7776;p111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7" name="Google Shape;7777;p111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8" name="Google Shape;7778;p111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9" name="Google Shape;7779;p111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0" name="Google Shape;7780;p111"/>
              <p:cNvCxnSpPr>
                <a:endCxn id="7764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781" name="Google Shape;7781;p111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782" name="Google Shape;7782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83" name="Google Shape;7783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84" name="Google Shape;7784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85" name="Google Shape;7785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86" name="Google Shape;7786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7" name="Google Shape;7787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88" name="Google Shape;7788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89" name="Google Shape;7789;p111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90" name="Google Shape;7790;p111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791" name="Google Shape;7791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92" name="Google Shape;7792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93" name="Google Shape;7793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94" name="Google Shape;7794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95" name="Google Shape;7795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96" name="Google Shape;7796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97" name="Google Shape;7797;p111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98" name="Google Shape;7798;p111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99" name="Google Shape;7799;p111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800" name="Google Shape;7800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01" name="Google Shape;7801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02" name="Google Shape;7802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03" name="Google Shape;7803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04" name="Google Shape;7804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05" name="Google Shape;7805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06" name="Google Shape;7806;p111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7" name="Google Shape;7807;p111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08" name="Google Shape;7808;p111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809" name="Google Shape;7809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0" name="Google Shape;7810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1" name="Google Shape;7811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12" name="Google Shape;7812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13" name="Google Shape;7813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14" name="Google Shape;7814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15" name="Google Shape;7815;p111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16" name="Google Shape;7816;p111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17" name="Google Shape;7817;p111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818" name="Google Shape;7818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9" name="Google Shape;7819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0" name="Google Shape;7820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21" name="Google Shape;7821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22" name="Google Shape;7822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3" name="Google Shape;7823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24" name="Google Shape;7824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25" name="Google Shape;7825;p111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26" name="Google Shape;7826;p111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827" name="Google Shape;7827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8" name="Google Shape;7828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9" name="Google Shape;7829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30" name="Google Shape;7830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31" name="Google Shape;7831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2" name="Google Shape;7832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33" name="Google Shape;7833;p111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34" name="Google Shape;7834;p111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35" name="Google Shape;7835;p111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836" name="Google Shape;7836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37" name="Google Shape;7837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38" name="Google Shape;7838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39" name="Google Shape;7839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40" name="Google Shape;7840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41" name="Google Shape;7841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42" name="Google Shape;7842;p111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43" name="Google Shape;7843;p111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844" name="Google Shape;7844;p111"/>
            <p:cNvGrpSpPr/>
            <p:nvPr/>
          </p:nvGrpSpPr>
          <p:grpSpPr>
            <a:xfrm>
              <a:off x="1803401" y="2755897"/>
              <a:ext cx="3467099" cy="1193800"/>
              <a:chOff x="7848600" y="2044700"/>
              <a:chExt cx="3200399" cy="1371600"/>
            </a:xfrm>
          </p:grpSpPr>
          <p:sp>
            <p:nvSpPr>
              <p:cNvPr id="7845" name="Google Shape;7845;p111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46" name="Google Shape;7846;p111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847" name="Google Shape;7847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48" name="Google Shape;7848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49" name="Google Shape;7849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50" name="Google Shape;7850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51" name="Google Shape;7851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52" name="Google Shape;7852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53" name="Google Shape;7853;p111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54" name="Google Shape;7854;p111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855" name="Google Shape;7855;p111"/>
              <p:cNvCxnSpPr>
                <a:stCxn id="7854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6" name="Google Shape;7856;p111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7" name="Google Shape;7857;p111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8" name="Google Shape;7858;p111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9" name="Google Shape;7859;p111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0" name="Google Shape;7860;p111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1" name="Google Shape;7861;p111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2" name="Google Shape;7862;p111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3" name="Google Shape;7863;p111"/>
              <p:cNvCxnSpPr>
                <a:endCxn id="7847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864" name="Google Shape;7864;p111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865" name="Google Shape;7865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66" name="Google Shape;7866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67" name="Google Shape;7867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68" name="Google Shape;7868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69" name="Google Shape;7869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0" name="Google Shape;7870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71" name="Google Shape;7871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72" name="Google Shape;7872;p111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73" name="Google Shape;7873;p111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874" name="Google Shape;7874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75" name="Google Shape;7875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76" name="Google Shape;7876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77" name="Google Shape;7877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78" name="Google Shape;7878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9" name="Google Shape;7879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80" name="Google Shape;7880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81" name="Google Shape;7881;p111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82" name="Google Shape;7882;p111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883" name="Google Shape;7883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84" name="Google Shape;7884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85" name="Google Shape;7885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86" name="Google Shape;7886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87" name="Google Shape;7887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8" name="Google Shape;7888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89" name="Google Shape;7889;p111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0" name="Google Shape;7890;p111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91" name="Google Shape;7891;p111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892" name="Google Shape;7892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93" name="Google Shape;7893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94" name="Google Shape;7894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95" name="Google Shape;7895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96" name="Google Shape;7896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7" name="Google Shape;7897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98" name="Google Shape;7898;p111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9" name="Google Shape;7899;p111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00" name="Google Shape;7900;p111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901" name="Google Shape;7901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02" name="Google Shape;7902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03" name="Google Shape;7903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04" name="Google Shape;7904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05" name="Google Shape;7905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6" name="Google Shape;7906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07" name="Google Shape;7907;p111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08" name="Google Shape;7908;p111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09" name="Google Shape;7909;p111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910" name="Google Shape;7910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11" name="Google Shape;7911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12" name="Google Shape;7912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13" name="Google Shape;7913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14" name="Google Shape;7914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5" name="Google Shape;7915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16" name="Google Shape;7916;p111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17" name="Google Shape;7917;p111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18" name="Google Shape;7918;p111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919" name="Google Shape;7919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20" name="Google Shape;7920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21" name="Google Shape;7921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22" name="Google Shape;7922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23" name="Google Shape;7923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4" name="Google Shape;7924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25" name="Google Shape;7925;p111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26" name="Google Shape;7926;p111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927" name="Google Shape;7927;p111"/>
            <p:cNvSpPr/>
            <p:nvPr/>
          </p:nvSpPr>
          <p:spPr>
            <a:xfrm>
              <a:off x="1498600" y="4165596"/>
              <a:ext cx="3086099" cy="116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28" name="Google Shape;7928;p111"/>
            <p:cNvGrpSpPr/>
            <p:nvPr/>
          </p:nvGrpSpPr>
          <p:grpSpPr>
            <a:xfrm>
              <a:off x="2152273" y="4264500"/>
              <a:ext cx="513732" cy="157430"/>
              <a:chOff x="2356" y="1300"/>
              <a:chExt cx="555" cy="194"/>
            </a:xfrm>
          </p:grpSpPr>
          <p:sp>
            <p:nvSpPr>
              <p:cNvPr id="7929" name="Google Shape;7929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0" name="Google Shape;7930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1" name="Google Shape;7931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32" name="Google Shape;7932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33" name="Google Shape;7933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4" name="Google Shape;7934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35" name="Google Shape;7935;p111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6" name="Google Shape;7936;p111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937" name="Google Shape;7937;p111"/>
            <p:cNvCxnSpPr>
              <a:stCxn id="7936" idx="0"/>
            </p:cNvCxnSpPr>
            <p:nvPr/>
          </p:nvCxnSpPr>
          <p:spPr>
            <a:xfrm>
              <a:off x="2662301" y="4315623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8" name="Google Shape;7938;p111"/>
            <p:cNvCxnSpPr/>
            <p:nvPr/>
          </p:nvCxnSpPr>
          <p:spPr>
            <a:xfrm>
              <a:off x="3112420" y="4624308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9" name="Google Shape;7939;p111"/>
            <p:cNvCxnSpPr/>
            <p:nvPr/>
          </p:nvCxnSpPr>
          <p:spPr>
            <a:xfrm flipH="1" rot="10800000">
              <a:off x="2920421" y="4797919"/>
              <a:ext cx="234667" cy="388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0" name="Google Shape;7940;p111"/>
            <p:cNvCxnSpPr/>
            <p:nvPr/>
          </p:nvCxnSpPr>
          <p:spPr>
            <a:xfrm flipH="1" rot="10800000">
              <a:off x="2636021" y="4648548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1" name="Google Shape;7941;p111"/>
            <p:cNvCxnSpPr/>
            <p:nvPr/>
          </p:nvCxnSpPr>
          <p:spPr>
            <a:xfrm flipH="1" rot="10800000">
              <a:off x="2348386" y="4902256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2" name="Google Shape;7942;p111"/>
            <p:cNvCxnSpPr/>
            <p:nvPr/>
          </p:nvCxnSpPr>
          <p:spPr>
            <a:xfrm flipH="1" rot="10800000">
              <a:off x="3127556" y="4839857"/>
              <a:ext cx="243934" cy="215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3" name="Google Shape;7943;p111"/>
            <p:cNvCxnSpPr/>
            <p:nvPr/>
          </p:nvCxnSpPr>
          <p:spPr>
            <a:xfrm rot="10800000">
              <a:off x="3601475" y="4827798"/>
              <a:ext cx="342282" cy="1059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4" name="Google Shape;7944;p111"/>
            <p:cNvCxnSpPr/>
            <p:nvPr/>
          </p:nvCxnSpPr>
          <p:spPr>
            <a:xfrm flipH="1" rot="10800000">
              <a:off x="3587811" y="4532353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5" name="Google Shape;7945;p111"/>
            <p:cNvCxnSpPr>
              <a:endCxn id="7929" idx="4"/>
            </p:cNvCxnSpPr>
            <p:nvPr/>
          </p:nvCxnSpPr>
          <p:spPr>
            <a:xfrm rot="10800000">
              <a:off x="2408213" y="4421930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946" name="Google Shape;7946;p111"/>
            <p:cNvGrpSpPr/>
            <p:nvPr/>
          </p:nvGrpSpPr>
          <p:grpSpPr>
            <a:xfrm>
              <a:off x="3144256" y="4681756"/>
              <a:ext cx="513732" cy="157430"/>
              <a:chOff x="2356" y="1300"/>
              <a:chExt cx="555" cy="194"/>
            </a:xfrm>
          </p:grpSpPr>
          <p:sp>
            <p:nvSpPr>
              <p:cNvPr id="7947" name="Google Shape;7947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8" name="Google Shape;7948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9" name="Google Shape;7949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50" name="Google Shape;7950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51" name="Google Shape;7951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2" name="Google Shape;7952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53" name="Google Shape;7953;p111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4" name="Google Shape;7954;p111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55" name="Google Shape;7955;p111"/>
            <p:cNvGrpSpPr/>
            <p:nvPr/>
          </p:nvGrpSpPr>
          <p:grpSpPr>
            <a:xfrm>
              <a:off x="2389607" y="4745631"/>
              <a:ext cx="513732" cy="157430"/>
              <a:chOff x="2356" y="1300"/>
              <a:chExt cx="555" cy="194"/>
            </a:xfrm>
          </p:grpSpPr>
          <p:sp>
            <p:nvSpPr>
              <p:cNvPr id="7956" name="Google Shape;7956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7" name="Google Shape;7957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8" name="Google Shape;7958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59" name="Google Shape;7959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60" name="Google Shape;7960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1" name="Google Shape;7961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62" name="Google Shape;7962;p111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3" name="Google Shape;7963;p111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64" name="Google Shape;7964;p111"/>
            <p:cNvGrpSpPr/>
            <p:nvPr/>
          </p:nvGrpSpPr>
          <p:grpSpPr>
            <a:xfrm>
              <a:off x="2667612" y="4492206"/>
              <a:ext cx="513732" cy="157430"/>
              <a:chOff x="2356" y="1300"/>
              <a:chExt cx="555" cy="194"/>
            </a:xfrm>
          </p:grpSpPr>
          <p:sp>
            <p:nvSpPr>
              <p:cNvPr id="7965" name="Google Shape;7965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6" name="Google Shape;7966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7" name="Google Shape;7967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68" name="Google Shape;7968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69" name="Google Shape;7969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0" name="Google Shape;7970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71" name="Google Shape;7971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2" name="Google Shape;7972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73" name="Google Shape;7973;p111"/>
            <p:cNvGrpSpPr/>
            <p:nvPr/>
          </p:nvGrpSpPr>
          <p:grpSpPr>
            <a:xfrm>
              <a:off x="3578257" y="4374514"/>
              <a:ext cx="513732" cy="157430"/>
              <a:chOff x="2356" y="1300"/>
              <a:chExt cx="555" cy="194"/>
            </a:xfrm>
          </p:grpSpPr>
          <p:sp>
            <p:nvSpPr>
              <p:cNvPr id="7974" name="Google Shape;7974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5" name="Google Shape;7975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6" name="Google Shape;7976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77" name="Google Shape;7977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78" name="Google Shape;7978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9" name="Google Shape;7979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80" name="Google Shape;7980;p111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1" name="Google Shape;7981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82" name="Google Shape;7982;p111"/>
            <p:cNvGrpSpPr/>
            <p:nvPr/>
          </p:nvGrpSpPr>
          <p:grpSpPr>
            <a:xfrm>
              <a:off x="3797517" y="4879598"/>
              <a:ext cx="513732" cy="157430"/>
              <a:chOff x="2356" y="1300"/>
              <a:chExt cx="555" cy="194"/>
            </a:xfrm>
          </p:grpSpPr>
          <p:sp>
            <p:nvSpPr>
              <p:cNvPr id="7983" name="Google Shape;7983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84" name="Google Shape;7984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85" name="Google Shape;7985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86" name="Google Shape;7986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87" name="Google Shape;7987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8" name="Google Shape;7988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89" name="Google Shape;7989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0" name="Google Shape;7990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91" name="Google Shape;7991;p111"/>
            <p:cNvGrpSpPr/>
            <p:nvPr/>
          </p:nvGrpSpPr>
          <p:grpSpPr>
            <a:xfrm>
              <a:off x="2927730" y="5041357"/>
              <a:ext cx="513732" cy="157430"/>
              <a:chOff x="2356" y="1300"/>
              <a:chExt cx="555" cy="194"/>
            </a:xfrm>
          </p:grpSpPr>
          <p:sp>
            <p:nvSpPr>
              <p:cNvPr id="7992" name="Google Shape;7992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3" name="Google Shape;7993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4" name="Google Shape;7994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95" name="Google Shape;7995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96" name="Google Shape;7996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7" name="Google Shape;7997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98" name="Google Shape;7998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9" name="Google Shape;7999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000" name="Google Shape;8000;p111"/>
            <p:cNvGrpSpPr/>
            <p:nvPr/>
          </p:nvGrpSpPr>
          <p:grpSpPr>
            <a:xfrm>
              <a:off x="2066981" y="4995523"/>
              <a:ext cx="513732" cy="157430"/>
              <a:chOff x="2356" y="1300"/>
              <a:chExt cx="555" cy="194"/>
            </a:xfrm>
          </p:grpSpPr>
          <p:sp>
            <p:nvSpPr>
              <p:cNvPr id="8001" name="Google Shape;8001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02" name="Google Shape;8002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03" name="Google Shape;8003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8004" name="Google Shape;8004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05" name="Google Shape;8005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6" name="Google Shape;8006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007" name="Google Shape;8007;p111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8" name="Google Shape;8008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009" name="Google Shape;8009;p111"/>
            <p:cNvCxnSpPr>
              <a:endCxn id="7849" idx="1"/>
            </p:cNvCxnSpPr>
            <p:nvPr/>
          </p:nvCxnSpPr>
          <p:spPr>
            <a:xfrm>
              <a:off x="2383486" y="2610471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0" name="Google Shape;8010;p111"/>
            <p:cNvCxnSpPr>
              <a:stCxn id="7747" idx="8"/>
              <a:endCxn id="8011" idx="2"/>
            </p:cNvCxnSpPr>
            <p:nvPr/>
          </p:nvCxnSpPr>
          <p:spPr>
            <a:xfrm>
              <a:off x="1455738" y="2990809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2" name="Google Shape;8012;p111"/>
            <p:cNvCxnSpPr>
              <a:endCxn id="8011" idx="3"/>
            </p:cNvCxnSpPr>
            <p:nvPr/>
          </p:nvCxnSpPr>
          <p:spPr>
            <a:xfrm>
              <a:off x="1235234" y="3271138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3" name="Google Shape;8013;p111"/>
            <p:cNvCxnSpPr>
              <a:endCxn id="7894" idx="1"/>
            </p:cNvCxnSpPr>
            <p:nvPr/>
          </p:nvCxnSpPr>
          <p:spPr>
            <a:xfrm>
              <a:off x="3915619" y="2411778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4" name="Google Shape;8014;p111"/>
            <p:cNvCxnSpPr>
              <a:endCxn id="7894" idx="0"/>
            </p:cNvCxnSpPr>
            <p:nvPr/>
          </p:nvCxnSpPr>
          <p:spPr>
            <a:xfrm flipH="1">
              <a:off x="4426303" y="2390057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5" name="Google Shape;8015;p111"/>
            <p:cNvCxnSpPr>
              <a:endCxn id="7811" idx="0"/>
            </p:cNvCxnSpPr>
            <p:nvPr/>
          </p:nvCxnSpPr>
          <p:spPr>
            <a:xfrm>
              <a:off x="6770956" y="2900231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6" name="Google Shape;8016;p111"/>
            <p:cNvCxnSpPr/>
            <p:nvPr/>
          </p:nvCxnSpPr>
          <p:spPr>
            <a:xfrm flipH="1">
              <a:off x="7137398" y="3251197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7" name="Google Shape;8017;p111"/>
            <p:cNvCxnSpPr>
              <a:stCxn id="7751" idx="4"/>
              <a:endCxn id="7825" idx="0"/>
            </p:cNvCxnSpPr>
            <p:nvPr/>
          </p:nvCxnSpPr>
          <p:spPr>
            <a:xfrm flipH="1">
              <a:off x="7483611" y="4229096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8" name="Google Shape;8018;p111"/>
            <p:cNvCxnSpPr/>
            <p:nvPr/>
          </p:nvCxnSpPr>
          <p:spPr>
            <a:xfrm rot="10800000">
              <a:off x="7454899" y="4573584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9" name="Google Shape;8019;p111"/>
            <p:cNvCxnSpPr>
              <a:endCxn id="7827" idx="5"/>
            </p:cNvCxnSpPr>
            <p:nvPr/>
          </p:nvCxnSpPr>
          <p:spPr>
            <a:xfrm rot="10800000">
              <a:off x="6496434" y="4722373"/>
              <a:ext cx="10476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0" name="Google Shape;8020;p111"/>
            <p:cNvCxnSpPr>
              <a:stCxn id="7752" idx="0"/>
              <a:endCxn id="8021" idx="5"/>
            </p:cNvCxnSpPr>
            <p:nvPr/>
          </p:nvCxnSpPr>
          <p:spPr>
            <a:xfrm rot="10800000">
              <a:off x="5085362" y="5684597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2" name="Google Shape;8022;p111"/>
            <p:cNvCxnSpPr/>
            <p:nvPr/>
          </p:nvCxnSpPr>
          <p:spPr>
            <a:xfrm rot="10800000">
              <a:off x="4068763" y="5045070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3" name="Google Shape;8023;p111"/>
            <p:cNvCxnSpPr/>
            <p:nvPr/>
          </p:nvCxnSpPr>
          <p:spPr>
            <a:xfrm flipH="1" rot="10800000">
              <a:off x="3389313" y="5689595"/>
              <a:ext cx="306387" cy="1650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4" name="Google Shape;8024;p111"/>
            <p:cNvCxnSpPr/>
            <p:nvPr/>
          </p:nvCxnSpPr>
          <p:spPr>
            <a:xfrm flipH="1" rot="10800000">
              <a:off x="1790701" y="5160959"/>
              <a:ext cx="401638" cy="2095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5" name="Google Shape;8025;p111"/>
            <p:cNvCxnSpPr/>
            <p:nvPr/>
          </p:nvCxnSpPr>
          <p:spPr>
            <a:xfrm flipH="1" rot="10800000">
              <a:off x="1179514" y="4467220"/>
              <a:ext cx="227012" cy="2825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6" name="Google Shape;8026;p111"/>
            <p:cNvCxnSpPr>
              <a:endCxn id="8011" idx="5"/>
            </p:cNvCxnSpPr>
            <p:nvPr/>
          </p:nvCxnSpPr>
          <p:spPr>
            <a:xfrm flipH="1" rot="10800000">
              <a:off x="1156034" y="4369514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27" name="Google Shape;8027;p111"/>
            <p:cNvSpPr/>
            <p:nvPr/>
          </p:nvSpPr>
          <p:spPr>
            <a:xfrm>
              <a:off x="5677594" y="2896840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28" name="Google Shape;8028;p111"/>
            <p:cNvCxnSpPr/>
            <p:nvPr/>
          </p:nvCxnSpPr>
          <p:spPr>
            <a:xfrm>
              <a:off x="4713288" y="3051287"/>
              <a:ext cx="964306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9" name="Google Shape;8029;p111"/>
            <p:cNvCxnSpPr/>
            <p:nvPr/>
          </p:nvCxnSpPr>
          <p:spPr>
            <a:xfrm>
              <a:off x="6139457" y="3169610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0" name="Google Shape;8030;p111"/>
            <p:cNvCxnSpPr>
              <a:stCxn id="7976" idx="0"/>
            </p:cNvCxnSpPr>
            <p:nvPr/>
          </p:nvCxnSpPr>
          <p:spPr>
            <a:xfrm flipH="1" rot="10800000">
              <a:off x="3833272" y="4233214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31" name="Google Shape;8031;p111"/>
            <p:cNvSpPr/>
            <p:nvPr/>
          </p:nvSpPr>
          <p:spPr>
            <a:xfrm>
              <a:off x="3932543" y="3959555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8032" name="Google Shape;8032;p111"/>
            <p:cNvCxnSpPr>
              <a:stCxn id="8031" idx="6"/>
              <a:endCxn id="7770" idx="1"/>
            </p:cNvCxnSpPr>
            <p:nvPr/>
          </p:nvCxnSpPr>
          <p:spPr>
            <a:xfrm flipH="1" rot="10800000">
              <a:off x="4460773" y="3953980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3" name="Google Shape;8033;p111"/>
            <p:cNvCxnSpPr/>
            <p:nvPr/>
          </p:nvCxnSpPr>
          <p:spPr>
            <a:xfrm>
              <a:off x="3692525" y="3789358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4" name="Google Shape;8034;p111"/>
            <p:cNvCxnSpPr>
              <a:stCxn id="7901" idx="5"/>
              <a:endCxn id="7766" idx="1"/>
            </p:cNvCxnSpPr>
            <p:nvPr/>
          </p:nvCxnSpPr>
          <p:spPr>
            <a:xfrm>
              <a:off x="4876256" y="3633038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5" name="Google Shape;8035;p111"/>
            <p:cNvCxnSpPr>
              <a:endCxn id="7931" idx="0"/>
            </p:cNvCxnSpPr>
            <p:nvPr/>
          </p:nvCxnSpPr>
          <p:spPr>
            <a:xfrm flipH="1">
              <a:off x="2407288" y="3753300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6" name="Google Shape;8036;p111"/>
            <p:cNvCxnSpPr>
              <a:stCxn id="7990" idx="0"/>
            </p:cNvCxnSpPr>
            <p:nvPr/>
          </p:nvCxnSpPr>
          <p:spPr>
            <a:xfrm flipH="1" rot="10800000">
              <a:off x="4307762" y="4626568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21" name="Google Shape;8021;p111"/>
            <p:cNvSpPr/>
            <p:nvPr/>
          </p:nvSpPr>
          <p:spPr>
            <a:xfrm>
              <a:off x="3340101" y="5359394"/>
              <a:ext cx="2044700" cy="380999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1" name="Google Shape;8011;p111"/>
            <p:cNvSpPr/>
            <p:nvPr/>
          </p:nvSpPr>
          <p:spPr>
            <a:xfrm rot="5400000">
              <a:off x="867570" y="3736176"/>
              <a:ext cx="1252535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37" name="Google Shape;8037;p111"/>
            <p:cNvCxnSpPr>
              <a:stCxn id="8011" idx="0"/>
              <a:endCxn id="7925" idx="0"/>
            </p:cNvCxnSpPr>
            <p:nvPr/>
          </p:nvCxnSpPr>
          <p:spPr>
            <a:xfrm flipH="1" rot="10800000">
              <a:off x="1684338" y="3653676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8" name="Google Shape;8038;p111"/>
            <p:cNvCxnSpPr>
              <a:endCxn id="7935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39" name="Google Shape;8039;p111"/>
          <p:cNvCxnSpPr/>
          <p:nvPr/>
        </p:nvCxnSpPr>
        <p:spPr>
          <a:xfrm flipH="1" rot="10800000">
            <a:off x="2686051" y="5276851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40" name="Google Shape;8040;p111"/>
          <p:cNvGrpSpPr/>
          <p:nvPr/>
        </p:nvGrpSpPr>
        <p:grpSpPr>
          <a:xfrm>
            <a:off x="1963739" y="3552826"/>
            <a:ext cx="8258175" cy="2900363"/>
            <a:chOff x="439215" y="3555216"/>
            <a:chExt cx="8258951" cy="2901368"/>
          </a:xfrm>
        </p:grpSpPr>
        <p:grpSp>
          <p:nvGrpSpPr>
            <p:cNvPr id="8041" name="Google Shape;8041;p111"/>
            <p:cNvGrpSpPr/>
            <p:nvPr/>
          </p:nvGrpSpPr>
          <p:grpSpPr>
            <a:xfrm>
              <a:off x="1678362" y="3855145"/>
              <a:ext cx="347753" cy="680208"/>
              <a:chOff x="7923189" y="2486663"/>
              <a:chExt cx="360362" cy="884586"/>
            </a:xfrm>
          </p:grpSpPr>
          <p:pic>
            <p:nvPicPr>
              <p:cNvPr id="8042" name="Google Shape;804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043" name="Google Shape;804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044" name="Google Shape;804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5" name="Google Shape;804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6" name="Google Shape;804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7" name="Google Shape;804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8" name="Google Shape;804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49" name="Google Shape;804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050" name="Google Shape;805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51" name="Google Shape;805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52" name="Google Shape;805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3" name="Google Shape;805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054" name="Google Shape;805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55" name="Google Shape;805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56" name="Google Shape;805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7" name="Google Shape;805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8" name="Google Shape;805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059" name="Google Shape;805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60" name="Google Shape;806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61" name="Google Shape;806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62" name="Google Shape;806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063" name="Google Shape;806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64" name="Google Shape;806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65" name="Google Shape;806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6" name="Google Shape;806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7" name="Google Shape;806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8" name="Google Shape;806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9" name="Google Shape;806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0" name="Google Shape;807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1" name="Google Shape;807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2" name="Google Shape;807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3" name="Google Shape;807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4" name="Google Shape;807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5" name="Google Shape;807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076" name="Google Shape;8076;p111"/>
            <p:cNvGrpSpPr/>
            <p:nvPr/>
          </p:nvGrpSpPr>
          <p:grpSpPr>
            <a:xfrm>
              <a:off x="3221830" y="5776376"/>
              <a:ext cx="347753" cy="680208"/>
              <a:chOff x="7923189" y="2486663"/>
              <a:chExt cx="360362" cy="884586"/>
            </a:xfrm>
          </p:grpSpPr>
          <p:pic>
            <p:nvPicPr>
              <p:cNvPr id="8077" name="Google Shape;807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078" name="Google Shape;807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079" name="Google Shape;807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0" name="Google Shape;808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81" name="Google Shape;808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2" name="Google Shape;808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3" name="Google Shape;808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84" name="Google Shape;808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085" name="Google Shape;808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86" name="Google Shape;808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87" name="Google Shape;808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88" name="Google Shape;808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089" name="Google Shape;808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0" name="Google Shape;809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91" name="Google Shape;809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92" name="Google Shape;809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93" name="Google Shape;809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094" name="Google Shape;809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5" name="Google Shape;809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96" name="Google Shape;809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97" name="Google Shape;809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098" name="Google Shape;809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9" name="Google Shape;809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00" name="Google Shape;810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1" name="Google Shape;810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2" name="Google Shape;810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3" name="Google Shape;810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4" name="Google Shape;810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5" name="Google Shape;810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6" name="Google Shape;810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7" name="Google Shape;810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8" name="Google Shape;810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9" name="Google Shape;810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10" name="Google Shape;811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11" name="Google Shape;8111;p111"/>
            <p:cNvGrpSpPr/>
            <p:nvPr/>
          </p:nvGrpSpPr>
          <p:grpSpPr>
            <a:xfrm>
              <a:off x="4387291" y="3555216"/>
              <a:ext cx="347753" cy="680208"/>
              <a:chOff x="7923189" y="2486663"/>
              <a:chExt cx="360362" cy="884586"/>
            </a:xfrm>
          </p:grpSpPr>
          <p:pic>
            <p:nvPicPr>
              <p:cNvPr id="8112" name="Google Shape;811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13" name="Google Shape;811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14" name="Google Shape;811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5" name="Google Shape;811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16" name="Google Shape;811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7" name="Google Shape;811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8" name="Google Shape;811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19" name="Google Shape;811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20" name="Google Shape;812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21" name="Google Shape;812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22" name="Google Shape;812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23" name="Google Shape;812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24" name="Google Shape;812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25" name="Google Shape;812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26" name="Google Shape;812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27" name="Google Shape;812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28" name="Google Shape;812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29" name="Google Shape;812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30" name="Google Shape;813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31" name="Google Shape;813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32" name="Google Shape;813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133" name="Google Shape;813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34" name="Google Shape;813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35" name="Google Shape;813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6" name="Google Shape;813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7" name="Google Shape;813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8" name="Google Shape;813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9" name="Google Shape;813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0" name="Google Shape;814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1" name="Google Shape;814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2" name="Google Shape;814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3" name="Google Shape;814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4" name="Google Shape;814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5" name="Google Shape;814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46" name="Google Shape;8146;p111"/>
            <p:cNvGrpSpPr/>
            <p:nvPr/>
          </p:nvGrpSpPr>
          <p:grpSpPr>
            <a:xfrm>
              <a:off x="5084012" y="5612511"/>
              <a:ext cx="347767" cy="680207"/>
              <a:chOff x="7923189" y="2486664"/>
              <a:chExt cx="360377" cy="884585"/>
            </a:xfrm>
          </p:grpSpPr>
          <p:pic>
            <p:nvPicPr>
              <p:cNvPr id="8147" name="Google Shape;814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98" y="2486664"/>
                <a:ext cx="239568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48" name="Google Shape;814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49" name="Google Shape;814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0" name="Google Shape;815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1" name="Google Shape;815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2" name="Google Shape;815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3" name="Google Shape;815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54" name="Google Shape;815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55" name="Google Shape;815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56" name="Google Shape;815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57" name="Google Shape;815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58" name="Google Shape;815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59" name="Google Shape;815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0" name="Google Shape;816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61" name="Google Shape;816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2" name="Google Shape;816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63" name="Google Shape;816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64" name="Google Shape;816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5" name="Google Shape;816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66" name="Google Shape;816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67" name="Google Shape;816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168" name="Google Shape;816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9" name="Google Shape;816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70" name="Google Shape;817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1" name="Google Shape;817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2" name="Google Shape;817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3" name="Google Shape;817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4" name="Google Shape;817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5" name="Google Shape;817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6" name="Google Shape;817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7" name="Google Shape;817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8" name="Google Shape;817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9" name="Google Shape;817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0" name="Google Shape;818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81" name="Google Shape;8181;p111"/>
            <p:cNvGrpSpPr/>
            <p:nvPr/>
          </p:nvGrpSpPr>
          <p:grpSpPr>
            <a:xfrm>
              <a:off x="6068038" y="3829780"/>
              <a:ext cx="347753" cy="680208"/>
              <a:chOff x="7923189" y="2486663"/>
              <a:chExt cx="360362" cy="884586"/>
            </a:xfrm>
          </p:grpSpPr>
          <p:pic>
            <p:nvPicPr>
              <p:cNvPr id="8182" name="Google Shape;818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83" name="Google Shape;818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84" name="Google Shape;818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5" name="Google Shape;818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6" name="Google Shape;818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7" name="Google Shape;818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8" name="Google Shape;818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89" name="Google Shape;818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90" name="Google Shape;819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91" name="Google Shape;819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92" name="Google Shape;819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93" name="Google Shape;819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94" name="Google Shape;819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95" name="Google Shape;819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96" name="Google Shape;819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97" name="Google Shape;819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98" name="Google Shape;819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99" name="Google Shape;819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00" name="Google Shape;820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01" name="Google Shape;820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02" name="Google Shape;820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203" name="Google Shape;820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04" name="Google Shape;820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05" name="Google Shape;820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6" name="Google Shape;820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7" name="Google Shape;820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8" name="Google Shape;820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9" name="Google Shape;820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0" name="Google Shape;821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1" name="Google Shape;821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2" name="Google Shape;821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3" name="Google Shape;821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4" name="Google Shape;821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5" name="Google Shape;821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16" name="Google Shape;8216;p111"/>
            <p:cNvGrpSpPr/>
            <p:nvPr/>
          </p:nvGrpSpPr>
          <p:grpSpPr>
            <a:xfrm>
              <a:off x="2122838" y="5630065"/>
              <a:ext cx="347753" cy="680208"/>
              <a:chOff x="7923189" y="2486663"/>
              <a:chExt cx="360362" cy="884586"/>
            </a:xfrm>
          </p:grpSpPr>
          <p:pic>
            <p:nvPicPr>
              <p:cNvPr id="8217" name="Google Shape;821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218" name="Google Shape;821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219" name="Google Shape;821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0" name="Google Shape;822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21" name="Google Shape;822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2" name="Google Shape;822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3" name="Google Shape;822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24" name="Google Shape;822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225" name="Google Shape;822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26" name="Google Shape;822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27" name="Google Shape;822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28" name="Google Shape;822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229" name="Google Shape;822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0" name="Google Shape;823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31" name="Google Shape;823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32" name="Google Shape;823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33" name="Google Shape;823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234" name="Google Shape;823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5" name="Google Shape;823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36" name="Google Shape;823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37" name="Google Shape;823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238" name="Google Shape;823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9" name="Google Shape;823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40" name="Google Shape;824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1" name="Google Shape;824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2" name="Google Shape;824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3" name="Google Shape;824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4" name="Google Shape;824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5" name="Google Shape;824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6" name="Google Shape;824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7" name="Google Shape;824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8" name="Google Shape;824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9" name="Google Shape;824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0" name="Google Shape;825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51" name="Google Shape;8251;p111"/>
            <p:cNvGrpSpPr/>
            <p:nvPr/>
          </p:nvGrpSpPr>
          <p:grpSpPr>
            <a:xfrm>
              <a:off x="7707456" y="4365068"/>
              <a:ext cx="990710" cy="735459"/>
              <a:chOff x="7707456" y="4365068"/>
              <a:chExt cx="990710" cy="735459"/>
            </a:xfrm>
          </p:grpSpPr>
          <p:pic>
            <p:nvPicPr>
              <p:cNvPr id="8252" name="Google Shape;8252;p1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771833" y="4640202"/>
                <a:ext cx="822008" cy="4603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253" name="Google Shape;8253;p111"/>
              <p:cNvGrpSpPr/>
              <p:nvPr/>
            </p:nvGrpSpPr>
            <p:grpSpPr>
              <a:xfrm flipH="1">
                <a:off x="7707456" y="4368231"/>
                <a:ext cx="225477" cy="394743"/>
                <a:chOff x="4144" y="425"/>
                <a:chExt cx="1422" cy="2389"/>
              </a:xfrm>
            </p:grpSpPr>
            <p:sp>
              <p:nvSpPr>
                <p:cNvPr id="8254" name="Google Shape;825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5" name="Google Shape;8255;p111"/>
                <p:cNvSpPr/>
                <p:nvPr/>
              </p:nvSpPr>
              <p:spPr>
                <a:xfrm>
                  <a:off x="4204" y="425"/>
                  <a:ext cx="1051" cy="2259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6" name="Google Shape;825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7" name="Google Shape;825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8" name="Google Shape;8258;p111"/>
                <p:cNvSpPr/>
                <p:nvPr/>
              </p:nvSpPr>
              <p:spPr>
                <a:xfrm>
                  <a:off x="4214" y="685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59" name="Google Shape;8259;p111"/>
                <p:cNvGrpSpPr/>
                <p:nvPr/>
              </p:nvGrpSpPr>
              <p:grpSpPr>
                <a:xfrm>
                  <a:off x="4775" y="666"/>
                  <a:ext cx="581" cy="144"/>
                  <a:chOff x="646" y="2566"/>
                  <a:chExt cx="725" cy="138"/>
                </a:xfrm>
              </p:grpSpPr>
              <p:sp>
                <p:nvSpPr>
                  <p:cNvPr id="8260" name="Google Shape;8260;p111"/>
                  <p:cNvSpPr/>
                  <p:nvPr/>
                </p:nvSpPr>
                <p:spPr>
                  <a:xfrm>
                    <a:off x="646" y="2566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61" name="Google Shape;8261;p111"/>
                  <p:cNvSpPr/>
                  <p:nvPr/>
                </p:nvSpPr>
                <p:spPr>
                  <a:xfrm>
                    <a:off x="659" y="2584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62" name="Google Shape;8262;p111"/>
                <p:cNvSpPr/>
                <p:nvPr/>
              </p:nvSpPr>
              <p:spPr>
                <a:xfrm>
                  <a:off x="4224" y="1012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63" name="Google Shape;8263;p111"/>
                <p:cNvGrpSpPr/>
                <p:nvPr/>
              </p:nvGrpSpPr>
              <p:grpSpPr>
                <a:xfrm>
                  <a:off x="4745" y="992"/>
                  <a:ext cx="581" cy="135"/>
                  <a:chOff x="611" y="2566"/>
                  <a:chExt cx="725" cy="140"/>
                </a:xfrm>
              </p:grpSpPr>
              <p:sp>
                <p:nvSpPr>
                  <p:cNvPr id="8264" name="Google Shape;8264;p111"/>
                  <p:cNvSpPr/>
                  <p:nvPr/>
                </p:nvSpPr>
                <p:spPr>
                  <a:xfrm>
                    <a:off x="611" y="2566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65" name="Google Shape;8265;p111"/>
                  <p:cNvSpPr/>
                  <p:nvPr/>
                </p:nvSpPr>
                <p:spPr>
                  <a:xfrm>
                    <a:off x="624" y="2586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66" name="Google Shape;8266;p111"/>
                <p:cNvSpPr/>
                <p:nvPr/>
              </p:nvSpPr>
              <p:spPr>
                <a:xfrm>
                  <a:off x="4224" y="1358"/>
                  <a:ext cx="591" cy="29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67" name="Google Shape;8267;p111"/>
                <p:cNvSpPr/>
                <p:nvPr/>
              </p:nvSpPr>
              <p:spPr>
                <a:xfrm>
                  <a:off x="4234" y="1627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68" name="Google Shape;8268;p111"/>
                <p:cNvGrpSpPr/>
                <p:nvPr/>
              </p:nvGrpSpPr>
              <p:grpSpPr>
                <a:xfrm>
                  <a:off x="4735" y="1627"/>
                  <a:ext cx="571" cy="125"/>
                  <a:chOff x="614" y="2568"/>
                  <a:chExt cx="711" cy="115"/>
                </a:xfrm>
              </p:grpSpPr>
              <p:sp>
                <p:nvSpPr>
                  <p:cNvPr id="8269" name="Google Shape;8269;p111"/>
                  <p:cNvSpPr/>
                  <p:nvPr/>
                </p:nvSpPr>
                <p:spPr>
                  <a:xfrm>
                    <a:off x="614" y="2568"/>
                    <a:ext cx="711" cy="11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70" name="Google Shape;8270;p111"/>
                  <p:cNvSpPr/>
                  <p:nvPr/>
                </p:nvSpPr>
                <p:spPr>
                  <a:xfrm>
                    <a:off x="626" y="2585"/>
                    <a:ext cx="674" cy="8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71" name="Google Shape;827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72" name="Google Shape;8272;p111"/>
                <p:cNvGrpSpPr/>
                <p:nvPr/>
              </p:nvGrpSpPr>
              <p:grpSpPr>
                <a:xfrm>
                  <a:off x="4765" y="1300"/>
                  <a:ext cx="560" cy="163"/>
                  <a:chOff x="646" y="2541"/>
                  <a:chExt cx="698" cy="163"/>
                </a:xfrm>
              </p:grpSpPr>
              <p:sp>
                <p:nvSpPr>
                  <p:cNvPr id="8273" name="Google Shape;8273;p111"/>
                  <p:cNvSpPr/>
                  <p:nvPr/>
                </p:nvSpPr>
                <p:spPr>
                  <a:xfrm>
                    <a:off x="646" y="2541"/>
                    <a:ext cx="698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74" name="Google Shape;8274;p111"/>
                  <p:cNvSpPr/>
                  <p:nvPr/>
                </p:nvSpPr>
                <p:spPr>
                  <a:xfrm>
                    <a:off x="659" y="2560"/>
                    <a:ext cx="661" cy="13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75" name="Google Shape;8275;p111"/>
                <p:cNvSpPr/>
                <p:nvPr/>
              </p:nvSpPr>
              <p:spPr>
                <a:xfrm>
                  <a:off x="5256" y="425"/>
                  <a:ext cx="60" cy="2268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6" name="Google Shape;827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7" name="Google Shape;827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8" name="Google Shape;8278;p111"/>
                <p:cNvSpPr/>
                <p:nvPr/>
              </p:nvSpPr>
              <p:spPr>
                <a:xfrm>
                  <a:off x="5516" y="2588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9" name="Google Shape;827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0" name="Google Shape;8280;p111"/>
                <p:cNvSpPr/>
                <p:nvPr/>
              </p:nvSpPr>
              <p:spPr>
                <a:xfrm>
                  <a:off x="4144" y="2655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1" name="Google Shape;8281;p111"/>
                <p:cNvSpPr/>
                <p:nvPr/>
              </p:nvSpPr>
              <p:spPr>
                <a:xfrm>
                  <a:off x="4204" y="2684"/>
                  <a:ext cx="1071" cy="8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2" name="Google Shape;8282;p111"/>
                <p:cNvSpPr/>
                <p:nvPr/>
              </p:nvSpPr>
              <p:spPr>
                <a:xfrm>
                  <a:off x="4314" y="2357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3" name="Google Shape;8283;p111"/>
                <p:cNvSpPr/>
                <p:nvPr/>
              </p:nvSpPr>
              <p:spPr>
                <a:xfrm>
                  <a:off x="4485" y="2357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4" name="Google Shape;8284;p111"/>
                <p:cNvSpPr/>
                <p:nvPr/>
              </p:nvSpPr>
              <p:spPr>
                <a:xfrm>
                  <a:off x="4665" y="2357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5" name="Google Shape;8285;p111"/>
                <p:cNvSpPr/>
                <p:nvPr/>
              </p:nvSpPr>
              <p:spPr>
                <a:xfrm>
                  <a:off x="5065" y="1809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86" name="Google Shape;8286;p111"/>
              <p:cNvGrpSpPr/>
              <p:nvPr/>
            </p:nvGrpSpPr>
            <p:grpSpPr>
              <a:xfrm flipH="1">
                <a:off x="7939232" y="4365068"/>
                <a:ext cx="227063" cy="400196"/>
                <a:chOff x="4137" y="404"/>
                <a:chExt cx="1432" cy="2422"/>
              </a:xfrm>
            </p:grpSpPr>
            <p:sp>
              <p:nvSpPr>
                <p:cNvPr id="8287" name="Google Shape;8287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8" name="Google Shape;8288;p111"/>
                <p:cNvSpPr/>
                <p:nvPr/>
              </p:nvSpPr>
              <p:spPr>
                <a:xfrm>
                  <a:off x="4207" y="404"/>
                  <a:ext cx="1051" cy="2307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9" name="Google Shape;8289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0" name="Google Shape;8290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1" name="Google Shape;8291;p111"/>
                <p:cNvSpPr/>
                <p:nvPr/>
              </p:nvSpPr>
              <p:spPr>
                <a:xfrm>
                  <a:off x="4207" y="693"/>
                  <a:ext cx="60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92" name="Google Shape;8292;p111"/>
                <p:cNvGrpSpPr/>
                <p:nvPr/>
              </p:nvGrpSpPr>
              <p:grpSpPr>
                <a:xfrm>
                  <a:off x="4747" y="664"/>
                  <a:ext cx="581" cy="125"/>
                  <a:chOff x="612" y="2564"/>
                  <a:chExt cx="725" cy="120"/>
                </a:xfrm>
              </p:grpSpPr>
              <p:sp>
                <p:nvSpPr>
                  <p:cNvPr id="8293" name="Google Shape;8293;p111"/>
                  <p:cNvSpPr/>
                  <p:nvPr/>
                </p:nvSpPr>
                <p:spPr>
                  <a:xfrm>
                    <a:off x="612" y="2564"/>
                    <a:ext cx="725" cy="12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4" name="Google Shape;8294;p111"/>
                  <p:cNvSpPr/>
                  <p:nvPr/>
                </p:nvSpPr>
                <p:spPr>
                  <a:xfrm>
                    <a:off x="625" y="2582"/>
                    <a:ext cx="700" cy="8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95" name="Google Shape;8295;p111"/>
                <p:cNvSpPr/>
                <p:nvPr/>
              </p:nvSpPr>
              <p:spPr>
                <a:xfrm>
                  <a:off x="4227" y="1019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96" name="Google Shape;8296;p111"/>
                <p:cNvGrpSpPr/>
                <p:nvPr/>
              </p:nvGrpSpPr>
              <p:grpSpPr>
                <a:xfrm>
                  <a:off x="4748" y="990"/>
                  <a:ext cx="581" cy="135"/>
                  <a:chOff x="615" y="2564"/>
                  <a:chExt cx="725" cy="140"/>
                </a:xfrm>
              </p:grpSpPr>
              <p:sp>
                <p:nvSpPr>
                  <p:cNvPr id="8297" name="Google Shape;8297;p111"/>
                  <p:cNvSpPr/>
                  <p:nvPr/>
                </p:nvSpPr>
                <p:spPr>
                  <a:xfrm>
                    <a:off x="615" y="2564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8" name="Google Shape;8298;p111"/>
                  <p:cNvSpPr/>
                  <p:nvPr/>
                </p:nvSpPr>
                <p:spPr>
                  <a:xfrm>
                    <a:off x="627" y="2584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99" name="Google Shape;8299;p111"/>
                <p:cNvSpPr/>
                <p:nvPr/>
              </p:nvSpPr>
              <p:spPr>
                <a:xfrm>
                  <a:off x="4217" y="1356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0" name="Google Shape;8300;p111"/>
                <p:cNvSpPr/>
                <p:nvPr/>
              </p:nvSpPr>
              <p:spPr>
                <a:xfrm>
                  <a:off x="4227" y="165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01" name="Google Shape;8301;p111"/>
                <p:cNvGrpSpPr/>
                <p:nvPr/>
              </p:nvGrpSpPr>
              <p:grpSpPr>
                <a:xfrm>
                  <a:off x="4737" y="1625"/>
                  <a:ext cx="571" cy="154"/>
                  <a:chOff x="617" y="2566"/>
                  <a:chExt cx="711" cy="142"/>
                </a:xfrm>
              </p:grpSpPr>
              <p:sp>
                <p:nvSpPr>
                  <p:cNvPr id="8302" name="Google Shape;8302;p111"/>
                  <p:cNvSpPr/>
                  <p:nvPr/>
                </p:nvSpPr>
                <p:spPr>
                  <a:xfrm>
                    <a:off x="617" y="2566"/>
                    <a:ext cx="711" cy="142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03" name="Google Shape;8303;p111"/>
                  <p:cNvSpPr/>
                  <p:nvPr/>
                </p:nvSpPr>
                <p:spPr>
                  <a:xfrm>
                    <a:off x="630" y="2584"/>
                    <a:ext cx="67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04" name="Google Shape;8304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05" name="Google Shape;8305;p111"/>
                <p:cNvGrpSpPr/>
                <p:nvPr/>
              </p:nvGrpSpPr>
              <p:grpSpPr>
                <a:xfrm>
                  <a:off x="4737" y="1327"/>
                  <a:ext cx="611" cy="135"/>
                  <a:chOff x="612" y="2568"/>
                  <a:chExt cx="761" cy="135"/>
                </a:xfrm>
              </p:grpSpPr>
              <p:sp>
                <p:nvSpPr>
                  <p:cNvPr id="8306" name="Google Shape;8306;p111"/>
                  <p:cNvSpPr/>
                  <p:nvPr/>
                </p:nvSpPr>
                <p:spPr>
                  <a:xfrm>
                    <a:off x="612" y="2568"/>
                    <a:ext cx="761" cy="13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07" name="Google Shape;8307;p111"/>
                  <p:cNvSpPr/>
                  <p:nvPr/>
                </p:nvSpPr>
                <p:spPr>
                  <a:xfrm>
                    <a:off x="625" y="2587"/>
                    <a:ext cx="723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08" name="Google Shape;8308;p111"/>
                <p:cNvSpPr/>
                <p:nvPr/>
              </p:nvSpPr>
              <p:spPr>
                <a:xfrm>
                  <a:off x="5248" y="404"/>
                  <a:ext cx="70" cy="2316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9" name="Google Shape;8309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0" name="Google Shape;8310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1" name="Google Shape;8311;p111"/>
                <p:cNvSpPr/>
                <p:nvPr/>
              </p:nvSpPr>
              <p:spPr>
                <a:xfrm>
                  <a:off x="5519" y="2615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2" name="Google Shape;8312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3" name="Google Shape;8313;p111"/>
                <p:cNvSpPr/>
                <p:nvPr/>
              </p:nvSpPr>
              <p:spPr>
                <a:xfrm>
                  <a:off x="4137" y="2682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4" name="Google Shape;8314;p111"/>
                <p:cNvSpPr/>
                <p:nvPr/>
              </p:nvSpPr>
              <p:spPr>
                <a:xfrm>
                  <a:off x="4207" y="2711"/>
                  <a:ext cx="1071" cy="8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5" name="Google Shape;8315;p111"/>
                <p:cNvSpPr/>
                <p:nvPr/>
              </p:nvSpPr>
              <p:spPr>
                <a:xfrm>
                  <a:off x="4307" y="2384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6" name="Google Shape;8316;p111"/>
                <p:cNvSpPr/>
                <p:nvPr/>
              </p:nvSpPr>
              <p:spPr>
                <a:xfrm>
                  <a:off x="4487" y="2384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7" name="Google Shape;8317;p111"/>
                <p:cNvSpPr/>
                <p:nvPr/>
              </p:nvSpPr>
              <p:spPr>
                <a:xfrm>
                  <a:off x="4658" y="2384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8" name="Google Shape;8318;p111"/>
                <p:cNvSpPr/>
                <p:nvPr/>
              </p:nvSpPr>
              <p:spPr>
                <a:xfrm>
                  <a:off x="5068" y="1836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319" name="Google Shape;8319;p111"/>
              <p:cNvGrpSpPr/>
              <p:nvPr/>
            </p:nvGrpSpPr>
            <p:grpSpPr>
              <a:xfrm flipH="1">
                <a:off x="8472689" y="4384243"/>
                <a:ext cx="225477" cy="395404"/>
                <a:chOff x="4140" y="428"/>
                <a:chExt cx="1422" cy="2393"/>
              </a:xfrm>
            </p:grpSpPr>
            <p:sp>
              <p:nvSpPr>
                <p:cNvPr id="8320" name="Google Shape;8320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1" name="Google Shape;8321;p111"/>
                <p:cNvSpPr/>
                <p:nvPr/>
              </p:nvSpPr>
              <p:spPr>
                <a:xfrm>
                  <a:off x="4200" y="428"/>
                  <a:ext cx="1051" cy="2278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22" name="Google Shape;8322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3" name="Google Shape;8323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4" name="Google Shape;8324;p111"/>
                <p:cNvSpPr/>
                <p:nvPr/>
              </p:nvSpPr>
              <p:spPr>
                <a:xfrm>
                  <a:off x="4210" y="687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25" name="Google Shape;8325;p111"/>
                <p:cNvGrpSpPr/>
                <p:nvPr/>
              </p:nvGrpSpPr>
              <p:grpSpPr>
                <a:xfrm>
                  <a:off x="4751" y="668"/>
                  <a:ext cx="581" cy="144"/>
                  <a:chOff x="616" y="2568"/>
                  <a:chExt cx="725" cy="138"/>
                </a:xfrm>
              </p:grpSpPr>
              <p:sp>
                <p:nvSpPr>
                  <p:cNvPr id="8326" name="Google Shape;8326;p111"/>
                  <p:cNvSpPr/>
                  <p:nvPr/>
                </p:nvSpPr>
                <p:spPr>
                  <a:xfrm>
                    <a:off x="616" y="2568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27" name="Google Shape;8327;p111"/>
                  <p:cNvSpPr/>
                  <p:nvPr/>
                </p:nvSpPr>
                <p:spPr>
                  <a:xfrm>
                    <a:off x="629" y="2586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28" name="Google Shape;8328;p111"/>
                <p:cNvSpPr/>
                <p:nvPr/>
              </p:nvSpPr>
              <p:spPr>
                <a:xfrm>
                  <a:off x="4220" y="101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29" name="Google Shape;8329;p111"/>
                <p:cNvGrpSpPr/>
                <p:nvPr/>
              </p:nvGrpSpPr>
              <p:grpSpPr>
                <a:xfrm>
                  <a:off x="4721" y="995"/>
                  <a:ext cx="581" cy="135"/>
                  <a:chOff x="581" y="2569"/>
                  <a:chExt cx="725" cy="140"/>
                </a:xfrm>
              </p:grpSpPr>
              <p:sp>
                <p:nvSpPr>
                  <p:cNvPr id="8330" name="Google Shape;8330;p111"/>
                  <p:cNvSpPr/>
                  <p:nvPr/>
                </p:nvSpPr>
                <p:spPr>
                  <a:xfrm>
                    <a:off x="581" y="2569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1" name="Google Shape;8331;p111"/>
                  <p:cNvSpPr/>
                  <p:nvPr/>
                </p:nvSpPr>
                <p:spPr>
                  <a:xfrm>
                    <a:off x="594" y="2589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32" name="Google Shape;8332;p111"/>
                <p:cNvSpPr/>
                <p:nvPr/>
              </p:nvSpPr>
              <p:spPr>
                <a:xfrm>
                  <a:off x="4220" y="1360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33" name="Google Shape;8333;p111"/>
                <p:cNvSpPr/>
                <p:nvPr/>
              </p:nvSpPr>
              <p:spPr>
                <a:xfrm>
                  <a:off x="4230" y="1648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34" name="Google Shape;8334;p111"/>
                <p:cNvGrpSpPr/>
                <p:nvPr/>
              </p:nvGrpSpPr>
              <p:grpSpPr>
                <a:xfrm>
                  <a:off x="4731" y="1629"/>
                  <a:ext cx="551" cy="144"/>
                  <a:chOff x="609" y="2570"/>
                  <a:chExt cx="686" cy="133"/>
                </a:xfrm>
              </p:grpSpPr>
              <p:sp>
                <p:nvSpPr>
                  <p:cNvPr id="8335" name="Google Shape;8335;p111"/>
                  <p:cNvSpPr/>
                  <p:nvPr/>
                </p:nvSpPr>
                <p:spPr>
                  <a:xfrm>
                    <a:off x="609" y="2570"/>
                    <a:ext cx="686" cy="13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6" name="Google Shape;8336;p111"/>
                  <p:cNvSpPr/>
                  <p:nvPr/>
                </p:nvSpPr>
                <p:spPr>
                  <a:xfrm>
                    <a:off x="621" y="2588"/>
                    <a:ext cx="649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37" name="Google Shape;8337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38" name="Google Shape;8338;p111"/>
                <p:cNvGrpSpPr/>
                <p:nvPr/>
              </p:nvGrpSpPr>
              <p:grpSpPr>
                <a:xfrm>
                  <a:off x="4741" y="1302"/>
                  <a:ext cx="580" cy="163"/>
                  <a:chOff x="616" y="2543"/>
                  <a:chExt cx="723" cy="163"/>
                </a:xfrm>
              </p:grpSpPr>
              <p:sp>
                <p:nvSpPr>
                  <p:cNvPr id="8339" name="Google Shape;8339;p111"/>
                  <p:cNvSpPr/>
                  <p:nvPr/>
                </p:nvSpPr>
                <p:spPr>
                  <a:xfrm>
                    <a:off x="616" y="2543"/>
                    <a:ext cx="723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40" name="Google Shape;8340;p111"/>
                  <p:cNvSpPr/>
                  <p:nvPr/>
                </p:nvSpPr>
                <p:spPr>
                  <a:xfrm>
                    <a:off x="629" y="2582"/>
                    <a:ext cx="686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41" name="Google Shape;8341;p111"/>
                <p:cNvSpPr/>
                <p:nvPr/>
              </p:nvSpPr>
              <p:spPr>
                <a:xfrm>
                  <a:off x="5251" y="428"/>
                  <a:ext cx="60" cy="2287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2" name="Google Shape;8342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3" name="Google Shape;8343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4" name="Google Shape;8344;p111"/>
                <p:cNvSpPr/>
                <p:nvPr/>
              </p:nvSpPr>
              <p:spPr>
                <a:xfrm>
                  <a:off x="5512" y="2609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5" name="Google Shape;8345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6" name="Google Shape;8346;p111"/>
                <p:cNvSpPr/>
                <p:nvPr/>
              </p:nvSpPr>
              <p:spPr>
                <a:xfrm>
                  <a:off x="4140" y="2677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7" name="Google Shape;8347;p111"/>
                <p:cNvSpPr/>
                <p:nvPr/>
              </p:nvSpPr>
              <p:spPr>
                <a:xfrm>
                  <a:off x="4200" y="2705"/>
                  <a:ext cx="1071" cy="7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8" name="Google Shape;8348;p111"/>
                <p:cNvSpPr/>
                <p:nvPr/>
              </p:nvSpPr>
              <p:spPr>
                <a:xfrm>
                  <a:off x="4310" y="2379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9" name="Google Shape;8349;p111"/>
                <p:cNvSpPr/>
                <p:nvPr/>
              </p:nvSpPr>
              <p:spPr>
                <a:xfrm>
                  <a:off x="4480" y="2379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0" name="Google Shape;8350;p111"/>
                <p:cNvSpPr/>
                <p:nvPr/>
              </p:nvSpPr>
              <p:spPr>
                <a:xfrm>
                  <a:off x="4661" y="2379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1" name="Google Shape;8351;p111"/>
                <p:cNvSpPr/>
                <p:nvPr/>
              </p:nvSpPr>
              <p:spPr>
                <a:xfrm>
                  <a:off x="5061" y="1831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52" name="Google Shape;8352;p111"/>
            <p:cNvGrpSpPr/>
            <p:nvPr/>
          </p:nvGrpSpPr>
          <p:grpSpPr>
            <a:xfrm>
              <a:off x="7186941" y="5734675"/>
              <a:ext cx="347753" cy="680208"/>
              <a:chOff x="7923189" y="2486663"/>
              <a:chExt cx="360362" cy="884586"/>
            </a:xfrm>
          </p:grpSpPr>
          <p:pic>
            <p:nvPicPr>
              <p:cNvPr id="8353" name="Google Shape;8353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354" name="Google Shape;8354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355" name="Google Shape;8355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6" name="Google Shape;8356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7" name="Google Shape;8357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8" name="Google Shape;8358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9" name="Google Shape;8359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0" name="Google Shape;8360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361" name="Google Shape;8361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62" name="Google Shape;8362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63" name="Google Shape;8363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4" name="Google Shape;8364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365" name="Google Shape;8365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66" name="Google Shape;8366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67" name="Google Shape;8367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8" name="Google Shape;8368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9" name="Google Shape;8369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370" name="Google Shape;8370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71" name="Google Shape;8371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72" name="Google Shape;8372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73" name="Google Shape;8373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374" name="Google Shape;8374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75" name="Google Shape;8375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76" name="Google Shape;8376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77" name="Google Shape;8377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8" name="Google Shape;8378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9" name="Google Shape;8379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0" name="Google Shape;8380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1" name="Google Shape;8381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2" name="Google Shape;8382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3" name="Google Shape;8383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4" name="Google Shape;8384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5" name="Google Shape;8385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6" name="Google Shape;8386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87" name="Google Shape;8387;p111"/>
            <p:cNvGrpSpPr/>
            <p:nvPr/>
          </p:nvGrpSpPr>
          <p:grpSpPr>
            <a:xfrm>
              <a:off x="439215" y="4827099"/>
              <a:ext cx="871949" cy="506826"/>
              <a:chOff x="439215" y="4827099"/>
              <a:chExt cx="871949" cy="506826"/>
            </a:xfrm>
          </p:grpSpPr>
          <p:grpSp>
            <p:nvGrpSpPr>
              <p:cNvPr id="8388" name="Google Shape;8388;p111"/>
              <p:cNvGrpSpPr/>
              <p:nvPr/>
            </p:nvGrpSpPr>
            <p:grpSpPr>
              <a:xfrm>
                <a:off x="439215" y="4827099"/>
                <a:ext cx="871949" cy="506826"/>
                <a:chOff x="2889" y="1631"/>
                <a:chExt cx="976" cy="743"/>
              </a:xfrm>
            </p:grpSpPr>
            <p:sp>
              <p:nvSpPr>
                <p:cNvPr id="8389" name="Google Shape;8389;p111"/>
                <p:cNvSpPr/>
                <p:nvPr/>
              </p:nvSpPr>
              <p:spPr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90" name="Google Shape;8390;p111"/>
                <p:cNvSpPr/>
                <p:nvPr/>
              </p:nvSpPr>
              <p:spPr>
                <a:xfrm>
                  <a:off x="2889" y="1631"/>
                  <a:ext cx="976" cy="25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CC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8391" name="Google Shape;8391;p1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83109" y="5014480"/>
                <a:ext cx="405029" cy="2908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392" name="Google Shape;8392;p111"/>
          <p:cNvGrpSpPr/>
          <p:nvPr/>
        </p:nvGrpSpPr>
        <p:grpSpPr>
          <a:xfrm>
            <a:off x="1949451" y="1181101"/>
            <a:ext cx="8258175" cy="5427663"/>
            <a:chOff x="425291" y="1016574"/>
            <a:chExt cx="8258951" cy="5427438"/>
          </a:xfrm>
        </p:grpSpPr>
        <p:grpSp>
          <p:nvGrpSpPr>
            <p:cNvPr id="8393" name="Google Shape;8393;p111"/>
            <p:cNvGrpSpPr/>
            <p:nvPr/>
          </p:nvGrpSpPr>
          <p:grpSpPr>
            <a:xfrm>
              <a:off x="861989" y="1488950"/>
              <a:ext cx="7326475" cy="4955062"/>
              <a:chOff x="861989" y="1488950"/>
              <a:chExt cx="7326475" cy="4955062"/>
            </a:xfrm>
          </p:grpSpPr>
          <p:cxnSp>
            <p:nvCxnSpPr>
              <p:cNvPr id="8394" name="Google Shape;8394;p111"/>
              <p:cNvCxnSpPr>
                <a:stCxn id="8391" idx="2"/>
              </p:cNvCxnSpPr>
              <p:nvPr/>
            </p:nvCxnSpPr>
            <p:spPr>
              <a:xfrm rot="10800000">
                <a:off x="861989" y="2767320"/>
                <a:ext cx="24000" cy="237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5" name="Google Shape;8395;p111"/>
              <p:cNvCxnSpPr>
                <a:stCxn id="8045" idx="2"/>
              </p:cNvCxnSpPr>
              <p:nvPr/>
            </p:nvCxnSpPr>
            <p:spPr>
              <a:xfrm flipH="1" rot="10800000">
                <a:off x="1769891" y="1937029"/>
                <a:ext cx="300" cy="24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6" name="Google Shape;8396;p111"/>
              <p:cNvCxnSpPr/>
              <p:nvPr/>
            </p:nvCxnSpPr>
            <p:spPr>
              <a:xfrm rot="10800000">
                <a:off x="2209958" y="325285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7" name="Google Shape;8397;p111"/>
              <p:cNvCxnSpPr/>
              <p:nvPr/>
            </p:nvCxnSpPr>
            <p:spPr>
              <a:xfrm rot="10800000">
                <a:off x="3314938" y="3904152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8" name="Google Shape;8398;p111"/>
              <p:cNvCxnSpPr/>
              <p:nvPr/>
            </p:nvCxnSpPr>
            <p:spPr>
              <a:xfrm rot="10800000">
                <a:off x="4465279" y="1488950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9" name="Google Shape;8399;p111"/>
              <p:cNvCxnSpPr/>
              <p:nvPr/>
            </p:nvCxnSpPr>
            <p:spPr>
              <a:xfrm rot="10800000">
                <a:off x="5162011" y="356135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0" name="Google Shape;8400;p111"/>
              <p:cNvCxnSpPr/>
              <p:nvPr/>
            </p:nvCxnSpPr>
            <p:spPr>
              <a:xfrm rot="10800000">
                <a:off x="6130907" y="177844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1" name="Google Shape;8401;p111"/>
              <p:cNvCxnSpPr/>
              <p:nvPr/>
            </p:nvCxnSpPr>
            <p:spPr>
              <a:xfrm rot="10800000">
                <a:off x="8188464" y="238403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2" name="Google Shape;8402;p111"/>
              <p:cNvCxnSpPr/>
              <p:nvPr/>
            </p:nvCxnSpPr>
            <p:spPr>
              <a:xfrm rot="10800000">
                <a:off x="7267323" y="388000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403" name="Google Shape;8403;p111"/>
            <p:cNvGrpSpPr/>
            <p:nvPr/>
          </p:nvGrpSpPr>
          <p:grpSpPr>
            <a:xfrm>
              <a:off x="425291" y="1016574"/>
              <a:ext cx="8258951" cy="2901368"/>
              <a:chOff x="439215" y="3555216"/>
              <a:chExt cx="8258951" cy="2901368"/>
            </a:xfrm>
          </p:grpSpPr>
          <p:grpSp>
            <p:nvGrpSpPr>
              <p:cNvPr id="8404" name="Google Shape;8404;p111"/>
              <p:cNvGrpSpPr/>
              <p:nvPr/>
            </p:nvGrpSpPr>
            <p:grpSpPr>
              <a:xfrm>
                <a:off x="1678362" y="385514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05" name="Google Shape;840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06" name="Google Shape;840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07" name="Google Shape;840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8" name="Google Shape;840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09" name="Google Shape;840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0" name="Google Shape;841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1" name="Google Shape;841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12" name="Google Shape;841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13" name="Google Shape;841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14" name="Google Shape;841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15" name="Google Shape;841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16" name="Google Shape;841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17" name="Google Shape;841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18" name="Google Shape;841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19" name="Google Shape;841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0" name="Google Shape;842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21" name="Google Shape;842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22" name="Google Shape;842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23" name="Google Shape;842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24" name="Google Shape;842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25" name="Google Shape;842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26" name="Google Shape;842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27" name="Google Shape;842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28" name="Google Shape;842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9" name="Google Shape;842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0" name="Google Shape;843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1" name="Google Shape;843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2" name="Google Shape;843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3" name="Google Shape;843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4" name="Google Shape;843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5" name="Google Shape;843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6" name="Google Shape;843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7" name="Google Shape;843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8" name="Google Shape;843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439" name="Google Shape;8439;p111"/>
              <p:cNvGrpSpPr/>
              <p:nvPr/>
            </p:nvGrpSpPr>
            <p:grpSpPr>
              <a:xfrm>
                <a:off x="3221830" y="577637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40" name="Google Shape;844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41" name="Google Shape;844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42" name="Google Shape;844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3" name="Google Shape;844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44" name="Google Shape;844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5" name="Google Shape;844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6" name="Google Shape;844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47" name="Google Shape;844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48" name="Google Shape;844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49" name="Google Shape;844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0" name="Google Shape;845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51" name="Google Shape;845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52" name="Google Shape;845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53" name="Google Shape;845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4" name="Google Shape;845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55" name="Google Shape;845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56" name="Google Shape;845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57" name="Google Shape;845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58" name="Google Shape;845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9" name="Google Shape;845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60" name="Google Shape;846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61" name="Google Shape;846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62" name="Google Shape;846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63" name="Google Shape;846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4" name="Google Shape;846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5" name="Google Shape;846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6" name="Google Shape;846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7" name="Google Shape;846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8" name="Google Shape;846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9" name="Google Shape;846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0" name="Google Shape;847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1" name="Google Shape;847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2" name="Google Shape;847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3" name="Google Shape;847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474" name="Google Shape;8474;p111"/>
              <p:cNvGrpSpPr/>
              <p:nvPr/>
            </p:nvGrpSpPr>
            <p:grpSpPr>
              <a:xfrm>
                <a:off x="4387291" y="355521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75" name="Google Shape;847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76" name="Google Shape;847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77" name="Google Shape;847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8" name="Google Shape;847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9" name="Google Shape;847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0" name="Google Shape;848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1" name="Google Shape;848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82" name="Google Shape;848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83" name="Google Shape;848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84" name="Google Shape;848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85" name="Google Shape;848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86" name="Google Shape;848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87" name="Google Shape;848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88" name="Google Shape;848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89" name="Google Shape;848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0" name="Google Shape;849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91" name="Google Shape;849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92" name="Google Shape;849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93" name="Google Shape;849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94" name="Google Shape;849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95" name="Google Shape;849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96" name="Google Shape;849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97" name="Google Shape;849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98" name="Google Shape;849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9" name="Google Shape;849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0" name="Google Shape;850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1" name="Google Shape;850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2" name="Google Shape;850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3" name="Google Shape;850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4" name="Google Shape;850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5" name="Google Shape;850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6" name="Google Shape;850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7" name="Google Shape;850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8" name="Google Shape;850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09" name="Google Shape;8509;p111"/>
              <p:cNvGrpSpPr/>
              <p:nvPr/>
            </p:nvGrpSpPr>
            <p:grpSpPr>
              <a:xfrm>
                <a:off x="5084012" y="5612511"/>
                <a:ext cx="347767" cy="680207"/>
                <a:chOff x="7923189" y="2486664"/>
                <a:chExt cx="360377" cy="884585"/>
              </a:xfrm>
            </p:grpSpPr>
            <p:pic>
              <p:nvPicPr>
                <p:cNvPr id="8510" name="Google Shape;851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98" y="2486664"/>
                  <a:ext cx="239568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11" name="Google Shape;851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12" name="Google Shape;851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3" name="Google Shape;851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14" name="Google Shape;851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5" name="Google Shape;851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6" name="Google Shape;851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17" name="Google Shape;851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18" name="Google Shape;851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19" name="Google Shape;851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0" name="Google Shape;852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21" name="Google Shape;852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22" name="Google Shape;852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23" name="Google Shape;852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4" name="Google Shape;852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25" name="Google Shape;852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26" name="Google Shape;852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27" name="Google Shape;852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28" name="Google Shape;852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9" name="Google Shape;852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530" name="Google Shape;853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531" name="Google Shape;853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32" name="Google Shape;853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33" name="Google Shape;853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4" name="Google Shape;853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5" name="Google Shape;853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6" name="Google Shape;853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7" name="Google Shape;853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8" name="Google Shape;853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9" name="Google Shape;853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0" name="Google Shape;854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1" name="Google Shape;854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2" name="Google Shape;854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3" name="Google Shape;854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44" name="Google Shape;8544;p111"/>
              <p:cNvGrpSpPr/>
              <p:nvPr/>
            </p:nvGrpSpPr>
            <p:grpSpPr>
              <a:xfrm>
                <a:off x="6068038" y="3829780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545" name="Google Shape;854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46" name="Google Shape;854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47" name="Google Shape;854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48" name="Google Shape;854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9" name="Google Shape;854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0" name="Google Shape;855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1" name="Google Shape;855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52" name="Google Shape;855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53" name="Google Shape;855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54" name="Google Shape;855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55" name="Google Shape;855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56" name="Google Shape;855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57" name="Google Shape;855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58" name="Google Shape;855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59" name="Google Shape;855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0" name="Google Shape;856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61" name="Google Shape;856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62" name="Google Shape;856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63" name="Google Shape;856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64" name="Google Shape;856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565" name="Google Shape;856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566" name="Google Shape;856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67" name="Google Shape;856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68" name="Google Shape;856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9" name="Google Shape;856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0" name="Google Shape;857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1" name="Google Shape;857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2" name="Google Shape;857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3" name="Google Shape;857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4" name="Google Shape;857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5" name="Google Shape;857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6" name="Google Shape;857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7" name="Google Shape;857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8" name="Google Shape;857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79" name="Google Shape;8579;p111"/>
              <p:cNvGrpSpPr/>
              <p:nvPr/>
            </p:nvGrpSpPr>
            <p:grpSpPr>
              <a:xfrm>
                <a:off x="2122838" y="563006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580" name="Google Shape;858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81" name="Google Shape;858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82" name="Google Shape;858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3" name="Google Shape;858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84" name="Google Shape;858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5" name="Google Shape;858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6" name="Google Shape;858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87" name="Google Shape;858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88" name="Google Shape;858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89" name="Google Shape;858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0" name="Google Shape;859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91" name="Google Shape;859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92" name="Google Shape;859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3" name="Google Shape;859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4" name="Google Shape;859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5" name="Google Shape;859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96" name="Google Shape;859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97" name="Google Shape;859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8" name="Google Shape;859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9" name="Google Shape;859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00" name="Google Shape;860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601" name="Google Shape;860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02" name="Google Shape;860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03" name="Google Shape;860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4" name="Google Shape;860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5" name="Google Shape;860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6" name="Google Shape;860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7" name="Google Shape;860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8" name="Google Shape;860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9" name="Google Shape;860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0" name="Google Shape;861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1" name="Google Shape;861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2" name="Google Shape;861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3" name="Google Shape;861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614" name="Google Shape;8614;p111"/>
              <p:cNvGrpSpPr/>
              <p:nvPr/>
            </p:nvGrpSpPr>
            <p:grpSpPr>
              <a:xfrm>
                <a:off x="7707456" y="4369529"/>
                <a:ext cx="990710" cy="730998"/>
                <a:chOff x="7707456" y="4369529"/>
                <a:chExt cx="990710" cy="730998"/>
              </a:xfrm>
            </p:grpSpPr>
            <p:pic>
              <p:nvPicPr>
                <p:cNvPr id="8615" name="Google Shape;8615;p11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771833" y="4640202"/>
                  <a:ext cx="822008" cy="4603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616" name="Google Shape;8616;p111"/>
                <p:cNvGrpSpPr/>
                <p:nvPr/>
              </p:nvGrpSpPr>
              <p:grpSpPr>
                <a:xfrm flipH="1">
                  <a:off x="7707456" y="4369553"/>
                  <a:ext cx="225477" cy="395239"/>
                  <a:chOff x="4144" y="433"/>
                  <a:chExt cx="1422" cy="2392"/>
                </a:xfrm>
              </p:grpSpPr>
              <p:sp>
                <p:nvSpPr>
                  <p:cNvPr id="8617" name="Google Shape;861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8" name="Google Shape;8618;p111"/>
                  <p:cNvSpPr/>
                  <p:nvPr/>
                </p:nvSpPr>
                <p:spPr>
                  <a:xfrm>
                    <a:off x="4204" y="433"/>
                    <a:ext cx="1051" cy="2277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9" name="Google Shape;861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0" name="Google Shape;862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1" name="Google Shape;8621;p111"/>
                  <p:cNvSpPr/>
                  <p:nvPr/>
                </p:nvSpPr>
                <p:spPr>
                  <a:xfrm>
                    <a:off x="4214" y="692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22" name="Google Shape;8622;p111"/>
                  <p:cNvGrpSpPr/>
                  <p:nvPr/>
                </p:nvGrpSpPr>
                <p:grpSpPr>
                  <a:xfrm>
                    <a:off x="4775" y="692"/>
                    <a:ext cx="581" cy="125"/>
                    <a:chOff x="646" y="2591"/>
                    <a:chExt cx="725" cy="120"/>
                  </a:xfrm>
                </p:grpSpPr>
                <p:sp>
                  <p:nvSpPr>
                    <p:cNvPr id="8623" name="Google Shape;8623;p111"/>
                    <p:cNvSpPr/>
                    <p:nvPr/>
                  </p:nvSpPr>
                  <p:spPr>
                    <a:xfrm>
                      <a:off x="646" y="2591"/>
                      <a:ext cx="725" cy="12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4" name="Google Shape;8624;p111"/>
                    <p:cNvSpPr/>
                    <p:nvPr/>
                  </p:nvSpPr>
                  <p:spPr>
                    <a:xfrm>
                      <a:off x="659" y="2591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25" name="Google Shape;8625;p111"/>
                  <p:cNvSpPr/>
                  <p:nvPr/>
                </p:nvSpPr>
                <p:spPr>
                  <a:xfrm>
                    <a:off x="4224" y="1019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26" name="Google Shape;8626;p111"/>
                  <p:cNvGrpSpPr/>
                  <p:nvPr/>
                </p:nvGrpSpPr>
                <p:grpSpPr>
                  <a:xfrm>
                    <a:off x="4745" y="1019"/>
                    <a:ext cx="581" cy="135"/>
                    <a:chOff x="611" y="2594"/>
                    <a:chExt cx="725" cy="140"/>
                  </a:xfrm>
                </p:grpSpPr>
                <p:sp>
                  <p:nvSpPr>
                    <p:cNvPr id="8627" name="Google Shape;8627;p111"/>
                    <p:cNvSpPr/>
                    <p:nvPr/>
                  </p:nvSpPr>
                  <p:spPr>
                    <a:xfrm>
                      <a:off x="611" y="2594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8" name="Google Shape;8628;p111"/>
                    <p:cNvSpPr/>
                    <p:nvPr/>
                  </p:nvSpPr>
                  <p:spPr>
                    <a:xfrm>
                      <a:off x="624" y="2614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29" name="Google Shape;8629;p111"/>
                  <p:cNvSpPr/>
                  <p:nvPr/>
                </p:nvSpPr>
                <p:spPr>
                  <a:xfrm>
                    <a:off x="4224" y="1365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0" name="Google Shape;8630;p111"/>
                  <p:cNvSpPr/>
                  <p:nvPr/>
                </p:nvSpPr>
                <p:spPr>
                  <a:xfrm>
                    <a:off x="4234" y="165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31" name="Google Shape;8631;p111"/>
                  <p:cNvGrpSpPr/>
                  <p:nvPr/>
                </p:nvGrpSpPr>
                <p:grpSpPr>
                  <a:xfrm>
                    <a:off x="4735" y="1653"/>
                    <a:ext cx="571" cy="125"/>
                    <a:chOff x="614" y="2592"/>
                    <a:chExt cx="711" cy="115"/>
                  </a:xfrm>
                </p:grpSpPr>
                <p:sp>
                  <p:nvSpPr>
                    <p:cNvPr id="8632" name="Google Shape;8632;p111"/>
                    <p:cNvSpPr/>
                    <p:nvPr/>
                  </p:nvSpPr>
                  <p:spPr>
                    <a:xfrm>
                      <a:off x="614" y="2592"/>
                      <a:ext cx="71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3" name="Google Shape;8633;p111"/>
                    <p:cNvSpPr/>
                    <p:nvPr/>
                  </p:nvSpPr>
                  <p:spPr>
                    <a:xfrm>
                      <a:off x="626" y="2610"/>
                      <a:ext cx="674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34" name="Google Shape;863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35" name="Google Shape;8635;p111"/>
                  <p:cNvGrpSpPr/>
                  <p:nvPr/>
                </p:nvGrpSpPr>
                <p:grpSpPr>
                  <a:xfrm>
                    <a:off x="4765" y="1327"/>
                    <a:ext cx="560" cy="163"/>
                    <a:chOff x="646" y="2568"/>
                    <a:chExt cx="698" cy="163"/>
                  </a:xfrm>
                </p:grpSpPr>
                <p:sp>
                  <p:nvSpPr>
                    <p:cNvPr id="8636" name="Google Shape;8636;p111"/>
                    <p:cNvSpPr/>
                    <p:nvPr/>
                  </p:nvSpPr>
                  <p:spPr>
                    <a:xfrm>
                      <a:off x="646" y="2568"/>
                      <a:ext cx="698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7" name="Google Shape;8637;p111"/>
                    <p:cNvSpPr/>
                    <p:nvPr/>
                  </p:nvSpPr>
                  <p:spPr>
                    <a:xfrm>
                      <a:off x="659" y="2587"/>
                      <a:ext cx="661" cy="11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38" name="Google Shape;8638;p111"/>
                  <p:cNvSpPr/>
                  <p:nvPr/>
                </p:nvSpPr>
                <p:spPr>
                  <a:xfrm>
                    <a:off x="5255" y="433"/>
                    <a:ext cx="60" cy="228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9" name="Google Shape;863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0" name="Google Shape;864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1" name="Google Shape;8641;p111"/>
                  <p:cNvSpPr/>
                  <p:nvPr/>
                </p:nvSpPr>
                <p:spPr>
                  <a:xfrm>
                    <a:off x="5516" y="2614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2" name="Google Shape;864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3" name="Google Shape;8643;p111"/>
                  <p:cNvSpPr/>
                  <p:nvPr/>
                </p:nvSpPr>
                <p:spPr>
                  <a:xfrm>
                    <a:off x="4144" y="2681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4" name="Google Shape;8644;p111"/>
                  <p:cNvSpPr/>
                  <p:nvPr/>
                </p:nvSpPr>
                <p:spPr>
                  <a:xfrm>
                    <a:off x="4204" y="2710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5" name="Google Shape;8645;p111"/>
                  <p:cNvSpPr/>
                  <p:nvPr/>
                </p:nvSpPr>
                <p:spPr>
                  <a:xfrm>
                    <a:off x="4314" y="2383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6" name="Google Shape;8646;p111"/>
                  <p:cNvSpPr/>
                  <p:nvPr/>
                </p:nvSpPr>
                <p:spPr>
                  <a:xfrm>
                    <a:off x="4485" y="2383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7" name="Google Shape;8647;p111"/>
                  <p:cNvSpPr/>
                  <p:nvPr/>
                </p:nvSpPr>
                <p:spPr>
                  <a:xfrm>
                    <a:off x="4665" y="2383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8" name="Google Shape;8648;p111"/>
                  <p:cNvSpPr/>
                  <p:nvPr/>
                </p:nvSpPr>
                <p:spPr>
                  <a:xfrm>
                    <a:off x="5065" y="1836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49" name="Google Shape;8649;p111"/>
                <p:cNvGrpSpPr/>
                <p:nvPr/>
              </p:nvGrpSpPr>
              <p:grpSpPr>
                <a:xfrm flipH="1">
                  <a:off x="7939232" y="4369529"/>
                  <a:ext cx="227063" cy="400031"/>
                  <a:chOff x="4137" y="431"/>
                  <a:chExt cx="1432" cy="2421"/>
                </a:xfrm>
              </p:grpSpPr>
              <p:sp>
                <p:nvSpPr>
                  <p:cNvPr id="8650" name="Google Shape;8650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1" name="Google Shape;8651;p111"/>
                  <p:cNvSpPr/>
                  <p:nvPr/>
                </p:nvSpPr>
                <p:spPr>
                  <a:xfrm>
                    <a:off x="4207" y="431"/>
                    <a:ext cx="1051" cy="2306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2" name="Google Shape;8652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3" name="Google Shape;8653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4" name="Google Shape;8654;p111"/>
                  <p:cNvSpPr/>
                  <p:nvPr/>
                </p:nvSpPr>
                <p:spPr>
                  <a:xfrm>
                    <a:off x="4207" y="700"/>
                    <a:ext cx="60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55" name="Google Shape;8655;p111"/>
                  <p:cNvGrpSpPr/>
                  <p:nvPr/>
                </p:nvGrpSpPr>
                <p:grpSpPr>
                  <a:xfrm>
                    <a:off x="4747" y="671"/>
                    <a:ext cx="581" cy="144"/>
                    <a:chOff x="612" y="2571"/>
                    <a:chExt cx="725" cy="138"/>
                  </a:xfrm>
                </p:grpSpPr>
                <p:sp>
                  <p:nvSpPr>
                    <p:cNvPr id="8656" name="Google Shape;8656;p111"/>
                    <p:cNvSpPr/>
                    <p:nvPr/>
                  </p:nvSpPr>
                  <p:spPr>
                    <a:xfrm>
                      <a:off x="612" y="2571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57" name="Google Shape;8657;p111"/>
                    <p:cNvSpPr/>
                    <p:nvPr/>
                  </p:nvSpPr>
                  <p:spPr>
                    <a:xfrm>
                      <a:off x="625" y="2590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58" name="Google Shape;8658;p111"/>
                  <p:cNvSpPr/>
                  <p:nvPr/>
                </p:nvSpPr>
                <p:spPr>
                  <a:xfrm>
                    <a:off x="4227" y="102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59" name="Google Shape;8659;p111"/>
                  <p:cNvGrpSpPr/>
                  <p:nvPr/>
                </p:nvGrpSpPr>
                <p:grpSpPr>
                  <a:xfrm>
                    <a:off x="4748" y="998"/>
                    <a:ext cx="581" cy="144"/>
                    <a:chOff x="615" y="2572"/>
                    <a:chExt cx="725" cy="149"/>
                  </a:xfrm>
                </p:grpSpPr>
                <p:sp>
                  <p:nvSpPr>
                    <p:cNvPr id="8660" name="Google Shape;8660;p111"/>
                    <p:cNvSpPr/>
                    <p:nvPr/>
                  </p:nvSpPr>
                  <p:spPr>
                    <a:xfrm>
                      <a:off x="615" y="2572"/>
                      <a:ext cx="725" cy="14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61" name="Google Shape;8661;p111"/>
                    <p:cNvSpPr/>
                    <p:nvPr/>
                  </p:nvSpPr>
                  <p:spPr>
                    <a:xfrm>
                      <a:off x="627" y="2592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62" name="Google Shape;8662;p111"/>
                  <p:cNvSpPr/>
                  <p:nvPr/>
                </p:nvSpPr>
                <p:spPr>
                  <a:xfrm>
                    <a:off x="4217" y="136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3" name="Google Shape;8663;p111"/>
                  <p:cNvSpPr/>
                  <p:nvPr/>
                </p:nvSpPr>
                <p:spPr>
                  <a:xfrm>
                    <a:off x="4227" y="1680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64" name="Google Shape;8664;p111"/>
                  <p:cNvGrpSpPr/>
                  <p:nvPr/>
                </p:nvGrpSpPr>
                <p:grpSpPr>
                  <a:xfrm>
                    <a:off x="4737" y="1651"/>
                    <a:ext cx="571" cy="154"/>
                    <a:chOff x="617" y="2590"/>
                    <a:chExt cx="711" cy="142"/>
                  </a:xfrm>
                </p:grpSpPr>
                <p:sp>
                  <p:nvSpPr>
                    <p:cNvPr id="8665" name="Google Shape;8665;p111"/>
                    <p:cNvSpPr/>
                    <p:nvPr/>
                  </p:nvSpPr>
                  <p:spPr>
                    <a:xfrm>
                      <a:off x="617" y="2590"/>
                      <a:ext cx="711" cy="142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66" name="Google Shape;8666;p111"/>
                    <p:cNvSpPr/>
                    <p:nvPr/>
                  </p:nvSpPr>
                  <p:spPr>
                    <a:xfrm>
                      <a:off x="630" y="2608"/>
                      <a:ext cx="674" cy="10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67" name="Google Shape;8667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68" name="Google Shape;8668;p111"/>
                  <p:cNvGrpSpPr/>
                  <p:nvPr/>
                </p:nvGrpSpPr>
                <p:grpSpPr>
                  <a:xfrm>
                    <a:off x="4737" y="1354"/>
                    <a:ext cx="611" cy="115"/>
                    <a:chOff x="612" y="2595"/>
                    <a:chExt cx="761" cy="115"/>
                  </a:xfrm>
                </p:grpSpPr>
                <p:sp>
                  <p:nvSpPr>
                    <p:cNvPr id="8669" name="Google Shape;8669;p111"/>
                    <p:cNvSpPr/>
                    <p:nvPr/>
                  </p:nvSpPr>
                  <p:spPr>
                    <a:xfrm>
                      <a:off x="612" y="2595"/>
                      <a:ext cx="76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70" name="Google Shape;8670;p111"/>
                    <p:cNvSpPr/>
                    <p:nvPr/>
                  </p:nvSpPr>
                  <p:spPr>
                    <a:xfrm>
                      <a:off x="625" y="2614"/>
                      <a:ext cx="723" cy="8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71" name="Google Shape;8671;p111"/>
                  <p:cNvSpPr/>
                  <p:nvPr/>
                </p:nvSpPr>
                <p:spPr>
                  <a:xfrm>
                    <a:off x="5248" y="431"/>
                    <a:ext cx="70" cy="231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2" name="Google Shape;8672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3" name="Google Shape;8673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4" name="Google Shape;8674;p111"/>
                  <p:cNvSpPr/>
                  <p:nvPr/>
                </p:nvSpPr>
                <p:spPr>
                  <a:xfrm>
                    <a:off x="5519" y="2641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5" name="Google Shape;8675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6" name="Google Shape;8676;p111"/>
                  <p:cNvSpPr/>
                  <p:nvPr/>
                </p:nvSpPr>
                <p:spPr>
                  <a:xfrm>
                    <a:off x="4137" y="2708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7" name="Google Shape;8677;p111"/>
                  <p:cNvSpPr/>
                  <p:nvPr/>
                </p:nvSpPr>
                <p:spPr>
                  <a:xfrm>
                    <a:off x="4207" y="2737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8" name="Google Shape;8678;p111"/>
                  <p:cNvSpPr/>
                  <p:nvPr/>
                </p:nvSpPr>
                <p:spPr>
                  <a:xfrm>
                    <a:off x="4307" y="2410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9" name="Google Shape;8679;p111"/>
                  <p:cNvSpPr/>
                  <p:nvPr/>
                </p:nvSpPr>
                <p:spPr>
                  <a:xfrm>
                    <a:off x="4487" y="2410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0" name="Google Shape;8680;p111"/>
                  <p:cNvSpPr/>
                  <p:nvPr/>
                </p:nvSpPr>
                <p:spPr>
                  <a:xfrm>
                    <a:off x="4658" y="2410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1" name="Google Shape;8681;p111"/>
                  <p:cNvSpPr/>
                  <p:nvPr/>
                </p:nvSpPr>
                <p:spPr>
                  <a:xfrm>
                    <a:off x="5068" y="1863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82" name="Google Shape;8682;p111"/>
                <p:cNvGrpSpPr/>
                <p:nvPr/>
              </p:nvGrpSpPr>
              <p:grpSpPr>
                <a:xfrm flipH="1">
                  <a:off x="8472689" y="4385069"/>
                  <a:ext cx="225477" cy="395570"/>
                  <a:chOff x="4140" y="433"/>
                  <a:chExt cx="1422" cy="2394"/>
                </a:xfrm>
              </p:grpSpPr>
              <p:sp>
                <p:nvSpPr>
                  <p:cNvPr id="8683" name="Google Shape;8683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4" name="Google Shape;8684;p111"/>
                  <p:cNvSpPr/>
                  <p:nvPr/>
                </p:nvSpPr>
                <p:spPr>
                  <a:xfrm>
                    <a:off x="4200" y="454"/>
                    <a:ext cx="1051" cy="2258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5" name="Google Shape;8685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6" name="Google Shape;8686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7" name="Google Shape;8687;p111"/>
                  <p:cNvSpPr/>
                  <p:nvPr/>
                </p:nvSpPr>
                <p:spPr>
                  <a:xfrm>
                    <a:off x="4210" y="714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88" name="Google Shape;8688;p111"/>
                  <p:cNvGrpSpPr/>
                  <p:nvPr/>
                </p:nvGrpSpPr>
                <p:grpSpPr>
                  <a:xfrm>
                    <a:off x="4751" y="695"/>
                    <a:ext cx="581" cy="144"/>
                    <a:chOff x="616" y="2594"/>
                    <a:chExt cx="725" cy="138"/>
                  </a:xfrm>
                </p:grpSpPr>
                <p:sp>
                  <p:nvSpPr>
                    <p:cNvPr id="8689" name="Google Shape;8689;p111"/>
                    <p:cNvSpPr/>
                    <p:nvPr/>
                  </p:nvSpPr>
                  <p:spPr>
                    <a:xfrm>
                      <a:off x="616" y="2594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0" name="Google Shape;8690;p111"/>
                    <p:cNvSpPr/>
                    <p:nvPr/>
                  </p:nvSpPr>
                  <p:spPr>
                    <a:xfrm>
                      <a:off x="629" y="2612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91" name="Google Shape;8691;p111"/>
                  <p:cNvSpPr/>
                  <p:nvPr/>
                </p:nvSpPr>
                <p:spPr>
                  <a:xfrm>
                    <a:off x="4220" y="1041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92" name="Google Shape;8692;p111"/>
                  <p:cNvGrpSpPr/>
                  <p:nvPr/>
                </p:nvGrpSpPr>
                <p:grpSpPr>
                  <a:xfrm>
                    <a:off x="4721" y="1021"/>
                    <a:ext cx="581" cy="135"/>
                    <a:chOff x="581" y="2596"/>
                    <a:chExt cx="725" cy="140"/>
                  </a:xfrm>
                </p:grpSpPr>
                <p:sp>
                  <p:nvSpPr>
                    <p:cNvPr id="8693" name="Google Shape;8693;p111"/>
                    <p:cNvSpPr/>
                    <p:nvPr/>
                  </p:nvSpPr>
                  <p:spPr>
                    <a:xfrm>
                      <a:off x="581" y="2596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4" name="Google Shape;8694;p111"/>
                    <p:cNvSpPr/>
                    <p:nvPr/>
                  </p:nvSpPr>
                  <p:spPr>
                    <a:xfrm>
                      <a:off x="594" y="2616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95" name="Google Shape;8695;p111"/>
                  <p:cNvSpPr/>
                  <p:nvPr/>
                </p:nvSpPr>
                <p:spPr>
                  <a:xfrm>
                    <a:off x="4220" y="136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96" name="Google Shape;8696;p111"/>
                  <p:cNvSpPr/>
                  <p:nvPr/>
                </p:nvSpPr>
                <p:spPr>
                  <a:xfrm>
                    <a:off x="4230" y="1655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97" name="Google Shape;8697;p111"/>
                  <p:cNvGrpSpPr/>
                  <p:nvPr/>
                </p:nvGrpSpPr>
                <p:grpSpPr>
                  <a:xfrm>
                    <a:off x="4731" y="1655"/>
                    <a:ext cx="551" cy="125"/>
                    <a:chOff x="609" y="2594"/>
                    <a:chExt cx="686" cy="115"/>
                  </a:xfrm>
                </p:grpSpPr>
                <p:sp>
                  <p:nvSpPr>
                    <p:cNvPr id="8698" name="Google Shape;8698;p111"/>
                    <p:cNvSpPr/>
                    <p:nvPr/>
                  </p:nvSpPr>
                  <p:spPr>
                    <a:xfrm>
                      <a:off x="609" y="2594"/>
                      <a:ext cx="686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9" name="Google Shape;8699;p111"/>
                    <p:cNvSpPr/>
                    <p:nvPr/>
                  </p:nvSpPr>
                  <p:spPr>
                    <a:xfrm>
                      <a:off x="621" y="2612"/>
                      <a:ext cx="649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00" name="Google Shape;8700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701" name="Google Shape;8701;p111"/>
                  <p:cNvGrpSpPr/>
                  <p:nvPr/>
                </p:nvGrpSpPr>
                <p:grpSpPr>
                  <a:xfrm>
                    <a:off x="4741" y="1329"/>
                    <a:ext cx="580" cy="163"/>
                    <a:chOff x="616" y="2570"/>
                    <a:chExt cx="723" cy="163"/>
                  </a:xfrm>
                </p:grpSpPr>
                <p:sp>
                  <p:nvSpPr>
                    <p:cNvPr id="8702" name="Google Shape;8702;p111"/>
                    <p:cNvSpPr/>
                    <p:nvPr/>
                  </p:nvSpPr>
                  <p:spPr>
                    <a:xfrm>
                      <a:off x="616" y="2570"/>
                      <a:ext cx="723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03" name="Google Shape;8703;p111"/>
                    <p:cNvSpPr/>
                    <p:nvPr/>
                  </p:nvSpPr>
                  <p:spPr>
                    <a:xfrm>
                      <a:off x="629" y="2589"/>
                      <a:ext cx="686" cy="13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04" name="Google Shape;8704;p111"/>
                  <p:cNvSpPr/>
                  <p:nvPr/>
                </p:nvSpPr>
                <p:spPr>
                  <a:xfrm>
                    <a:off x="5251" y="454"/>
                    <a:ext cx="60" cy="226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05" name="Google Shape;8705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6" name="Google Shape;8706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7" name="Google Shape;8707;p111"/>
                  <p:cNvSpPr/>
                  <p:nvPr/>
                </p:nvSpPr>
                <p:spPr>
                  <a:xfrm>
                    <a:off x="5512" y="2616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08" name="Google Shape;8708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9" name="Google Shape;8709;p111"/>
                  <p:cNvSpPr/>
                  <p:nvPr/>
                </p:nvSpPr>
                <p:spPr>
                  <a:xfrm>
                    <a:off x="4140" y="2683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0" name="Google Shape;8710;p111"/>
                  <p:cNvSpPr/>
                  <p:nvPr/>
                </p:nvSpPr>
                <p:spPr>
                  <a:xfrm>
                    <a:off x="4200" y="2712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1" name="Google Shape;8711;p111"/>
                  <p:cNvSpPr/>
                  <p:nvPr/>
                </p:nvSpPr>
                <p:spPr>
                  <a:xfrm>
                    <a:off x="4310" y="2386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2" name="Google Shape;8712;p111"/>
                  <p:cNvSpPr/>
                  <p:nvPr/>
                </p:nvSpPr>
                <p:spPr>
                  <a:xfrm>
                    <a:off x="4480" y="2386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3" name="Google Shape;8713;p111"/>
                  <p:cNvSpPr/>
                  <p:nvPr/>
                </p:nvSpPr>
                <p:spPr>
                  <a:xfrm>
                    <a:off x="4661" y="2386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4" name="Google Shape;8714;p111"/>
                  <p:cNvSpPr/>
                  <p:nvPr/>
                </p:nvSpPr>
                <p:spPr>
                  <a:xfrm>
                    <a:off x="5061" y="1838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715" name="Google Shape;8715;p111"/>
              <p:cNvGrpSpPr/>
              <p:nvPr/>
            </p:nvGrpSpPr>
            <p:grpSpPr>
              <a:xfrm>
                <a:off x="7186941" y="573467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716" name="Google Shape;8716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717" name="Google Shape;8717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718" name="Google Shape;8718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9" name="Google Shape;8719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20" name="Google Shape;8720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1" name="Google Shape;8721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2" name="Google Shape;8722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23" name="Google Shape;8723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724" name="Google Shape;8724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25" name="Google Shape;8725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26" name="Google Shape;8726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27" name="Google Shape;8727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728" name="Google Shape;8728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29" name="Google Shape;8729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0" name="Google Shape;8730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31" name="Google Shape;8731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32" name="Google Shape;8732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733" name="Google Shape;8733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34" name="Google Shape;8734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5" name="Google Shape;8735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736" name="Google Shape;8736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737" name="Google Shape;8737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38" name="Google Shape;8738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9" name="Google Shape;8739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0" name="Google Shape;8740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1" name="Google Shape;8741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2" name="Google Shape;8742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3" name="Google Shape;8743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4" name="Google Shape;8744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5" name="Google Shape;8745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6" name="Google Shape;8746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7" name="Google Shape;8747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8" name="Google Shape;8748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9" name="Google Shape;8749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750" name="Google Shape;8750;p111"/>
              <p:cNvGrpSpPr/>
              <p:nvPr/>
            </p:nvGrpSpPr>
            <p:grpSpPr>
              <a:xfrm>
                <a:off x="439215" y="4826417"/>
                <a:ext cx="871949" cy="507508"/>
                <a:chOff x="439215" y="4826417"/>
                <a:chExt cx="871949" cy="507508"/>
              </a:xfrm>
            </p:grpSpPr>
            <p:grpSp>
              <p:nvGrpSpPr>
                <p:cNvPr id="8751" name="Google Shape;8751;p111"/>
                <p:cNvGrpSpPr/>
                <p:nvPr/>
              </p:nvGrpSpPr>
              <p:grpSpPr>
                <a:xfrm>
                  <a:off x="439215" y="4826417"/>
                  <a:ext cx="871949" cy="507508"/>
                  <a:chOff x="2889" y="1630"/>
                  <a:chExt cx="976" cy="744"/>
                </a:xfrm>
              </p:grpSpPr>
              <p:sp>
                <p:nvSpPr>
                  <p:cNvPr id="8752" name="Google Shape;8752;p111"/>
                  <p:cNvSpPr/>
                  <p:nvPr/>
                </p:nvSpPr>
                <p:spPr>
                  <a:xfrm>
                    <a:off x="3046" y="1841"/>
                    <a:ext cx="663" cy="533"/>
                  </a:xfrm>
                  <a:prstGeom prst="rect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53" name="Google Shape;8753;p111"/>
                  <p:cNvSpPr/>
                  <p:nvPr/>
                </p:nvSpPr>
                <p:spPr>
                  <a:xfrm>
                    <a:off x="2889" y="1630"/>
                    <a:ext cx="976" cy="25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CC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pic>
              <p:nvPicPr>
                <p:cNvPr id="8754" name="Google Shape;8754;p11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683109" y="5014480"/>
                  <a:ext cx="405029" cy="29083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8755" name="Google Shape;8755;p111"/>
          <p:cNvSpPr/>
          <p:nvPr/>
        </p:nvSpPr>
        <p:spPr>
          <a:xfrm>
            <a:off x="1459847" y="4108856"/>
            <a:ext cx="9037638" cy="25034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56" name="Google Shape;8756;p111"/>
          <p:cNvGrpSpPr/>
          <p:nvPr/>
        </p:nvGrpSpPr>
        <p:grpSpPr>
          <a:xfrm>
            <a:off x="1925639" y="4171941"/>
            <a:ext cx="8074025" cy="523220"/>
            <a:chOff x="379080" y="5456397"/>
            <a:chExt cx="8074239" cy="524687"/>
          </a:xfrm>
        </p:grpSpPr>
        <p:sp>
          <p:nvSpPr>
            <p:cNvPr id="8757" name="Google Shape;8757;p111"/>
            <p:cNvSpPr/>
            <p:nvPr/>
          </p:nvSpPr>
          <p:spPr>
            <a:xfrm>
              <a:off x="379080" y="5489828"/>
              <a:ext cx="8074239" cy="421866"/>
            </a:xfrm>
            <a:prstGeom prst="rect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8" name="Google Shape;8758;p111"/>
            <p:cNvSpPr txBox="1"/>
            <p:nvPr/>
          </p:nvSpPr>
          <p:spPr>
            <a:xfrm>
              <a:off x="1081801" y="5456397"/>
              <a:ext cx="6920219" cy="524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host-host communication as a service</a:t>
              </a:r>
              <a:endParaRPr/>
            </a:p>
          </p:txBody>
        </p:sp>
      </p:grpSp>
      <p:sp>
        <p:nvSpPr>
          <p:cNvPr id="8759" name="Google Shape;8759;p111"/>
          <p:cNvSpPr txBox="1"/>
          <p:nvPr>
            <p:ph idx="1" type="body"/>
          </p:nvPr>
        </p:nvSpPr>
        <p:spPr>
          <a:xfrm>
            <a:off x="925817" y="5070373"/>
            <a:ext cx="9700619" cy="13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None/>
            </a:pPr>
            <a:r>
              <a:rPr i="1" lang="en-US">
                <a:solidFill>
                  <a:srgbClr val="CD0000"/>
                </a:solidFill>
                <a:latin typeface="Calibri"/>
                <a:ea typeface="Calibri"/>
                <a:cs typeface="Calibri"/>
                <a:sym typeface="Calibri"/>
              </a:rPr>
              <a:t>OTT challenges: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coping with a congested Internet from the “edge”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what content to place in which CDN node?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from which CDN node to retrieve content? At which rate?</a:t>
            </a:r>
            <a:endParaRPr/>
          </a:p>
        </p:txBody>
      </p:sp>
      <p:sp>
        <p:nvSpPr>
          <p:cNvPr id="8760" name="Google Shape;8760;p111"/>
          <p:cNvSpPr txBox="1"/>
          <p:nvPr/>
        </p:nvSpPr>
        <p:spPr>
          <a:xfrm>
            <a:off x="3409501" y="2041781"/>
            <a:ext cx="457182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i="1" lang="en-US" sz="4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OTT: “over the top”</a:t>
            </a:r>
            <a:endParaRPr/>
          </a:p>
        </p:txBody>
      </p:sp>
      <p:sp>
        <p:nvSpPr>
          <p:cNvPr id="8761" name="Google Shape;8761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8762" name="Google Shape;8762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7" name="Shape 8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8" name="Google Shape;8768;p1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8769" name="Google Shape;8769;p11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0" name="Google Shape;8770;p112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1" name="Google Shape;8771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8772" name="Google Shape;8772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7" name="Shape 8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8" name="Google Shape;8778;p1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8779" name="Google Shape;8779;p113"/>
          <p:cNvSpPr txBox="1"/>
          <p:nvPr>
            <p:ph idx="1" type="body"/>
          </p:nvPr>
        </p:nvSpPr>
        <p:spPr>
          <a:xfrm>
            <a:off x="838200" y="2094161"/>
            <a:ext cx="5710084" cy="4194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architectures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client-server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P2P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service requirements:</a:t>
            </a:r>
            <a:endParaRPr/>
          </a:p>
          <a:p>
            <a:pPr indent="-228600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reliability, bandwidth, delay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Internet transport service model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connection-oriented, reliable: TCP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unreliable, datagrams: UDP</a:t>
            </a:r>
            <a:endParaRPr sz="2000"/>
          </a:p>
        </p:txBody>
      </p:sp>
      <p:sp>
        <p:nvSpPr>
          <p:cNvPr id="8780" name="Google Shape;8780;p113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our study of network application layer is now complete!</a:t>
            </a:r>
            <a:endParaRPr/>
          </a:p>
        </p:txBody>
      </p:sp>
      <p:sp>
        <p:nvSpPr>
          <p:cNvPr id="8781" name="Google Shape;8781;p113"/>
          <p:cNvSpPr/>
          <p:nvPr/>
        </p:nvSpPr>
        <p:spPr>
          <a:xfrm>
            <a:off x="7310006" y="2054984"/>
            <a:ext cx="4652810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 protocols: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P2P: BitTorrent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programming: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TCP, UDP sockets</a:t>
            </a:r>
            <a:endParaRPr/>
          </a:p>
        </p:txBody>
      </p:sp>
      <p:sp>
        <p:nvSpPr>
          <p:cNvPr id="8782" name="Google Shape;8782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7" name="Shape 8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8" name="Google Shape;8788;p1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8789" name="Google Shape;8789;p114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Most importantly: learned about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8790" name="Google Shape;8790;p114"/>
          <p:cNvSpPr txBox="1"/>
          <p:nvPr>
            <p:ph idx="1" type="body"/>
          </p:nvPr>
        </p:nvSpPr>
        <p:spPr>
          <a:xfrm>
            <a:off x="838200" y="2069589"/>
            <a:ext cx="569533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typical request/reply message exchange: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client requests info or service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server responds with data, status code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message formats: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headers</a:t>
            </a:r>
            <a:r>
              <a:rPr lang="en-US"/>
              <a:t>: fields giving info about data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data: </a:t>
            </a:r>
            <a:r>
              <a:rPr lang="en-US"/>
              <a:t>info(payload)  being communicated</a:t>
            </a:r>
            <a:endParaRPr/>
          </a:p>
        </p:txBody>
      </p:sp>
      <p:sp>
        <p:nvSpPr>
          <p:cNvPr id="8791" name="Google Shape;8791;p114"/>
          <p:cNvSpPr/>
          <p:nvPr/>
        </p:nvSpPr>
        <p:spPr>
          <a:xfrm>
            <a:off x="6832343" y="2015039"/>
            <a:ext cx="4654808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important themes:</a:t>
            </a: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centralized vs. decentralized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stateless vs. stateful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reliable vs. unreliable message transfer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“complexity at network 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2" name="Google Shape;8792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7" name="Shape 8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8" name="Google Shape;8798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99" name="Google Shape;8799;p115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2 slides</a:t>
            </a:r>
            <a:endParaRPr sz="44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4" name="Shape 8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5" name="Google Shape;8805;p1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8806" name="Google Shape;8806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07" name="Google Shape;8807;p116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 220 hamburger.edu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2" name="Shape 8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3" name="Google Shape;8813;p1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CDN content access: a closer look</a:t>
            </a:r>
            <a:endParaRPr/>
          </a:p>
        </p:txBody>
      </p:sp>
      <p:sp>
        <p:nvSpPr>
          <p:cNvPr id="8814" name="Google Shape;8814;p117"/>
          <p:cNvSpPr/>
          <p:nvPr/>
        </p:nvSpPr>
        <p:spPr>
          <a:xfrm rot="5400000">
            <a:off x="2597150" y="4305582"/>
            <a:ext cx="2554288" cy="1422400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5" name="Google Shape;8815;p117"/>
          <p:cNvSpPr/>
          <p:nvPr/>
        </p:nvSpPr>
        <p:spPr>
          <a:xfrm>
            <a:off x="5650706" y="5181088"/>
            <a:ext cx="3467100" cy="1422400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16" name="Google Shape;8816;p117"/>
          <p:cNvGrpSpPr/>
          <p:nvPr/>
        </p:nvGrpSpPr>
        <p:grpSpPr>
          <a:xfrm>
            <a:off x="3766344" y="3952363"/>
            <a:ext cx="460375" cy="638175"/>
            <a:chOff x="4140" y="429"/>
            <a:chExt cx="1425" cy="2396"/>
          </a:xfrm>
        </p:grpSpPr>
        <p:sp>
          <p:nvSpPr>
            <p:cNvPr id="8817" name="Google Shape;881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8" name="Google Shape;8818;p117"/>
            <p:cNvSpPr/>
            <p:nvPr/>
          </p:nvSpPr>
          <p:spPr>
            <a:xfrm>
              <a:off x="4204" y="429"/>
              <a:ext cx="104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9" name="Google Shape;881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0" name="Google Shape;882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1" name="Google Shape;8821;p117"/>
            <p:cNvSpPr/>
            <p:nvPr/>
          </p:nvSpPr>
          <p:spPr>
            <a:xfrm>
              <a:off x="4214" y="691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22" name="Google Shape;8822;p117"/>
            <p:cNvGrpSpPr/>
            <p:nvPr/>
          </p:nvGrpSpPr>
          <p:grpSpPr>
            <a:xfrm>
              <a:off x="4749" y="667"/>
              <a:ext cx="580" cy="131"/>
              <a:chOff x="614" y="2567"/>
              <a:chExt cx="724" cy="126"/>
            </a:xfrm>
          </p:grpSpPr>
          <p:sp>
            <p:nvSpPr>
              <p:cNvPr id="8823" name="Google Shape;8823;p117"/>
              <p:cNvSpPr/>
              <p:nvPr/>
            </p:nvSpPr>
            <p:spPr>
              <a:xfrm>
                <a:off x="614" y="2567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4" name="Google Shape;8824;p117"/>
              <p:cNvSpPr/>
              <p:nvPr/>
            </p:nvSpPr>
            <p:spPr>
              <a:xfrm>
                <a:off x="633" y="2585"/>
                <a:ext cx="687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5" name="Google Shape;8825;p117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26" name="Google Shape;8826;p117"/>
            <p:cNvGrpSpPr/>
            <p:nvPr/>
          </p:nvGrpSpPr>
          <p:grpSpPr>
            <a:xfrm>
              <a:off x="4749" y="995"/>
              <a:ext cx="580" cy="131"/>
              <a:chOff x="617" y="2569"/>
              <a:chExt cx="724" cy="136"/>
            </a:xfrm>
          </p:grpSpPr>
          <p:sp>
            <p:nvSpPr>
              <p:cNvPr id="8827" name="Google Shape;8827;p117"/>
              <p:cNvSpPr/>
              <p:nvPr/>
            </p:nvSpPr>
            <p:spPr>
              <a:xfrm>
                <a:off x="617" y="2569"/>
                <a:ext cx="724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8" name="Google Shape;8828;p117"/>
              <p:cNvSpPr/>
              <p:nvPr/>
            </p:nvSpPr>
            <p:spPr>
              <a:xfrm>
                <a:off x="629" y="2588"/>
                <a:ext cx="693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9" name="Google Shape;8829;p117"/>
            <p:cNvSpPr/>
            <p:nvPr/>
          </p:nvSpPr>
          <p:spPr>
            <a:xfrm>
              <a:off x="4219" y="1359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0" name="Google Shape;8830;p117"/>
            <p:cNvSpPr/>
            <p:nvPr/>
          </p:nvSpPr>
          <p:spPr>
            <a:xfrm>
              <a:off x="4228" y="1657"/>
              <a:ext cx="595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31" name="Google Shape;8831;p117"/>
            <p:cNvGrpSpPr/>
            <p:nvPr/>
          </p:nvGrpSpPr>
          <p:grpSpPr>
            <a:xfrm>
              <a:off x="4734" y="1627"/>
              <a:ext cx="580" cy="149"/>
              <a:chOff x="613" y="2568"/>
              <a:chExt cx="722" cy="137"/>
            </a:xfrm>
          </p:grpSpPr>
          <p:sp>
            <p:nvSpPr>
              <p:cNvPr id="8832" name="Google Shape;8832;p117"/>
              <p:cNvSpPr/>
              <p:nvPr/>
            </p:nvSpPr>
            <p:spPr>
              <a:xfrm>
                <a:off x="613" y="2568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3" name="Google Shape;8833;p117"/>
              <p:cNvSpPr/>
              <p:nvPr/>
            </p:nvSpPr>
            <p:spPr>
              <a:xfrm>
                <a:off x="626" y="2584"/>
                <a:ext cx="698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34" name="Google Shape;883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35" name="Google Shape;8835;p117"/>
            <p:cNvGrpSpPr/>
            <p:nvPr/>
          </p:nvGrpSpPr>
          <p:grpSpPr>
            <a:xfrm>
              <a:off x="4740" y="1329"/>
              <a:ext cx="580" cy="137"/>
              <a:chOff x="615" y="2570"/>
              <a:chExt cx="722" cy="137"/>
            </a:xfrm>
          </p:grpSpPr>
          <p:sp>
            <p:nvSpPr>
              <p:cNvPr id="8836" name="Google Shape;8836;p117"/>
              <p:cNvSpPr/>
              <p:nvPr/>
            </p:nvSpPr>
            <p:spPr>
              <a:xfrm>
                <a:off x="615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7" name="Google Shape;8837;p117"/>
              <p:cNvSpPr/>
              <p:nvPr/>
            </p:nvSpPr>
            <p:spPr>
              <a:xfrm>
                <a:off x="633" y="2588"/>
                <a:ext cx="68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38" name="Google Shape;8838;p117"/>
            <p:cNvSpPr/>
            <p:nvPr/>
          </p:nvSpPr>
          <p:spPr>
            <a:xfrm>
              <a:off x="5246" y="429"/>
              <a:ext cx="69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9" name="Google Shape;883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0" name="Google Shape;884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1" name="Google Shape;8841;p117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2" name="Google Shape;884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3" name="Google Shape;8843;p117"/>
            <p:cNvSpPr/>
            <p:nvPr/>
          </p:nvSpPr>
          <p:spPr>
            <a:xfrm>
              <a:off x="4140" y="2682"/>
              <a:ext cx="1199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4" name="Google Shape;8844;p117"/>
            <p:cNvSpPr/>
            <p:nvPr/>
          </p:nvSpPr>
          <p:spPr>
            <a:xfrm>
              <a:off x="4204" y="2712"/>
              <a:ext cx="1071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5" name="Google Shape;8845;p117"/>
            <p:cNvSpPr/>
            <p:nvPr/>
          </p:nvSpPr>
          <p:spPr>
            <a:xfrm>
              <a:off x="4307" y="2384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6" name="Google Shape;8846;p117"/>
            <p:cNvSpPr/>
            <p:nvPr/>
          </p:nvSpPr>
          <p:spPr>
            <a:xfrm>
              <a:off x="4484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7" name="Google Shape;8847;p117"/>
            <p:cNvSpPr/>
            <p:nvPr/>
          </p:nvSpPr>
          <p:spPr>
            <a:xfrm>
              <a:off x="4661" y="2378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8" name="Google Shape;8848;p117"/>
            <p:cNvSpPr/>
            <p:nvPr/>
          </p:nvSpPr>
          <p:spPr>
            <a:xfrm>
              <a:off x="5064" y="1836"/>
              <a:ext cx="84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49" name="Google Shape;8849;p117"/>
          <p:cNvSpPr txBox="1"/>
          <p:nvPr/>
        </p:nvSpPr>
        <p:spPr>
          <a:xfrm>
            <a:off x="2982119" y="4527038"/>
            <a:ext cx="15049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netcinema.com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8850" name="Google Shape;8850;p117"/>
          <p:cNvGrpSpPr/>
          <p:nvPr/>
        </p:nvGrpSpPr>
        <p:grpSpPr>
          <a:xfrm>
            <a:off x="5838031" y="2339463"/>
            <a:ext cx="963613" cy="835025"/>
            <a:chOff x="-44" y="1473"/>
            <a:chExt cx="981" cy="1105"/>
          </a:xfrm>
        </p:grpSpPr>
        <p:pic>
          <p:nvPicPr>
            <p:cNvPr descr="desktop_computer_stylized_medium" id="8851" name="Google Shape;8851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2" name="Google Shape;8852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3" name="Google Shape;8853;p117"/>
          <p:cNvGrpSpPr/>
          <p:nvPr/>
        </p:nvGrpSpPr>
        <p:grpSpPr>
          <a:xfrm>
            <a:off x="6063456" y="5498588"/>
            <a:ext cx="377825" cy="636588"/>
            <a:chOff x="4140" y="429"/>
            <a:chExt cx="1425" cy="2396"/>
          </a:xfrm>
        </p:grpSpPr>
        <p:sp>
          <p:nvSpPr>
            <p:cNvPr id="8854" name="Google Shape;8854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5" name="Google Shape;8855;p117"/>
            <p:cNvSpPr/>
            <p:nvPr/>
          </p:nvSpPr>
          <p:spPr>
            <a:xfrm>
              <a:off x="4206" y="429"/>
              <a:ext cx="1048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6" name="Google Shape;8856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7" name="Google Shape;8857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8" name="Google Shape;8858;p117"/>
            <p:cNvSpPr/>
            <p:nvPr/>
          </p:nvSpPr>
          <p:spPr>
            <a:xfrm>
              <a:off x="4212" y="692"/>
              <a:ext cx="599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59" name="Google Shape;8859;p117"/>
            <p:cNvGrpSpPr/>
            <p:nvPr/>
          </p:nvGrpSpPr>
          <p:grpSpPr>
            <a:xfrm>
              <a:off x="4751" y="668"/>
              <a:ext cx="581" cy="143"/>
              <a:chOff x="616" y="2568"/>
              <a:chExt cx="725" cy="137"/>
            </a:xfrm>
          </p:grpSpPr>
          <p:sp>
            <p:nvSpPr>
              <p:cNvPr id="8860" name="Google Shape;8860;p117"/>
              <p:cNvSpPr/>
              <p:nvPr/>
            </p:nvSpPr>
            <p:spPr>
              <a:xfrm>
                <a:off x="616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1" name="Google Shape;8861;p117"/>
              <p:cNvSpPr/>
              <p:nvPr/>
            </p:nvSpPr>
            <p:spPr>
              <a:xfrm>
                <a:off x="639" y="2585"/>
                <a:ext cx="687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62" name="Google Shape;8862;p117"/>
            <p:cNvSpPr/>
            <p:nvPr/>
          </p:nvSpPr>
          <p:spPr>
            <a:xfrm>
              <a:off x="4224" y="1021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3" name="Google Shape;8863;p117"/>
            <p:cNvGrpSpPr/>
            <p:nvPr/>
          </p:nvGrpSpPr>
          <p:grpSpPr>
            <a:xfrm>
              <a:off x="4745" y="997"/>
              <a:ext cx="581" cy="131"/>
              <a:chOff x="611" y="2571"/>
              <a:chExt cx="725" cy="136"/>
            </a:xfrm>
          </p:grpSpPr>
          <p:sp>
            <p:nvSpPr>
              <p:cNvPr id="8864" name="Google Shape;8864;p117"/>
              <p:cNvSpPr/>
              <p:nvPr/>
            </p:nvSpPr>
            <p:spPr>
              <a:xfrm>
                <a:off x="611" y="2571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5" name="Google Shape;8865;p117"/>
              <p:cNvSpPr/>
              <p:nvPr/>
            </p:nvSpPr>
            <p:spPr>
              <a:xfrm>
                <a:off x="619" y="2589"/>
                <a:ext cx="695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66" name="Google Shape;8866;p117"/>
            <p:cNvSpPr/>
            <p:nvPr/>
          </p:nvSpPr>
          <p:spPr>
            <a:xfrm>
              <a:off x="4218" y="1355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7" name="Google Shape;8867;p117"/>
            <p:cNvSpPr/>
            <p:nvPr/>
          </p:nvSpPr>
          <p:spPr>
            <a:xfrm>
              <a:off x="4230" y="1654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8" name="Google Shape;8868;p117"/>
            <p:cNvGrpSpPr/>
            <p:nvPr/>
          </p:nvGrpSpPr>
          <p:grpSpPr>
            <a:xfrm>
              <a:off x="4733" y="1636"/>
              <a:ext cx="580" cy="143"/>
              <a:chOff x="611" y="2576"/>
              <a:chExt cx="723" cy="132"/>
            </a:xfrm>
          </p:grpSpPr>
          <p:sp>
            <p:nvSpPr>
              <p:cNvPr id="8869" name="Google Shape;8869;p117"/>
              <p:cNvSpPr/>
              <p:nvPr/>
            </p:nvSpPr>
            <p:spPr>
              <a:xfrm>
                <a:off x="611" y="2576"/>
                <a:ext cx="723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0" name="Google Shape;8870;p117"/>
              <p:cNvSpPr/>
              <p:nvPr/>
            </p:nvSpPr>
            <p:spPr>
              <a:xfrm>
                <a:off x="626" y="2587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1" name="Google Shape;8871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72" name="Google Shape;8872;p117"/>
            <p:cNvGrpSpPr/>
            <p:nvPr/>
          </p:nvGrpSpPr>
          <p:grpSpPr>
            <a:xfrm>
              <a:off x="4739" y="1325"/>
              <a:ext cx="580" cy="143"/>
              <a:chOff x="614" y="2566"/>
              <a:chExt cx="723" cy="143"/>
            </a:xfrm>
          </p:grpSpPr>
          <p:sp>
            <p:nvSpPr>
              <p:cNvPr id="8873" name="Google Shape;8873;p117"/>
              <p:cNvSpPr/>
              <p:nvPr/>
            </p:nvSpPr>
            <p:spPr>
              <a:xfrm>
                <a:off x="614" y="2566"/>
                <a:ext cx="723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4" name="Google Shape;8874;p117"/>
              <p:cNvSpPr/>
              <p:nvPr/>
            </p:nvSpPr>
            <p:spPr>
              <a:xfrm>
                <a:off x="636" y="2584"/>
                <a:ext cx="68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5" name="Google Shape;8875;p117"/>
            <p:cNvSpPr/>
            <p:nvPr/>
          </p:nvSpPr>
          <p:spPr>
            <a:xfrm>
              <a:off x="5248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6" name="Google Shape;8876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7" name="Google Shape;8877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8" name="Google Shape;8878;p117"/>
            <p:cNvSpPr/>
            <p:nvPr/>
          </p:nvSpPr>
          <p:spPr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9" name="Google Shape;8879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0" name="Google Shape;8880;p117"/>
            <p:cNvSpPr/>
            <p:nvPr/>
          </p:nvSpPr>
          <p:spPr>
            <a:xfrm>
              <a:off x="4140" y="2682"/>
              <a:ext cx="1203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1" name="Google Shape;8881;p117"/>
            <p:cNvSpPr/>
            <p:nvPr/>
          </p:nvSpPr>
          <p:spPr>
            <a:xfrm>
              <a:off x="4206" y="2711"/>
              <a:ext cx="1072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2" name="Google Shape;8882;p117"/>
            <p:cNvSpPr/>
            <p:nvPr/>
          </p:nvSpPr>
          <p:spPr>
            <a:xfrm>
              <a:off x="4308" y="2383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3" name="Google Shape;8883;p117"/>
            <p:cNvSpPr/>
            <p:nvPr/>
          </p:nvSpPr>
          <p:spPr>
            <a:xfrm>
              <a:off x="4487" y="2383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4" name="Google Shape;8884;p117"/>
            <p:cNvSpPr/>
            <p:nvPr/>
          </p:nvSpPr>
          <p:spPr>
            <a:xfrm>
              <a:off x="4661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5" name="Google Shape;8885;p117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6" name="Google Shape;8886;p117"/>
          <p:cNvGrpSpPr/>
          <p:nvPr/>
        </p:nvGrpSpPr>
        <p:grpSpPr>
          <a:xfrm>
            <a:off x="3871119" y="5217601"/>
            <a:ext cx="420687" cy="636587"/>
            <a:chOff x="4140" y="429"/>
            <a:chExt cx="1425" cy="2396"/>
          </a:xfrm>
        </p:grpSpPr>
        <p:sp>
          <p:nvSpPr>
            <p:cNvPr id="8887" name="Google Shape;888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8" name="Google Shape;8888;p117"/>
            <p:cNvSpPr/>
            <p:nvPr/>
          </p:nvSpPr>
          <p:spPr>
            <a:xfrm>
              <a:off x="4205" y="429"/>
              <a:ext cx="1049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9" name="Google Shape;888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0" name="Google Shape;889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1" name="Google Shape;8891;p117"/>
            <p:cNvSpPr/>
            <p:nvPr/>
          </p:nvSpPr>
          <p:spPr>
            <a:xfrm>
              <a:off x="4215" y="692"/>
              <a:ext cx="592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92" name="Google Shape;8892;p117"/>
            <p:cNvGrpSpPr/>
            <p:nvPr/>
          </p:nvGrpSpPr>
          <p:grpSpPr>
            <a:xfrm>
              <a:off x="4747" y="668"/>
              <a:ext cx="581" cy="143"/>
              <a:chOff x="612" y="2568"/>
              <a:chExt cx="725" cy="137"/>
            </a:xfrm>
          </p:grpSpPr>
          <p:sp>
            <p:nvSpPr>
              <p:cNvPr id="8893" name="Google Shape;8893;p117"/>
              <p:cNvSpPr/>
              <p:nvPr/>
            </p:nvSpPr>
            <p:spPr>
              <a:xfrm>
                <a:off x="612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4" name="Google Shape;8894;p117"/>
              <p:cNvSpPr/>
              <p:nvPr/>
            </p:nvSpPr>
            <p:spPr>
              <a:xfrm>
                <a:off x="632" y="2585"/>
                <a:ext cx="684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5" name="Google Shape;8895;p117"/>
            <p:cNvSpPr/>
            <p:nvPr/>
          </p:nvSpPr>
          <p:spPr>
            <a:xfrm>
              <a:off x="4221" y="1021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96" name="Google Shape;8896;p117"/>
            <p:cNvGrpSpPr/>
            <p:nvPr/>
          </p:nvGrpSpPr>
          <p:grpSpPr>
            <a:xfrm>
              <a:off x="4748" y="997"/>
              <a:ext cx="581" cy="131"/>
              <a:chOff x="615" y="2571"/>
              <a:chExt cx="725" cy="136"/>
            </a:xfrm>
          </p:grpSpPr>
          <p:sp>
            <p:nvSpPr>
              <p:cNvPr id="8897" name="Google Shape;8897;p117"/>
              <p:cNvSpPr/>
              <p:nvPr/>
            </p:nvSpPr>
            <p:spPr>
              <a:xfrm>
                <a:off x="615" y="2571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8" name="Google Shape;8898;p117"/>
              <p:cNvSpPr/>
              <p:nvPr/>
            </p:nvSpPr>
            <p:spPr>
              <a:xfrm>
                <a:off x="622" y="2589"/>
                <a:ext cx="698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9" name="Google Shape;8899;p117"/>
            <p:cNvSpPr/>
            <p:nvPr/>
          </p:nvSpPr>
          <p:spPr>
            <a:xfrm>
              <a:off x="4221" y="1355"/>
              <a:ext cx="592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0" name="Google Shape;8900;p117"/>
            <p:cNvSpPr/>
            <p:nvPr/>
          </p:nvSpPr>
          <p:spPr>
            <a:xfrm>
              <a:off x="4226" y="165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01" name="Google Shape;8901;p117"/>
            <p:cNvGrpSpPr/>
            <p:nvPr/>
          </p:nvGrpSpPr>
          <p:grpSpPr>
            <a:xfrm>
              <a:off x="4737" y="1636"/>
              <a:ext cx="576" cy="143"/>
              <a:chOff x="616" y="2576"/>
              <a:chExt cx="717" cy="132"/>
            </a:xfrm>
          </p:grpSpPr>
          <p:sp>
            <p:nvSpPr>
              <p:cNvPr id="8902" name="Google Shape;8902;p117"/>
              <p:cNvSpPr/>
              <p:nvPr/>
            </p:nvSpPr>
            <p:spPr>
              <a:xfrm>
                <a:off x="616" y="2576"/>
                <a:ext cx="717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3" name="Google Shape;8903;p117"/>
              <p:cNvSpPr/>
              <p:nvPr/>
            </p:nvSpPr>
            <p:spPr>
              <a:xfrm>
                <a:off x="630" y="2587"/>
                <a:ext cx="683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04" name="Google Shape;890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05" name="Google Shape;8905;p117"/>
            <p:cNvGrpSpPr/>
            <p:nvPr/>
          </p:nvGrpSpPr>
          <p:grpSpPr>
            <a:xfrm>
              <a:off x="4737" y="1325"/>
              <a:ext cx="586" cy="143"/>
              <a:chOff x="611" y="2566"/>
              <a:chExt cx="730" cy="143"/>
            </a:xfrm>
          </p:grpSpPr>
          <p:sp>
            <p:nvSpPr>
              <p:cNvPr id="8906" name="Google Shape;8906;p117"/>
              <p:cNvSpPr/>
              <p:nvPr/>
            </p:nvSpPr>
            <p:spPr>
              <a:xfrm>
                <a:off x="611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7" name="Google Shape;8907;p117"/>
              <p:cNvSpPr/>
              <p:nvPr/>
            </p:nvSpPr>
            <p:spPr>
              <a:xfrm>
                <a:off x="631" y="2584"/>
                <a:ext cx="690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08" name="Google Shape;8908;p117"/>
            <p:cNvSpPr/>
            <p:nvPr/>
          </p:nvSpPr>
          <p:spPr>
            <a:xfrm>
              <a:off x="5248" y="429"/>
              <a:ext cx="70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9" name="Google Shape;890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0" name="Google Shape;891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1" name="Google Shape;8911;p117"/>
            <p:cNvSpPr/>
            <p:nvPr/>
          </p:nvSpPr>
          <p:spPr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2" name="Google Shape;891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3" name="Google Shape;8913;p117"/>
            <p:cNvSpPr/>
            <p:nvPr/>
          </p:nvSpPr>
          <p:spPr>
            <a:xfrm>
              <a:off x="4140" y="2682"/>
              <a:ext cx="1199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4" name="Google Shape;8914;p117"/>
            <p:cNvSpPr/>
            <p:nvPr/>
          </p:nvSpPr>
          <p:spPr>
            <a:xfrm>
              <a:off x="4205" y="2711"/>
              <a:ext cx="107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5" name="Google Shape;8915;p117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6" name="Google Shape;8916;p117"/>
            <p:cNvSpPr/>
            <p:nvPr/>
          </p:nvSpPr>
          <p:spPr>
            <a:xfrm>
              <a:off x="4484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7" name="Google Shape;8917;p117"/>
            <p:cNvSpPr/>
            <p:nvPr/>
          </p:nvSpPr>
          <p:spPr>
            <a:xfrm>
              <a:off x="4662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8" name="Google Shape;8918;p117"/>
            <p:cNvSpPr/>
            <p:nvPr/>
          </p:nvSpPr>
          <p:spPr>
            <a:xfrm>
              <a:off x="5060" y="1833"/>
              <a:ext cx="86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19" name="Google Shape;8919;p117"/>
          <p:cNvGrpSpPr/>
          <p:nvPr/>
        </p:nvGrpSpPr>
        <p:grpSpPr>
          <a:xfrm>
            <a:off x="8281194" y="5430326"/>
            <a:ext cx="344487" cy="638175"/>
            <a:chOff x="4140" y="429"/>
            <a:chExt cx="1425" cy="2396"/>
          </a:xfrm>
        </p:grpSpPr>
        <p:sp>
          <p:nvSpPr>
            <p:cNvPr id="8920" name="Google Shape;8920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1" name="Google Shape;8921;p117"/>
            <p:cNvSpPr/>
            <p:nvPr/>
          </p:nvSpPr>
          <p:spPr>
            <a:xfrm>
              <a:off x="4206" y="429"/>
              <a:ext cx="1044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2" name="Google Shape;8922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3" name="Google Shape;8923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4" name="Google Shape;8924;p117"/>
            <p:cNvSpPr/>
            <p:nvPr/>
          </p:nvSpPr>
          <p:spPr>
            <a:xfrm>
              <a:off x="4212" y="691"/>
              <a:ext cx="598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25" name="Google Shape;8925;p117"/>
            <p:cNvGrpSpPr/>
            <p:nvPr/>
          </p:nvGrpSpPr>
          <p:grpSpPr>
            <a:xfrm>
              <a:off x="4751" y="667"/>
              <a:ext cx="578" cy="131"/>
              <a:chOff x="616" y="2567"/>
              <a:chExt cx="721" cy="126"/>
            </a:xfrm>
          </p:grpSpPr>
          <p:sp>
            <p:nvSpPr>
              <p:cNvPr id="8926" name="Google Shape;8926;p117"/>
              <p:cNvSpPr/>
              <p:nvPr/>
            </p:nvSpPr>
            <p:spPr>
              <a:xfrm>
                <a:off x="616" y="2567"/>
                <a:ext cx="721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7" name="Google Shape;8927;p117"/>
              <p:cNvSpPr/>
              <p:nvPr/>
            </p:nvSpPr>
            <p:spPr>
              <a:xfrm>
                <a:off x="633" y="2585"/>
                <a:ext cx="688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28" name="Google Shape;8928;p117"/>
            <p:cNvSpPr/>
            <p:nvPr/>
          </p:nvSpPr>
          <p:spPr>
            <a:xfrm>
              <a:off x="4225" y="1019"/>
              <a:ext cx="591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29" name="Google Shape;8929;p117"/>
            <p:cNvGrpSpPr/>
            <p:nvPr/>
          </p:nvGrpSpPr>
          <p:grpSpPr>
            <a:xfrm>
              <a:off x="4744" y="995"/>
              <a:ext cx="584" cy="131"/>
              <a:chOff x="610" y="2569"/>
              <a:chExt cx="729" cy="136"/>
            </a:xfrm>
          </p:grpSpPr>
          <p:sp>
            <p:nvSpPr>
              <p:cNvPr id="8930" name="Google Shape;8930;p117"/>
              <p:cNvSpPr/>
              <p:nvPr/>
            </p:nvSpPr>
            <p:spPr>
              <a:xfrm>
                <a:off x="610" y="2569"/>
                <a:ext cx="729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1" name="Google Shape;8931;p117"/>
              <p:cNvSpPr/>
              <p:nvPr/>
            </p:nvSpPr>
            <p:spPr>
              <a:xfrm>
                <a:off x="619" y="2588"/>
                <a:ext cx="69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32" name="Google Shape;8932;p117"/>
            <p:cNvSpPr/>
            <p:nvPr/>
          </p:nvSpPr>
          <p:spPr>
            <a:xfrm>
              <a:off x="4219" y="1359"/>
              <a:ext cx="591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3" name="Google Shape;8933;p117"/>
            <p:cNvSpPr/>
            <p:nvPr/>
          </p:nvSpPr>
          <p:spPr>
            <a:xfrm>
              <a:off x="4225" y="1657"/>
              <a:ext cx="598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34" name="Google Shape;8934;p117"/>
            <p:cNvGrpSpPr/>
            <p:nvPr/>
          </p:nvGrpSpPr>
          <p:grpSpPr>
            <a:xfrm>
              <a:off x="4737" y="1627"/>
              <a:ext cx="572" cy="149"/>
              <a:chOff x="617" y="2568"/>
              <a:chExt cx="712" cy="137"/>
            </a:xfrm>
          </p:grpSpPr>
          <p:sp>
            <p:nvSpPr>
              <p:cNvPr id="8935" name="Google Shape;8935;p117"/>
              <p:cNvSpPr/>
              <p:nvPr/>
            </p:nvSpPr>
            <p:spPr>
              <a:xfrm>
                <a:off x="617" y="2568"/>
                <a:ext cx="71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6" name="Google Shape;8936;p117"/>
              <p:cNvSpPr/>
              <p:nvPr/>
            </p:nvSpPr>
            <p:spPr>
              <a:xfrm>
                <a:off x="634" y="2584"/>
                <a:ext cx="67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37" name="Google Shape;8937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38" name="Google Shape;8938;p117"/>
            <p:cNvGrpSpPr/>
            <p:nvPr/>
          </p:nvGrpSpPr>
          <p:grpSpPr>
            <a:xfrm>
              <a:off x="4737" y="1329"/>
              <a:ext cx="584" cy="137"/>
              <a:chOff x="612" y="2570"/>
              <a:chExt cx="728" cy="137"/>
            </a:xfrm>
          </p:grpSpPr>
          <p:sp>
            <p:nvSpPr>
              <p:cNvPr id="8939" name="Google Shape;8939;p117"/>
              <p:cNvSpPr/>
              <p:nvPr/>
            </p:nvSpPr>
            <p:spPr>
              <a:xfrm>
                <a:off x="612" y="2570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0" name="Google Shape;8940;p117"/>
              <p:cNvSpPr/>
              <p:nvPr/>
            </p:nvSpPr>
            <p:spPr>
              <a:xfrm>
                <a:off x="629" y="2588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41" name="Google Shape;8941;p117"/>
            <p:cNvSpPr/>
            <p:nvPr/>
          </p:nvSpPr>
          <p:spPr>
            <a:xfrm>
              <a:off x="5250" y="429"/>
              <a:ext cx="66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2" name="Google Shape;8942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3" name="Google Shape;8943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4" name="Google Shape;8944;p117"/>
            <p:cNvSpPr/>
            <p:nvPr/>
          </p:nvSpPr>
          <p:spPr>
            <a:xfrm>
              <a:off x="5519" y="2610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5" name="Google Shape;8945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6" name="Google Shape;8946;p117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7" name="Google Shape;8947;p117"/>
            <p:cNvSpPr/>
            <p:nvPr/>
          </p:nvSpPr>
          <p:spPr>
            <a:xfrm>
              <a:off x="4206" y="2712"/>
              <a:ext cx="1070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8" name="Google Shape;8948;p117"/>
            <p:cNvSpPr/>
            <p:nvPr/>
          </p:nvSpPr>
          <p:spPr>
            <a:xfrm>
              <a:off x="4304" y="2384"/>
              <a:ext cx="16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9" name="Google Shape;8949;p117"/>
            <p:cNvSpPr/>
            <p:nvPr/>
          </p:nvSpPr>
          <p:spPr>
            <a:xfrm>
              <a:off x="4488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0" name="Google Shape;8950;p117"/>
            <p:cNvSpPr/>
            <p:nvPr/>
          </p:nvSpPr>
          <p:spPr>
            <a:xfrm>
              <a:off x="4659" y="2378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1" name="Google Shape;8951;p117"/>
            <p:cNvSpPr/>
            <p:nvPr/>
          </p:nvSpPr>
          <p:spPr>
            <a:xfrm>
              <a:off x="5059" y="1836"/>
              <a:ext cx="85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2" name="Google Shape;8952;p117"/>
          <p:cNvGrpSpPr/>
          <p:nvPr/>
        </p:nvGrpSpPr>
        <p:grpSpPr>
          <a:xfrm>
            <a:off x="7550944" y="3671376"/>
            <a:ext cx="342900" cy="636587"/>
            <a:chOff x="4140" y="429"/>
            <a:chExt cx="1425" cy="2396"/>
          </a:xfrm>
        </p:grpSpPr>
        <p:sp>
          <p:nvSpPr>
            <p:cNvPr id="8953" name="Google Shape;8953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4" name="Google Shape;8954;p117"/>
            <p:cNvSpPr/>
            <p:nvPr/>
          </p:nvSpPr>
          <p:spPr>
            <a:xfrm>
              <a:off x="4206" y="429"/>
              <a:ext cx="1049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5" name="Google Shape;8955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6" name="Google Shape;8956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7" name="Google Shape;8957;p117"/>
            <p:cNvSpPr/>
            <p:nvPr/>
          </p:nvSpPr>
          <p:spPr>
            <a:xfrm>
              <a:off x="4213" y="692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58" name="Google Shape;8958;p117"/>
            <p:cNvGrpSpPr/>
            <p:nvPr/>
          </p:nvGrpSpPr>
          <p:grpSpPr>
            <a:xfrm>
              <a:off x="4747" y="668"/>
              <a:ext cx="580" cy="143"/>
              <a:chOff x="611" y="2568"/>
              <a:chExt cx="724" cy="137"/>
            </a:xfrm>
          </p:grpSpPr>
          <p:sp>
            <p:nvSpPr>
              <p:cNvPr id="8959" name="Google Shape;8959;p117"/>
              <p:cNvSpPr/>
              <p:nvPr/>
            </p:nvSpPr>
            <p:spPr>
              <a:xfrm>
                <a:off x="611" y="2568"/>
                <a:ext cx="724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0" name="Google Shape;8960;p117"/>
              <p:cNvSpPr/>
              <p:nvPr/>
            </p:nvSpPr>
            <p:spPr>
              <a:xfrm>
                <a:off x="628" y="2585"/>
                <a:ext cx="692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1" name="Google Shape;8961;p117"/>
            <p:cNvSpPr/>
            <p:nvPr/>
          </p:nvSpPr>
          <p:spPr>
            <a:xfrm>
              <a:off x="4226" y="1021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62" name="Google Shape;8962;p117"/>
            <p:cNvGrpSpPr/>
            <p:nvPr/>
          </p:nvGrpSpPr>
          <p:grpSpPr>
            <a:xfrm>
              <a:off x="4747" y="997"/>
              <a:ext cx="580" cy="131"/>
              <a:chOff x="614" y="2571"/>
              <a:chExt cx="724" cy="136"/>
            </a:xfrm>
          </p:grpSpPr>
          <p:sp>
            <p:nvSpPr>
              <p:cNvPr id="8963" name="Google Shape;8963;p117"/>
              <p:cNvSpPr/>
              <p:nvPr/>
            </p:nvSpPr>
            <p:spPr>
              <a:xfrm>
                <a:off x="614" y="2571"/>
                <a:ext cx="724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4" name="Google Shape;8964;p117"/>
              <p:cNvSpPr/>
              <p:nvPr/>
            </p:nvSpPr>
            <p:spPr>
              <a:xfrm>
                <a:off x="622" y="2589"/>
                <a:ext cx="692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5" name="Google Shape;8965;p117"/>
            <p:cNvSpPr/>
            <p:nvPr/>
          </p:nvSpPr>
          <p:spPr>
            <a:xfrm>
              <a:off x="4219" y="1355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6" name="Google Shape;8966;p117"/>
            <p:cNvSpPr/>
            <p:nvPr/>
          </p:nvSpPr>
          <p:spPr>
            <a:xfrm>
              <a:off x="4226" y="1654"/>
              <a:ext cx="600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67" name="Google Shape;8967;p117"/>
            <p:cNvGrpSpPr/>
            <p:nvPr/>
          </p:nvGrpSpPr>
          <p:grpSpPr>
            <a:xfrm>
              <a:off x="4733" y="1636"/>
              <a:ext cx="574" cy="143"/>
              <a:chOff x="612" y="2576"/>
              <a:chExt cx="715" cy="132"/>
            </a:xfrm>
          </p:grpSpPr>
          <p:sp>
            <p:nvSpPr>
              <p:cNvPr id="8968" name="Google Shape;8968;p117"/>
              <p:cNvSpPr/>
              <p:nvPr/>
            </p:nvSpPr>
            <p:spPr>
              <a:xfrm>
                <a:off x="612" y="2576"/>
                <a:ext cx="715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9" name="Google Shape;8969;p117"/>
              <p:cNvSpPr/>
              <p:nvPr/>
            </p:nvSpPr>
            <p:spPr>
              <a:xfrm>
                <a:off x="629" y="2587"/>
                <a:ext cx="68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70" name="Google Shape;8970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71" name="Google Shape;8971;p117"/>
            <p:cNvGrpSpPr/>
            <p:nvPr/>
          </p:nvGrpSpPr>
          <p:grpSpPr>
            <a:xfrm>
              <a:off x="4741" y="1325"/>
              <a:ext cx="580" cy="143"/>
              <a:chOff x="616" y="2566"/>
              <a:chExt cx="723" cy="143"/>
            </a:xfrm>
          </p:grpSpPr>
          <p:sp>
            <p:nvSpPr>
              <p:cNvPr id="8972" name="Google Shape;8972;p117"/>
              <p:cNvSpPr/>
              <p:nvPr/>
            </p:nvSpPr>
            <p:spPr>
              <a:xfrm>
                <a:off x="616" y="2566"/>
                <a:ext cx="723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3" name="Google Shape;8973;p117"/>
              <p:cNvSpPr/>
              <p:nvPr/>
            </p:nvSpPr>
            <p:spPr>
              <a:xfrm>
                <a:off x="632" y="2584"/>
                <a:ext cx="690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74" name="Google Shape;8974;p117"/>
            <p:cNvSpPr/>
            <p:nvPr/>
          </p:nvSpPr>
          <p:spPr>
            <a:xfrm>
              <a:off x="5248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5" name="Google Shape;8975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6" name="Google Shape;8976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7" name="Google Shape;8977;p117"/>
            <p:cNvSpPr/>
            <p:nvPr/>
          </p:nvSpPr>
          <p:spPr>
            <a:xfrm>
              <a:off x="5519" y="2610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8" name="Google Shape;8978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9" name="Google Shape;8979;p117"/>
            <p:cNvSpPr/>
            <p:nvPr/>
          </p:nvSpPr>
          <p:spPr>
            <a:xfrm>
              <a:off x="4140" y="2682"/>
              <a:ext cx="1201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0" name="Google Shape;8980;p117"/>
            <p:cNvSpPr/>
            <p:nvPr/>
          </p:nvSpPr>
          <p:spPr>
            <a:xfrm>
              <a:off x="4206" y="2711"/>
              <a:ext cx="1069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1" name="Google Shape;8981;p117"/>
            <p:cNvSpPr/>
            <p:nvPr/>
          </p:nvSpPr>
          <p:spPr>
            <a:xfrm>
              <a:off x="4305" y="2383"/>
              <a:ext cx="165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2" name="Google Shape;8982;p117"/>
            <p:cNvSpPr/>
            <p:nvPr/>
          </p:nvSpPr>
          <p:spPr>
            <a:xfrm>
              <a:off x="4483" y="2383"/>
              <a:ext cx="165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3" name="Google Shape;8983;p117"/>
            <p:cNvSpPr/>
            <p:nvPr/>
          </p:nvSpPr>
          <p:spPr>
            <a:xfrm>
              <a:off x="4661" y="2383"/>
              <a:ext cx="158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4" name="Google Shape;8984;p117"/>
            <p:cNvSpPr/>
            <p:nvPr/>
          </p:nvSpPr>
          <p:spPr>
            <a:xfrm>
              <a:off x="5064" y="1833"/>
              <a:ext cx="79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5" name="Google Shape;8985;p117"/>
          <p:cNvSpPr txBox="1"/>
          <p:nvPr/>
        </p:nvSpPr>
        <p:spPr>
          <a:xfrm>
            <a:off x="5607844" y="6073263"/>
            <a:ext cx="1420812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KingCDN.com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Bob" id="8986" name="Google Shape;8986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7369" y="2274376"/>
            <a:ext cx="533400" cy="544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87" name="Google Shape;8987;p117"/>
          <p:cNvGrpSpPr/>
          <p:nvPr/>
        </p:nvGrpSpPr>
        <p:grpSpPr>
          <a:xfrm>
            <a:off x="4318794" y="2918901"/>
            <a:ext cx="1628775" cy="1063625"/>
            <a:chOff x="1490926" y="3037262"/>
            <a:chExt cx="1628976" cy="1063042"/>
          </a:xfrm>
        </p:grpSpPr>
        <p:cxnSp>
          <p:nvCxnSpPr>
            <p:cNvPr id="8988" name="Google Shape;8988;p117"/>
            <p:cNvCxnSpPr/>
            <p:nvPr/>
          </p:nvCxnSpPr>
          <p:spPr>
            <a:xfrm flipH="1">
              <a:off x="1490926" y="3037262"/>
              <a:ext cx="1628976" cy="106304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8989" name="Google Shape;8989;p117"/>
            <p:cNvGrpSpPr/>
            <p:nvPr/>
          </p:nvGrpSpPr>
          <p:grpSpPr>
            <a:xfrm>
              <a:off x="2056927" y="3410016"/>
              <a:ext cx="317511" cy="345125"/>
              <a:chOff x="7454630" y="3313376"/>
              <a:chExt cx="317511" cy="345125"/>
            </a:xfrm>
          </p:grpSpPr>
          <p:sp>
            <p:nvSpPr>
              <p:cNvPr id="8990" name="Google Shape;8990;p117"/>
              <p:cNvSpPr/>
              <p:nvPr/>
            </p:nvSpPr>
            <p:spPr>
              <a:xfrm>
                <a:off x="7468434" y="3354794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1" name="Google Shape;8991;p117"/>
              <p:cNvSpPr txBox="1"/>
              <p:nvPr/>
            </p:nvSpPr>
            <p:spPr>
              <a:xfrm>
                <a:off x="7454630" y="3313376"/>
                <a:ext cx="298817" cy="33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36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sp>
        <p:nvSpPr>
          <p:cNvPr id="8992" name="Google Shape;8992;p117"/>
          <p:cNvSpPr txBox="1"/>
          <p:nvPr/>
        </p:nvSpPr>
        <p:spPr>
          <a:xfrm>
            <a:off x="3091656" y="2344226"/>
            <a:ext cx="286226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1. Bob gets URL for video http://netcinema.com/6Y7B23V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from netcinema.com web page</a:t>
            </a:r>
            <a:endParaRPr/>
          </a:p>
        </p:txBody>
      </p:sp>
      <p:grpSp>
        <p:nvGrpSpPr>
          <p:cNvPr id="8993" name="Google Shape;8993;p117"/>
          <p:cNvGrpSpPr/>
          <p:nvPr/>
        </p:nvGrpSpPr>
        <p:grpSpPr>
          <a:xfrm>
            <a:off x="6747669" y="3107813"/>
            <a:ext cx="714375" cy="684213"/>
            <a:chOff x="3924463" y="3239045"/>
            <a:chExt cx="713539" cy="684908"/>
          </a:xfrm>
        </p:grpSpPr>
        <p:cxnSp>
          <p:nvCxnSpPr>
            <p:cNvPr id="8994" name="Google Shape;8994;p117"/>
            <p:cNvCxnSpPr/>
            <p:nvPr/>
          </p:nvCxnSpPr>
          <p:spPr>
            <a:xfrm>
              <a:off x="3924463" y="3239045"/>
              <a:ext cx="713539" cy="6849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995" name="Google Shape;8995;p117"/>
            <p:cNvGrpSpPr/>
            <p:nvPr/>
          </p:nvGrpSpPr>
          <p:grpSpPr>
            <a:xfrm>
              <a:off x="4061324" y="3293627"/>
              <a:ext cx="322117" cy="358925"/>
              <a:chOff x="7408615" y="3244352"/>
              <a:chExt cx="322117" cy="358925"/>
            </a:xfrm>
          </p:grpSpPr>
          <p:sp>
            <p:nvSpPr>
              <p:cNvPr id="8996" name="Google Shape;8996;p117"/>
              <p:cNvSpPr/>
              <p:nvPr/>
            </p:nvSpPr>
            <p:spPr>
              <a:xfrm>
                <a:off x="7427025" y="3299570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7" name="Google Shape;8997;p117"/>
              <p:cNvSpPr txBox="1"/>
              <p:nvPr/>
            </p:nvSpPr>
            <p:spPr>
              <a:xfrm>
                <a:off x="7408615" y="3244352"/>
                <a:ext cx="298431" cy="338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36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sp>
        <p:nvSpPr>
          <p:cNvPr id="8998" name="Google Shape;8998;p117"/>
          <p:cNvSpPr txBox="1"/>
          <p:nvPr/>
        </p:nvSpPr>
        <p:spPr>
          <a:xfrm>
            <a:off x="7200106" y="2863338"/>
            <a:ext cx="3849688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2. resolve http://netcinema.com/6Y7B23V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via Bob’s local DNS</a:t>
            </a:r>
            <a:endParaRPr/>
          </a:p>
        </p:txBody>
      </p:sp>
      <p:sp>
        <p:nvSpPr>
          <p:cNvPr id="8999" name="Google Shape;8999;p117"/>
          <p:cNvSpPr txBox="1"/>
          <p:nvPr/>
        </p:nvSpPr>
        <p:spPr>
          <a:xfrm>
            <a:off x="3183731" y="5809738"/>
            <a:ext cx="1768475" cy="56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netcinema’s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authoratative DNS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9000" name="Google Shape;9000;p117"/>
          <p:cNvCxnSpPr/>
          <p:nvPr/>
        </p:nvCxnSpPr>
        <p:spPr>
          <a:xfrm flipH="1">
            <a:off x="4441031" y="4041263"/>
            <a:ext cx="3100388" cy="137636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1" name="Google Shape;9001;p117"/>
          <p:cNvCxnSpPr/>
          <p:nvPr/>
        </p:nvCxnSpPr>
        <p:spPr>
          <a:xfrm flipH="1">
            <a:off x="4421981" y="4150801"/>
            <a:ext cx="3100388" cy="137636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02" name="Google Shape;9002;p117"/>
          <p:cNvGrpSpPr/>
          <p:nvPr/>
        </p:nvGrpSpPr>
        <p:grpSpPr>
          <a:xfrm>
            <a:off x="4666456" y="5100126"/>
            <a:ext cx="317500" cy="344487"/>
            <a:chOff x="7454630" y="3313376"/>
            <a:chExt cx="317511" cy="345125"/>
          </a:xfrm>
        </p:grpSpPr>
        <p:sp>
          <p:nvSpPr>
            <p:cNvPr id="9003" name="Google Shape;9003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4" name="Google Shape;9004;p117"/>
            <p:cNvSpPr txBox="1"/>
            <p:nvPr/>
          </p:nvSpPr>
          <p:spPr>
            <a:xfrm>
              <a:off x="7454630" y="3313376"/>
              <a:ext cx="298790" cy="339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9005" name="Google Shape;9005;p117"/>
          <p:cNvSpPr txBox="1"/>
          <p:nvPr/>
        </p:nvSpPr>
        <p:spPr>
          <a:xfrm>
            <a:off x="4636294" y="4474651"/>
            <a:ext cx="3200400" cy="569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3. netcinema’s DNS returns CNAME for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http://KingCDN.com/NetC6y&amp;B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23V</a:t>
            </a:r>
            <a:endParaRPr/>
          </a:p>
        </p:txBody>
      </p:sp>
      <p:cxnSp>
        <p:nvCxnSpPr>
          <p:cNvPr id="9006" name="Google Shape;9006;p117"/>
          <p:cNvCxnSpPr/>
          <p:nvPr/>
        </p:nvCxnSpPr>
        <p:spPr>
          <a:xfrm>
            <a:off x="7860506" y="4357176"/>
            <a:ext cx="447675" cy="9620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7" name="Google Shape;9007;p117"/>
          <p:cNvCxnSpPr/>
          <p:nvPr/>
        </p:nvCxnSpPr>
        <p:spPr>
          <a:xfrm>
            <a:off x="7955756" y="4368288"/>
            <a:ext cx="447675" cy="96043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08" name="Google Shape;9008;p117"/>
          <p:cNvGrpSpPr/>
          <p:nvPr/>
        </p:nvGrpSpPr>
        <p:grpSpPr>
          <a:xfrm>
            <a:off x="7944644" y="4609588"/>
            <a:ext cx="317500" cy="346075"/>
            <a:chOff x="7454630" y="3313376"/>
            <a:chExt cx="317511" cy="345125"/>
          </a:xfrm>
        </p:grpSpPr>
        <p:sp>
          <p:nvSpPr>
            <p:cNvPr id="9009" name="Google Shape;9009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9010;p117"/>
            <p:cNvSpPr txBox="1"/>
            <p:nvPr/>
          </p:nvSpPr>
          <p:spPr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cxnSp>
        <p:nvCxnSpPr>
          <p:cNvPr id="9011" name="Google Shape;9011;p117"/>
          <p:cNvCxnSpPr/>
          <p:nvPr/>
        </p:nvCxnSpPr>
        <p:spPr>
          <a:xfrm>
            <a:off x="6611144" y="3204651"/>
            <a:ext cx="812800" cy="8223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12" name="Google Shape;9012;p117"/>
          <p:cNvGrpSpPr/>
          <p:nvPr/>
        </p:nvGrpSpPr>
        <p:grpSpPr>
          <a:xfrm>
            <a:off x="6982619" y="3549138"/>
            <a:ext cx="317500" cy="346075"/>
            <a:chOff x="7454630" y="3313376"/>
            <a:chExt cx="317511" cy="345125"/>
          </a:xfrm>
        </p:grpSpPr>
        <p:sp>
          <p:nvSpPr>
            <p:cNvPr id="9013" name="Google Shape;9013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4" name="Google Shape;9014;p117"/>
            <p:cNvSpPr txBox="1"/>
            <p:nvPr/>
          </p:nvSpPr>
          <p:spPr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cxnSp>
        <p:nvCxnSpPr>
          <p:cNvPr id="9015" name="Google Shape;9015;p117"/>
          <p:cNvCxnSpPr/>
          <p:nvPr/>
        </p:nvCxnSpPr>
        <p:spPr>
          <a:xfrm flipH="1">
            <a:off x="6139656" y="3084001"/>
            <a:ext cx="4763" cy="23622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6" name="Google Shape;9016;p117"/>
          <p:cNvSpPr/>
          <p:nvPr/>
        </p:nvSpPr>
        <p:spPr>
          <a:xfrm>
            <a:off x="6168231" y="3077651"/>
            <a:ext cx="298450" cy="2284412"/>
          </a:xfrm>
          <a:prstGeom prst="upArrow">
            <a:avLst>
              <a:gd fmla="val 50000" name="adj1"/>
              <a:gd fmla="val 50249" name="adj2"/>
            </a:avLst>
          </a:prstGeom>
          <a:gradFill>
            <a:gsLst>
              <a:gs pos="0">
                <a:srgbClr val="000090"/>
              </a:gs>
              <a:gs pos="64000">
                <a:srgbClr val="00009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7" name="Google Shape;9017;p117"/>
          <p:cNvSpPr txBox="1"/>
          <p:nvPr/>
        </p:nvSpPr>
        <p:spPr>
          <a:xfrm>
            <a:off x="5082381" y="3614226"/>
            <a:ext cx="2027238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6. request video from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 server,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streamed via HTTP</a:t>
            </a:r>
            <a:endParaRPr/>
          </a:p>
        </p:txBody>
      </p:sp>
      <p:sp>
        <p:nvSpPr>
          <p:cNvPr id="9018" name="Google Shape;9018;p117"/>
          <p:cNvSpPr txBox="1"/>
          <p:nvPr/>
        </p:nvSpPr>
        <p:spPr>
          <a:xfrm>
            <a:off x="7631906" y="6035163"/>
            <a:ext cx="1706563" cy="56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authoritative DNS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19" name="Google Shape;9019;p117"/>
          <p:cNvSpPr txBox="1"/>
          <p:nvPr/>
        </p:nvSpPr>
        <p:spPr>
          <a:xfrm>
            <a:off x="7862094" y="3595176"/>
            <a:ext cx="102552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Bob’s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local DNS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server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20" name="Google Shape;9020;p117"/>
          <p:cNvSpPr txBox="1"/>
          <p:nvPr/>
        </p:nvSpPr>
        <p:spPr>
          <a:xfrm>
            <a:off x="1143000" y="1238532"/>
            <a:ext cx="818352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(client) requests video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http://netcinema.com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6Y7B23V</a:t>
            </a:r>
            <a:endParaRPr/>
          </a:p>
          <a:p>
            <a:pPr indent="-23018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stored in CDN at http://KingCDN.com/NetC6y&amp;B23V</a:t>
            </a:r>
            <a:endParaRPr/>
          </a:p>
        </p:txBody>
      </p:sp>
      <p:sp>
        <p:nvSpPr>
          <p:cNvPr id="9021" name="Google Shape;9021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6" name="Shape 9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7" name="Google Shape;9027;p1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Case study: Netflix</a:t>
            </a:r>
            <a:endParaRPr/>
          </a:p>
        </p:txBody>
      </p:sp>
      <p:grpSp>
        <p:nvGrpSpPr>
          <p:cNvPr id="9028" name="Google Shape;9028;p118"/>
          <p:cNvGrpSpPr/>
          <p:nvPr/>
        </p:nvGrpSpPr>
        <p:grpSpPr>
          <a:xfrm>
            <a:off x="2638476" y="3253801"/>
            <a:ext cx="463550" cy="638175"/>
            <a:chOff x="4140" y="429"/>
            <a:chExt cx="1425" cy="2396"/>
          </a:xfrm>
        </p:grpSpPr>
        <p:sp>
          <p:nvSpPr>
            <p:cNvPr id="9029" name="Google Shape;9029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0" name="Google Shape;9030;p118"/>
            <p:cNvSpPr/>
            <p:nvPr/>
          </p:nvSpPr>
          <p:spPr>
            <a:xfrm>
              <a:off x="4203" y="429"/>
              <a:ext cx="1049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1" name="Google Shape;9031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2" name="Google Shape;9032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3" name="Google Shape;9033;p118"/>
            <p:cNvSpPr/>
            <p:nvPr/>
          </p:nvSpPr>
          <p:spPr>
            <a:xfrm>
              <a:off x="4213" y="69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34" name="Google Shape;9034;p118"/>
            <p:cNvGrpSpPr/>
            <p:nvPr/>
          </p:nvGrpSpPr>
          <p:grpSpPr>
            <a:xfrm>
              <a:off x="4750" y="667"/>
              <a:ext cx="581" cy="131"/>
              <a:chOff x="615" y="2567"/>
              <a:chExt cx="725" cy="126"/>
            </a:xfrm>
          </p:grpSpPr>
          <p:sp>
            <p:nvSpPr>
              <p:cNvPr id="9035" name="Google Shape;9035;p118"/>
              <p:cNvSpPr/>
              <p:nvPr/>
            </p:nvSpPr>
            <p:spPr>
              <a:xfrm>
                <a:off x="615" y="2567"/>
                <a:ext cx="725" cy="12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6" name="Google Shape;9036;p118"/>
              <p:cNvSpPr/>
              <p:nvPr/>
            </p:nvSpPr>
            <p:spPr>
              <a:xfrm>
                <a:off x="634" y="2585"/>
                <a:ext cx="688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37" name="Google Shape;9037;p118"/>
            <p:cNvSpPr/>
            <p:nvPr/>
          </p:nvSpPr>
          <p:spPr>
            <a:xfrm>
              <a:off x="4223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38" name="Google Shape;9038;p118"/>
            <p:cNvGrpSpPr/>
            <p:nvPr/>
          </p:nvGrpSpPr>
          <p:grpSpPr>
            <a:xfrm>
              <a:off x="4745" y="995"/>
              <a:ext cx="581" cy="131"/>
              <a:chOff x="612" y="2569"/>
              <a:chExt cx="725" cy="136"/>
            </a:xfrm>
          </p:grpSpPr>
          <p:sp>
            <p:nvSpPr>
              <p:cNvPr id="9039" name="Google Shape;9039;p118"/>
              <p:cNvSpPr/>
              <p:nvPr/>
            </p:nvSpPr>
            <p:spPr>
              <a:xfrm>
                <a:off x="612" y="2569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0" name="Google Shape;9040;p118"/>
              <p:cNvSpPr/>
              <p:nvPr/>
            </p:nvSpPr>
            <p:spPr>
              <a:xfrm>
                <a:off x="624" y="2588"/>
                <a:ext cx="694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41" name="Google Shape;9041;p118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2" name="Google Shape;9042;p118"/>
            <p:cNvSpPr/>
            <p:nvPr/>
          </p:nvSpPr>
          <p:spPr>
            <a:xfrm>
              <a:off x="4228" y="1657"/>
              <a:ext cx="595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43" name="Google Shape;9043;p118"/>
            <p:cNvGrpSpPr/>
            <p:nvPr/>
          </p:nvGrpSpPr>
          <p:grpSpPr>
            <a:xfrm>
              <a:off x="4735" y="1627"/>
              <a:ext cx="576" cy="149"/>
              <a:chOff x="614" y="2568"/>
              <a:chExt cx="717" cy="137"/>
            </a:xfrm>
          </p:grpSpPr>
          <p:sp>
            <p:nvSpPr>
              <p:cNvPr id="9044" name="Google Shape;9044;p118"/>
              <p:cNvSpPr/>
              <p:nvPr/>
            </p:nvSpPr>
            <p:spPr>
              <a:xfrm>
                <a:off x="614" y="2568"/>
                <a:ext cx="71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5" name="Google Shape;9045;p118"/>
              <p:cNvSpPr/>
              <p:nvPr/>
            </p:nvSpPr>
            <p:spPr>
              <a:xfrm>
                <a:off x="627" y="2584"/>
                <a:ext cx="687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46" name="Google Shape;9046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47" name="Google Shape;9047;p118"/>
            <p:cNvGrpSpPr/>
            <p:nvPr/>
          </p:nvGrpSpPr>
          <p:grpSpPr>
            <a:xfrm>
              <a:off x="4741" y="1329"/>
              <a:ext cx="580" cy="137"/>
              <a:chOff x="616" y="2570"/>
              <a:chExt cx="723" cy="137"/>
            </a:xfrm>
          </p:grpSpPr>
          <p:sp>
            <p:nvSpPr>
              <p:cNvPr id="9048" name="Google Shape;9048;p118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9" name="Google Shape;9049;p118"/>
              <p:cNvSpPr/>
              <p:nvPr/>
            </p:nvSpPr>
            <p:spPr>
              <a:xfrm>
                <a:off x="640" y="2588"/>
                <a:ext cx="681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50" name="Google Shape;9050;p118"/>
            <p:cNvSpPr/>
            <p:nvPr/>
          </p:nvSpPr>
          <p:spPr>
            <a:xfrm>
              <a:off x="5248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1" name="Google Shape;9051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2" name="Google Shape;9052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3" name="Google Shape;9053;p118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4" name="Google Shape;9054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5" name="Google Shape;9055;p118"/>
            <p:cNvSpPr/>
            <p:nvPr/>
          </p:nvSpPr>
          <p:spPr>
            <a:xfrm>
              <a:off x="4140" y="2682"/>
              <a:ext cx="1201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6" name="Google Shape;9056;p118"/>
            <p:cNvSpPr/>
            <p:nvPr/>
          </p:nvSpPr>
          <p:spPr>
            <a:xfrm>
              <a:off x="4203" y="2712"/>
              <a:ext cx="1074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7" name="Google Shape;9057;p118"/>
            <p:cNvSpPr/>
            <p:nvPr/>
          </p:nvSpPr>
          <p:spPr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8" name="Google Shape;9058;p118"/>
            <p:cNvSpPr/>
            <p:nvPr/>
          </p:nvSpPr>
          <p:spPr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9" name="Google Shape;9059;p118"/>
            <p:cNvSpPr/>
            <p:nvPr/>
          </p:nvSpPr>
          <p:spPr>
            <a:xfrm>
              <a:off x="4662" y="2378"/>
              <a:ext cx="156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0" name="Google Shape;9060;p118"/>
            <p:cNvSpPr/>
            <p:nvPr/>
          </p:nvSpPr>
          <p:spPr>
            <a:xfrm>
              <a:off x="5062" y="1836"/>
              <a:ext cx="83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1" name="Google Shape;9061;p118"/>
          <p:cNvGrpSpPr/>
          <p:nvPr/>
        </p:nvGrpSpPr>
        <p:grpSpPr>
          <a:xfrm>
            <a:off x="4670476" y="5093714"/>
            <a:ext cx="963612" cy="835025"/>
            <a:chOff x="-44" y="1473"/>
            <a:chExt cx="981" cy="1105"/>
          </a:xfrm>
        </p:grpSpPr>
        <p:pic>
          <p:nvPicPr>
            <p:cNvPr descr="desktop_computer_stylized_medium" id="9062" name="Google Shape;9062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3" name="Google Shape;9063;p1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Bob" id="9064" name="Google Shape;9064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4026" y="5898576"/>
            <a:ext cx="533400" cy="544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65" name="Google Shape;9065;p118"/>
          <p:cNvGrpSpPr/>
          <p:nvPr/>
        </p:nvGrpSpPr>
        <p:grpSpPr>
          <a:xfrm>
            <a:off x="3016301" y="3906264"/>
            <a:ext cx="1804987" cy="1489075"/>
            <a:chOff x="3016301" y="3906264"/>
            <a:chExt cx="1804987" cy="1489075"/>
          </a:xfrm>
        </p:grpSpPr>
        <p:cxnSp>
          <p:nvCxnSpPr>
            <p:cNvPr id="9066" name="Google Shape;9066;p118"/>
            <p:cNvCxnSpPr/>
            <p:nvPr/>
          </p:nvCxnSpPr>
          <p:spPr>
            <a:xfrm>
              <a:off x="3016301" y="3906264"/>
              <a:ext cx="1804987" cy="14890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9067" name="Google Shape;9067;p118"/>
            <p:cNvGrpSpPr/>
            <p:nvPr/>
          </p:nvGrpSpPr>
          <p:grpSpPr>
            <a:xfrm>
              <a:off x="3403651" y="4149151"/>
              <a:ext cx="317500" cy="368300"/>
              <a:chOff x="1614533" y="4280420"/>
              <a:chExt cx="317511" cy="369332"/>
            </a:xfrm>
          </p:grpSpPr>
          <p:sp>
            <p:nvSpPr>
              <p:cNvPr id="9068" name="Google Shape;9068;p118"/>
              <p:cNvSpPr/>
              <p:nvPr/>
            </p:nvSpPr>
            <p:spPr>
              <a:xfrm>
                <a:off x="1628337" y="4321838"/>
                <a:ext cx="303707" cy="303707"/>
              </a:xfrm>
              <a:prstGeom prst="ellipse">
                <a:avLst/>
              </a:prstGeom>
              <a:solidFill>
                <a:schemeClr val="lt1"/>
              </a:solidFill>
              <a:ln cap="flat" cmpd="sng" w="158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9" name="Google Shape;9069;p118"/>
              <p:cNvSpPr txBox="1"/>
              <p:nvPr/>
            </p:nvSpPr>
            <p:spPr>
              <a:xfrm>
                <a:off x="1614533" y="4280420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sp>
        <p:nvSpPr>
          <p:cNvPr id="9070" name="Google Shape;9070;p118"/>
          <p:cNvSpPr txBox="1"/>
          <p:nvPr/>
        </p:nvSpPr>
        <p:spPr>
          <a:xfrm>
            <a:off x="2317984" y="4489458"/>
            <a:ext cx="203358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manages      Netflix account</a:t>
            </a:r>
            <a:endParaRPr/>
          </a:p>
        </p:txBody>
      </p:sp>
      <p:sp>
        <p:nvSpPr>
          <p:cNvPr id="9071" name="Google Shape;9071;p118"/>
          <p:cNvSpPr txBox="1"/>
          <p:nvPr/>
        </p:nvSpPr>
        <p:spPr>
          <a:xfrm>
            <a:off x="1932038" y="2701351"/>
            <a:ext cx="203358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Netflix registration,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accounting servers</a:t>
            </a:r>
            <a:endParaRPr/>
          </a:p>
        </p:txBody>
      </p:sp>
      <p:sp>
        <p:nvSpPr>
          <p:cNvPr id="9072" name="Google Shape;9072;p118"/>
          <p:cNvSpPr/>
          <p:nvPr/>
        </p:nvSpPr>
        <p:spPr>
          <a:xfrm>
            <a:off x="4197401" y="1571051"/>
            <a:ext cx="3133725" cy="1508125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73" name="Google Shape;9073;p118"/>
          <p:cNvGrpSpPr/>
          <p:nvPr/>
        </p:nvGrpSpPr>
        <p:grpSpPr>
          <a:xfrm>
            <a:off x="4443463" y="1937239"/>
            <a:ext cx="365125" cy="635525"/>
            <a:chOff x="4140" y="433"/>
            <a:chExt cx="1425" cy="2392"/>
          </a:xfrm>
        </p:grpSpPr>
        <p:sp>
          <p:nvSpPr>
            <p:cNvPr id="9074" name="Google Shape;9074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5" name="Google Shape;9075;p118"/>
            <p:cNvSpPr/>
            <p:nvPr/>
          </p:nvSpPr>
          <p:spPr>
            <a:xfrm>
              <a:off x="4202" y="435"/>
              <a:ext cx="1053" cy="227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6" name="Google Shape;9076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7" name="Google Shape;9077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8" name="Google Shape;9078;p118"/>
            <p:cNvSpPr/>
            <p:nvPr/>
          </p:nvSpPr>
          <p:spPr>
            <a:xfrm>
              <a:off x="4214" y="692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79" name="Google Shape;9079;p118"/>
            <p:cNvGrpSpPr/>
            <p:nvPr/>
          </p:nvGrpSpPr>
          <p:grpSpPr>
            <a:xfrm>
              <a:off x="4747" y="668"/>
              <a:ext cx="583" cy="143"/>
              <a:chOff x="612" y="2568"/>
              <a:chExt cx="727" cy="137"/>
            </a:xfrm>
          </p:grpSpPr>
          <p:sp>
            <p:nvSpPr>
              <p:cNvPr id="9080" name="Google Shape;9080;p118"/>
              <p:cNvSpPr/>
              <p:nvPr/>
            </p:nvSpPr>
            <p:spPr>
              <a:xfrm>
                <a:off x="612" y="2568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1" name="Google Shape;9081;p118"/>
              <p:cNvSpPr/>
              <p:nvPr/>
            </p:nvSpPr>
            <p:spPr>
              <a:xfrm>
                <a:off x="627" y="2585"/>
                <a:ext cx="696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82" name="Google Shape;9082;p118"/>
            <p:cNvSpPr/>
            <p:nvPr/>
          </p:nvSpPr>
          <p:spPr>
            <a:xfrm>
              <a:off x="4227" y="102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3" name="Google Shape;9083;p118"/>
            <p:cNvGrpSpPr/>
            <p:nvPr/>
          </p:nvGrpSpPr>
          <p:grpSpPr>
            <a:xfrm>
              <a:off x="4747" y="1003"/>
              <a:ext cx="583" cy="125"/>
              <a:chOff x="614" y="2577"/>
              <a:chExt cx="727" cy="130"/>
            </a:xfrm>
          </p:grpSpPr>
          <p:sp>
            <p:nvSpPr>
              <p:cNvPr id="9084" name="Google Shape;9084;p118"/>
              <p:cNvSpPr/>
              <p:nvPr/>
            </p:nvSpPr>
            <p:spPr>
              <a:xfrm>
                <a:off x="614" y="2577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5" name="Google Shape;9085;p118"/>
              <p:cNvSpPr/>
              <p:nvPr/>
            </p:nvSpPr>
            <p:spPr>
              <a:xfrm>
                <a:off x="630" y="2596"/>
                <a:ext cx="696" cy="9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86" name="Google Shape;9086;p118"/>
            <p:cNvSpPr/>
            <p:nvPr/>
          </p:nvSpPr>
          <p:spPr>
            <a:xfrm>
              <a:off x="4214" y="135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7" name="Google Shape;9087;p118"/>
            <p:cNvSpPr/>
            <p:nvPr/>
          </p:nvSpPr>
          <p:spPr>
            <a:xfrm>
              <a:off x="4227" y="1654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8" name="Google Shape;9088;p118"/>
            <p:cNvGrpSpPr/>
            <p:nvPr/>
          </p:nvGrpSpPr>
          <p:grpSpPr>
            <a:xfrm>
              <a:off x="4735" y="1636"/>
              <a:ext cx="576" cy="143"/>
              <a:chOff x="614" y="2576"/>
              <a:chExt cx="718" cy="132"/>
            </a:xfrm>
          </p:grpSpPr>
          <p:sp>
            <p:nvSpPr>
              <p:cNvPr id="9089" name="Google Shape;9089;p118"/>
              <p:cNvSpPr/>
              <p:nvPr/>
            </p:nvSpPr>
            <p:spPr>
              <a:xfrm>
                <a:off x="614" y="2576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0" name="Google Shape;9090;p118"/>
              <p:cNvSpPr/>
              <p:nvPr/>
            </p:nvSpPr>
            <p:spPr>
              <a:xfrm>
                <a:off x="629" y="2593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1" name="Google Shape;9091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92" name="Google Shape;9092;p118"/>
            <p:cNvGrpSpPr/>
            <p:nvPr/>
          </p:nvGrpSpPr>
          <p:grpSpPr>
            <a:xfrm>
              <a:off x="4741" y="1325"/>
              <a:ext cx="582" cy="149"/>
              <a:chOff x="616" y="2566"/>
              <a:chExt cx="725" cy="149"/>
            </a:xfrm>
          </p:grpSpPr>
          <p:sp>
            <p:nvSpPr>
              <p:cNvPr id="9093" name="Google Shape;9093;p118"/>
              <p:cNvSpPr/>
              <p:nvPr/>
            </p:nvSpPr>
            <p:spPr>
              <a:xfrm>
                <a:off x="616" y="2566"/>
                <a:ext cx="725" cy="14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4" name="Google Shape;9094;p118"/>
              <p:cNvSpPr/>
              <p:nvPr/>
            </p:nvSpPr>
            <p:spPr>
              <a:xfrm>
                <a:off x="632" y="2584"/>
                <a:ext cx="695" cy="11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5" name="Google Shape;9095;p118"/>
            <p:cNvSpPr/>
            <p:nvPr/>
          </p:nvSpPr>
          <p:spPr>
            <a:xfrm>
              <a:off x="5249" y="435"/>
              <a:ext cx="68" cy="228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6" name="Google Shape;9096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7" name="Google Shape;9097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8" name="Google Shape;9098;p118"/>
            <p:cNvSpPr/>
            <p:nvPr/>
          </p:nvSpPr>
          <p:spPr>
            <a:xfrm>
              <a:off x="5515" y="2610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9" name="Google Shape;9099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0" name="Google Shape;9100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1" name="Google Shape;9101;p118"/>
            <p:cNvSpPr/>
            <p:nvPr/>
          </p:nvSpPr>
          <p:spPr>
            <a:xfrm>
              <a:off x="4202" y="2711"/>
              <a:ext cx="1078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2" name="Google Shape;9102;p118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3" name="Google Shape;9103;p118"/>
            <p:cNvSpPr/>
            <p:nvPr/>
          </p:nvSpPr>
          <p:spPr>
            <a:xfrm>
              <a:off x="4487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4" name="Google Shape;9104;p118"/>
            <p:cNvSpPr/>
            <p:nvPr/>
          </p:nvSpPr>
          <p:spPr>
            <a:xfrm>
              <a:off x="4660" y="2383"/>
              <a:ext cx="161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5" name="Google Shape;9105;p118"/>
            <p:cNvSpPr/>
            <p:nvPr/>
          </p:nvSpPr>
          <p:spPr>
            <a:xfrm>
              <a:off x="5063" y="1833"/>
              <a:ext cx="87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06" name="Google Shape;9106;p118"/>
          <p:cNvGrpSpPr/>
          <p:nvPr/>
        </p:nvGrpSpPr>
        <p:grpSpPr>
          <a:xfrm>
            <a:off x="5880151" y="2103927"/>
            <a:ext cx="365125" cy="635524"/>
            <a:chOff x="4140" y="433"/>
            <a:chExt cx="1425" cy="2392"/>
          </a:xfrm>
        </p:grpSpPr>
        <p:sp>
          <p:nvSpPr>
            <p:cNvPr id="9107" name="Google Shape;9107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8" name="Google Shape;9108;p118"/>
            <p:cNvSpPr/>
            <p:nvPr/>
          </p:nvSpPr>
          <p:spPr>
            <a:xfrm>
              <a:off x="4202" y="435"/>
              <a:ext cx="1053" cy="2277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9" name="Google Shape;9109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0" name="Google Shape;9110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1" name="Google Shape;9111;p118"/>
            <p:cNvSpPr/>
            <p:nvPr/>
          </p:nvSpPr>
          <p:spPr>
            <a:xfrm>
              <a:off x="4214" y="692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2" name="Google Shape;9112;p118"/>
            <p:cNvGrpSpPr/>
            <p:nvPr/>
          </p:nvGrpSpPr>
          <p:grpSpPr>
            <a:xfrm>
              <a:off x="4741" y="674"/>
              <a:ext cx="588" cy="138"/>
              <a:chOff x="604" y="2574"/>
              <a:chExt cx="734" cy="132"/>
            </a:xfrm>
          </p:grpSpPr>
          <p:sp>
            <p:nvSpPr>
              <p:cNvPr id="9113" name="Google Shape;9113;p118"/>
              <p:cNvSpPr/>
              <p:nvPr/>
            </p:nvSpPr>
            <p:spPr>
              <a:xfrm>
                <a:off x="604" y="2574"/>
                <a:ext cx="734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4" name="Google Shape;9114;p118"/>
              <p:cNvSpPr/>
              <p:nvPr/>
            </p:nvSpPr>
            <p:spPr>
              <a:xfrm>
                <a:off x="627" y="2585"/>
                <a:ext cx="696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15" name="Google Shape;9115;p118"/>
            <p:cNvSpPr/>
            <p:nvPr/>
          </p:nvSpPr>
          <p:spPr>
            <a:xfrm>
              <a:off x="4227" y="102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6" name="Google Shape;9116;p118"/>
            <p:cNvGrpSpPr/>
            <p:nvPr/>
          </p:nvGrpSpPr>
          <p:grpSpPr>
            <a:xfrm>
              <a:off x="4747" y="1003"/>
              <a:ext cx="583" cy="125"/>
              <a:chOff x="614" y="2577"/>
              <a:chExt cx="727" cy="130"/>
            </a:xfrm>
          </p:grpSpPr>
          <p:sp>
            <p:nvSpPr>
              <p:cNvPr id="9117" name="Google Shape;9117;p118"/>
              <p:cNvSpPr/>
              <p:nvPr/>
            </p:nvSpPr>
            <p:spPr>
              <a:xfrm>
                <a:off x="614" y="2577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8" name="Google Shape;9118;p118"/>
              <p:cNvSpPr/>
              <p:nvPr/>
            </p:nvSpPr>
            <p:spPr>
              <a:xfrm>
                <a:off x="630" y="2596"/>
                <a:ext cx="696" cy="9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19" name="Google Shape;9119;p118"/>
            <p:cNvSpPr/>
            <p:nvPr/>
          </p:nvSpPr>
          <p:spPr>
            <a:xfrm>
              <a:off x="4214" y="135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0" name="Google Shape;9120;p118"/>
            <p:cNvSpPr/>
            <p:nvPr/>
          </p:nvSpPr>
          <p:spPr>
            <a:xfrm>
              <a:off x="4227" y="1654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21" name="Google Shape;9121;p118"/>
            <p:cNvGrpSpPr/>
            <p:nvPr/>
          </p:nvGrpSpPr>
          <p:grpSpPr>
            <a:xfrm>
              <a:off x="4735" y="1636"/>
              <a:ext cx="576" cy="143"/>
              <a:chOff x="614" y="2576"/>
              <a:chExt cx="718" cy="132"/>
            </a:xfrm>
          </p:grpSpPr>
          <p:sp>
            <p:nvSpPr>
              <p:cNvPr id="9122" name="Google Shape;9122;p118"/>
              <p:cNvSpPr/>
              <p:nvPr/>
            </p:nvSpPr>
            <p:spPr>
              <a:xfrm>
                <a:off x="614" y="2576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3" name="Google Shape;9123;p118"/>
              <p:cNvSpPr/>
              <p:nvPr/>
            </p:nvSpPr>
            <p:spPr>
              <a:xfrm>
                <a:off x="629" y="2593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4" name="Google Shape;9124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5" name="Google Shape;9125;p118"/>
            <p:cNvGrpSpPr/>
            <p:nvPr/>
          </p:nvGrpSpPr>
          <p:grpSpPr>
            <a:xfrm>
              <a:off x="4741" y="1325"/>
              <a:ext cx="582" cy="149"/>
              <a:chOff x="616" y="2566"/>
              <a:chExt cx="725" cy="149"/>
            </a:xfrm>
          </p:grpSpPr>
          <p:sp>
            <p:nvSpPr>
              <p:cNvPr id="9126" name="Google Shape;9126;p118"/>
              <p:cNvSpPr/>
              <p:nvPr/>
            </p:nvSpPr>
            <p:spPr>
              <a:xfrm>
                <a:off x="616" y="2566"/>
                <a:ext cx="725" cy="14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7" name="Google Shape;9127;p118"/>
              <p:cNvSpPr/>
              <p:nvPr/>
            </p:nvSpPr>
            <p:spPr>
              <a:xfrm>
                <a:off x="632" y="2584"/>
                <a:ext cx="695" cy="11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8" name="Google Shape;9128;p118"/>
            <p:cNvSpPr/>
            <p:nvPr/>
          </p:nvSpPr>
          <p:spPr>
            <a:xfrm>
              <a:off x="5249" y="435"/>
              <a:ext cx="68" cy="228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9" name="Google Shape;9129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0" name="Google Shape;9130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1" name="Google Shape;9131;p118"/>
            <p:cNvSpPr/>
            <p:nvPr/>
          </p:nvSpPr>
          <p:spPr>
            <a:xfrm>
              <a:off x="5515" y="2610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2" name="Google Shape;9132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3" name="Google Shape;9133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4" name="Google Shape;9134;p118"/>
            <p:cNvSpPr/>
            <p:nvPr/>
          </p:nvSpPr>
          <p:spPr>
            <a:xfrm>
              <a:off x="4202" y="2711"/>
              <a:ext cx="1078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5" name="Google Shape;9135;p118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6" name="Google Shape;9136;p118"/>
            <p:cNvSpPr/>
            <p:nvPr/>
          </p:nvSpPr>
          <p:spPr>
            <a:xfrm>
              <a:off x="4487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7" name="Google Shape;9137;p118"/>
            <p:cNvSpPr/>
            <p:nvPr/>
          </p:nvSpPr>
          <p:spPr>
            <a:xfrm>
              <a:off x="4660" y="2383"/>
              <a:ext cx="161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8" name="Google Shape;9138;p118"/>
            <p:cNvSpPr/>
            <p:nvPr/>
          </p:nvSpPr>
          <p:spPr>
            <a:xfrm>
              <a:off x="5063" y="1833"/>
              <a:ext cx="87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9" name="Google Shape;9139;p118"/>
          <p:cNvGrpSpPr/>
          <p:nvPr/>
        </p:nvGrpSpPr>
        <p:grpSpPr>
          <a:xfrm>
            <a:off x="6418313" y="2367976"/>
            <a:ext cx="365125" cy="638175"/>
            <a:chOff x="4140" y="429"/>
            <a:chExt cx="1425" cy="2396"/>
          </a:xfrm>
        </p:grpSpPr>
        <p:sp>
          <p:nvSpPr>
            <p:cNvPr id="9140" name="Google Shape;9140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1" name="Google Shape;9141;p118"/>
            <p:cNvSpPr/>
            <p:nvPr/>
          </p:nvSpPr>
          <p:spPr>
            <a:xfrm>
              <a:off x="4202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2" name="Google Shape;9142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3" name="Google Shape;9143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4" name="Google Shape;9144;p118"/>
            <p:cNvSpPr/>
            <p:nvPr/>
          </p:nvSpPr>
          <p:spPr>
            <a:xfrm>
              <a:off x="4214" y="69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5" name="Google Shape;9145;p118"/>
            <p:cNvGrpSpPr/>
            <p:nvPr/>
          </p:nvGrpSpPr>
          <p:grpSpPr>
            <a:xfrm>
              <a:off x="4747" y="662"/>
              <a:ext cx="583" cy="143"/>
              <a:chOff x="612" y="2562"/>
              <a:chExt cx="727" cy="137"/>
            </a:xfrm>
          </p:grpSpPr>
          <p:sp>
            <p:nvSpPr>
              <p:cNvPr id="9146" name="Google Shape;9146;p118"/>
              <p:cNvSpPr/>
              <p:nvPr/>
            </p:nvSpPr>
            <p:spPr>
              <a:xfrm>
                <a:off x="612" y="2562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7" name="Google Shape;9147;p118"/>
              <p:cNvSpPr/>
              <p:nvPr/>
            </p:nvSpPr>
            <p:spPr>
              <a:xfrm>
                <a:off x="627" y="2585"/>
                <a:ext cx="696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48" name="Google Shape;9148;p118"/>
            <p:cNvSpPr/>
            <p:nvPr/>
          </p:nvSpPr>
          <p:spPr>
            <a:xfrm>
              <a:off x="4227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9" name="Google Shape;9149;p118"/>
            <p:cNvGrpSpPr/>
            <p:nvPr/>
          </p:nvGrpSpPr>
          <p:grpSpPr>
            <a:xfrm>
              <a:off x="4747" y="995"/>
              <a:ext cx="583" cy="125"/>
              <a:chOff x="614" y="2569"/>
              <a:chExt cx="727" cy="130"/>
            </a:xfrm>
          </p:grpSpPr>
          <p:sp>
            <p:nvSpPr>
              <p:cNvPr id="9150" name="Google Shape;9150;p118"/>
              <p:cNvSpPr/>
              <p:nvPr/>
            </p:nvSpPr>
            <p:spPr>
              <a:xfrm>
                <a:off x="614" y="2569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1" name="Google Shape;9151;p118"/>
              <p:cNvSpPr/>
              <p:nvPr/>
            </p:nvSpPr>
            <p:spPr>
              <a:xfrm>
                <a:off x="630" y="2588"/>
                <a:ext cx="696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2" name="Google Shape;9152;p118"/>
            <p:cNvSpPr/>
            <p:nvPr/>
          </p:nvSpPr>
          <p:spPr>
            <a:xfrm>
              <a:off x="4214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3" name="Google Shape;9153;p118"/>
            <p:cNvSpPr/>
            <p:nvPr/>
          </p:nvSpPr>
          <p:spPr>
            <a:xfrm>
              <a:off x="4227" y="1657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4" name="Google Shape;9154;p118"/>
            <p:cNvGrpSpPr/>
            <p:nvPr/>
          </p:nvGrpSpPr>
          <p:grpSpPr>
            <a:xfrm>
              <a:off x="4735" y="1627"/>
              <a:ext cx="576" cy="143"/>
              <a:chOff x="614" y="2568"/>
              <a:chExt cx="718" cy="132"/>
            </a:xfrm>
          </p:grpSpPr>
          <p:sp>
            <p:nvSpPr>
              <p:cNvPr id="9155" name="Google Shape;9155;p118"/>
              <p:cNvSpPr/>
              <p:nvPr/>
            </p:nvSpPr>
            <p:spPr>
              <a:xfrm>
                <a:off x="614" y="2568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6" name="Google Shape;9156;p118"/>
              <p:cNvSpPr/>
              <p:nvPr/>
            </p:nvSpPr>
            <p:spPr>
              <a:xfrm>
                <a:off x="629" y="2584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7" name="Google Shape;9157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58" name="Google Shape;9158;p118"/>
            <p:cNvGrpSpPr/>
            <p:nvPr/>
          </p:nvGrpSpPr>
          <p:grpSpPr>
            <a:xfrm>
              <a:off x="4741" y="1329"/>
              <a:ext cx="582" cy="137"/>
              <a:chOff x="616" y="2570"/>
              <a:chExt cx="725" cy="137"/>
            </a:xfrm>
          </p:grpSpPr>
          <p:sp>
            <p:nvSpPr>
              <p:cNvPr id="9159" name="Google Shape;9159;p118"/>
              <p:cNvSpPr/>
              <p:nvPr/>
            </p:nvSpPr>
            <p:spPr>
              <a:xfrm>
                <a:off x="616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0" name="Google Shape;9160;p118"/>
              <p:cNvSpPr/>
              <p:nvPr/>
            </p:nvSpPr>
            <p:spPr>
              <a:xfrm>
                <a:off x="632" y="2588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61" name="Google Shape;9161;p11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2" name="Google Shape;9162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3" name="Google Shape;9163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4" name="Google Shape;9164;p118"/>
            <p:cNvSpPr/>
            <p:nvPr/>
          </p:nvSpPr>
          <p:spPr>
            <a:xfrm>
              <a:off x="5515" y="2610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9165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6" name="Google Shape;9166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7" name="Google Shape;9167;p118"/>
            <p:cNvSpPr/>
            <p:nvPr/>
          </p:nvSpPr>
          <p:spPr>
            <a:xfrm>
              <a:off x="4202" y="2712"/>
              <a:ext cx="1078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8" name="Google Shape;9168;p118"/>
            <p:cNvSpPr/>
            <p:nvPr/>
          </p:nvSpPr>
          <p:spPr>
            <a:xfrm>
              <a:off x="4307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9" name="Google Shape;9169;p118"/>
            <p:cNvSpPr/>
            <p:nvPr/>
          </p:nvSpPr>
          <p:spPr>
            <a:xfrm>
              <a:off x="4487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0" name="Google Shape;9170;p118"/>
            <p:cNvSpPr/>
            <p:nvPr/>
          </p:nvSpPr>
          <p:spPr>
            <a:xfrm>
              <a:off x="4660" y="2378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1" name="Google Shape;9171;p118"/>
            <p:cNvSpPr/>
            <p:nvPr/>
          </p:nvSpPr>
          <p:spPr>
            <a:xfrm>
              <a:off x="5063" y="1836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72" name="Google Shape;9172;p118"/>
          <p:cNvSpPr txBox="1"/>
          <p:nvPr/>
        </p:nvSpPr>
        <p:spPr>
          <a:xfrm>
            <a:off x="5026076" y="1707576"/>
            <a:ext cx="15017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Amazon cloud</a:t>
            </a:r>
            <a:endParaRPr/>
          </a:p>
        </p:txBody>
      </p:sp>
      <p:grpSp>
        <p:nvGrpSpPr>
          <p:cNvPr id="9173" name="Google Shape;9173;p118"/>
          <p:cNvGrpSpPr/>
          <p:nvPr/>
        </p:nvGrpSpPr>
        <p:grpSpPr>
          <a:xfrm>
            <a:off x="8856713" y="1799651"/>
            <a:ext cx="1376363" cy="1355725"/>
            <a:chOff x="7030938" y="1184076"/>
            <a:chExt cx="1375947" cy="1355492"/>
          </a:xfrm>
        </p:grpSpPr>
        <p:sp>
          <p:nvSpPr>
            <p:cNvPr id="9174" name="Google Shape;9174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75" name="Google Shape;9175;p118"/>
            <p:cNvGrpSpPr/>
            <p:nvPr/>
          </p:nvGrpSpPr>
          <p:grpSpPr>
            <a:xfrm>
              <a:off x="7191141" y="1666633"/>
              <a:ext cx="365020" cy="636487"/>
              <a:chOff x="4140" y="433"/>
              <a:chExt cx="1423" cy="2392"/>
            </a:xfrm>
          </p:grpSpPr>
          <p:sp>
            <p:nvSpPr>
              <p:cNvPr id="9176" name="Google Shape;9176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7" name="Google Shape;9177;p118"/>
              <p:cNvSpPr/>
              <p:nvPr/>
            </p:nvSpPr>
            <p:spPr>
              <a:xfrm>
                <a:off x="4202" y="433"/>
                <a:ext cx="1052" cy="2279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8" name="Google Shape;9178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9" name="Google Shape;9179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0" name="Google Shape;9180;p118"/>
              <p:cNvSpPr/>
              <p:nvPr/>
            </p:nvSpPr>
            <p:spPr>
              <a:xfrm>
                <a:off x="4215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81" name="Google Shape;9181;p118"/>
              <p:cNvGrpSpPr/>
              <p:nvPr/>
            </p:nvGrpSpPr>
            <p:grpSpPr>
              <a:xfrm>
                <a:off x="4747" y="671"/>
                <a:ext cx="582" cy="131"/>
                <a:chOff x="611" y="2571"/>
                <a:chExt cx="726" cy="126"/>
              </a:xfrm>
            </p:grpSpPr>
            <p:sp>
              <p:nvSpPr>
                <p:cNvPr id="9182" name="Google Shape;9182;p118"/>
                <p:cNvSpPr/>
                <p:nvPr/>
              </p:nvSpPr>
              <p:spPr>
                <a:xfrm>
                  <a:off x="611" y="2571"/>
                  <a:ext cx="726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3" name="Google Shape;9183;p118"/>
                <p:cNvSpPr/>
                <p:nvPr/>
              </p:nvSpPr>
              <p:spPr>
                <a:xfrm>
                  <a:off x="627" y="2583"/>
                  <a:ext cx="695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4" name="Google Shape;9184;p118"/>
              <p:cNvSpPr/>
              <p:nvPr/>
            </p:nvSpPr>
            <p:spPr>
              <a:xfrm>
                <a:off x="4227" y="1023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85" name="Google Shape;9185;p118"/>
              <p:cNvGrpSpPr/>
              <p:nvPr/>
            </p:nvGrpSpPr>
            <p:grpSpPr>
              <a:xfrm>
                <a:off x="4747" y="1000"/>
                <a:ext cx="582" cy="125"/>
                <a:chOff x="614" y="2574"/>
                <a:chExt cx="726" cy="130"/>
              </a:xfrm>
            </p:grpSpPr>
            <p:sp>
              <p:nvSpPr>
                <p:cNvPr id="9186" name="Google Shape;9186;p118"/>
                <p:cNvSpPr/>
                <p:nvPr/>
              </p:nvSpPr>
              <p:spPr>
                <a:xfrm>
                  <a:off x="614" y="2574"/>
                  <a:ext cx="726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7" name="Google Shape;9187;p118"/>
                <p:cNvSpPr/>
                <p:nvPr/>
              </p:nvSpPr>
              <p:spPr>
                <a:xfrm>
                  <a:off x="629" y="2592"/>
                  <a:ext cx="695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8" name="Google Shape;9188;p118"/>
              <p:cNvSpPr/>
              <p:nvPr/>
            </p:nvSpPr>
            <p:spPr>
              <a:xfrm>
                <a:off x="4215" y="1357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9" name="Google Shape;9189;p118"/>
              <p:cNvSpPr/>
              <p:nvPr/>
            </p:nvSpPr>
            <p:spPr>
              <a:xfrm>
                <a:off x="4227" y="1656"/>
                <a:ext cx="600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90" name="Google Shape;9190;p118"/>
              <p:cNvGrpSpPr/>
              <p:nvPr/>
            </p:nvGrpSpPr>
            <p:grpSpPr>
              <a:xfrm>
                <a:off x="4734" y="1631"/>
                <a:ext cx="576" cy="137"/>
                <a:chOff x="613" y="2572"/>
                <a:chExt cx="717" cy="126"/>
              </a:xfrm>
            </p:grpSpPr>
            <p:sp>
              <p:nvSpPr>
                <p:cNvPr id="9191" name="Google Shape;9191;p118"/>
                <p:cNvSpPr/>
                <p:nvPr/>
              </p:nvSpPr>
              <p:spPr>
                <a:xfrm>
                  <a:off x="613" y="2572"/>
                  <a:ext cx="717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2" name="Google Shape;9192;p118"/>
                <p:cNvSpPr/>
                <p:nvPr/>
              </p:nvSpPr>
              <p:spPr>
                <a:xfrm>
                  <a:off x="629" y="2589"/>
                  <a:ext cx="686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93" name="Google Shape;9193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94" name="Google Shape;9194;p118"/>
              <p:cNvGrpSpPr/>
              <p:nvPr/>
            </p:nvGrpSpPr>
            <p:grpSpPr>
              <a:xfrm>
                <a:off x="4741" y="1328"/>
                <a:ext cx="581" cy="143"/>
                <a:chOff x="616" y="2569"/>
                <a:chExt cx="724" cy="143"/>
              </a:xfrm>
            </p:grpSpPr>
            <p:sp>
              <p:nvSpPr>
                <p:cNvPr id="9195" name="Google Shape;9195;p118"/>
                <p:cNvSpPr/>
                <p:nvPr/>
              </p:nvSpPr>
              <p:spPr>
                <a:xfrm>
                  <a:off x="616" y="2569"/>
                  <a:ext cx="724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6" name="Google Shape;9196;p118"/>
                <p:cNvSpPr/>
                <p:nvPr/>
              </p:nvSpPr>
              <p:spPr>
                <a:xfrm>
                  <a:off x="631" y="2586"/>
                  <a:ext cx="694" cy="11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97" name="Google Shape;9197;p118"/>
              <p:cNvSpPr/>
              <p:nvPr/>
            </p:nvSpPr>
            <p:spPr>
              <a:xfrm>
                <a:off x="5248" y="433"/>
                <a:ext cx="68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8" name="Google Shape;9198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9" name="Google Shape;9199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0" name="Google Shape;9200;p118"/>
              <p:cNvSpPr/>
              <p:nvPr/>
            </p:nvSpPr>
            <p:spPr>
              <a:xfrm>
                <a:off x="5514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1" name="Google Shape;9201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2" name="Google Shape;9202;p118"/>
              <p:cNvSpPr/>
              <p:nvPr/>
            </p:nvSpPr>
            <p:spPr>
              <a:xfrm>
                <a:off x="4140" y="2682"/>
                <a:ext cx="1200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3" name="Google Shape;9203;p118"/>
              <p:cNvSpPr/>
              <p:nvPr/>
            </p:nvSpPr>
            <p:spPr>
              <a:xfrm>
                <a:off x="4202" y="2711"/>
                <a:ext cx="1077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4" name="Google Shape;9204;p118"/>
              <p:cNvSpPr/>
              <p:nvPr/>
            </p:nvSpPr>
            <p:spPr>
              <a:xfrm>
                <a:off x="4307" y="2383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5" name="Google Shape;9205;p118"/>
              <p:cNvSpPr/>
              <p:nvPr/>
            </p:nvSpPr>
            <p:spPr>
              <a:xfrm>
                <a:off x="4487" y="2383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6" name="Google Shape;9206;p118"/>
              <p:cNvSpPr/>
              <p:nvPr/>
            </p:nvSpPr>
            <p:spPr>
              <a:xfrm>
                <a:off x="4660" y="2383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7" name="Google Shape;9207;p118"/>
              <p:cNvSpPr/>
              <p:nvPr/>
            </p:nvSpPr>
            <p:spPr>
              <a:xfrm>
                <a:off x="5062" y="1835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08" name="Google Shape;9208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cxnSp>
        <p:nvCxnSpPr>
          <p:cNvPr id="9209" name="Google Shape;9209;p118"/>
          <p:cNvCxnSpPr/>
          <p:nvPr/>
        </p:nvCxnSpPr>
        <p:spPr>
          <a:xfrm flipH="1">
            <a:off x="5170538" y="2728339"/>
            <a:ext cx="7938" cy="23764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210" name="Google Shape;9210;p118"/>
          <p:cNvGrpSpPr/>
          <p:nvPr/>
        </p:nvGrpSpPr>
        <p:grpSpPr>
          <a:xfrm>
            <a:off x="5011788" y="3701476"/>
            <a:ext cx="317500" cy="369888"/>
            <a:chOff x="1614533" y="4280420"/>
            <a:chExt cx="317511" cy="369332"/>
          </a:xfrm>
        </p:grpSpPr>
        <p:sp>
          <p:nvSpPr>
            <p:cNvPr id="9211" name="Google Shape;9211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2" name="Google Shape;9212;p118"/>
            <p:cNvSpPr txBox="1"/>
            <p:nvPr/>
          </p:nvSpPr>
          <p:spPr>
            <a:xfrm>
              <a:off x="1614533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9213" name="Google Shape;9213;p118"/>
          <p:cNvSpPr txBox="1"/>
          <p:nvPr/>
        </p:nvSpPr>
        <p:spPr>
          <a:xfrm>
            <a:off x="3710826" y="3221785"/>
            <a:ext cx="203358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browses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video</a:t>
            </a:r>
            <a:endParaRPr/>
          </a:p>
        </p:txBody>
      </p:sp>
      <p:cxnSp>
        <p:nvCxnSpPr>
          <p:cNvPr id="9214" name="Google Shape;9214;p118"/>
          <p:cNvCxnSpPr/>
          <p:nvPr/>
        </p:nvCxnSpPr>
        <p:spPr>
          <a:xfrm flipH="1">
            <a:off x="5603035" y="2752151"/>
            <a:ext cx="3175" cy="23526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5" name="Google Shape;9215;p118"/>
          <p:cNvSpPr txBox="1"/>
          <p:nvPr/>
        </p:nvSpPr>
        <p:spPr>
          <a:xfrm>
            <a:off x="5730631" y="3620486"/>
            <a:ext cx="17859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 file, requested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returned for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video</a:t>
            </a:r>
            <a:endParaRPr/>
          </a:p>
        </p:txBody>
      </p:sp>
      <p:sp>
        <p:nvSpPr>
          <p:cNvPr id="9216" name="Google Shape;9216;p118"/>
          <p:cNvSpPr/>
          <p:nvPr/>
        </p:nvSpPr>
        <p:spPr>
          <a:xfrm rot="10543217">
            <a:off x="5647410" y="5245456"/>
            <a:ext cx="2215511" cy="39143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000090"/>
              </a:gs>
              <a:gs pos="100000">
                <a:srgbClr val="FFFFFF"/>
              </a:gs>
            </a:gsLst>
            <a:lin ang="10260000" scaled="0"/>
          </a:gradFill>
          <a:ln cap="flat" cmpd="sng" w="1587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217" name="Google Shape;9217;p118"/>
          <p:cNvCxnSpPr/>
          <p:nvPr/>
        </p:nvCxnSpPr>
        <p:spPr>
          <a:xfrm flipH="1" rot="10800000">
            <a:off x="5830938" y="5106414"/>
            <a:ext cx="1892300" cy="1476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8" name="Google Shape;9218;p118"/>
          <p:cNvSpPr txBox="1"/>
          <p:nvPr/>
        </p:nvSpPr>
        <p:spPr>
          <a:xfrm>
            <a:off x="6094462" y="5619176"/>
            <a:ext cx="2354263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 server selected, contacted, streaming begins</a:t>
            </a:r>
            <a:endParaRPr/>
          </a:p>
        </p:txBody>
      </p:sp>
      <p:cxnSp>
        <p:nvCxnSpPr>
          <p:cNvPr id="9219" name="Google Shape;9219;p118"/>
          <p:cNvCxnSpPr/>
          <p:nvPr/>
        </p:nvCxnSpPr>
        <p:spPr>
          <a:xfrm>
            <a:off x="6897738" y="2493389"/>
            <a:ext cx="2049463" cy="269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20" name="Google Shape;9220;p118"/>
          <p:cNvCxnSpPr/>
          <p:nvPr/>
        </p:nvCxnSpPr>
        <p:spPr>
          <a:xfrm>
            <a:off x="6907263" y="2536251"/>
            <a:ext cx="1541463" cy="11334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21" name="Google Shape;9221;p118"/>
          <p:cNvCxnSpPr/>
          <p:nvPr/>
        </p:nvCxnSpPr>
        <p:spPr>
          <a:xfrm>
            <a:off x="6897738" y="2550539"/>
            <a:ext cx="2019300" cy="27066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222" name="Google Shape;9222;p118"/>
          <p:cNvSpPr txBox="1"/>
          <p:nvPr/>
        </p:nvSpPr>
        <p:spPr>
          <a:xfrm>
            <a:off x="6645326" y="1640901"/>
            <a:ext cx="2033587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upload copies of multiple versions of video to CDN servers</a:t>
            </a:r>
            <a:endParaRPr/>
          </a:p>
        </p:txBody>
      </p:sp>
      <p:grpSp>
        <p:nvGrpSpPr>
          <p:cNvPr id="9223" name="Google Shape;9223;p118"/>
          <p:cNvGrpSpPr/>
          <p:nvPr/>
        </p:nvGrpSpPr>
        <p:grpSpPr>
          <a:xfrm>
            <a:off x="8329663" y="3056951"/>
            <a:ext cx="1374775" cy="1354138"/>
            <a:chOff x="7030938" y="1184076"/>
            <a:chExt cx="1375947" cy="1355492"/>
          </a:xfrm>
        </p:grpSpPr>
        <p:sp>
          <p:nvSpPr>
            <p:cNvPr id="9224" name="Google Shape;9224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25" name="Google Shape;9225;p118"/>
            <p:cNvGrpSpPr/>
            <p:nvPr/>
          </p:nvGrpSpPr>
          <p:grpSpPr>
            <a:xfrm>
              <a:off x="7191398" y="1666633"/>
              <a:ext cx="365533" cy="635954"/>
              <a:chOff x="4141" y="433"/>
              <a:chExt cx="1425" cy="2390"/>
            </a:xfrm>
          </p:grpSpPr>
          <p:sp>
            <p:nvSpPr>
              <p:cNvPr id="9226" name="Google Shape;9226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7" name="Google Shape;9227;p118"/>
              <p:cNvSpPr/>
              <p:nvPr/>
            </p:nvSpPr>
            <p:spPr>
              <a:xfrm>
                <a:off x="4203" y="435"/>
                <a:ext cx="1053" cy="227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8" name="Google Shape;9228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9" name="Google Shape;9229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0" name="Google Shape;9230;p118"/>
              <p:cNvSpPr/>
              <p:nvPr/>
            </p:nvSpPr>
            <p:spPr>
              <a:xfrm>
                <a:off x="4215" y="698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31" name="Google Shape;9231;p118"/>
              <p:cNvGrpSpPr/>
              <p:nvPr/>
            </p:nvGrpSpPr>
            <p:grpSpPr>
              <a:xfrm>
                <a:off x="4748" y="674"/>
                <a:ext cx="583" cy="138"/>
                <a:chOff x="613" y="2574"/>
                <a:chExt cx="727" cy="132"/>
              </a:xfrm>
            </p:grpSpPr>
            <p:sp>
              <p:nvSpPr>
                <p:cNvPr id="9232" name="Google Shape;9232;p118"/>
                <p:cNvSpPr/>
                <p:nvPr/>
              </p:nvSpPr>
              <p:spPr>
                <a:xfrm>
                  <a:off x="613" y="2574"/>
                  <a:ext cx="727" cy="13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3" name="Google Shape;9233;p118"/>
                <p:cNvSpPr/>
                <p:nvPr/>
              </p:nvSpPr>
              <p:spPr>
                <a:xfrm>
                  <a:off x="628" y="2585"/>
                  <a:ext cx="696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34" name="Google Shape;9234;p118"/>
              <p:cNvSpPr/>
              <p:nvPr/>
            </p:nvSpPr>
            <p:spPr>
              <a:xfrm>
                <a:off x="4228" y="1020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35" name="Google Shape;9235;p118"/>
              <p:cNvGrpSpPr/>
              <p:nvPr/>
            </p:nvGrpSpPr>
            <p:grpSpPr>
              <a:xfrm>
                <a:off x="4748" y="1003"/>
                <a:ext cx="583" cy="125"/>
                <a:chOff x="615" y="2577"/>
                <a:chExt cx="727" cy="130"/>
              </a:xfrm>
            </p:grpSpPr>
            <p:sp>
              <p:nvSpPr>
                <p:cNvPr id="9236" name="Google Shape;9236;p118"/>
                <p:cNvSpPr/>
                <p:nvPr/>
              </p:nvSpPr>
              <p:spPr>
                <a:xfrm>
                  <a:off x="615" y="2577"/>
                  <a:ext cx="727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7" name="Google Shape;9237;p118"/>
                <p:cNvSpPr/>
                <p:nvPr/>
              </p:nvSpPr>
              <p:spPr>
                <a:xfrm>
                  <a:off x="631" y="2595"/>
                  <a:ext cx="696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38" name="Google Shape;9238;p118"/>
              <p:cNvSpPr/>
              <p:nvPr/>
            </p:nvSpPr>
            <p:spPr>
              <a:xfrm>
                <a:off x="4215" y="1355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9" name="Google Shape;9239;p118"/>
              <p:cNvSpPr/>
              <p:nvPr/>
            </p:nvSpPr>
            <p:spPr>
              <a:xfrm>
                <a:off x="4228" y="1653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40" name="Google Shape;9240;p118"/>
              <p:cNvGrpSpPr/>
              <p:nvPr/>
            </p:nvGrpSpPr>
            <p:grpSpPr>
              <a:xfrm>
                <a:off x="4736" y="1636"/>
                <a:ext cx="576" cy="143"/>
                <a:chOff x="615" y="2576"/>
                <a:chExt cx="718" cy="132"/>
              </a:xfrm>
            </p:grpSpPr>
            <p:sp>
              <p:nvSpPr>
                <p:cNvPr id="9241" name="Google Shape;9241;p118"/>
                <p:cNvSpPr/>
                <p:nvPr/>
              </p:nvSpPr>
              <p:spPr>
                <a:xfrm>
                  <a:off x="615" y="2576"/>
                  <a:ext cx="718" cy="13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2" name="Google Shape;9242;p118"/>
                <p:cNvSpPr/>
                <p:nvPr/>
              </p:nvSpPr>
              <p:spPr>
                <a:xfrm>
                  <a:off x="630" y="2592"/>
                  <a:ext cx="687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43" name="Google Shape;9243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44" name="Google Shape;9244;p118"/>
              <p:cNvGrpSpPr/>
              <p:nvPr/>
            </p:nvGrpSpPr>
            <p:grpSpPr>
              <a:xfrm>
                <a:off x="4748" y="1325"/>
                <a:ext cx="582" cy="149"/>
                <a:chOff x="625" y="2566"/>
                <a:chExt cx="725" cy="149"/>
              </a:xfrm>
            </p:grpSpPr>
            <p:sp>
              <p:nvSpPr>
                <p:cNvPr id="9245" name="Google Shape;9245;p118"/>
                <p:cNvSpPr/>
                <p:nvPr/>
              </p:nvSpPr>
              <p:spPr>
                <a:xfrm>
                  <a:off x="625" y="2566"/>
                  <a:ext cx="725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6" name="Google Shape;9246;p118"/>
                <p:cNvSpPr/>
                <p:nvPr/>
              </p:nvSpPr>
              <p:spPr>
                <a:xfrm>
                  <a:off x="633" y="2584"/>
                  <a:ext cx="694" cy="11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47" name="Google Shape;9247;p118"/>
              <p:cNvSpPr/>
              <p:nvPr/>
            </p:nvSpPr>
            <p:spPr>
              <a:xfrm>
                <a:off x="5250" y="435"/>
                <a:ext cx="68" cy="228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8" name="Google Shape;9248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9" name="Google Shape;9249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0" name="Google Shape;9250;p118"/>
              <p:cNvSpPr/>
              <p:nvPr/>
            </p:nvSpPr>
            <p:spPr>
              <a:xfrm>
                <a:off x="5516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1" name="Google Shape;9251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2" name="Google Shape;9252;p118"/>
              <p:cNvSpPr/>
              <p:nvPr/>
            </p:nvSpPr>
            <p:spPr>
              <a:xfrm>
                <a:off x="4141" y="2680"/>
                <a:ext cx="1202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3" name="Google Shape;9253;p118"/>
              <p:cNvSpPr/>
              <p:nvPr/>
            </p:nvSpPr>
            <p:spPr>
              <a:xfrm>
                <a:off x="4203" y="2710"/>
                <a:ext cx="1078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4" name="Google Shape;9254;p118"/>
              <p:cNvSpPr/>
              <p:nvPr/>
            </p:nvSpPr>
            <p:spPr>
              <a:xfrm>
                <a:off x="4308" y="2382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5" name="Google Shape;9255;p118"/>
              <p:cNvSpPr/>
              <p:nvPr/>
            </p:nvSpPr>
            <p:spPr>
              <a:xfrm>
                <a:off x="4488" y="2382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6" name="Google Shape;9256;p118"/>
              <p:cNvSpPr/>
              <p:nvPr/>
            </p:nvSpPr>
            <p:spPr>
              <a:xfrm>
                <a:off x="4661" y="2382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7" name="Google Shape;9257;p118"/>
              <p:cNvSpPr/>
              <p:nvPr/>
            </p:nvSpPr>
            <p:spPr>
              <a:xfrm>
                <a:off x="5064" y="1832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8" name="Google Shape;9258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grpSp>
        <p:nvGrpSpPr>
          <p:cNvPr id="9259" name="Google Shape;9259;p118"/>
          <p:cNvGrpSpPr/>
          <p:nvPr/>
        </p:nvGrpSpPr>
        <p:grpSpPr>
          <a:xfrm>
            <a:off x="7966126" y="4447601"/>
            <a:ext cx="1376362" cy="1355725"/>
            <a:chOff x="7030938" y="1184076"/>
            <a:chExt cx="1375947" cy="1355492"/>
          </a:xfrm>
        </p:grpSpPr>
        <p:sp>
          <p:nvSpPr>
            <p:cNvPr id="9260" name="Google Shape;9260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61" name="Google Shape;9261;p118"/>
            <p:cNvGrpSpPr/>
            <p:nvPr/>
          </p:nvGrpSpPr>
          <p:grpSpPr>
            <a:xfrm>
              <a:off x="7191141" y="1666633"/>
              <a:ext cx="365020" cy="636487"/>
              <a:chOff x="4140" y="433"/>
              <a:chExt cx="1423" cy="2392"/>
            </a:xfrm>
          </p:grpSpPr>
          <p:sp>
            <p:nvSpPr>
              <p:cNvPr id="9262" name="Google Shape;9262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3" name="Google Shape;9263;p118"/>
              <p:cNvSpPr/>
              <p:nvPr/>
            </p:nvSpPr>
            <p:spPr>
              <a:xfrm>
                <a:off x="4202" y="433"/>
                <a:ext cx="1052" cy="2279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4" name="Google Shape;9264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5" name="Google Shape;9265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6" name="Google Shape;9266;p118"/>
              <p:cNvSpPr/>
              <p:nvPr/>
            </p:nvSpPr>
            <p:spPr>
              <a:xfrm>
                <a:off x="4215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67" name="Google Shape;9267;p118"/>
              <p:cNvGrpSpPr/>
              <p:nvPr/>
            </p:nvGrpSpPr>
            <p:grpSpPr>
              <a:xfrm>
                <a:off x="4747" y="671"/>
                <a:ext cx="582" cy="131"/>
                <a:chOff x="611" y="2571"/>
                <a:chExt cx="726" cy="126"/>
              </a:xfrm>
            </p:grpSpPr>
            <p:sp>
              <p:nvSpPr>
                <p:cNvPr id="9268" name="Google Shape;9268;p118"/>
                <p:cNvSpPr/>
                <p:nvPr/>
              </p:nvSpPr>
              <p:spPr>
                <a:xfrm>
                  <a:off x="611" y="2571"/>
                  <a:ext cx="726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69" name="Google Shape;9269;p118"/>
                <p:cNvSpPr/>
                <p:nvPr/>
              </p:nvSpPr>
              <p:spPr>
                <a:xfrm>
                  <a:off x="627" y="2583"/>
                  <a:ext cx="695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0" name="Google Shape;9270;p118"/>
              <p:cNvSpPr/>
              <p:nvPr/>
            </p:nvSpPr>
            <p:spPr>
              <a:xfrm>
                <a:off x="4227" y="1023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71" name="Google Shape;9271;p118"/>
              <p:cNvGrpSpPr/>
              <p:nvPr/>
            </p:nvGrpSpPr>
            <p:grpSpPr>
              <a:xfrm>
                <a:off x="4747" y="1000"/>
                <a:ext cx="582" cy="125"/>
                <a:chOff x="614" y="2574"/>
                <a:chExt cx="726" cy="130"/>
              </a:xfrm>
            </p:grpSpPr>
            <p:sp>
              <p:nvSpPr>
                <p:cNvPr id="9272" name="Google Shape;9272;p118"/>
                <p:cNvSpPr/>
                <p:nvPr/>
              </p:nvSpPr>
              <p:spPr>
                <a:xfrm>
                  <a:off x="614" y="2574"/>
                  <a:ext cx="726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3" name="Google Shape;9273;p118"/>
                <p:cNvSpPr/>
                <p:nvPr/>
              </p:nvSpPr>
              <p:spPr>
                <a:xfrm>
                  <a:off x="629" y="2592"/>
                  <a:ext cx="695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4" name="Google Shape;9274;p118"/>
              <p:cNvSpPr/>
              <p:nvPr/>
            </p:nvSpPr>
            <p:spPr>
              <a:xfrm>
                <a:off x="4215" y="1357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5" name="Google Shape;9275;p118"/>
              <p:cNvSpPr/>
              <p:nvPr/>
            </p:nvSpPr>
            <p:spPr>
              <a:xfrm>
                <a:off x="4227" y="1656"/>
                <a:ext cx="600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76" name="Google Shape;9276;p118"/>
              <p:cNvGrpSpPr/>
              <p:nvPr/>
            </p:nvGrpSpPr>
            <p:grpSpPr>
              <a:xfrm>
                <a:off x="4734" y="1631"/>
                <a:ext cx="576" cy="137"/>
                <a:chOff x="613" y="2572"/>
                <a:chExt cx="717" cy="126"/>
              </a:xfrm>
            </p:grpSpPr>
            <p:sp>
              <p:nvSpPr>
                <p:cNvPr id="9277" name="Google Shape;9277;p118"/>
                <p:cNvSpPr/>
                <p:nvPr/>
              </p:nvSpPr>
              <p:spPr>
                <a:xfrm>
                  <a:off x="613" y="2572"/>
                  <a:ext cx="717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8" name="Google Shape;9278;p118"/>
                <p:cNvSpPr/>
                <p:nvPr/>
              </p:nvSpPr>
              <p:spPr>
                <a:xfrm>
                  <a:off x="629" y="2589"/>
                  <a:ext cx="686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9" name="Google Shape;9279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80" name="Google Shape;9280;p118"/>
              <p:cNvGrpSpPr/>
              <p:nvPr/>
            </p:nvGrpSpPr>
            <p:grpSpPr>
              <a:xfrm>
                <a:off x="4741" y="1328"/>
                <a:ext cx="581" cy="143"/>
                <a:chOff x="616" y="2569"/>
                <a:chExt cx="724" cy="143"/>
              </a:xfrm>
            </p:grpSpPr>
            <p:sp>
              <p:nvSpPr>
                <p:cNvPr id="9281" name="Google Shape;9281;p118"/>
                <p:cNvSpPr/>
                <p:nvPr/>
              </p:nvSpPr>
              <p:spPr>
                <a:xfrm>
                  <a:off x="616" y="2569"/>
                  <a:ext cx="724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2" name="Google Shape;9282;p118"/>
                <p:cNvSpPr/>
                <p:nvPr/>
              </p:nvSpPr>
              <p:spPr>
                <a:xfrm>
                  <a:off x="631" y="2586"/>
                  <a:ext cx="694" cy="11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83" name="Google Shape;9283;p118"/>
              <p:cNvSpPr/>
              <p:nvPr/>
            </p:nvSpPr>
            <p:spPr>
              <a:xfrm>
                <a:off x="5248" y="433"/>
                <a:ext cx="68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4" name="Google Shape;9284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5" name="Google Shape;9285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6" name="Google Shape;9286;p118"/>
              <p:cNvSpPr/>
              <p:nvPr/>
            </p:nvSpPr>
            <p:spPr>
              <a:xfrm>
                <a:off x="5514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7" name="Google Shape;9287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8" name="Google Shape;9288;p118"/>
              <p:cNvSpPr/>
              <p:nvPr/>
            </p:nvSpPr>
            <p:spPr>
              <a:xfrm>
                <a:off x="4140" y="2682"/>
                <a:ext cx="1200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9" name="Google Shape;9289;p118"/>
              <p:cNvSpPr/>
              <p:nvPr/>
            </p:nvSpPr>
            <p:spPr>
              <a:xfrm>
                <a:off x="4202" y="2711"/>
                <a:ext cx="1077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0" name="Google Shape;9290;p118"/>
              <p:cNvSpPr/>
              <p:nvPr/>
            </p:nvSpPr>
            <p:spPr>
              <a:xfrm>
                <a:off x="4307" y="2383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1" name="Google Shape;9291;p118"/>
              <p:cNvSpPr/>
              <p:nvPr/>
            </p:nvSpPr>
            <p:spPr>
              <a:xfrm>
                <a:off x="4487" y="2383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2" name="Google Shape;9292;p118"/>
              <p:cNvSpPr/>
              <p:nvPr/>
            </p:nvSpPr>
            <p:spPr>
              <a:xfrm>
                <a:off x="4660" y="2383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3" name="Google Shape;9293;p118"/>
              <p:cNvSpPr/>
              <p:nvPr/>
            </p:nvSpPr>
            <p:spPr>
              <a:xfrm>
                <a:off x="5062" y="1835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94" name="Google Shape;9294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cxnSp>
        <p:nvCxnSpPr>
          <p:cNvPr id="9295" name="Google Shape;9295;p118"/>
          <p:cNvCxnSpPr/>
          <p:nvPr/>
        </p:nvCxnSpPr>
        <p:spPr>
          <a:xfrm rot="10800000">
            <a:off x="5509310" y="2754538"/>
            <a:ext cx="3175" cy="23526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296" name="Google Shape;9296;p118"/>
          <p:cNvGrpSpPr/>
          <p:nvPr/>
        </p:nvGrpSpPr>
        <p:grpSpPr>
          <a:xfrm>
            <a:off x="5403711" y="4070974"/>
            <a:ext cx="313443" cy="369887"/>
            <a:chOff x="1628337" y="4280420"/>
            <a:chExt cx="313454" cy="369332"/>
          </a:xfrm>
        </p:grpSpPr>
        <p:sp>
          <p:nvSpPr>
            <p:cNvPr id="9297" name="Google Shape;9297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8" name="Google Shape;9298;p118"/>
            <p:cNvSpPr txBox="1"/>
            <p:nvPr/>
          </p:nvSpPr>
          <p:spPr>
            <a:xfrm>
              <a:off x="1628747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9299" name="Google Shape;9299;p118"/>
          <p:cNvGrpSpPr/>
          <p:nvPr/>
        </p:nvGrpSpPr>
        <p:grpSpPr>
          <a:xfrm>
            <a:off x="6589730" y="5116123"/>
            <a:ext cx="313033" cy="368300"/>
            <a:chOff x="1624009" y="4280420"/>
            <a:chExt cx="313044" cy="369332"/>
          </a:xfrm>
        </p:grpSpPr>
        <p:sp>
          <p:nvSpPr>
            <p:cNvPr id="9300" name="Google Shape;9300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1" name="Google Shape;9301;p118"/>
            <p:cNvSpPr txBox="1"/>
            <p:nvPr/>
          </p:nvSpPr>
          <p:spPr>
            <a:xfrm>
              <a:off x="1624009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9302" name="Google Shape;9302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6" name="Shape 9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7" name="Google Shape;9307;p11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4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308" name="Google Shape;9308;p1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Additional Materials</a:t>
            </a:r>
            <a:endParaRPr/>
          </a:p>
        </p:txBody>
      </p:sp>
      <p:sp>
        <p:nvSpPr>
          <p:cNvPr id="9309" name="Google Shape;9309;p1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4" name="Shape 9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5" name="Google Shape;9315;p1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40"/>
              <a:buFont typeface="Calibri"/>
              <a:buNone/>
            </a:pPr>
            <a:r>
              <a:rPr lang="en-US" sz="3240"/>
              <a:t>Representational State Transfer (REST): </a:t>
            </a:r>
            <a:br>
              <a:rPr lang="en-US" sz="3240"/>
            </a:br>
            <a:r>
              <a:rPr lang="en-US" sz="3240"/>
              <a:t>Representing Information in Web 2.0 Applications</a:t>
            </a:r>
            <a:endParaRPr/>
          </a:p>
        </p:txBody>
      </p:sp>
      <p:sp>
        <p:nvSpPr>
          <p:cNvPr id="9316" name="Google Shape;9316;p1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0" name="Shape 9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1" name="Google Shape;9321;p12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2" name="Google Shape;9322;p12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Hypertext Transfer Protocol (HTTP)</a:t>
            </a:r>
            <a:endParaRPr/>
          </a:p>
        </p:txBody>
      </p:sp>
      <p:sp>
        <p:nvSpPr>
          <p:cNvPr id="9323" name="Google Shape;9323;p12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2250" lvl="0" marL="3524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A communications protocol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Allows retrieving inter-linked text documents (hypertext) 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/>
              <a:t>World Wide Web.</a:t>
            </a:r>
            <a:endParaRPr/>
          </a:p>
          <a:p>
            <a:pPr indent="-83756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HTTP Verbs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HEAD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800"/>
              <a:t>GET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800"/>
              <a:t>POST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PUT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DELETE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TRACE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OPTIONS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CONNECT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</p:txBody>
      </p:sp>
      <p:sp>
        <p:nvSpPr>
          <p:cNvPr id="9324" name="Google Shape;9324;p121"/>
          <p:cNvSpPr txBox="1"/>
          <p:nvPr/>
        </p:nvSpPr>
        <p:spPr>
          <a:xfrm>
            <a:off x="5067300" y="3909060"/>
            <a:ext cx="1097280" cy="8586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/>
          </a:p>
        </p:txBody>
      </p:sp>
      <p:sp>
        <p:nvSpPr>
          <p:cNvPr id="9325" name="Google Shape;9325;p121"/>
          <p:cNvSpPr txBox="1"/>
          <p:nvPr/>
        </p:nvSpPr>
        <p:spPr>
          <a:xfrm>
            <a:off x="8839200" y="3909060"/>
            <a:ext cx="1251585" cy="8229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Server</a:t>
            </a:r>
            <a:endParaRPr/>
          </a:p>
        </p:txBody>
      </p:sp>
      <p:cxnSp>
        <p:nvCxnSpPr>
          <p:cNvPr id="9326" name="Google Shape;9326;p121"/>
          <p:cNvCxnSpPr/>
          <p:nvPr/>
        </p:nvCxnSpPr>
        <p:spPr>
          <a:xfrm>
            <a:off x="6164580" y="4046220"/>
            <a:ext cx="26746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27" name="Google Shape;9327;p121"/>
          <p:cNvSpPr txBox="1"/>
          <p:nvPr/>
        </p:nvSpPr>
        <p:spPr>
          <a:xfrm>
            <a:off x="6370320" y="3566160"/>
            <a:ext cx="2194560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/index.html HTTP/1.1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Host: www.pitt.edu</a:t>
            </a:r>
            <a:endParaRPr/>
          </a:p>
        </p:txBody>
      </p:sp>
      <p:cxnSp>
        <p:nvCxnSpPr>
          <p:cNvPr id="9328" name="Google Shape;9328;p121"/>
          <p:cNvCxnSpPr/>
          <p:nvPr/>
        </p:nvCxnSpPr>
        <p:spPr>
          <a:xfrm rot="10800000">
            <a:off x="6164580" y="4457700"/>
            <a:ext cx="26746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29" name="Google Shape;9329;p121"/>
          <p:cNvSpPr txBox="1"/>
          <p:nvPr/>
        </p:nvSpPr>
        <p:spPr>
          <a:xfrm>
            <a:off x="6507481" y="4526280"/>
            <a:ext cx="1768689" cy="867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HTTP/1.1 200 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Content-Type: text/html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&lt;html&gt;&lt;head&gt;…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4" name="Shape 9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5" name="Google Shape;9335;p122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6" name="Google Shape;9336;p1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40"/>
              <a:buFont typeface="Calibri"/>
              <a:buNone/>
            </a:pPr>
            <a:r>
              <a:rPr lang="en-US" sz="3240"/>
              <a:t>Representational State Transfer (REST)</a:t>
            </a:r>
            <a:endParaRPr/>
          </a:p>
        </p:txBody>
      </p:sp>
      <p:sp>
        <p:nvSpPr>
          <p:cNvPr id="9337" name="Google Shape;9337;p12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style of software architecture for distributed hypermedia systems such as the World Wide Web. 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Introduced in the doctoral dissertation of Roy Fielding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One of the principal authors of the HTTP specification.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collection of network architecture principles which outline how resources are defined and addressed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1" name="Shape 9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2" name="Google Shape;9342;p123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3" name="Google Shape;9343;p1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and HTTP</a:t>
            </a:r>
            <a:endParaRPr/>
          </a:p>
        </p:txBody>
      </p:sp>
      <p:sp>
        <p:nvSpPr>
          <p:cNvPr id="9344" name="Google Shape;9344;p12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motivation for REST was to capture the characteristics of the Web which made the Web successful. 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URI Addressable resources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HTTP Protocol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Make a Request – Receive Response – Display Response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Exploits the use of the HTTP protocol beyond HTTP POST and HTTP GET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HTTP PUT, HTTP DELETE</a:t>
            </a:r>
            <a:endParaRPr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8" name="Shape 9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" name="Google Shape;9349;p124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0" name="Google Shape;9350;p12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- not a Standard</a:t>
            </a:r>
            <a:endParaRPr/>
          </a:p>
        </p:txBody>
      </p:sp>
      <p:sp>
        <p:nvSpPr>
          <p:cNvPr id="9351" name="Google Shape;9351;p12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REST is not a standard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JSR 311: JAX-RS: The Java</a:t>
            </a:r>
            <a:r>
              <a:rPr baseline="30000" lang="en-US" sz="1979"/>
              <a:t>TM</a:t>
            </a:r>
            <a:r>
              <a:rPr lang="en-US" sz="1979"/>
              <a:t> API for RESTful Web Services</a:t>
            </a:r>
            <a:endParaRPr sz="1620"/>
          </a:p>
          <a:p>
            <a:pPr indent="-1174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But it uses several standards: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HTTP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URL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XML/HTML/GIF/JPEG/etc (Resource Representations)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text/xml, text/html, image/gif, image/jpeg, etc  (Resource Types, MIME Types)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6" name="Shape 9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7" name="Google Shape;9357;p125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8" name="Google Shape;9358;p12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Main Concepts</a:t>
            </a:r>
            <a:endParaRPr/>
          </a:p>
        </p:txBody>
      </p:sp>
      <p:sp>
        <p:nvSpPr>
          <p:cNvPr id="9359" name="Google Shape;9359;p125"/>
          <p:cNvSpPr/>
          <p:nvPr/>
        </p:nvSpPr>
        <p:spPr>
          <a:xfrm>
            <a:off x="4655820" y="2700338"/>
            <a:ext cx="3040380" cy="2511743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30"/>
              <a:buFont typeface="Noto Sans Symbols"/>
              <a:buNone/>
            </a:pPr>
            <a:r>
              <a:t/>
            </a:r>
            <a:endParaRPr sz="2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0" name="Google Shape;9360;p125"/>
          <p:cNvSpPr txBox="1"/>
          <p:nvPr/>
        </p:nvSpPr>
        <p:spPr>
          <a:xfrm>
            <a:off x="4724400" y="1675925"/>
            <a:ext cx="4879856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Nouns (Resources)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unconstrained</a:t>
            </a:r>
            <a:b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http://example.com/employees/12345</a:t>
            </a:r>
            <a:endParaRPr/>
          </a:p>
        </p:txBody>
      </p:sp>
      <p:sp>
        <p:nvSpPr>
          <p:cNvPr id="9361" name="Google Shape;9361;p125"/>
          <p:cNvSpPr txBox="1"/>
          <p:nvPr/>
        </p:nvSpPr>
        <p:spPr>
          <a:xfrm>
            <a:off x="3078480" y="5074920"/>
            <a:ext cx="1495916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Verbs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constrained</a:t>
            </a:r>
            <a:b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GET</a:t>
            </a:r>
            <a:endParaRPr/>
          </a:p>
        </p:txBody>
      </p:sp>
      <p:sp>
        <p:nvSpPr>
          <p:cNvPr id="9362" name="Google Shape;9362;p125"/>
          <p:cNvSpPr txBox="1"/>
          <p:nvPr/>
        </p:nvSpPr>
        <p:spPr>
          <a:xfrm>
            <a:off x="7810500" y="5074920"/>
            <a:ext cx="2175590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Representations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constrained</a:t>
            </a:r>
            <a:b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XML</a:t>
            </a:r>
            <a:endParaRPr/>
          </a:p>
        </p:txBody>
      </p:sp>
      <p:sp>
        <p:nvSpPr>
          <p:cNvPr id="9363" name="Google Shape;9363;p125"/>
          <p:cNvSpPr txBox="1"/>
          <p:nvPr/>
        </p:nvSpPr>
        <p:spPr>
          <a:xfrm>
            <a:off x="5615940" y="3909060"/>
            <a:ext cx="909544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7" name="Shape 9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8" name="Google Shape;9368;p126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9" name="Google Shape;9369;p12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9370" name="Google Shape;9370;p12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key abstraction of information in REST is a resource.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resource is a conceptual mapping to a set of entities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Any information that can be named can be a resource: a document or image, a temporal service (e.g. "today's weather in Los Angeles"), a collection of other resources, a non-virtual object (e.g. a person), and so on</a:t>
            </a:r>
            <a:endParaRPr/>
          </a:p>
          <a:p>
            <a:pPr indent="-9461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216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Represented with a global identifier (URI in HTTP)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http://www.boeing.com/aircraft/747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4" name="Shape 9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5" name="Google Shape;9375;p127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6" name="Google Shape;9376;p12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Naming Resources</a:t>
            </a:r>
            <a:endParaRPr/>
          </a:p>
        </p:txBody>
      </p:sp>
      <p:sp>
        <p:nvSpPr>
          <p:cNvPr id="9377" name="Google Shape;9377;p12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REST uses URI to identify resources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3"/>
              </a:rPr>
              <a:t>http://localhost/books/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4"/>
              </a:rPr>
              <a:t>http://localhost/books/ISBN-0011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5"/>
              </a:rPr>
              <a:t>http://localhost/books/ISBN-0011/authors</a:t>
            </a:r>
            <a:endParaRPr sz="1979"/>
          </a:p>
          <a:p>
            <a:pPr indent="-106044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6"/>
              </a:rPr>
              <a:t>http://localhost/classes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7"/>
              </a:rPr>
              <a:t>http://localhost/classes/cs2650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8"/>
              </a:rPr>
              <a:t>http://localhost/classes/cs2650/students</a:t>
            </a:r>
            <a:endParaRPr sz="1979"/>
          </a:p>
          <a:p>
            <a:pPr indent="-106044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979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As you traverse the path from more generic to more specific, you are navigating the data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1" name="Shape 9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2" name="Google Shape;9382;p128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3" name="Google Shape;9383;p12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Verbs</a:t>
            </a:r>
            <a:endParaRPr/>
          </a:p>
        </p:txBody>
      </p:sp>
      <p:sp>
        <p:nvSpPr>
          <p:cNvPr id="9384" name="Google Shape;9384;p12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 the actions to be performed on resources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GET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POST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PUT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DELETE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8" name="Shape 9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9" name="Google Shape;9389;p129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0" name="Google Shape;9390;p12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GET</a:t>
            </a:r>
            <a:endParaRPr/>
          </a:p>
        </p:txBody>
      </p:sp>
      <p:sp>
        <p:nvSpPr>
          <p:cNvPr id="9391" name="Google Shape;9391;p12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How clients ask for the information they seek.</a:t>
            </a:r>
            <a:endParaRPr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Issuing a GET request transfers the data from the server to the client in some representation</a:t>
            </a:r>
            <a:endParaRPr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http://localhost/books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all books</a:t>
            </a:r>
            <a:endParaRPr/>
          </a:p>
          <a:p>
            <a:pPr indent="-131381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71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http://localhost/books/ISBN-0011021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book identified with ISBN-0011021</a:t>
            </a:r>
            <a:endParaRPr/>
          </a:p>
          <a:p>
            <a:pPr indent="-131381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71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http://localhost/books/ISBN-0011021/authors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authors for book identified with ISBN-0011021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5" name="Shape 9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6" name="Google Shape;9396;p130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7" name="Google Shape;9397;p13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PUT, HTTP POST</a:t>
            </a:r>
            <a:endParaRPr/>
          </a:p>
        </p:txBody>
      </p:sp>
      <p:sp>
        <p:nvSpPr>
          <p:cNvPr id="9398" name="Google Shape;9398;p130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POST creates a resource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PUT updates a resource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POST </a:t>
            </a:r>
            <a:r>
              <a:rPr lang="en-US" sz="2520" u="sng">
                <a:solidFill>
                  <a:schemeClr val="hlink"/>
                </a:solidFill>
                <a:hlinkClick r:id="rId3"/>
              </a:rPr>
              <a:t>http://localhost/books/</a:t>
            </a:r>
            <a:r>
              <a:rPr lang="en-US" sz="2520"/>
              <a:t> 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Content: {title, authors[], …}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Creates a new book with given properties</a:t>
            </a:r>
            <a:endParaRPr/>
          </a:p>
          <a:p>
            <a:pPr indent="-1174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PUT </a:t>
            </a:r>
            <a:r>
              <a:rPr lang="en-US" sz="2520" u="sng">
                <a:solidFill>
                  <a:schemeClr val="hlink"/>
                </a:solidFill>
                <a:hlinkClick r:id="rId4"/>
              </a:rPr>
              <a:t>http://localhost/books/isbn-111</a:t>
            </a:r>
            <a:r>
              <a:rPr lang="en-US" sz="2520"/>
              <a:t>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Content: {isbn, title, authors[], …}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Updates book identified by isbn-111 with submitted properties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2" name="Shape 9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3" name="Google Shape;9403;p13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4" name="Google Shape;9404;p13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DELETE</a:t>
            </a:r>
            <a:endParaRPr/>
          </a:p>
        </p:txBody>
      </p:sp>
      <p:sp>
        <p:nvSpPr>
          <p:cNvPr id="9405" name="Google Shape;9405;p13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Removes the resource identified by the URI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DELETE </a:t>
            </a:r>
            <a:r>
              <a:rPr lang="en-US" sz="2520" u="sng">
                <a:solidFill>
                  <a:schemeClr val="hlink"/>
                </a:solidFill>
                <a:hlinkClick r:id="rId3"/>
              </a:rPr>
              <a:t>http://localhost/books/ISBN-0011</a:t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Delete book identified by ISBN-0011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9" name="Shape 9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" name="Google Shape;9410;p132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1" name="Google Shape;9411;p1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Representations</a:t>
            </a:r>
            <a:endParaRPr/>
          </a:p>
        </p:txBody>
      </p:sp>
      <p:sp>
        <p:nvSpPr>
          <p:cNvPr id="9412" name="Google Shape;9412;p13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How data is represented or returned to the client for presentation.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Two main formats: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JavaScript Object Notation (JSON)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XML</a:t>
            </a:r>
            <a:endParaRPr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It is common to have multiple representations of the same data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6" name="Shape 9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7" name="Google Shape;9417;p133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8" name="Google Shape;9418;p13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Representations</a:t>
            </a:r>
            <a:endParaRPr/>
          </a:p>
        </p:txBody>
      </p:sp>
      <p:sp>
        <p:nvSpPr>
          <p:cNvPr id="9419" name="Google Shape;9419;p13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XML</a:t>
            </a:r>
            <a:endParaRPr/>
          </a:p>
          <a:p>
            <a:pPr indent="-13080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44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&lt;COURSE&gt;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&lt;ID&gt;CS2650&lt;/ID&gt;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&lt;NAME&gt;Distributed Multimedia Software&lt;/NAME&gt;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&lt;/COURSE&gt;</a:t>
            </a:r>
            <a:endParaRPr/>
          </a:p>
          <a:p>
            <a:pPr indent="-15176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26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JSON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{course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{id: CS2650}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{name: Distributed Multimedia Sofware}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}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3" name="Shape 9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" name="Google Shape;9424;p134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5" name="Google Shape;9425;p13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is it called </a:t>
            </a:r>
            <a:br>
              <a:rPr lang="en-US"/>
            </a:br>
            <a:r>
              <a:rPr lang="en-US"/>
              <a:t>"Representational State Transfer"?</a:t>
            </a:r>
            <a:endParaRPr/>
          </a:p>
        </p:txBody>
      </p:sp>
      <p:sp>
        <p:nvSpPr>
          <p:cNvPr id="9426" name="Google Shape;9426;p134"/>
          <p:cNvSpPr/>
          <p:nvPr/>
        </p:nvSpPr>
        <p:spPr>
          <a:xfrm>
            <a:off x="7840504" y="2001679"/>
            <a:ext cx="1558766" cy="1471613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</a:t>
            </a:r>
            <a:endParaRPr/>
          </a:p>
        </p:txBody>
      </p:sp>
      <p:sp>
        <p:nvSpPr>
          <p:cNvPr id="9427" name="Google Shape;9427;p134"/>
          <p:cNvSpPr/>
          <p:nvPr/>
        </p:nvSpPr>
        <p:spPr>
          <a:xfrm>
            <a:off x="2681288" y="2244567"/>
            <a:ext cx="1284447" cy="10258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/>
          </a:p>
        </p:txBody>
      </p:sp>
      <p:cxnSp>
        <p:nvCxnSpPr>
          <p:cNvPr id="9428" name="Google Shape;9428;p134"/>
          <p:cNvCxnSpPr/>
          <p:nvPr/>
        </p:nvCxnSpPr>
        <p:spPr>
          <a:xfrm>
            <a:off x="3965735" y="2691765"/>
            <a:ext cx="37961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9" name="Google Shape;9429;p134"/>
          <p:cNvSpPr txBox="1"/>
          <p:nvPr/>
        </p:nvSpPr>
        <p:spPr>
          <a:xfrm>
            <a:off x="4091464" y="2340293"/>
            <a:ext cx="3503906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http://www.boeing.com/aircraft/747</a:t>
            </a:r>
            <a:endParaRPr/>
          </a:p>
        </p:txBody>
      </p:sp>
      <p:cxnSp>
        <p:nvCxnSpPr>
          <p:cNvPr id="9430" name="Google Shape;9430;p134"/>
          <p:cNvCxnSpPr/>
          <p:nvPr/>
        </p:nvCxnSpPr>
        <p:spPr>
          <a:xfrm rot="10800000">
            <a:off x="3995738" y="2851785"/>
            <a:ext cx="382333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1" name="Google Shape;9431;p134"/>
          <p:cNvCxnSpPr/>
          <p:nvPr/>
        </p:nvCxnSpPr>
        <p:spPr>
          <a:xfrm>
            <a:off x="4977289" y="2883218"/>
            <a:ext cx="0" cy="103727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2" name="Google Shape;9432;p134"/>
          <p:cNvCxnSpPr/>
          <p:nvPr/>
        </p:nvCxnSpPr>
        <p:spPr>
          <a:xfrm>
            <a:off x="6743224" y="3034665"/>
            <a:ext cx="0" cy="103870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3" name="Google Shape;9433;p134"/>
          <p:cNvSpPr txBox="1"/>
          <p:nvPr/>
        </p:nvSpPr>
        <p:spPr>
          <a:xfrm>
            <a:off x="4970145" y="4071938"/>
            <a:ext cx="1678663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Boeing747.html</a:t>
            </a:r>
            <a:endParaRPr/>
          </a:p>
        </p:txBody>
      </p:sp>
      <p:sp>
        <p:nvSpPr>
          <p:cNvPr id="9434" name="Google Shape;9434;p134"/>
          <p:cNvSpPr/>
          <p:nvPr/>
        </p:nvSpPr>
        <p:spPr>
          <a:xfrm>
            <a:off x="4870133" y="2847500"/>
            <a:ext cx="1851660" cy="252888"/>
          </a:xfrm>
          <a:custGeom>
            <a:rect b="b" l="l" r="r" t="t"/>
            <a:pathLst>
              <a:path extrusionOk="0" h="159" w="1166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5" name="Google Shape;9435;p134"/>
          <p:cNvSpPr/>
          <p:nvPr/>
        </p:nvSpPr>
        <p:spPr>
          <a:xfrm>
            <a:off x="4864418" y="3880485"/>
            <a:ext cx="1850232" cy="251460"/>
          </a:xfrm>
          <a:custGeom>
            <a:rect b="b" l="l" r="r" t="t"/>
            <a:pathLst>
              <a:path extrusionOk="0" h="159" w="1166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6" name="Google Shape;9436;p134"/>
          <p:cNvSpPr txBox="1"/>
          <p:nvPr/>
        </p:nvSpPr>
        <p:spPr>
          <a:xfrm>
            <a:off x="2244090" y="4657725"/>
            <a:ext cx="7829550" cy="1421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Client references a Web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using a URL.  A 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resource is returned (in this case as an HTML document).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representation (e.g., Boeing747.html) places the client application in a 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The result of the client traversing a hyperlink in Boeing747.html is another resource accessed.  The new representation places the client application into yet another state.  Thus, the client application changes (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s) state with each resource representation --&gt; Representation State Transfer!</a:t>
            </a:r>
            <a:endParaRPr/>
          </a:p>
        </p:txBody>
      </p:sp>
      <p:sp>
        <p:nvSpPr>
          <p:cNvPr id="9437" name="Google Shape;9437;p134"/>
          <p:cNvSpPr txBox="1"/>
          <p:nvPr/>
        </p:nvSpPr>
        <p:spPr>
          <a:xfrm>
            <a:off x="4998721" y="3174683"/>
            <a:ext cx="1832551" cy="75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u="sng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requirements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u="sng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schedule</a:t>
            </a:r>
            <a:endParaRPr sz="1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1" name="Shape 9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2" name="Google Shape;9442;p135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3" name="Google Shape;9443;p135"/>
          <p:cNvSpPr/>
          <p:nvPr/>
        </p:nvSpPr>
        <p:spPr>
          <a:xfrm>
            <a:off x="2209800" y="28717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D1D7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4" name="Google Shape;9444;p135"/>
          <p:cNvGrpSpPr/>
          <p:nvPr/>
        </p:nvGrpSpPr>
        <p:grpSpPr>
          <a:xfrm>
            <a:off x="2598420" y="1920240"/>
            <a:ext cx="897255" cy="407194"/>
            <a:chOff x="363" y="1476"/>
            <a:chExt cx="477" cy="257"/>
          </a:xfrm>
        </p:grpSpPr>
        <p:sp>
          <p:nvSpPr>
            <p:cNvPr id="9445" name="Google Shape;9445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6" name="Google Shape;9446;p135"/>
            <p:cNvSpPr txBox="1"/>
            <p:nvPr/>
          </p:nvSpPr>
          <p:spPr>
            <a:xfrm>
              <a:off x="363" y="1478"/>
              <a:ext cx="477" cy="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47" name="Google Shape;9447;p135"/>
          <p:cNvCxnSpPr/>
          <p:nvPr/>
        </p:nvCxnSpPr>
        <p:spPr>
          <a:xfrm>
            <a:off x="6627495" y="2288858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8" name="Google Shape;9448;p135"/>
          <p:cNvCxnSpPr/>
          <p:nvPr/>
        </p:nvCxnSpPr>
        <p:spPr>
          <a:xfrm>
            <a:off x="6623210" y="2668905"/>
            <a:ext cx="1041558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449" name="Google Shape;9449;p135"/>
          <p:cNvGrpSpPr/>
          <p:nvPr/>
        </p:nvGrpSpPr>
        <p:grpSpPr>
          <a:xfrm>
            <a:off x="2653258" y="2537460"/>
            <a:ext cx="787581" cy="408623"/>
            <a:chOff x="392" y="1476"/>
            <a:chExt cx="421" cy="257"/>
          </a:xfrm>
        </p:grpSpPr>
        <p:sp>
          <p:nvSpPr>
            <p:cNvPr id="9450" name="Google Shape;9450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1" name="Google Shape;9451;p135"/>
            <p:cNvSpPr txBox="1"/>
            <p:nvPr/>
          </p:nvSpPr>
          <p:spPr>
            <a:xfrm>
              <a:off x="392" y="1478"/>
              <a:ext cx="421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XML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52" name="Google Shape;9452;p135"/>
          <p:cNvGrpSpPr/>
          <p:nvPr/>
        </p:nvGrpSpPr>
        <p:grpSpPr>
          <a:xfrm>
            <a:off x="5857399" y="1975962"/>
            <a:ext cx="758666" cy="3777615"/>
            <a:chOff x="2778" y="1755"/>
            <a:chExt cx="478" cy="1156"/>
          </a:xfrm>
        </p:grpSpPr>
        <p:sp>
          <p:nvSpPr>
            <p:cNvPr id="9453" name="Google Shape;9453;p135"/>
            <p:cNvSpPr/>
            <p:nvPr/>
          </p:nvSpPr>
          <p:spPr>
            <a:xfrm>
              <a:off x="2778" y="1755"/>
              <a:ext cx="478" cy="115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4" name="Google Shape;9454;p135"/>
            <p:cNvSpPr txBox="1"/>
            <p:nvPr/>
          </p:nvSpPr>
          <p:spPr>
            <a:xfrm rot="-5400000">
              <a:off x="2597" y="2221"/>
              <a:ext cx="78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Web/Proxy Server</a:t>
              </a:r>
              <a:endParaRPr/>
            </a:p>
          </p:txBody>
        </p:sp>
      </p:grpSp>
      <p:grpSp>
        <p:nvGrpSpPr>
          <p:cNvPr id="9455" name="Google Shape;9455;p135"/>
          <p:cNvGrpSpPr/>
          <p:nvPr/>
        </p:nvGrpSpPr>
        <p:grpSpPr>
          <a:xfrm>
            <a:off x="7673340" y="2004537"/>
            <a:ext cx="1678782" cy="3739038"/>
            <a:chOff x="3634" y="2055"/>
            <a:chExt cx="1056" cy="489"/>
          </a:xfrm>
        </p:grpSpPr>
        <p:sp>
          <p:nvSpPr>
            <p:cNvPr id="9456" name="Google Shape;9456;p135"/>
            <p:cNvSpPr/>
            <p:nvPr/>
          </p:nvSpPr>
          <p:spPr>
            <a:xfrm>
              <a:off x="3634" y="2055"/>
              <a:ext cx="1056" cy="4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7" name="Google Shape;9457;p135"/>
            <p:cNvSpPr txBox="1"/>
            <p:nvPr/>
          </p:nvSpPr>
          <p:spPr>
            <a:xfrm>
              <a:off x="4103" y="2136"/>
              <a:ext cx="116" cy="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458" name="Google Shape;9458;p135"/>
          <p:cNvSpPr txBox="1"/>
          <p:nvPr/>
        </p:nvSpPr>
        <p:spPr>
          <a:xfrm>
            <a:off x="3479960" y="1955959"/>
            <a:ext cx="888379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GET</a:t>
            </a:r>
            <a:endParaRPr/>
          </a:p>
        </p:txBody>
      </p:sp>
      <p:sp>
        <p:nvSpPr>
          <p:cNvPr id="9459" name="Google Shape;9459;p135"/>
          <p:cNvSpPr txBox="1"/>
          <p:nvPr/>
        </p:nvSpPr>
        <p:spPr>
          <a:xfrm>
            <a:off x="4615816" y="2068830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60" name="Google Shape;9460;p135"/>
          <p:cNvCxnSpPr/>
          <p:nvPr/>
        </p:nvCxnSpPr>
        <p:spPr>
          <a:xfrm>
            <a:off x="5311617" y="2228850"/>
            <a:ext cx="5557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61" name="Google Shape;9461;p135"/>
          <p:cNvSpPr txBox="1"/>
          <p:nvPr/>
        </p:nvSpPr>
        <p:spPr>
          <a:xfrm>
            <a:off x="4707255" y="2577465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62" name="Google Shape;9462;p135"/>
          <p:cNvCxnSpPr/>
          <p:nvPr/>
        </p:nvCxnSpPr>
        <p:spPr>
          <a:xfrm>
            <a:off x="9372125" y="2268855"/>
            <a:ext cx="2128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63" name="Google Shape;9463;p135"/>
          <p:cNvSpPr/>
          <p:nvPr/>
        </p:nvSpPr>
        <p:spPr>
          <a:xfrm>
            <a:off x="9523572" y="2097405"/>
            <a:ext cx="758535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doGet()</a:t>
            </a:r>
            <a:endParaRPr/>
          </a:p>
        </p:txBody>
      </p:sp>
      <p:grpSp>
        <p:nvGrpSpPr>
          <p:cNvPr id="9464" name="Google Shape;9464;p135"/>
          <p:cNvGrpSpPr/>
          <p:nvPr/>
        </p:nvGrpSpPr>
        <p:grpSpPr>
          <a:xfrm>
            <a:off x="2639232" y="3223260"/>
            <a:ext cx="765626" cy="408623"/>
            <a:chOff x="381" y="1476"/>
            <a:chExt cx="440" cy="257"/>
          </a:xfrm>
        </p:grpSpPr>
        <p:sp>
          <p:nvSpPr>
            <p:cNvPr id="9465" name="Google Shape;9465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6" name="Google Shape;9466;p135"/>
            <p:cNvSpPr txBox="1"/>
            <p:nvPr/>
          </p:nvSpPr>
          <p:spPr>
            <a:xfrm>
              <a:off x="381" y="1478"/>
              <a:ext cx="44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67" name="Google Shape;9467;p135"/>
          <p:cNvGrpSpPr/>
          <p:nvPr/>
        </p:nvGrpSpPr>
        <p:grpSpPr>
          <a:xfrm>
            <a:off x="2579955" y="3840480"/>
            <a:ext cx="816586" cy="408623"/>
            <a:chOff x="384" y="1476"/>
            <a:chExt cx="437" cy="257"/>
          </a:xfrm>
        </p:grpSpPr>
        <p:sp>
          <p:nvSpPr>
            <p:cNvPr id="9468" name="Google Shape;9468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9" name="Google Shape;9469;p135"/>
            <p:cNvSpPr txBox="1"/>
            <p:nvPr/>
          </p:nvSpPr>
          <p:spPr>
            <a:xfrm>
              <a:off x="384" y="1478"/>
              <a:ext cx="43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JSON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70" name="Google Shape;9470;p135"/>
          <p:cNvCxnSpPr/>
          <p:nvPr/>
        </p:nvCxnSpPr>
        <p:spPr>
          <a:xfrm flipH="1" rot="10800000">
            <a:off x="3352800" y="3491865"/>
            <a:ext cx="1254443" cy="571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1" name="Google Shape;9471;p135"/>
          <p:cNvCxnSpPr/>
          <p:nvPr/>
        </p:nvCxnSpPr>
        <p:spPr>
          <a:xfrm rot="10800000">
            <a:off x="3352800" y="3977640"/>
            <a:ext cx="1414463" cy="1000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2" name="Google Shape;9472;p135"/>
          <p:cNvSpPr txBox="1"/>
          <p:nvPr/>
        </p:nvSpPr>
        <p:spPr>
          <a:xfrm>
            <a:off x="3479959" y="3223260"/>
            <a:ext cx="963719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POST</a:t>
            </a:r>
            <a:endParaRPr/>
          </a:p>
        </p:txBody>
      </p:sp>
      <p:sp>
        <p:nvSpPr>
          <p:cNvPr id="9473" name="Google Shape;9473;p135"/>
          <p:cNvSpPr txBox="1"/>
          <p:nvPr/>
        </p:nvSpPr>
        <p:spPr>
          <a:xfrm>
            <a:off x="4615816" y="3334703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74" name="Google Shape;9474;p135"/>
          <p:cNvCxnSpPr/>
          <p:nvPr/>
        </p:nvCxnSpPr>
        <p:spPr>
          <a:xfrm>
            <a:off x="5324475" y="3496152"/>
            <a:ext cx="542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5" name="Google Shape;9475;p135"/>
          <p:cNvSpPr txBox="1"/>
          <p:nvPr/>
        </p:nvSpPr>
        <p:spPr>
          <a:xfrm>
            <a:off x="4707255" y="3844767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76" name="Google Shape;9476;p135"/>
          <p:cNvCxnSpPr/>
          <p:nvPr/>
        </p:nvCxnSpPr>
        <p:spPr>
          <a:xfrm>
            <a:off x="9373553" y="3188970"/>
            <a:ext cx="2128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7" name="Google Shape;9477;p135"/>
          <p:cNvSpPr/>
          <p:nvPr/>
        </p:nvSpPr>
        <p:spPr>
          <a:xfrm>
            <a:off x="9525000" y="3017520"/>
            <a:ext cx="955705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doPost(id)</a:t>
            </a:r>
            <a:endParaRPr/>
          </a:p>
        </p:txBody>
      </p:sp>
      <p:cxnSp>
        <p:nvCxnSpPr>
          <p:cNvPr id="9478" name="Google Shape;9478;p135"/>
          <p:cNvCxnSpPr/>
          <p:nvPr/>
        </p:nvCxnSpPr>
        <p:spPr>
          <a:xfrm>
            <a:off x="6647498" y="3556159"/>
            <a:ext cx="104013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9" name="Google Shape;9479;p135"/>
          <p:cNvCxnSpPr/>
          <p:nvPr/>
        </p:nvCxnSpPr>
        <p:spPr>
          <a:xfrm>
            <a:off x="6641783" y="3934778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80" name="Google Shape;9480;p135"/>
          <p:cNvSpPr txBox="1"/>
          <p:nvPr/>
        </p:nvSpPr>
        <p:spPr>
          <a:xfrm>
            <a:off x="7793355" y="3223260"/>
            <a:ext cx="1457325" cy="1144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Engine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 resource and generate response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9481" name="Google Shape;9481;p135"/>
          <p:cNvGrpSpPr/>
          <p:nvPr/>
        </p:nvGrpSpPr>
        <p:grpSpPr>
          <a:xfrm>
            <a:off x="2596098" y="4526280"/>
            <a:ext cx="765186" cy="408623"/>
            <a:chOff x="398" y="1476"/>
            <a:chExt cx="408" cy="257"/>
          </a:xfrm>
        </p:grpSpPr>
        <p:sp>
          <p:nvSpPr>
            <p:cNvPr id="9482" name="Google Shape;9482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3" name="Google Shape;9483;p135"/>
            <p:cNvSpPr txBox="1"/>
            <p:nvPr/>
          </p:nvSpPr>
          <p:spPr>
            <a:xfrm>
              <a:off x="398" y="1478"/>
              <a:ext cx="4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84" name="Google Shape;9484;p135"/>
          <p:cNvCxnSpPr/>
          <p:nvPr/>
        </p:nvCxnSpPr>
        <p:spPr>
          <a:xfrm>
            <a:off x="3441383" y="4770597"/>
            <a:ext cx="1160145" cy="285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85" name="Google Shape;9485;p135"/>
          <p:cNvSpPr txBox="1"/>
          <p:nvPr/>
        </p:nvSpPr>
        <p:spPr>
          <a:xfrm>
            <a:off x="3475673" y="4503420"/>
            <a:ext cx="1162492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DELETE</a:t>
            </a:r>
            <a:endParaRPr/>
          </a:p>
        </p:txBody>
      </p:sp>
      <p:sp>
        <p:nvSpPr>
          <p:cNvPr id="9486" name="Google Shape;9486;p135"/>
          <p:cNvSpPr txBox="1"/>
          <p:nvPr/>
        </p:nvSpPr>
        <p:spPr>
          <a:xfrm>
            <a:off x="4611530" y="4616292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87" name="Google Shape;9487;p135"/>
          <p:cNvCxnSpPr/>
          <p:nvPr/>
        </p:nvCxnSpPr>
        <p:spPr>
          <a:xfrm>
            <a:off x="5320189" y="4776312"/>
            <a:ext cx="542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8" name="Google Shape;9488;p135"/>
          <p:cNvCxnSpPr/>
          <p:nvPr/>
        </p:nvCxnSpPr>
        <p:spPr>
          <a:xfrm>
            <a:off x="6641783" y="4807744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9" name="Google Shape;9489;p135"/>
          <p:cNvCxnSpPr/>
          <p:nvPr/>
        </p:nvCxnSpPr>
        <p:spPr>
          <a:xfrm>
            <a:off x="9387840" y="4183380"/>
            <a:ext cx="2128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0" name="Google Shape;9490;p135"/>
          <p:cNvSpPr/>
          <p:nvPr/>
        </p:nvSpPr>
        <p:spPr>
          <a:xfrm>
            <a:off x="9525000" y="3977640"/>
            <a:ext cx="973337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doDelete()</a:t>
            </a:r>
            <a:endParaRPr/>
          </a:p>
        </p:txBody>
      </p:sp>
      <p:grpSp>
        <p:nvGrpSpPr>
          <p:cNvPr id="9491" name="Google Shape;9491;p135"/>
          <p:cNvGrpSpPr/>
          <p:nvPr/>
        </p:nvGrpSpPr>
        <p:grpSpPr>
          <a:xfrm>
            <a:off x="2582985" y="5143500"/>
            <a:ext cx="837262" cy="407194"/>
            <a:chOff x="393" y="1476"/>
            <a:chExt cx="418" cy="257"/>
          </a:xfrm>
        </p:grpSpPr>
        <p:sp>
          <p:nvSpPr>
            <p:cNvPr id="9492" name="Google Shape;9492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3" name="Google Shape;9493;p135"/>
            <p:cNvSpPr txBox="1"/>
            <p:nvPr/>
          </p:nvSpPr>
          <p:spPr>
            <a:xfrm>
              <a:off x="393" y="1478"/>
              <a:ext cx="418" cy="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TEXT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94" name="Google Shape;9494;p135"/>
          <p:cNvCxnSpPr/>
          <p:nvPr/>
        </p:nvCxnSpPr>
        <p:spPr>
          <a:xfrm rot="10800000">
            <a:off x="3404235" y="5294948"/>
            <a:ext cx="1337310" cy="142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5" name="Google Shape;9495;p135"/>
          <p:cNvSpPr txBox="1"/>
          <p:nvPr/>
        </p:nvSpPr>
        <p:spPr>
          <a:xfrm>
            <a:off x="4681538" y="5153502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96" name="Google Shape;9496;p135"/>
          <p:cNvCxnSpPr/>
          <p:nvPr/>
        </p:nvCxnSpPr>
        <p:spPr>
          <a:xfrm>
            <a:off x="6616065" y="5243513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97" name="Google Shape;9497;p135"/>
          <p:cNvCxnSpPr/>
          <p:nvPr/>
        </p:nvCxnSpPr>
        <p:spPr>
          <a:xfrm rot="10800000">
            <a:off x="3395663" y="2696052"/>
            <a:ext cx="1338739" cy="142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98" name="Google Shape;9498;p135"/>
          <p:cNvCxnSpPr/>
          <p:nvPr/>
        </p:nvCxnSpPr>
        <p:spPr>
          <a:xfrm>
            <a:off x="3437097" y="2208848"/>
            <a:ext cx="1160145" cy="285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9" name="Google Shape;9499;p13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Architecture Style</a:t>
            </a:r>
            <a:endParaRPr/>
          </a:p>
        </p:txBody>
      </p:sp>
      <p:sp>
        <p:nvSpPr>
          <p:cNvPr id="9500" name="Google Shape;9500;p135"/>
          <p:cNvSpPr/>
          <p:nvPr/>
        </p:nvSpPr>
        <p:spPr>
          <a:xfrm>
            <a:off x="9867900" y="4869180"/>
            <a:ext cx="480060" cy="61722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1" name="Google Shape;9501;p135"/>
          <p:cNvSpPr/>
          <p:nvPr/>
        </p:nvSpPr>
        <p:spPr>
          <a:xfrm>
            <a:off x="10073640" y="5143500"/>
            <a:ext cx="480060" cy="617220"/>
          </a:xfrm>
          <a:prstGeom prst="can">
            <a:avLst>
              <a:gd fmla="val 3214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2" name="Google Shape;9502;p135"/>
          <p:cNvCxnSpPr/>
          <p:nvPr/>
        </p:nvCxnSpPr>
        <p:spPr>
          <a:xfrm>
            <a:off x="9319260" y="5074920"/>
            <a:ext cx="54864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6" name="Shape 9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7" name="Google Shape;9507;p136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8" name="Google Shape;9508;p1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Real Life Examples</a:t>
            </a:r>
            <a:endParaRPr/>
          </a:p>
        </p:txBody>
      </p:sp>
      <p:sp>
        <p:nvSpPr>
          <p:cNvPr id="9509" name="Google Shape;9509;p13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Google Maps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Google AJAX Search API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Yahoo Search API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Amazon WebServices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3" name="Shape 9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4" name="Google Shape;9514;p137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5" name="Google Shape;9515;p13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and the Web</a:t>
            </a:r>
            <a:endParaRPr/>
          </a:p>
        </p:txBody>
      </p:sp>
      <p:sp>
        <p:nvSpPr>
          <p:cNvPr id="9516" name="Google Shape;9516;p13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Web is an example of a REST system!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All of those Web services that you have been using all these many years - book ordering services, search services,  online dictionary services, etc - are REST-based Web services.  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Alas, you have been using REST, building REST services and you didn't even know it. 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0" name="Shape 9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1" name="Google Shape;9521;p138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2" name="Google Shape;9522;p13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Implementations</a:t>
            </a:r>
            <a:endParaRPr/>
          </a:p>
        </p:txBody>
      </p:sp>
      <p:sp>
        <p:nvSpPr>
          <p:cNvPr id="9523" name="Google Shape;9523;p13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Restlet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3"/>
              </a:rPr>
              <a:t>http://www.restlet.org/</a:t>
            </a:r>
            <a:endParaRPr sz="2520"/>
          </a:p>
          <a:p>
            <a:pPr indent="-83756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Project Zero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4"/>
              </a:rPr>
              <a:t>http://www.projectzero.org</a:t>
            </a:r>
            <a:endParaRPr sz="2520"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GlassFish Jersey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5"/>
              </a:rPr>
              <a:t>https://jersey.dev.java.net/</a:t>
            </a:r>
            <a:endParaRPr sz="2520"/>
          </a:p>
          <a:p>
            <a:pPr indent="-83756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JBoss RESTeasy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6"/>
              </a:rPr>
              <a:t>http://www.jboss.org/resteasy/</a:t>
            </a:r>
            <a:endParaRPr sz="2520"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7" name="Shape 9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8" name="Google Shape;9528;p139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9" name="Google Shape;9529;p13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My Project - Web 2.0 IC Card</a:t>
            </a:r>
            <a:endParaRPr/>
          </a:p>
        </p:txBody>
      </p:sp>
      <p:sp>
        <p:nvSpPr>
          <p:cNvPr id="9530" name="Google Shape;9530;p13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Objective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Transform the IC Card Application to support REST resources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http://www.cs.pitt.edu/icms/iccards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http://www.cs.pitt.edu/icms/iccards/001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http://www.cs.pitt.edu/icms/groups/1/users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4" name="Shape 9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5" name="Google Shape;9535;p140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36" name="Google Shape;9536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440" y="2125980"/>
            <a:ext cx="3193257" cy="1540193"/>
          </a:xfrm>
          <a:prstGeom prst="rect">
            <a:avLst/>
          </a:prstGeom>
          <a:noFill/>
          <a:ln>
            <a:noFill/>
          </a:ln>
        </p:spPr>
      </p:pic>
      <p:sp>
        <p:nvSpPr>
          <p:cNvPr id="9537" name="Google Shape;9537;p140"/>
          <p:cNvSpPr/>
          <p:nvPr/>
        </p:nvSpPr>
        <p:spPr>
          <a:xfrm>
            <a:off x="4587240" y="1645920"/>
            <a:ext cx="1234440" cy="4183380"/>
          </a:xfrm>
          <a:prstGeom prst="rect">
            <a:avLst/>
          </a:prstGeom>
          <a:noFill/>
          <a:ln cap="flat" cmpd="sng" w="76200">
            <a:solidFill>
              <a:srgbClr val="D1D7C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8" name="Google Shape;9538;p14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Invocation Model</a:t>
            </a:r>
            <a:endParaRPr/>
          </a:p>
        </p:txBody>
      </p:sp>
      <p:sp>
        <p:nvSpPr>
          <p:cNvPr id="9539" name="Google Shape;9539;p140"/>
          <p:cNvSpPr txBox="1"/>
          <p:nvPr/>
        </p:nvSpPr>
        <p:spPr>
          <a:xfrm>
            <a:off x="1789748" y="3666173"/>
            <a:ext cx="1331595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/>
          </a:p>
        </p:txBody>
      </p:sp>
      <p:sp>
        <p:nvSpPr>
          <p:cNvPr id="9540" name="Google Shape;9540;p140"/>
          <p:cNvSpPr txBox="1"/>
          <p:nvPr/>
        </p:nvSpPr>
        <p:spPr>
          <a:xfrm>
            <a:off x="8153400" y="3566160"/>
            <a:ext cx="1695927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Service</a:t>
            </a:r>
            <a:endParaRPr/>
          </a:p>
        </p:txBody>
      </p:sp>
      <p:sp>
        <p:nvSpPr>
          <p:cNvPr id="9541" name="Google Shape;9541;p140"/>
          <p:cNvSpPr txBox="1"/>
          <p:nvPr/>
        </p:nvSpPr>
        <p:spPr>
          <a:xfrm>
            <a:off x="8359140" y="6172200"/>
            <a:ext cx="1363028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pic>
        <p:nvPicPr>
          <p:cNvPr id="9542" name="Google Shape;9542;p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8312" y="2340293"/>
            <a:ext cx="1481613" cy="1240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3" name="Google Shape;9543;p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2980" y="4869180"/>
            <a:ext cx="822960" cy="670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4" name="Google Shape;9544;p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7240" y="1920240"/>
            <a:ext cx="1154430" cy="49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5" name="Google Shape;9545;p1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7720" y="5143500"/>
            <a:ext cx="1054418" cy="105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6" name="Google Shape;9546;p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27420" y="2880360"/>
            <a:ext cx="1180148" cy="23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7" name="Google Shape;9547;p1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70620" y="3909060"/>
            <a:ext cx="234315" cy="1180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8" name="Google Shape;9548;p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4220" y="2948940"/>
            <a:ext cx="1057275" cy="234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9" name="Google Shape;9549;p1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0140" y="2743200"/>
            <a:ext cx="657225" cy="794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0" name="Google Shape;9550;p1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2980" y="3840480"/>
            <a:ext cx="854393" cy="668655"/>
          </a:xfrm>
          <a:prstGeom prst="rect">
            <a:avLst/>
          </a:prstGeom>
          <a:noFill/>
          <a:ln>
            <a:noFill/>
          </a:ln>
        </p:spPr>
      </p:pic>
      <p:sp>
        <p:nvSpPr>
          <p:cNvPr id="9551" name="Google Shape;9551;p140"/>
          <p:cNvSpPr txBox="1"/>
          <p:nvPr/>
        </p:nvSpPr>
        <p:spPr>
          <a:xfrm>
            <a:off x="4710113" y="5930742"/>
            <a:ext cx="95410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/>
          </a:p>
        </p:txBody>
      </p:sp>
      <p:sp>
        <p:nvSpPr>
          <p:cNvPr id="9552" name="Google Shape;9552;p140"/>
          <p:cNvSpPr txBox="1"/>
          <p:nvPr/>
        </p:nvSpPr>
        <p:spPr>
          <a:xfrm>
            <a:off x="3421381" y="2674620"/>
            <a:ext cx="535659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</p:txBody>
      </p:sp>
      <p:sp>
        <p:nvSpPr>
          <p:cNvPr id="9553" name="Google Shape;9553;p140"/>
          <p:cNvSpPr txBox="1"/>
          <p:nvPr/>
        </p:nvSpPr>
        <p:spPr>
          <a:xfrm>
            <a:off x="6233161" y="2606040"/>
            <a:ext cx="535659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</p:txBody>
      </p:sp>
      <p:sp>
        <p:nvSpPr>
          <p:cNvPr id="9554" name="Google Shape;9554;p140"/>
          <p:cNvSpPr txBox="1"/>
          <p:nvPr/>
        </p:nvSpPr>
        <p:spPr>
          <a:xfrm>
            <a:off x="8907780" y="4251960"/>
            <a:ext cx="577215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8" name="Shape 9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9" name="Google Shape;9559;p14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0" name="Google Shape;9560;p14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9561" name="Google Shape;9561;p14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Representational State Transfer</a:t>
            </a:r>
            <a:br>
              <a:rPr lang="en-US" sz="2520"/>
            </a:br>
            <a:r>
              <a:rPr lang="en-US" sz="2520" u="sng">
                <a:solidFill>
                  <a:schemeClr val="hlink"/>
                </a:solidFill>
                <a:hlinkClick r:id="rId3"/>
              </a:rPr>
              <a:t>http://en.wikipedia.org/wiki/Representational_State_Transfer</a:t>
            </a:r>
            <a:endParaRPr sz="2520"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Roy Fieldings Thesis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rPr lang="en-US" sz="2520"/>
              <a:t>	</a:t>
            </a:r>
            <a:r>
              <a:rPr lang="en-US" sz="2520" u="sng">
                <a:solidFill>
                  <a:schemeClr val="hlink"/>
                </a:solidFill>
                <a:hlinkClick r:id="rId4"/>
              </a:rPr>
              <a:t>http://www.ics.uci.edu/~fielding/pubs/dissertation/top.htm</a:t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