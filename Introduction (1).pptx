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970750-BF70-44E6-A978-57C7BFF74858}">
  <a:tblStyle styleId="{A5970750-BF70-44E6-A978-57C7BFF7485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AE0BFE93-F65F-4C9C-9242-22C325E3ECB2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fill>
          <a:solidFill>
            <a:srgbClr val="E0E0E0"/>
          </a:solidFill>
        </a:fill>
      </a:tcStyle>
    </a:band1H>
    <a:band2H>
      <a:tcTxStyle/>
    </a:band2H>
    <a:band1V>
      <a:tcTxStyle/>
      <a:tcStyle>
        <a:fill>
          <a:solidFill>
            <a:srgbClr val="E0E0E0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mailto:khalefam@oldwestbury.edu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book.systemsapproach.org/index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aia.cs.umass.edu/kurose_ross/lectures.php" TargetMode="External"/><Relationship Id="rId4" Type="http://schemas.openxmlformats.org/officeDocument/2006/relationships/hyperlink" Target="https://gaia.cs.umass.edu/kurose_ross/videos/1" TargetMode="External"/><Relationship Id="rId11" Type="http://schemas.openxmlformats.org/officeDocument/2006/relationships/image" Target="../media/image2.png"/><Relationship Id="rId10" Type="http://schemas.openxmlformats.org/officeDocument/2006/relationships/hyperlink" Target="https://gaia.cs.umass.edu/kurose_ross/videos/7" TargetMode="External"/><Relationship Id="rId9" Type="http://schemas.openxmlformats.org/officeDocument/2006/relationships/hyperlink" Target="https://gaia.cs.umass.edu/kurose_ross/videos/6" TargetMode="External"/><Relationship Id="rId5" Type="http://schemas.openxmlformats.org/officeDocument/2006/relationships/hyperlink" Target="https://gaia.cs.umass.edu/kurose_ross/videos/2" TargetMode="External"/><Relationship Id="rId6" Type="http://schemas.openxmlformats.org/officeDocument/2006/relationships/hyperlink" Target="https://gaia.cs.umass.edu/kurose_ross/videos/3" TargetMode="External"/><Relationship Id="rId7" Type="http://schemas.openxmlformats.org/officeDocument/2006/relationships/hyperlink" Target="https://gaia.cs.umass.edu/kurose_ross/videos/4" TargetMode="External"/><Relationship Id="rId8" Type="http://schemas.openxmlformats.org/officeDocument/2006/relationships/hyperlink" Target="https://gaia.cs.umass.edu/kurose_ross/videos/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lourful network cables" id="101" name="Google Shape;101;p15"/>
          <p:cNvPicPr preferRelativeResize="0"/>
          <p:nvPr/>
        </p:nvPicPr>
        <p:blipFill rotWithShape="1">
          <a:blip r:embed="rId3">
            <a:alphaModFix amt="40000"/>
          </a:blip>
          <a:srcRect b="15730" l="0" r="0" t="0"/>
          <a:stretch/>
        </p:blipFill>
        <p:spPr>
          <a:xfrm>
            <a:off x="2" y="10"/>
            <a:ext cx="12191997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>
            <p:ph type="ctrTitle"/>
          </p:nvPr>
        </p:nvSpPr>
        <p:spPr>
          <a:xfrm>
            <a:off x="2590991" y="1680291"/>
            <a:ext cx="7010018" cy="2288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</a:pPr>
            <a:r>
              <a:rPr lang="en-US" sz="7200"/>
              <a:t>Computer Networks  </a:t>
            </a:r>
            <a:endParaRPr sz="7200"/>
          </a:p>
        </p:txBody>
      </p:sp>
      <p:sp>
        <p:nvSpPr>
          <p:cNvPr id="103" name="Google Shape;103;p15"/>
          <p:cNvSpPr txBox="1"/>
          <p:nvPr>
            <p:ph idx="1" type="subTitle"/>
          </p:nvPr>
        </p:nvSpPr>
        <p:spPr>
          <a:xfrm>
            <a:off x="2590991" y="3968516"/>
            <a:ext cx="7010018" cy="785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CS 5710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90870" y="2245586"/>
            <a:ext cx="1262906" cy="1108260"/>
          </a:xfrm>
          <a:custGeom>
            <a:rect b="b" l="l" r="r" t="t"/>
            <a:pathLst>
              <a:path extrusionOk="0" h="968" w="1099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lt1">
              <a:alpha val="4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933975" y="911082"/>
            <a:ext cx="2048530" cy="1797684"/>
          </a:xfrm>
          <a:custGeom>
            <a:rect b="b" l="l" r="r" t="t"/>
            <a:pathLst>
              <a:path extrusionOk="0" h="968" w="1099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cap="flat" cmpd="sng" w="63500">
            <a:solidFill>
              <a:schemeClr val="lt1">
                <a:alpha val="6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1362936" y="1825453"/>
            <a:ext cx="799094" cy="701243"/>
          </a:xfrm>
          <a:custGeom>
            <a:rect b="b" l="l" r="r" t="t"/>
            <a:pathLst>
              <a:path extrusionOk="0" h="968" w="1099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Class Introduction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Students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Junior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Senior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Major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Transfer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Introduce yourself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expected from you (How to get an A)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838200" y="1828801"/>
            <a:ext cx="9372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Attend lectures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Take notes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Be active and think critically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Ask questions, post comments on forums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Do programming projects and Assignments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Start early and </a:t>
            </a:r>
            <a:r>
              <a:rPr lang="en-US" u="sng"/>
              <a:t>be honest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Study for tests and exams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Ask for help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you are not sure, ask for help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you have personal/family issues, let me know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1" name="Google Shape;121;p1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2" name="Google Shape;122;p1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188780" y="-22510"/>
              <a:ext cx="169732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Section 1  &gt;  Logistics</a:t>
              </a:r>
              <a:endParaRPr/>
            </a:p>
          </p:txBody>
        </p:sp>
      </p:grpSp>
      <p:sp>
        <p:nvSpPr>
          <p:cNvPr id="124" name="Google Shape;124;p17"/>
          <p:cNvSpPr/>
          <p:nvPr/>
        </p:nvSpPr>
        <p:spPr>
          <a:xfrm>
            <a:off x="7941365" y="4671392"/>
            <a:ext cx="3717234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procrastinate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Lectures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NAB 0109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 8:20 PM – 9:40 PM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Instructor</a:t>
            </a:r>
            <a:endParaRPr/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Instructor: Mohamed E Khalefa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Office NAB 1015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Office hours T 9:50 pm to 10:50 pm or by appointment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Email: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khalefam@oldwestbury.edu</a:t>
            </a:r>
            <a:r>
              <a:rPr lang="en-US"/>
              <a:t> (add CS 5710 in the subject line)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Textbook</a:t>
            </a:r>
            <a:endParaRPr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James Kurose, Keith Ross.  Computer Networking: A Top-Down Approach 8th Edition.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Larry Peterson and Bruce Davie, Computer Networks: A Systems Approach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Available free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https://book.systemsapproach.org/index.html</a:t>
            </a:r>
            <a:r>
              <a:rPr lang="en-US"/>
              <a:t>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Evaluations</a:t>
            </a:r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838200" y="1587086"/>
            <a:ext cx="10515600" cy="4694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Class participation 10%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Quizzes 5%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Hws &amp; Labs 20%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Assignments 20%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Projects 20%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Midterm exam 10%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Final exam 20%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149" name="Google Shape;149;p21"/>
          <p:cNvGraphicFramePr/>
          <p:nvPr/>
        </p:nvGraphicFramePr>
        <p:xfrm>
          <a:off x="2124608" y="5270914"/>
          <a:ext cx="3000000" cy="3000000"/>
        </p:xfrm>
        <a:graphic>
          <a:graphicData uri="http://schemas.openxmlformats.org/drawingml/2006/table">
            <a:tbl>
              <a:tblPr bandCol="1" bandRow="1" firstCol="1" lastCol="1">
                <a:noFill/>
                <a:tableStyleId>{A5970750-BF70-44E6-A978-57C7BFF74858}</a:tableStyleId>
              </a:tblPr>
              <a:tblGrid>
                <a:gridCol w="1429025"/>
                <a:gridCol w="1326475"/>
                <a:gridCol w="1302025"/>
                <a:gridCol w="2037525"/>
                <a:gridCol w="1252800"/>
              </a:tblGrid>
              <a:tr h="203200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  = [94,  100]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</a:t>
                      </a:r>
                      <a:r>
                        <a:rPr baseline="30000" lang="en-US" sz="1600" u="none" cap="none" strike="noStrike"/>
                        <a:t>−</a:t>
                      </a:r>
                      <a:r>
                        <a:rPr lang="en-US" sz="1600" u="none" cap="none" strike="noStrike"/>
                        <a:t> = [90, 93]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B </a:t>
                      </a:r>
                      <a:r>
                        <a:rPr baseline="30000" lang="en-US" sz="1600" u="none" cap="none" strike="noStrike"/>
                        <a:t>+</a:t>
                      </a:r>
                      <a:r>
                        <a:rPr lang="en-US" sz="1600" u="none" cap="none" strike="noStrike"/>
                        <a:t> =  [87, 89]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 </a:t>
                      </a:r>
                      <a:r>
                        <a:rPr baseline="30000" lang="en-US" sz="1600" u="none" cap="none" strike="noStrike"/>
                        <a:t>+</a:t>
                      </a:r>
                      <a:r>
                        <a:rPr lang="en-US" sz="1600" u="none" cap="none" strike="noStrike"/>
                        <a:t> =  [77, 79]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 </a:t>
                      </a:r>
                      <a:r>
                        <a:rPr baseline="30000" lang="en-US" sz="1600" u="none" cap="none" strike="noStrike"/>
                        <a:t>+</a:t>
                      </a:r>
                      <a:r>
                        <a:rPr lang="en-US" sz="1600" u="none" cap="none" strike="noStrike"/>
                        <a:t> =  [67, 69]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F  =  [0, 59]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B   =  [84, 86]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   =  [74, 76]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   =  [64, 66]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 vMerge="1"/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B </a:t>
                      </a:r>
                      <a:r>
                        <a:rPr baseline="30000" lang="en-US" sz="1600" u="none" cap="none" strike="noStrike"/>
                        <a:t>−</a:t>
                      </a:r>
                      <a:r>
                        <a:rPr lang="en-US" sz="1600" u="none" cap="none" strike="noStrike"/>
                        <a:t> = [80, 83]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 </a:t>
                      </a:r>
                      <a:r>
                        <a:rPr baseline="30000" lang="en-US" sz="1600" u="none" cap="none" strike="noStrike"/>
                        <a:t>−</a:t>
                      </a:r>
                      <a:r>
                        <a:rPr lang="en-US" sz="1600" u="none" cap="none" strike="noStrike"/>
                        <a:t> = [70, 73]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 </a:t>
                      </a:r>
                      <a:r>
                        <a:rPr baseline="30000" lang="en-US" sz="1600" u="none" cap="none" strike="noStrike"/>
                        <a:t>−</a:t>
                      </a:r>
                      <a:r>
                        <a:rPr lang="en-US" sz="1600" u="none" cap="none" strike="noStrike"/>
                        <a:t> = [60, 63]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Objectives</a:t>
            </a:r>
            <a:endParaRPr/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After taking this course, the student should be able to: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Become familiar with layered communication architectures (OSI and TCP/IP).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Understand the client/server model and key application layer protocols.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Learn sockets programming and how to implement client/server programs.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Understand the concepts of reliable data transfer and how TCP implements these concepts.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Know the principles of congestion control and trade-offs in fairness and efficiency.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Learn the principles of routing and the semantics and syntax of IP.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Understand the basics of error detection including parity, checksums, and CRC.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Familiarize the student with current topics such as security, network management, sensor networks, and/or other topics.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-80130" y="-36018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Tentative Schedule</a:t>
            </a:r>
            <a:endParaRPr/>
          </a:p>
        </p:txBody>
      </p:sp>
      <p:graphicFrame>
        <p:nvGraphicFramePr>
          <p:cNvPr id="161" name="Google Shape;161;p23"/>
          <p:cNvGraphicFramePr/>
          <p:nvPr/>
        </p:nvGraphicFramePr>
        <p:xfrm>
          <a:off x="1214193" y="542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{AE0BFE93-F65F-4C9C-9242-22C325E3ECB2}</a:tableStyleId>
              </a:tblPr>
              <a:tblGrid>
                <a:gridCol w="7096550"/>
              </a:tblGrid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Topics</a:t>
                      </a:r>
                      <a:endParaRPr/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Course introduction and overview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3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Socket Programming TCP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1: Encapsulation 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1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2:  Application layer protocols and client-server model.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2:  Application layer protocols and client-server model.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2:  Application layer protocols and client-server model.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3:  Reliable data transfer. Stop-and-Go evaluation.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3:   TCP and UDP semantics and syntax.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3: TCP RTT estimation. Principles of congestion control.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3:  Principles of congestion control.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Project I presentations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UDP Programming &amp; Multi threaded Programming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Midterm Review</a:t>
                      </a:r>
                      <a:endParaRPr b="0" i="0" sz="1400" u="none" cap="none" strike="noStrike">
                        <a:solidFill>
                          <a:srgbClr val="9C5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Midterm Exam</a:t>
                      </a:r>
                      <a:endParaRPr b="0" i="0" sz="1400" u="none" cap="none" strike="noStrike">
                        <a:solidFill>
                          <a:srgbClr val="9C5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Spring Break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Spring Break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4: Network Layer: Data Plane /Control Plane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4: IP semantics.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4: IPv6 &amp; Middlebox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5: Routing Principles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5: Link-state and distance vector routing. 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5: Intra ISP Routing &amp; Inter-AS Routing 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23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5:  Network management including SNMP. Network troubleshooting. (Guest Speaker)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High Performance Network Applications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Project II presentations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8:  Security. Overview of threats, cryptography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8:  authentication, and firewalls 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6: Link layer. Error detection. Multiple access protocols. IEEE 802.3 Ethernet.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6: Switching and bridging. Media. Signal strength. Data encoding.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Project III presentations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1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Final Review</a:t>
                      </a:r>
                      <a:endParaRPr b="0" i="0" sz="1400" u="none" cap="none" strike="noStrike">
                        <a:solidFill>
                          <a:srgbClr val="9C5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1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Final Exam</a:t>
                      </a:r>
                      <a:endParaRPr b="0" i="0" sz="1400" u="none" cap="none" strike="noStrike">
                        <a:solidFill>
                          <a:srgbClr val="9C5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Organization</a:t>
            </a:r>
            <a:endParaRPr/>
          </a:p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Flipped classroom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Problem solving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Discussions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Online recording of lectures from the authors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https://gaia.cs.umass.edu/kurose_ross/lectures.php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Online lectures and review questions.  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1: </a:t>
            </a:r>
            <a:r>
              <a:rPr lang="en-US" u="sng">
                <a:solidFill>
                  <a:schemeClr val="hlink"/>
                </a:solidFill>
                <a:hlinkClick r:id="rId4"/>
              </a:rPr>
              <a:t>Computer Networks and the Internet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2: </a:t>
            </a:r>
            <a:r>
              <a:rPr lang="en-US" u="sng">
                <a:solidFill>
                  <a:schemeClr val="hlink"/>
                </a:solidFill>
                <a:hlinkClick r:id="rId5"/>
              </a:rPr>
              <a:t>The Application Layer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3: </a:t>
            </a:r>
            <a:r>
              <a:rPr lang="en-US" u="sng">
                <a:solidFill>
                  <a:schemeClr val="hlink"/>
                </a:solidFill>
                <a:hlinkClick r:id="rId6"/>
              </a:rPr>
              <a:t>The Transport Layer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4: </a:t>
            </a:r>
            <a:r>
              <a:rPr lang="en-US" u="sng">
                <a:solidFill>
                  <a:schemeClr val="hlink"/>
                </a:solidFill>
                <a:hlinkClick r:id="rId7"/>
              </a:rPr>
              <a:t>The Network Layer: the Data Plane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5: </a:t>
            </a:r>
            <a:r>
              <a:rPr lang="en-US" u="sng">
                <a:solidFill>
                  <a:schemeClr val="hlink"/>
                </a:solidFill>
                <a:hlinkClick r:id="rId8"/>
              </a:rPr>
              <a:t>The Network Layer: the Control Plane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6: </a:t>
            </a:r>
            <a:r>
              <a:rPr lang="en-US" u="sng">
                <a:solidFill>
                  <a:schemeClr val="hlink"/>
                </a:solidFill>
                <a:hlinkClick r:id="rId9"/>
              </a:rPr>
              <a:t>The Link Layer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7: </a:t>
            </a:r>
            <a:r>
              <a:rPr lang="en-US" u="sng">
                <a:solidFill>
                  <a:schemeClr val="hlink"/>
                </a:solidFill>
                <a:hlinkClick r:id="rId10"/>
              </a:rPr>
              <a:t>Wireless and Mobile Networks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8: Network Security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74" name="Google Shape;174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28848" y="3632886"/>
            <a:ext cx="5616281" cy="297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