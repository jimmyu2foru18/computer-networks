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4"/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6858000" cx="12192000"/>
  <p:notesSz cx="6858000" cy="9144000"/>
  <p:embeddedFontLst>
    <p:embeddedFont>
      <p:font typeface="Tahoma"/>
      <p:regular r:id="rId49"/>
      <p:bold r:id="rId50"/>
    </p:embeddedFont>
    <p:embeddedFont>
      <p:font typeface="Gill Sans"/>
      <p:regular r:id="rId51"/>
      <p:bold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56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56" orient="horz"/>
        <p:guide pos="285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GillSans-regular.fntdata"/><Relationship Id="rId50" Type="http://schemas.openxmlformats.org/officeDocument/2006/relationships/font" Target="fonts/Tahoma-bold.fntdata"/><Relationship Id="rId52" Type="http://schemas.openxmlformats.org/officeDocument/2006/relationships/font" Target="fonts/GillSans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9" name="Google Shape;7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0" name="Google Shape;96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0" name="Google Shape;97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1" name="Google Shape;9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0" name="Google Shape;105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1" name="Google Shape;1051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3" name="Google Shape;107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6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8" name="Google Shape;109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6" name="Google Shape;110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3" name="Google Shape;114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3" name="Google Shape;1153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0" name="Google Shape;122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8" name="Google Shape;1338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9" name="Google Shape;1339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6" name="Google Shape;1416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4" name="Google Shape;142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5" name="Shape 1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" name="Google Shape;153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7" name="Google Shape;153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8" name="Google Shape;153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5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7" name="Google Shape;163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8" name="Google Shape;163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6" name="Shape 1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8" name="Google Shape;173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5" name="Google Shape;192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6" name="Google Shape;192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9" name="Google Shape;199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9" name="Google Shape;2009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0" name="Google Shape;2010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6" name="Shape 2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7" name="Google Shape;219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8" name="Google Shape;219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8" name="Google Shape;239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9" name="Google Shape;255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0" name="Google Shape;256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1" name="Shape 2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Google Shape;264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3" name="Google Shape;264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4" name="Google Shape;264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0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2" name="Google Shape;276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0" name="Shape 2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1" name="Google Shape;2811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2" name="Google Shape;2812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3" name="Google Shape;2813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  <p:sldLayoutId id="2147483653" r:id="rId2"/>
    <p:sldLayoutId id="2147483654" r:id="rId3"/>
    <p:sldLayoutId id="2147483655" r:id="rId4"/>
    <p:sldLayoutId id="2147483656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13.jp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type="title"/>
          </p:nvPr>
        </p:nvSpPr>
        <p:spPr>
          <a:xfrm>
            <a:off x="580529" y="650420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The Link Layer</a:t>
            </a:r>
            <a:endParaRPr sz="6000"/>
          </a:p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Introduction to the Link Layer </a:t>
            </a:r>
            <a:r>
              <a:rPr lang="en-US" sz="3200"/>
              <a:t>	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Error-detection and -correction Techniques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 Access Links and Protocols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2800"/>
              <a:buChar char="▪"/>
            </a:pPr>
            <a:r>
              <a:rPr lang="en-US"/>
              <a:t>Switched Local Area Networks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Link Virtualization: a Network as a Link Layer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Data Center Networking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Retrospective: A Day in the Life of a Web Page Request</a:t>
            </a:r>
            <a:endParaRPr/>
          </a:p>
        </p:txBody>
      </p:sp>
      <p:grpSp>
        <p:nvGrpSpPr>
          <p:cNvPr id="60" name="Google Shape;60;p12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61" name="Google Shape;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" name="Google Shape;62;p12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63" name="Google Shape;63;p12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64" name="Google Shape;64;p1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5" name="Google Shape;65;p12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73" name="Google Shape;73;p13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877956" y="1480930"/>
            <a:ext cx="10903227" cy="1981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32-bit IP address: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network-layer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address for interface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for layer 3 (network layer) forwarding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e.g.: 128.119.40.136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4" name="Google Shape;84;p14"/>
          <p:cNvSpPr txBox="1"/>
          <p:nvPr/>
        </p:nvSpPr>
        <p:spPr>
          <a:xfrm>
            <a:off x="925425" y="3402170"/>
            <a:ext cx="10903227" cy="2264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(or LAN or physical or Ethernet) address: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used “locally” to get frame from one interface to another physically-connected interface (same subnet, in IP-addressing sense)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48-bit MAC address (for most LANs) burned in NIC ROM, also sometimes software settable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85" name="Google Shape;85;p14"/>
          <p:cNvGrpSpPr/>
          <p:nvPr/>
        </p:nvGrpSpPr>
        <p:grpSpPr>
          <a:xfrm>
            <a:off x="912934" y="5533272"/>
            <a:ext cx="10903227" cy="903016"/>
            <a:chOff x="912934" y="5533272"/>
            <a:chExt cx="10903227" cy="903016"/>
          </a:xfrm>
        </p:grpSpPr>
        <p:sp>
          <p:nvSpPr>
            <p:cNvPr id="86" name="Google Shape;86;p14"/>
            <p:cNvSpPr txBox="1"/>
            <p:nvPr/>
          </p:nvSpPr>
          <p:spPr>
            <a:xfrm>
              <a:off x="5649171" y="5789957"/>
              <a:ext cx="3388685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hexadecimal (base 16) notation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(each “numeral” represents 4 bits)</a:t>
              </a:r>
              <a:endParaRPr/>
            </a:p>
          </p:txBody>
        </p:sp>
        <p:cxnSp>
          <p:nvCxnSpPr>
            <p:cNvPr id="87" name="Google Shape;87;p14"/>
            <p:cNvCxnSpPr/>
            <p:nvPr/>
          </p:nvCxnSpPr>
          <p:spPr>
            <a:xfrm rot="10800000">
              <a:off x="5021744" y="5895906"/>
              <a:ext cx="623681" cy="21334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8" name="Google Shape;88;p14"/>
            <p:cNvSpPr txBox="1"/>
            <p:nvPr/>
          </p:nvSpPr>
          <p:spPr>
            <a:xfrm>
              <a:off x="912934" y="5533272"/>
              <a:ext cx="10903227" cy="5827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31775" lvl="1" marL="6953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Arial"/>
                <a:buChar char="•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e.g.: 1A-2F-BB-76-09-AD</a:t>
              </a:r>
              <a:endParaRPr/>
            </a:p>
            <a:p>
              <a:pPr indent="-79375" lvl="1" marL="69532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15"/>
          <p:cNvCxnSpPr/>
          <p:nvPr/>
        </p:nvCxnSpPr>
        <p:spPr>
          <a:xfrm>
            <a:off x="4798734" y="4271477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15"/>
          <p:cNvCxnSpPr/>
          <p:nvPr/>
        </p:nvCxnSpPr>
        <p:spPr>
          <a:xfrm>
            <a:off x="6583225" y="3351624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15"/>
          <p:cNvCxnSpPr/>
          <p:nvPr/>
        </p:nvCxnSpPr>
        <p:spPr>
          <a:xfrm rot="10800000">
            <a:off x="6359594" y="5298866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" name="Google Shape;97;p1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219200" y="1216922"/>
            <a:ext cx="833125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interface on LAN </a:t>
            </a:r>
            <a:endParaRPr/>
          </a:p>
          <a:p>
            <a:pPr indent="-2746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unique 48-bit 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MAC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address</a:t>
            </a:r>
            <a:endParaRPr/>
          </a:p>
          <a:p>
            <a:pPr indent="-274638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has a locally unique 32-bit IP address (as we’ve seen)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5425937" y="3593615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7446825" y="4320484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" name="Google Shape;102;p15"/>
          <p:cNvSpPr txBox="1"/>
          <p:nvPr/>
        </p:nvSpPr>
        <p:spPr>
          <a:xfrm>
            <a:off x="6890648" y="3308137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/>
          </a:p>
        </p:txBody>
      </p:sp>
      <p:cxnSp>
        <p:nvCxnSpPr>
          <p:cNvPr id="103" name="Google Shape;103;p15"/>
          <p:cNvCxnSpPr/>
          <p:nvPr/>
        </p:nvCxnSpPr>
        <p:spPr>
          <a:xfrm rot="10800000">
            <a:off x="8005327" y="443650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5"/>
          <p:cNvSpPr txBox="1"/>
          <p:nvPr/>
        </p:nvSpPr>
        <p:spPr>
          <a:xfrm>
            <a:off x="7909197" y="4779066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cxnSp>
        <p:nvCxnSpPr>
          <p:cNvPr id="105" name="Google Shape;105;p15"/>
          <p:cNvCxnSpPr/>
          <p:nvPr/>
        </p:nvCxnSpPr>
        <p:spPr>
          <a:xfrm rot="10800000">
            <a:off x="6462781" y="5733635"/>
            <a:ext cx="360363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5"/>
          <p:cNvSpPr txBox="1"/>
          <p:nvPr/>
        </p:nvSpPr>
        <p:spPr>
          <a:xfrm>
            <a:off x="6785122" y="5577774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/>
          </a:p>
        </p:txBody>
      </p:sp>
      <p:cxnSp>
        <p:nvCxnSpPr>
          <p:cNvPr id="107" name="Google Shape;107;p15"/>
          <p:cNvCxnSpPr/>
          <p:nvPr/>
        </p:nvCxnSpPr>
        <p:spPr>
          <a:xfrm rot="10800000">
            <a:off x="4735234" y="4427052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5"/>
          <p:cNvSpPr txBox="1"/>
          <p:nvPr/>
        </p:nvSpPr>
        <p:spPr>
          <a:xfrm>
            <a:off x="3817659" y="4801702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5327374" y="3992146"/>
            <a:ext cx="2173357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(wired or wireless)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137.196.7/24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6488853" y="335344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1" name="Google Shape;111;p15"/>
          <p:cNvGrpSpPr/>
          <p:nvPr/>
        </p:nvGrpSpPr>
        <p:grpSpPr>
          <a:xfrm>
            <a:off x="6030223" y="2820774"/>
            <a:ext cx="812800" cy="658813"/>
            <a:chOff x="-44" y="1473"/>
            <a:chExt cx="981" cy="1105"/>
          </a:xfrm>
        </p:grpSpPr>
        <p:pic>
          <p:nvPicPr>
            <p:cNvPr descr="desktop_computer_stylized_medium" id="112" name="Google Shape;112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5"/>
          <p:cNvSpPr/>
          <p:nvPr/>
        </p:nvSpPr>
        <p:spPr>
          <a:xfrm rot="5400000">
            <a:off x="4597155" y="413978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287678" y="5606756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6" name="Google Shape;116;p15"/>
          <p:cNvSpPr/>
          <p:nvPr/>
        </p:nvSpPr>
        <p:spPr>
          <a:xfrm rot="5400000">
            <a:off x="8031860" y="4201701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17" name="Google Shape;117;p15"/>
          <p:cNvGrpSpPr/>
          <p:nvPr/>
        </p:nvGrpSpPr>
        <p:grpSpPr>
          <a:xfrm>
            <a:off x="3922434" y="3893652"/>
            <a:ext cx="812800" cy="658813"/>
            <a:chOff x="-44" y="1473"/>
            <a:chExt cx="981" cy="1105"/>
          </a:xfrm>
        </p:grpSpPr>
        <p:pic>
          <p:nvPicPr>
            <p:cNvPr descr="desktop_computer_stylized_medium" id="118" name="Google Shape;118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" name="Google Shape;120;p15"/>
          <p:cNvGrpSpPr/>
          <p:nvPr/>
        </p:nvGrpSpPr>
        <p:grpSpPr>
          <a:xfrm>
            <a:off x="7880069" y="4049022"/>
            <a:ext cx="812800" cy="658812"/>
            <a:chOff x="-26" y="1473"/>
            <a:chExt cx="981" cy="1105"/>
          </a:xfrm>
        </p:grpSpPr>
        <p:pic>
          <p:nvPicPr>
            <p:cNvPr descr="desktop_computer_stylized_medium" id="121" name="Google Shape;121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3" name="Google Shape;123;p15"/>
          <p:cNvCxnSpPr/>
          <p:nvPr/>
        </p:nvCxnSpPr>
        <p:spPr>
          <a:xfrm rot="10800000">
            <a:off x="6719722" y="3486836"/>
            <a:ext cx="25483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24" name="Google Shape;124;p15"/>
          <p:cNvGrpSpPr/>
          <p:nvPr/>
        </p:nvGrpSpPr>
        <p:grpSpPr>
          <a:xfrm>
            <a:off x="5832544" y="5800310"/>
            <a:ext cx="812800" cy="658813"/>
            <a:chOff x="-44" y="1473"/>
            <a:chExt cx="981" cy="1105"/>
          </a:xfrm>
        </p:grpSpPr>
        <p:pic>
          <p:nvPicPr>
            <p:cNvPr descr="desktop_computer_stylized_medium" id="125" name="Google Shape;12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" name="Google Shape;126;p1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" name="Google Shape;127;p15"/>
          <p:cNvSpPr txBox="1"/>
          <p:nvPr/>
        </p:nvSpPr>
        <p:spPr>
          <a:xfrm>
            <a:off x="6867458" y="309369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903609" y="497784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746875" y="5795342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3822352" y="5017604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MAC addresses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010477" y="1441173"/>
            <a:ext cx="10028583" cy="50126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allocation administered by IEEE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manufacturer buys portion of MAC address space (to assure uniqueness)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analogy: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address: like Social Security Number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 address: like postal address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MAC flat address: portability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move interface from one LAN to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recall IP address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portable: depends on IP subnet to which node is attached</a:t>
            </a:r>
            <a:endParaRPr/>
          </a:p>
          <a:p>
            <a:pPr indent="-190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ARP: address resolution protocol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082748" y="2344599"/>
            <a:ext cx="5193195" cy="953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ARP table: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IP node (host, router) on LAN has table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786592" y="1314450"/>
            <a:ext cx="1103434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Question:</a:t>
            </a: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to determine interface’s MAC address, knowing its IP address?</a:t>
            </a:r>
            <a:endParaRPr/>
          </a:p>
        </p:txBody>
      </p:sp>
      <p:grpSp>
        <p:nvGrpSpPr>
          <p:cNvPr id="148" name="Google Shape;148;p17"/>
          <p:cNvGrpSpPr/>
          <p:nvPr/>
        </p:nvGrpSpPr>
        <p:grpSpPr>
          <a:xfrm>
            <a:off x="948563" y="2990022"/>
            <a:ext cx="4847955" cy="2799867"/>
            <a:chOff x="3970059" y="2973174"/>
            <a:chExt cx="6053187" cy="3638349"/>
          </a:xfrm>
        </p:grpSpPr>
        <p:cxnSp>
          <p:nvCxnSpPr>
            <p:cNvPr id="149" name="Google Shape;149;p17"/>
            <p:cNvCxnSpPr/>
            <p:nvPr/>
          </p:nvCxnSpPr>
          <p:spPr>
            <a:xfrm>
              <a:off x="4951134" y="4423877"/>
              <a:ext cx="9017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" name="Google Shape;150;p17"/>
            <p:cNvCxnSpPr/>
            <p:nvPr/>
          </p:nvCxnSpPr>
          <p:spPr>
            <a:xfrm>
              <a:off x="6735625" y="3504024"/>
              <a:ext cx="0" cy="65563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7"/>
            <p:cNvCxnSpPr/>
            <p:nvPr/>
          </p:nvCxnSpPr>
          <p:spPr>
            <a:xfrm rot="10800000">
              <a:off x="6511994" y="5451266"/>
              <a:ext cx="0" cy="4381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7"/>
            <p:cNvSpPr/>
            <p:nvPr/>
          </p:nvSpPr>
          <p:spPr>
            <a:xfrm>
              <a:off x="5578337" y="3746015"/>
              <a:ext cx="2046288" cy="2049462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3" name="Google Shape;153;p17"/>
            <p:cNvCxnSpPr/>
            <p:nvPr/>
          </p:nvCxnSpPr>
          <p:spPr>
            <a:xfrm rot="10800000">
              <a:off x="7599225" y="4472884"/>
              <a:ext cx="79692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" name="Google Shape;154;p17"/>
            <p:cNvSpPr txBox="1"/>
            <p:nvPr/>
          </p:nvSpPr>
          <p:spPr>
            <a:xfrm>
              <a:off x="7043047" y="3460537"/>
              <a:ext cx="1998238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1A-2F-BB-76-09-AD</a:t>
              </a:r>
              <a:endParaRPr/>
            </a:p>
          </p:txBody>
        </p:sp>
        <p:cxnSp>
          <p:nvCxnSpPr>
            <p:cNvPr id="155" name="Google Shape;155;p17"/>
            <p:cNvCxnSpPr/>
            <p:nvPr/>
          </p:nvCxnSpPr>
          <p:spPr>
            <a:xfrm rot="10800000">
              <a:off x="8157727" y="458890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8061597" y="4931465"/>
              <a:ext cx="196164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58-23-D7-FA-20-B0</a:t>
              </a:r>
              <a:endParaRPr/>
            </a:p>
          </p:txBody>
        </p:sp>
        <p:cxnSp>
          <p:nvCxnSpPr>
            <p:cNvPr id="157" name="Google Shape;157;p17"/>
            <p:cNvCxnSpPr/>
            <p:nvPr/>
          </p:nvCxnSpPr>
          <p:spPr>
            <a:xfrm rot="10800000">
              <a:off x="6615181" y="5886035"/>
              <a:ext cx="360363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8" name="Google Shape;158;p17"/>
            <p:cNvSpPr txBox="1"/>
            <p:nvPr/>
          </p:nvSpPr>
          <p:spPr>
            <a:xfrm>
              <a:off x="6937522" y="5730174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0C-C4-11-6F-E3-98</a:t>
              </a:r>
              <a:endParaRPr/>
            </a:p>
          </p:txBody>
        </p:sp>
        <p:cxnSp>
          <p:nvCxnSpPr>
            <p:cNvPr id="159" name="Google Shape;159;p17"/>
            <p:cNvCxnSpPr/>
            <p:nvPr/>
          </p:nvCxnSpPr>
          <p:spPr>
            <a:xfrm rot="10800000">
              <a:off x="4887634" y="4579452"/>
              <a:ext cx="0" cy="37306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7"/>
            <p:cNvSpPr txBox="1"/>
            <p:nvPr/>
          </p:nvSpPr>
          <p:spPr>
            <a:xfrm>
              <a:off x="3970059" y="4954102"/>
              <a:ext cx="1935869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71-65-F7-2B-08-53</a:t>
              </a:r>
              <a:endParaRPr/>
            </a:p>
          </p:txBody>
        </p:sp>
        <p:sp>
          <p:nvSpPr>
            <p:cNvPr id="161" name="Google Shape;161;p17"/>
            <p:cNvSpPr txBox="1"/>
            <p:nvPr/>
          </p:nvSpPr>
          <p:spPr>
            <a:xfrm>
              <a:off x="5363947" y="4420079"/>
              <a:ext cx="2173356" cy="479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LAN</a:t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6641253" y="350584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" name="Google Shape;163;p17"/>
            <p:cNvGrpSpPr/>
            <p:nvPr/>
          </p:nvGrpSpPr>
          <p:grpSpPr>
            <a:xfrm>
              <a:off x="6182623" y="2973174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164" name="Google Shape;164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" name="Google Shape;165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" name="Google Shape;166;p17"/>
            <p:cNvSpPr/>
            <p:nvPr/>
          </p:nvSpPr>
          <p:spPr>
            <a:xfrm rot="5400000">
              <a:off x="4749555" y="429218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6440078" y="5759156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7"/>
            <p:cNvSpPr/>
            <p:nvPr/>
          </p:nvSpPr>
          <p:spPr>
            <a:xfrm rot="5400000">
              <a:off x="8184260" y="4354101"/>
              <a:ext cx="16033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9" name="Google Shape;169;p17"/>
            <p:cNvGrpSpPr/>
            <p:nvPr/>
          </p:nvGrpSpPr>
          <p:grpSpPr>
            <a:xfrm>
              <a:off x="4074834" y="4046052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170" name="Google Shape;170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" name="Google Shape;171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17"/>
            <p:cNvGrpSpPr/>
            <p:nvPr/>
          </p:nvGrpSpPr>
          <p:grpSpPr>
            <a:xfrm>
              <a:off x="8032469" y="4201422"/>
              <a:ext cx="812800" cy="658812"/>
              <a:chOff x="-26" y="1473"/>
              <a:chExt cx="981" cy="1105"/>
            </a:xfrm>
          </p:grpSpPr>
          <p:pic>
            <p:nvPicPr>
              <p:cNvPr descr="desktop_computer_stylized_medium" id="173" name="Google Shape;173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26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" name="Google Shape;174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17"/>
            <p:cNvCxnSpPr/>
            <p:nvPr/>
          </p:nvCxnSpPr>
          <p:spPr>
            <a:xfrm rot="10800000">
              <a:off x="6872122" y="3639236"/>
              <a:ext cx="25483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76" name="Google Shape;176;p17"/>
            <p:cNvGrpSpPr/>
            <p:nvPr/>
          </p:nvGrpSpPr>
          <p:grpSpPr>
            <a:xfrm>
              <a:off x="5984944" y="5952710"/>
              <a:ext cx="812800" cy="658813"/>
              <a:chOff x="-44" y="1473"/>
              <a:chExt cx="981" cy="1105"/>
            </a:xfrm>
          </p:grpSpPr>
          <p:pic>
            <p:nvPicPr>
              <p:cNvPr descr="desktop_computer_stylized_medium" id="177" name="Google Shape;177;p1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" name="Google Shape;178;p1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" name="Google Shape;179;p17"/>
            <p:cNvSpPr txBox="1"/>
            <p:nvPr/>
          </p:nvSpPr>
          <p:spPr>
            <a:xfrm>
              <a:off x="7019858" y="3246090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137.196.7.78</a:t>
              </a:r>
              <a:endParaRPr/>
            </a:p>
          </p:txBody>
        </p:sp>
        <p:sp>
          <p:nvSpPr>
            <p:cNvPr id="180" name="Google Shape;180;p17"/>
            <p:cNvSpPr txBox="1"/>
            <p:nvPr/>
          </p:nvSpPr>
          <p:spPr>
            <a:xfrm>
              <a:off x="8056009" y="5130248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</p:txBody>
        </p:sp>
        <p:sp>
          <p:nvSpPr>
            <p:cNvPr id="181" name="Google Shape;181;p17"/>
            <p:cNvSpPr txBox="1"/>
            <p:nvPr/>
          </p:nvSpPr>
          <p:spPr>
            <a:xfrm>
              <a:off x="6899276" y="5947742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137.196.7.88</a:t>
              </a:r>
              <a:endParaRPr/>
            </a:p>
          </p:txBody>
        </p:sp>
        <p:sp>
          <p:nvSpPr>
            <p:cNvPr id="182" name="Google Shape;182;p17"/>
            <p:cNvSpPr txBox="1"/>
            <p:nvPr/>
          </p:nvSpPr>
          <p:spPr>
            <a:xfrm>
              <a:off x="3974753" y="5170004"/>
              <a:ext cx="1425483" cy="399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137.196.7.23</a:t>
              </a:r>
              <a:endParaRPr/>
            </a:p>
          </p:txBody>
        </p:sp>
      </p:grpSp>
      <p:grpSp>
        <p:nvGrpSpPr>
          <p:cNvPr id="183" name="Google Shape;183;p17"/>
          <p:cNvGrpSpPr/>
          <p:nvPr/>
        </p:nvGrpSpPr>
        <p:grpSpPr>
          <a:xfrm>
            <a:off x="1446381" y="2663687"/>
            <a:ext cx="3653512" cy="2923999"/>
            <a:chOff x="1446381" y="2663687"/>
            <a:chExt cx="3653512" cy="2923999"/>
          </a:xfrm>
        </p:grpSpPr>
        <p:grpSp>
          <p:nvGrpSpPr>
            <p:cNvPr id="184" name="Google Shape;184;p17"/>
            <p:cNvGrpSpPr/>
            <p:nvPr/>
          </p:nvGrpSpPr>
          <p:grpSpPr>
            <a:xfrm>
              <a:off x="2754559" y="2663687"/>
              <a:ext cx="479618" cy="437323"/>
              <a:chOff x="2317237" y="2601212"/>
              <a:chExt cx="479618" cy="437323"/>
            </a:xfrm>
          </p:grpSpPr>
          <p:sp>
            <p:nvSpPr>
              <p:cNvPr id="185" name="Google Shape;185;p17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7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187" name="Google Shape;187;p17"/>
            <p:cNvGrpSpPr/>
            <p:nvPr/>
          </p:nvGrpSpPr>
          <p:grpSpPr>
            <a:xfrm>
              <a:off x="2463958" y="5150363"/>
              <a:ext cx="479618" cy="437323"/>
              <a:chOff x="2317237" y="2601212"/>
              <a:chExt cx="479618" cy="437323"/>
            </a:xfrm>
          </p:grpSpPr>
          <p:sp>
            <p:nvSpPr>
              <p:cNvPr id="188" name="Google Shape;188;p17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" name="Google Shape;189;p17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190" name="Google Shape;190;p17"/>
            <p:cNvGrpSpPr/>
            <p:nvPr/>
          </p:nvGrpSpPr>
          <p:grpSpPr>
            <a:xfrm>
              <a:off x="1446381" y="3530757"/>
              <a:ext cx="479618" cy="437323"/>
              <a:chOff x="2317237" y="2601212"/>
              <a:chExt cx="479618" cy="437323"/>
            </a:xfrm>
          </p:grpSpPr>
          <p:sp>
            <p:nvSpPr>
              <p:cNvPr id="191" name="Google Shape;191;p17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7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20275" y="3785389"/>
              <a:ext cx="479618" cy="437323"/>
              <a:chOff x="2317237" y="2601212"/>
              <a:chExt cx="479618" cy="437323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2381605" y="2654222"/>
                <a:ext cx="344557" cy="384313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7"/>
              <p:cNvSpPr txBox="1"/>
              <p:nvPr/>
            </p:nvSpPr>
            <p:spPr>
              <a:xfrm>
                <a:off x="2317237" y="2601212"/>
                <a:ext cx="479618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</a:t>
                </a:r>
                <a:endParaRPr/>
              </a:p>
            </p:txBody>
          </p:sp>
        </p:grpSp>
      </p:grpSp>
      <p:sp>
        <p:nvSpPr>
          <p:cNvPr id="196" name="Google Shape;196;p17"/>
          <p:cNvSpPr txBox="1"/>
          <p:nvPr/>
        </p:nvSpPr>
        <p:spPr>
          <a:xfrm>
            <a:off x="5785443" y="3298343"/>
            <a:ext cx="5472170" cy="29075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IP/MAC address mappings for some LAN nodes: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b="0" i="0" lang="en-US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&lt; IP address; MAC address; TTL&gt;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 (Time To Live): time after which address mapping will be forgotten (typically 20 min)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2" name="Google Shape;202;p18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8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8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1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p18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18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12" name="Google Shape;212;p18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13" name="Google Shape;21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" name="Google Shape;214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18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6" name="Google Shape;216;p18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17" name="Google Shape;217;p18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18" name="Google Shape;218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" name="Google Shape;219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" name="Google Shape;220;p18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21" name="Google Shape;22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" name="Google Shape;222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3" name="Google Shape;223;p18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25" name="Google Shape;225;p18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27" name="Google Shape;227;p18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228" name="Google Shape;228;p18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9" name="Google Shape;229;p18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230" name="Google Shape;230;p18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31" name="Google Shape;231;p18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232" name="Google Shape;232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18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235" name="Google Shape;235;p18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236" name="Google Shape;236;p18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237" name="Google Shape;237;p18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" name="Google Shape;238;p18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241" name="Google Shape;241;p18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2" name="Google Shape;242;p18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" name="Google Shape;243;p18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44" name="Google Shape;244;p18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45" name="Google Shape;245;p18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246" name="Google Shape;246;p18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247" name="Google Shape;247;p18"/>
          <p:cNvSpPr txBox="1"/>
          <p:nvPr/>
        </p:nvSpPr>
        <p:spPr>
          <a:xfrm>
            <a:off x="1049752" y="1211677"/>
            <a:ext cx="10068822" cy="8869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18"/>
          <p:cNvGrpSpPr/>
          <p:nvPr/>
        </p:nvGrpSpPr>
        <p:grpSpPr>
          <a:xfrm>
            <a:off x="689113" y="2175367"/>
            <a:ext cx="5579166" cy="1015663"/>
            <a:chOff x="689113" y="2070437"/>
            <a:chExt cx="5579166" cy="1015663"/>
          </a:xfrm>
        </p:grpSpPr>
        <p:sp>
          <p:nvSpPr>
            <p:cNvPr id="249" name="Google Shape;249;p18"/>
            <p:cNvSpPr txBox="1"/>
            <p:nvPr/>
          </p:nvSpPr>
          <p:spPr>
            <a:xfrm>
              <a:off x="993914" y="2070437"/>
              <a:ext cx="527436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31775" lvl="0" marL="231775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broadcasts ARP query, containing B's IP addr</a:t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destination MAC address = FF-FF-FF-FF-FF-FF</a:t>
              </a:r>
              <a:endParaRPr/>
            </a:p>
            <a:p>
              <a:pPr indent="-234950" lvl="1" marL="404813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all nodes on LAN receive ARP query </a:t>
              </a:r>
              <a:endParaRPr/>
            </a:p>
          </p:txBody>
        </p:sp>
        <p:grpSp>
          <p:nvGrpSpPr>
            <p:cNvPr id="250" name="Google Shape;250;p18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253" name="Google Shape;253;p18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254" name="Google Shape;254;p18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 MAC:  71-65-F7-2B-08-53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Source IP: 137.196.7.23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257" name="Google Shape;257;p18"/>
          <p:cNvGrpSpPr/>
          <p:nvPr/>
        </p:nvGrpSpPr>
        <p:grpSpPr>
          <a:xfrm>
            <a:off x="5367131" y="3596877"/>
            <a:ext cx="2849218" cy="2007708"/>
            <a:chOff x="437322" y="4803913"/>
            <a:chExt cx="2849218" cy="2007708"/>
          </a:xfrm>
        </p:grpSpPr>
        <p:sp>
          <p:nvSpPr>
            <p:cNvPr id="258" name="Google Shape;258;p18"/>
            <p:cNvSpPr/>
            <p:nvPr/>
          </p:nvSpPr>
          <p:spPr>
            <a:xfrm rot="5400000">
              <a:off x="1335154" y="6172202"/>
              <a:ext cx="1073429" cy="20540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8"/>
            <p:cNvSpPr/>
            <p:nvPr/>
          </p:nvSpPr>
          <p:spPr>
            <a:xfrm rot="-5400000">
              <a:off x="1408044" y="5105399"/>
              <a:ext cx="775252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437322" y="5499652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" name="Google Shape;261;p18"/>
            <p:cNvGrpSpPr/>
            <p:nvPr/>
          </p:nvGrpSpPr>
          <p:grpSpPr>
            <a:xfrm>
              <a:off x="1487255" y="5177985"/>
              <a:ext cx="587606" cy="741718"/>
              <a:chOff x="375561" y="297711"/>
              <a:chExt cx="1252683" cy="2138362"/>
            </a:xfrm>
          </p:grpSpPr>
          <p:sp>
            <p:nvSpPr>
              <p:cNvPr id="262" name="Google Shape;262;p1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5" name="Google Shape;265;p18"/>
          <p:cNvGrpSpPr/>
          <p:nvPr/>
        </p:nvGrpSpPr>
        <p:grpSpPr>
          <a:xfrm>
            <a:off x="5817705" y="4121995"/>
            <a:ext cx="410817" cy="461665"/>
            <a:chOff x="2292626" y="5618921"/>
            <a:chExt cx="410817" cy="461665"/>
          </a:xfrm>
        </p:grpSpPr>
        <p:sp>
          <p:nvSpPr>
            <p:cNvPr id="266" name="Google Shape;266;p18"/>
            <p:cNvSpPr/>
            <p:nvPr/>
          </p:nvSpPr>
          <p:spPr>
            <a:xfrm>
              <a:off x="2292626" y="5645426"/>
              <a:ext cx="410817" cy="410817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A8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8"/>
            <p:cNvSpPr txBox="1"/>
            <p:nvPr/>
          </p:nvSpPr>
          <p:spPr>
            <a:xfrm>
              <a:off x="2319130" y="5618921"/>
              <a:ext cx="34015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68" name="Google Shape;268;p18"/>
          <p:cNvSpPr txBox="1"/>
          <p:nvPr/>
        </p:nvSpPr>
        <p:spPr>
          <a:xfrm>
            <a:off x="7623617" y="2453566"/>
            <a:ext cx="39852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frame (sent to FF-FF-FF-FF-FF-FF)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4" name="Google Shape;274;p19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19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19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7" name="Google Shape;277;p1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0" name="Google Shape;280;p19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" name="Google Shape;281;p19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82" name="Google Shape;282;p19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4" name="Google Shape;284;p19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285" name="Google Shape;28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7" name="Google Shape;287;p19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8" name="Google Shape;288;p19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289" name="Google Shape;289;p19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290" name="Google Shape;290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19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293" name="Google Shape;293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4" name="Google Shape;294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5" name="Google Shape;295;p19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296" name="Google Shape;296;p19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300" name="Google Shape;300;p19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1" name="Google Shape;301;p19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302" name="Google Shape;302;p19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03" name="Google Shape;303;p19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304" name="Google Shape;304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1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6" name="Google Shape;306;p19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307" name="Google Shape;307;p19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08" name="Google Shape;308;p19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309" name="Google Shape;309;p19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0" name="Google Shape;310;p19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311" name="Google Shape;311;p19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9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313" name="Google Shape;313;p19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14" name="Google Shape;314;p19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5" name="Google Shape;315;p19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16" name="Google Shape;316;p19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17" name="Google Shape;317;p19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18" name="Google Shape;318;p19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319" name="Google Shape;319;p19"/>
          <p:cNvSpPr txBox="1"/>
          <p:nvPr/>
        </p:nvSpPr>
        <p:spPr>
          <a:xfrm>
            <a:off x="1049752" y="1211677"/>
            <a:ext cx="10068822" cy="961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19"/>
          <p:cNvGrpSpPr/>
          <p:nvPr/>
        </p:nvGrpSpPr>
        <p:grpSpPr>
          <a:xfrm>
            <a:off x="7730987" y="5422150"/>
            <a:ext cx="4222474" cy="769441"/>
            <a:chOff x="689113" y="2308977"/>
            <a:chExt cx="4222474" cy="769441"/>
          </a:xfrm>
        </p:grpSpPr>
        <p:sp>
          <p:nvSpPr>
            <p:cNvPr id="321" name="Google Shape;321;p19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replies to A with ARP response, giving its MAC address</a:t>
              </a:r>
              <a:endParaRPr/>
            </a:p>
          </p:txBody>
        </p:sp>
        <p:grpSp>
          <p:nvGrpSpPr>
            <p:cNvPr id="322" name="Google Shape;322;p19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323" name="Google Shape;323;p19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9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325" name="Google Shape;325;p19"/>
          <p:cNvGrpSpPr/>
          <p:nvPr/>
        </p:nvGrpSpPr>
        <p:grpSpPr>
          <a:xfrm>
            <a:off x="6633558" y="2781868"/>
            <a:ext cx="4272980" cy="1554072"/>
            <a:chOff x="7269663" y="106017"/>
            <a:chExt cx="4272980" cy="1554072"/>
          </a:xfrm>
        </p:grpSpPr>
        <p:sp>
          <p:nvSpPr>
            <p:cNvPr id="326" name="Google Shape;326;p19"/>
            <p:cNvSpPr/>
            <p:nvPr/>
          </p:nvSpPr>
          <p:spPr>
            <a:xfrm>
              <a:off x="7269663" y="168712"/>
              <a:ext cx="3357443" cy="1491377"/>
            </a:xfrm>
            <a:custGeom>
              <a:rect b="b" l="l" r="r" t="t"/>
              <a:pathLst>
                <a:path extrusionOk="0" h="1491377" w="3070984">
                  <a:moveTo>
                    <a:pt x="3" y="1165451"/>
                  </a:moveTo>
                  <a:cubicBezTo>
                    <a:pt x="145598" y="1121700"/>
                    <a:pt x="1219590" y="114212"/>
                    <a:pt x="1279362" y="0"/>
                  </a:cubicBezTo>
                  <a:cubicBezTo>
                    <a:pt x="1163476" y="1035639"/>
                    <a:pt x="985249" y="923350"/>
                    <a:pt x="3070984" y="923279"/>
                  </a:cubicBezTo>
                  <a:cubicBezTo>
                    <a:pt x="2279368" y="1124493"/>
                    <a:pt x="913470" y="1245953"/>
                    <a:pt x="311787" y="1491377"/>
                  </a:cubicBezTo>
                  <a:cubicBezTo>
                    <a:pt x="312912" y="1365065"/>
                    <a:pt x="-1122" y="1291763"/>
                    <a:pt x="3" y="1165451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67843"/>
                  </a:srgbClr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8613913" y="106017"/>
              <a:ext cx="2743200" cy="1020417"/>
            </a:xfrm>
            <a:prstGeom prst="rect">
              <a:avLst/>
            </a:prstGeom>
            <a:solidFill>
              <a:srgbClr val="F2F2F2"/>
            </a:solidFill>
            <a:ln cap="flat" cmpd="sng" w="12700">
              <a:solidFill>
                <a:srgbClr val="A5A5A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9"/>
            <p:cNvSpPr txBox="1"/>
            <p:nvPr/>
          </p:nvSpPr>
          <p:spPr>
            <a:xfrm>
              <a:off x="8610903" y="117460"/>
              <a:ext cx="2931740" cy="10464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IP address: </a:t>
              </a: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137.196.7.14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Target MAC address: </a:t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58-23-D7-FA-20-B0</a:t>
              </a:r>
              <a:endParaRPr b="0" i="0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…</a:t>
              </a:r>
              <a:endParaRPr/>
            </a:p>
          </p:txBody>
        </p:sp>
      </p:grpSp>
      <p:grpSp>
        <p:nvGrpSpPr>
          <p:cNvPr id="329" name="Google Shape;329;p19"/>
          <p:cNvGrpSpPr/>
          <p:nvPr/>
        </p:nvGrpSpPr>
        <p:grpSpPr>
          <a:xfrm>
            <a:off x="5367131" y="3970949"/>
            <a:ext cx="2849218" cy="741718"/>
            <a:chOff x="5367131" y="3866019"/>
            <a:chExt cx="2849218" cy="741718"/>
          </a:xfrm>
        </p:grpSpPr>
        <p:sp>
          <p:nvSpPr>
            <p:cNvPr id="330" name="Google Shape;330;p19"/>
            <p:cNvSpPr/>
            <p:nvPr/>
          </p:nvSpPr>
          <p:spPr>
            <a:xfrm rot="10800000">
              <a:off x="5367131" y="4187686"/>
              <a:ext cx="2849218" cy="15902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1" name="Google Shape;331;p1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332" name="Google Shape;332;p1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5" name="Google Shape;335;p19"/>
            <p:cNvGrpSpPr/>
            <p:nvPr/>
          </p:nvGrpSpPr>
          <p:grpSpPr>
            <a:xfrm>
              <a:off x="7434470" y="4043570"/>
              <a:ext cx="410817" cy="461665"/>
              <a:chOff x="2292626" y="5618921"/>
              <a:chExt cx="410817" cy="461665"/>
            </a:xfrm>
          </p:grpSpPr>
          <p:sp>
            <p:nvSpPr>
              <p:cNvPr id="336" name="Google Shape;336;p19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9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sp>
        <p:nvSpPr>
          <p:cNvPr id="338" name="Google Shape;338;p19"/>
          <p:cNvSpPr txBox="1"/>
          <p:nvPr/>
        </p:nvSpPr>
        <p:spPr>
          <a:xfrm>
            <a:off x="7901911" y="2228279"/>
            <a:ext cx="295161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ARP message into Ethernet frame (sent to 71-65-F7-2B-08-53)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20"/>
          <p:cNvCxnSpPr/>
          <p:nvPr/>
        </p:nvCxnSpPr>
        <p:spPr>
          <a:xfrm>
            <a:off x="5103533" y="4310144"/>
            <a:ext cx="9017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0"/>
          <p:cNvCxnSpPr/>
          <p:nvPr/>
        </p:nvCxnSpPr>
        <p:spPr>
          <a:xfrm>
            <a:off x="6888024" y="3390291"/>
            <a:ext cx="0" cy="6556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0"/>
          <p:cNvCxnSpPr/>
          <p:nvPr/>
        </p:nvCxnSpPr>
        <p:spPr>
          <a:xfrm rot="10800000">
            <a:off x="6664393" y="5337533"/>
            <a:ext cx="0" cy="4381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2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ARP protocol in action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0"/>
          <p:cNvSpPr/>
          <p:nvPr/>
        </p:nvSpPr>
        <p:spPr>
          <a:xfrm>
            <a:off x="5730736" y="3632282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20"/>
          <p:cNvCxnSpPr/>
          <p:nvPr/>
        </p:nvCxnSpPr>
        <p:spPr>
          <a:xfrm rot="10800000">
            <a:off x="7751624" y="4359151"/>
            <a:ext cx="7969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0"/>
          <p:cNvCxnSpPr/>
          <p:nvPr/>
        </p:nvCxnSpPr>
        <p:spPr>
          <a:xfrm rot="10800000">
            <a:off x="8310126" y="447516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2" name="Google Shape;352;p20"/>
          <p:cNvSpPr txBox="1"/>
          <p:nvPr/>
        </p:nvSpPr>
        <p:spPr>
          <a:xfrm>
            <a:off x="8213996" y="4817733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/>
          </a:p>
        </p:txBody>
      </p:sp>
      <p:sp>
        <p:nvSpPr>
          <p:cNvPr id="353" name="Google Shape;353;p20"/>
          <p:cNvSpPr/>
          <p:nvPr/>
        </p:nvSpPr>
        <p:spPr>
          <a:xfrm>
            <a:off x="6793652" y="339211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54" name="Google Shape;354;p20"/>
          <p:cNvGrpSpPr/>
          <p:nvPr/>
        </p:nvGrpSpPr>
        <p:grpSpPr>
          <a:xfrm>
            <a:off x="6335022" y="2859441"/>
            <a:ext cx="812800" cy="658813"/>
            <a:chOff x="-44" y="1473"/>
            <a:chExt cx="981" cy="1105"/>
          </a:xfrm>
        </p:grpSpPr>
        <p:pic>
          <p:nvPicPr>
            <p:cNvPr descr="desktop_computer_stylized_medium" id="355" name="Google Shape;35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6" name="Google Shape;356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7" name="Google Shape;357;p20"/>
          <p:cNvSpPr/>
          <p:nvPr/>
        </p:nvSpPr>
        <p:spPr>
          <a:xfrm>
            <a:off x="6592477" y="5645423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58" name="Google Shape;358;p20"/>
          <p:cNvSpPr/>
          <p:nvPr/>
        </p:nvSpPr>
        <p:spPr>
          <a:xfrm rot="5400000">
            <a:off x="8336659" y="424036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59" name="Google Shape;359;p20"/>
          <p:cNvGrpSpPr/>
          <p:nvPr/>
        </p:nvGrpSpPr>
        <p:grpSpPr>
          <a:xfrm>
            <a:off x="8184868" y="4087689"/>
            <a:ext cx="812800" cy="658812"/>
            <a:chOff x="-26" y="1473"/>
            <a:chExt cx="981" cy="1105"/>
          </a:xfrm>
        </p:grpSpPr>
        <p:pic>
          <p:nvPicPr>
            <p:cNvPr descr="desktop_computer_stylized_medium" id="360" name="Google Shape;360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26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1" name="Google Shape;361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2" name="Google Shape;362;p20"/>
          <p:cNvGrpSpPr/>
          <p:nvPr/>
        </p:nvGrpSpPr>
        <p:grpSpPr>
          <a:xfrm>
            <a:off x="6137343" y="5838977"/>
            <a:ext cx="812800" cy="658813"/>
            <a:chOff x="-44" y="1473"/>
            <a:chExt cx="981" cy="1105"/>
          </a:xfrm>
        </p:grpSpPr>
        <p:pic>
          <p:nvPicPr>
            <p:cNvPr descr="desktop_computer_stylized_medium" id="363" name="Google Shape;363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4" name="Google Shape;364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5" name="Google Shape;365;p20"/>
          <p:cNvSpPr txBox="1"/>
          <p:nvPr/>
        </p:nvSpPr>
        <p:spPr>
          <a:xfrm>
            <a:off x="8208408" y="501651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/>
          </a:p>
        </p:txBody>
      </p:sp>
      <p:sp>
        <p:nvSpPr>
          <p:cNvPr id="366" name="Google Shape;366;p20"/>
          <p:cNvSpPr txBox="1"/>
          <p:nvPr/>
        </p:nvSpPr>
        <p:spPr>
          <a:xfrm>
            <a:off x="8196469" y="3835414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67" name="Google Shape;367;p20"/>
          <p:cNvSpPr txBox="1"/>
          <p:nvPr/>
        </p:nvSpPr>
        <p:spPr>
          <a:xfrm>
            <a:off x="7116417" y="2702353"/>
            <a:ext cx="3513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  <p:sp>
        <p:nvSpPr>
          <p:cNvPr id="368" name="Google Shape;368;p20"/>
          <p:cNvSpPr txBox="1"/>
          <p:nvPr/>
        </p:nvSpPr>
        <p:spPr>
          <a:xfrm>
            <a:off x="6871252" y="6088283"/>
            <a:ext cx="3738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</p:txBody>
      </p:sp>
      <p:sp>
        <p:nvSpPr>
          <p:cNvPr id="369" name="Google Shape;369;p20"/>
          <p:cNvSpPr txBox="1"/>
          <p:nvPr/>
        </p:nvSpPr>
        <p:spPr>
          <a:xfrm>
            <a:off x="3664223" y="3615962"/>
            <a:ext cx="116618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TTL</a:t>
            </a:r>
            <a:endParaRPr/>
          </a:p>
        </p:txBody>
      </p:sp>
      <p:cxnSp>
        <p:nvCxnSpPr>
          <p:cNvPr id="370" name="Google Shape;370;p20"/>
          <p:cNvCxnSpPr/>
          <p:nvPr/>
        </p:nvCxnSpPr>
        <p:spPr>
          <a:xfrm rot="10800000">
            <a:off x="5305073" y="4465719"/>
            <a:ext cx="0" cy="3730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1" name="Google Shape;371;p20"/>
          <p:cNvSpPr txBox="1"/>
          <p:nvPr/>
        </p:nvSpPr>
        <p:spPr>
          <a:xfrm>
            <a:off x="4387498" y="4840369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/>
          </a:p>
        </p:txBody>
      </p:sp>
      <p:sp>
        <p:nvSpPr>
          <p:cNvPr id="372" name="Google Shape;372;p20"/>
          <p:cNvSpPr/>
          <p:nvPr/>
        </p:nvSpPr>
        <p:spPr>
          <a:xfrm rot="5400000">
            <a:off x="5166994" y="4178448"/>
            <a:ext cx="160338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73" name="Google Shape;373;p20"/>
          <p:cNvGrpSpPr/>
          <p:nvPr/>
        </p:nvGrpSpPr>
        <p:grpSpPr>
          <a:xfrm>
            <a:off x="4479021" y="3932319"/>
            <a:ext cx="812800" cy="658813"/>
            <a:chOff x="-44" y="1473"/>
            <a:chExt cx="981" cy="1105"/>
          </a:xfrm>
        </p:grpSpPr>
        <p:pic>
          <p:nvPicPr>
            <p:cNvPr descr="desktop_computer_stylized_medium" id="374" name="Google Shape;37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2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6" name="Google Shape;376;p20"/>
          <p:cNvSpPr txBox="1"/>
          <p:nvPr/>
        </p:nvSpPr>
        <p:spPr>
          <a:xfrm>
            <a:off x="4392191" y="5056271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/>
          </a:p>
        </p:txBody>
      </p:sp>
      <p:sp>
        <p:nvSpPr>
          <p:cNvPr id="377" name="Google Shape;377;p20"/>
          <p:cNvSpPr txBox="1"/>
          <p:nvPr/>
        </p:nvSpPr>
        <p:spPr>
          <a:xfrm>
            <a:off x="5274361" y="3775779"/>
            <a:ext cx="3706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378" name="Google Shape;378;p20"/>
          <p:cNvGrpSpPr/>
          <p:nvPr/>
        </p:nvGrpSpPr>
        <p:grpSpPr>
          <a:xfrm>
            <a:off x="1186072" y="3311953"/>
            <a:ext cx="3690728" cy="1373671"/>
            <a:chOff x="404194" y="2544417"/>
            <a:chExt cx="3690728" cy="1373671"/>
          </a:xfrm>
        </p:grpSpPr>
        <p:sp>
          <p:nvSpPr>
            <p:cNvPr id="379" name="Google Shape;379;p20"/>
            <p:cNvSpPr/>
            <p:nvPr/>
          </p:nvSpPr>
          <p:spPr>
            <a:xfrm>
              <a:off x="3617843" y="2842867"/>
              <a:ext cx="477079" cy="1075221"/>
            </a:xfrm>
            <a:custGeom>
              <a:rect b="b" l="l" r="r" t="t"/>
              <a:pathLst>
                <a:path extrusionOk="0" h="1051327" w="477079">
                  <a:moveTo>
                    <a:pt x="477079" y="357808"/>
                  </a:moveTo>
                  <a:lnTo>
                    <a:pt x="0" y="0"/>
                  </a:lnTo>
                  <a:lnTo>
                    <a:pt x="13253" y="1051327"/>
                  </a:lnTo>
                  <a:lnTo>
                    <a:pt x="384314" y="649356"/>
                  </a:lnTo>
                </a:path>
              </a:pathLst>
            </a:custGeom>
            <a:gradFill>
              <a:gsLst>
                <a:gs pos="0">
                  <a:schemeClr val="lt1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0" name="Google Shape;380;p20"/>
            <p:cNvGrpSpPr/>
            <p:nvPr/>
          </p:nvGrpSpPr>
          <p:grpSpPr>
            <a:xfrm>
              <a:off x="404194" y="2544417"/>
              <a:ext cx="3379301" cy="1368152"/>
              <a:chOff x="404194" y="2544417"/>
              <a:chExt cx="3379301" cy="1368152"/>
            </a:xfrm>
          </p:grpSpPr>
          <p:sp>
            <p:nvSpPr>
              <p:cNvPr id="381" name="Google Shape;381;p20"/>
              <p:cNvSpPr/>
              <p:nvPr/>
            </p:nvSpPr>
            <p:spPr>
              <a:xfrm>
                <a:off x="450575" y="2849217"/>
                <a:ext cx="3180521" cy="1060174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20"/>
              <p:cNvSpPr txBox="1"/>
              <p:nvPr/>
            </p:nvSpPr>
            <p:spPr>
              <a:xfrm>
                <a:off x="530088" y="2544417"/>
                <a:ext cx="279620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ARP table in </a:t>
                </a:r>
                <a:r>
                  <a:rPr b="0" i="0" lang="en-US" sz="1800" u="none" cap="none" strike="noStrike">
                    <a:solidFill>
                      <a:srgbClr val="0000A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cxnSp>
            <p:nvCxnSpPr>
              <p:cNvPr id="383" name="Google Shape;383;p20"/>
              <p:cNvCxnSpPr/>
              <p:nvPr/>
            </p:nvCxnSpPr>
            <p:spPr>
              <a:xfrm>
                <a:off x="437324" y="3173896"/>
                <a:ext cx="3180520" cy="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4" name="Google Shape;384;p20"/>
              <p:cNvSpPr txBox="1"/>
              <p:nvPr/>
            </p:nvSpPr>
            <p:spPr>
              <a:xfrm>
                <a:off x="404194" y="2829339"/>
                <a:ext cx="934277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0"/>
              <p:cNvSpPr txBox="1"/>
              <p:nvPr/>
            </p:nvSpPr>
            <p:spPr>
              <a:xfrm>
                <a:off x="1616766" y="2849217"/>
                <a:ext cx="116618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MAC addr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86" name="Google Shape;386;p20"/>
              <p:cNvCxnSpPr/>
              <p:nvPr/>
            </p:nvCxnSpPr>
            <p:spPr>
              <a:xfrm>
                <a:off x="1325218" y="2849218"/>
                <a:ext cx="0" cy="106335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387" name="Google Shape;387;p20"/>
              <p:cNvCxnSpPr/>
              <p:nvPr/>
            </p:nvCxnSpPr>
            <p:spPr>
              <a:xfrm>
                <a:off x="3240152" y="2848944"/>
                <a:ext cx="0" cy="106045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388" name="Google Shape;388;p20"/>
              <p:cNvSpPr txBox="1"/>
              <p:nvPr/>
            </p:nvSpPr>
            <p:spPr>
              <a:xfrm>
                <a:off x="3074505" y="2855842"/>
                <a:ext cx="7089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TTL</a:t>
                </a:r>
                <a:endParaRPr/>
              </a:p>
            </p:txBody>
          </p:sp>
        </p:grpSp>
      </p:grpSp>
      <p:sp>
        <p:nvSpPr>
          <p:cNvPr id="389" name="Google Shape;389;p20"/>
          <p:cNvSpPr txBox="1"/>
          <p:nvPr/>
        </p:nvSpPr>
        <p:spPr>
          <a:xfrm>
            <a:off x="1049752" y="1211677"/>
            <a:ext cx="10068822" cy="9469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 wants to send datagram to B</a:t>
            </a:r>
            <a:endParaRPr/>
          </a:p>
          <a:p>
            <a:pPr indent="-234950" lvl="1" marL="3524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B’s MAC address not in A’s ARP table, so A uses ARP to find B’s MAC address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20"/>
          <p:cNvGrpSpPr/>
          <p:nvPr/>
        </p:nvGrpSpPr>
        <p:grpSpPr>
          <a:xfrm>
            <a:off x="1144656" y="5342636"/>
            <a:ext cx="4222474" cy="769441"/>
            <a:chOff x="689113" y="2308977"/>
            <a:chExt cx="4222474" cy="769441"/>
          </a:xfrm>
        </p:grpSpPr>
        <p:sp>
          <p:nvSpPr>
            <p:cNvPr id="391" name="Google Shape;391;p20"/>
            <p:cNvSpPr txBox="1"/>
            <p:nvPr/>
          </p:nvSpPr>
          <p:spPr>
            <a:xfrm>
              <a:off x="1007166" y="2308977"/>
              <a:ext cx="3904421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23495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receives B’s reply, adds B entry into its local ARP table</a:t>
              </a:r>
              <a:endParaRPr/>
            </a:p>
          </p:txBody>
        </p:sp>
        <p:grpSp>
          <p:nvGrpSpPr>
            <p:cNvPr id="392" name="Google Shape;392;p20"/>
            <p:cNvGrpSpPr/>
            <p:nvPr/>
          </p:nvGrpSpPr>
          <p:grpSpPr>
            <a:xfrm>
              <a:off x="689113" y="2438399"/>
              <a:ext cx="410817" cy="461665"/>
              <a:chOff x="2292626" y="5618921"/>
              <a:chExt cx="410817" cy="461665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2292626" y="5645426"/>
                <a:ext cx="410817" cy="410817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A8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0"/>
              <p:cNvSpPr txBox="1"/>
              <p:nvPr/>
            </p:nvSpPr>
            <p:spPr>
              <a:xfrm>
                <a:off x="2319130" y="5618921"/>
                <a:ext cx="34015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  <p:grpSp>
        <p:nvGrpSpPr>
          <p:cNvPr id="395" name="Google Shape;395;p20"/>
          <p:cNvGrpSpPr/>
          <p:nvPr/>
        </p:nvGrpSpPr>
        <p:grpSpPr>
          <a:xfrm>
            <a:off x="5367131" y="3970949"/>
            <a:ext cx="1637539" cy="741718"/>
            <a:chOff x="5367131" y="3866019"/>
            <a:chExt cx="1637539" cy="741718"/>
          </a:xfrm>
        </p:grpSpPr>
        <p:sp>
          <p:nvSpPr>
            <p:cNvPr id="396" name="Google Shape;396;p20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97" name="Google Shape;397;p20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398" name="Google Shape;398;p20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01" name="Google Shape;401;p20"/>
          <p:cNvGrpSpPr/>
          <p:nvPr/>
        </p:nvGrpSpPr>
        <p:grpSpPr>
          <a:xfrm>
            <a:off x="1217886" y="3923211"/>
            <a:ext cx="3224987" cy="523220"/>
            <a:chOff x="1217886" y="3818281"/>
            <a:chExt cx="3224987" cy="523220"/>
          </a:xfrm>
        </p:grpSpPr>
        <p:sp>
          <p:nvSpPr>
            <p:cNvPr id="402" name="Google Shape;402;p20"/>
            <p:cNvSpPr txBox="1"/>
            <p:nvPr/>
          </p:nvSpPr>
          <p:spPr>
            <a:xfrm>
              <a:off x="1217886" y="3818281"/>
              <a:ext cx="88036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137.196.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    7.14</a:t>
              </a:r>
              <a:endParaRPr/>
            </a:p>
          </p:txBody>
        </p:sp>
        <p:sp>
          <p:nvSpPr>
            <p:cNvPr id="403" name="Google Shape;403;p20"/>
            <p:cNvSpPr txBox="1"/>
            <p:nvPr/>
          </p:nvSpPr>
          <p:spPr>
            <a:xfrm>
              <a:off x="2217388" y="3897795"/>
              <a:ext cx="17399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58-23-D7-FA-20-B0</a:t>
              </a:r>
              <a:endParaRPr/>
            </a:p>
          </p:txBody>
        </p:sp>
        <p:sp>
          <p:nvSpPr>
            <p:cNvPr id="404" name="Google Shape;404;p20"/>
            <p:cNvSpPr txBox="1"/>
            <p:nvPr/>
          </p:nvSpPr>
          <p:spPr>
            <a:xfrm>
              <a:off x="3960049" y="3891169"/>
              <a:ext cx="4828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500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935519" y="1322317"/>
            <a:ext cx="10831760" cy="1196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11125" lvl="0" marL="111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walkthrough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sending a  datagram from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to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via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-225425" lvl="1" marL="457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focus on addressing – at IP (datagram) and MAC layer (frame) levels</a:t>
            </a:r>
            <a:endParaRPr/>
          </a:p>
        </p:txBody>
      </p:sp>
      <p:cxnSp>
        <p:nvCxnSpPr>
          <p:cNvPr id="413" name="Google Shape;413;p21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4" name="Google Shape;414;p21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1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6" name="Google Shape;416;p21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1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8" name="Google Shape;418;p21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419" name="Google Shape;419;p21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1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21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423" name="Google Shape;423;p21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424" name="Google Shape;424;p21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425" name="Google Shape;425;p21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426" name="Google Shape;426;p21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427" name="Google Shape;427;p21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29" name="Google Shape;429;p2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30" name="Google Shape;430;p21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1" name="Google Shape;431;p21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21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21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34" name="Google Shape;434;p21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35" name="Google Shape;435;p21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436" name="Google Shape;436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7" name="Google Shape;437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8" name="Google Shape;438;p21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39" name="Google Shape;439;p21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440" name="Google Shape;44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1" name="Google Shape;441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" name="Google Shape;442;p21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443" name="Google Shape;443;p21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444" name="Google Shape;444;p21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445" name="Google Shape;445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7" name="Google Shape;447;p21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448" name="Google Shape;448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0" name="Google Shape;450;p21"/>
          <p:cNvGrpSpPr/>
          <p:nvPr/>
        </p:nvGrpSpPr>
        <p:grpSpPr>
          <a:xfrm>
            <a:off x="1799535" y="4860508"/>
            <a:ext cx="8432226" cy="1763135"/>
            <a:chOff x="1799535" y="4860508"/>
            <a:chExt cx="8432226" cy="1763135"/>
          </a:xfrm>
        </p:grpSpPr>
        <p:sp>
          <p:nvSpPr>
            <p:cNvPr id="451" name="Google Shape;451;p21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452" name="Google Shape;452;p21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453" name="Google Shape;453;p21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454" name="Google Shape;454;p21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455" name="Google Shape;455;p21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456" name="Google Shape;456;p21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457" name="Google Shape;457;p21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458" name="Google Shape;458;p21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459" name="Google Shape;459;p21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cxnSp>
          <p:nvCxnSpPr>
            <p:cNvPr id="460" name="Google Shape;460;p21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1" name="Google Shape;461;p21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62" name="Google Shape;462;p21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63" name="Google Shape;463;p21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464" name="Google Shape;464;p21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465" name="Google Shape;465;p21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466" name="Google Shape;466;p21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sp>
          <p:nvSpPr>
            <p:cNvPr id="467" name="Google Shape;467;p21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468" name="Google Shape;468;p21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469" name="Google Shape;469;p21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70" name="Google Shape;470;p21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471" name="Google Shape;471;p21"/>
          <p:cNvSpPr txBox="1"/>
          <p:nvPr/>
        </p:nvSpPr>
        <p:spPr>
          <a:xfrm>
            <a:off x="923027" y="2179255"/>
            <a:ext cx="10196305" cy="15832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5425" lvl="1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assume that: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knows B’s IP address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knows IP address of first hop router, R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  <a:p>
            <a:pPr indent="-342900" lvl="2" marL="10223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knows R’s MAC address </a:t>
            </a:r>
            <a:r>
              <a:rPr b="0" i="0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(how?)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9" name="Google Shape;479;p22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480" name="Google Shape;480;p22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81" name="Google Shape;481;p22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="0" i="0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22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483" name="Google Shape;483;p22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484" name="Google Shape;484;p22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485" name="Google Shape;485;p22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486" name="Google Shape;486;p22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487" name="Google Shape;487;p22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488" name="Google Shape;488;p22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489" name="Google Shape;489;p22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490" name="Google Shape;490;p22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92" name="Google Shape;492;p22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3" name="Google Shape;493;p22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94" name="Google Shape;494;p22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95" name="Google Shape;495;p22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496" name="Google Shape;496;p22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497" name="Google Shape;497;p22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498" name="Google Shape;498;p22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499" name="Google Shape;499;p22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500" name="Google Shape;500;p22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501" name="Google Shape;501;p22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502" name="Google Shape;502;p22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3" name="Google Shape;503;p22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504" name="Google Shape;504;p22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505" name="Google Shape;505;p22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06" name="Google Shape;506;p22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22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508" name="Google Shape;508;p22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509" name="Google Shape;509;p22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510" name="Google Shape;510;p22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511" name="Google Shape;511;p22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512" name="Google Shape;512;p22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513" name="Google Shape;513;p22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514" name="Google Shape;514;p22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515" name="Google Shape;515;p22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6" name="Google Shape;516;p22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7" name="Google Shape;517;p22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18" name="Google Shape;518;p22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519" name="Google Shape;519;p22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20" name="Google Shape;520;p22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521" name="Google Shape;521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2" name="Google Shape;522;p2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3" name="Google Shape;523;p22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24" name="Google Shape;524;p22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525" name="Google Shape;525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26" name="Google Shape;526;p2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7" name="Google Shape;527;p22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29" name="Google Shape;529;p22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530" name="Google Shape;530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1" name="Google Shape;531;p2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22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533" name="Google Shape;533;p2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34" name="Google Shape;534;p2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35" name="Google Shape;535;p22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536" name="Google Shape;536;p22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537" name="Google Shape;537;p22"/>
          <p:cNvSpPr/>
          <p:nvPr/>
        </p:nvSpPr>
        <p:spPr>
          <a:xfrm>
            <a:off x="3527282" y="3404150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8" name="Google Shape;538;p22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539" name="Google Shape;539;p22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2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542" name="Google Shape;542;p22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3" name="Google Shape;543;p22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4" name="Google Shape;544;p22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45" name="Google Shape;545;p22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546" name="Google Shape;546;p22"/>
          <p:cNvGrpSpPr/>
          <p:nvPr/>
        </p:nvGrpSpPr>
        <p:grpSpPr>
          <a:xfrm>
            <a:off x="3033570" y="2961238"/>
            <a:ext cx="2011362" cy="760412"/>
            <a:chOff x="1197" y="1665"/>
            <a:chExt cx="1267" cy="479"/>
          </a:xfrm>
        </p:grpSpPr>
        <p:grpSp>
          <p:nvGrpSpPr>
            <p:cNvPr id="547" name="Google Shape;547;p22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548" name="Google Shape;548;p22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49" name="Google Shape;549;p22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50" name="Google Shape;550;p22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551" name="Google Shape;551;p22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552" name="Google Shape;552;p22"/>
          <p:cNvGrpSpPr/>
          <p:nvPr/>
        </p:nvGrpSpPr>
        <p:grpSpPr>
          <a:xfrm>
            <a:off x="3166920" y="3221588"/>
            <a:ext cx="146050" cy="385762"/>
            <a:chOff x="1272" y="1762"/>
            <a:chExt cx="92" cy="243"/>
          </a:xfrm>
        </p:grpSpPr>
        <p:cxnSp>
          <p:nvCxnSpPr>
            <p:cNvPr id="553" name="Google Shape;553;p22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54" name="Google Shape;554;p22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555" name="Google Shape;555;p22"/>
          <p:cNvSpPr/>
          <p:nvPr/>
        </p:nvSpPr>
        <p:spPr>
          <a:xfrm>
            <a:off x="1249776" y="1283045"/>
            <a:ext cx="10769945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IP datagram with IP source A, destination B </a:t>
            </a:r>
            <a:endParaRPr/>
          </a:p>
        </p:txBody>
      </p:sp>
      <p:sp>
        <p:nvSpPr>
          <p:cNvPr id="556" name="Google Shape;556;p22"/>
          <p:cNvSpPr/>
          <p:nvPr/>
        </p:nvSpPr>
        <p:spPr>
          <a:xfrm>
            <a:off x="1262476" y="1672614"/>
            <a:ext cx="10200653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creates link-layer frame containing A-to-B IP datagram</a:t>
            </a:r>
            <a:endParaRPr/>
          </a:p>
          <a:p>
            <a:pPr indent="-231775" lvl="1" marL="574675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R's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address is frame’s destination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7" name="Google Shape;557;p22"/>
          <p:cNvGrpSpPr/>
          <p:nvPr/>
        </p:nvGrpSpPr>
        <p:grpSpPr>
          <a:xfrm>
            <a:off x="2617645" y="2562775"/>
            <a:ext cx="2443162" cy="1519238"/>
            <a:chOff x="931" y="1414"/>
            <a:chExt cx="1539" cy="957"/>
          </a:xfrm>
        </p:grpSpPr>
        <p:sp>
          <p:nvSpPr>
            <p:cNvPr id="558" name="Google Shape;558;p22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/>
            </a:p>
          </p:txBody>
        </p:sp>
        <p:grpSp>
          <p:nvGrpSpPr>
            <p:cNvPr id="559" name="Google Shape;559;p22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560" name="Google Shape;560;p22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1" name="Google Shape;561;p22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562" name="Google Shape;562;p22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3" name="Google Shape;563;p22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4" name="Google Shape;564;p22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65" name="Google Shape;565;p22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566" name="Google Shape;566;p22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67" name="Google Shape;567;p22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68" name="Google Shape;568;p22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69" name="Google Shape;569;p22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7" name="Google Shape;577;p23"/>
          <p:cNvGrpSpPr/>
          <p:nvPr/>
        </p:nvGrpSpPr>
        <p:grpSpPr>
          <a:xfrm>
            <a:off x="1799535" y="4315099"/>
            <a:ext cx="8432226" cy="2308544"/>
            <a:chOff x="1799535" y="4315099"/>
            <a:chExt cx="8432226" cy="2308544"/>
          </a:xfrm>
        </p:grpSpPr>
        <p:cxnSp>
          <p:nvCxnSpPr>
            <p:cNvPr id="578" name="Google Shape;578;p23"/>
            <p:cNvCxnSpPr/>
            <p:nvPr/>
          </p:nvCxnSpPr>
          <p:spPr>
            <a:xfrm>
              <a:off x="4293702" y="5340624"/>
              <a:ext cx="3233531" cy="0"/>
            </a:xfrm>
            <a:prstGeom prst="straightConnector1">
              <a:avLst/>
            </a:prstGeom>
            <a:noFill/>
            <a:ln cap="flat" cmpd="sng" w="158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79" name="Google Shape;579;p23"/>
            <p:cNvSpPr txBox="1"/>
            <p:nvPr/>
          </p:nvSpPr>
          <p:spPr>
            <a:xfrm>
              <a:off x="5496545" y="4606786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 b="0" i="0" sz="20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23"/>
            <p:cNvSpPr txBox="1"/>
            <p:nvPr/>
          </p:nvSpPr>
          <p:spPr>
            <a:xfrm>
              <a:off x="5140945" y="5749508"/>
              <a:ext cx="158594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1A-23-F9-CD-06-9B</a:t>
              </a:r>
              <a:endParaRPr/>
            </a:p>
          </p:txBody>
        </p:sp>
        <p:sp>
          <p:nvSpPr>
            <p:cNvPr id="581" name="Google Shape;581;p23"/>
            <p:cNvSpPr txBox="1"/>
            <p:nvPr/>
          </p:nvSpPr>
          <p:spPr>
            <a:xfrm>
              <a:off x="5288582" y="5576471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222.222.222.220</a:t>
              </a:r>
              <a:endParaRPr/>
            </a:p>
          </p:txBody>
        </p:sp>
        <p:grpSp>
          <p:nvGrpSpPr>
            <p:cNvPr id="582" name="Google Shape;582;p23"/>
            <p:cNvGrpSpPr/>
            <p:nvPr/>
          </p:nvGrpSpPr>
          <p:grpSpPr>
            <a:xfrm>
              <a:off x="3992226" y="6027746"/>
              <a:ext cx="1573213" cy="482601"/>
              <a:chOff x="1934" y="2405"/>
              <a:chExt cx="991" cy="304"/>
            </a:xfrm>
          </p:grpSpPr>
          <p:sp>
            <p:nvSpPr>
              <p:cNvPr id="583" name="Google Shape;583;p23"/>
              <p:cNvSpPr txBox="1"/>
              <p:nvPr/>
            </p:nvSpPr>
            <p:spPr>
              <a:xfrm>
                <a:off x="1934" y="2405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111.111.111.110</a:t>
                </a:r>
                <a:endParaRPr/>
              </a:p>
            </p:txBody>
          </p:sp>
          <p:sp>
            <p:nvSpPr>
              <p:cNvPr id="584" name="Google Shape;584;p23"/>
              <p:cNvSpPr txBox="1"/>
              <p:nvPr/>
            </p:nvSpPr>
            <p:spPr>
              <a:xfrm>
                <a:off x="1938" y="2515"/>
                <a:ext cx="987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E6-E9-00-17-BB-4B</a:t>
                </a:r>
                <a:endParaRPr/>
              </a:p>
            </p:txBody>
          </p:sp>
        </p:grpSp>
        <p:sp>
          <p:nvSpPr>
            <p:cNvPr id="585" name="Google Shape;585;p23"/>
            <p:cNvSpPr txBox="1"/>
            <p:nvPr/>
          </p:nvSpPr>
          <p:spPr>
            <a:xfrm>
              <a:off x="1983382" y="6174597"/>
              <a:ext cx="1634615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CC-49-DE-D0-AB-7D</a:t>
              </a:r>
              <a:endParaRPr/>
            </a:p>
          </p:txBody>
        </p:sp>
        <p:sp>
          <p:nvSpPr>
            <p:cNvPr id="586" name="Google Shape;586;p23"/>
            <p:cNvSpPr txBox="1"/>
            <p:nvPr/>
          </p:nvSpPr>
          <p:spPr>
            <a:xfrm>
              <a:off x="2183407" y="5985684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111.111.111.112</a:t>
              </a:r>
              <a:endParaRPr/>
            </a:p>
          </p:txBody>
        </p:sp>
        <p:sp>
          <p:nvSpPr>
            <p:cNvPr id="587" name="Google Shape;587;p23"/>
            <p:cNvSpPr txBox="1"/>
            <p:nvPr/>
          </p:nvSpPr>
          <p:spPr>
            <a:xfrm>
              <a:off x="1901438" y="5007006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111.111.111.111</a:t>
              </a:r>
              <a:endParaRPr/>
            </a:p>
          </p:txBody>
        </p:sp>
        <p:sp>
          <p:nvSpPr>
            <p:cNvPr id="588" name="Google Shape;588;p23"/>
            <p:cNvSpPr txBox="1"/>
            <p:nvPr/>
          </p:nvSpPr>
          <p:spPr>
            <a:xfrm>
              <a:off x="1799535" y="5196273"/>
              <a:ext cx="1535998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74-29-9C-E8-FF-55</a:t>
              </a: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3637582" y="4808121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90" name="Google Shape;590;p23"/>
            <p:cNvCxnSpPr/>
            <p:nvPr/>
          </p:nvCxnSpPr>
          <p:spPr>
            <a:xfrm>
              <a:off x="3334370" y="4787483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1" name="Google Shape;591;p23"/>
            <p:cNvCxnSpPr/>
            <p:nvPr/>
          </p:nvCxnSpPr>
          <p:spPr>
            <a:xfrm flipH="1" rot="10800000">
              <a:off x="3406935" y="5732045"/>
              <a:ext cx="283036" cy="544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92" name="Google Shape;592;p23"/>
            <p:cNvCxnSpPr/>
            <p:nvPr/>
          </p:nvCxnSpPr>
          <p:spPr>
            <a:xfrm rot="10800000">
              <a:off x="3342282" y="5842809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3" name="Google Shape;593;p23"/>
            <p:cNvCxnSpPr/>
            <p:nvPr/>
          </p:nvCxnSpPr>
          <p:spPr>
            <a:xfrm rot="10800000">
              <a:off x="3248645" y="4860508"/>
              <a:ext cx="0" cy="24812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94" name="Google Shape;594;p23"/>
            <p:cNvCxnSpPr/>
            <p:nvPr/>
          </p:nvCxnSpPr>
          <p:spPr>
            <a:xfrm>
              <a:off x="5018707" y="5427247"/>
              <a:ext cx="0" cy="6205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595" name="Google Shape;595;p23"/>
            <p:cNvCxnSpPr/>
            <p:nvPr/>
          </p:nvCxnSpPr>
          <p:spPr>
            <a:xfrm rot="10800000">
              <a:off x="6207745" y="5417721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96" name="Google Shape;596;p23"/>
            <p:cNvSpPr txBox="1"/>
            <p:nvPr/>
          </p:nvSpPr>
          <p:spPr>
            <a:xfrm>
              <a:off x="2243136" y="4315099"/>
              <a:ext cx="393056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grpSp>
          <p:nvGrpSpPr>
            <p:cNvPr id="597" name="Google Shape;597;p23"/>
            <p:cNvGrpSpPr/>
            <p:nvPr/>
          </p:nvGrpSpPr>
          <p:grpSpPr>
            <a:xfrm>
              <a:off x="8615685" y="5148731"/>
              <a:ext cx="1616076" cy="495300"/>
              <a:chOff x="4351" y="2786"/>
              <a:chExt cx="1018" cy="312"/>
            </a:xfrm>
          </p:grpSpPr>
          <p:sp>
            <p:nvSpPr>
              <p:cNvPr id="598" name="Google Shape;598;p23"/>
              <p:cNvSpPr txBox="1"/>
              <p:nvPr/>
            </p:nvSpPr>
            <p:spPr>
              <a:xfrm>
                <a:off x="4352" y="2786"/>
                <a:ext cx="892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222.222.222.222</a:t>
                </a:r>
                <a:endParaRPr/>
              </a:p>
            </p:txBody>
          </p:sp>
          <p:sp>
            <p:nvSpPr>
              <p:cNvPr id="599" name="Google Shape;599;p23"/>
              <p:cNvSpPr txBox="1"/>
              <p:nvPr/>
            </p:nvSpPr>
            <p:spPr>
              <a:xfrm>
                <a:off x="4351" y="2904"/>
                <a:ext cx="1018" cy="1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49-BD-D2-C7-56-2A</a:t>
                </a:r>
                <a:endParaRPr/>
              </a:p>
            </p:txBody>
          </p:sp>
        </p:grpSp>
        <p:cxnSp>
          <p:nvCxnSpPr>
            <p:cNvPr id="600" name="Google Shape;600;p23"/>
            <p:cNvCxnSpPr/>
            <p:nvPr/>
          </p:nvCxnSpPr>
          <p:spPr>
            <a:xfrm flipH="1" rot="10800000">
              <a:off x="8215932" y="4787483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1" name="Google Shape;601;p23"/>
            <p:cNvSpPr txBox="1"/>
            <p:nvPr/>
          </p:nvSpPr>
          <p:spPr>
            <a:xfrm>
              <a:off x="8307272" y="6136999"/>
              <a:ext cx="141577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222.222.222.221</a:t>
              </a:r>
              <a:endParaRPr/>
            </a:p>
          </p:txBody>
        </p:sp>
        <p:sp>
          <p:nvSpPr>
            <p:cNvPr id="602" name="Google Shape;602;p23"/>
            <p:cNvSpPr txBox="1"/>
            <p:nvPr/>
          </p:nvSpPr>
          <p:spPr>
            <a:xfrm>
              <a:off x="8297391" y="6315866"/>
              <a:ext cx="155228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88-B2-2F-54-1A-0F</a:t>
              </a:r>
              <a:endParaRPr/>
            </a:p>
          </p:txBody>
        </p:sp>
        <p:cxnSp>
          <p:nvCxnSpPr>
            <p:cNvPr id="603" name="Google Shape;603;p23"/>
            <p:cNvCxnSpPr/>
            <p:nvPr/>
          </p:nvCxnSpPr>
          <p:spPr>
            <a:xfrm rot="10800000">
              <a:off x="8156672" y="5684421"/>
              <a:ext cx="267105" cy="2009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04" name="Google Shape;604;p23"/>
            <p:cNvSpPr/>
            <p:nvPr/>
          </p:nvSpPr>
          <p:spPr>
            <a:xfrm>
              <a:off x="7476157" y="4811296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9CE0F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3"/>
            <p:cNvSpPr txBox="1"/>
            <p:nvPr/>
          </p:nvSpPr>
          <p:spPr>
            <a:xfrm>
              <a:off x="9407316" y="4484341"/>
              <a:ext cx="380232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8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A8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606" name="Google Shape;606;p23"/>
            <p:cNvGrpSpPr/>
            <p:nvPr/>
          </p:nvGrpSpPr>
          <p:grpSpPr>
            <a:xfrm>
              <a:off x="5001868" y="5038254"/>
              <a:ext cx="1310632" cy="501151"/>
              <a:chOff x="4909105" y="5767126"/>
              <a:chExt cx="1310632" cy="501151"/>
            </a:xfrm>
          </p:grpSpPr>
          <p:sp>
            <p:nvSpPr>
              <p:cNvPr id="607" name="Google Shape;607;p23"/>
              <p:cNvSpPr/>
              <p:nvPr/>
            </p:nvSpPr>
            <p:spPr>
              <a:xfrm rot="5400000">
                <a:off x="6024859" y="5937451"/>
                <a:ext cx="134168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 rot="5400000">
                <a:off x="4966501" y="5940764"/>
                <a:ext cx="140795" cy="255587"/>
              </a:xfrm>
              <a:prstGeom prst="rect">
                <a:avLst/>
              </a:prstGeom>
              <a:gradFill>
                <a:gsLst>
                  <a:gs pos="0">
                    <a:srgbClr val="0000A8"/>
                  </a:gs>
                  <a:gs pos="50000">
                    <a:srgbClr val="FFFFFF"/>
                  </a:gs>
                  <a:gs pos="99000">
                    <a:srgbClr val="0000A8"/>
                  </a:gs>
                  <a:gs pos="100000">
                    <a:srgbClr val="0000A8"/>
                  </a:gs>
                </a:gsLst>
                <a:lin ang="0" scaled="0"/>
              </a:gradFill>
              <a:ln cap="flat" cmpd="sng" w="9525">
                <a:solidFill>
                  <a:srgbClr val="008000">
                    <a:alpha val="14901"/>
                  </a:srgbClr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09" name="Google Shape;609;p23"/>
              <p:cNvGrpSpPr/>
              <p:nvPr/>
            </p:nvGrpSpPr>
            <p:grpSpPr>
              <a:xfrm>
                <a:off x="5115340" y="5767126"/>
                <a:ext cx="901147" cy="501151"/>
                <a:chOff x="7493876" y="2774731"/>
                <a:chExt cx="1481958" cy="894622"/>
              </a:xfrm>
            </p:grpSpPr>
            <p:sp>
              <p:nvSpPr>
                <p:cNvPr id="610" name="Google Shape;610;p23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611" name="Google Shape;611;p23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612" name="Google Shape;612;p23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13" name="Google Shape;613;p23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4" name="Google Shape;614;p23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5" name="Google Shape;615;p23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23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617" name="Google Shape;617;p23"/>
            <p:cNvSpPr/>
            <p:nvPr/>
          </p:nvSpPr>
          <p:spPr>
            <a:xfrm rot="5400000">
              <a:off x="3161022" y="4666815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618" name="Google Shape;618;p23"/>
            <p:cNvGrpSpPr/>
            <p:nvPr/>
          </p:nvGrpSpPr>
          <p:grpSpPr>
            <a:xfrm>
              <a:off x="2318687" y="4333458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619" name="Google Shape;619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0" name="Google Shape;620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1" name="Google Shape;621;p23"/>
            <p:cNvSpPr/>
            <p:nvPr/>
          </p:nvSpPr>
          <p:spPr>
            <a:xfrm rot="5400000">
              <a:off x="3271833" y="5687855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622" name="Google Shape;622;p23"/>
            <p:cNvGrpSpPr/>
            <p:nvPr/>
          </p:nvGrpSpPr>
          <p:grpSpPr>
            <a:xfrm>
              <a:off x="2681426" y="5490561"/>
              <a:ext cx="639495" cy="517588"/>
              <a:chOff x="-44" y="1473"/>
              <a:chExt cx="981" cy="1105"/>
            </a:xfrm>
          </p:grpSpPr>
          <p:pic>
            <p:nvPicPr>
              <p:cNvPr descr="desktop_computer_stylized_medium" id="623" name="Google Shape;623;p2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4" name="Google Shape;624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5" name="Google Shape;625;p23"/>
            <p:cNvSpPr/>
            <p:nvPr/>
          </p:nvSpPr>
          <p:spPr>
            <a:xfrm rot="5400000">
              <a:off x="8726575" y="4653061"/>
              <a:ext cx="119903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626" name="Google Shape;626;p23"/>
            <p:cNvSpPr/>
            <p:nvPr/>
          </p:nvSpPr>
          <p:spPr>
            <a:xfrm rot="5400000">
              <a:off x="8496816" y="5784803"/>
              <a:ext cx="84261" cy="194751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627" name="Google Shape;627;p23"/>
            <p:cNvGrpSpPr/>
            <p:nvPr/>
          </p:nvGrpSpPr>
          <p:grpSpPr>
            <a:xfrm>
              <a:off x="8491273" y="4391325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628" name="Google Shape;628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29" name="Google Shape;629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0" name="Google Shape;630;p23"/>
            <p:cNvGrpSpPr/>
            <p:nvPr/>
          </p:nvGrpSpPr>
          <p:grpSpPr>
            <a:xfrm>
              <a:off x="8343615" y="5618570"/>
              <a:ext cx="711200" cy="601028"/>
              <a:chOff x="-44" y="1473"/>
              <a:chExt cx="981" cy="1105"/>
            </a:xfrm>
          </p:grpSpPr>
          <p:pic>
            <p:nvPicPr>
              <p:cNvPr descr="desktop_computer_stylized_medium" id="631" name="Google Shape;631;p2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2" name="Google Shape;632;p2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33" name="Google Shape;633;p23"/>
            <p:cNvCxnSpPr/>
            <p:nvPr/>
          </p:nvCxnSpPr>
          <p:spPr>
            <a:xfrm rot="10800000">
              <a:off x="8669292" y="4874844"/>
              <a:ext cx="0" cy="445971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634" name="Google Shape;634;p23"/>
            <p:cNvCxnSpPr/>
            <p:nvPr/>
          </p:nvCxnSpPr>
          <p:spPr>
            <a:xfrm rot="10800000">
              <a:off x="8447023" y="5943807"/>
              <a:ext cx="0" cy="241632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35" name="Google Shape;635;p23"/>
          <p:cNvGrpSpPr/>
          <p:nvPr/>
        </p:nvGrpSpPr>
        <p:grpSpPr>
          <a:xfrm>
            <a:off x="1793938" y="3017352"/>
            <a:ext cx="976312" cy="1460500"/>
            <a:chOff x="337" y="1692"/>
            <a:chExt cx="615" cy="920"/>
          </a:xfrm>
        </p:grpSpPr>
        <p:sp>
          <p:nvSpPr>
            <p:cNvPr id="636" name="Google Shape;636;p23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10000" w="10000">
                  <a:moveTo>
                    <a:pt x="8212" y="0"/>
                  </a:moveTo>
                  <a:lnTo>
                    <a:pt x="10000" y="10000"/>
                  </a:lnTo>
                  <a:lnTo>
                    <a:pt x="0" y="8726"/>
                  </a:lnTo>
                  <a:lnTo>
                    <a:pt x="8195" y="8786"/>
                  </a:lnTo>
                  <a:cubicBezTo>
                    <a:pt x="8201" y="5857"/>
                    <a:pt x="8206" y="2929"/>
                    <a:pt x="8212" y="0"/>
                  </a:cubicBezTo>
                  <a:close/>
                </a:path>
              </a:pathLst>
            </a:custGeom>
            <a:gradFill>
              <a:gsLst>
                <a:gs pos="0">
                  <a:srgbClr val="7F7F7F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3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3"/>
            <p:cNvSpPr txBox="1"/>
            <p:nvPr/>
          </p:nvSpPr>
          <p:spPr>
            <a:xfrm>
              <a:off x="426" y="1692"/>
              <a:ext cx="309" cy="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</a:t>
              </a:r>
              <a:endParaRPr/>
            </a:p>
          </p:txBody>
        </p:sp>
        <p:cxnSp>
          <p:nvCxnSpPr>
            <p:cNvPr id="639" name="Google Shape;639;p23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0" name="Google Shape;640;p23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1" name="Google Shape;641;p23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2" name="Google Shape;642;p23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43" name="Google Shape;643;p23"/>
          <p:cNvSpPr/>
          <p:nvPr/>
        </p:nvSpPr>
        <p:spPr>
          <a:xfrm>
            <a:off x="1276283" y="1283047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sent from A to R</a:t>
            </a:r>
            <a:endParaRPr/>
          </a:p>
        </p:txBody>
      </p:sp>
      <p:grpSp>
        <p:nvGrpSpPr>
          <p:cNvPr id="644" name="Google Shape;644;p23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645" name="Google Shape;645;p23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3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3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648" name="Google Shape;648;p23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9" name="Google Shape;649;p23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50" name="Google Shape;650;p23"/>
          <p:cNvSpPr/>
          <p:nvPr/>
        </p:nvSpPr>
        <p:spPr>
          <a:xfrm>
            <a:off x="1266206" y="17446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received at R, datagram removed, passed up to IP</a:t>
            </a:r>
            <a:endParaRPr/>
          </a:p>
        </p:txBody>
      </p:sp>
      <p:grpSp>
        <p:nvGrpSpPr>
          <p:cNvPr id="651" name="Google Shape;651;p23"/>
          <p:cNvGrpSpPr/>
          <p:nvPr/>
        </p:nvGrpSpPr>
        <p:grpSpPr>
          <a:xfrm>
            <a:off x="2617650" y="2562774"/>
            <a:ext cx="2443162" cy="1519238"/>
            <a:chOff x="931" y="1414"/>
            <a:chExt cx="1539" cy="957"/>
          </a:xfrm>
        </p:grpSpPr>
        <p:sp>
          <p:nvSpPr>
            <p:cNvPr id="652" name="Google Shape;652;p23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/>
            </a:p>
          </p:txBody>
        </p:sp>
        <p:grpSp>
          <p:nvGrpSpPr>
            <p:cNvPr id="653" name="Google Shape;653;p23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654" name="Google Shape;654;p23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23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656" name="Google Shape;656;p23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7" name="Google Shape;657;p23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8" name="Google Shape;658;p23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9" name="Google Shape;659;p23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660" name="Google Shape;660;p23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61" name="Google Shape;661;p23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62" name="Google Shape;662;p23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63" name="Google Shape;663;p23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64" name="Google Shape;664;p23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  <p:grpSp>
        <p:nvGrpSpPr>
          <p:cNvPr id="665" name="Google Shape;665;p23"/>
          <p:cNvGrpSpPr/>
          <p:nvPr/>
        </p:nvGrpSpPr>
        <p:grpSpPr>
          <a:xfrm>
            <a:off x="4185539" y="3526195"/>
            <a:ext cx="1096962" cy="244475"/>
            <a:chOff x="1231" y="1990"/>
            <a:chExt cx="691" cy="154"/>
          </a:xfrm>
        </p:grpSpPr>
        <p:sp>
          <p:nvSpPr>
            <p:cNvPr id="666" name="Google Shape;666;p23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67" name="Google Shape;667;p23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8" name="Google Shape;668;p23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69" name="Google Shape;669;p23"/>
          <p:cNvGrpSpPr/>
          <p:nvPr/>
        </p:nvGrpSpPr>
        <p:grpSpPr>
          <a:xfrm>
            <a:off x="4139501" y="2695932"/>
            <a:ext cx="2011363" cy="979488"/>
            <a:chOff x="4493" y="1480"/>
            <a:chExt cx="1267" cy="617"/>
          </a:xfrm>
        </p:grpSpPr>
        <p:cxnSp>
          <p:nvCxnSpPr>
            <p:cNvPr id="670" name="Google Shape;670;p23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671" name="Google Shape;671;p23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672" name="Google Shape;672;p23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0" name="Google Shape;680;p24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81" name="Google Shape;681;p24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4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683" name="Google Shape;683;p24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684" name="Google Shape;684;p24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685" name="Google Shape;685;p24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686" name="Google Shape;686;p24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687" name="Google Shape;687;p24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688" name="Google Shape;688;p24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689" name="Google Shape;689;p24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690" name="Google Shape;690;p24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691" name="Google Shape;691;p24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2" name="Google Shape;692;p24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24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4" name="Google Shape;694;p24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5" name="Google Shape;695;p24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96" name="Google Shape;696;p24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697" name="Google Shape;697;p24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8" name="Google Shape;698;p24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699" name="Google Shape;699;p24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700" name="Google Shape;700;p24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701" name="Google Shape;701;p24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702" name="Google Shape;702;p24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3" name="Google Shape;703;p24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704" name="Google Shape;704;p24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705" name="Google Shape;705;p24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24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4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708" name="Google Shape;708;p24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709" name="Google Shape;709;p24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710" name="Google Shape;710;p24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711" name="Google Shape;711;p24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712" name="Google Shape;712;p24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713" name="Google Shape;713;p24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714" name="Google Shape;714;p2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715" name="Google Shape;715;p24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6" name="Google Shape;716;p24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7" name="Google Shape;717;p24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8" name="Google Shape;718;p24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719" name="Google Shape;719;p24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20" name="Google Shape;720;p24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721" name="Google Shape;72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2" name="Google Shape;722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4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24" name="Google Shape;724;p24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725" name="Google Shape;725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6" name="Google Shape;726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7" name="Google Shape;727;p24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28" name="Google Shape;728;p24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729" name="Google Shape;729;p24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730" name="Google Shape;730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1" name="Google Shape;731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32" name="Google Shape;732;p24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733" name="Google Shape;733;p24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734" name="Google Shape;734;p24"/>
          <p:cNvSpPr/>
          <p:nvPr/>
        </p:nvSpPr>
        <p:spPr>
          <a:xfrm>
            <a:off x="7008951" y="3383377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rgbClr val="FFFFFF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5" name="Google Shape;735;p24"/>
          <p:cNvGrpSpPr/>
          <p:nvPr/>
        </p:nvGrpSpPr>
        <p:grpSpPr>
          <a:xfrm>
            <a:off x="6569213" y="3456402"/>
            <a:ext cx="1096963" cy="244475"/>
            <a:chOff x="1231" y="1990"/>
            <a:chExt cx="691" cy="154"/>
          </a:xfrm>
        </p:grpSpPr>
        <p:sp>
          <p:nvSpPr>
            <p:cNvPr id="736" name="Google Shape;736;p24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7" name="Google Shape;737;p24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38" name="Google Shape;738;p24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739" name="Google Shape;739;p24"/>
          <p:cNvSpPr txBox="1"/>
          <p:nvPr/>
        </p:nvSpPr>
        <p:spPr>
          <a:xfrm>
            <a:off x="6515238" y="2940464"/>
            <a:ext cx="20113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src: 111.111.111.111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IP dest: 222.222.222.222</a:t>
            </a:r>
            <a:endParaRPr/>
          </a:p>
        </p:txBody>
      </p:sp>
      <p:grpSp>
        <p:nvGrpSpPr>
          <p:cNvPr id="740" name="Google Shape;740;p24"/>
          <p:cNvGrpSpPr/>
          <p:nvPr/>
        </p:nvGrpSpPr>
        <p:grpSpPr>
          <a:xfrm>
            <a:off x="6639063" y="3191289"/>
            <a:ext cx="146050" cy="385763"/>
            <a:chOff x="1272" y="1762"/>
            <a:chExt cx="92" cy="243"/>
          </a:xfrm>
        </p:grpSpPr>
        <p:cxnSp>
          <p:nvCxnSpPr>
            <p:cNvPr id="741" name="Google Shape;741;p24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42" name="Google Shape;742;p24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43" name="Google Shape;743;p24"/>
          <p:cNvGrpSpPr/>
          <p:nvPr/>
        </p:nvGrpSpPr>
        <p:grpSpPr>
          <a:xfrm>
            <a:off x="6089788" y="2532477"/>
            <a:ext cx="2428876" cy="1519237"/>
            <a:chOff x="931" y="1414"/>
            <a:chExt cx="1530" cy="957"/>
          </a:xfrm>
        </p:grpSpPr>
        <p:sp>
          <p:nvSpPr>
            <p:cNvPr id="744" name="Google Shape;744;p24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Comic Sans MS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5" name="Google Shape;745;p24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746" name="Google Shape;746;p24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24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48" name="Google Shape;748;p24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49" name="Google Shape;749;p24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0" name="Google Shape;750;p24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1" name="Google Shape;751;p24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FFFFFF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752" name="Google Shape;752;p24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753" name="Google Shape;753;p24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754" name="Google Shape;754;p24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755" name="Google Shape;755;p24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756" name="Google Shape;756;p24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757" name="Google Shape;757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8" name="Google Shape;758;p2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59" name="Google Shape;759;p24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760" name="Google Shape;760;p24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containing A-to-B IP datagram. Frame destination address: B's MAC address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1" name="Google Shape;761;p24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762" name="Google Shape;762;p24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4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765" name="Google Shape;765;p24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6" name="Google Shape;766;p24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4" name="Google Shape;774;p25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5" name="Google Shape;775;p25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5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777" name="Google Shape;777;p25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778" name="Google Shape;778;p25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779" name="Google Shape;779;p25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780" name="Google Shape;780;p25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781" name="Google Shape;781;p25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782" name="Google Shape;782;p25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783" name="Google Shape;783;p25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784" name="Google Shape;784;p25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785" name="Google Shape;785;p25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6" name="Google Shape;786;p25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7" name="Google Shape;787;p25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8" name="Google Shape;788;p25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9" name="Google Shape;789;p25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90" name="Google Shape;790;p25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791" name="Google Shape;791;p25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2" name="Google Shape;792;p25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793" name="Google Shape;793;p25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794" name="Google Shape;794;p25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795" name="Google Shape;795;p25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796" name="Google Shape;796;p25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25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798" name="Google Shape;798;p25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799" name="Google Shape;799;p25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25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802" name="Google Shape;802;p25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803" name="Google Shape;803;p25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804" name="Google Shape;804;p25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805" name="Google Shape;805;p25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806" name="Google Shape;806;p25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807" name="Google Shape;807;p2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808" name="Google Shape;808;p25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809" name="Google Shape;809;p25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5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5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5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13" name="Google Shape;813;p25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14" name="Google Shape;814;p25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815" name="Google Shape;815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6" name="Google Shape;816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7" name="Google Shape;817;p25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18" name="Google Shape;818;p25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819" name="Google Shape;819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0" name="Google Shape;820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1" name="Google Shape;821;p25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22" name="Google Shape;822;p25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823" name="Google Shape;823;p25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824" name="Google Shape;824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5" name="Google Shape;825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826" name="Google Shape;826;p25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827" name="Google Shape;827;p25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828" name="Google Shape;828;p25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829" name="Google Shape;829;p25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5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5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832" name="Google Shape;832;p25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3" name="Google Shape;833;p25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4" name="Google Shape;834;p25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35" name="Google Shape;835;p25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36" name="Google Shape;836;p25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837" name="Google Shape;83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2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9" name="Google Shape;839;p25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840" name="Google Shape;840;p25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5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25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843" name="Google Shape;843;p25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44" name="Google Shape;844;p25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845" name="Google Shape;845;p25"/>
          <p:cNvGrpSpPr/>
          <p:nvPr/>
        </p:nvGrpSpPr>
        <p:grpSpPr>
          <a:xfrm>
            <a:off x="6089782" y="2530406"/>
            <a:ext cx="2436813" cy="1519237"/>
            <a:chOff x="3018" y="1445"/>
            <a:chExt cx="1535" cy="957"/>
          </a:xfrm>
        </p:grpSpPr>
        <p:grpSp>
          <p:nvGrpSpPr>
            <p:cNvPr id="846" name="Google Shape;846;p25"/>
            <p:cNvGrpSpPr/>
            <p:nvPr/>
          </p:nvGrpSpPr>
          <p:grpSpPr>
            <a:xfrm>
              <a:off x="3286" y="1706"/>
              <a:ext cx="1267" cy="475"/>
              <a:chOff x="1197" y="1669"/>
              <a:chExt cx="1267" cy="475"/>
            </a:xfrm>
          </p:grpSpPr>
          <p:grpSp>
            <p:nvGrpSpPr>
              <p:cNvPr id="847" name="Google Shape;847;p25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848" name="Google Shape;848;p25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49" name="Google Shape;849;p25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850" name="Google Shape;850;p25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grpSp>
          <p:nvGrpSpPr>
            <p:cNvPr id="851" name="Google Shape;851;p25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852" name="Google Shape;852;p25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Comic Sans MS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853" name="Google Shape;853;p25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854" name="Google Shape;854;p25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55" name="Google Shape;855;p25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rgbClr val="00CC99"/>
                </a:solidFill>
                <a:ln cap="flat" cmpd="sng" w="9525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856" name="Google Shape;856;p25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7" name="Google Shape;857;p25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8" name="Google Shape;858;p25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59" name="Google Shape;859;p25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860" name="Google Shape;860;p25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861" name="Google Shape;861;p25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862" name="Google Shape;862;p25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triangle"/>
                <a:tailEnd len="med" w="med" type="none"/>
              </a:ln>
            </p:spPr>
          </p:cxnSp>
          <p:cxnSp>
            <p:nvCxnSpPr>
              <p:cNvPr id="863" name="Google Shape;863;p25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</p:grpSp>
      <p:sp>
        <p:nvSpPr>
          <p:cNvPr id="864" name="Google Shape;864;p25"/>
          <p:cNvSpPr/>
          <p:nvPr/>
        </p:nvSpPr>
        <p:spPr>
          <a:xfrm>
            <a:off x="1182960" y="2698439"/>
            <a:ext cx="3707092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transmits link-layer frame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5"/>
          <p:cNvSpPr/>
          <p:nvPr/>
        </p:nvSpPr>
        <p:spPr>
          <a:xfrm>
            <a:off x="1236521" y="1283045"/>
            <a:ext cx="10571166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determines outgoing interface, passes datagram with IP source A, destination B to link layer </a:t>
            </a:r>
            <a:endParaRPr/>
          </a:p>
        </p:txBody>
      </p:sp>
      <p:sp>
        <p:nvSpPr>
          <p:cNvPr id="866" name="Google Shape;866;p25"/>
          <p:cNvSpPr/>
          <p:nvPr/>
        </p:nvSpPr>
        <p:spPr>
          <a:xfrm>
            <a:off x="1222717" y="1945029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 creates link-layer frame containing A-to-B IP datagram. Frame destination address: B's MAC address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Routing to another subnet: addressing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74" name="Google Shape;874;p26"/>
          <p:cNvCxnSpPr/>
          <p:nvPr/>
        </p:nvCxnSpPr>
        <p:spPr>
          <a:xfrm>
            <a:off x="4293702" y="5340624"/>
            <a:ext cx="323353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5" name="Google Shape;875;p26"/>
          <p:cNvSpPr txBox="1"/>
          <p:nvPr/>
        </p:nvSpPr>
        <p:spPr>
          <a:xfrm>
            <a:off x="5496545" y="4606786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2000" u="none" cap="none" strike="noStrike">
              <a:solidFill>
                <a:srgbClr val="0000A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26"/>
          <p:cNvSpPr txBox="1"/>
          <p:nvPr/>
        </p:nvSpPr>
        <p:spPr>
          <a:xfrm>
            <a:off x="5140945" y="5749508"/>
            <a:ext cx="158594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1A-23-F9-CD-06-9B</a:t>
            </a:r>
            <a:endParaRPr/>
          </a:p>
        </p:txBody>
      </p:sp>
      <p:sp>
        <p:nvSpPr>
          <p:cNvPr id="877" name="Google Shape;877;p26"/>
          <p:cNvSpPr txBox="1"/>
          <p:nvPr/>
        </p:nvSpPr>
        <p:spPr>
          <a:xfrm>
            <a:off x="5288582" y="5576471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222.222.222.220</a:t>
            </a:r>
            <a:endParaRPr/>
          </a:p>
        </p:txBody>
      </p:sp>
      <p:grpSp>
        <p:nvGrpSpPr>
          <p:cNvPr id="878" name="Google Shape;878;p26"/>
          <p:cNvGrpSpPr/>
          <p:nvPr/>
        </p:nvGrpSpPr>
        <p:grpSpPr>
          <a:xfrm>
            <a:off x="3992226" y="6027746"/>
            <a:ext cx="1573213" cy="482601"/>
            <a:chOff x="1934" y="2405"/>
            <a:chExt cx="991" cy="304"/>
          </a:xfrm>
        </p:grpSpPr>
        <p:sp>
          <p:nvSpPr>
            <p:cNvPr id="879" name="Google Shape;879;p26"/>
            <p:cNvSpPr txBox="1"/>
            <p:nvPr/>
          </p:nvSpPr>
          <p:spPr>
            <a:xfrm>
              <a:off x="1934" y="2405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111.111.111.110</a:t>
              </a:r>
              <a:endParaRPr/>
            </a:p>
          </p:txBody>
        </p:sp>
        <p:sp>
          <p:nvSpPr>
            <p:cNvPr id="880" name="Google Shape;880;p26"/>
            <p:cNvSpPr txBox="1"/>
            <p:nvPr/>
          </p:nvSpPr>
          <p:spPr>
            <a:xfrm>
              <a:off x="1938" y="2515"/>
              <a:ext cx="987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E6-E9-00-17-BB-4B</a:t>
              </a:r>
              <a:endParaRPr/>
            </a:p>
          </p:txBody>
        </p:sp>
      </p:grpSp>
      <p:sp>
        <p:nvSpPr>
          <p:cNvPr id="881" name="Google Shape;881;p26"/>
          <p:cNvSpPr txBox="1"/>
          <p:nvPr/>
        </p:nvSpPr>
        <p:spPr>
          <a:xfrm>
            <a:off x="1983382" y="6174597"/>
            <a:ext cx="163461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CC-49-DE-D0-AB-7D</a:t>
            </a:r>
            <a:endParaRPr/>
          </a:p>
        </p:txBody>
      </p:sp>
      <p:sp>
        <p:nvSpPr>
          <p:cNvPr id="882" name="Google Shape;882;p26"/>
          <p:cNvSpPr txBox="1"/>
          <p:nvPr/>
        </p:nvSpPr>
        <p:spPr>
          <a:xfrm>
            <a:off x="2183407" y="5985684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111.111.111.112</a:t>
            </a:r>
            <a:endParaRPr/>
          </a:p>
        </p:txBody>
      </p:sp>
      <p:sp>
        <p:nvSpPr>
          <p:cNvPr id="883" name="Google Shape;883;p26"/>
          <p:cNvSpPr txBox="1"/>
          <p:nvPr/>
        </p:nvSpPr>
        <p:spPr>
          <a:xfrm>
            <a:off x="1901438" y="5007006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111.111.111.111</a:t>
            </a:r>
            <a:endParaRPr/>
          </a:p>
        </p:txBody>
      </p:sp>
      <p:sp>
        <p:nvSpPr>
          <p:cNvPr id="884" name="Google Shape;884;p26"/>
          <p:cNvSpPr txBox="1"/>
          <p:nvPr/>
        </p:nvSpPr>
        <p:spPr>
          <a:xfrm>
            <a:off x="1799535" y="5196273"/>
            <a:ext cx="153599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74-29-9C-E8-FF-55</a:t>
            </a:r>
            <a:endParaRPr/>
          </a:p>
        </p:txBody>
      </p:sp>
      <p:sp>
        <p:nvSpPr>
          <p:cNvPr id="885" name="Google Shape;885;p26"/>
          <p:cNvSpPr/>
          <p:nvPr/>
        </p:nvSpPr>
        <p:spPr>
          <a:xfrm>
            <a:off x="3637582" y="4808121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86" name="Google Shape;886;p26"/>
          <p:cNvCxnSpPr/>
          <p:nvPr/>
        </p:nvCxnSpPr>
        <p:spPr>
          <a:xfrm>
            <a:off x="3334370" y="4787483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7" name="Google Shape;887;p26"/>
          <p:cNvCxnSpPr/>
          <p:nvPr/>
        </p:nvCxnSpPr>
        <p:spPr>
          <a:xfrm flipH="1" rot="10800000">
            <a:off x="3406935" y="5732045"/>
            <a:ext cx="283036" cy="5444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8" name="Google Shape;888;p26"/>
          <p:cNvCxnSpPr/>
          <p:nvPr/>
        </p:nvCxnSpPr>
        <p:spPr>
          <a:xfrm rot="10800000">
            <a:off x="3342282" y="584280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26"/>
          <p:cNvCxnSpPr/>
          <p:nvPr/>
        </p:nvCxnSpPr>
        <p:spPr>
          <a:xfrm rot="10800000">
            <a:off x="3248645" y="4860508"/>
            <a:ext cx="0" cy="2481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0" name="Google Shape;890;p26"/>
          <p:cNvCxnSpPr/>
          <p:nvPr/>
        </p:nvCxnSpPr>
        <p:spPr>
          <a:xfrm>
            <a:off x="5018707" y="5427247"/>
            <a:ext cx="0" cy="62050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891" name="Google Shape;891;p26"/>
          <p:cNvCxnSpPr/>
          <p:nvPr/>
        </p:nvCxnSpPr>
        <p:spPr>
          <a:xfrm rot="10800000">
            <a:off x="6207745" y="541772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2" name="Google Shape;892;p26"/>
          <p:cNvSpPr txBox="1"/>
          <p:nvPr/>
        </p:nvSpPr>
        <p:spPr>
          <a:xfrm>
            <a:off x="2243136" y="4315099"/>
            <a:ext cx="39305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grpSp>
        <p:nvGrpSpPr>
          <p:cNvPr id="893" name="Google Shape;893;p26"/>
          <p:cNvGrpSpPr/>
          <p:nvPr/>
        </p:nvGrpSpPr>
        <p:grpSpPr>
          <a:xfrm>
            <a:off x="8615685" y="5148731"/>
            <a:ext cx="1616076" cy="495300"/>
            <a:chOff x="4351" y="2786"/>
            <a:chExt cx="1018" cy="312"/>
          </a:xfrm>
        </p:grpSpPr>
        <p:sp>
          <p:nvSpPr>
            <p:cNvPr id="894" name="Google Shape;894;p26"/>
            <p:cNvSpPr txBox="1"/>
            <p:nvPr/>
          </p:nvSpPr>
          <p:spPr>
            <a:xfrm>
              <a:off x="4352" y="2786"/>
              <a:ext cx="892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222.222.222.222</a:t>
              </a:r>
              <a:endParaRPr/>
            </a:p>
          </p:txBody>
        </p:sp>
        <p:sp>
          <p:nvSpPr>
            <p:cNvPr id="895" name="Google Shape;895;p26"/>
            <p:cNvSpPr txBox="1"/>
            <p:nvPr/>
          </p:nvSpPr>
          <p:spPr>
            <a:xfrm>
              <a:off x="4351" y="2904"/>
              <a:ext cx="1018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49-BD-D2-C7-56-2A</a:t>
              </a:r>
              <a:endParaRPr/>
            </a:p>
          </p:txBody>
        </p:sp>
      </p:grpSp>
      <p:cxnSp>
        <p:nvCxnSpPr>
          <p:cNvPr id="896" name="Google Shape;896;p26"/>
          <p:cNvCxnSpPr/>
          <p:nvPr/>
        </p:nvCxnSpPr>
        <p:spPr>
          <a:xfrm flipH="1" rot="10800000">
            <a:off x="8215932" y="4787483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7" name="Google Shape;897;p26"/>
          <p:cNvSpPr txBox="1"/>
          <p:nvPr/>
        </p:nvSpPr>
        <p:spPr>
          <a:xfrm>
            <a:off x="8307272" y="6136999"/>
            <a:ext cx="14157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222.222.222.221</a:t>
            </a:r>
            <a:endParaRPr/>
          </a:p>
        </p:txBody>
      </p:sp>
      <p:sp>
        <p:nvSpPr>
          <p:cNvPr id="898" name="Google Shape;898;p26"/>
          <p:cNvSpPr txBox="1"/>
          <p:nvPr/>
        </p:nvSpPr>
        <p:spPr>
          <a:xfrm>
            <a:off x="8297391" y="6315866"/>
            <a:ext cx="155228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88-B2-2F-54-1A-0F</a:t>
            </a:r>
            <a:endParaRPr/>
          </a:p>
        </p:txBody>
      </p:sp>
      <p:cxnSp>
        <p:nvCxnSpPr>
          <p:cNvPr id="899" name="Google Shape;899;p26"/>
          <p:cNvCxnSpPr/>
          <p:nvPr/>
        </p:nvCxnSpPr>
        <p:spPr>
          <a:xfrm rot="10800000">
            <a:off x="8156672" y="5684421"/>
            <a:ext cx="267105" cy="20092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0" name="Google Shape;900;p26"/>
          <p:cNvSpPr/>
          <p:nvPr/>
        </p:nvSpPr>
        <p:spPr>
          <a:xfrm>
            <a:off x="7476157" y="4811296"/>
            <a:ext cx="765175" cy="1081088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26"/>
          <p:cNvSpPr txBox="1"/>
          <p:nvPr/>
        </p:nvSpPr>
        <p:spPr>
          <a:xfrm>
            <a:off x="9407316" y="4484341"/>
            <a:ext cx="3802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grpSp>
        <p:nvGrpSpPr>
          <p:cNvPr id="902" name="Google Shape;902;p26"/>
          <p:cNvGrpSpPr/>
          <p:nvPr/>
        </p:nvGrpSpPr>
        <p:grpSpPr>
          <a:xfrm>
            <a:off x="5001868" y="5038254"/>
            <a:ext cx="1310632" cy="501151"/>
            <a:chOff x="4909105" y="5767126"/>
            <a:chExt cx="1310632" cy="501151"/>
          </a:xfrm>
        </p:grpSpPr>
        <p:sp>
          <p:nvSpPr>
            <p:cNvPr id="903" name="Google Shape;903;p26"/>
            <p:cNvSpPr/>
            <p:nvPr/>
          </p:nvSpPr>
          <p:spPr>
            <a:xfrm rot="5400000">
              <a:off x="6024859" y="5937451"/>
              <a:ext cx="134168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sp>
          <p:nvSpPr>
            <p:cNvPr id="904" name="Google Shape;904;p26"/>
            <p:cNvSpPr/>
            <p:nvPr/>
          </p:nvSpPr>
          <p:spPr>
            <a:xfrm rot="5400000">
              <a:off x="4966501" y="5940764"/>
              <a:ext cx="140795" cy="255587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905" name="Google Shape;905;p26"/>
            <p:cNvGrpSpPr/>
            <p:nvPr/>
          </p:nvGrpSpPr>
          <p:grpSpPr>
            <a:xfrm>
              <a:off x="5115340" y="5767126"/>
              <a:ext cx="901147" cy="501151"/>
              <a:chOff x="7493876" y="2774731"/>
              <a:chExt cx="1481958" cy="894622"/>
            </a:xfrm>
          </p:grpSpPr>
          <p:sp>
            <p:nvSpPr>
              <p:cNvPr id="906" name="Google Shape;906;p2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907" name="Google Shape;907;p2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908" name="Google Shape;908;p2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909" name="Google Shape;909;p2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0" name="Google Shape;910;p2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1" name="Google Shape;911;p2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2" name="Google Shape;912;p2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913" name="Google Shape;913;p26"/>
          <p:cNvSpPr/>
          <p:nvPr/>
        </p:nvSpPr>
        <p:spPr>
          <a:xfrm rot="5400000">
            <a:off x="3161022" y="4666815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14" name="Google Shape;914;p26"/>
          <p:cNvGrpSpPr/>
          <p:nvPr/>
        </p:nvGrpSpPr>
        <p:grpSpPr>
          <a:xfrm>
            <a:off x="2318687" y="4333458"/>
            <a:ext cx="936071" cy="761428"/>
            <a:chOff x="-44" y="1473"/>
            <a:chExt cx="981" cy="1105"/>
          </a:xfrm>
        </p:grpSpPr>
        <p:pic>
          <p:nvPicPr>
            <p:cNvPr descr="desktop_computer_stylized_medium" id="915" name="Google Shape;915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6" name="Google Shape;916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7" name="Google Shape;917;p26"/>
          <p:cNvSpPr/>
          <p:nvPr/>
        </p:nvSpPr>
        <p:spPr>
          <a:xfrm rot="5400000">
            <a:off x="3271833" y="5687855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18" name="Google Shape;918;p26"/>
          <p:cNvGrpSpPr/>
          <p:nvPr/>
        </p:nvGrpSpPr>
        <p:grpSpPr>
          <a:xfrm>
            <a:off x="2681426" y="5490561"/>
            <a:ext cx="639495" cy="517588"/>
            <a:chOff x="-44" y="1473"/>
            <a:chExt cx="981" cy="1105"/>
          </a:xfrm>
        </p:grpSpPr>
        <p:pic>
          <p:nvPicPr>
            <p:cNvPr descr="desktop_computer_stylized_medium" id="919" name="Google Shape;919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0" name="Google Shape;920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1" name="Google Shape;921;p26"/>
          <p:cNvSpPr/>
          <p:nvPr/>
        </p:nvSpPr>
        <p:spPr>
          <a:xfrm rot="5400000">
            <a:off x="8726575" y="4653061"/>
            <a:ext cx="119903" cy="255587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22" name="Google Shape;922;p26"/>
          <p:cNvSpPr/>
          <p:nvPr/>
        </p:nvSpPr>
        <p:spPr>
          <a:xfrm rot="5400000">
            <a:off x="8496816" y="5784803"/>
            <a:ext cx="84261" cy="194751"/>
          </a:xfrm>
          <a:prstGeom prst="rect">
            <a:avLst/>
          </a:prstGeom>
          <a:gradFill>
            <a:gsLst>
              <a:gs pos="0">
                <a:srgbClr val="0000A8"/>
              </a:gs>
              <a:gs pos="50000">
                <a:srgbClr val="FFFFFF"/>
              </a:gs>
              <a:gs pos="99000">
                <a:srgbClr val="0000A8"/>
              </a:gs>
              <a:gs pos="100000">
                <a:srgbClr val="0000A8"/>
              </a:gs>
            </a:gsLst>
            <a:lin ang="0" scaled="0"/>
          </a:gradFill>
          <a:ln cap="flat" cmpd="sng" w="9525">
            <a:solidFill>
              <a:srgbClr val="008000">
                <a:alpha val="14901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923" name="Google Shape;923;p26"/>
          <p:cNvGrpSpPr/>
          <p:nvPr/>
        </p:nvGrpSpPr>
        <p:grpSpPr>
          <a:xfrm>
            <a:off x="8343615" y="5618570"/>
            <a:ext cx="711200" cy="601028"/>
            <a:chOff x="-44" y="1473"/>
            <a:chExt cx="981" cy="1105"/>
          </a:xfrm>
        </p:grpSpPr>
        <p:pic>
          <p:nvPicPr>
            <p:cNvPr descr="desktop_computer_stylized_medium" id="924" name="Google Shape;924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5" name="Google Shape;925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26" name="Google Shape;926;p26"/>
          <p:cNvCxnSpPr/>
          <p:nvPr/>
        </p:nvCxnSpPr>
        <p:spPr>
          <a:xfrm rot="10800000">
            <a:off x="8669292" y="4874844"/>
            <a:ext cx="0" cy="445971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927" name="Google Shape;927;p26"/>
          <p:cNvCxnSpPr/>
          <p:nvPr/>
        </p:nvCxnSpPr>
        <p:spPr>
          <a:xfrm rot="10800000">
            <a:off x="8447023" y="5943807"/>
            <a:ext cx="0" cy="24163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928" name="Google Shape;928;p26"/>
          <p:cNvGrpSpPr/>
          <p:nvPr/>
        </p:nvGrpSpPr>
        <p:grpSpPr>
          <a:xfrm>
            <a:off x="9360038" y="2716627"/>
            <a:ext cx="928688" cy="1954212"/>
            <a:chOff x="250" y="1380"/>
            <a:chExt cx="585" cy="1231"/>
          </a:xfrm>
        </p:grpSpPr>
        <p:sp>
          <p:nvSpPr>
            <p:cNvPr id="929" name="Google Shape;929;p26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99000">
                  <a:srgbClr val="BFBFBF"/>
                </a:gs>
                <a:gs pos="100000">
                  <a:srgbClr val="BFBFB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6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26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932" name="Google Shape;932;p26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3" name="Google Shape;933;p26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4" name="Google Shape;934;p26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26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936" name="Google Shape;936;p26"/>
          <p:cNvGrpSpPr/>
          <p:nvPr/>
        </p:nvGrpSpPr>
        <p:grpSpPr>
          <a:xfrm>
            <a:off x="8491273" y="4391325"/>
            <a:ext cx="1009650" cy="855028"/>
            <a:chOff x="-44" y="1473"/>
            <a:chExt cx="981" cy="1105"/>
          </a:xfrm>
        </p:grpSpPr>
        <p:pic>
          <p:nvPicPr>
            <p:cNvPr descr="desktop_computer_stylized_medium" id="937" name="Google Shape;93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9" name="Google Shape;939;p26"/>
          <p:cNvGrpSpPr/>
          <p:nvPr/>
        </p:nvGrpSpPr>
        <p:grpSpPr>
          <a:xfrm>
            <a:off x="5329167" y="3001010"/>
            <a:ext cx="836613" cy="2081213"/>
            <a:chOff x="2838" y="1545"/>
            <a:chExt cx="527" cy="1311"/>
          </a:xfrm>
        </p:grpSpPr>
        <p:sp>
          <p:nvSpPr>
            <p:cNvPr id="940" name="Google Shape;940;p26"/>
            <p:cNvSpPr/>
            <p:nvPr/>
          </p:nvSpPr>
          <p:spPr>
            <a:xfrm>
              <a:off x="2838" y="2342"/>
              <a:ext cx="527" cy="514"/>
            </a:xfrm>
            <a:custGeom>
              <a:rect b="b" l="l" r="r" t="t"/>
              <a:pathLst>
                <a:path extrusionOk="0" h="10000" w="9982">
                  <a:moveTo>
                    <a:pt x="9982" y="428"/>
                  </a:moveTo>
                  <a:cubicBezTo>
                    <a:pt x="6708" y="5645"/>
                    <a:pt x="7799" y="6805"/>
                    <a:pt x="6708" y="9994"/>
                  </a:cubicBezTo>
                  <a:cubicBezTo>
                    <a:pt x="4852" y="10080"/>
                    <a:pt x="3414" y="9311"/>
                    <a:pt x="0" y="9825"/>
                  </a:cubicBezTo>
                  <a:cubicBezTo>
                    <a:pt x="1461" y="5697"/>
                    <a:pt x="1365" y="4235"/>
                    <a:pt x="957" y="0"/>
                  </a:cubicBezTo>
                  <a:lnTo>
                    <a:pt x="9982" y="428"/>
                  </a:ln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100000">
                  <a:srgbClr val="FFFFFF">
                    <a:alpha val="71764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26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6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omic Sans MS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/>
            </a:p>
          </p:txBody>
        </p:sp>
        <p:cxnSp>
          <p:nvCxnSpPr>
            <p:cNvPr id="943" name="Google Shape;943;p26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44" name="Google Shape;944;p26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45" name="Google Shape;945;p26"/>
          <p:cNvSpPr/>
          <p:nvPr/>
        </p:nvSpPr>
        <p:spPr>
          <a:xfrm>
            <a:off x="1236522" y="1283045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receives frame, extracts IP datagram destination B </a:t>
            </a:r>
            <a:endParaRPr/>
          </a:p>
        </p:txBody>
      </p:sp>
      <p:sp>
        <p:nvSpPr>
          <p:cNvPr id="946" name="Google Shape;946;p26"/>
          <p:cNvSpPr/>
          <p:nvPr/>
        </p:nvSpPr>
        <p:spPr>
          <a:xfrm>
            <a:off x="1222717" y="1759501"/>
            <a:ext cx="10810254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 passes datagram up protocol stack to IP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7" name="Google Shape;947;p26"/>
          <p:cNvGrpSpPr/>
          <p:nvPr/>
        </p:nvGrpSpPr>
        <p:grpSpPr>
          <a:xfrm>
            <a:off x="8183438" y="2659822"/>
            <a:ext cx="2011363" cy="1082675"/>
            <a:chOff x="1048710" y="2964622"/>
            <a:chExt cx="2011363" cy="1082675"/>
          </a:xfrm>
        </p:grpSpPr>
        <p:grpSp>
          <p:nvGrpSpPr>
            <p:cNvPr id="948" name="Google Shape;948;p26"/>
            <p:cNvGrpSpPr/>
            <p:nvPr/>
          </p:nvGrpSpPr>
          <p:grpSpPr>
            <a:xfrm>
              <a:off x="1048710" y="2964622"/>
              <a:ext cx="2011363" cy="754062"/>
              <a:chOff x="1197" y="1669"/>
              <a:chExt cx="1267" cy="475"/>
            </a:xfrm>
          </p:grpSpPr>
          <p:grpSp>
            <p:nvGrpSpPr>
              <p:cNvPr id="949" name="Google Shape;949;p26"/>
              <p:cNvGrpSpPr/>
              <p:nvPr/>
            </p:nvGrpSpPr>
            <p:grpSpPr>
              <a:xfrm>
                <a:off x="1337" y="1990"/>
                <a:ext cx="90" cy="154"/>
                <a:chOff x="1337" y="1990"/>
                <a:chExt cx="90" cy="154"/>
              </a:xfrm>
            </p:grpSpPr>
            <p:cxnSp>
              <p:nvCxnSpPr>
                <p:cNvPr id="950" name="Google Shape;950;p26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1" name="Google Shape;951;p26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FFFFFF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52" name="Google Shape;952;p26"/>
              <p:cNvSpPr txBox="1"/>
              <p:nvPr/>
            </p:nvSpPr>
            <p:spPr>
              <a:xfrm>
                <a:off x="1197" y="1669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/>
              </a:p>
            </p:txBody>
          </p:sp>
        </p:grpSp>
        <p:sp>
          <p:nvSpPr>
            <p:cNvPr id="953" name="Google Shape;953;p26"/>
            <p:cNvSpPr/>
            <p:nvPr/>
          </p:nvSpPr>
          <p:spPr>
            <a:xfrm>
              <a:off x="1097923" y="3801235"/>
              <a:ext cx="1096963" cy="242887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54" name="Google Shape;954;p26"/>
            <p:cNvCxnSpPr/>
            <p:nvPr/>
          </p:nvCxnSpPr>
          <p:spPr>
            <a:xfrm>
              <a:off x="12598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5" name="Google Shape;955;p26"/>
            <p:cNvCxnSpPr/>
            <p:nvPr/>
          </p:nvCxnSpPr>
          <p:spPr>
            <a:xfrm>
              <a:off x="1412248" y="3805997"/>
              <a:ext cx="0" cy="241300"/>
            </a:xfrm>
            <a:prstGeom prst="straightConnector1">
              <a:avLst/>
            </a:prstGeom>
            <a:noFill/>
            <a:ln cap="flat" cmpd="sng" w="19050">
              <a:solidFill>
                <a:srgbClr val="FFFFF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56" name="Google Shape;956;p26"/>
            <p:cNvCxnSpPr/>
            <p:nvPr/>
          </p:nvCxnSpPr>
          <p:spPr>
            <a:xfrm rot="10800000">
              <a:off x="1170948" y="3182110"/>
              <a:ext cx="3175" cy="7461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957" name="Google Shape;957;p26"/>
            <p:cNvCxnSpPr/>
            <p:nvPr/>
          </p:nvCxnSpPr>
          <p:spPr>
            <a:xfrm>
              <a:off x="1316998" y="3359910"/>
              <a:ext cx="3175" cy="568325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964" name="Google Shape;96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65" name="Google Shape;965;p27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7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2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28"/>
          <p:cNvSpPr txBox="1"/>
          <p:nvPr/>
        </p:nvSpPr>
        <p:spPr>
          <a:xfrm>
            <a:off x="976727" y="1289602"/>
            <a:ext cx="10049082" cy="26595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b="0" i="0" lang="en-US" sz="4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“dominant” wired LAN technology: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first widely used LAN technology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simpler, cheap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kept up with speed race: 10 Mbps – 400 Gbps </a:t>
            </a:r>
            <a:endParaRPr/>
          </a:p>
          <a:p>
            <a:pPr indent="-301625" lvl="0" marL="7461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4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single chip, multiple speeds (e.g., Broadcom  BCM5761)</a:t>
            </a:r>
            <a:endParaRPr/>
          </a:p>
          <a:p>
            <a:pPr indent="0" lvl="0" marL="4445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4454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551 metcalfe-enet" id="976" name="Google Shape;9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731" y="4185182"/>
            <a:ext cx="4089976" cy="2167236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77" name="Google Shape;977;p28"/>
          <p:cNvSpPr txBox="1"/>
          <p:nvPr/>
        </p:nvSpPr>
        <p:spPr>
          <a:xfrm>
            <a:off x="7112743" y="5593291"/>
            <a:ext cx="26938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Metcalfe’s Ethernet sketch</a:t>
            </a:r>
            <a:endParaRPr/>
          </a:p>
        </p:txBody>
      </p:sp>
      <p:sp>
        <p:nvSpPr>
          <p:cNvPr id="978" name="Google Shape;978;p28"/>
          <p:cNvSpPr txBox="1"/>
          <p:nvPr/>
        </p:nvSpPr>
        <p:spPr>
          <a:xfrm>
            <a:off x="850006" y="6387921"/>
            <a:ext cx="853554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https://www.uspto.gov/learning-and-resources/journeys-innovation/audio-stories/defying-doubters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2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physical topology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9"/>
          <p:cNvSpPr txBox="1"/>
          <p:nvPr/>
        </p:nvSpPr>
        <p:spPr>
          <a:xfrm>
            <a:off x="1077627" y="1343156"/>
            <a:ext cx="10839554" cy="925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popular through mid 90s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nodes in same collision domain (can collide with each other)</a:t>
            </a:r>
            <a:endParaRPr/>
          </a:p>
        </p:txBody>
      </p:sp>
      <p:cxnSp>
        <p:nvCxnSpPr>
          <p:cNvPr id="987" name="Google Shape;987;p29"/>
          <p:cNvCxnSpPr/>
          <p:nvPr/>
        </p:nvCxnSpPr>
        <p:spPr>
          <a:xfrm flipH="1">
            <a:off x="4019150" y="4343745"/>
            <a:ext cx="616233" cy="12017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29"/>
          <p:cNvSpPr txBox="1"/>
          <p:nvPr/>
        </p:nvSpPr>
        <p:spPr>
          <a:xfrm>
            <a:off x="935445" y="4519515"/>
            <a:ext cx="23583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bus: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coaxial cable</a:t>
            </a:r>
            <a:endParaRPr/>
          </a:p>
        </p:txBody>
      </p:sp>
      <p:grpSp>
        <p:nvGrpSpPr>
          <p:cNvPr id="989" name="Google Shape;989;p29"/>
          <p:cNvGrpSpPr/>
          <p:nvPr/>
        </p:nvGrpSpPr>
        <p:grpSpPr>
          <a:xfrm>
            <a:off x="4166894" y="4287302"/>
            <a:ext cx="468488" cy="103894"/>
            <a:chOff x="3160889" y="5723468"/>
            <a:chExt cx="468488" cy="103894"/>
          </a:xfrm>
        </p:grpSpPr>
        <p:sp>
          <p:nvSpPr>
            <p:cNvPr id="990" name="Google Shape;990;p29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91" name="Google Shape;991;p29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2" name="Google Shape;992;p29"/>
          <p:cNvGrpSpPr/>
          <p:nvPr/>
        </p:nvGrpSpPr>
        <p:grpSpPr>
          <a:xfrm>
            <a:off x="3867737" y="4868680"/>
            <a:ext cx="468488" cy="103894"/>
            <a:chOff x="3160889" y="5723468"/>
            <a:chExt cx="468488" cy="103894"/>
          </a:xfrm>
        </p:grpSpPr>
        <p:sp>
          <p:nvSpPr>
            <p:cNvPr id="993" name="Google Shape;993;p29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94" name="Google Shape;994;p29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5" name="Google Shape;995;p29"/>
          <p:cNvGrpSpPr/>
          <p:nvPr/>
        </p:nvGrpSpPr>
        <p:grpSpPr>
          <a:xfrm>
            <a:off x="3557291" y="5489569"/>
            <a:ext cx="468488" cy="103894"/>
            <a:chOff x="3160889" y="5723468"/>
            <a:chExt cx="468488" cy="103894"/>
          </a:xfrm>
        </p:grpSpPr>
        <p:sp>
          <p:nvSpPr>
            <p:cNvPr id="996" name="Google Shape;996;p29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997" name="Google Shape;997;p29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998" name="Google Shape;998;p29"/>
          <p:cNvGrpSpPr/>
          <p:nvPr/>
        </p:nvGrpSpPr>
        <p:grpSpPr>
          <a:xfrm>
            <a:off x="3030847" y="5135905"/>
            <a:ext cx="640071" cy="517525"/>
            <a:chOff x="-44" y="1473"/>
            <a:chExt cx="981" cy="1105"/>
          </a:xfrm>
        </p:grpSpPr>
        <p:pic>
          <p:nvPicPr>
            <p:cNvPr descr="desktop_computer_stylized_medium" id="999" name="Google Shape;9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0" name="Google Shape;1000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1" name="Google Shape;1001;p29"/>
          <p:cNvGrpSpPr/>
          <p:nvPr/>
        </p:nvGrpSpPr>
        <p:grpSpPr>
          <a:xfrm>
            <a:off x="3337407" y="4515020"/>
            <a:ext cx="640071" cy="517525"/>
            <a:chOff x="-44" y="1473"/>
            <a:chExt cx="981" cy="1105"/>
          </a:xfrm>
        </p:grpSpPr>
        <p:pic>
          <p:nvPicPr>
            <p:cNvPr descr="desktop_computer_stylized_medium" id="1002" name="Google Shape;1002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3" name="Google Shape;1003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4" name="Google Shape;1004;p29"/>
          <p:cNvGrpSpPr/>
          <p:nvPr/>
        </p:nvGrpSpPr>
        <p:grpSpPr>
          <a:xfrm>
            <a:off x="3621571" y="3937346"/>
            <a:ext cx="640071" cy="517525"/>
            <a:chOff x="-44" y="1473"/>
            <a:chExt cx="981" cy="1105"/>
          </a:xfrm>
        </p:grpSpPr>
        <p:pic>
          <p:nvPicPr>
            <p:cNvPr descr="desktop_computer_stylized_medium" id="1005" name="Google Shape;1005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7" name="Google Shape;1007;p29"/>
          <p:cNvGrpSpPr/>
          <p:nvPr/>
        </p:nvGrpSpPr>
        <p:grpSpPr>
          <a:xfrm rot="10800000">
            <a:off x="4121737" y="5286369"/>
            <a:ext cx="468488" cy="103894"/>
            <a:chOff x="3160889" y="5723468"/>
            <a:chExt cx="468488" cy="103894"/>
          </a:xfrm>
        </p:grpSpPr>
        <p:sp>
          <p:nvSpPr>
            <p:cNvPr id="1008" name="Google Shape;1008;p29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009" name="Google Shape;1009;p29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29"/>
          <p:cNvGrpSpPr/>
          <p:nvPr/>
        </p:nvGrpSpPr>
        <p:grpSpPr>
          <a:xfrm rot="10800000">
            <a:off x="4466048" y="4620324"/>
            <a:ext cx="468488" cy="103894"/>
            <a:chOff x="3160889" y="5723468"/>
            <a:chExt cx="468488" cy="103894"/>
          </a:xfrm>
        </p:grpSpPr>
        <p:sp>
          <p:nvSpPr>
            <p:cNvPr id="1011" name="Google Shape;1011;p29"/>
            <p:cNvSpPr/>
            <p:nvPr/>
          </p:nvSpPr>
          <p:spPr>
            <a:xfrm rot="5400000">
              <a:off x="3234167" y="565019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cxnSp>
          <p:nvCxnSpPr>
            <p:cNvPr id="1012" name="Google Shape;1012;p29"/>
            <p:cNvCxnSpPr/>
            <p:nvPr/>
          </p:nvCxnSpPr>
          <p:spPr>
            <a:xfrm>
              <a:off x="3403599" y="5774267"/>
              <a:ext cx="225778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1013" name="Google Shape;1013;p29"/>
          <p:cNvGrpSpPr/>
          <p:nvPr/>
        </p:nvGrpSpPr>
        <p:grpSpPr>
          <a:xfrm>
            <a:off x="4620460" y="4390841"/>
            <a:ext cx="711200" cy="601662"/>
            <a:chOff x="-44" y="1473"/>
            <a:chExt cx="981" cy="1105"/>
          </a:xfrm>
        </p:grpSpPr>
        <p:pic>
          <p:nvPicPr>
            <p:cNvPr descr="desktop_computer_stylized_medium" id="1014" name="Google Shape;1014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6" name="Google Shape;1016;p29"/>
          <p:cNvGrpSpPr/>
          <p:nvPr/>
        </p:nvGrpSpPr>
        <p:grpSpPr>
          <a:xfrm>
            <a:off x="4283912" y="5056708"/>
            <a:ext cx="711200" cy="600075"/>
            <a:chOff x="-44" y="1473"/>
            <a:chExt cx="981" cy="1105"/>
          </a:xfrm>
        </p:grpSpPr>
        <p:pic>
          <p:nvPicPr>
            <p:cNvPr descr="desktop_computer_stylized_medium" id="1017" name="Google Shape;1017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8" name="Google Shape;1018;p2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9" name="Google Shape;1019;p29"/>
          <p:cNvGrpSpPr/>
          <p:nvPr/>
        </p:nvGrpSpPr>
        <p:grpSpPr>
          <a:xfrm>
            <a:off x="6296294" y="3889527"/>
            <a:ext cx="4903947" cy="2516574"/>
            <a:chOff x="6296294" y="3889527"/>
            <a:chExt cx="4903947" cy="2516574"/>
          </a:xfrm>
        </p:grpSpPr>
        <p:cxnSp>
          <p:nvCxnSpPr>
            <p:cNvPr id="1020" name="Google Shape;1020;p29"/>
            <p:cNvCxnSpPr>
              <a:stCxn id="1021" idx="2"/>
            </p:cNvCxnSpPr>
            <p:nvPr/>
          </p:nvCxnSpPr>
          <p:spPr>
            <a:xfrm>
              <a:off x="7906770" y="4630890"/>
              <a:ext cx="2100" cy="12603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022" name="Google Shape;1022;p29"/>
            <p:cNvCxnSpPr/>
            <p:nvPr/>
          </p:nvCxnSpPr>
          <p:spPr>
            <a:xfrm>
              <a:off x="6945441" y="5100170"/>
              <a:ext cx="214487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023" name="Google Shape;1023;p29"/>
            <p:cNvSpPr txBox="1"/>
            <p:nvPr/>
          </p:nvSpPr>
          <p:spPr>
            <a:xfrm>
              <a:off x="9900333" y="4512570"/>
              <a:ext cx="12999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switched</a:t>
              </a:r>
              <a:endParaRPr/>
            </a:p>
          </p:txBody>
        </p:sp>
        <p:sp>
          <p:nvSpPr>
            <p:cNvPr id="1024" name="Google Shape;1024;p29"/>
            <p:cNvSpPr/>
            <p:nvPr/>
          </p:nvSpPr>
          <p:spPr>
            <a:xfrm rot="5400000">
              <a:off x="6970879" y="497609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025" name="Google Shape;1025;p29"/>
            <p:cNvGrpSpPr/>
            <p:nvPr/>
          </p:nvGrpSpPr>
          <p:grpSpPr>
            <a:xfrm>
              <a:off x="6296294" y="461543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026" name="Google Shape;1026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7" name="Google Shape;1027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8" name="Google Shape;1028;p29"/>
            <p:cNvSpPr/>
            <p:nvPr/>
          </p:nvSpPr>
          <p:spPr>
            <a:xfrm rot="5400000">
              <a:off x="8836293" y="496987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029" name="Google Shape;1029;p29"/>
            <p:cNvGrpSpPr/>
            <p:nvPr/>
          </p:nvGrpSpPr>
          <p:grpSpPr>
            <a:xfrm>
              <a:off x="8674892" y="4777169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030" name="Google Shape;1030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2" name="Google Shape;1032;p29"/>
            <p:cNvSpPr/>
            <p:nvPr/>
          </p:nvSpPr>
          <p:spPr>
            <a:xfrm rot="10800000">
              <a:off x="7861470" y="566974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033" name="Google Shape;1033;p29"/>
            <p:cNvGrpSpPr/>
            <p:nvPr/>
          </p:nvGrpSpPr>
          <p:grpSpPr>
            <a:xfrm>
              <a:off x="7367278" y="5760072"/>
              <a:ext cx="768201" cy="646029"/>
              <a:chOff x="-44" y="1473"/>
              <a:chExt cx="981" cy="1105"/>
            </a:xfrm>
          </p:grpSpPr>
          <p:pic>
            <p:nvPicPr>
              <p:cNvPr descr="desktop_computer_stylized_medium" id="1034" name="Google Shape;1034;p2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5" name="Google Shape;1035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6" name="Google Shape;1036;p29"/>
            <p:cNvSpPr/>
            <p:nvPr/>
          </p:nvSpPr>
          <p:spPr>
            <a:xfrm rot="10800000">
              <a:off x="7859915" y="438844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037" name="Google Shape;1037;p29"/>
            <p:cNvGrpSpPr/>
            <p:nvPr/>
          </p:nvGrpSpPr>
          <p:grpSpPr>
            <a:xfrm>
              <a:off x="7480526" y="3889527"/>
              <a:ext cx="852487" cy="741363"/>
              <a:chOff x="-44" y="1473"/>
              <a:chExt cx="981" cy="1105"/>
            </a:xfrm>
          </p:grpSpPr>
          <p:pic>
            <p:nvPicPr>
              <p:cNvPr descr="desktop_computer_stylized_medium" id="1021" name="Google Shape;1021;p2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8" name="Google Shape;1038;p2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9" name="Google Shape;1039;p29"/>
            <p:cNvGrpSpPr/>
            <p:nvPr/>
          </p:nvGrpSpPr>
          <p:grpSpPr>
            <a:xfrm>
              <a:off x="7642010" y="4950839"/>
              <a:ext cx="561892" cy="329289"/>
              <a:chOff x="3668110" y="2448910"/>
              <a:chExt cx="3794234" cy="2165130"/>
            </a:xfrm>
          </p:grpSpPr>
          <p:sp>
            <p:nvSpPr>
              <p:cNvPr id="1040" name="Google Shape;1040;p2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2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42" name="Google Shape;1042;p2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043" name="Google Shape;1043;p2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4" name="Google Shape;1044;p2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5" name="Google Shape;1045;p2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2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047" name="Google Shape;1047;p29"/>
          <p:cNvSpPr txBox="1"/>
          <p:nvPr/>
        </p:nvSpPr>
        <p:spPr>
          <a:xfrm>
            <a:off x="1067981" y="2097440"/>
            <a:ext cx="10839554" cy="1641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switched: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prevails today</a:t>
            </a:r>
            <a:endParaRPr/>
          </a:p>
          <a:p>
            <a:pPr indent="-231775" lvl="1" marL="695325" marR="0" rtl="0" algn="l">
              <a:lnSpc>
                <a:spcPct val="75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active link-layer 2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center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“spoke” runs a (separate) Ethernet protocol (nodes do not collide with each other)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3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4" name="Google Shape;1054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30"/>
          <p:cNvSpPr txBox="1"/>
          <p:nvPr/>
        </p:nvSpPr>
        <p:spPr>
          <a:xfrm>
            <a:off x="1057198" y="1399863"/>
            <a:ext cx="11134802" cy="223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interface encapsulates IP datagram (or other network layer protocol packet) in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Ethernet frame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6" name="Google Shape;1056;p30"/>
          <p:cNvGrpSpPr/>
          <p:nvPr/>
        </p:nvGrpSpPr>
        <p:grpSpPr>
          <a:xfrm>
            <a:off x="2745256" y="2328343"/>
            <a:ext cx="7867779" cy="1104405"/>
            <a:chOff x="940711" y="4902593"/>
            <a:chExt cx="6291001" cy="992895"/>
          </a:xfrm>
        </p:grpSpPr>
        <p:cxnSp>
          <p:nvCxnSpPr>
            <p:cNvPr id="1057" name="Google Shape;1057;p30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8" name="Google Shape;1058;p30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59" name="Google Shape;1059;p30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0" name="Google Shape;1060;p30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1" name="Google Shape;1061;p30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2" name="Google Shape;1062;p30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63" name="Google Shape;1063;p30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4" name="Google Shape;1064;p30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065" name="Google Shape;1065;p30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066" name="Google Shape;1066;p30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1067" name="Google Shape;1067;p30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1068" name="Google Shape;1068;p30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1069" name="Google Shape;1069;p30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1070" name="Google Shape;1070;p30"/>
          <p:cNvSpPr txBox="1"/>
          <p:nvPr/>
        </p:nvSpPr>
        <p:spPr>
          <a:xfrm>
            <a:off x="1057198" y="3867200"/>
            <a:ext cx="11134802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preamble: 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to synchronize receiver, sender clock rates</a:t>
            </a:r>
            <a:endParaRPr/>
          </a:p>
          <a:p>
            <a:pPr indent="-233362" lvl="0" marL="4651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 bytes of 10101010 followed by one byte of 10101011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3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frame structure </a:t>
            </a:r>
            <a:r>
              <a:rPr b="0" lang="en-US" sz="36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8" name="Google Shape;1078;p31"/>
          <p:cNvGrpSpPr/>
          <p:nvPr/>
        </p:nvGrpSpPr>
        <p:grpSpPr>
          <a:xfrm>
            <a:off x="2190620" y="1294021"/>
            <a:ext cx="7867779" cy="1104405"/>
            <a:chOff x="940711" y="4902593"/>
            <a:chExt cx="6291001" cy="992895"/>
          </a:xfrm>
        </p:grpSpPr>
        <p:cxnSp>
          <p:nvCxnSpPr>
            <p:cNvPr id="1079" name="Google Shape;1079;p31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0" name="Google Shape;1080;p31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81" name="Google Shape;1081;p31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2" name="Google Shape;1082;p31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3" name="Google Shape;1083;p31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4" name="Google Shape;1084;p31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085" name="Google Shape;1085;p31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86" name="Google Shape;1086;p31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087" name="Google Shape;1087;p31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1088" name="Google Shape;1088;p31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1089" name="Google Shape;1089;p31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1090" name="Google Shape;1090;p31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1091" name="Google Shape;1091;p31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sp>
        <p:nvSpPr>
          <p:cNvPr id="1092" name="Google Shape;1092;p31"/>
          <p:cNvSpPr txBox="1"/>
          <p:nvPr/>
        </p:nvSpPr>
        <p:spPr>
          <a:xfrm>
            <a:off x="918616" y="2738516"/>
            <a:ext cx="11273384" cy="4119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addresses: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 byte source, destination MAC addresses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adapter receives frame with matching destination address, or with broadcast address (e.g., ARP packet), it passes data in frame to network layer protocol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otherwise, adapter discards frame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type: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indicates higher layer protocol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mostly IP but others possible, e.g., Novell IPX, AppleTalk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 to demultiplex up at receiver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CRC: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cyclic redundancy check at receiver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error detected: frame is dropped</a:t>
            </a:r>
            <a:endParaRPr/>
          </a:p>
        </p:txBody>
      </p:sp>
      <p:sp>
        <p:nvSpPr>
          <p:cNvPr id="1093" name="Google Shape;1093;p31"/>
          <p:cNvSpPr/>
          <p:nvPr/>
        </p:nvSpPr>
        <p:spPr>
          <a:xfrm>
            <a:off x="3414532" y="1446835"/>
            <a:ext cx="1898248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31"/>
          <p:cNvSpPr/>
          <p:nvPr/>
        </p:nvSpPr>
        <p:spPr>
          <a:xfrm>
            <a:off x="8081059" y="1471913"/>
            <a:ext cx="1965766" cy="1111170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31"/>
          <p:cNvSpPr/>
          <p:nvPr/>
        </p:nvSpPr>
        <p:spPr>
          <a:xfrm rot="-5400000">
            <a:off x="4780345" y="1551006"/>
            <a:ext cx="1365815" cy="856525"/>
          </a:xfrm>
          <a:prstGeom prst="ellipse">
            <a:avLst/>
          </a:prstGeom>
          <a:noFill/>
          <a:ln cap="flat" cmpd="sng" w="34925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3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Ethernet: unreliable, connectionless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32"/>
          <p:cNvSpPr txBox="1"/>
          <p:nvPr/>
        </p:nvSpPr>
        <p:spPr>
          <a:xfrm>
            <a:off x="989351" y="1600200"/>
            <a:ext cx="1023828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connectionless: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handshaking between sending and receiving NICs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unreliable: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receiving NIC doesn’t send ACKs or NAKs to sending NIC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in dropped frames recovered only if initial sender uses higher layer rdt (e.g., TCP), otherwise dropped data lost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Ethernet’s MAC protocol: unslotted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CSMA/CD with binary backoff</a:t>
            </a:r>
            <a:endParaRPr b="0" i="0" sz="3200" u="none" cap="none" strike="noStrik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3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802.3 Ethernet standards: link &amp; physical layers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33"/>
          <p:cNvSpPr txBox="1"/>
          <p:nvPr/>
        </p:nvSpPr>
        <p:spPr>
          <a:xfrm>
            <a:off x="904153" y="3044936"/>
            <a:ext cx="11197652" cy="4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4163" lvl="1" marL="5222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physical layer media: fiber, cable</a:t>
            </a:r>
            <a:endParaRPr/>
          </a:p>
          <a:p>
            <a:pPr indent="-139700" lvl="0" marL="3429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2" name="Google Shape;1112;p33"/>
          <p:cNvSpPr/>
          <p:nvPr/>
        </p:nvSpPr>
        <p:spPr>
          <a:xfrm>
            <a:off x="3847736" y="4045132"/>
            <a:ext cx="1393825" cy="1527175"/>
          </a:xfrm>
          <a:custGeom>
            <a:rect b="b" l="l" r="r" t="t"/>
            <a:pathLst>
              <a:path extrusionOk="0" h="962" w="878">
                <a:moveTo>
                  <a:pt x="851" y="0"/>
                </a:moveTo>
                <a:lnTo>
                  <a:pt x="0" y="622"/>
                </a:lnTo>
                <a:lnTo>
                  <a:pt x="7" y="962"/>
                </a:lnTo>
                <a:lnTo>
                  <a:pt x="878" y="960"/>
                </a:lnTo>
                <a:lnTo>
                  <a:pt x="851" y="0"/>
                </a:lnTo>
                <a:close/>
              </a:path>
            </a:pathLst>
          </a:custGeom>
          <a:gradFill>
            <a:gsLst>
              <a:gs pos="0">
                <a:srgbClr val="DDDDDD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3" name="Google Shape;1113;p33"/>
          <p:cNvGrpSpPr/>
          <p:nvPr/>
        </p:nvGrpSpPr>
        <p:grpSpPr>
          <a:xfrm>
            <a:off x="2552336" y="4178480"/>
            <a:ext cx="1300163" cy="1477962"/>
            <a:chOff x="921" y="797"/>
            <a:chExt cx="819" cy="931"/>
          </a:xfrm>
        </p:grpSpPr>
        <p:sp>
          <p:nvSpPr>
            <p:cNvPr id="1114" name="Google Shape;1114;p33"/>
            <p:cNvSpPr/>
            <p:nvPr/>
          </p:nvSpPr>
          <p:spPr>
            <a:xfrm>
              <a:off x="924" y="810"/>
              <a:ext cx="816" cy="864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33"/>
            <p:cNvSpPr txBox="1"/>
            <p:nvPr/>
          </p:nvSpPr>
          <p:spPr>
            <a:xfrm>
              <a:off x="937" y="797"/>
              <a:ext cx="773" cy="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116" name="Google Shape;1116;p33"/>
            <p:cNvCxnSpPr/>
            <p:nvPr/>
          </p:nvCxnSpPr>
          <p:spPr>
            <a:xfrm>
              <a:off x="924" y="993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7" name="Google Shape;1117;p33"/>
            <p:cNvCxnSpPr/>
            <p:nvPr/>
          </p:nvCxnSpPr>
          <p:spPr>
            <a:xfrm>
              <a:off x="924" y="1167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8" name="Google Shape;1118;p33"/>
            <p:cNvCxnSpPr/>
            <p:nvPr/>
          </p:nvCxnSpPr>
          <p:spPr>
            <a:xfrm>
              <a:off x="921" y="1344"/>
              <a:ext cx="81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19" name="Google Shape;1119;p33"/>
            <p:cNvCxnSpPr/>
            <p:nvPr/>
          </p:nvCxnSpPr>
          <p:spPr>
            <a:xfrm>
              <a:off x="926" y="1501"/>
              <a:ext cx="808" cy="3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20" name="Google Shape;1120;p33"/>
            <p:cNvCxnSpPr/>
            <p:nvPr/>
          </p:nvCxnSpPr>
          <p:spPr>
            <a:xfrm>
              <a:off x="926" y="1552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121" name="Google Shape;1121;p33"/>
            <p:cNvCxnSpPr/>
            <p:nvPr/>
          </p:nvCxnSpPr>
          <p:spPr>
            <a:xfrm>
              <a:off x="1739" y="1541"/>
              <a:ext cx="0" cy="10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122" name="Google Shape;1122;p33"/>
          <p:cNvSpPr/>
          <p:nvPr/>
        </p:nvSpPr>
        <p:spPr>
          <a:xfrm>
            <a:off x="5205049" y="4008619"/>
            <a:ext cx="4195762" cy="156845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3" name="Google Shape;1123;p33"/>
          <p:cNvCxnSpPr/>
          <p:nvPr/>
        </p:nvCxnSpPr>
        <p:spPr>
          <a:xfrm>
            <a:off x="5219336" y="4673782"/>
            <a:ext cx="41783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33"/>
          <p:cNvSpPr txBox="1"/>
          <p:nvPr/>
        </p:nvSpPr>
        <p:spPr>
          <a:xfrm>
            <a:off x="6336078" y="4049894"/>
            <a:ext cx="183845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MAC protocol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 frame format</a:t>
            </a:r>
            <a:endParaRPr/>
          </a:p>
        </p:txBody>
      </p:sp>
      <p:sp>
        <p:nvSpPr>
          <p:cNvPr id="1125" name="Google Shape;1125;p33"/>
          <p:cNvSpPr txBox="1"/>
          <p:nvPr/>
        </p:nvSpPr>
        <p:spPr>
          <a:xfrm>
            <a:off x="5373324" y="4764269"/>
            <a:ext cx="1191352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100BASE-TX</a:t>
            </a:r>
            <a:endParaRPr/>
          </a:p>
        </p:txBody>
      </p:sp>
      <p:sp>
        <p:nvSpPr>
          <p:cNvPr id="1126" name="Google Shape;1126;p33"/>
          <p:cNvSpPr txBox="1"/>
          <p:nvPr/>
        </p:nvSpPr>
        <p:spPr>
          <a:xfrm>
            <a:off x="5384436" y="5124632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100BASE-T4</a:t>
            </a:r>
            <a:endParaRPr/>
          </a:p>
        </p:txBody>
      </p:sp>
      <p:sp>
        <p:nvSpPr>
          <p:cNvPr id="1127" name="Google Shape;1127;p33"/>
          <p:cNvSpPr txBox="1"/>
          <p:nvPr/>
        </p:nvSpPr>
        <p:spPr>
          <a:xfrm>
            <a:off x="8056199" y="4759507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100BASE-FX</a:t>
            </a:r>
            <a:endParaRPr/>
          </a:p>
        </p:txBody>
      </p:sp>
      <p:sp>
        <p:nvSpPr>
          <p:cNvPr id="1128" name="Google Shape;1128;p33"/>
          <p:cNvSpPr/>
          <p:nvPr/>
        </p:nvSpPr>
        <p:spPr>
          <a:xfrm>
            <a:off x="3862024" y="4654732"/>
            <a:ext cx="1393825" cy="611187"/>
          </a:xfrm>
          <a:custGeom>
            <a:rect b="b" l="l" r="r" t="t"/>
            <a:pathLst>
              <a:path extrusionOk="0" h="385" w="878">
                <a:moveTo>
                  <a:pt x="0" y="385"/>
                </a:moveTo>
                <a:lnTo>
                  <a:pt x="878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33"/>
          <p:cNvSpPr txBox="1"/>
          <p:nvPr/>
        </p:nvSpPr>
        <p:spPr>
          <a:xfrm>
            <a:off x="6716349" y="4757919"/>
            <a:ext cx="1189749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100BASE-T2</a:t>
            </a:r>
            <a:endParaRPr/>
          </a:p>
        </p:txBody>
      </p:sp>
      <p:sp>
        <p:nvSpPr>
          <p:cNvPr id="1130" name="Google Shape;1130;p33"/>
          <p:cNvSpPr txBox="1"/>
          <p:nvPr/>
        </p:nvSpPr>
        <p:spPr>
          <a:xfrm>
            <a:off x="6698886" y="5118282"/>
            <a:ext cx="1186543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100BASE-SX</a:t>
            </a:r>
            <a:endParaRPr/>
          </a:p>
        </p:txBody>
      </p:sp>
      <p:sp>
        <p:nvSpPr>
          <p:cNvPr id="1131" name="Google Shape;1131;p33"/>
          <p:cNvSpPr txBox="1"/>
          <p:nvPr/>
        </p:nvSpPr>
        <p:spPr>
          <a:xfrm>
            <a:off x="8062549" y="5113519"/>
            <a:ext cx="1204176" cy="338554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100BASE-BX</a:t>
            </a:r>
            <a:endParaRPr/>
          </a:p>
        </p:txBody>
      </p:sp>
      <p:grpSp>
        <p:nvGrpSpPr>
          <p:cNvPr id="1132" name="Google Shape;1132;p33"/>
          <p:cNvGrpSpPr/>
          <p:nvPr/>
        </p:nvGrpSpPr>
        <p:grpSpPr>
          <a:xfrm>
            <a:off x="6656025" y="4713470"/>
            <a:ext cx="2798763" cy="1595438"/>
            <a:chOff x="3579" y="2988"/>
            <a:chExt cx="1763" cy="1005"/>
          </a:xfrm>
        </p:grpSpPr>
        <p:sp>
          <p:nvSpPr>
            <p:cNvPr id="1133" name="Google Shape;1133;p33"/>
            <p:cNvSpPr/>
            <p:nvPr/>
          </p:nvSpPr>
          <p:spPr>
            <a:xfrm>
              <a:off x="3579" y="2988"/>
              <a:ext cx="1709" cy="489"/>
            </a:xfrm>
            <a:custGeom>
              <a:rect b="b" l="l" r="r" t="t"/>
              <a:pathLst>
                <a:path extrusionOk="0" h="489" w="1709">
                  <a:moveTo>
                    <a:pt x="842" y="0"/>
                  </a:moveTo>
                  <a:lnTo>
                    <a:pt x="843" y="239"/>
                  </a:lnTo>
                  <a:lnTo>
                    <a:pt x="5" y="239"/>
                  </a:lnTo>
                  <a:lnTo>
                    <a:pt x="0" y="489"/>
                  </a:lnTo>
                  <a:lnTo>
                    <a:pt x="1709" y="489"/>
                  </a:lnTo>
                  <a:cubicBezTo>
                    <a:pt x="1707" y="330"/>
                    <a:pt x="1706" y="159"/>
                    <a:pt x="1704" y="0"/>
                  </a:cubicBezTo>
                  <a:lnTo>
                    <a:pt x="842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4" name="Google Shape;1134;p33"/>
            <p:cNvCxnSpPr/>
            <p:nvPr/>
          </p:nvCxnSpPr>
          <p:spPr>
            <a:xfrm>
              <a:off x="4410" y="3494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5" name="Google Shape;1135;p33"/>
            <p:cNvSpPr txBox="1"/>
            <p:nvPr/>
          </p:nvSpPr>
          <p:spPr>
            <a:xfrm>
              <a:off x="4003" y="3741"/>
              <a:ext cx="1339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fiber physical layer</a:t>
              </a:r>
              <a:endParaRPr/>
            </a:p>
          </p:txBody>
        </p:sp>
      </p:grpSp>
      <p:grpSp>
        <p:nvGrpSpPr>
          <p:cNvPr id="1136" name="Google Shape;1136;p33"/>
          <p:cNvGrpSpPr/>
          <p:nvPr/>
        </p:nvGrpSpPr>
        <p:grpSpPr>
          <a:xfrm>
            <a:off x="2907936" y="4703945"/>
            <a:ext cx="5059363" cy="1628776"/>
            <a:chOff x="1218" y="2982"/>
            <a:chExt cx="3187" cy="1026"/>
          </a:xfrm>
        </p:grpSpPr>
        <p:sp>
          <p:nvSpPr>
            <p:cNvPr id="1137" name="Google Shape;1137;p33"/>
            <p:cNvSpPr/>
            <p:nvPr/>
          </p:nvSpPr>
          <p:spPr>
            <a:xfrm>
              <a:off x="2741" y="2982"/>
              <a:ext cx="1664" cy="495"/>
            </a:xfrm>
            <a:custGeom>
              <a:rect b="b" l="l" r="r" t="t"/>
              <a:pathLst>
                <a:path extrusionOk="0" h="495" w="1664">
                  <a:moveTo>
                    <a:pt x="1664" y="0"/>
                  </a:moveTo>
                  <a:lnTo>
                    <a:pt x="1652" y="233"/>
                  </a:lnTo>
                  <a:lnTo>
                    <a:pt x="820" y="233"/>
                  </a:lnTo>
                  <a:lnTo>
                    <a:pt x="814" y="495"/>
                  </a:lnTo>
                  <a:lnTo>
                    <a:pt x="0" y="495"/>
                  </a:lnTo>
                  <a:lnTo>
                    <a:pt x="0" y="0"/>
                  </a:lnTo>
                  <a:lnTo>
                    <a:pt x="1664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3333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38" name="Google Shape;1138;p33"/>
            <p:cNvCxnSpPr/>
            <p:nvPr/>
          </p:nvCxnSpPr>
          <p:spPr>
            <a:xfrm flipH="1">
              <a:off x="2929" y="3503"/>
              <a:ext cx="227" cy="291"/>
            </a:xfrm>
            <a:prstGeom prst="straightConnector1">
              <a:avLst/>
            </a:prstGeom>
            <a:noFill/>
            <a:ln cap="flat" cmpd="sng" w="28575">
              <a:solidFill>
                <a:srgbClr val="3333CC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9" name="Google Shape;1139;p33"/>
            <p:cNvSpPr txBox="1"/>
            <p:nvPr/>
          </p:nvSpPr>
          <p:spPr>
            <a:xfrm>
              <a:off x="1218" y="3756"/>
              <a:ext cx="2453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copper (twister pair) physical layer</a:t>
              </a:r>
              <a:endParaRPr/>
            </a:p>
          </p:txBody>
        </p:sp>
      </p:grpSp>
      <p:sp>
        <p:nvSpPr>
          <p:cNvPr id="1140" name="Google Shape;1140;p33"/>
          <p:cNvSpPr txBox="1"/>
          <p:nvPr/>
        </p:nvSpPr>
        <p:spPr>
          <a:xfrm>
            <a:off x="924898" y="1611604"/>
            <a:ext cx="11197652" cy="1594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Ethernet standards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common MAC protocol and frame format</a:t>
            </a:r>
            <a:endParaRPr/>
          </a:p>
          <a:p>
            <a:pPr indent="-284163" lvl="1" marL="522288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different speeds: 2 Mbps, 10 Mbps, 100 Mbps, 1Gbps, 10 Gbps, 40 Gbps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3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1147" name="Google Shape;114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148" name="Google Shape;1148;p34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4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3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5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/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3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6" name="Google Shape;1166;p36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167" name="Google Shape;1167;p36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68" name="Google Shape;1168;p36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1169" name="Google Shape;1169;p36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170" name="Google Shape;1170;p36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171" name="Google Shape;1171;p36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172" name="Google Shape;1172;p36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173" name="Google Shape;1173;p36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174" name="Google Shape;1174;p36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175" name="Google Shape;1175;p36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176" name="Google Shape;1176;p3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7" name="Google Shape;1177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8" name="Google Shape;1178;p36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179" name="Google Shape;1179;p3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0" name="Google Shape;1180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1" name="Google Shape;1181;p36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182" name="Google Shape;1182;p36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183" name="Google Shape;1183;p36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184" name="Google Shape;1184;p36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185" name="Google Shape;1185;p36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186" name="Google Shape;1186;p36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187" name="Google Shape;1187;p36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188" name="Google Shape;1188;p36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189" name="Google Shape;1189;p36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190" name="Google Shape;1190;p36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191" name="Google Shape;1191;p36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192" name="Google Shape;1192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93" name="Google Shape;1193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194" name="Google Shape;1194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5" name="Google Shape;1195;p36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196" name="Google Shape;1196;p36"/>
            <p:cNvCxnSpPr>
              <a:stCxn id="1187" idx="0"/>
              <a:endCxn id="119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197" name="Google Shape;1197;p36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98" name="Google Shape;1198;p36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199" name="Google Shape;1199;p36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200" name="Google Shape;1200;p36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01" name="Google Shape;1201;p3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3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03" name="Google Shape;1203;p3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04" name="Google Shape;1204;p3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3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3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3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08" name="Google Shape;1208;p36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09" name="Google Shape;1209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0" name="Google Shape;1210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11" name="Google Shape;1211;p36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12" name="Google Shape;1212;p3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13" name="Google Shape;1213;p3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14" name="Google Shape;1214;p36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1215" name="Google Shape;1215;p36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</p:txBody>
      </p:sp>
      <p:sp>
        <p:nvSpPr>
          <p:cNvPr id="1216" name="Google Shape;1216;p36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6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2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3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5" name="Google Shape;1225;p37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226" name="Google Shape;1226;p37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27" name="Google Shape;1227;p37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/>
            </a:p>
          </p:txBody>
        </p:sp>
        <p:sp>
          <p:nvSpPr>
            <p:cNvPr id="1228" name="Google Shape;1228;p37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229" name="Google Shape;1229;p37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230" name="Google Shape;1230;p37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231" name="Google Shape;1231;p37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232" name="Google Shape;1232;p37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233" name="Google Shape;1233;p37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234" name="Google Shape;1234;p37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35" name="Google Shape;1235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6" name="Google Shape;1236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7" name="Google Shape;1237;p37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38" name="Google Shape;1238;p3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9" name="Google Shape;1239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40" name="Google Shape;1240;p37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241" name="Google Shape;1241;p37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242" name="Google Shape;1242;p37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243" name="Google Shape;1243;p37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244" name="Google Shape;1244;p37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245" name="Google Shape;1245;p37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246" name="Google Shape;1246;p37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47" name="Google Shape;1247;p37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48" name="Google Shape;1248;p37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49" name="Google Shape;1249;p37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250" name="Google Shape;1250;p37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251" name="Google Shape;1251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2" name="Google Shape;1252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253" name="Google Shape;1253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4" name="Google Shape;1254;p37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55" name="Google Shape;1255;p37"/>
            <p:cNvCxnSpPr>
              <a:stCxn id="1246" idx="0"/>
              <a:endCxn id="124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256" name="Google Shape;1256;p37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57" name="Google Shape;1257;p37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258" name="Google Shape;1258;p37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259" name="Google Shape;1259;p37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260" name="Google Shape;1260;p3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3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2" name="Google Shape;1262;p37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263" name="Google Shape;1263;p3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4" name="Google Shape;1264;p3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5" name="Google Shape;1265;p3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6" name="Google Shape;1266;p3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7" name="Google Shape;1267;p37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68" name="Google Shape;1268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70" name="Google Shape;1270;p37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271" name="Google Shape;1271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2" name="Google Shape;1272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73" name="Google Shape;1273;p37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/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/>
          </a:p>
        </p:txBody>
      </p:sp>
      <p:sp>
        <p:nvSpPr>
          <p:cNvPr id="1274" name="Google Shape;1274;p37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/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/>
          </a:p>
        </p:txBody>
      </p:sp>
      <p:sp>
        <p:nvSpPr>
          <p:cNvPr id="1275" name="Google Shape;1275;p37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7" name="Google Shape;1277;p37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278" name="Google Shape;1278;p37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3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6" name="Google Shape;1286;p38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287" name="Google Shape;1287;p38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88" name="Google Shape;1288;p38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289" name="Google Shape;1289;p38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290" name="Google Shape;1290;p38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291" name="Google Shape;1291;p38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292" name="Google Shape;1292;p38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293" name="Google Shape;1293;p38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294" name="Google Shape;1294;p38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95" name="Google Shape;1295;p3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6" name="Google Shape;1296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7" name="Google Shape;1297;p38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98" name="Google Shape;1298;p3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99" name="Google Shape;1299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0" name="Google Shape;1300;p38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01" name="Google Shape;1301;p38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302" name="Google Shape;1302;p38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303" name="Google Shape;1303;p38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304" name="Google Shape;1304;p38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305" name="Google Shape;1305;p38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06" name="Google Shape;1306;p38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07" name="Google Shape;1307;p38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08" name="Google Shape;1308;p38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09" name="Google Shape;1309;p38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10" name="Google Shape;1310;p38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311" name="Google Shape;1311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2" name="Google Shape;1312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313" name="Google Shape;131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4" name="Google Shape;1314;p38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15" name="Google Shape;1315;p38"/>
            <p:cNvCxnSpPr>
              <a:stCxn id="1306" idx="0"/>
              <a:endCxn id="1309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16" name="Google Shape;1316;p38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7" name="Google Shape;1317;p38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18" name="Google Shape;1318;p38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19" name="Google Shape;1319;p38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320" name="Google Shape;1320;p3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3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22" name="Google Shape;1322;p3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23" name="Google Shape;1323;p3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4" name="Google Shape;1324;p3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5" name="Google Shape;1325;p3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26" name="Google Shape;1326;p3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27" name="Google Shape;1327;p38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28" name="Google Shape;1328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9" name="Google Shape;1329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0" name="Google Shape;1330;p38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31" name="Google Shape;1331;p3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2" name="Google Shape;1332;p3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3" name="Google Shape;1333;p38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/>
          </a:p>
        </p:txBody>
      </p:sp>
      <p:sp>
        <p:nvSpPr>
          <p:cNvPr id="1334" name="Google Shape;1334;p38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/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/>
          </a:p>
        </p:txBody>
      </p:sp>
      <p:sp>
        <p:nvSpPr>
          <p:cNvPr id="1335" name="Google Shape;1335;p38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4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3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43" name="Google Shape;1343;p39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344" name="Google Shape;1344;p39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45" name="Google Shape;1345;p39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346" name="Google Shape;1346;p39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347" name="Google Shape;1347;p39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348" name="Google Shape;1348;p39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349" name="Google Shape;1349;p39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350" name="Google Shape;1350;p39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351" name="Google Shape;1351;p39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52" name="Google Shape;1352;p3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3" name="Google Shape;1353;p3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4" name="Google Shape;1354;p39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355" name="Google Shape;1355;p3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6" name="Google Shape;1356;p3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57" name="Google Shape;1357;p39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358" name="Google Shape;1358;p39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359" name="Google Shape;1359;p39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360" name="Google Shape;1360;p39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361" name="Google Shape;1361;p39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362" name="Google Shape;1362;p39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363" name="Google Shape;1363;p39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64" name="Google Shape;1364;p39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65" name="Google Shape;1365;p39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66" name="Google Shape;1366;p39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67" name="Google Shape;1367;p39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368" name="Google Shape;1368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69" name="Google Shape;1369;p3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370" name="Google Shape;1370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1" name="Google Shape;1371;p39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2" name="Google Shape;1372;p39"/>
            <p:cNvCxnSpPr>
              <a:stCxn id="1363" idx="0"/>
              <a:endCxn id="1366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373" name="Google Shape;1373;p39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4" name="Google Shape;1374;p39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375" name="Google Shape;1375;p39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376" name="Google Shape;1376;p39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377" name="Google Shape;1377;p3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3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79" name="Google Shape;1379;p39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380" name="Google Shape;1380;p3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1" name="Google Shape;1381;p3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2" name="Google Shape;1382;p3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83" name="Google Shape;1383;p3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84" name="Google Shape;1384;p39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85" name="Google Shape;1385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6" name="Google Shape;1386;p3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7" name="Google Shape;1387;p39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388" name="Google Shape;1388;p3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89" name="Google Shape;1389;p3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90" name="Google Shape;1390;p39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/>
          </a:p>
        </p:txBody>
      </p:sp>
      <p:grpSp>
        <p:nvGrpSpPr>
          <p:cNvPr id="1391" name="Google Shape;1391;p39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1392" name="Google Shape;1392;p39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39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94" name="Google Shape;1394;p39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5" name="Google Shape;1395;p39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96" name="Google Shape;1396;p39"/>
          <p:cNvGrpSpPr/>
          <p:nvPr/>
        </p:nvGrpSpPr>
        <p:grpSpPr>
          <a:xfrm>
            <a:off x="9617804" y="1001713"/>
            <a:ext cx="1450975" cy="714375"/>
            <a:chOff x="4406" y="331"/>
            <a:chExt cx="914" cy="450"/>
          </a:xfrm>
        </p:grpSpPr>
        <p:cxnSp>
          <p:nvCxnSpPr>
            <p:cNvPr id="1397" name="Google Shape;1397;p39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398" name="Google Shape;1398;p39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399" name="Google Shape;1399;p39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1400" name="Google Shape;1400;p39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1" name="Google Shape;1401;p39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1402" name="Google Shape;1402;p39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39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1404" name="Google Shape;1404;p39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39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39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7" name="Google Shape;1407;p39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1408" name="Google Shape;1408;p39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1409" name="Google Shape;1409;p39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410" name="Google Shape;1410;p39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411" name="Google Shape;1411;p39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1412" name="Google Shape;1412;p39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/>
          </a:p>
        </p:txBody>
      </p:sp>
      <p:sp>
        <p:nvSpPr>
          <p:cNvPr id="1413" name="Google Shape;1413;p39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7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40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rgbClr val="ED7D3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rgbClr val="ED7D3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/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7" name="Google Shape;1427;p41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1428" name="Google Shape;1428;p41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29" name="Google Shape;1429;p41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430" name="Google Shape;1430;p41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/>
            </a:p>
          </p:txBody>
        </p:sp>
        <p:sp>
          <p:nvSpPr>
            <p:cNvPr id="1431" name="Google Shape;1431;p41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432" name="Google Shape;1432;p41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/>
            </a:p>
          </p:txBody>
        </p:sp>
        <p:sp>
          <p:nvSpPr>
            <p:cNvPr id="1433" name="Google Shape;1433;p41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sp>
          <p:nvSpPr>
            <p:cNvPr id="1434" name="Google Shape;1434;p41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/>
            </a:p>
          </p:txBody>
        </p:sp>
        <p:grpSp>
          <p:nvGrpSpPr>
            <p:cNvPr id="1435" name="Google Shape;1435;p41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436" name="Google Shape;1436;p4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7" name="Google Shape;1437;p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8" name="Google Shape;1438;p41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439" name="Google Shape;1439;p4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40" name="Google Shape;1440;p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41" name="Google Shape;1441;p41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442" name="Google Shape;1442;p41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443" name="Google Shape;1443;p41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444" name="Google Shape;1444;p41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445" name="Google Shape;1445;p41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446" name="Google Shape;1446;p41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/>
            </a:p>
          </p:txBody>
        </p:sp>
        <p:sp>
          <p:nvSpPr>
            <p:cNvPr id="1447" name="Google Shape;1447;p41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448" name="Google Shape;1448;p41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449" name="Google Shape;1449;p41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450" name="Google Shape;1450;p41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451" name="Google Shape;1451;p41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452" name="Google Shape;1452;p4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3" name="Google Shape;1453;p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454" name="Google Shape;1454;p4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5" name="Google Shape;1455;p41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56" name="Google Shape;1456;p41"/>
            <p:cNvCxnSpPr>
              <a:stCxn id="1447" idx="0"/>
              <a:endCxn id="145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57" name="Google Shape;1457;p41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58" name="Google Shape;1458;p41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sp>
          <p:nvSpPr>
            <p:cNvPr id="1459" name="Google Shape;1459;p41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901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/>
            </a:p>
          </p:txBody>
        </p:sp>
        <p:grpSp>
          <p:nvGrpSpPr>
            <p:cNvPr id="1460" name="Google Shape;1460;p41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461" name="Google Shape;1461;p41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1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3" name="Google Shape;1463;p41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464" name="Google Shape;1464;p41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5" name="Google Shape;1465;p41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6" name="Google Shape;1466;p41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7" name="Google Shape;1467;p41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68" name="Google Shape;1468;p41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69" name="Google Shape;1469;p4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0" name="Google Shape;1470;p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1" name="Google Shape;1471;p41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472" name="Google Shape;1472;p4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3" name="Google Shape;1473;p4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74" name="Google Shape;1474;p4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76" name="Google Shape;1476;p41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1477" name="Google Shape;1477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9" name="Google Shape;1479;p41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0" name="Google Shape;1480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81" name="Google Shape;1481;p41"/>
          <p:cNvGrpSpPr/>
          <p:nvPr/>
        </p:nvGrpSpPr>
        <p:grpSpPr>
          <a:xfrm>
            <a:off x="9392951" y="900218"/>
            <a:ext cx="1450975" cy="714375"/>
            <a:chOff x="4406" y="331"/>
            <a:chExt cx="914" cy="450"/>
          </a:xfrm>
        </p:grpSpPr>
        <p:cxnSp>
          <p:nvCxnSpPr>
            <p:cNvPr id="1482" name="Google Shape;1482;p41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1483" name="Google Shape;1483;p41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1484" name="Google Shape;1484;p41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/>
            </a:p>
          </p:txBody>
        </p:sp>
        <p:sp>
          <p:nvSpPr>
            <p:cNvPr id="1485" name="Google Shape;1485;p41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86" name="Google Shape;1486;p41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1487" name="Google Shape;1487;p41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41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/>
            </a:p>
          </p:txBody>
        </p:sp>
        <p:cxnSp>
          <p:nvCxnSpPr>
            <p:cNvPr id="1489" name="Google Shape;1489;p41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0" name="Google Shape;1490;p41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91" name="Google Shape;1491;p41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92" name="Google Shape;1492;p41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/>
          </a:p>
        </p:txBody>
      </p:sp>
      <p:grpSp>
        <p:nvGrpSpPr>
          <p:cNvPr id="1493" name="Google Shape;1493;p41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1494" name="Google Shape;1494;p41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/>
            </a:p>
          </p:txBody>
        </p:sp>
        <p:sp>
          <p:nvSpPr>
            <p:cNvPr id="1495" name="Google Shape;1495;p41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sp>
          <p:nvSpPr>
            <p:cNvPr id="1496" name="Google Shape;1496;p41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grpSp>
        <p:nvGrpSpPr>
          <p:cNvPr id="1497" name="Google Shape;1497;p41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1498" name="Google Shape;1498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0" name="Google Shape;1500;p41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1" name="Google Shape;1501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2" name="Google Shape;1502;p41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1503" name="Google Shape;1503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5" name="Google Shape;1505;p41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06" name="Google Shape;1506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7" name="Google Shape;1507;p41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1508" name="Google Shape;1508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0" name="Google Shape;1510;p41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1" name="Google Shape;1511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2" name="Google Shape;1512;p41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1513" name="Google Shape;1513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15" name="Google Shape;1515;p41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6" name="Google Shape;1516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7" name="Google Shape;1517;p41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1518" name="Google Shape;1518;p41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41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0" name="Google Shape;1520;p41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1" name="Google Shape;1521;p41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22" name="Google Shape;1522;p41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1523" name="Google Shape;1523;p41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41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/>
            </a:p>
          </p:txBody>
        </p:sp>
        <p:cxnSp>
          <p:nvCxnSpPr>
            <p:cNvPr id="1525" name="Google Shape;1525;p41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26" name="Google Shape;1526;p41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27" name="Google Shape;1527;p41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1528" name="Google Shape;1528;p41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41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  <p:sp>
          <p:nvSpPr>
            <p:cNvPr id="1530" name="Google Shape;1530;p41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/>
            </a:p>
          </p:txBody>
        </p:sp>
      </p:grpSp>
      <p:sp>
        <p:nvSpPr>
          <p:cNvPr id="1531" name="Google Shape;1531;p41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b="0" i="1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41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/>
          </a:p>
        </p:txBody>
      </p:sp>
      <p:sp>
        <p:nvSpPr>
          <p:cNvPr id="1533" name="Google Shape;1533;p41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41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4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2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/>
          </a:p>
        </p:txBody>
      </p:sp>
      <p:sp>
        <p:nvSpPr>
          <p:cNvPr id="1543" name="Google Shape;1543;p42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Calibri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/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/>
          </a:p>
        </p:txBody>
      </p:sp>
      <p:grpSp>
        <p:nvGrpSpPr>
          <p:cNvPr id="1544" name="Google Shape;1544;p42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1545" name="Google Shape;1545;p42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6" name="Google Shape;1546;p42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47" name="Google Shape;1547;p42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8" name="Google Shape;1548;p42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  <p:sp>
          <p:nvSpPr>
            <p:cNvPr id="1549" name="Google Shape;1549;p42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1550" name="Google Shape;1550;p42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551" name="Google Shape;1551;p42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1552" name="Google Shape;1552;p42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3" name="Google Shape;1553;p4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4" name="Google Shape;1554;p4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5" name="Google Shape;1555;p42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6" name="Google Shape;1556;p4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57" name="Google Shape;1557;p4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8" name="Google Shape;1558;p42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559" name="Google Shape;1559;p4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60" name="Google Shape;1560;p4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561" name="Google Shape;1561;p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62" name="Google Shape;1562;p42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1563" name="Google Shape;1563;p42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1564" name="Google Shape;1564;p42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5" name="Google Shape;1565;p42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6" name="Google Shape;1566;p42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7" name="Google Shape;1567;p42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8" name="Google Shape;1568;p42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9" name="Google Shape;1569;p42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0" name="Google Shape;1570;p42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1" name="Google Shape;1571;p42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72" name="Google Shape;1572;p42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573" name="Google Shape;1573;p42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  <p:sp>
            <p:nvSpPr>
              <p:cNvPr id="1574" name="Google Shape;1574;p42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  <p:sp>
            <p:nvSpPr>
              <p:cNvPr id="1575" name="Google Shape;1575;p42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/>
              </a:p>
            </p:txBody>
          </p:sp>
          <p:sp>
            <p:nvSpPr>
              <p:cNvPr id="1576" name="Google Shape;1576;p42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  <p:sp>
            <p:nvSpPr>
              <p:cNvPr id="1577" name="Google Shape;1577;p42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/>
              </a:p>
            </p:txBody>
          </p:sp>
          <p:sp>
            <p:nvSpPr>
              <p:cNvPr id="1578" name="Google Shape;1578;p42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  <p:sp>
            <p:nvSpPr>
              <p:cNvPr id="1579" name="Google Shape;1579;p42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/>
              </a:p>
            </p:txBody>
          </p:sp>
          <p:sp>
            <p:nvSpPr>
              <p:cNvPr id="1580" name="Google Shape;1580;p42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/>
              </a:p>
            </p:txBody>
          </p:sp>
          <p:sp>
            <p:nvSpPr>
              <p:cNvPr id="1581" name="Google Shape;1581;p42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/>
              </a:p>
            </p:txBody>
          </p:sp>
          <p:pic>
            <p:nvPicPr>
              <p:cNvPr id="1582" name="Google Shape;1582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83" name="Google Shape;1583;p42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84" name="Google Shape;1584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85" name="Google Shape;1585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86" name="Google Shape;1586;p42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87" name="Google Shape;1587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88" name="Google Shape;1588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89" name="Google Shape;1589;p42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90" name="Google Shape;1590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1" name="Google Shape;1591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2" name="Google Shape;1592;p42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93" name="Google Shape;1593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4" name="Google Shape;1594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5" name="Google Shape;1595;p42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96" name="Google Shape;1596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7" name="Google Shape;1597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98" name="Google Shape;1598;p42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599" name="Google Shape;1599;p42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00" name="Google Shape;1600;p42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601" name="Google Shape;1601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02" name="Google Shape;1602;p4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03" name="Google Shape;1603;p42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1604" name="Google Shape;1604;p4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4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06" name="Google Shape;1606;p4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07" name="Google Shape;1607;p4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8" name="Google Shape;1608;p4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09" name="Google Shape;1609;p4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0" name="Google Shape;1610;p4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1" name="Google Shape;1611;p42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1612" name="Google Shape;1612;p4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4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14" name="Google Shape;1614;p4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15" name="Google Shape;1615;p4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6" name="Google Shape;1616;p4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7" name="Google Shape;1617;p4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18" name="Google Shape;1618;p4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19" name="Google Shape;1619;p42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1620" name="Google Shape;1620;p4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4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22" name="Google Shape;1622;p42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623" name="Google Shape;1623;p4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4" name="Google Shape;1624;p4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5" name="Google Shape;1625;p4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26" name="Google Shape;1626;p4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627" name="Google Shape;1627;p42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1628" name="Google Shape;1628;p42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42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0" name="Google Shape;1630;p42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631" name="Google Shape;1631;p42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42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42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42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4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3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43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Calibri"/>
              <a:buNone/>
            </a:pPr>
            <a:r>
              <a:rPr b="0" i="0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grpSp>
        <p:nvGrpSpPr>
          <p:cNvPr id="1644" name="Google Shape;1644;p43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1645" name="Google Shape;1645;p43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1646" name="Google Shape;1646;p43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7" name="Google Shape;1647;p43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48" name="Google Shape;1648;p43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49" name="Google Shape;1649;p43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650" name="Google Shape;1650;p43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1651" name="Google Shape;1651;p43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  <p:sp>
            <p:nvSpPr>
              <p:cNvPr id="1652" name="Google Shape;1652;p43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grpSp>
            <p:nvGrpSpPr>
              <p:cNvPr id="1653" name="Google Shape;1653;p43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54" name="Google Shape;1654;p4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55" name="Google Shape;1655;p4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56" name="Google Shape;1656;p43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57" name="Google Shape;1657;p4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58" name="Google Shape;1658;p4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59" name="Google Shape;1659;p43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1660" name="Google Shape;1660;p43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61" name="Google Shape;1661;p43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662" name="Google Shape;1662;p4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63" name="Google Shape;1663;p43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1664" name="Google Shape;1664;p43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1665" name="Google Shape;1665;p43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6" name="Google Shape;1666;p43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7" name="Google Shape;1667;p43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8" name="Google Shape;1668;p43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69" name="Google Shape;1669;p43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0" name="Google Shape;1670;p43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1" name="Google Shape;1671;p43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2" name="Google Shape;1672;p43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673" name="Google Shape;1673;p43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674" name="Google Shape;1674;p43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/>
                </a:p>
              </p:txBody>
            </p:sp>
            <p:sp>
              <p:nvSpPr>
                <p:cNvPr id="1675" name="Google Shape;1675;p43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/>
                </a:p>
              </p:txBody>
            </p:sp>
            <p:sp>
              <p:nvSpPr>
                <p:cNvPr id="1676" name="Google Shape;1676;p43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/>
                </a:p>
              </p:txBody>
            </p:sp>
            <p:sp>
              <p:nvSpPr>
                <p:cNvPr id="1677" name="Google Shape;1677;p43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/>
                </a:p>
              </p:txBody>
            </p:sp>
            <p:sp>
              <p:nvSpPr>
                <p:cNvPr id="1678" name="Google Shape;1678;p43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/>
                </a:p>
              </p:txBody>
            </p:sp>
            <p:sp>
              <p:nvSpPr>
                <p:cNvPr id="1679" name="Google Shape;1679;p43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/>
                </a:p>
              </p:txBody>
            </p:sp>
            <p:sp>
              <p:nvSpPr>
                <p:cNvPr id="1680" name="Google Shape;1680;p43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/>
                </a:p>
              </p:txBody>
            </p:sp>
            <p:sp>
              <p:nvSpPr>
                <p:cNvPr id="1681" name="Google Shape;1681;p43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/>
                </a:p>
              </p:txBody>
            </p:sp>
            <p:sp>
              <p:nvSpPr>
                <p:cNvPr id="1682" name="Google Shape;1682;p43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/>
                </a:p>
              </p:txBody>
            </p:sp>
            <p:pic>
              <p:nvPicPr>
                <p:cNvPr id="1683" name="Google Shape;1683;p4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1684" name="Google Shape;1684;p43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685" name="Google Shape;1685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86" name="Google Shape;1686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87" name="Google Shape;1687;p43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688" name="Google Shape;1688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89" name="Google Shape;1689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90" name="Google Shape;1690;p43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691" name="Google Shape;1691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92" name="Google Shape;1692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93" name="Google Shape;1693;p43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694" name="Google Shape;1694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95" name="Google Shape;1695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96" name="Google Shape;1696;p43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697" name="Google Shape;1697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698" name="Google Shape;1698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699" name="Google Shape;1699;p43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1700" name="Google Shape;1700;p4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701" name="Google Shape;1701;p4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1702" name="Google Shape;1702;p4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1703" name="Google Shape;1703;p43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1704" name="Google Shape;1704;p43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705" name="Google Shape;1705;p43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6" name="Google Shape;1706;p43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7" name="Google Shape;1707;p43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08" name="Google Shape;1708;p43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9" name="Google Shape;1709;p43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0" name="Google Shape;1710;p43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1" name="Google Shape;1711;p43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12" name="Google Shape;1712;p43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713" name="Google Shape;1713;p43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4" name="Google Shape;1714;p43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15" name="Google Shape;1715;p43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16" name="Google Shape;1716;p43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7" name="Google Shape;1717;p43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8" name="Google Shape;1718;p43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9" name="Google Shape;1719;p43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20" name="Google Shape;1720;p43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1721" name="Google Shape;1721;p43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22" name="Google Shape;1722;p43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23" name="Google Shape;1723;p43"/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1724" name="Google Shape;1724;p43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5" name="Google Shape;1725;p43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6" name="Google Shape;1726;p43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27" name="Google Shape;1727;p43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728" name="Google Shape;1728;p43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1729" name="Google Shape;1729;p4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4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31" name="Google Shape;1731;p43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732" name="Google Shape;1732;p4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3" name="Google Shape;1733;p4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4" name="Google Shape;1734;p4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35" name="Google Shape;1735;p4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4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Small institutional network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3" name="Google Shape;1743;p44"/>
          <p:cNvSpPr/>
          <p:nvPr/>
        </p:nvSpPr>
        <p:spPr>
          <a:xfrm rot="5400000">
            <a:off x="4293252" y="22542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4" name="Google Shape;1744;p44"/>
          <p:cNvCxnSpPr/>
          <p:nvPr/>
        </p:nvCxnSpPr>
        <p:spPr>
          <a:xfrm flipH="1">
            <a:off x="4264678" y="336867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44"/>
          <p:cNvCxnSpPr/>
          <p:nvPr/>
        </p:nvCxnSpPr>
        <p:spPr>
          <a:xfrm>
            <a:off x="6504640" y="3355975"/>
            <a:ext cx="0" cy="14668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6" name="Google Shape;1746;p44"/>
          <p:cNvCxnSpPr/>
          <p:nvPr/>
        </p:nvCxnSpPr>
        <p:spPr>
          <a:xfrm rot="10800000">
            <a:off x="6698315" y="3290888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7" name="Google Shape;1747;p44"/>
          <p:cNvCxnSpPr/>
          <p:nvPr/>
        </p:nvCxnSpPr>
        <p:spPr>
          <a:xfrm flipH="1" rot="10800000">
            <a:off x="6801503" y="2673350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8" name="Google Shape;1748;p44"/>
          <p:cNvCxnSpPr/>
          <p:nvPr/>
        </p:nvCxnSpPr>
        <p:spPr>
          <a:xfrm flipH="1" rot="10800000">
            <a:off x="6595128" y="2351088"/>
            <a:ext cx="669925" cy="758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9" name="Google Shape;1749;p44"/>
          <p:cNvCxnSpPr/>
          <p:nvPr/>
        </p:nvCxnSpPr>
        <p:spPr>
          <a:xfrm>
            <a:off x="5501340" y="2505075"/>
            <a:ext cx="862013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0" name="Google Shape;1750;p44"/>
          <p:cNvCxnSpPr/>
          <p:nvPr/>
        </p:nvCxnSpPr>
        <p:spPr>
          <a:xfrm rot="10800000">
            <a:off x="4109103" y="2401888"/>
            <a:ext cx="85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1" name="Google Shape;1751;p44"/>
          <p:cNvSpPr txBox="1"/>
          <p:nvPr/>
        </p:nvSpPr>
        <p:spPr>
          <a:xfrm>
            <a:off x="2858153" y="2022475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/>
          </a:p>
        </p:txBody>
      </p:sp>
      <p:sp>
        <p:nvSpPr>
          <p:cNvPr id="1752" name="Google Shape;1752;p44"/>
          <p:cNvSpPr txBox="1"/>
          <p:nvPr/>
        </p:nvSpPr>
        <p:spPr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/>
          </a:p>
        </p:txBody>
      </p:sp>
      <p:sp>
        <p:nvSpPr>
          <p:cNvPr id="1753" name="Google Shape;1753;p44"/>
          <p:cNvSpPr txBox="1"/>
          <p:nvPr/>
        </p:nvSpPr>
        <p:spPr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/>
          </a:p>
        </p:txBody>
      </p:sp>
      <p:sp>
        <p:nvSpPr>
          <p:cNvPr id="1754" name="Google Shape;1754;p44"/>
          <p:cNvSpPr txBox="1"/>
          <p:nvPr/>
        </p:nvSpPr>
        <p:spPr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/>
          </a:p>
        </p:txBody>
      </p:sp>
      <p:sp>
        <p:nvSpPr>
          <p:cNvPr id="1755" name="Google Shape;1755;p44"/>
          <p:cNvSpPr txBox="1"/>
          <p:nvPr/>
        </p:nvSpPr>
        <p:spPr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/>
          </a:p>
        </p:txBody>
      </p:sp>
      <p:cxnSp>
        <p:nvCxnSpPr>
          <p:cNvPr id="1756" name="Google Shape;1756;p44"/>
          <p:cNvCxnSpPr/>
          <p:nvPr/>
        </p:nvCxnSpPr>
        <p:spPr>
          <a:xfrm rot="10800000">
            <a:off x="3578878" y="47355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7" name="Google Shape;1757;p44"/>
          <p:cNvCxnSpPr/>
          <p:nvPr/>
        </p:nvCxnSpPr>
        <p:spPr>
          <a:xfrm flipH="1">
            <a:off x="3966228" y="4783138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58" name="Google Shape;1758;p44"/>
          <p:cNvCxnSpPr/>
          <p:nvPr/>
        </p:nvCxnSpPr>
        <p:spPr>
          <a:xfrm>
            <a:off x="4385328" y="481171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59" name="Google Shape;1759;p44"/>
          <p:cNvGrpSpPr/>
          <p:nvPr/>
        </p:nvGrpSpPr>
        <p:grpSpPr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760" name="Google Shape;1760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1" name="Google Shape;1761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2" name="Google Shape;1762;p44"/>
          <p:cNvGrpSpPr/>
          <p:nvPr/>
        </p:nvGrpSpPr>
        <p:grpSpPr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descr="desktop_computer_stylized_medium" id="1763" name="Google Shape;176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4" name="Google Shape;1764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65" name="Google Shape;1765;p44"/>
          <p:cNvGrpSpPr/>
          <p:nvPr/>
        </p:nvGrpSpPr>
        <p:grpSpPr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descr="desktop_computer_stylized_medium" id="1766" name="Google Shape;1766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7" name="Google Shape;1767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68" name="Google Shape;1768;p44"/>
          <p:cNvCxnSpPr/>
          <p:nvPr/>
        </p:nvCxnSpPr>
        <p:spPr>
          <a:xfrm>
            <a:off x="4604403" y="474186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44"/>
          <p:cNvCxnSpPr/>
          <p:nvPr/>
        </p:nvCxnSpPr>
        <p:spPr>
          <a:xfrm flipH="1">
            <a:off x="4836178" y="523716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0" name="Google Shape;1770;p44"/>
          <p:cNvCxnSpPr/>
          <p:nvPr/>
        </p:nvCxnSpPr>
        <p:spPr>
          <a:xfrm>
            <a:off x="5240990" y="52482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1" name="Google Shape;1771;p44"/>
          <p:cNvCxnSpPr/>
          <p:nvPr/>
        </p:nvCxnSpPr>
        <p:spPr>
          <a:xfrm rot="10800000">
            <a:off x="5139390" y="51292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72" name="Google Shape;1772;p44"/>
          <p:cNvGrpSpPr/>
          <p:nvPr/>
        </p:nvGrpSpPr>
        <p:grpSpPr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descr="desktop_computer_stylized_medium" id="1773" name="Google Shape;177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4" name="Google Shape;1774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5" name="Google Shape;1775;p44"/>
          <p:cNvGrpSpPr/>
          <p:nvPr/>
        </p:nvGrpSpPr>
        <p:grpSpPr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descr="desktop_computer_stylized_medium" id="1776" name="Google Shape;1776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7" name="Google Shape;1777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8" name="Google Shape;1778;p44"/>
          <p:cNvGrpSpPr/>
          <p:nvPr/>
        </p:nvGrpSpPr>
        <p:grpSpPr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descr="desktop_computer_stylized_medium" id="1779" name="Google Shape;1779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0" name="Google Shape;1780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81" name="Google Shape;1781;p44"/>
          <p:cNvCxnSpPr/>
          <p:nvPr/>
        </p:nvCxnSpPr>
        <p:spPr>
          <a:xfrm rot="10800000">
            <a:off x="7798453" y="5003800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44"/>
          <p:cNvCxnSpPr/>
          <p:nvPr/>
        </p:nvCxnSpPr>
        <p:spPr>
          <a:xfrm flipH="1">
            <a:off x="8185803" y="5051425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3" name="Google Shape;1783;p44"/>
          <p:cNvCxnSpPr/>
          <p:nvPr/>
        </p:nvCxnSpPr>
        <p:spPr>
          <a:xfrm>
            <a:off x="8604903" y="5080000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84" name="Google Shape;1784;p44"/>
          <p:cNvGrpSpPr/>
          <p:nvPr/>
        </p:nvGrpSpPr>
        <p:grpSpPr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descr="desktop_computer_stylized_medium" id="1785" name="Google Shape;1785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6" name="Google Shape;1786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87" name="Google Shape;1787;p44"/>
          <p:cNvGrpSpPr/>
          <p:nvPr/>
        </p:nvGrpSpPr>
        <p:grpSpPr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descr="desktop_computer_stylized_medium" id="1788" name="Google Shape;1788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89" name="Google Shape;1789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0" name="Google Shape;1790;p44"/>
          <p:cNvGrpSpPr/>
          <p:nvPr/>
        </p:nvGrpSpPr>
        <p:grpSpPr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descr="desktop_computer_stylized_medium" id="1791" name="Google Shape;1791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2" name="Google Shape;1792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793" name="Google Shape;1793;p44"/>
          <p:cNvCxnSpPr/>
          <p:nvPr/>
        </p:nvCxnSpPr>
        <p:spPr>
          <a:xfrm rot="10800000">
            <a:off x="6772928" y="5049838"/>
            <a:ext cx="606425" cy="3127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4" name="Google Shape;1794;p44"/>
          <p:cNvCxnSpPr/>
          <p:nvPr/>
        </p:nvCxnSpPr>
        <p:spPr>
          <a:xfrm flipH="1">
            <a:off x="6309378" y="5003800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44"/>
          <p:cNvCxnSpPr/>
          <p:nvPr/>
        </p:nvCxnSpPr>
        <p:spPr>
          <a:xfrm>
            <a:off x="6728478" y="50323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96" name="Google Shape;1796;p44"/>
          <p:cNvGrpSpPr/>
          <p:nvPr/>
        </p:nvGrpSpPr>
        <p:grpSpPr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descr="desktop_computer_stylized_medium" id="1797" name="Google Shape;1797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8" name="Google Shape;1798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9" name="Google Shape;1799;p44"/>
          <p:cNvGrpSpPr/>
          <p:nvPr/>
        </p:nvGrpSpPr>
        <p:grpSpPr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descr="desktop_computer_stylized_medium" id="1800" name="Google Shape;1800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1" name="Google Shape;1801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2" name="Google Shape;1802;p44"/>
          <p:cNvGrpSpPr/>
          <p:nvPr/>
        </p:nvGrpSpPr>
        <p:grpSpPr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descr="desktop_computer_stylized_medium" id="1803" name="Google Shape;1803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4" name="Google Shape;1804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805" name="Google Shape;1805;p44"/>
          <p:cNvCxnSpPr/>
          <p:nvPr/>
        </p:nvCxnSpPr>
        <p:spPr>
          <a:xfrm rot="10800000">
            <a:off x="8633478" y="5081588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06" name="Google Shape;1806;p44"/>
          <p:cNvGrpSpPr/>
          <p:nvPr/>
        </p:nvGrpSpPr>
        <p:grpSpPr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descr="desktop_computer_stylized_medium" id="1807" name="Google Shape;1807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8" name="Google Shape;1808;p4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9" name="Google Shape;1809;p44"/>
          <p:cNvGrpSpPr/>
          <p:nvPr/>
        </p:nvGrpSpPr>
        <p:grpSpPr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1810" name="Google Shape;1810;p4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1" name="Google Shape;1811;p44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4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3" name="Google Shape;1813;p4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4" name="Google Shape;1814;p44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5" name="Google Shape;1815;p44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16" name="Google Shape;1816;p44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7" name="Google Shape;1817;p44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18" name="Google Shape;1818;p44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19" name="Google Shape;1819;p44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820" name="Google Shape;1820;p44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1" name="Google Shape;1821;p44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2" name="Google Shape;1822;p44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3" name="Google Shape;1823;p44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4" name="Google Shape;1824;p44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825" name="Google Shape;1825;p44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6" name="Google Shape;1826;p44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27" name="Google Shape;1827;p4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28" name="Google Shape;1828;p44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829" name="Google Shape;1829;p44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0" name="Google Shape;1830;p44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31" name="Google Shape;1831;p4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2" name="Google Shape;1832;p4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3" name="Google Shape;1833;p4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4" name="Google Shape;1834;p44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5" name="Google Shape;1835;p4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44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2" name="Google Shape;1842;p44"/>
          <p:cNvGrpSpPr/>
          <p:nvPr/>
        </p:nvGrpSpPr>
        <p:grpSpPr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1843" name="Google Shape;1843;p4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4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44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48" name="Google Shape;1848;p44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49" name="Google Shape;1849;p44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0" name="Google Shape;1850;p44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1" name="Google Shape;1851;p44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2" name="Google Shape;1852;p44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853" name="Google Shape;1853;p44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4" name="Google Shape;1854;p44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55" name="Google Shape;1855;p44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6" name="Google Shape;1856;p44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7" name="Google Shape;1857;p44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858" name="Google Shape;1858;p44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9" name="Google Shape;1859;p44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0" name="Google Shape;1860;p4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61" name="Google Shape;1861;p44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862" name="Google Shape;1862;p44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3" name="Google Shape;1863;p44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64" name="Google Shape;1864;p4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4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9" name="Google Shape;1869;p44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2" name="Google Shape;1872;p44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3" name="Google Shape;1873;p44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5" name="Google Shape;1875;p44"/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1876" name="Google Shape;1876;p4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8" name="Google Shape;1878;p4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79" name="Google Shape;1879;p4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0" name="Google Shape;1880;p4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4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4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83" name="Google Shape;1883;p44"/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1884" name="Google Shape;1884;p4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885" name="Google Shape;1885;p4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886" name="Google Shape;1886;p4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887" name="Google Shape;1887;p4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8" name="Google Shape;1888;p4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9" name="Google Shape;1889;p4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4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1" name="Google Shape;1891;p44"/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1892" name="Google Shape;1892;p4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4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94" name="Google Shape;1894;p4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895" name="Google Shape;1895;p4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6" name="Google Shape;1896;p4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7" name="Google Shape;1897;p4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8" name="Google Shape;1898;p4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99" name="Google Shape;1899;p44"/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1900" name="Google Shape;1900;p4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4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02" name="Google Shape;1902;p4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03" name="Google Shape;1903;p4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4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5" name="Google Shape;1905;p4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6" name="Google Shape;1906;p4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07" name="Google Shape;1907;p44"/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1908" name="Google Shape;1908;p4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4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0" name="Google Shape;1910;p4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11" name="Google Shape;1911;p4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2" name="Google Shape;1912;p4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3" name="Google Shape;1913;p4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4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5" name="Google Shape;1915;p44"/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1916" name="Google Shape;1916;p4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4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8" name="Google Shape;1918;p4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19" name="Google Shape;1919;p4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4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4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4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4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9" name="Google Shape;1929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5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1" name="Google Shape;1931;p45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5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3" name="Google Shape;1933;p45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4" name="Google Shape;1934;p45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1935" name="Google Shape;1935;p45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6" name="Google Shape;1936;p45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7" name="Google Shape;1937;p45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38" name="Google Shape;1938;p45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1939" name="Google Shape;1939;p45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0" name="Google Shape;1940;p45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1" name="Google Shape;1941;p45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  <p:cxnSp>
          <p:nvCxnSpPr>
            <p:cNvPr id="1942" name="Google Shape;1942;p45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43" name="Google Shape;1943;p45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1944" name="Google Shape;1944;p45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45" name="Google Shape;1945;p45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46" name="Google Shape;1946;p45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/>
            </a:p>
          </p:txBody>
        </p:sp>
      </p:grpSp>
      <p:sp>
        <p:nvSpPr>
          <p:cNvPr id="1947" name="Google Shape;1947;p45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/>
          </a:p>
        </p:txBody>
      </p:sp>
      <p:grpSp>
        <p:nvGrpSpPr>
          <p:cNvPr id="1948" name="Google Shape;1948;p45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1949" name="Google Shape;1949;p45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45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1951" name="Google Shape;1951;p45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2" name="Google Shape;1952;p45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3" name="Google Shape;1953;p45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/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/>
          </a:p>
        </p:txBody>
      </p:sp>
      <p:cxnSp>
        <p:nvCxnSpPr>
          <p:cNvPr id="1954" name="Google Shape;1954;p45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5" name="Google Shape;1955;p45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6" name="Google Shape;1956;p45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7" name="Google Shape;1957;p45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58" name="Google Shape;1958;p45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1959" name="Google Shape;1959;p45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45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sp>
        <p:nvSpPr>
          <p:cNvPr id="1961" name="Google Shape;1961;p45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62" name="Google Shape;1962;p45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1963" name="Google Shape;1963;p45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45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1965" name="Google Shape;1965;p45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1966" name="Google Shape;1966;p45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45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/>
            </a:p>
          </p:txBody>
        </p:sp>
      </p:grpSp>
      <p:grpSp>
        <p:nvGrpSpPr>
          <p:cNvPr id="1968" name="Google Shape;1968;p45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1969" name="Google Shape;1969;p45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45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/>
            </a:p>
          </p:txBody>
        </p:sp>
      </p:grpSp>
      <p:sp>
        <p:nvSpPr>
          <p:cNvPr id="1971" name="Google Shape;1971;p45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72" name="Google Shape;1972;p45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1973" name="Google Shape;1973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4" name="Google Shape;1974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5" name="Google Shape;1975;p45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1976" name="Google Shape;1976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77" name="Google Shape;1977;p4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8" name="Google Shape;1978;p45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979" name="Google Shape;1979;p45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1980" name="Google Shape;1980;p45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45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82" name="Google Shape;1982;p45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1983" name="Google Shape;1983;p4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4" name="Google Shape;1984;p4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5" name="Google Shape;1985;p4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6" name="Google Shape;1986;p4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87" name="Google Shape;1987;p45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1988" name="Google Shape;1988;p45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989" name="Google Shape;1989;p45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990" name="Google Shape;1990;p45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991" name="Google Shape;1991;p45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2" name="Google Shape;1992;p45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45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45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95" name="Google Shape;1995;p45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/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/>
          </a:p>
        </p:txBody>
      </p:sp>
      <p:sp>
        <p:nvSpPr>
          <p:cNvPr id="1996" name="Google Shape;1996;p45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/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1" name="Shape 2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2" name="Google Shape;2002;p4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2003" name="Google Shape;200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004" name="Google Shape;2004;p46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5" name="Google Shape;2005;p46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/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/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/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6"/>
          <p:cNvSpPr txBox="1"/>
          <p:nvPr>
            <p:ph idx="12" type="sldNum"/>
          </p:nvPr>
        </p:nvSpPr>
        <p:spPr>
          <a:xfrm>
            <a:off x="92196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47"/>
          <p:cNvSpPr/>
          <p:nvPr/>
        </p:nvSpPr>
        <p:spPr>
          <a:xfrm rot="5400000">
            <a:off x="1384209" y="13527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3" name="Google Shape;2013;p47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4" name="Google Shape;2014;p47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5" name="Google Shape;2015;p47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6" name="Google Shape;2016;p47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7" name="Google Shape;2017;p47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18" name="Google Shape;2018;p47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2019" name="Google Shape;2019;p4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4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21" name="Google Shape;2021;p4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022" name="Google Shape;2022;p4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4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4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5" name="Google Shape;2025;p4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6" name="Google Shape;2026;p4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7" name="Google Shape;2027;p4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8" name="Google Shape;2028;p47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9" name="Google Shape;2029;p47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0" name="Google Shape;2030;p47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31" name="Google Shape;2031;p47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2032" name="Google Shape;2032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3" name="Google Shape;2033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4" name="Google Shape;2034;p47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2035" name="Google Shape;203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6" name="Google Shape;203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7" name="Google Shape;2037;p47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2038" name="Google Shape;2038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9" name="Google Shape;2039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40" name="Google Shape;2040;p47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1" name="Google Shape;2041;p47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2" name="Google Shape;2042;p47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43" name="Google Shape;2043;p47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2044" name="Google Shape;2044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5" name="Google Shape;2045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6" name="Google Shape;2046;p47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2047" name="Google Shape;2047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8" name="Google Shape;2048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49" name="Google Shape;2049;p47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0" name="Google Shape;2050;p47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1" name="Google Shape;2051;p47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52" name="Google Shape;2052;p47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2053" name="Google Shape;2053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4" name="Google Shape;2054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5" name="Google Shape;2055;p47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2056" name="Google Shape;2056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7" name="Google Shape;2057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58" name="Google Shape;2058;p47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2059" name="Google Shape;2059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0" name="Google Shape;2060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61" name="Google Shape;2061;p47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47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3" name="Google Shape;2063;p47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64" name="Google Shape;2064;p47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2065" name="Google Shape;206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6" name="Google Shape;206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7" name="Google Shape;2067;p47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2068" name="Google Shape;2068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9" name="Google Shape;2069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0" name="Google Shape;2070;p47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2071" name="Google Shape;2071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2" name="Google Shape;2072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73" name="Google Shape;2073;p47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74" name="Google Shape;2074;p47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2075" name="Google Shape;2075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6" name="Google Shape;2076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7" name="Google Shape;2077;p47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2078" name="Google Shape;2078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9" name="Google Shape;2079;p47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0" name="Google Shape;2080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1" name="Google Shape;2081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2" name="Google Shape;2082;p47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3" name="Google Shape;2083;p47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2084" name="Google Shape;2084;p47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5" name="Google Shape;2085;p47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6" name="Google Shape;2086;p47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87" name="Google Shape;2087;p47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2088" name="Google Shape;2088;p47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9" name="Google Shape;2089;p47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90" name="Google Shape;2090;p47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1" name="Google Shape;2091;p47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2" name="Google Shape;2092;p47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093" name="Google Shape;2093;p47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4" name="Google Shape;2094;p47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95" name="Google Shape;2095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96" name="Google Shape;2096;p47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2097" name="Google Shape;2097;p47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47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99" name="Google Shape;2099;p47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0" name="Google Shape;2100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1" name="Google Shape;2101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2" name="Google Shape;2102;p47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3" name="Google Shape;2103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4" name="Google Shape;2104;p47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5" name="Google Shape;2105;p47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6" name="Google Shape;2106;p47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7" name="Google Shape;2107;p47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47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9" name="Google Shape;2109;p47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0" name="Google Shape;2110;p47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2111" name="Google Shape;2111;p4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47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4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4" name="Google Shape;2114;p4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5" name="Google Shape;2115;p47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16" name="Google Shape;2116;p47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2117" name="Google Shape;2117;p47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8" name="Google Shape;2118;p47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19" name="Google Shape;2119;p47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0" name="Google Shape;2120;p47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2121" name="Google Shape;2121;p47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2" name="Google Shape;2122;p47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3" name="Google Shape;2123;p47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4" name="Google Shape;2124;p47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5" name="Google Shape;2125;p47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126" name="Google Shape;2126;p47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7" name="Google Shape;2127;p47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28" name="Google Shape;2128;p4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9" name="Google Shape;2129;p47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2130" name="Google Shape;2130;p47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1" name="Google Shape;2131;p47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32" name="Google Shape;2132;p47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3" name="Google Shape;2133;p4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4" name="Google Shape;2134;p4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47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4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47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8" name="Google Shape;2138;p47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9" name="Google Shape;2139;p47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0" name="Google Shape;2140;p47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1" name="Google Shape;2141;p47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2" name="Google Shape;2142;p47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3" name="Google Shape;2143;p47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2144" name="Google Shape;2144;p4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5" name="Google Shape;2145;p4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46" name="Google Shape;2146;p4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7" name="Google Shape;2147;p4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8" name="Google Shape;2148;p4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9" name="Google Shape;2149;p4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4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1" name="Google Shape;2151;p47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2152" name="Google Shape;2152;p4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4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54" name="Google Shape;2154;p4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155" name="Google Shape;2155;p4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6" name="Google Shape;2156;p4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7" name="Google Shape;2157;p4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8" name="Google Shape;2158;p4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9" name="Google Shape;2159;p47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2160" name="Google Shape;2160;p4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4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62" name="Google Shape;2162;p4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163" name="Google Shape;2163;p4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4" name="Google Shape;2164;p4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5" name="Google Shape;2165;p4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6" name="Google Shape;2166;p4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67" name="Google Shape;2167;p47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8" name="Google Shape;2168;p47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2169" name="Google Shape;2169;p47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2170" name="Google Shape;2170;p47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47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2172" name="Google Shape;2172;p47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2173" name="Google Shape;2173;p4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4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75" name="Google Shape;2175;p4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176" name="Google Shape;2176;p4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7" name="Google Shape;2177;p4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8" name="Google Shape;2178;p4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9" name="Google Shape;2179;p4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80" name="Google Shape;2180;p47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2181" name="Google Shape;2181;p4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4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83" name="Google Shape;2183;p4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184" name="Google Shape;2184;p4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5" name="Google Shape;2185;p4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6" name="Google Shape;2186;p4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7" name="Google Shape;2187;p4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188" name="Google Shape;2188;p47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9" name="Google Shape;2189;p47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0" name="Google Shape;2190;p47"/>
          <p:cNvGrpSpPr/>
          <p:nvPr/>
        </p:nvGrpSpPr>
        <p:grpSpPr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descr="desktop_computer_stylized_medium" id="2191" name="Google Shape;2191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92" name="Google Shape;2192;p4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93" name="Google Shape;2193;p47"/>
          <p:cNvSpPr txBox="1"/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94" name="Google Shape;2194;p47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  <p:sp>
        <p:nvSpPr>
          <p:cNvPr id="2195" name="Google Shape;2195;p47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 issues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48"/>
          <p:cNvSpPr/>
          <p:nvPr/>
        </p:nvSpPr>
        <p:spPr>
          <a:xfrm rot="5400000">
            <a:off x="1384209" y="13455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2" name="Google Shape;2202;p48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3" name="Google Shape;2203;p48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48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5" name="Google Shape;2205;p48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6" name="Google Shape;2206;p48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07" name="Google Shape;2207;p48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2208" name="Google Shape;2208;p4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4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0" name="Google Shape;2210;p4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211" name="Google Shape;2211;p4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4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4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4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15" name="Google Shape;2215;p4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4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7" name="Google Shape;2217;p48"/>
          <p:cNvSpPr txBox="1"/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administrative issues: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CS user moves office to EE - 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physically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attached to EE switch, but wants to remain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logically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attached to CS switch</a:t>
            </a:r>
            <a:endParaRPr/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218" name="Google Shape;2218;p48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9" name="Google Shape;2219;p48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0" name="Google Shape;2220;p48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21" name="Google Shape;2221;p48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2222" name="Google Shape;2222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3" name="Google Shape;2223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4" name="Google Shape;2224;p48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2225" name="Google Shape;222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7" name="Google Shape;2227;p48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2228" name="Google Shape;222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9" name="Google Shape;2229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30" name="Google Shape;2230;p48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1" name="Google Shape;2231;p48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2" name="Google Shape;2232;p48"/>
          <p:cNvCxnSpPr/>
          <p:nvPr/>
        </p:nvCxnSpPr>
        <p:spPr>
          <a:xfrm>
            <a:off x="2202884" y="4811498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3" name="Google Shape;2233;p48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34" name="Google Shape;2234;p48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2235" name="Google Shape;223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6" name="Google Shape;2236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7" name="Google Shape;2237;p48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2238" name="Google Shape;2238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9" name="Google Shape;2239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40" name="Google Shape;2240;p48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1" name="Google Shape;2241;p48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42" name="Google Shape;2242;p48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43" name="Google Shape;2243;p48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2244" name="Google Shape;2244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5" name="Google Shape;2245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6" name="Google Shape;2246;p48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2247" name="Google Shape;2247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8" name="Google Shape;2248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49" name="Google Shape;2249;p48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2250" name="Google Shape;2250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1" name="Google Shape;2251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52" name="Google Shape;2252;p48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3" name="Google Shape;2253;p48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4" name="Google Shape;2254;p48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55" name="Google Shape;2255;p48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2256" name="Google Shape;2256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7" name="Google Shape;2257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8" name="Google Shape;2258;p48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2259" name="Google Shape;2259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0" name="Google Shape;2260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1" name="Google Shape;2261;p48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2262" name="Google Shape;2262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3" name="Google Shape;2263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64" name="Google Shape;2264;p48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65" name="Google Shape;2265;p48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2266" name="Google Shape;2266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7" name="Google Shape;2267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8" name="Google Shape;2268;p48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2269" name="Google Shape;2269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48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48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4" name="Google Shape;2274;p48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2275" name="Google Shape;2275;p48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6" name="Google Shape;2276;p48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77" name="Google Shape;2277;p48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78" name="Google Shape;2278;p48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2279" name="Google Shape;2279;p48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0" name="Google Shape;2280;p48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1" name="Google Shape;2281;p48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48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3" name="Google Shape;2283;p48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284" name="Google Shape;2284;p48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5" name="Google Shape;2285;p48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86" name="Google Shape;2286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87" name="Google Shape;2287;p48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2288" name="Google Shape;2288;p48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9" name="Google Shape;2289;p48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90" name="Google Shape;2290;p48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48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48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48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48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48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48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48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1" name="Google Shape;2301;p48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2302" name="Google Shape;2302;p4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48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4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4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48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07" name="Google Shape;2307;p48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2308" name="Google Shape;2308;p48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9" name="Google Shape;2309;p48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0" name="Google Shape;2310;p48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1" name="Google Shape;2311;p48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2312" name="Google Shape;2312;p48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3" name="Google Shape;2313;p48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4" name="Google Shape;2314;p48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48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16" name="Google Shape;2316;p48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2317" name="Google Shape;2317;p48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8" name="Google Shape;2318;p48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19" name="Google Shape;2319;p4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20" name="Google Shape;2320;p48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2321" name="Google Shape;2321;p48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2" name="Google Shape;2322;p48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23" name="Google Shape;2323;p48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4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4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48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4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48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48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48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48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48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48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4" name="Google Shape;2334;p48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2335" name="Google Shape;2335;p4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336" name="Google Shape;2336;p4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37" name="Google Shape;2337;p4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38" name="Google Shape;2338;p4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4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4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4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42" name="Google Shape;2342;p48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2343" name="Google Shape;2343;p4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4" name="Google Shape;2344;p4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45" name="Google Shape;2345;p4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346" name="Google Shape;2346;p4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4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4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4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50" name="Google Shape;2350;p48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2351" name="Google Shape;2351;p4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4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53" name="Google Shape;2353;p4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354" name="Google Shape;2354;p4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4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4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4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58" name="Google Shape;2358;p48"/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9" name="Google Shape;2359;p48"/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0" name="Google Shape;2360;p48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1" name="Google Shape;2361;p48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/>
          </a:p>
        </p:txBody>
      </p:sp>
      <p:grpSp>
        <p:nvGrpSpPr>
          <p:cNvPr id="2362" name="Google Shape;2362;p48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2363" name="Google Shape;2363;p48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48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/>
            </a:p>
          </p:txBody>
        </p:sp>
      </p:grpSp>
      <p:grpSp>
        <p:nvGrpSpPr>
          <p:cNvPr id="2365" name="Google Shape;2365;p48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2366" name="Google Shape;2366;p4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4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68" name="Google Shape;2368;p4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369" name="Google Shape;2369;p4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4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4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4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3" name="Google Shape;2373;p48"/>
          <p:cNvGrpSpPr/>
          <p:nvPr/>
        </p:nvGrpSpPr>
        <p:grpSpPr>
          <a:xfrm>
            <a:off x="1713595" y="3315547"/>
            <a:ext cx="3410855" cy="1758103"/>
            <a:chOff x="1713595" y="3315547"/>
            <a:chExt cx="3410855" cy="1758103"/>
          </a:xfrm>
        </p:grpSpPr>
        <p:grpSp>
          <p:nvGrpSpPr>
            <p:cNvPr id="2374" name="Google Shape;2374;p48"/>
            <p:cNvGrpSpPr/>
            <p:nvPr/>
          </p:nvGrpSpPr>
          <p:grpSpPr>
            <a:xfrm>
              <a:off x="4649795" y="4623478"/>
              <a:ext cx="474655" cy="450172"/>
              <a:chOff x="4649795" y="4623478"/>
              <a:chExt cx="474655" cy="450172"/>
            </a:xfrm>
          </p:grpSpPr>
          <p:sp>
            <p:nvSpPr>
              <p:cNvPr id="2375" name="Google Shape;2375;p48"/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48"/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7" name="Google Shape;2377;p48"/>
            <p:cNvGrpSpPr/>
            <p:nvPr/>
          </p:nvGrpSpPr>
          <p:grpSpPr>
            <a:xfrm>
              <a:off x="1713595" y="3315547"/>
              <a:ext cx="3145873" cy="1350613"/>
              <a:chOff x="1713595" y="3315547"/>
              <a:chExt cx="3145873" cy="1350613"/>
            </a:xfrm>
          </p:grpSpPr>
          <p:sp>
            <p:nvSpPr>
              <p:cNvPr id="2378" name="Google Shape;2378;p48"/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48"/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rect b="b" l="l" r="r" t="t"/>
                <a:pathLst>
                  <a:path extrusionOk="0" h="1350613" w="3027668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0" name="Google Shape;2380;p48"/>
            <p:cNvSpPr/>
            <p:nvPr/>
          </p:nvSpPr>
          <p:spPr>
            <a:xfrm>
              <a:off x="2277117" y="3425460"/>
              <a:ext cx="2420012" cy="1483426"/>
            </a:xfrm>
            <a:custGeom>
              <a:rect b="b" l="l" r="r" t="t"/>
              <a:pathLst>
                <a:path extrusionOk="0" h="1483426" w="2420012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1" name="Google Shape;2381;p48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2382" name="Google Shape;2382;p4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4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84" name="Google Shape;2384;p48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2385" name="Google Shape;2385;p4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6" name="Google Shape;2386;p4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7" name="Google Shape;2387;p4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8" name="Google Shape;2388;p4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389" name="Google Shape;2389;p48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0" name="Google Shape;2390;p48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91" name="Google Shape;2391;p48"/>
          <p:cNvGrpSpPr/>
          <p:nvPr/>
        </p:nvGrpSpPr>
        <p:grpSpPr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descr="desktop_computer_stylized_medium" id="2392" name="Google Shape;2392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3" name="Google Shape;2393;p4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4" name="Google Shape;2394;p48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/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 Symbols"/>
              <a:buChar char="▪"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privacy, efficiency issues</a:t>
            </a:r>
            <a:endParaRPr/>
          </a:p>
        </p:txBody>
      </p:sp>
      <p:sp>
        <p:nvSpPr>
          <p:cNvPr id="2395" name="Google Shape;2395;p48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01" name="Google Shape;2401;p49"/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2402" name="Google Shape;2402;p49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04" name="Google Shape;2404;p49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05" name="Google Shape;2405;p49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2406" name="Google Shape;2406;p49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7" name="Google Shape;2407;p49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08" name="Google Shape;2408;p49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09" name="Google Shape;2409;p49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2410" name="Google Shape;2410;p49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411" name="Google Shape;2411;p49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2412" name="Google Shape;2412;p49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49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49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5" name="Google Shape;2415;p49"/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2416" name="Google Shape;2416;p49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49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18" name="Google Shape;2418;p49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19" name="Google Shape;2419;p49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0" name="Google Shape;2420;p49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21" name="Google Shape;2421;p49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22" name="Google Shape;2422;p49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2423" name="Google Shape;2423;p49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2424" name="Google Shape;2424;p49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2425" name="Google Shape;2425;p49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2426" name="Google Shape;2426;p49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49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49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9" name="Google Shape;2429;p4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49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1" name="Google Shape;2431;p49"/>
          <p:cNvSpPr txBox="1"/>
          <p:nvPr/>
        </p:nvSpPr>
        <p:spPr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switch(es) supporting VLAN capabilities can be configured to define multiple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 over single physical LAN infrastructure.</a:t>
            </a:r>
            <a:endParaRPr/>
          </a:p>
        </p:txBody>
      </p:sp>
      <p:sp>
        <p:nvSpPr>
          <p:cNvPr id="2432" name="Google Shape;2432;p49"/>
          <p:cNvSpPr/>
          <p:nvPr/>
        </p:nvSpPr>
        <p:spPr>
          <a:xfrm>
            <a:off x="907603" y="1867773"/>
            <a:ext cx="4140915" cy="347696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3" name="Google Shape;2433;p49"/>
          <p:cNvSpPr txBox="1"/>
          <p:nvPr/>
        </p:nvSpPr>
        <p:spPr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Virtual Local Area Network (VLAN)</a:t>
            </a:r>
            <a:endParaRPr/>
          </a:p>
        </p:txBody>
      </p:sp>
      <p:grpSp>
        <p:nvGrpSpPr>
          <p:cNvPr id="2434" name="Google Shape;2434;p49"/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2435" name="Google Shape;2435;p49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36" name="Google Shape;2436;p49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2437" name="Google Shape;2437;p4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8" name="Google Shape;2438;p4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9" name="Google Shape;2439;p4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40" name="Google Shape;2440;p4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441" name="Google Shape;2441;p49"/>
          <p:cNvSpPr txBox="1"/>
          <p:nvPr/>
        </p:nvSpPr>
        <p:spPr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port-based VLAN: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 ports grouped (by switch management software) so that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 switch ……</a:t>
            </a:r>
            <a:endParaRPr/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2442" name="Google Shape;2442;p49"/>
          <p:cNvCxnSpPr/>
          <p:nvPr/>
        </p:nvCxnSpPr>
        <p:spPr>
          <a:xfrm flipH="1">
            <a:off x="6827193" y="2649273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49"/>
          <p:cNvCxnSpPr/>
          <p:nvPr/>
        </p:nvCxnSpPr>
        <p:spPr>
          <a:xfrm flipH="1">
            <a:off x="7212956" y="2649273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4" name="Google Shape;2444;p49"/>
          <p:cNvCxnSpPr/>
          <p:nvPr/>
        </p:nvCxnSpPr>
        <p:spPr>
          <a:xfrm flipH="1">
            <a:off x="7932092" y="2664199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5" name="Google Shape;2445;p49"/>
          <p:cNvSpPr txBox="1"/>
          <p:nvPr/>
        </p:nvSpPr>
        <p:spPr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2446" name="Google Shape;2446;p49"/>
          <p:cNvCxnSpPr/>
          <p:nvPr/>
        </p:nvCxnSpPr>
        <p:spPr>
          <a:xfrm>
            <a:off x="8940156" y="2652448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7" name="Google Shape;2447;p49"/>
          <p:cNvCxnSpPr/>
          <p:nvPr/>
        </p:nvCxnSpPr>
        <p:spPr>
          <a:xfrm>
            <a:off x="8930631" y="2450835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8" name="Google Shape;2448;p49"/>
          <p:cNvCxnSpPr/>
          <p:nvPr/>
        </p:nvCxnSpPr>
        <p:spPr>
          <a:xfrm>
            <a:off x="9786293" y="2395273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9" name="Google Shape;2449;p49"/>
          <p:cNvSpPr txBox="1"/>
          <p:nvPr/>
        </p:nvSpPr>
        <p:spPr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2450" name="Google Shape;2450;p49"/>
          <p:cNvSpPr txBox="1"/>
          <p:nvPr/>
        </p:nvSpPr>
        <p:spPr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2451" name="Google Shape;2451;p49"/>
          <p:cNvSpPr txBox="1"/>
          <p:nvPr/>
        </p:nvSpPr>
        <p:spPr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2452" name="Google Shape;2452;p49"/>
          <p:cNvGrpSpPr/>
          <p:nvPr/>
        </p:nvGrpSpPr>
        <p:grpSpPr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descr="desktop_computer_stylized_medium" id="2453" name="Google Shape;2453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4" name="Google Shape;2454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5" name="Google Shape;2455;p49"/>
          <p:cNvGrpSpPr/>
          <p:nvPr/>
        </p:nvGrpSpPr>
        <p:grpSpPr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descr="desktop_computer_stylized_medium" id="2456" name="Google Shape;2456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7" name="Google Shape;2457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8" name="Google Shape;2458;p49"/>
          <p:cNvGrpSpPr/>
          <p:nvPr/>
        </p:nvGrpSpPr>
        <p:grpSpPr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descr="desktop_computer_stylized_medium" id="2459" name="Google Shape;2459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0" name="Google Shape;2460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1" name="Google Shape;2461;p49"/>
          <p:cNvGrpSpPr/>
          <p:nvPr/>
        </p:nvGrpSpPr>
        <p:grpSpPr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descr="desktop_computer_stylized_medium" id="2462" name="Google Shape;2462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3" name="Google Shape;2463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4" name="Google Shape;2464;p49"/>
          <p:cNvGrpSpPr/>
          <p:nvPr/>
        </p:nvGrpSpPr>
        <p:grpSpPr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descr="desktop_computer_stylized_medium" id="2465" name="Google Shape;2465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6" name="Google Shape;2466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7" name="Google Shape;2467;p49"/>
          <p:cNvGrpSpPr/>
          <p:nvPr/>
        </p:nvGrpSpPr>
        <p:grpSpPr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descr="desktop_computer_stylized_medium" id="2468" name="Google Shape;2468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69" name="Google Shape;2469;p4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0" name="Google Shape;2470;p49"/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2471" name="Google Shape;2471;p49"/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2472" name="Google Shape;2472;p49"/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3" name="Google Shape;2473;p49"/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4" name="Google Shape;2474;p49"/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49"/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6" name="Google Shape;2476;p49"/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7" name="Google Shape;2477;p49"/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8" name="Google Shape;2478;p49"/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9" name="Google Shape;2479;p49"/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0" name="Google Shape;2480;p49"/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1" name="Google Shape;2481;p49"/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BFBFB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82" name="Google Shape;2482;p49"/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rect b="b" l="l" r="r" t="t"/>
                <a:pathLst>
                  <a:path extrusionOk="0" h="1248629" w="3651294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3" name="Google Shape;2483;p49"/>
            <p:cNvSpPr/>
            <p:nvPr/>
          </p:nvSpPr>
          <p:spPr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 Symbol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… operates as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multiple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virtual switches</a:t>
              </a:r>
              <a:endParaRPr/>
            </a:p>
            <a:p>
              <a:pPr indent="-260350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1300"/>
                <a:buFont typeface="Noto Sans Symbols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2484" name="Google Shape;2484;p49"/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2485" name="Google Shape;2485;p49"/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2486" name="Google Shape;2486;p49"/>
                <p:cNvSpPr/>
                <p:nvPr/>
              </p:nvSpPr>
              <p:spPr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87" name="Google Shape;2487;p49"/>
                <p:cNvSpPr/>
                <p:nvPr/>
              </p:nvSpPr>
              <p:spPr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488" name="Google Shape;2488;p49"/>
                <p:cNvCxnSpPr/>
                <p:nvPr/>
              </p:nvCxnSpPr>
              <p:spPr>
                <a:xfrm flipH="1" rot="10800000">
                  <a:off x="9351453" y="4342570"/>
                  <a:ext cx="1179110" cy="14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89" name="Google Shape;2489;p49"/>
                <p:cNvSpPr txBox="1"/>
                <p:nvPr/>
              </p:nvSpPr>
              <p:spPr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/>
                </a:p>
              </p:txBody>
            </p:sp>
            <p:cxnSp>
              <p:nvCxnSpPr>
                <p:cNvPr id="2490" name="Google Shape;2490;p49"/>
                <p:cNvCxnSpPr/>
                <p:nvPr/>
              </p:nvCxnSpPr>
              <p:spPr>
                <a:xfrm>
                  <a:off x="9930891" y="413284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1" name="Google Shape;2491;p49"/>
                <p:cNvCxnSpPr/>
                <p:nvPr/>
              </p:nvCxnSpPr>
              <p:spPr>
                <a:xfrm>
                  <a:off x="9640378" y="412967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492" name="Google Shape;2492;p49"/>
                <p:cNvCxnSpPr/>
                <p:nvPr/>
              </p:nvCxnSpPr>
              <p:spPr>
                <a:xfrm>
                  <a:off x="10211878" y="4137610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493" name="Google Shape;2493;p49"/>
                <p:cNvSpPr txBox="1"/>
                <p:nvPr/>
              </p:nvSpPr>
              <p:spPr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/>
                </a:p>
              </p:txBody>
            </p:sp>
            <p:sp>
              <p:nvSpPr>
                <p:cNvPr id="2494" name="Google Shape;2494;p49"/>
                <p:cNvSpPr txBox="1"/>
                <p:nvPr/>
              </p:nvSpPr>
              <p:spPr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/>
                </a:p>
              </p:txBody>
            </p:sp>
            <p:sp>
              <p:nvSpPr>
                <p:cNvPr id="2495" name="Google Shape;2495;p49"/>
                <p:cNvSpPr txBox="1"/>
                <p:nvPr/>
              </p:nvSpPr>
              <p:spPr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/>
                </a:p>
              </p:txBody>
            </p:sp>
            <p:sp>
              <p:nvSpPr>
                <p:cNvPr id="2496" name="Google Shape;2496;p49"/>
                <p:cNvSpPr/>
                <p:nvPr/>
              </p:nvSpPr>
              <p:spPr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7" name="Google Shape;2497;p49"/>
                <p:cNvSpPr/>
                <p:nvPr/>
              </p:nvSpPr>
              <p:spPr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98" name="Google Shape;2498;p49"/>
                <p:cNvSpPr/>
                <p:nvPr/>
              </p:nvSpPr>
              <p:spPr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499" name="Google Shape;2499;p49"/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2500" name="Google Shape;2500;p49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01" name="Google Shape;2501;p49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2502" name="Google Shape;2502;p4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3" name="Google Shape;2503;p4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4" name="Google Shape;2504;p4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5" name="Google Shape;2505;p4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06" name="Google Shape;2506;p49"/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cxnSp>
              <p:nvCxnSpPr>
                <p:cNvPr id="2507" name="Google Shape;2507;p49"/>
                <p:cNvCxnSpPr/>
                <p:nvPr/>
              </p:nvCxnSpPr>
              <p:spPr>
                <a:xfrm flipH="1">
                  <a:off x="7259676" y="5267911"/>
                  <a:ext cx="901700" cy="27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8" name="Google Shape;2508;p49"/>
                <p:cNvCxnSpPr/>
                <p:nvPr/>
              </p:nvCxnSpPr>
              <p:spPr>
                <a:xfrm flipH="1">
                  <a:off x="7645439" y="5263098"/>
                  <a:ext cx="806450" cy="419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09" name="Google Shape;2509;p49"/>
                <p:cNvCxnSpPr/>
                <p:nvPr/>
              </p:nvCxnSpPr>
              <p:spPr>
                <a:xfrm flipH="1">
                  <a:off x="8364575" y="5268398"/>
                  <a:ext cx="672983" cy="36131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10" name="Google Shape;2510;p49"/>
                <p:cNvSpPr txBox="1"/>
                <p:nvPr/>
              </p:nvSpPr>
              <p:spPr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EE (VLAN ports 1-8)</a:t>
                  </a:r>
                  <a:endParaRPr/>
                </a:p>
              </p:txBody>
            </p:sp>
            <p:sp>
              <p:nvSpPr>
                <p:cNvPr id="2511" name="Google Shape;2511;p49"/>
                <p:cNvSpPr txBox="1"/>
                <p:nvPr/>
              </p:nvSpPr>
              <p:spPr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/>
                </a:p>
              </p:txBody>
            </p:sp>
            <p:grpSp>
              <p:nvGrpSpPr>
                <p:cNvPr id="2512" name="Google Shape;2512;p49"/>
                <p:cNvGrpSpPr/>
                <p:nvPr/>
              </p:nvGrpSpPr>
              <p:grpSpPr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2513" name="Google Shape;2513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14" name="Google Shape;2514;p4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515" name="Google Shape;2515;p49"/>
                <p:cNvGrpSpPr/>
                <p:nvPr/>
              </p:nvGrpSpPr>
              <p:grpSpPr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2516" name="Google Shape;2516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17" name="Google Shape;2517;p4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2518" name="Google Shape;2518;p49"/>
                <p:cNvGrpSpPr/>
                <p:nvPr/>
              </p:nvGrpSpPr>
              <p:grpSpPr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2519" name="Google Shape;2519;p4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20" name="Google Shape;2520;p4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2521" name="Google Shape;2521;p49"/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2522" name="Google Shape;2522;p49"/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2523" name="Google Shape;2523;p49"/>
                <p:cNvSpPr/>
                <p:nvPr/>
              </p:nvSpPr>
              <p:spPr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rgbClr val="9CC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24" name="Google Shape;2524;p49"/>
                <p:cNvSpPr/>
                <p:nvPr/>
              </p:nvSpPr>
              <p:spPr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525" name="Google Shape;2525;p49"/>
                <p:cNvCxnSpPr/>
                <p:nvPr/>
              </p:nvCxnSpPr>
              <p:spPr>
                <a:xfrm>
                  <a:off x="11009376" y="5090714"/>
                  <a:ext cx="1163270" cy="2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26" name="Google Shape;2526;p49"/>
                <p:cNvCxnSpPr/>
                <p:nvPr/>
              </p:nvCxnSpPr>
              <p:spPr>
                <a:xfrm>
                  <a:off x="11601146" y="488243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27" name="Google Shape;2527;p49"/>
                <p:cNvCxnSpPr/>
                <p:nvPr/>
              </p:nvCxnSpPr>
              <p:spPr>
                <a:xfrm>
                  <a:off x="11305871" y="4877676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2528" name="Google Shape;2528;p49"/>
                <p:cNvCxnSpPr/>
                <p:nvPr/>
              </p:nvCxnSpPr>
              <p:spPr>
                <a:xfrm>
                  <a:off x="11896421" y="487291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2529" name="Google Shape;2529;p49"/>
                <p:cNvSpPr txBox="1"/>
                <p:nvPr/>
              </p:nvSpPr>
              <p:spPr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</a:t>
                  </a:r>
                  <a:endParaRPr/>
                </a:p>
              </p:txBody>
            </p:sp>
            <p:sp>
              <p:nvSpPr>
                <p:cNvPr id="2530" name="Google Shape;2530;p49"/>
                <p:cNvSpPr txBox="1"/>
                <p:nvPr/>
              </p:nvSpPr>
              <p:spPr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/>
                </a:p>
              </p:txBody>
            </p:sp>
            <p:sp>
              <p:nvSpPr>
                <p:cNvPr id="2531" name="Google Shape;2531;p49"/>
                <p:cNvSpPr txBox="1"/>
                <p:nvPr/>
              </p:nvSpPr>
              <p:spPr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/>
                </a:p>
              </p:txBody>
            </p:sp>
            <p:sp>
              <p:nvSpPr>
                <p:cNvPr id="2532" name="Google Shape;2532;p49"/>
                <p:cNvSpPr txBox="1"/>
                <p:nvPr/>
              </p:nvSpPr>
              <p:spPr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rgbClr val="FFFFFF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</a:t>
                  </a:r>
                  <a:endParaRPr/>
                </a:p>
              </p:txBody>
            </p:sp>
            <p:sp>
              <p:nvSpPr>
                <p:cNvPr id="2533" name="Google Shape;2533;p49"/>
                <p:cNvSpPr/>
                <p:nvPr/>
              </p:nvSpPr>
              <p:spPr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4" name="Google Shape;2534;p49"/>
                <p:cNvSpPr/>
                <p:nvPr/>
              </p:nvSpPr>
              <p:spPr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35" name="Google Shape;2535;p49"/>
                <p:cNvSpPr/>
                <p:nvPr/>
              </p:nvSpPr>
              <p:spPr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536" name="Google Shape;2536;p49"/>
              <p:cNvSpPr txBox="1"/>
              <p:nvPr/>
            </p:nvSpPr>
            <p:spPr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/>
              </a:p>
            </p:txBody>
          </p:sp>
          <p:cxnSp>
            <p:nvCxnSpPr>
              <p:cNvPr id="2537" name="Google Shape;2537;p49"/>
              <p:cNvCxnSpPr/>
              <p:nvPr/>
            </p:nvCxnSpPr>
            <p:spPr>
              <a:xfrm>
                <a:off x="9363013" y="5251834"/>
                <a:ext cx="101600" cy="37782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538" name="Google Shape;2538;p49"/>
              <p:cNvCxnSpPr/>
              <p:nvPr/>
            </p:nvCxnSpPr>
            <p:spPr>
              <a:xfrm>
                <a:off x="9353488" y="5050221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539" name="Google Shape;2539;p49"/>
              <p:cNvSpPr txBox="1"/>
              <p:nvPr/>
            </p:nvSpPr>
            <p:spPr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CS (VLAN ports 9-15)</a:t>
                </a:r>
                <a:endParaRPr/>
              </a:p>
            </p:txBody>
          </p:sp>
          <p:grpSp>
            <p:nvGrpSpPr>
              <p:cNvPr id="2540" name="Google Shape;2540;p49"/>
              <p:cNvGrpSpPr/>
              <p:nvPr/>
            </p:nvGrpSpPr>
            <p:grpSpPr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2541" name="Google Shape;2541;p4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42" name="Google Shape;2542;p4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43" name="Google Shape;2543;p49"/>
              <p:cNvGrpSpPr/>
              <p:nvPr/>
            </p:nvGrpSpPr>
            <p:grpSpPr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2544" name="Google Shape;2544;p4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45" name="Google Shape;2545;p4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546" name="Google Shape;2546;p49"/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2547" name="Google Shape;2547;p49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48" name="Google Shape;2548;p49"/>
                <p:cNvGrpSpPr/>
                <p:nvPr/>
              </p:nvGrpSpPr>
              <p:grpSpPr>
                <a:xfrm>
                  <a:off x="7564998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2549" name="Google Shape;2549;p4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0" name="Google Shape;2550;p4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1" name="Google Shape;2551;p4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52" name="Google Shape;2552;p4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2553" name="Google Shape;2553;p49"/>
              <p:cNvCxnSpPr/>
              <p:nvPr/>
            </p:nvCxnSpPr>
            <p:spPr>
              <a:xfrm>
                <a:off x="10232595" y="5048617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grpSp>
            <p:nvGrpSpPr>
              <p:cNvPr id="2554" name="Google Shape;2554;p49"/>
              <p:cNvGrpSpPr/>
              <p:nvPr/>
            </p:nvGrpSpPr>
            <p:grpSpPr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2555" name="Google Shape;2555;p4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556" name="Google Shape;2556;p4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2" name="Google Shape;2562;p50"/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2563" name="Google Shape;2563;p50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4" name="Google Shape;2564;p50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65" name="Google Shape;2565;p50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66" name="Google Shape;2566;p50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  <p:cxnSp>
          <p:nvCxnSpPr>
            <p:cNvPr id="2567" name="Google Shape;2567;p50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8" name="Google Shape;2568;p50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9" name="Google Shape;2569;p50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70" name="Google Shape;2570;p50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  <p:sp>
          <p:nvSpPr>
            <p:cNvPr id="2571" name="Google Shape;2571;p50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  <p:sp>
          <p:nvSpPr>
            <p:cNvPr id="2572" name="Google Shape;2572;p50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  <p:sp>
          <p:nvSpPr>
            <p:cNvPr id="2573" name="Google Shape;2573;p50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50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5" name="Google Shape;2575;p50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6" name="Google Shape;2576;p50"/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2577" name="Google Shape;2577;p50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50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79" name="Google Shape;2579;p50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0" name="Google Shape;2580;p50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1" name="Google Shape;2581;p50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82" name="Google Shape;2582;p50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83" name="Google Shape;2583;p50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2584" name="Google Shape;2584;p50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2585" name="Google Shape;2585;p50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2586" name="Google Shape;2586;p50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2587" name="Google Shape;2587;p50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8" name="Google Shape;2588;p50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9" name="Google Shape;2589;p50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0" name="Google Shape;2590;p5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50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92" name="Google Shape;2592;p50"/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2593" name="Google Shape;2593;p50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4" name="Google Shape;2594;p50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2595" name="Google Shape;2595;p5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5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5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5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599" name="Google Shape;2599;p50"/>
          <p:cNvCxnSpPr/>
          <p:nvPr/>
        </p:nvCxnSpPr>
        <p:spPr>
          <a:xfrm flipH="1">
            <a:off x="8059268" y="4222579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0" name="Google Shape;2600;p50"/>
          <p:cNvCxnSpPr/>
          <p:nvPr/>
        </p:nvCxnSpPr>
        <p:spPr>
          <a:xfrm flipH="1">
            <a:off x="8445031" y="4222579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1" name="Google Shape;2601;p50"/>
          <p:cNvCxnSpPr/>
          <p:nvPr/>
        </p:nvCxnSpPr>
        <p:spPr>
          <a:xfrm flipH="1">
            <a:off x="9164167" y="4237505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2" name="Google Shape;2602;p50"/>
          <p:cNvSpPr txBox="1"/>
          <p:nvPr/>
        </p:nvSpPr>
        <p:spPr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2603" name="Google Shape;2603;p50"/>
          <p:cNvCxnSpPr/>
          <p:nvPr/>
        </p:nvCxnSpPr>
        <p:spPr>
          <a:xfrm>
            <a:off x="10172231" y="4225754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4" name="Google Shape;2604;p50"/>
          <p:cNvCxnSpPr/>
          <p:nvPr/>
        </p:nvCxnSpPr>
        <p:spPr>
          <a:xfrm>
            <a:off x="10162706" y="4024141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5" name="Google Shape;2605;p50"/>
          <p:cNvCxnSpPr/>
          <p:nvPr/>
        </p:nvCxnSpPr>
        <p:spPr>
          <a:xfrm>
            <a:off x="11018368" y="3968579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06" name="Google Shape;2606;p50"/>
          <p:cNvSpPr txBox="1"/>
          <p:nvPr/>
        </p:nvSpPr>
        <p:spPr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2607" name="Google Shape;2607;p50"/>
          <p:cNvSpPr txBox="1"/>
          <p:nvPr/>
        </p:nvSpPr>
        <p:spPr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2608" name="Google Shape;2608;p50"/>
          <p:cNvSpPr txBox="1"/>
          <p:nvPr/>
        </p:nvSpPr>
        <p:spPr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2609" name="Google Shape;2609;p50"/>
          <p:cNvGrpSpPr/>
          <p:nvPr/>
        </p:nvGrpSpPr>
        <p:grpSpPr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descr="desktop_computer_stylized_medium" id="2610" name="Google Shape;2610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1" name="Google Shape;2611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2" name="Google Shape;2612;p50"/>
          <p:cNvGrpSpPr/>
          <p:nvPr/>
        </p:nvGrpSpPr>
        <p:grpSpPr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descr="desktop_computer_stylized_medium" id="2613" name="Google Shape;2613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4" name="Google Shape;2614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5" name="Google Shape;2615;p50"/>
          <p:cNvGrpSpPr/>
          <p:nvPr/>
        </p:nvGrpSpPr>
        <p:grpSpPr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descr="desktop_computer_stylized_medium" id="2616" name="Google Shape;2616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7" name="Google Shape;2617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8" name="Google Shape;2618;p50"/>
          <p:cNvGrpSpPr/>
          <p:nvPr/>
        </p:nvGrpSpPr>
        <p:grpSpPr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descr="desktop_computer_stylized_medium" id="2619" name="Google Shape;2619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0" name="Google Shape;2620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1" name="Google Shape;2621;p50"/>
          <p:cNvGrpSpPr/>
          <p:nvPr/>
        </p:nvGrpSpPr>
        <p:grpSpPr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descr="desktop_computer_stylized_medium" id="2622" name="Google Shape;262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3" name="Google Shape;2623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4" name="Google Shape;2624;p50"/>
          <p:cNvGrpSpPr/>
          <p:nvPr/>
        </p:nvGrpSpPr>
        <p:grpSpPr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descr="desktop_computer_stylized_medium" id="2625" name="Google Shape;262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6" name="Google Shape;262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27" name="Google Shape;2627;p50"/>
          <p:cNvSpPr txBox="1"/>
          <p:nvPr/>
        </p:nvSpPr>
        <p:spPr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traffic isolation: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frames to/from ports 1-8 can 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reach ports 1-8</a:t>
            </a:r>
            <a:endParaRPr/>
          </a:p>
          <a:p>
            <a:pPr indent="-223837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also define VLAN based on MAC addresses of endpoints, rather than switch port</a:t>
            </a:r>
            <a:endParaRPr/>
          </a:p>
        </p:txBody>
      </p:sp>
      <p:sp>
        <p:nvSpPr>
          <p:cNvPr id="2628" name="Google Shape;2628;p50"/>
          <p:cNvSpPr/>
          <p:nvPr/>
        </p:nvSpPr>
        <p:spPr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dynamic membership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ports can be dynamically assigned among VLANs</a:t>
            </a:r>
            <a:endParaRPr/>
          </a:p>
        </p:txBody>
      </p:sp>
      <p:grpSp>
        <p:nvGrpSpPr>
          <p:cNvPr id="2629" name="Google Shape;2629;p50"/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2630" name="Google Shape;2630;p50"/>
            <p:cNvSpPr/>
            <p:nvPr/>
          </p:nvSpPr>
          <p:spPr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 between VLANS: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done via routing (just as with separate switches)</a:t>
              </a:r>
              <a:endParaRPr/>
            </a:p>
            <a:p>
              <a:pPr indent="-223837" lvl="1" marL="68103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 vendors sell combined switches plus routers</a:t>
              </a:r>
              <a:endParaRPr/>
            </a:p>
          </p:txBody>
        </p:sp>
        <p:cxnSp>
          <p:nvCxnSpPr>
            <p:cNvPr id="2631" name="Google Shape;2631;p50"/>
            <p:cNvCxnSpPr/>
            <p:nvPr/>
          </p:nvCxnSpPr>
          <p:spPr>
            <a:xfrm>
              <a:off x="9829800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32" name="Google Shape;2632;p50"/>
            <p:cNvCxnSpPr/>
            <p:nvPr/>
          </p:nvCxnSpPr>
          <p:spPr>
            <a:xfrm>
              <a:off x="10466294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633" name="Google Shape;2633;p50"/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2634" name="Google Shape;2634;p50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635" name="Google Shape;2635;p5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636" name="Google Shape;2636;p50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637" name="Google Shape;2637;p50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8" name="Google Shape;2638;p50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50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0" name="Google Shape;2640;p50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51"/>
          <p:cNvSpPr/>
          <p:nvPr/>
        </p:nvSpPr>
        <p:spPr>
          <a:xfrm>
            <a:off x="4402748" y="2279650"/>
            <a:ext cx="294061" cy="222307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7" name="Google Shape;2647;p51"/>
          <p:cNvSpPr/>
          <p:nvPr/>
        </p:nvSpPr>
        <p:spPr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8" name="Google Shape;2648;p51"/>
          <p:cNvSpPr/>
          <p:nvPr/>
        </p:nvSpPr>
        <p:spPr>
          <a:xfrm>
            <a:off x="7860323" y="2308273"/>
            <a:ext cx="294061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9" name="Google Shape;2649;p51"/>
          <p:cNvSpPr/>
          <p:nvPr/>
        </p:nvSpPr>
        <p:spPr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0" name="Google Shape;2650;p51"/>
          <p:cNvSpPr/>
          <p:nvPr/>
        </p:nvSpPr>
        <p:spPr>
          <a:xfrm>
            <a:off x="2334590" y="2277305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51" name="Google Shape;2651;p51"/>
          <p:cNvCxnSpPr/>
          <p:nvPr/>
        </p:nvCxnSpPr>
        <p:spPr>
          <a:xfrm flipH="1" rot="10800000">
            <a:off x="2336177" y="2491790"/>
            <a:ext cx="1179110" cy="14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2" name="Google Shape;2652;p51"/>
          <p:cNvSpPr txBox="1"/>
          <p:nvPr/>
        </p:nvSpPr>
        <p:spPr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cxnSp>
        <p:nvCxnSpPr>
          <p:cNvPr id="2653" name="Google Shape;2653;p51"/>
          <p:cNvCxnSpPr/>
          <p:nvPr/>
        </p:nvCxnSpPr>
        <p:spPr>
          <a:xfrm>
            <a:off x="2915615" y="228206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4" name="Google Shape;2654;p51"/>
          <p:cNvCxnSpPr/>
          <p:nvPr/>
        </p:nvCxnSpPr>
        <p:spPr>
          <a:xfrm>
            <a:off x="2625102" y="227889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5" name="Google Shape;2655;p51"/>
          <p:cNvCxnSpPr/>
          <p:nvPr/>
        </p:nvCxnSpPr>
        <p:spPr>
          <a:xfrm>
            <a:off x="3196602" y="2286830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6" name="Google Shape;2656;p51"/>
          <p:cNvSpPr txBox="1"/>
          <p:nvPr/>
        </p:nvSpPr>
        <p:spPr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657" name="Google Shape;2657;p51"/>
          <p:cNvSpPr txBox="1"/>
          <p:nvPr/>
        </p:nvSpPr>
        <p:spPr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658" name="Google Shape;2658;p51"/>
          <p:cNvSpPr txBox="1"/>
          <p:nvPr/>
        </p:nvSpPr>
        <p:spPr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659" name="Google Shape;2659;p51"/>
          <p:cNvSpPr/>
          <p:nvPr/>
        </p:nvSpPr>
        <p:spPr>
          <a:xfrm>
            <a:off x="2450477" y="259163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0" name="Google Shape;2660;p51"/>
          <p:cNvSpPr/>
          <p:nvPr/>
        </p:nvSpPr>
        <p:spPr>
          <a:xfrm>
            <a:off x="2742577" y="2588455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1" name="Google Shape;2661;p51"/>
          <p:cNvSpPr/>
          <p:nvPr/>
        </p:nvSpPr>
        <p:spPr>
          <a:xfrm>
            <a:off x="3329952" y="2593218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2" name="Google Shape;2662;p51"/>
          <p:cNvSpPr/>
          <p:nvPr/>
        </p:nvSpPr>
        <p:spPr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3" name="Google Shape;2663;p51"/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2664" name="Google Shape;2664;p51"/>
            <p:cNvSpPr/>
            <p:nvPr/>
          </p:nvSpPr>
          <p:spPr>
            <a:xfrm>
              <a:off x="11001071" y="4880851"/>
              <a:ext cx="896593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5" name="Google Shape;2665;p51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66" name="Google Shape;2666;p51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7" name="Google Shape;2667;p51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8" name="Google Shape;2668;p51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69" name="Google Shape;2669;p51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70" name="Google Shape;2670;p51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  <p:sp>
          <p:nvSpPr>
            <p:cNvPr id="2671" name="Google Shape;2671;p51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/>
            </a:p>
          </p:txBody>
        </p:sp>
        <p:sp>
          <p:nvSpPr>
            <p:cNvPr id="2672" name="Google Shape;2672;p51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  <p:sp>
          <p:nvSpPr>
            <p:cNvPr id="2673" name="Google Shape;2673;p51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  <p:sp>
          <p:nvSpPr>
            <p:cNvPr id="2674" name="Google Shape;2674;p51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5" name="Google Shape;2675;p51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6" name="Google Shape;2676;p51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77" name="Google Shape;2677;p5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VLANS spanning multiple switches</a:t>
            </a:r>
            <a:endParaRPr b="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51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79" name="Google Shape;2679;p51"/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2680" name="Google Shape;2680;p51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81" name="Google Shape;2681;p51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2682" name="Google Shape;2682;p5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3" name="Google Shape;2683;p5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4" name="Google Shape;2684;p5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5" name="Google Shape;2685;p5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686" name="Google Shape;2686;p51"/>
          <p:cNvCxnSpPr/>
          <p:nvPr/>
        </p:nvCxnSpPr>
        <p:spPr>
          <a:xfrm flipH="1">
            <a:off x="1564338" y="2582038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7" name="Google Shape;2687;p51"/>
          <p:cNvCxnSpPr/>
          <p:nvPr/>
        </p:nvCxnSpPr>
        <p:spPr>
          <a:xfrm flipH="1">
            <a:off x="1950101" y="2582038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8" name="Google Shape;2688;p51"/>
          <p:cNvCxnSpPr/>
          <p:nvPr/>
        </p:nvCxnSpPr>
        <p:spPr>
          <a:xfrm flipH="1">
            <a:off x="2669236" y="2619375"/>
            <a:ext cx="683563" cy="33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9" name="Google Shape;2689;p51"/>
          <p:cNvSpPr txBox="1"/>
          <p:nvPr/>
        </p:nvSpPr>
        <p:spPr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2690" name="Google Shape;2690;p51"/>
          <p:cNvCxnSpPr/>
          <p:nvPr/>
        </p:nvCxnSpPr>
        <p:spPr>
          <a:xfrm>
            <a:off x="3679825" y="2613025"/>
            <a:ext cx="99076" cy="3500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1" name="Google Shape;2691;p51"/>
          <p:cNvCxnSpPr/>
          <p:nvPr/>
        </p:nvCxnSpPr>
        <p:spPr>
          <a:xfrm>
            <a:off x="3667126" y="2406650"/>
            <a:ext cx="480076" cy="58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2" name="Google Shape;2692;p51"/>
          <p:cNvCxnSpPr/>
          <p:nvPr/>
        </p:nvCxnSpPr>
        <p:spPr>
          <a:xfrm>
            <a:off x="4537074" y="2397125"/>
            <a:ext cx="500713" cy="4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3" name="Google Shape;2693;p51"/>
          <p:cNvSpPr txBox="1"/>
          <p:nvPr/>
        </p:nvSpPr>
        <p:spPr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/>
          </a:p>
        </p:txBody>
      </p:sp>
      <p:sp>
        <p:nvSpPr>
          <p:cNvPr id="2694" name="Google Shape;2694;p51"/>
          <p:cNvSpPr txBox="1"/>
          <p:nvPr/>
        </p:nvSpPr>
        <p:spPr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/>
          </a:p>
        </p:txBody>
      </p:sp>
      <p:sp>
        <p:nvSpPr>
          <p:cNvPr id="2695" name="Google Shape;2695;p51"/>
          <p:cNvSpPr txBox="1"/>
          <p:nvPr/>
        </p:nvSpPr>
        <p:spPr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grpSp>
        <p:nvGrpSpPr>
          <p:cNvPr id="2696" name="Google Shape;2696;p51"/>
          <p:cNvGrpSpPr/>
          <p:nvPr/>
        </p:nvGrpSpPr>
        <p:grpSpPr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descr="desktop_computer_stylized_medium" id="2697" name="Google Shape;269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8" name="Google Shape;269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99" name="Google Shape;2699;p51"/>
          <p:cNvGrpSpPr/>
          <p:nvPr/>
        </p:nvGrpSpPr>
        <p:grpSpPr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descr="desktop_computer_stylized_medium" id="2700" name="Google Shape;270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1" name="Google Shape;270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2" name="Google Shape;2702;p51"/>
          <p:cNvGrpSpPr/>
          <p:nvPr/>
        </p:nvGrpSpPr>
        <p:grpSpPr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descr="desktop_computer_stylized_medium" id="2703" name="Google Shape;2703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4" name="Google Shape;2704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5" name="Google Shape;2705;p51"/>
          <p:cNvGrpSpPr/>
          <p:nvPr/>
        </p:nvGrpSpPr>
        <p:grpSpPr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descr="desktop_computer_stylized_medium" id="2706" name="Google Shape;270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7" name="Google Shape;270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08" name="Google Shape;2708;p51"/>
          <p:cNvGrpSpPr/>
          <p:nvPr/>
        </p:nvGrpSpPr>
        <p:grpSpPr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descr="desktop_computer_stylized_medium" id="2709" name="Google Shape;2709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0" name="Google Shape;2710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1" name="Google Shape;2711;p51"/>
          <p:cNvGrpSpPr/>
          <p:nvPr/>
        </p:nvGrpSpPr>
        <p:grpSpPr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descr="desktop_computer_stylized_medium" id="2712" name="Google Shape;271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3" name="Google Shape;2713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4" name="Google Shape;2714;p51"/>
          <p:cNvSpPr/>
          <p:nvPr/>
        </p:nvSpPr>
        <p:spPr>
          <a:xfrm>
            <a:off x="7262446" y="2518116"/>
            <a:ext cx="887249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5" name="Google Shape;2715;p51"/>
          <p:cNvSpPr/>
          <p:nvPr/>
        </p:nvSpPr>
        <p:spPr>
          <a:xfrm>
            <a:off x="6968086" y="2300638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6" name="Google Shape;2716;p51"/>
          <p:cNvCxnSpPr/>
          <p:nvPr/>
        </p:nvCxnSpPr>
        <p:spPr>
          <a:xfrm>
            <a:off x="6967071" y="2518439"/>
            <a:ext cx="1163270" cy="2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7" name="Google Shape;2717;p51"/>
          <p:cNvCxnSpPr/>
          <p:nvPr/>
        </p:nvCxnSpPr>
        <p:spPr>
          <a:xfrm>
            <a:off x="7558841" y="231016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8" name="Google Shape;2718;p51"/>
          <p:cNvCxnSpPr/>
          <p:nvPr/>
        </p:nvCxnSpPr>
        <p:spPr>
          <a:xfrm>
            <a:off x="7263566" y="2305401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9" name="Google Shape;2719;p51"/>
          <p:cNvCxnSpPr/>
          <p:nvPr/>
        </p:nvCxnSpPr>
        <p:spPr>
          <a:xfrm>
            <a:off x="7854116" y="230063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20" name="Google Shape;2720;p51"/>
          <p:cNvSpPr txBox="1"/>
          <p:nvPr/>
        </p:nvSpPr>
        <p:spPr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2721" name="Google Shape;2721;p51"/>
          <p:cNvSpPr txBox="1"/>
          <p:nvPr/>
        </p:nvSpPr>
        <p:spPr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722" name="Google Shape;2722;p51"/>
          <p:cNvSpPr txBox="1"/>
          <p:nvPr/>
        </p:nvSpPr>
        <p:spPr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2723" name="Google Shape;2723;p51"/>
          <p:cNvSpPr txBox="1"/>
          <p:nvPr/>
        </p:nvSpPr>
        <p:spPr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724" name="Google Shape;2724;p51"/>
          <p:cNvSpPr/>
          <p:nvPr/>
        </p:nvSpPr>
        <p:spPr>
          <a:xfrm>
            <a:off x="7104816" y="2613376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5" name="Google Shape;2725;p51"/>
          <p:cNvSpPr/>
          <p:nvPr/>
        </p:nvSpPr>
        <p:spPr>
          <a:xfrm>
            <a:off x="7092116" y="2399063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6" name="Google Shape;2726;p51"/>
          <p:cNvSpPr/>
          <p:nvPr/>
        </p:nvSpPr>
        <p:spPr>
          <a:xfrm>
            <a:off x="7971245" y="2607922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7" name="Google Shape;2727;p51"/>
          <p:cNvSpPr txBox="1"/>
          <p:nvPr/>
        </p:nvSpPr>
        <p:spPr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cxnSp>
        <p:nvCxnSpPr>
          <p:cNvPr id="2728" name="Google Shape;2728;p51"/>
          <p:cNvCxnSpPr/>
          <p:nvPr/>
        </p:nvCxnSpPr>
        <p:spPr>
          <a:xfrm>
            <a:off x="7116996" y="2624279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9" name="Google Shape;2729;p51"/>
          <p:cNvCxnSpPr/>
          <p:nvPr/>
        </p:nvCxnSpPr>
        <p:spPr>
          <a:xfrm flipH="1">
            <a:off x="7586896" y="2641600"/>
            <a:ext cx="117034" cy="3843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30" name="Google Shape;2730;p51"/>
          <p:cNvGrpSpPr/>
          <p:nvPr/>
        </p:nvGrpSpPr>
        <p:grpSpPr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descr="desktop_computer_stylized_medium" id="2731" name="Google Shape;273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2" name="Google Shape;273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3" name="Google Shape;2733;p51"/>
          <p:cNvGrpSpPr/>
          <p:nvPr/>
        </p:nvGrpSpPr>
        <p:grpSpPr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descr="desktop_computer_stylized_medium" id="2734" name="Google Shape;273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35" name="Google Shape;273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6" name="Google Shape;2736;p51"/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2737" name="Google Shape;2737;p51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38" name="Google Shape;2738;p51"/>
            <p:cNvGrpSpPr/>
            <p:nvPr/>
          </p:nvGrpSpPr>
          <p:grpSpPr>
            <a:xfrm>
              <a:off x="7564998" y="1450537"/>
              <a:ext cx="2021605" cy="589765"/>
              <a:chOff x="7939341" y="3037317"/>
              <a:chExt cx="897649" cy="353919"/>
            </a:xfrm>
          </p:grpSpPr>
          <p:sp>
            <p:nvSpPr>
              <p:cNvPr id="2739" name="Google Shape;2739;p5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0" name="Google Shape;2740;p5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1" name="Google Shape;2741;p5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5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2743" name="Google Shape;2743;p51"/>
          <p:cNvCxnSpPr/>
          <p:nvPr/>
        </p:nvCxnSpPr>
        <p:spPr>
          <a:xfrm>
            <a:off x="7991061" y="2628348"/>
            <a:ext cx="474942" cy="3959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744" name="Google Shape;2744;p51"/>
          <p:cNvGrpSpPr/>
          <p:nvPr/>
        </p:nvGrpSpPr>
        <p:grpSpPr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descr="desktop_computer_stylized_medium" id="2745" name="Google Shape;274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6" name="Google Shape;274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7" name="Google Shape;2747;p51"/>
          <p:cNvGrpSpPr/>
          <p:nvPr/>
        </p:nvGrpSpPr>
        <p:grpSpPr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2748" name="Google Shape;2748;p51"/>
            <p:cNvSpPr/>
            <p:nvPr/>
          </p:nvSpPr>
          <p:spPr>
            <a:xfrm>
              <a:off x="2215" y="1381"/>
              <a:ext cx="27" cy="3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49" name="Google Shape;2749;p51"/>
            <p:cNvGrpSpPr/>
            <p:nvPr/>
          </p:nvGrpSpPr>
          <p:grpSpPr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2750" name="Google Shape;2750;p51"/>
              <p:cNvSpPr txBox="1"/>
              <p:nvPr/>
            </p:nvSpPr>
            <p:spPr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/>
              </a:p>
            </p:txBody>
          </p:sp>
          <p:sp>
            <p:nvSpPr>
              <p:cNvPr id="2751" name="Google Shape;2751;p51"/>
              <p:cNvSpPr txBox="1"/>
              <p:nvPr/>
            </p:nvSpPr>
            <p:spPr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  <p:sp>
            <p:nvSpPr>
              <p:cNvPr id="2752" name="Google Shape;2752;p51"/>
              <p:cNvSpPr/>
              <p:nvPr/>
            </p:nvSpPr>
            <p:spPr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3" name="Google Shape;2753;p51"/>
              <p:cNvSpPr/>
              <p:nvPr/>
            </p:nvSpPr>
            <p:spPr>
              <a:xfrm>
                <a:off x="2226" y="1260"/>
                <a:ext cx="1644" cy="135"/>
              </a:xfrm>
              <a:custGeom>
                <a:rect b="b" l="l" r="r" t="t"/>
                <a:pathLst>
                  <a:path extrusionOk="0" h="135" w="1644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54" name="Google Shape;2754;p51"/>
          <p:cNvSpPr txBox="1"/>
          <p:nvPr/>
        </p:nvSpPr>
        <p:spPr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755" name="Google Shape;2755;p51"/>
          <p:cNvSpPr txBox="1"/>
          <p:nvPr/>
        </p:nvSpPr>
        <p:spPr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2756" name="Google Shape;2756;p51"/>
          <p:cNvSpPr txBox="1"/>
          <p:nvPr/>
        </p:nvSpPr>
        <p:spPr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2757" name="Google Shape;2757;p51"/>
          <p:cNvSpPr/>
          <p:nvPr/>
        </p:nvSpPr>
        <p:spPr>
          <a:xfrm>
            <a:off x="7682457" y="261938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8" name="Google Shape;2758;p51"/>
          <p:cNvSpPr txBox="1"/>
          <p:nvPr/>
        </p:nvSpPr>
        <p:spPr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2,3,5 belong to EE VLAN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4,6,7,8 belong to CS VLAN</a:t>
            </a:r>
            <a:endParaRPr/>
          </a:p>
        </p:txBody>
      </p:sp>
      <p:sp>
        <p:nvSpPr>
          <p:cNvPr id="2759" name="Google Shape;2759;p51"/>
          <p:cNvSpPr txBox="1"/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trunk port: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carries frames between VLANS defined over multiple physical switches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frames forwarded within VLAN between switches can’t be vanilla 802.1 frames (must carry VLAN ID info)</a:t>
            </a:r>
            <a:endParaRPr/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802.1q protocol adds/removed additional header fields for frames forwarded between trunk ports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4" name="Shape 2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5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802.1Q VLAN frame format</a:t>
            </a:r>
            <a:endParaRPr/>
          </a:p>
        </p:txBody>
      </p:sp>
      <p:sp>
        <p:nvSpPr>
          <p:cNvPr id="2766" name="Google Shape;2766;p52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Link Layer: 6-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7" name="Google Shape;2767;p52"/>
          <p:cNvSpPr txBox="1"/>
          <p:nvPr/>
        </p:nvSpPr>
        <p:spPr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 Ethernet frame</a:t>
            </a:r>
            <a:endParaRPr/>
          </a:p>
        </p:txBody>
      </p:sp>
      <p:grpSp>
        <p:nvGrpSpPr>
          <p:cNvPr id="2768" name="Google Shape;2768;p52"/>
          <p:cNvGrpSpPr/>
          <p:nvPr/>
        </p:nvGrpSpPr>
        <p:grpSpPr>
          <a:xfrm>
            <a:off x="970245" y="1413943"/>
            <a:ext cx="7867779" cy="1104405"/>
            <a:chOff x="940711" y="4902593"/>
            <a:chExt cx="6291001" cy="992895"/>
          </a:xfrm>
        </p:grpSpPr>
        <p:cxnSp>
          <p:nvCxnSpPr>
            <p:cNvPr id="2769" name="Google Shape;2769;p52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70" name="Google Shape;2770;p52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71" name="Google Shape;2771;p52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2" name="Google Shape;2772;p52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3" name="Google Shape;2773;p52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4" name="Google Shape;2774;p52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75" name="Google Shape;2775;p52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76" name="Google Shape;2776;p52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2777" name="Google Shape;2777;p52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2778" name="Google Shape;2778;p52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2779" name="Google Shape;2779;p52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2780" name="Google Shape;2780;p52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2781" name="Google Shape;2781;p52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</p:grpSp>
      <p:cxnSp>
        <p:nvCxnSpPr>
          <p:cNvPr id="2782" name="Google Shape;2782;p52"/>
          <p:cNvCxnSpPr/>
          <p:nvPr/>
        </p:nvCxnSpPr>
        <p:spPr>
          <a:xfrm>
            <a:off x="4366933" y="3946525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3" name="Google Shape;2783;p52"/>
          <p:cNvSpPr/>
          <p:nvPr/>
        </p:nvSpPr>
        <p:spPr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2-byte Tag Protocol Identifier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(value: 81-00) </a:t>
            </a:r>
            <a:endParaRPr/>
          </a:p>
        </p:txBody>
      </p:sp>
      <p:sp>
        <p:nvSpPr>
          <p:cNvPr id="2784" name="Google Shape;2784;p52"/>
          <p:cNvSpPr/>
          <p:nvPr/>
        </p:nvSpPr>
        <p:spPr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Control Information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(12 bit VLAN ID field, 3 bit priority field like IP TOS)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2785" name="Google Shape;2785;p52"/>
          <p:cNvCxnSpPr/>
          <p:nvPr/>
        </p:nvCxnSpPr>
        <p:spPr>
          <a:xfrm>
            <a:off x="8942855" y="4032157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6" name="Google Shape;2786;p52"/>
          <p:cNvSpPr/>
          <p:nvPr/>
        </p:nvSpPr>
        <p:spPr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grpSp>
        <p:nvGrpSpPr>
          <p:cNvPr id="2787" name="Google Shape;2787;p52"/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cxnSp>
          <p:nvCxnSpPr>
            <p:cNvPr id="2788" name="Google Shape;2788;p52"/>
            <p:cNvCxnSpPr/>
            <p:nvPr/>
          </p:nvCxnSpPr>
          <p:spPr>
            <a:xfrm>
              <a:off x="4089588" y="2418509"/>
              <a:ext cx="979954" cy="956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89" name="Google Shape;2789;p52"/>
            <p:cNvCxnSpPr/>
            <p:nvPr/>
          </p:nvCxnSpPr>
          <p:spPr>
            <a:xfrm>
              <a:off x="8803063" y="2441481"/>
              <a:ext cx="905714" cy="94717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790" name="Google Shape;2790;p52"/>
            <p:cNvSpPr txBox="1"/>
            <p:nvPr/>
          </p:nvSpPr>
          <p:spPr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802.1Q frame</a:t>
              </a:r>
              <a:endParaRPr/>
            </a:p>
          </p:txBody>
        </p:sp>
        <p:cxnSp>
          <p:nvCxnSpPr>
            <p:cNvPr id="2791" name="Google Shape;2791;p52"/>
            <p:cNvCxnSpPr/>
            <p:nvPr/>
          </p:nvCxnSpPr>
          <p:spPr>
            <a:xfrm>
              <a:off x="5272715" y="3308495"/>
              <a:ext cx="0" cy="227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2" name="Google Shape;2792;p52"/>
            <p:cNvSpPr/>
            <p:nvPr/>
          </p:nvSpPr>
          <p:spPr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793" name="Google Shape;2793;p52"/>
            <p:cNvCxnSpPr/>
            <p:nvPr/>
          </p:nvCxnSpPr>
          <p:spPr>
            <a:xfrm>
              <a:off x="2263192" y="3378763"/>
              <a:ext cx="0" cy="61218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4" name="Google Shape;2794;p52"/>
            <p:cNvCxnSpPr/>
            <p:nvPr/>
          </p:nvCxnSpPr>
          <p:spPr>
            <a:xfrm>
              <a:off x="3176434" y="3382291"/>
              <a:ext cx="0" cy="64923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5" name="Google Shape;2795;p52"/>
            <p:cNvCxnSpPr/>
            <p:nvPr/>
          </p:nvCxnSpPr>
          <p:spPr>
            <a:xfrm>
              <a:off x="5096217" y="3387584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6" name="Google Shape;2796;p52"/>
            <p:cNvCxnSpPr/>
            <p:nvPr/>
          </p:nvCxnSpPr>
          <p:spPr>
            <a:xfrm>
              <a:off x="5413866" y="3382291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7" name="Google Shape;2797;p52"/>
            <p:cNvCxnSpPr/>
            <p:nvPr/>
          </p:nvCxnSpPr>
          <p:spPr>
            <a:xfrm>
              <a:off x="7873664" y="3389347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98" name="Google Shape;2798;p52"/>
            <p:cNvSpPr txBox="1"/>
            <p:nvPr/>
          </p:nvSpPr>
          <p:spPr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2799" name="Google Shape;2799;p52"/>
            <p:cNvSpPr txBox="1"/>
            <p:nvPr/>
          </p:nvSpPr>
          <p:spPr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/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Calibri"/>
                <a:buNone/>
              </a:pPr>
              <a:r>
                <a:rPr b="0" i="1" lang="en-US" sz="1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/>
            </a:p>
          </p:txBody>
        </p:sp>
        <p:sp>
          <p:nvSpPr>
            <p:cNvPr id="2800" name="Google Shape;2800;p52"/>
            <p:cNvSpPr txBox="1"/>
            <p:nvPr/>
          </p:nvSpPr>
          <p:spPr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/>
            </a:p>
          </p:txBody>
        </p:sp>
        <p:sp>
          <p:nvSpPr>
            <p:cNvPr id="2801" name="Google Shape;2801;p52"/>
            <p:cNvSpPr txBox="1"/>
            <p:nvPr/>
          </p:nvSpPr>
          <p:spPr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/>
            </a:p>
          </p:txBody>
        </p:sp>
        <p:sp>
          <p:nvSpPr>
            <p:cNvPr id="2802" name="Google Shape;2802;p52"/>
            <p:cNvSpPr txBox="1"/>
            <p:nvPr/>
          </p:nvSpPr>
          <p:spPr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/>
            </a:p>
          </p:txBody>
        </p:sp>
        <p:sp>
          <p:nvSpPr>
            <p:cNvPr id="2803" name="Google Shape;2803;p52"/>
            <p:cNvSpPr txBox="1"/>
            <p:nvPr/>
          </p:nvSpPr>
          <p:spPr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/>
            </a:p>
          </p:txBody>
        </p:sp>
        <p:cxnSp>
          <p:nvCxnSpPr>
            <p:cNvPr id="2804" name="Google Shape;2804;p52"/>
            <p:cNvCxnSpPr/>
            <p:nvPr/>
          </p:nvCxnSpPr>
          <p:spPr>
            <a:xfrm>
              <a:off x="4092170" y="3405513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5" name="Google Shape;2805;p52"/>
            <p:cNvCxnSpPr/>
            <p:nvPr/>
          </p:nvCxnSpPr>
          <p:spPr>
            <a:xfrm>
              <a:off x="4594194" y="3383101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06" name="Google Shape;2806;p52"/>
            <p:cNvCxnSpPr/>
            <p:nvPr/>
          </p:nvCxnSpPr>
          <p:spPr>
            <a:xfrm flipH="1">
              <a:off x="1035424" y="2436437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807" name="Google Shape;2807;p52"/>
            <p:cNvCxnSpPr/>
            <p:nvPr/>
          </p:nvCxnSpPr>
          <p:spPr>
            <a:xfrm flipH="1">
              <a:off x="4065495" y="2440920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808" name="Google Shape;2808;p52"/>
          <p:cNvCxnSpPr/>
          <p:nvPr/>
        </p:nvCxnSpPr>
        <p:spPr>
          <a:xfrm>
            <a:off x="4827494" y="4034118"/>
            <a:ext cx="0" cy="115644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09" name="Google Shape;2809;p52"/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8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4" name="Shape 2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5" name="Google Shape;2815;p53"/>
          <p:cNvSpPr txBox="1"/>
          <p:nvPr>
            <p:ph type="title"/>
          </p:nvPr>
        </p:nvSpPr>
        <p:spPr>
          <a:xfrm>
            <a:off x="580529" y="463807"/>
            <a:ext cx="6551791" cy="165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Link Layer</a:t>
            </a:r>
            <a:endParaRPr sz="6000"/>
          </a:p>
        </p:txBody>
      </p:sp>
      <p:grpSp>
        <p:nvGrpSpPr>
          <p:cNvPr id="2816" name="Google Shape;2816;p53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2817" name="Google Shape;2817;p5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8" name="Google Shape;2818;p53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2819" name="Google Shape;2819;p53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2820" name="Google Shape;2820;p5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21" name="Google Shape;2821;p53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2" name="Google Shape;2822;p53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2823" name="Google Shape;2823;p53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2824" name="Google Shape;2824;p53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2825" name="Google Shape;2825;p5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826" name="Google Shape;2826;p5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827" name="Google Shape;2827;p53"/>
          <p:cNvSpPr txBox="1"/>
          <p:nvPr/>
        </p:nvSpPr>
        <p:spPr>
          <a:xfrm>
            <a:off x="574495" y="2100867"/>
            <a:ext cx="871692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 to the Link Layer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Error-detection and -correction Techniques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Links and Protocols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Switched Local Area Networks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a Network as a Link Layer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 </a:t>
            </a:r>
            <a:endParaRPr/>
          </a:p>
          <a:p>
            <a:pPr indent="-285750" lvl="0" marL="403225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Retrospective: A Day in the Life of a Web Page Request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