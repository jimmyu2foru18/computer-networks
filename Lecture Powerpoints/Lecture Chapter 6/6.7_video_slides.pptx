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  <p:sldMasterId id="214748365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Gill Sans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56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56" orient="horz"/>
        <p:guide pos="285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ill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GillSans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9" name="Google Shape;1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3" name="Google Shape;14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1" name="Google Shape;180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9" name="Google Shape;180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7" name="Google Shape;181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4.jp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The Link Layer</a:t>
            </a:r>
            <a:endParaRPr sz="6000"/>
          </a:p>
        </p:txBody>
      </p:sp>
      <p:sp>
        <p:nvSpPr>
          <p:cNvPr id="59" name="Google Shape;59;p12"/>
          <p:cNvSpPr txBox="1"/>
          <p:nvPr>
            <p:ph idx="2" type="body"/>
          </p:nvPr>
        </p:nvSpPr>
        <p:spPr>
          <a:xfrm>
            <a:off x="574495" y="2100867"/>
            <a:ext cx="9932140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Introduction to the Link Layer </a:t>
            </a:r>
            <a:r>
              <a:rPr lang="en-US" sz="3200"/>
              <a:t>	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Error-detection and -correction Techniques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Multiple Access Links and Protocols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Switched Local Area Networks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Link Virtualization: a Network as a Link Layer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Data Center Networking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13A3"/>
              </a:buClr>
              <a:buSzPts val="3200"/>
              <a:buChar char="▪"/>
            </a:pPr>
            <a:r>
              <a:rPr lang="en-US" sz="3200"/>
              <a:t>Retrospective: A Day in the Life of a Web Page Request</a:t>
            </a:r>
            <a:endParaRPr/>
          </a:p>
        </p:txBody>
      </p:sp>
      <p:grpSp>
        <p:nvGrpSpPr>
          <p:cNvPr id="60" name="Google Shape;60;p12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61" name="Google Shape;6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2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63" name="Google Shape;63;p12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64" name="Google Shape;64;p1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" name="Google Shape;65;p12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Synthesis: a day in the life of a web request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533400" y="1338263"/>
            <a:ext cx="1127311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400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 journey down the protocol stack is now complete!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application, transport, network, link</a:t>
            </a:r>
            <a:endParaRPr/>
          </a:p>
          <a:p>
            <a:pPr indent="-269875" lvl="0" marL="4000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putting-it-all-together: synthesis!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identify, review, understand protocols (at all layers) involved in seemingly simple scenario: requesting www page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student attaches laptop to campus network, requests/receives www.google.com 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 day in the life: scenario</a:t>
            </a:r>
            <a:endParaRPr/>
          </a:p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5037166" y="1832733"/>
            <a:ext cx="3494531" cy="2590938"/>
          </a:xfrm>
          <a:custGeom>
            <a:rect b="b" l="l" r="r" t="t"/>
            <a:pathLst>
              <a:path extrusionOk="0" h="9973" w="10000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5108669" y="2394135"/>
            <a:ext cx="181133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Comcast network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68.80.0.0/13</a:t>
            </a:r>
            <a:endParaRPr/>
          </a:p>
        </p:txBody>
      </p:sp>
      <p:cxnSp>
        <p:nvCxnSpPr>
          <p:cNvPr id="83" name="Google Shape;83;p14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4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14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6" name="Google Shape;86;p14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4"/>
          <p:cNvCxnSpPr/>
          <p:nvPr/>
        </p:nvCxnSpPr>
        <p:spPr>
          <a:xfrm flipH="1" rot="10800000">
            <a:off x="3670020" y="3535642"/>
            <a:ext cx="1819275" cy="733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4"/>
          <p:cNvCxnSpPr/>
          <p:nvPr/>
        </p:nvCxnSpPr>
        <p:spPr>
          <a:xfrm flipH="1">
            <a:off x="7205382" y="2772055"/>
            <a:ext cx="260350" cy="2587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4"/>
          <p:cNvSpPr/>
          <p:nvPr/>
        </p:nvSpPr>
        <p:spPr>
          <a:xfrm>
            <a:off x="1169707" y="4751667"/>
            <a:ext cx="6419850" cy="1620838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14"/>
          <p:cNvCxnSpPr/>
          <p:nvPr/>
        </p:nvCxnSpPr>
        <p:spPr>
          <a:xfrm flipH="1" rot="10800000">
            <a:off x="4560607" y="3680105"/>
            <a:ext cx="1174750" cy="165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" name="Google Shape;91;p14"/>
          <p:cNvSpPr txBox="1"/>
          <p:nvPr/>
        </p:nvSpPr>
        <p:spPr>
          <a:xfrm>
            <a:off x="5438495" y="5623205"/>
            <a:ext cx="18097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Google’s network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64.233.160.0/19 </a:t>
            </a:r>
            <a:endParaRPr/>
          </a:p>
        </p:txBody>
      </p:sp>
      <p:cxnSp>
        <p:nvCxnSpPr>
          <p:cNvPr id="92" name="Google Shape;92;p14"/>
          <p:cNvCxnSpPr/>
          <p:nvPr/>
        </p:nvCxnSpPr>
        <p:spPr>
          <a:xfrm flipH="1" rot="10800000">
            <a:off x="3139795" y="5499380"/>
            <a:ext cx="94297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4"/>
          <p:cNvSpPr txBox="1"/>
          <p:nvPr/>
        </p:nvSpPr>
        <p:spPr>
          <a:xfrm>
            <a:off x="2052357" y="5891492"/>
            <a:ext cx="15954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64.233.169.105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020607" y="5597805"/>
            <a:ext cx="1177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server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124855" y="1962523"/>
            <a:ext cx="123348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 server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4"/>
          <p:cNvGrpSpPr/>
          <p:nvPr/>
        </p:nvGrpSpPr>
        <p:grpSpPr>
          <a:xfrm flipH="1">
            <a:off x="5890932" y="3667405"/>
            <a:ext cx="400050" cy="152400"/>
            <a:chOff x="3228" y="1776"/>
            <a:chExt cx="252" cy="96"/>
          </a:xfrm>
        </p:grpSpPr>
        <p:cxnSp>
          <p:nvCxnSpPr>
            <p:cNvPr id="97" name="Google Shape;97;p14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" name="Google Shape;98;p14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9" name="Google Shape;99;p14"/>
          <p:cNvGrpSpPr/>
          <p:nvPr/>
        </p:nvGrpSpPr>
        <p:grpSpPr>
          <a:xfrm rot="10800000">
            <a:off x="6043332" y="3143530"/>
            <a:ext cx="400050" cy="152400"/>
            <a:chOff x="3228" y="1776"/>
            <a:chExt cx="252" cy="96"/>
          </a:xfrm>
        </p:grpSpPr>
        <p:cxnSp>
          <p:nvCxnSpPr>
            <p:cNvPr id="100" name="Google Shape;100;p14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" name="Google Shape;101;p14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2" name="Google Shape;102;p14"/>
          <p:cNvGrpSpPr/>
          <p:nvPr/>
        </p:nvGrpSpPr>
        <p:grpSpPr>
          <a:xfrm rot="10800000">
            <a:off x="8143595" y="3834092"/>
            <a:ext cx="400050" cy="152400"/>
            <a:chOff x="3228" y="1776"/>
            <a:chExt cx="252" cy="96"/>
          </a:xfrm>
        </p:grpSpPr>
        <p:cxnSp>
          <p:nvCxnSpPr>
            <p:cNvPr id="103" name="Google Shape;103;p14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14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5" name="Google Shape;105;p14"/>
          <p:cNvGrpSpPr/>
          <p:nvPr/>
        </p:nvGrpSpPr>
        <p:grpSpPr>
          <a:xfrm flipH="1" rot="10800000">
            <a:off x="7319682" y="3853142"/>
            <a:ext cx="295275" cy="114300"/>
            <a:chOff x="3228" y="1776"/>
            <a:chExt cx="252" cy="96"/>
          </a:xfrm>
        </p:grpSpPr>
        <p:cxnSp>
          <p:nvCxnSpPr>
            <p:cNvPr id="106" name="Google Shape;106;p14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" name="Google Shape;107;p14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8" name="Google Shape;108;p14"/>
          <p:cNvGrpSpPr/>
          <p:nvPr/>
        </p:nvGrpSpPr>
        <p:grpSpPr>
          <a:xfrm rot="-10390311">
            <a:off x="7591145" y="3195917"/>
            <a:ext cx="452437" cy="57150"/>
            <a:chOff x="3228" y="1776"/>
            <a:chExt cx="252" cy="96"/>
          </a:xfrm>
        </p:grpSpPr>
        <p:cxnSp>
          <p:nvCxnSpPr>
            <p:cNvPr id="109" name="Google Shape;109;p14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" name="Google Shape;110;p14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1" name="Google Shape;111;p14"/>
          <p:cNvGrpSpPr/>
          <p:nvPr/>
        </p:nvGrpSpPr>
        <p:grpSpPr>
          <a:xfrm>
            <a:off x="6733895" y="3400705"/>
            <a:ext cx="295275" cy="114300"/>
            <a:chOff x="3228" y="1776"/>
            <a:chExt cx="252" cy="96"/>
          </a:xfrm>
        </p:grpSpPr>
        <p:cxnSp>
          <p:nvCxnSpPr>
            <p:cNvPr id="112" name="Google Shape;112;p14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" name="Google Shape;113;p14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4" name="Google Shape;114;p14"/>
          <p:cNvGrpSpPr/>
          <p:nvPr/>
        </p:nvGrpSpPr>
        <p:grpSpPr>
          <a:xfrm flipH="1">
            <a:off x="7372070" y="3400705"/>
            <a:ext cx="295275" cy="114300"/>
            <a:chOff x="3228" y="1776"/>
            <a:chExt cx="252" cy="96"/>
          </a:xfrm>
        </p:grpSpPr>
        <p:cxnSp>
          <p:nvCxnSpPr>
            <p:cNvPr id="115" name="Google Shape;115;p14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" name="Google Shape;116;p14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7" name="Google Shape;117;p14"/>
          <p:cNvGrpSpPr/>
          <p:nvPr/>
        </p:nvGrpSpPr>
        <p:grpSpPr>
          <a:xfrm>
            <a:off x="5786157" y="5348567"/>
            <a:ext cx="295275" cy="114300"/>
            <a:chOff x="3228" y="1776"/>
            <a:chExt cx="252" cy="96"/>
          </a:xfrm>
        </p:grpSpPr>
        <p:cxnSp>
          <p:nvCxnSpPr>
            <p:cNvPr id="118" name="Google Shape;118;p14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14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0" name="Google Shape;120;p14"/>
          <p:cNvGrpSpPr/>
          <p:nvPr/>
        </p:nvGrpSpPr>
        <p:grpSpPr>
          <a:xfrm flipH="1">
            <a:off x="6424332" y="5348567"/>
            <a:ext cx="295275" cy="114300"/>
            <a:chOff x="3228" y="1776"/>
            <a:chExt cx="252" cy="96"/>
          </a:xfrm>
        </p:grpSpPr>
        <p:cxnSp>
          <p:nvCxnSpPr>
            <p:cNvPr id="121" name="Google Shape;121;p14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14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3" name="Google Shape;123;p14"/>
          <p:cNvGrpSpPr/>
          <p:nvPr/>
        </p:nvGrpSpPr>
        <p:grpSpPr>
          <a:xfrm>
            <a:off x="4019270" y="5705755"/>
            <a:ext cx="295275" cy="114300"/>
            <a:chOff x="3228" y="1776"/>
            <a:chExt cx="252" cy="96"/>
          </a:xfrm>
        </p:grpSpPr>
        <p:cxnSp>
          <p:nvCxnSpPr>
            <p:cNvPr id="124" name="Google Shape;124;p14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14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6" name="Google Shape;126;p14"/>
          <p:cNvGrpSpPr/>
          <p:nvPr/>
        </p:nvGrpSpPr>
        <p:grpSpPr>
          <a:xfrm flipH="1">
            <a:off x="4657445" y="5705755"/>
            <a:ext cx="295275" cy="114300"/>
            <a:chOff x="3228" y="1776"/>
            <a:chExt cx="252" cy="96"/>
          </a:xfrm>
        </p:grpSpPr>
        <p:cxnSp>
          <p:nvCxnSpPr>
            <p:cNvPr id="127" name="Google Shape;127;p14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14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9" name="Google Shape;129;p14"/>
          <p:cNvGrpSpPr/>
          <p:nvPr/>
        </p:nvGrpSpPr>
        <p:grpSpPr>
          <a:xfrm rot="10800000">
            <a:off x="4862232" y="5410480"/>
            <a:ext cx="295275" cy="114300"/>
            <a:chOff x="3228" y="1776"/>
            <a:chExt cx="252" cy="96"/>
          </a:xfrm>
        </p:grpSpPr>
        <p:cxnSp>
          <p:nvCxnSpPr>
            <p:cNvPr id="130" name="Google Shape;130;p14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14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32" name="Google Shape;132;p14"/>
          <p:cNvSpPr txBox="1"/>
          <p:nvPr/>
        </p:nvSpPr>
        <p:spPr>
          <a:xfrm>
            <a:off x="881342" y="3666845"/>
            <a:ext cx="1595438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school network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68.80.2.0/24</a:t>
            </a:r>
            <a:endParaRPr/>
          </a:p>
        </p:txBody>
      </p:sp>
      <p:grpSp>
        <p:nvGrpSpPr>
          <p:cNvPr id="133" name="Google Shape;133;p14"/>
          <p:cNvGrpSpPr/>
          <p:nvPr/>
        </p:nvGrpSpPr>
        <p:grpSpPr>
          <a:xfrm>
            <a:off x="849686" y="1873155"/>
            <a:ext cx="1473201" cy="1119188"/>
            <a:chOff x="135" y="833"/>
            <a:chExt cx="928" cy="705"/>
          </a:xfrm>
        </p:grpSpPr>
        <p:grpSp>
          <p:nvGrpSpPr>
            <p:cNvPr id="134" name="Google Shape;134;p14"/>
            <p:cNvGrpSpPr/>
            <p:nvPr/>
          </p:nvGrpSpPr>
          <p:grpSpPr>
            <a:xfrm>
              <a:off x="135" y="833"/>
              <a:ext cx="928" cy="705"/>
              <a:chOff x="135" y="833"/>
              <a:chExt cx="928" cy="705"/>
            </a:xfrm>
          </p:grpSpPr>
          <p:sp>
            <p:nvSpPr>
              <p:cNvPr id="135" name="Google Shape;135;p14"/>
              <p:cNvSpPr/>
              <p:nvPr/>
            </p:nvSpPr>
            <p:spPr>
              <a:xfrm>
                <a:off x="135" y="836"/>
                <a:ext cx="928" cy="702"/>
              </a:xfrm>
              <a:custGeom>
                <a:rect b="b" l="l" r="r" t="t"/>
                <a:pathLst>
                  <a:path extrusionOk="0" h="10000" w="10000">
                    <a:moveTo>
                      <a:pt x="9330" y="10000"/>
                    </a:moveTo>
                    <a:cubicBezTo>
                      <a:pt x="6768" y="8563"/>
                      <a:pt x="6152" y="7769"/>
                      <a:pt x="0" y="6170"/>
                    </a:cubicBezTo>
                    <a:lnTo>
                      <a:pt x="7582" y="6096"/>
                    </a:lnTo>
                    <a:cubicBezTo>
                      <a:pt x="7547" y="3488"/>
                      <a:pt x="7633" y="2608"/>
                      <a:pt x="7597" y="0"/>
                    </a:cubicBezTo>
                    <a:cubicBezTo>
                      <a:pt x="8698" y="5472"/>
                      <a:pt x="8887" y="5795"/>
                      <a:pt x="9987" y="7243"/>
                    </a:cubicBezTo>
                    <a:cubicBezTo>
                      <a:pt x="10122" y="8001"/>
                      <a:pt x="9194" y="9242"/>
                      <a:pt x="9330" y="1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BFBFBF"/>
                  </a:gs>
                </a:gsLst>
                <a:lin ang="12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6" name="Google Shape;136;p14"/>
              <p:cNvGrpSpPr/>
              <p:nvPr/>
            </p:nvGrpSpPr>
            <p:grpSpPr>
              <a:xfrm>
                <a:off x="148" y="840"/>
                <a:ext cx="694" cy="432"/>
                <a:chOff x="2579" y="1533"/>
                <a:chExt cx="1078" cy="507"/>
              </a:xfrm>
            </p:grpSpPr>
            <p:pic>
              <p:nvPicPr>
                <p:cNvPr id="137" name="Google Shape;137;p1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2579" y="1533"/>
                  <a:ext cx="1078" cy="5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8" name="Google Shape;138;p14"/>
                <p:cNvSpPr/>
                <p:nvPr/>
              </p:nvSpPr>
              <p:spPr>
                <a:xfrm>
                  <a:off x="2633" y="1580"/>
                  <a:ext cx="957" cy="41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9" name="Google Shape;139;p14"/>
              <p:cNvSpPr/>
              <p:nvPr/>
            </p:nvSpPr>
            <p:spPr>
              <a:xfrm>
                <a:off x="146" y="833"/>
                <a:ext cx="696" cy="439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0" name="Google Shape;140;p14"/>
            <p:cNvSpPr txBox="1"/>
            <p:nvPr/>
          </p:nvSpPr>
          <p:spPr>
            <a:xfrm>
              <a:off x="233" y="938"/>
              <a:ext cx="513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browser</a:t>
              </a:r>
              <a:endParaRPr/>
            </a:p>
          </p:txBody>
        </p:sp>
      </p:grpSp>
      <p:grpSp>
        <p:nvGrpSpPr>
          <p:cNvPr id="141" name="Google Shape;141;p14"/>
          <p:cNvGrpSpPr/>
          <p:nvPr/>
        </p:nvGrpSpPr>
        <p:grpSpPr>
          <a:xfrm>
            <a:off x="7299045" y="2164042"/>
            <a:ext cx="358775" cy="623888"/>
            <a:chOff x="4140" y="429"/>
            <a:chExt cx="1425" cy="2396"/>
          </a:xfrm>
        </p:grpSpPr>
        <p:sp>
          <p:nvSpPr>
            <p:cNvPr id="142" name="Google Shape;142;p1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7" name="Google Shape;147;p14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148" name="Google Shape;148;p14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4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0" name="Google Shape;150;p14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1" name="Google Shape;151;p14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152" name="Google Shape;152;p14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4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4" name="Google Shape;154;p14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6" name="Google Shape;156;p14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157" name="Google Shape;157;p14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4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9" name="Google Shape;159;p1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0" name="Google Shape;160;p14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161" name="Google Shape;161;p14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14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3" name="Google Shape;163;p14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" name="Google Shape;174;p14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175" name="Google Shape;175;p1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7" name="Google Shape;177;p1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78" name="Google Shape;178;p1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2" name="Google Shape;182;p14"/>
          <p:cNvGrpSpPr/>
          <p:nvPr/>
        </p:nvGrpSpPr>
        <p:grpSpPr>
          <a:xfrm>
            <a:off x="5430426" y="3270309"/>
            <a:ext cx="853832" cy="472456"/>
            <a:chOff x="7493876" y="2774731"/>
            <a:chExt cx="1481958" cy="894622"/>
          </a:xfrm>
        </p:grpSpPr>
        <p:sp>
          <p:nvSpPr>
            <p:cNvPr id="183" name="Google Shape;183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85" name="Google Shape;185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6" name="Google Shape;186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0" name="Google Shape;190;p14"/>
          <p:cNvGrpSpPr/>
          <p:nvPr/>
        </p:nvGrpSpPr>
        <p:grpSpPr>
          <a:xfrm>
            <a:off x="6752719" y="3019298"/>
            <a:ext cx="853832" cy="472456"/>
            <a:chOff x="7493876" y="2774731"/>
            <a:chExt cx="1481958" cy="894622"/>
          </a:xfrm>
        </p:grpSpPr>
        <p:sp>
          <p:nvSpPr>
            <p:cNvPr id="191" name="Google Shape;191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93" name="Google Shape;193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4" name="Google Shape;194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8" name="Google Shape;198;p14"/>
          <p:cNvGrpSpPr/>
          <p:nvPr/>
        </p:nvGrpSpPr>
        <p:grpSpPr>
          <a:xfrm>
            <a:off x="7496789" y="3749923"/>
            <a:ext cx="853832" cy="472456"/>
            <a:chOff x="7493876" y="2774731"/>
            <a:chExt cx="1481958" cy="894622"/>
          </a:xfrm>
        </p:grpSpPr>
        <p:sp>
          <p:nvSpPr>
            <p:cNvPr id="199" name="Google Shape;199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1" name="Google Shape;201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2" name="Google Shape;202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6" name="Google Shape;206;p14"/>
          <p:cNvGrpSpPr/>
          <p:nvPr/>
        </p:nvGrpSpPr>
        <p:grpSpPr>
          <a:xfrm>
            <a:off x="4139507" y="5298141"/>
            <a:ext cx="809010" cy="502026"/>
            <a:chOff x="7493876" y="2774731"/>
            <a:chExt cx="1481958" cy="894622"/>
          </a:xfrm>
        </p:grpSpPr>
        <p:sp>
          <p:nvSpPr>
            <p:cNvPr id="207" name="Google Shape;207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9" name="Google Shape;209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0" name="Google Shape;210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4" name="Google Shape;214;p14"/>
          <p:cNvGrpSpPr/>
          <p:nvPr/>
        </p:nvGrpSpPr>
        <p:grpSpPr>
          <a:xfrm>
            <a:off x="5872016" y="4978459"/>
            <a:ext cx="809010" cy="502026"/>
            <a:chOff x="7493876" y="2774731"/>
            <a:chExt cx="1481958" cy="894622"/>
          </a:xfrm>
        </p:grpSpPr>
        <p:sp>
          <p:nvSpPr>
            <p:cNvPr id="215" name="Google Shape;215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6" name="Google Shape;216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7" name="Google Shape;217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8" name="Google Shape;218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2" name="Google Shape;222;p14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3" name="Google Shape;223;p14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24" name="Google Shape;224;p14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225" name="Google Shape;225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14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227" name="Google Shape;227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14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4" name="Google Shape;234;p14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35" name="Google Shape;235;p1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1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1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1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1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1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1" name="Google Shape;241;p14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4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p14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48" name="Google Shape;248;p14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249" name="Google Shape;249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51" name="Google Shape;251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2" name="Google Shape;252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6" name="Google Shape;256;p14"/>
          <p:cNvSpPr/>
          <p:nvPr/>
        </p:nvSpPr>
        <p:spPr>
          <a:xfrm>
            <a:off x="685800" y="2756646"/>
            <a:ext cx="1313330" cy="511526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FFFFF">
                  <a:alpha val="66666"/>
                </a:srgbClr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7" name="Google Shape;257;p14"/>
          <p:cNvGrpSpPr/>
          <p:nvPr/>
        </p:nvGrpSpPr>
        <p:grpSpPr>
          <a:xfrm>
            <a:off x="1373964" y="4541734"/>
            <a:ext cx="1607995" cy="1127080"/>
            <a:chOff x="1373964" y="4541734"/>
            <a:chExt cx="1607995" cy="1127080"/>
          </a:xfrm>
        </p:grpSpPr>
        <p:sp>
          <p:nvSpPr>
            <p:cNvPr id="258" name="Google Shape;258;p14"/>
            <p:cNvSpPr txBox="1"/>
            <p:nvPr/>
          </p:nvSpPr>
          <p:spPr>
            <a:xfrm>
              <a:off x="1373964" y="4541734"/>
              <a:ext cx="8901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web page</a:t>
              </a: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1450329" y="4799922"/>
              <a:ext cx="1531630" cy="868892"/>
            </a:xfrm>
            <a:custGeom>
              <a:rect b="b" l="l" r="r" t="t"/>
              <a:pathLst>
                <a:path extrusionOk="0" h="10000" w="10000">
                  <a:moveTo>
                    <a:pt x="9927" y="10000"/>
                  </a:moveTo>
                  <a:cubicBezTo>
                    <a:pt x="7231" y="9836"/>
                    <a:pt x="6474" y="9595"/>
                    <a:pt x="0" y="9182"/>
                  </a:cubicBezTo>
                  <a:lnTo>
                    <a:pt x="8245" y="8883"/>
                  </a:lnTo>
                  <a:cubicBezTo>
                    <a:pt x="8212" y="5538"/>
                    <a:pt x="8387" y="3345"/>
                    <a:pt x="8352" y="0"/>
                  </a:cubicBezTo>
                  <a:cubicBezTo>
                    <a:pt x="8852" y="3416"/>
                    <a:pt x="8942" y="4239"/>
                    <a:pt x="10000" y="6096"/>
                  </a:cubicBezTo>
                  <a:cubicBezTo>
                    <a:pt x="9991" y="7928"/>
                    <a:pt x="9934" y="8700"/>
                    <a:pt x="9927" y="1000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FBFBF"/>
                </a:gs>
              </a:gsLst>
              <a:lin ang="12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0" name="Google Shape;260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84743" y="4817138"/>
              <a:ext cx="1243012" cy="768350"/>
            </a:xfrm>
            <a:prstGeom prst="rect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261" name="Google Shape;261;p14"/>
          <p:cNvGrpSpPr/>
          <p:nvPr/>
        </p:nvGrpSpPr>
        <p:grpSpPr>
          <a:xfrm>
            <a:off x="2957232" y="5059642"/>
            <a:ext cx="358775" cy="623888"/>
            <a:chOff x="4140" y="429"/>
            <a:chExt cx="1425" cy="2396"/>
          </a:xfrm>
        </p:grpSpPr>
        <p:sp>
          <p:nvSpPr>
            <p:cNvPr id="262" name="Google Shape;262;p1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7" name="Google Shape;267;p14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268" name="Google Shape;268;p14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14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0" name="Google Shape;270;p14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1" name="Google Shape;271;p14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272" name="Google Shape;272;p14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14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4" name="Google Shape;274;p14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6" name="Google Shape;276;p14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277" name="Google Shape;277;p14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14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9" name="Google Shape;279;p1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0" name="Google Shape;280;p14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281" name="Google Shape;281;p14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14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3" name="Google Shape;283;p14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4" name="Google Shape;294;p14"/>
          <p:cNvSpPr txBox="1"/>
          <p:nvPr/>
        </p:nvSpPr>
        <p:spPr>
          <a:xfrm>
            <a:off x="8877300" y="1833563"/>
            <a:ext cx="2878418" cy="1316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400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arriving mobile client attaches to network …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5" name="Google Shape;295;p14"/>
          <p:cNvSpPr txBox="1"/>
          <p:nvPr/>
        </p:nvSpPr>
        <p:spPr>
          <a:xfrm>
            <a:off x="8877300" y="3179763"/>
            <a:ext cx="2878418" cy="1316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69875" lvl="0" marL="400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requests web page: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www.google.com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784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6" name="Google Shape;296;p14"/>
          <p:cNvSpPr txBox="1"/>
          <p:nvPr/>
        </p:nvSpPr>
        <p:spPr>
          <a:xfrm>
            <a:off x="8737600" y="1181100"/>
            <a:ext cx="1651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scenario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grpSp>
        <p:nvGrpSpPr>
          <p:cNvPr id="297" name="Google Shape;297;p14"/>
          <p:cNvGrpSpPr/>
          <p:nvPr/>
        </p:nvGrpSpPr>
        <p:grpSpPr>
          <a:xfrm>
            <a:off x="9296400" y="4451350"/>
            <a:ext cx="2425700" cy="1612900"/>
            <a:chOff x="9296400" y="4451350"/>
            <a:chExt cx="2425700" cy="1612900"/>
          </a:xfrm>
        </p:grpSpPr>
        <p:pic>
          <p:nvPicPr>
            <p:cNvPr descr="A picture containing table, drawing&#10;&#10;Description automatically generated" id="298" name="Google Shape;298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109200" y="4451350"/>
              <a:ext cx="1612900" cy="161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9" name="Google Shape;299;p14"/>
            <p:cNvSpPr txBox="1"/>
            <p:nvPr/>
          </p:nvSpPr>
          <p:spPr>
            <a:xfrm>
              <a:off x="9296400" y="4744591"/>
              <a:ext cx="1492716" cy="1077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B050"/>
                </a:buClr>
                <a:buSzPts val="3200"/>
                <a:buFont typeface="Calibri"/>
                <a:buNone/>
              </a:pPr>
              <a:r>
                <a:rPr b="0" i="1" lang="en-US" sz="32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Sounds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B050"/>
                </a:buClr>
                <a:buSzPts val="3200"/>
                <a:buFont typeface="Calibri"/>
                <a:buNone/>
              </a:pPr>
              <a:r>
                <a:rPr b="0" i="1" lang="en-US" sz="32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simple!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"/>
          <p:cNvSpPr txBox="1"/>
          <p:nvPr>
            <p:ph type="title"/>
          </p:nvPr>
        </p:nvSpPr>
        <p:spPr>
          <a:xfrm>
            <a:off x="811306" y="30390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 day in the life: connecting to the Internet</a:t>
            </a:r>
            <a:endParaRPr/>
          </a:p>
        </p:txBody>
      </p:sp>
      <p:sp>
        <p:nvSpPr>
          <p:cNvPr id="305" name="Google Shape;305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15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15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15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15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15"/>
          <p:cNvCxnSpPr/>
          <p:nvPr/>
        </p:nvCxnSpPr>
        <p:spPr>
          <a:xfrm flipH="1" rot="10800000">
            <a:off x="3670020" y="4087905"/>
            <a:ext cx="512015" cy="18116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2" name="Google Shape;312;p15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313" name="Google Shape;313;p15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5" name="Google Shape;315;p15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316" name="Google Shape;316;p15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15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15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5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20" name="Google Shape;320;p15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1" name="Google Shape;321;p15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22" name="Google Shape;322;p15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323" name="Google Shape;323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" name="Google Shape;324;p15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25" name="Google Shape;32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15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5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5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5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2" name="Google Shape;332;p15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333" name="Google Shape;333;p15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5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5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5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5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15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9" name="Google Shape;339;p15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5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5" name="Google Shape;345;p15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46" name="Google Shape;346;p15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347" name="Google Shape;347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49" name="Google Shape;349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50" name="Google Shape;350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4" name="Google Shape;354;p15"/>
          <p:cNvSpPr txBox="1"/>
          <p:nvPr/>
        </p:nvSpPr>
        <p:spPr>
          <a:xfrm>
            <a:off x="2528047" y="4464423"/>
            <a:ext cx="1351524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 has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DHCP server</a:t>
            </a:r>
            <a:endParaRPr/>
          </a:p>
        </p:txBody>
      </p:sp>
      <p:sp>
        <p:nvSpPr>
          <p:cNvPr id="355" name="Google Shape;355;p15"/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arriving mobile: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DHCP client</a:t>
            </a:r>
            <a:endParaRPr/>
          </a:p>
        </p:txBody>
      </p:sp>
      <p:sp>
        <p:nvSpPr>
          <p:cNvPr id="356" name="Google Shape;356;p15"/>
          <p:cNvSpPr txBox="1"/>
          <p:nvPr/>
        </p:nvSpPr>
        <p:spPr>
          <a:xfrm>
            <a:off x="5158160" y="1377950"/>
            <a:ext cx="6691630" cy="126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connecting laptop needs to get its own IP address, addr of first-hop router, addr of DNS server: use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DHCP</a:t>
            </a:r>
            <a:endParaRPr/>
          </a:p>
        </p:txBody>
      </p:sp>
      <p:grpSp>
        <p:nvGrpSpPr>
          <p:cNvPr id="357" name="Google Shape;357;p15"/>
          <p:cNvGrpSpPr/>
          <p:nvPr/>
        </p:nvGrpSpPr>
        <p:grpSpPr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358" name="Google Shape;358;p15"/>
            <p:cNvSpPr/>
            <p:nvPr/>
          </p:nvSpPr>
          <p:spPr>
            <a:xfrm>
              <a:off x="662" y="698"/>
              <a:ext cx="628" cy="1032"/>
            </a:xfrm>
            <a:custGeom>
              <a:rect b="b" l="l" r="r" t="t"/>
              <a:pathLst>
                <a:path extrusionOk="0" h="11424" w="1039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9" name="Google Shape;359;p15"/>
            <p:cNvGrpSpPr/>
            <p:nvPr/>
          </p:nvGrpSpPr>
          <p:grpSpPr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360" name="Google Shape;360;p15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15"/>
              <p:cNvSpPr txBox="1"/>
              <p:nvPr/>
            </p:nvSpPr>
            <p:spPr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362" name="Google Shape;362;p15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" name="Google Shape;363;p15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" name="Google Shape;364;p15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" name="Google Shape;365;p15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66" name="Google Shape;366;p15"/>
          <p:cNvGrpSpPr/>
          <p:nvPr/>
        </p:nvGrpSpPr>
        <p:grpSpPr>
          <a:xfrm>
            <a:off x="641723" y="1411287"/>
            <a:ext cx="544513" cy="244475"/>
            <a:chOff x="844" y="3337"/>
            <a:chExt cx="343" cy="154"/>
          </a:xfrm>
        </p:grpSpPr>
        <p:sp>
          <p:nvSpPr>
            <p:cNvPr id="367" name="Google Shape;367;p15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5"/>
            <p:cNvSpPr txBox="1"/>
            <p:nvPr/>
          </p:nvSpPr>
          <p:spPr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DHCP</a:t>
              </a:r>
              <a:endParaRPr/>
            </a:p>
          </p:txBody>
        </p:sp>
      </p:grpSp>
      <p:grpSp>
        <p:nvGrpSpPr>
          <p:cNvPr id="369" name="Google Shape;369;p15"/>
          <p:cNvGrpSpPr/>
          <p:nvPr/>
        </p:nvGrpSpPr>
        <p:grpSpPr>
          <a:xfrm>
            <a:off x="187698" y="1430337"/>
            <a:ext cx="1081088" cy="1166813"/>
            <a:chOff x="42" y="744"/>
            <a:chExt cx="681" cy="735"/>
          </a:xfrm>
        </p:grpSpPr>
        <p:grpSp>
          <p:nvGrpSpPr>
            <p:cNvPr id="370" name="Google Shape;370;p15"/>
            <p:cNvGrpSpPr/>
            <p:nvPr/>
          </p:nvGrpSpPr>
          <p:grpSpPr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371" name="Google Shape;371;p15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372" name="Google Shape;372;p15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373" name="Google Shape;373;p15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4" name="Google Shape;374;p15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sp>
              <p:nvSpPr>
                <p:cNvPr id="375" name="Google Shape;375;p15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" name="Google Shape;376;p15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7" name="Google Shape;377;p15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378" name="Google Shape;378;p15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379" name="Google Shape;379;p15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0" name="Google Shape;380;p15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381" name="Google Shape;381;p15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382" name="Google Shape;382;p15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3" name="Google Shape;383;p15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84" name="Google Shape;384;p15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385" name="Google Shape;385;p15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" name="Google Shape;386;p15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7" name="Google Shape;387;p15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388" name="Google Shape;388;p15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389" name="Google Shape;389;p15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390" name="Google Shape;390;p15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391" name="Google Shape;391;p15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92" name="Google Shape;392;p15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393" name="Google Shape;393;p15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394" name="Google Shape;394;p15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95" name="Google Shape;395;p15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396" name="Google Shape;396;p15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7" name="Google Shape;397;p15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98" name="Google Shape;398;p15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" name="Google Shape;399;p15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" name="Google Shape;400;p15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01" name="Google Shape;401;p15"/>
            <p:cNvSpPr/>
            <p:nvPr/>
          </p:nvSpPr>
          <p:spPr>
            <a:xfrm>
              <a:off x="384" y="744"/>
              <a:ext cx="240" cy="735"/>
            </a:xfrm>
            <a:prstGeom prst="downArrow">
              <a:avLst>
                <a:gd fmla="val 54167" name="adj1"/>
                <a:gd fmla="val 49170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2" name="Google Shape;402;p15"/>
          <p:cNvGrpSpPr/>
          <p:nvPr/>
        </p:nvGrpSpPr>
        <p:grpSpPr>
          <a:xfrm>
            <a:off x="771898" y="2638425"/>
            <a:ext cx="1081088" cy="244475"/>
            <a:chOff x="504" y="3523"/>
            <a:chExt cx="681" cy="154"/>
          </a:xfrm>
        </p:grpSpPr>
        <p:grpSp>
          <p:nvGrpSpPr>
            <p:cNvPr id="403" name="Google Shape;403;p15"/>
            <p:cNvGrpSpPr/>
            <p:nvPr/>
          </p:nvGrpSpPr>
          <p:grpSpPr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404" name="Google Shape;404;p15"/>
              <p:cNvGrpSpPr/>
              <p:nvPr/>
            </p:nvGrpSpPr>
            <p:grpSpPr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405" name="Google Shape;405;p15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406" name="Google Shape;406;p15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7" name="Google Shape;407;p15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408" name="Google Shape;408;p15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409" name="Google Shape;409;p15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10" name="Google Shape;410;p15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11" name="Google Shape;411;p15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15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3" name="Google Shape;413;p15"/>
            <p:cNvSpPr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6" name="Google Shape;416;p15"/>
          <p:cNvGrpSpPr/>
          <p:nvPr/>
        </p:nvGrpSpPr>
        <p:grpSpPr>
          <a:xfrm>
            <a:off x="1598986" y="3330575"/>
            <a:ext cx="1316037" cy="1314450"/>
            <a:chOff x="931" y="1941"/>
            <a:chExt cx="829" cy="828"/>
          </a:xfrm>
        </p:grpSpPr>
        <p:sp>
          <p:nvSpPr>
            <p:cNvPr id="417" name="Google Shape;417;p15"/>
            <p:cNvSpPr/>
            <p:nvPr/>
          </p:nvSpPr>
          <p:spPr>
            <a:xfrm>
              <a:off x="1424" y="1965"/>
              <a:ext cx="336" cy="801"/>
            </a:xfrm>
            <a:custGeom>
              <a:rect b="b" l="l" r="r" t="t"/>
              <a:pathLst>
                <a:path extrusionOk="0" h="801" w="55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8" name="Google Shape;418;p15"/>
            <p:cNvGrpSpPr/>
            <p:nvPr/>
          </p:nvGrpSpPr>
          <p:grpSpPr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419" name="Google Shape;419;p15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15"/>
              <p:cNvSpPr txBox="1"/>
              <p:nvPr/>
            </p:nvSpPr>
            <p:spPr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421" name="Google Shape;421;p15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2" name="Google Shape;422;p15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3" name="Google Shape;423;p15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24" name="Google Shape;424;p15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25" name="Google Shape;425;p15"/>
          <p:cNvGrpSpPr/>
          <p:nvPr/>
        </p:nvGrpSpPr>
        <p:grpSpPr>
          <a:xfrm>
            <a:off x="460748" y="3230562"/>
            <a:ext cx="1081088" cy="1217613"/>
            <a:chOff x="1404" y="3105"/>
            <a:chExt cx="681" cy="767"/>
          </a:xfrm>
        </p:grpSpPr>
        <p:grpSp>
          <p:nvGrpSpPr>
            <p:cNvPr id="426" name="Google Shape;426;p15"/>
            <p:cNvGrpSpPr/>
            <p:nvPr/>
          </p:nvGrpSpPr>
          <p:grpSpPr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427" name="Google Shape;427;p15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428" name="Google Shape;428;p15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429" name="Google Shape;429;p15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0" name="Google Shape;430;p15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sp>
              <p:nvSpPr>
                <p:cNvPr id="431" name="Google Shape;431;p15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" name="Google Shape;432;p15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3" name="Google Shape;433;p15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434" name="Google Shape;434;p15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435" name="Google Shape;435;p15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6" name="Google Shape;436;p15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437" name="Google Shape;437;p15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438" name="Google Shape;438;p15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9" name="Google Shape;439;p15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40" name="Google Shape;440;p15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441" name="Google Shape;441;p15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2" name="Google Shape;442;p15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3" name="Google Shape;443;p15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444" name="Google Shape;444;p15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445" name="Google Shape;445;p15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446" name="Google Shape;446;p15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447" name="Google Shape;447;p15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448" name="Google Shape;448;p15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449" name="Google Shape;449;p15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450" name="Google Shape;450;p15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451" name="Google Shape;451;p15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452" name="Google Shape;452;p15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3" name="Google Shape;453;p15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54" name="Google Shape;454;p15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5" name="Google Shape;455;p15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6" name="Google Shape;456;p15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57" name="Google Shape;457;p15"/>
            <p:cNvSpPr/>
            <p:nvPr/>
          </p:nvSpPr>
          <p:spPr>
            <a:xfrm rot="10800000">
              <a:off x="1727" y="3105"/>
              <a:ext cx="240" cy="767"/>
            </a:xfrm>
            <a:prstGeom prst="downArrow">
              <a:avLst>
                <a:gd fmla="val 54167" name="adj1"/>
                <a:gd fmla="val 51311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" name="Google Shape;458;p15"/>
            <p:cNvGrpSpPr/>
            <p:nvPr/>
          </p:nvGrpSpPr>
          <p:grpSpPr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459" name="Google Shape;459;p15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15"/>
              <p:cNvSpPr txBox="1"/>
              <p:nvPr/>
            </p:nvSpPr>
            <p:spPr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</p:txBody>
          </p:sp>
        </p:grpSp>
      </p:grpSp>
      <p:grpSp>
        <p:nvGrpSpPr>
          <p:cNvPr id="461" name="Google Shape;461;p15"/>
          <p:cNvGrpSpPr/>
          <p:nvPr/>
        </p:nvGrpSpPr>
        <p:grpSpPr>
          <a:xfrm>
            <a:off x="924298" y="3427412"/>
            <a:ext cx="544513" cy="244475"/>
            <a:chOff x="844" y="3337"/>
            <a:chExt cx="343" cy="154"/>
          </a:xfrm>
        </p:grpSpPr>
        <p:sp>
          <p:nvSpPr>
            <p:cNvPr id="462" name="Google Shape;462;p15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5"/>
            <p:cNvSpPr txBox="1"/>
            <p:nvPr/>
          </p:nvSpPr>
          <p:spPr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DHCP</a:t>
              </a:r>
              <a:endParaRPr/>
            </a:p>
          </p:txBody>
        </p:sp>
      </p:grpSp>
      <p:sp>
        <p:nvSpPr>
          <p:cNvPr id="464" name="Google Shape;464;p15"/>
          <p:cNvSpPr/>
          <p:nvPr/>
        </p:nvSpPr>
        <p:spPr>
          <a:xfrm>
            <a:off x="5158161" y="2817812"/>
            <a:ext cx="6365968" cy="1306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DHCP request 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encapsulated</a:t>
            </a:r>
            <a:r>
              <a:rPr b="0" i="0" lang="en-US" sz="28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UDP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encapsulated in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IP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encapsulated in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802.3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5156572" y="4229100"/>
            <a:ext cx="6573673" cy="156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frame 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broadcast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(dest: FFFFFFFFFFFF) on LAN, received at router running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DHCP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5154985" y="5565775"/>
            <a:ext cx="6541416" cy="1292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demuxed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IP demuxed, UDP demuxed to DHCP </a:t>
            </a:r>
            <a:endParaRPr/>
          </a:p>
        </p:txBody>
      </p:sp>
      <p:grpSp>
        <p:nvGrpSpPr>
          <p:cNvPr id="467" name="Google Shape;467;p15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468" name="Google Shape;468;p1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5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3" name="Google Shape;473;p15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474" name="Google Shape;474;p15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15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6" name="Google Shape;476;p15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7" name="Google Shape;477;p15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478" name="Google Shape;478;p15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15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0" name="Google Shape;480;p15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5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2" name="Google Shape;482;p15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483" name="Google Shape;483;p15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15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5" name="Google Shape;485;p1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6" name="Google Shape;486;p15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487" name="Google Shape;487;p15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15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9" name="Google Shape;489;p15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5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6"/>
          <p:cNvSpPr txBox="1"/>
          <p:nvPr>
            <p:ph type="title"/>
          </p:nvPr>
        </p:nvSpPr>
        <p:spPr>
          <a:xfrm>
            <a:off x="811306" y="30390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 day in the life: connecting to the Internet</a:t>
            </a:r>
            <a:endParaRPr/>
          </a:p>
        </p:txBody>
      </p:sp>
      <p:sp>
        <p:nvSpPr>
          <p:cNvPr id="505" name="Google Shape;505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7" name="Google Shape;507;p16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16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16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16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16"/>
          <p:cNvCxnSpPr/>
          <p:nvPr/>
        </p:nvCxnSpPr>
        <p:spPr>
          <a:xfrm flipH="1" rot="10800000">
            <a:off x="3670020" y="4087905"/>
            <a:ext cx="512015" cy="18116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12" name="Google Shape;512;p16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513" name="Google Shape;513;p1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5" name="Google Shape;515;p1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16" name="Google Shape;516;p1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1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1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1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20" name="Google Shape;520;p16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21" name="Google Shape;521;p16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522" name="Google Shape;522;p16"/>
          <p:cNvGrpSpPr/>
          <p:nvPr/>
        </p:nvGrpSpPr>
        <p:grpSpPr>
          <a:xfrm>
            <a:off x="1905000" y="2501153"/>
            <a:ext cx="954696" cy="842220"/>
            <a:chOff x="7432700" y="2327293"/>
            <a:chExt cx="534987" cy="414882"/>
          </a:xfrm>
        </p:grpSpPr>
        <p:pic>
          <p:nvPicPr>
            <p:cNvPr descr="antenna_stylized" id="523" name="Google Shape;523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524" name="Google Shape;524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5" name="Google Shape;525;p16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526" name="Google Shape;526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7" name="Google Shape;527;p16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3" name="Google Shape;533;p16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534" name="Google Shape;534;p16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16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16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16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16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16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40" name="Google Shape;540;p16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16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6" name="Google Shape;546;p16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547" name="Google Shape;547;p16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548" name="Google Shape;548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0" name="Google Shape;550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1" name="Google Shape;551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55" name="Google Shape;555;p16"/>
          <p:cNvSpPr txBox="1"/>
          <p:nvPr/>
        </p:nvSpPr>
        <p:spPr>
          <a:xfrm>
            <a:off x="2528047" y="4464423"/>
            <a:ext cx="1351524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 has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DHCP server</a:t>
            </a:r>
            <a:endParaRPr/>
          </a:p>
        </p:txBody>
      </p:sp>
      <p:sp>
        <p:nvSpPr>
          <p:cNvPr id="556" name="Google Shape;556;p16"/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arriving mobile: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DHCP client</a:t>
            </a:r>
            <a:endParaRPr/>
          </a:p>
        </p:txBody>
      </p:sp>
      <p:grpSp>
        <p:nvGrpSpPr>
          <p:cNvPr id="557" name="Google Shape;557;p16"/>
          <p:cNvGrpSpPr/>
          <p:nvPr/>
        </p:nvGrpSpPr>
        <p:grpSpPr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558" name="Google Shape;558;p16"/>
            <p:cNvSpPr/>
            <p:nvPr/>
          </p:nvSpPr>
          <p:spPr>
            <a:xfrm>
              <a:off x="662" y="698"/>
              <a:ext cx="628" cy="1032"/>
            </a:xfrm>
            <a:custGeom>
              <a:rect b="b" l="l" r="r" t="t"/>
              <a:pathLst>
                <a:path extrusionOk="0" h="11424" w="1039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9" name="Google Shape;559;p16"/>
            <p:cNvGrpSpPr/>
            <p:nvPr/>
          </p:nvGrpSpPr>
          <p:grpSpPr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560" name="Google Shape;560;p16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16"/>
              <p:cNvSpPr txBox="1"/>
              <p:nvPr/>
            </p:nvSpPr>
            <p:spPr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562" name="Google Shape;562;p16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3" name="Google Shape;563;p16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4" name="Google Shape;564;p16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5" name="Google Shape;565;p16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66" name="Google Shape;566;p16"/>
          <p:cNvGrpSpPr/>
          <p:nvPr/>
        </p:nvGrpSpPr>
        <p:grpSpPr>
          <a:xfrm>
            <a:off x="1598986" y="3330575"/>
            <a:ext cx="1316037" cy="1314450"/>
            <a:chOff x="931" y="1941"/>
            <a:chExt cx="829" cy="828"/>
          </a:xfrm>
        </p:grpSpPr>
        <p:sp>
          <p:nvSpPr>
            <p:cNvPr id="567" name="Google Shape;567;p16"/>
            <p:cNvSpPr/>
            <p:nvPr/>
          </p:nvSpPr>
          <p:spPr>
            <a:xfrm>
              <a:off x="1424" y="1965"/>
              <a:ext cx="336" cy="801"/>
            </a:xfrm>
            <a:custGeom>
              <a:rect b="b" l="l" r="r" t="t"/>
              <a:pathLst>
                <a:path extrusionOk="0" h="801" w="55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8" name="Google Shape;568;p16"/>
            <p:cNvGrpSpPr/>
            <p:nvPr/>
          </p:nvGrpSpPr>
          <p:grpSpPr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569" name="Google Shape;569;p16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16"/>
              <p:cNvSpPr txBox="1"/>
              <p:nvPr/>
            </p:nvSpPr>
            <p:spPr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571" name="Google Shape;571;p16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2" name="Google Shape;572;p16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3" name="Google Shape;573;p16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4" name="Google Shape;574;p16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75" name="Google Shape;575;p16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576" name="Google Shape;576;p1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16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1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1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1" name="Google Shape;581;p16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582" name="Google Shape;582;p16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16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4" name="Google Shape;584;p16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5" name="Google Shape;585;p16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586" name="Google Shape;586;p16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16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8" name="Google Shape;588;p16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6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0" name="Google Shape;590;p16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591" name="Google Shape;591;p16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16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93" name="Google Shape;593;p1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4" name="Google Shape;594;p16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595" name="Google Shape;595;p16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16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97" name="Google Shape;597;p16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1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16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16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8" name="Google Shape;608;p16"/>
          <p:cNvSpPr txBox="1"/>
          <p:nvPr/>
        </p:nvSpPr>
        <p:spPr>
          <a:xfrm>
            <a:off x="5231672" y="1504912"/>
            <a:ext cx="6548848" cy="1573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DHCP server formulates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DHCP ACK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containing client’s IP address, IP address of first-hop router for client, name &amp; IP address of DNS server</a:t>
            </a:r>
            <a:endParaRPr/>
          </a:p>
          <a:p>
            <a:pPr indent="-1651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9" name="Google Shape;609;p16"/>
          <p:cNvGrpSpPr/>
          <p:nvPr/>
        </p:nvGrpSpPr>
        <p:grpSpPr>
          <a:xfrm>
            <a:off x="379319" y="3300692"/>
            <a:ext cx="1081088" cy="1166813"/>
            <a:chOff x="42" y="744"/>
            <a:chExt cx="681" cy="735"/>
          </a:xfrm>
        </p:grpSpPr>
        <p:grpSp>
          <p:nvGrpSpPr>
            <p:cNvPr id="610" name="Google Shape;610;p16"/>
            <p:cNvGrpSpPr/>
            <p:nvPr/>
          </p:nvGrpSpPr>
          <p:grpSpPr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611" name="Google Shape;611;p16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612" name="Google Shape;612;p16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613" name="Google Shape;613;p16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4" name="Google Shape;614;p16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sp>
              <p:nvSpPr>
                <p:cNvPr id="615" name="Google Shape;615;p16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6" name="Google Shape;616;p16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17" name="Google Shape;617;p16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618" name="Google Shape;618;p16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619" name="Google Shape;619;p16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0" name="Google Shape;620;p16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621" name="Google Shape;621;p16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622" name="Google Shape;622;p16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3" name="Google Shape;623;p16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624" name="Google Shape;624;p16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625" name="Google Shape;625;p16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6" name="Google Shape;626;p16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27" name="Google Shape;627;p16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628" name="Google Shape;628;p16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629" name="Google Shape;629;p16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630" name="Google Shape;630;p16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631" name="Google Shape;631;p16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632" name="Google Shape;632;p16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633" name="Google Shape;633;p16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634" name="Google Shape;634;p16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635" name="Google Shape;635;p16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636" name="Google Shape;636;p16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7" name="Google Shape;637;p16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38" name="Google Shape;638;p16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9" name="Google Shape;639;p16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0" name="Google Shape;640;p16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641" name="Google Shape;641;p16"/>
            <p:cNvSpPr/>
            <p:nvPr/>
          </p:nvSpPr>
          <p:spPr>
            <a:xfrm>
              <a:off x="384" y="744"/>
              <a:ext cx="240" cy="735"/>
            </a:xfrm>
            <a:prstGeom prst="downArrow">
              <a:avLst>
                <a:gd fmla="val 54167" name="adj1"/>
                <a:gd fmla="val 49170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2" name="Google Shape;642;p16"/>
          <p:cNvGrpSpPr/>
          <p:nvPr/>
        </p:nvGrpSpPr>
        <p:grpSpPr>
          <a:xfrm>
            <a:off x="476157" y="4386542"/>
            <a:ext cx="1081087" cy="244475"/>
            <a:chOff x="504" y="3523"/>
            <a:chExt cx="681" cy="154"/>
          </a:xfrm>
        </p:grpSpPr>
        <p:grpSp>
          <p:nvGrpSpPr>
            <p:cNvPr id="643" name="Google Shape;643;p16"/>
            <p:cNvGrpSpPr/>
            <p:nvPr/>
          </p:nvGrpSpPr>
          <p:grpSpPr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644" name="Google Shape;644;p16"/>
              <p:cNvGrpSpPr/>
              <p:nvPr/>
            </p:nvGrpSpPr>
            <p:grpSpPr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645" name="Google Shape;645;p16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646" name="Google Shape;646;p16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7" name="Google Shape;647;p16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648" name="Google Shape;648;p16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649" name="Google Shape;649;p16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0" name="Google Shape;650;p16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51" name="Google Shape;651;p16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16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53" name="Google Shape;653;p16"/>
            <p:cNvSpPr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16"/>
            <p:cNvSpPr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6" name="Google Shape;656;p16"/>
          <p:cNvGrpSpPr/>
          <p:nvPr/>
        </p:nvGrpSpPr>
        <p:grpSpPr>
          <a:xfrm>
            <a:off x="179014" y="1480949"/>
            <a:ext cx="1081087" cy="1217612"/>
            <a:chOff x="1404" y="3105"/>
            <a:chExt cx="681" cy="767"/>
          </a:xfrm>
        </p:grpSpPr>
        <p:grpSp>
          <p:nvGrpSpPr>
            <p:cNvPr id="657" name="Google Shape;657;p16"/>
            <p:cNvGrpSpPr/>
            <p:nvPr/>
          </p:nvGrpSpPr>
          <p:grpSpPr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658" name="Google Shape;658;p16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659" name="Google Shape;659;p16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660" name="Google Shape;660;p16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1" name="Google Shape;661;p16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sp>
              <p:nvSpPr>
                <p:cNvPr id="662" name="Google Shape;662;p16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3" name="Google Shape;663;p16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64" name="Google Shape;664;p16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665" name="Google Shape;665;p16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666" name="Google Shape;666;p16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7" name="Google Shape;667;p16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668" name="Google Shape;668;p16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669" name="Google Shape;669;p16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0" name="Google Shape;670;p16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671" name="Google Shape;671;p16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672" name="Google Shape;672;p16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3" name="Google Shape;673;p16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74" name="Google Shape;674;p16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675" name="Google Shape;675;p16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676" name="Google Shape;676;p16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677" name="Google Shape;677;p16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678" name="Google Shape;678;p16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679" name="Google Shape;679;p16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680" name="Google Shape;680;p16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681" name="Google Shape;681;p16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682" name="Google Shape;682;p16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683" name="Google Shape;683;p16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4" name="Google Shape;684;p16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85" name="Google Shape;685;p16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6" name="Google Shape;686;p16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7" name="Google Shape;687;p16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688" name="Google Shape;688;p16"/>
            <p:cNvSpPr/>
            <p:nvPr/>
          </p:nvSpPr>
          <p:spPr>
            <a:xfrm rot="10800000">
              <a:off x="1727" y="3105"/>
              <a:ext cx="240" cy="767"/>
            </a:xfrm>
            <a:prstGeom prst="downArrow">
              <a:avLst>
                <a:gd fmla="val 54167" name="adj1"/>
                <a:gd fmla="val 51311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9" name="Google Shape;689;p16"/>
            <p:cNvGrpSpPr/>
            <p:nvPr/>
          </p:nvGrpSpPr>
          <p:grpSpPr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690" name="Google Shape;690;p16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16"/>
              <p:cNvSpPr txBox="1"/>
              <p:nvPr/>
            </p:nvSpPr>
            <p:spPr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</p:txBody>
          </p:sp>
        </p:grpSp>
      </p:grpSp>
      <p:grpSp>
        <p:nvGrpSpPr>
          <p:cNvPr id="692" name="Google Shape;692;p16"/>
          <p:cNvGrpSpPr/>
          <p:nvPr/>
        </p:nvGrpSpPr>
        <p:grpSpPr>
          <a:xfrm>
            <a:off x="830169" y="3326092"/>
            <a:ext cx="544513" cy="244475"/>
            <a:chOff x="844" y="3337"/>
            <a:chExt cx="343" cy="154"/>
          </a:xfrm>
        </p:grpSpPr>
        <p:sp>
          <p:nvSpPr>
            <p:cNvPr id="693" name="Google Shape;693;p16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16"/>
            <p:cNvSpPr txBox="1"/>
            <p:nvPr/>
          </p:nvSpPr>
          <p:spPr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DHCP</a:t>
              </a:r>
              <a:endParaRPr/>
            </a:p>
          </p:txBody>
        </p:sp>
      </p:grpSp>
      <p:sp>
        <p:nvSpPr>
          <p:cNvPr id="695" name="Google Shape;695;p16"/>
          <p:cNvSpPr/>
          <p:nvPr/>
        </p:nvSpPr>
        <p:spPr>
          <a:xfrm>
            <a:off x="5207223" y="3162580"/>
            <a:ext cx="6530667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encapsulation at DHCP server, frame forwarded (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 learning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through LAN, demultiplexing at client</a:t>
            </a:r>
            <a:endParaRPr/>
          </a:p>
          <a:p>
            <a:pPr indent="-24384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6"/>
          <p:cNvSpPr txBox="1"/>
          <p:nvPr/>
        </p:nvSpPr>
        <p:spPr>
          <a:xfrm>
            <a:off x="1998687" y="5515572"/>
            <a:ext cx="811093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Client now has IP address, knows name &amp; addr of DNS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server, IP address of its first-hop router</a:t>
            </a:r>
            <a:endParaRPr/>
          </a:p>
        </p:txBody>
      </p:sp>
      <p:sp>
        <p:nvSpPr>
          <p:cNvPr id="697" name="Google Shape;697;p16"/>
          <p:cNvSpPr/>
          <p:nvPr/>
        </p:nvSpPr>
        <p:spPr>
          <a:xfrm>
            <a:off x="5229766" y="4655782"/>
            <a:ext cx="653066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DHCP client receives DHCP ACK reply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7"/>
          <p:cNvSpPr txBox="1"/>
          <p:nvPr>
            <p:ph type="title"/>
          </p:nvPr>
        </p:nvSpPr>
        <p:spPr>
          <a:xfrm>
            <a:off x="811306" y="30390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900"/>
              <a:t>A day in the life… ARP  </a:t>
            </a:r>
            <a:r>
              <a:rPr lang="en-US" sz="4000"/>
              <a:t>(before DNS, before HTTP)</a:t>
            </a:r>
            <a:endParaRPr/>
          </a:p>
        </p:txBody>
      </p:sp>
      <p:sp>
        <p:nvSpPr>
          <p:cNvPr id="703" name="Google Shape;703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7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5" name="Google Shape;705;p17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17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" name="Google Shape;707;p17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08" name="Google Shape;708;p17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17"/>
          <p:cNvCxnSpPr/>
          <p:nvPr/>
        </p:nvCxnSpPr>
        <p:spPr>
          <a:xfrm flipH="1" rot="10800000">
            <a:off x="3670020" y="4087905"/>
            <a:ext cx="512015" cy="18116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0" name="Google Shape;710;p17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711" name="Google Shape;711;p1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1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3" name="Google Shape;713;p1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14" name="Google Shape;714;p1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1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1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1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18" name="Google Shape;718;p17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19" name="Google Shape;719;p17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720" name="Google Shape;720;p17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721" name="Google Shape;721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2" name="Google Shape;722;p17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723" name="Google Shape;723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4" name="Google Shape;724;p17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17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17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17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17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17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0" name="Google Shape;730;p17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731" name="Google Shape;731;p17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17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17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17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17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17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37" name="Google Shape;737;p17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17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17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17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17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17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3" name="Google Shape;743;p17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744" name="Google Shape;744;p17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745" name="Google Shape;745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6" name="Google Shape;746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7" name="Google Shape;747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8" name="Google Shape;748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2" name="Google Shape;752;p17"/>
          <p:cNvSpPr txBox="1"/>
          <p:nvPr/>
        </p:nvSpPr>
        <p:spPr>
          <a:xfrm>
            <a:off x="2528047" y="4464423"/>
            <a:ext cx="1202765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 has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ARP server</a:t>
            </a:r>
            <a:endParaRPr/>
          </a:p>
        </p:txBody>
      </p:sp>
      <p:sp>
        <p:nvSpPr>
          <p:cNvPr id="753" name="Google Shape;753;p17"/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arriving mobile: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ARP client</a:t>
            </a:r>
            <a:endParaRPr/>
          </a:p>
        </p:txBody>
      </p:sp>
      <p:grpSp>
        <p:nvGrpSpPr>
          <p:cNvPr id="754" name="Google Shape;754;p17"/>
          <p:cNvGrpSpPr/>
          <p:nvPr/>
        </p:nvGrpSpPr>
        <p:grpSpPr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755" name="Google Shape;755;p17"/>
            <p:cNvSpPr/>
            <p:nvPr/>
          </p:nvSpPr>
          <p:spPr>
            <a:xfrm>
              <a:off x="662" y="698"/>
              <a:ext cx="628" cy="1032"/>
            </a:xfrm>
            <a:custGeom>
              <a:rect b="b" l="l" r="r" t="t"/>
              <a:pathLst>
                <a:path extrusionOk="0" h="11424" w="1039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56" name="Google Shape;756;p17"/>
            <p:cNvGrpSpPr/>
            <p:nvPr/>
          </p:nvGrpSpPr>
          <p:grpSpPr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757" name="Google Shape;757;p17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17"/>
              <p:cNvSpPr txBox="1"/>
              <p:nvPr/>
            </p:nvSpPr>
            <p:spPr>
              <a:xfrm>
                <a:off x="638" y="2954"/>
                <a:ext cx="388" cy="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759" name="Google Shape;759;p17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0" name="Google Shape;760;p17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1" name="Google Shape;761;p17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2" name="Google Shape;762;p17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763" name="Google Shape;763;p17"/>
          <p:cNvGrpSpPr/>
          <p:nvPr/>
        </p:nvGrpSpPr>
        <p:grpSpPr>
          <a:xfrm>
            <a:off x="1603750" y="3853801"/>
            <a:ext cx="1195388" cy="808687"/>
            <a:chOff x="1603750" y="3853801"/>
            <a:chExt cx="1195388" cy="808687"/>
          </a:xfrm>
        </p:grpSpPr>
        <p:grpSp>
          <p:nvGrpSpPr>
            <p:cNvPr id="764" name="Google Shape;764;p17"/>
            <p:cNvGrpSpPr/>
            <p:nvPr/>
          </p:nvGrpSpPr>
          <p:grpSpPr>
            <a:xfrm>
              <a:off x="1603750" y="3883240"/>
              <a:ext cx="1195388" cy="779248"/>
              <a:chOff x="934" y="2316"/>
              <a:chExt cx="753" cy="464"/>
            </a:xfrm>
          </p:grpSpPr>
          <p:sp>
            <p:nvSpPr>
              <p:cNvPr id="765" name="Google Shape;765;p17"/>
              <p:cNvSpPr/>
              <p:nvPr/>
            </p:nvSpPr>
            <p:spPr>
              <a:xfrm>
                <a:off x="1424" y="2316"/>
                <a:ext cx="263" cy="441"/>
              </a:xfrm>
              <a:custGeom>
                <a:rect b="b" l="l" r="r" t="t"/>
                <a:pathLst>
                  <a:path extrusionOk="0" h="10000" w="10000">
                    <a:moveTo>
                      <a:pt x="324" y="0"/>
                    </a:moveTo>
                    <a:cubicBezTo>
                      <a:pt x="3883" y="2374"/>
                      <a:pt x="5856" y="3091"/>
                      <a:pt x="10000" y="4764"/>
                    </a:cubicBezTo>
                    <a:lnTo>
                      <a:pt x="139" y="10000"/>
                    </a:lnTo>
                    <a:cubicBezTo>
                      <a:pt x="93" y="8211"/>
                      <a:pt x="46" y="6421"/>
                      <a:pt x="0" y="4632"/>
                    </a:cubicBezTo>
                    <a:lnTo>
                      <a:pt x="324" y="0"/>
                    </a:lnTo>
                    <a:close/>
                  </a:path>
                </a:pathLst>
              </a:custGeom>
              <a:gradFill>
                <a:gsLst>
                  <a:gs pos="0">
                    <a:srgbClr val="BFBFBF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6" name="Google Shape;766;p17"/>
              <p:cNvGrpSpPr/>
              <p:nvPr/>
            </p:nvGrpSpPr>
            <p:grpSpPr>
              <a:xfrm>
                <a:off x="934" y="2412"/>
                <a:ext cx="497" cy="368"/>
                <a:chOff x="572" y="3425"/>
                <a:chExt cx="497" cy="368"/>
              </a:xfrm>
            </p:grpSpPr>
            <p:sp>
              <p:nvSpPr>
                <p:cNvPr id="767" name="Google Shape;767;p17"/>
                <p:cNvSpPr/>
                <p:nvPr/>
              </p:nvSpPr>
              <p:spPr>
                <a:xfrm>
                  <a:off x="576" y="3446"/>
                  <a:ext cx="493" cy="317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bl" dir="189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8" name="Google Shape;768;p17"/>
                <p:cNvSpPr txBox="1"/>
                <p:nvPr/>
              </p:nvSpPr>
              <p:spPr>
                <a:xfrm>
                  <a:off x="646" y="3425"/>
                  <a:ext cx="338" cy="3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Eth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Phy</a:t>
                  </a:r>
                  <a:endParaRPr/>
                </a:p>
              </p:txBody>
            </p:sp>
            <p:cxnSp>
              <p:nvCxnSpPr>
                <p:cNvPr id="769" name="Google Shape;769;p17"/>
                <p:cNvCxnSpPr/>
                <p:nvPr/>
              </p:nvCxnSpPr>
              <p:spPr>
                <a:xfrm>
                  <a:off x="572" y="3448"/>
                  <a:ext cx="48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70" name="Google Shape;770;p17"/>
                <p:cNvCxnSpPr/>
                <p:nvPr/>
              </p:nvCxnSpPr>
              <p:spPr>
                <a:xfrm>
                  <a:off x="575" y="3607"/>
                  <a:ext cx="48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771" name="Google Shape;771;p17"/>
            <p:cNvGrpSpPr/>
            <p:nvPr/>
          </p:nvGrpSpPr>
          <p:grpSpPr>
            <a:xfrm>
              <a:off x="1610474" y="3853801"/>
              <a:ext cx="850900" cy="261938"/>
              <a:chOff x="187" y="1352"/>
              <a:chExt cx="536" cy="165"/>
            </a:xfrm>
          </p:grpSpPr>
          <p:sp>
            <p:nvSpPr>
              <p:cNvPr id="772" name="Google Shape;772;p17"/>
              <p:cNvSpPr/>
              <p:nvPr/>
            </p:nvSpPr>
            <p:spPr>
              <a:xfrm>
                <a:off x="187" y="1365"/>
                <a:ext cx="492" cy="141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17"/>
              <p:cNvSpPr txBox="1"/>
              <p:nvPr/>
            </p:nvSpPr>
            <p:spPr>
              <a:xfrm>
                <a:off x="212" y="1352"/>
                <a:ext cx="511" cy="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</a:t>
                </a: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ARP</a:t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74" name="Google Shape;774;p17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775" name="Google Shape;775;p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17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17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80" name="Google Shape;780;p17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781" name="Google Shape;781;p17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17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83" name="Google Shape;783;p17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84" name="Google Shape;784;p17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785" name="Google Shape;785;p17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17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87" name="Google Shape;787;p17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89" name="Google Shape;789;p17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790" name="Google Shape;790;p17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17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92" name="Google Shape;792;p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3" name="Google Shape;793;p17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794" name="Google Shape;794;p17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17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96" name="Google Shape;796;p17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17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17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17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17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17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7" name="Google Shape;807;p17"/>
          <p:cNvSpPr txBox="1"/>
          <p:nvPr/>
        </p:nvSpPr>
        <p:spPr>
          <a:xfrm>
            <a:off x="5429671" y="1384207"/>
            <a:ext cx="6323058" cy="126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before sending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r>
              <a:rPr b="1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request, need IP address of www.google.com: 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</p:txBody>
      </p:sp>
      <p:grpSp>
        <p:nvGrpSpPr>
          <p:cNvPr id="808" name="Google Shape;808;p17"/>
          <p:cNvGrpSpPr/>
          <p:nvPr/>
        </p:nvGrpSpPr>
        <p:grpSpPr>
          <a:xfrm>
            <a:off x="188913" y="1412782"/>
            <a:ext cx="762000" cy="876300"/>
            <a:chOff x="177" y="729"/>
            <a:chExt cx="480" cy="552"/>
          </a:xfrm>
        </p:grpSpPr>
        <p:grpSp>
          <p:nvGrpSpPr>
            <p:cNvPr id="809" name="Google Shape;809;p17"/>
            <p:cNvGrpSpPr/>
            <p:nvPr/>
          </p:nvGrpSpPr>
          <p:grpSpPr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810" name="Google Shape;810;p17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17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grpSp>
          <p:nvGrpSpPr>
            <p:cNvPr id="812" name="Google Shape;812;p17"/>
            <p:cNvGrpSpPr/>
            <p:nvPr/>
          </p:nvGrpSpPr>
          <p:grpSpPr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813" name="Google Shape;813;p17"/>
              <p:cNvGrpSpPr/>
              <p:nvPr/>
            </p:nvGrpSpPr>
            <p:grpSpPr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814" name="Google Shape;814;p17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5" name="Google Shape;815;p17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sp>
            <p:nvSpPr>
              <p:cNvPr id="816" name="Google Shape;816;p17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17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8" name="Google Shape;818;p17"/>
            <p:cNvGrpSpPr/>
            <p:nvPr/>
          </p:nvGrpSpPr>
          <p:grpSpPr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819" name="Google Shape;819;p17"/>
              <p:cNvGrpSpPr/>
              <p:nvPr/>
            </p:nvGrpSpPr>
            <p:grpSpPr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820" name="Google Shape;820;p17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" name="Google Shape;821;p17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grpSp>
            <p:nvGrpSpPr>
              <p:cNvPr id="822" name="Google Shape;822;p17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823" name="Google Shape;823;p17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" name="Google Shape;824;p17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25" name="Google Shape;825;p17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826" name="Google Shape;826;p17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17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28" name="Google Shape;828;p17"/>
            <p:cNvSpPr/>
            <p:nvPr/>
          </p:nvSpPr>
          <p:spPr>
            <a:xfrm>
              <a:off x="393" y="729"/>
              <a:ext cx="240" cy="552"/>
            </a:xfrm>
            <a:prstGeom prst="downArrow">
              <a:avLst>
                <a:gd fmla="val 54167" name="adj1"/>
                <a:gd fmla="val 36928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9" name="Google Shape;829;p17"/>
          <p:cNvSpPr/>
          <p:nvPr/>
        </p:nvSpPr>
        <p:spPr>
          <a:xfrm>
            <a:off x="5426495" y="2279650"/>
            <a:ext cx="6213373" cy="1306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query created, encapsulated in UDP, encapsulated in IP, encapsulated in Eth.  To send frame to router, need MAC address of router interface: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ARP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7"/>
          <p:cNvSpPr/>
          <p:nvPr/>
        </p:nvSpPr>
        <p:spPr>
          <a:xfrm>
            <a:off x="5417905" y="3769753"/>
            <a:ext cx="6509636" cy="156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ARP query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broadcast, received by router, which replies with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ARP reply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giving MAC address of router interface</a:t>
            </a: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403056" y="4906495"/>
            <a:ext cx="5806890" cy="1292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now knows MAC address of first hop router, so can now send frame containing DNS query </a:t>
            </a: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0" y="2123982"/>
            <a:ext cx="1081088" cy="244475"/>
            <a:chOff x="76" y="2296"/>
            <a:chExt cx="681" cy="154"/>
          </a:xfrm>
        </p:grpSpPr>
        <p:sp>
          <p:nvSpPr>
            <p:cNvPr id="833" name="Google Shape;833;p17"/>
            <p:cNvSpPr/>
            <p:nvPr/>
          </p:nvSpPr>
          <p:spPr>
            <a:xfrm>
              <a:off x="76" y="2305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89" y="2321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687" y="2320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17"/>
            <p:cNvSpPr/>
            <p:nvPr/>
          </p:nvSpPr>
          <p:spPr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17"/>
            <p:cNvSpPr txBox="1"/>
            <p:nvPr/>
          </p:nvSpPr>
          <p:spPr>
            <a:xfrm>
              <a:off x="182" y="2296"/>
              <a:ext cx="501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ARP query</a:t>
              </a:r>
              <a:endParaRPr/>
            </a:p>
          </p:txBody>
        </p:sp>
      </p:grpSp>
      <p:grpSp>
        <p:nvGrpSpPr>
          <p:cNvPr id="838" name="Google Shape;838;p17"/>
          <p:cNvGrpSpPr/>
          <p:nvPr/>
        </p:nvGrpSpPr>
        <p:grpSpPr>
          <a:xfrm>
            <a:off x="1271961" y="1949449"/>
            <a:ext cx="444500" cy="244475"/>
            <a:chOff x="161" y="1354"/>
            <a:chExt cx="280" cy="154"/>
          </a:xfrm>
        </p:grpSpPr>
        <p:sp>
          <p:nvSpPr>
            <p:cNvPr id="839" name="Google Shape;839;p17"/>
            <p:cNvSpPr/>
            <p:nvPr/>
          </p:nvSpPr>
          <p:spPr>
            <a:xfrm>
              <a:off x="192" y="1365"/>
              <a:ext cx="228" cy="14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17"/>
            <p:cNvSpPr txBox="1"/>
            <p:nvPr/>
          </p:nvSpPr>
          <p:spPr>
            <a:xfrm>
              <a:off x="161" y="1354"/>
              <a:ext cx="28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ARP</a:t>
              </a:r>
              <a:endParaRPr/>
            </a:p>
          </p:txBody>
        </p:sp>
      </p:grpSp>
      <p:grpSp>
        <p:nvGrpSpPr>
          <p:cNvPr id="841" name="Google Shape;841;p17"/>
          <p:cNvGrpSpPr/>
          <p:nvPr/>
        </p:nvGrpSpPr>
        <p:grpSpPr>
          <a:xfrm>
            <a:off x="478678" y="4075206"/>
            <a:ext cx="1081088" cy="244475"/>
            <a:chOff x="76" y="2296"/>
            <a:chExt cx="681" cy="154"/>
          </a:xfrm>
        </p:grpSpPr>
        <p:sp>
          <p:nvSpPr>
            <p:cNvPr id="842" name="Google Shape;842;p17"/>
            <p:cNvSpPr/>
            <p:nvPr/>
          </p:nvSpPr>
          <p:spPr>
            <a:xfrm>
              <a:off x="76" y="2305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17"/>
            <p:cNvSpPr/>
            <p:nvPr/>
          </p:nvSpPr>
          <p:spPr>
            <a:xfrm>
              <a:off x="89" y="2321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17"/>
            <p:cNvSpPr/>
            <p:nvPr/>
          </p:nvSpPr>
          <p:spPr>
            <a:xfrm>
              <a:off x="687" y="2320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17"/>
            <p:cNvSpPr/>
            <p:nvPr/>
          </p:nvSpPr>
          <p:spPr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17"/>
            <p:cNvSpPr txBox="1"/>
            <p:nvPr/>
          </p:nvSpPr>
          <p:spPr>
            <a:xfrm>
              <a:off x="182" y="2296"/>
              <a:ext cx="475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ARP reply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8"/>
          <p:cNvSpPr txBox="1"/>
          <p:nvPr>
            <p:ph type="title"/>
          </p:nvPr>
        </p:nvSpPr>
        <p:spPr>
          <a:xfrm>
            <a:off x="811306" y="30390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900"/>
              <a:buFont typeface="Calibri"/>
              <a:buNone/>
            </a:pPr>
            <a:r>
              <a:rPr lang="en-US" sz="4900"/>
              <a:t>A day in the life… using DNS</a:t>
            </a:r>
            <a:endParaRPr/>
          </a:p>
        </p:txBody>
      </p:sp>
      <p:sp>
        <p:nvSpPr>
          <p:cNvPr id="852" name="Google Shape;852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8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4" name="Google Shape;854;p18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5" name="Google Shape;855;p18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6" name="Google Shape;856;p18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57" name="Google Shape;857;p18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8" name="Google Shape;858;p18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859" name="Google Shape;859;p1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61" name="Google Shape;861;p18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62" name="Google Shape;862;p1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1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1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5" name="Google Shape;865;p1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66" name="Google Shape;866;p18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67" name="Google Shape;867;p18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68" name="Google Shape;868;p18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869" name="Google Shape;869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0" name="Google Shape;870;p18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871" name="Google Shape;871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2" name="Google Shape;872;p18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18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18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8" name="Google Shape;878;p18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879" name="Google Shape;879;p1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0" name="Google Shape;880;p1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1" name="Google Shape;881;p1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2" name="Google Shape;882;p1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" name="Google Shape;883;p1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1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5" name="Google Shape;885;p18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18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1" name="Google Shape;891;p18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92" name="Google Shape;892;p18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893" name="Google Shape;893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95" name="Google Shape;895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96" name="Google Shape;896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" name="Google Shape;897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" name="Google Shape;899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00" name="Google Shape;900;p18"/>
          <p:cNvGrpSpPr/>
          <p:nvPr/>
        </p:nvGrpSpPr>
        <p:grpSpPr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901" name="Google Shape;901;p18"/>
            <p:cNvSpPr/>
            <p:nvPr/>
          </p:nvSpPr>
          <p:spPr>
            <a:xfrm>
              <a:off x="662" y="698"/>
              <a:ext cx="628" cy="1032"/>
            </a:xfrm>
            <a:custGeom>
              <a:rect b="b" l="l" r="r" t="t"/>
              <a:pathLst>
                <a:path extrusionOk="0" h="11424" w="1039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2" name="Google Shape;902;p18"/>
            <p:cNvGrpSpPr/>
            <p:nvPr/>
          </p:nvGrpSpPr>
          <p:grpSpPr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903" name="Google Shape;903;p18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" name="Google Shape;904;p18"/>
              <p:cNvSpPr txBox="1"/>
              <p:nvPr/>
            </p:nvSpPr>
            <p:spPr>
              <a:xfrm>
                <a:off x="638" y="2954"/>
                <a:ext cx="388" cy="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905" name="Google Shape;905;p18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6" name="Google Shape;906;p18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7" name="Google Shape;907;p18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8" name="Google Shape;908;p18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09" name="Google Shape;909;p18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910" name="Google Shape;910;p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18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18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5" name="Google Shape;915;p18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916" name="Google Shape;916;p18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p18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8" name="Google Shape;918;p18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9" name="Google Shape;919;p18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920" name="Google Shape;920;p18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p18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2" name="Google Shape;922;p18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4" name="Google Shape;924;p18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925" name="Google Shape;925;p18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18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7" name="Google Shape;927;p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8" name="Google Shape;928;p18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929" name="Google Shape;929;p18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0" name="Google Shape;930;p18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1" name="Google Shape;931;p18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18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18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18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8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18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8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18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2" name="Google Shape;942;p18"/>
          <p:cNvGrpSpPr/>
          <p:nvPr/>
        </p:nvGrpSpPr>
        <p:grpSpPr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943" name="Google Shape;943;p18"/>
            <p:cNvGrpSpPr/>
            <p:nvPr/>
          </p:nvGrpSpPr>
          <p:grpSpPr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944" name="Google Shape;944;p18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5" name="Google Shape;945;p18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grpSp>
          <p:nvGrpSpPr>
            <p:cNvPr id="946" name="Google Shape;946;p18"/>
            <p:cNvGrpSpPr/>
            <p:nvPr/>
          </p:nvGrpSpPr>
          <p:grpSpPr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947" name="Google Shape;947;p18"/>
              <p:cNvGrpSpPr/>
              <p:nvPr/>
            </p:nvGrpSpPr>
            <p:grpSpPr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948" name="Google Shape;948;p18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9" name="Google Shape;949;p18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sp>
            <p:nvSpPr>
              <p:cNvPr id="950" name="Google Shape;950;p18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" name="Google Shape;951;p18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2" name="Google Shape;952;p18"/>
            <p:cNvGrpSpPr/>
            <p:nvPr/>
          </p:nvGrpSpPr>
          <p:grpSpPr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953" name="Google Shape;953;p18"/>
              <p:cNvGrpSpPr/>
              <p:nvPr/>
            </p:nvGrpSpPr>
            <p:grpSpPr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954" name="Google Shape;954;p18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5" name="Google Shape;955;p18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grpSp>
            <p:nvGrpSpPr>
              <p:cNvPr id="956" name="Google Shape;956;p18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57" name="Google Shape;957;p18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8" name="Google Shape;958;p18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59" name="Google Shape;959;p18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60" name="Google Shape;960;p18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" name="Google Shape;961;p18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2" name="Google Shape;962;p18"/>
            <p:cNvSpPr/>
            <p:nvPr/>
          </p:nvSpPr>
          <p:spPr>
            <a:xfrm>
              <a:off x="393" y="729"/>
              <a:ext cx="240" cy="552"/>
            </a:xfrm>
            <a:prstGeom prst="downArrow">
              <a:avLst>
                <a:gd fmla="val 54167" name="adj1"/>
                <a:gd fmla="val 36928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3" name="Google Shape;963;p18"/>
          <p:cNvSpPr/>
          <p:nvPr/>
        </p:nvSpPr>
        <p:spPr>
          <a:xfrm>
            <a:off x="4781672" y="1792392"/>
            <a:ext cx="3494531" cy="2590938"/>
          </a:xfrm>
          <a:custGeom>
            <a:rect b="b" l="l" r="r" t="t"/>
            <a:pathLst>
              <a:path extrusionOk="0" h="9973" w="10000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18"/>
          <p:cNvSpPr txBox="1"/>
          <p:nvPr/>
        </p:nvSpPr>
        <p:spPr>
          <a:xfrm>
            <a:off x="5524500" y="3671606"/>
            <a:ext cx="181133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Comcast network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68.80.0.0/13</a:t>
            </a:r>
            <a:endParaRPr/>
          </a:p>
        </p:txBody>
      </p:sp>
      <p:cxnSp>
        <p:nvCxnSpPr>
          <p:cNvPr id="965" name="Google Shape;965;p18"/>
          <p:cNvCxnSpPr/>
          <p:nvPr/>
        </p:nvCxnSpPr>
        <p:spPr>
          <a:xfrm flipH="1" rot="10800000">
            <a:off x="3670020" y="3535642"/>
            <a:ext cx="1819275" cy="733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6" name="Google Shape;966;p18"/>
          <p:cNvCxnSpPr/>
          <p:nvPr/>
        </p:nvCxnSpPr>
        <p:spPr>
          <a:xfrm flipH="1">
            <a:off x="6949888" y="2731714"/>
            <a:ext cx="260350" cy="2587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7" name="Google Shape;967;p18"/>
          <p:cNvSpPr txBox="1"/>
          <p:nvPr/>
        </p:nvSpPr>
        <p:spPr>
          <a:xfrm>
            <a:off x="7402326" y="2150782"/>
            <a:ext cx="755335" cy="78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8" name="Google Shape;968;p18"/>
          <p:cNvGrpSpPr/>
          <p:nvPr/>
        </p:nvGrpSpPr>
        <p:grpSpPr>
          <a:xfrm flipH="1">
            <a:off x="5635438" y="3627064"/>
            <a:ext cx="400050" cy="152400"/>
            <a:chOff x="3228" y="1776"/>
            <a:chExt cx="252" cy="96"/>
          </a:xfrm>
        </p:grpSpPr>
        <p:cxnSp>
          <p:nvCxnSpPr>
            <p:cNvPr id="969" name="Google Shape;969;p18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0" name="Google Shape;970;p18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71" name="Google Shape;971;p18"/>
          <p:cNvGrpSpPr/>
          <p:nvPr/>
        </p:nvGrpSpPr>
        <p:grpSpPr>
          <a:xfrm rot="10800000">
            <a:off x="5787838" y="3103189"/>
            <a:ext cx="400050" cy="152400"/>
            <a:chOff x="3228" y="1776"/>
            <a:chExt cx="252" cy="96"/>
          </a:xfrm>
        </p:grpSpPr>
        <p:cxnSp>
          <p:nvCxnSpPr>
            <p:cNvPr id="972" name="Google Shape;972;p18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3" name="Google Shape;973;p18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74" name="Google Shape;974;p18"/>
          <p:cNvGrpSpPr/>
          <p:nvPr/>
        </p:nvGrpSpPr>
        <p:grpSpPr>
          <a:xfrm rot="10800000">
            <a:off x="7888101" y="3793751"/>
            <a:ext cx="400050" cy="152400"/>
            <a:chOff x="3228" y="1776"/>
            <a:chExt cx="252" cy="96"/>
          </a:xfrm>
        </p:grpSpPr>
        <p:cxnSp>
          <p:nvCxnSpPr>
            <p:cNvPr id="975" name="Google Shape;975;p18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6" name="Google Shape;976;p18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77" name="Google Shape;977;p18"/>
          <p:cNvGrpSpPr/>
          <p:nvPr/>
        </p:nvGrpSpPr>
        <p:grpSpPr>
          <a:xfrm flipH="1" rot="10800000">
            <a:off x="7064188" y="3812801"/>
            <a:ext cx="295275" cy="114300"/>
            <a:chOff x="3228" y="1776"/>
            <a:chExt cx="252" cy="96"/>
          </a:xfrm>
        </p:grpSpPr>
        <p:cxnSp>
          <p:nvCxnSpPr>
            <p:cNvPr id="978" name="Google Shape;978;p18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9" name="Google Shape;979;p18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80" name="Google Shape;980;p18"/>
          <p:cNvGrpSpPr/>
          <p:nvPr/>
        </p:nvGrpSpPr>
        <p:grpSpPr>
          <a:xfrm rot="-10390311">
            <a:off x="7335651" y="3155576"/>
            <a:ext cx="452437" cy="57150"/>
            <a:chOff x="3228" y="1776"/>
            <a:chExt cx="252" cy="96"/>
          </a:xfrm>
        </p:grpSpPr>
        <p:cxnSp>
          <p:nvCxnSpPr>
            <p:cNvPr id="981" name="Google Shape;981;p18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2" name="Google Shape;982;p18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83" name="Google Shape;983;p18"/>
          <p:cNvGrpSpPr/>
          <p:nvPr/>
        </p:nvGrpSpPr>
        <p:grpSpPr>
          <a:xfrm>
            <a:off x="6478401" y="3360364"/>
            <a:ext cx="295275" cy="114300"/>
            <a:chOff x="3228" y="1776"/>
            <a:chExt cx="252" cy="96"/>
          </a:xfrm>
        </p:grpSpPr>
        <p:cxnSp>
          <p:nvCxnSpPr>
            <p:cNvPr id="984" name="Google Shape;984;p18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5" name="Google Shape;985;p18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86" name="Google Shape;986;p18"/>
          <p:cNvGrpSpPr/>
          <p:nvPr/>
        </p:nvGrpSpPr>
        <p:grpSpPr>
          <a:xfrm flipH="1">
            <a:off x="7116576" y="3360364"/>
            <a:ext cx="295275" cy="114300"/>
            <a:chOff x="3228" y="1776"/>
            <a:chExt cx="252" cy="96"/>
          </a:xfrm>
        </p:grpSpPr>
        <p:cxnSp>
          <p:nvCxnSpPr>
            <p:cNvPr id="987" name="Google Shape;987;p18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8" name="Google Shape;988;p18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89" name="Google Shape;989;p18"/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990" name="Google Shape;99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91" name="Google Shape;99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92" name="Google Shape;99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3" name="Google Shape;99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97" name="Google Shape;997;p18"/>
          <p:cNvGrpSpPr/>
          <p:nvPr/>
        </p:nvGrpSpPr>
        <p:grpSpPr>
          <a:xfrm>
            <a:off x="6497225" y="2978957"/>
            <a:ext cx="853832" cy="472456"/>
            <a:chOff x="7493876" y="2774731"/>
            <a:chExt cx="1481958" cy="894622"/>
          </a:xfrm>
        </p:grpSpPr>
        <p:sp>
          <p:nvSpPr>
            <p:cNvPr id="998" name="Google Shape;998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99" name="Google Shape;999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00" name="Google Shape;1000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01" name="Google Shape;1001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" name="Google Shape;1004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05" name="Google Shape;1005;p18"/>
          <p:cNvGrpSpPr/>
          <p:nvPr/>
        </p:nvGrpSpPr>
        <p:grpSpPr>
          <a:xfrm>
            <a:off x="7241295" y="3709582"/>
            <a:ext cx="853832" cy="472456"/>
            <a:chOff x="7493876" y="2774731"/>
            <a:chExt cx="1481958" cy="894622"/>
          </a:xfrm>
        </p:grpSpPr>
        <p:sp>
          <p:nvSpPr>
            <p:cNvPr id="1006" name="Google Shape;100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07" name="Google Shape;100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08" name="Google Shape;100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09" name="Google Shape;100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13" name="Google Shape;1013;p18"/>
          <p:cNvGrpSpPr/>
          <p:nvPr/>
        </p:nvGrpSpPr>
        <p:grpSpPr>
          <a:xfrm>
            <a:off x="605761" y="1183316"/>
            <a:ext cx="460375" cy="244475"/>
            <a:chOff x="844" y="3337"/>
            <a:chExt cx="290" cy="154"/>
          </a:xfrm>
        </p:grpSpPr>
        <p:sp>
          <p:nvSpPr>
            <p:cNvPr id="1014" name="Google Shape;1014;p18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8"/>
            <p:cNvSpPr txBox="1"/>
            <p:nvPr/>
          </p:nvSpPr>
          <p:spPr>
            <a:xfrm>
              <a:off x="844" y="3337"/>
              <a:ext cx="285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DNS</a:t>
              </a:r>
              <a:endParaRPr/>
            </a:p>
          </p:txBody>
        </p:sp>
      </p:grpSp>
      <p:grpSp>
        <p:nvGrpSpPr>
          <p:cNvPr id="1016" name="Google Shape;1016;p18"/>
          <p:cNvGrpSpPr/>
          <p:nvPr/>
        </p:nvGrpSpPr>
        <p:grpSpPr>
          <a:xfrm>
            <a:off x="545436" y="1408741"/>
            <a:ext cx="561975" cy="244475"/>
            <a:chOff x="740" y="3209"/>
            <a:chExt cx="354" cy="154"/>
          </a:xfrm>
        </p:grpSpPr>
        <p:grpSp>
          <p:nvGrpSpPr>
            <p:cNvPr id="1017" name="Google Shape;1017;p18"/>
            <p:cNvGrpSpPr/>
            <p:nvPr/>
          </p:nvGrpSpPr>
          <p:grpSpPr>
            <a:xfrm>
              <a:off x="794" y="3209"/>
              <a:ext cx="290" cy="154"/>
              <a:chOff x="844" y="3337"/>
              <a:chExt cx="290" cy="154"/>
            </a:xfrm>
          </p:grpSpPr>
          <p:sp>
            <p:nvSpPr>
              <p:cNvPr id="1018" name="Google Shape;1018;p18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" name="Google Shape;1019;p18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sp>
          <p:nvSpPr>
            <p:cNvPr id="1020" name="Google Shape;1020;p18"/>
            <p:cNvSpPr/>
            <p:nvPr/>
          </p:nvSpPr>
          <p:spPr>
            <a:xfrm>
              <a:off x="750" y="3244"/>
              <a:ext cx="88" cy="82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8"/>
            <p:cNvSpPr/>
            <p:nvPr/>
          </p:nvSpPr>
          <p:spPr>
            <a:xfrm>
              <a:off x="740" y="3238"/>
              <a:ext cx="354" cy="94"/>
            </a:xfrm>
            <a:prstGeom prst="rect">
              <a:avLst/>
            </a:prstGeom>
            <a:noFill/>
            <a:ln cap="flat" cmpd="sng" w="9525">
              <a:solidFill>
                <a:srgbClr val="00CC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2" name="Google Shape;1022;p18"/>
          <p:cNvGrpSpPr/>
          <p:nvPr/>
        </p:nvGrpSpPr>
        <p:grpSpPr>
          <a:xfrm>
            <a:off x="545436" y="1643691"/>
            <a:ext cx="561975" cy="244475"/>
            <a:chOff x="836" y="3305"/>
            <a:chExt cx="354" cy="154"/>
          </a:xfrm>
        </p:grpSpPr>
        <p:grpSp>
          <p:nvGrpSpPr>
            <p:cNvPr id="1023" name="Google Shape;1023;p18"/>
            <p:cNvGrpSpPr/>
            <p:nvPr/>
          </p:nvGrpSpPr>
          <p:grpSpPr>
            <a:xfrm>
              <a:off x="890" y="3305"/>
              <a:ext cx="290" cy="154"/>
              <a:chOff x="844" y="3337"/>
              <a:chExt cx="290" cy="154"/>
            </a:xfrm>
          </p:grpSpPr>
          <p:sp>
            <p:nvSpPr>
              <p:cNvPr id="1024" name="Google Shape;1024;p18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5" name="Google Shape;1025;p18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grpSp>
          <p:nvGrpSpPr>
            <p:cNvPr id="1026" name="Google Shape;1026;p18"/>
            <p:cNvGrpSpPr/>
            <p:nvPr/>
          </p:nvGrpSpPr>
          <p:grpSpPr>
            <a:xfrm>
              <a:off x="836" y="3334"/>
              <a:ext cx="354" cy="94"/>
              <a:chOff x="836" y="3334"/>
              <a:chExt cx="354" cy="94"/>
            </a:xfrm>
          </p:grpSpPr>
          <p:sp>
            <p:nvSpPr>
              <p:cNvPr id="1027" name="Google Shape;1027;p18"/>
              <p:cNvSpPr/>
              <p:nvPr/>
            </p:nvSpPr>
            <p:spPr>
              <a:xfrm>
                <a:off x="846" y="3340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8" name="Google Shape;1028;p18"/>
              <p:cNvSpPr/>
              <p:nvPr/>
            </p:nvSpPr>
            <p:spPr>
              <a:xfrm>
                <a:off x="836" y="333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29" name="Google Shape;1029;p18"/>
          <p:cNvGrpSpPr/>
          <p:nvPr/>
        </p:nvGrpSpPr>
        <p:grpSpPr>
          <a:xfrm>
            <a:off x="366049" y="1675441"/>
            <a:ext cx="762000" cy="177800"/>
            <a:chOff x="627" y="3377"/>
            <a:chExt cx="480" cy="112"/>
          </a:xfrm>
        </p:grpSpPr>
        <p:sp>
          <p:nvSpPr>
            <p:cNvPr id="1030" name="Google Shape;1030;p18"/>
            <p:cNvSpPr/>
            <p:nvPr/>
          </p:nvSpPr>
          <p:spPr>
            <a:xfrm>
              <a:off x="636" y="3388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18"/>
            <p:cNvSpPr/>
            <p:nvPr/>
          </p:nvSpPr>
          <p:spPr>
            <a:xfrm>
              <a:off x="627" y="3377"/>
              <a:ext cx="480" cy="112"/>
            </a:xfrm>
            <a:prstGeom prst="rect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2" name="Google Shape;1032;p18"/>
          <p:cNvGrpSpPr/>
          <p:nvPr/>
        </p:nvGrpSpPr>
        <p:grpSpPr>
          <a:xfrm>
            <a:off x="170786" y="1907216"/>
            <a:ext cx="1081088" cy="244475"/>
            <a:chOff x="504" y="3523"/>
            <a:chExt cx="681" cy="154"/>
          </a:xfrm>
        </p:grpSpPr>
        <p:grpSp>
          <p:nvGrpSpPr>
            <p:cNvPr id="1033" name="Google Shape;1033;p18"/>
            <p:cNvGrpSpPr/>
            <p:nvPr/>
          </p:nvGrpSpPr>
          <p:grpSpPr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1034" name="Google Shape;1034;p18"/>
              <p:cNvGrpSpPr/>
              <p:nvPr/>
            </p:nvGrpSpPr>
            <p:grpSpPr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1035" name="Google Shape;1035;p18"/>
                <p:cNvGrpSpPr/>
                <p:nvPr/>
              </p:nvGrpSpPr>
              <p:grpSpPr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1036" name="Google Shape;1036;p18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37" name="Google Shape;1037;p18"/>
                  <p:cNvSpPr txBox="1"/>
                  <p:nvPr/>
                </p:nvSpPr>
                <p:spPr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DNS</a:t>
                    </a:r>
                    <a:endParaRPr/>
                  </a:p>
                </p:txBody>
              </p:sp>
            </p:grpSp>
            <p:grpSp>
              <p:nvGrpSpPr>
                <p:cNvPr id="1038" name="Google Shape;1038;p18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039" name="Google Shape;1039;p18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40" name="Google Shape;1040;p18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41" name="Google Shape;1041;p18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2" name="Google Shape;1042;p18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3" name="Google Shape;1043;p18"/>
            <p:cNvSpPr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18"/>
            <p:cNvSpPr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18"/>
            <p:cNvSpPr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6" name="Google Shape;1046;p18"/>
          <p:cNvSpPr/>
          <p:nvPr/>
        </p:nvSpPr>
        <p:spPr>
          <a:xfrm>
            <a:off x="713711" y="1183316"/>
            <a:ext cx="381000" cy="1166813"/>
          </a:xfrm>
          <a:prstGeom prst="downArrow">
            <a:avLst>
              <a:gd fmla="val 54167" name="adj1"/>
              <a:gd fmla="val 49170" name="adj2"/>
            </a:avLst>
          </a:prstGeom>
          <a:gradFill>
            <a:gsLst>
              <a:gs pos="0">
                <a:srgbClr val="FF0000">
                  <a:alpha val="24705"/>
                </a:srgbClr>
              </a:gs>
              <a:gs pos="100000">
                <a:srgbClr val="FF0000">
                  <a:alpha val="2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7" name="Google Shape;1047;p18"/>
          <p:cNvGrpSpPr/>
          <p:nvPr/>
        </p:nvGrpSpPr>
        <p:grpSpPr>
          <a:xfrm>
            <a:off x="185921" y="2355452"/>
            <a:ext cx="1081088" cy="244475"/>
            <a:chOff x="504" y="3523"/>
            <a:chExt cx="681" cy="154"/>
          </a:xfrm>
        </p:grpSpPr>
        <p:grpSp>
          <p:nvGrpSpPr>
            <p:cNvPr id="1048" name="Google Shape;1048;p18"/>
            <p:cNvGrpSpPr/>
            <p:nvPr/>
          </p:nvGrpSpPr>
          <p:grpSpPr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1049" name="Google Shape;1049;p18"/>
              <p:cNvGrpSpPr/>
              <p:nvPr/>
            </p:nvGrpSpPr>
            <p:grpSpPr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1050" name="Google Shape;1050;p18"/>
                <p:cNvGrpSpPr/>
                <p:nvPr/>
              </p:nvGrpSpPr>
              <p:grpSpPr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1051" name="Google Shape;1051;p18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52" name="Google Shape;1052;p18"/>
                  <p:cNvSpPr txBox="1"/>
                  <p:nvPr/>
                </p:nvSpPr>
                <p:spPr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DNS</a:t>
                    </a:r>
                    <a:endParaRPr/>
                  </a:p>
                </p:txBody>
              </p:sp>
            </p:grpSp>
            <p:grpSp>
              <p:nvGrpSpPr>
                <p:cNvPr id="1053" name="Google Shape;1053;p18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054" name="Google Shape;1054;p18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55" name="Google Shape;1055;p18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56" name="Google Shape;1056;p18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18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8" name="Google Shape;1058;p18"/>
            <p:cNvSpPr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8"/>
            <p:cNvSpPr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18"/>
            <p:cNvSpPr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1" name="Google Shape;1061;p18"/>
          <p:cNvSpPr/>
          <p:nvPr/>
        </p:nvSpPr>
        <p:spPr>
          <a:xfrm>
            <a:off x="402783" y="4451462"/>
            <a:ext cx="3216717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datagram containing DNS query forwarded via LAN switch from client to 1</a:t>
            </a:r>
            <a:r>
              <a:rPr b="0" baseline="30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hop router</a:t>
            </a:r>
            <a:endParaRPr/>
          </a:p>
        </p:txBody>
      </p:sp>
      <p:sp>
        <p:nvSpPr>
          <p:cNvPr id="1062" name="Google Shape;1062;p18"/>
          <p:cNvSpPr/>
          <p:nvPr/>
        </p:nvSpPr>
        <p:spPr>
          <a:xfrm>
            <a:off x="4396562" y="4626361"/>
            <a:ext cx="5141138" cy="1482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datagram forwarded from campus network into Comcast network, routed (tables created by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RIP, OSPF, IS-IS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and/or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BGP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routing protocols) to DNS server</a:t>
            </a:r>
            <a:endParaRPr/>
          </a:p>
        </p:txBody>
      </p:sp>
      <p:sp>
        <p:nvSpPr>
          <p:cNvPr id="1063" name="Google Shape;1063;p18"/>
          <p:cNvSpPr/>
          <p:nvPr/>
        </p:nvSpPr>
        <p:spPr>
          <a:xfrm>
            <a:off x="8631237" y="1456182"/>
            <a:ext cx="3230563" cy="1292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demuxed to DNS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replies to client with IP address of www.google.com </a:t>
            </a:r>
            <a:endParaRPr/>
          </a:p>
        </p:txBody>
      </p:sp>
      <p:grpSp>
        <p:nvGrpSpPr>
          <p:cNvPr id="1064" name="Google Shape;1064;p18"/>
          <p:cNvGrpSpPr/>
          <p:nvPr/>
        </p:nvGrpSpPr>
        <p:grpSpPr>
          <a:xfrm>
            <a:off x="5809991" y="1480142"/>
            <a:ext cx="1317624" cy="1314450"/>
            <a:chOff x="931" y="1941"/>
            <a:chExt cx="830" cy="828"/>
          </a:xfrm>
        </p:grpSpPr>
        <p:sp>
          <p:nvSpPr>
            <p:cNvPr id="1065" name="Google Shape;1065;p18"/>
            <p:cNvSpPr/>
            <p:nvPr/>
          </p:nvSpPr>
          <p:spPr>
            <a:xfrm>
              <a:off x="1424" y="1965"/>
              <a:ext cx="337" cy="801"/>
            </a:xfrm>
            <a:custGeom>
              <a:rect b="b" l="l" r="r" t="t"/>
              <a:pathLst>
                <a:path extrusionOk="0" h="10000" w="10024">
                  <a:moveTo>
                    <a:pt x="254" y="0"/>
                  </a:moveTo>
                  <a:cubicBezTo>
                    <a:pt x="3503" y="1673"/>
                    <a:pt x="6158" y="3657"/>
                    <a:pt x="10000" y="5019"/>
                  </a:cubicBezTo>
                  <a:lnTo>
                    <a:pt x="10024" y="6921"/>
                  </a:lnTo>
                  <a:cubicBezTo>
                    <a:pt x="4939" y="8134"/>
                    <a:pt x="3414" y="8974"/>
                    <a:pt x="109" y="10000"/>
                  </a:cubicBezTo>
                  <a:cubicBezTo>
                    <a:pt x="151" y="8893"/>
                    <a:pt x="194" y="7786"/>
                    <a:pt x="236" y="6679"/>
                  </a:cubicBezTo>
                  <a:cubicBezTo>
                    <a:pt x="157" y="5997"/>
                    <a:pt x="79" y="5314"/>
                    <a:pt x="0" y="4632"/>
                  </a:cubicBezTo>
                  <a:cubicBezTo>
                    <a:pt x="85" y="3088"/>
                    <a:pt x="169" y="1544"/>
                    <a:pt x="254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99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6" name="Google Shape;1066;p18"/>
            <p:cNvGrpSpPr/>
            <p:nvPr/>
          </p:nvGrpSpPr>
          <p:grpSpPr>
            <a:xfrm>
              <a:off x="931" y="1941"/>
              <a:ext cx="500" cy="828"/>
              <a:chOff x="569" y="2954"/>
              <a:chExt cx="500" cy="828"/>
            </a:xfrm>
          </p:grpSpPr>
          <p:sp>
            <p:nvSpPr>
              <p:cNvPr id="1067" name="Google Shape;1067;p18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" name="Google Shape;1068;p18"/>
              <p:cNvSpPr txBox="1"/>
              <p:nvPr/>
            </p:nvSpPr>
            <p:spPr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1069" name="Google Shape;1069;p18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0" name="Google Shape;1070;p18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1" name="Google Shape;1071;p18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2" name="Google Shape;1072;p18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073" name="Google Shape;1073;p18"/>
          <p:cNvGrpSpPr/>
          <p:nvPr/>
        </p:nvGrpSpPr>
        <p:grpSpPr>
          <a:xfrm>
            <a:off x="4711442" y="1600792"/>
            <a:ext cx="1081087" cy="1217613"/>
            <a:chOff x="1404" y="3105"/>
            <a:chExt cx="681" cy="767"/>
          </a:xfrm>
        </p:grpSpPr>
        <p:grpSp>
          <p:nvGrpSpPr>
            <p:cNvPr id="1074" name="Google Shape;1074;p18"/>
            <p:cNvGrpSpPr/>
            <p:nvPr/>
          </p:nvGrpSpPr>
          <p:grpSpPr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1075" name="Google Shape;1075;p18"/>
              <p:cNvGrpSpPr/>
              <p:nvPr/>
            </p:nvGrpSpPr>
            <p:grpSpPr>
              <a:xfrm>
                <a:off x="278" y="886"/>
                <a:ext cx="354" cy="154"/>
                <a:chOff x="740" y="3209"/>
                <a:chExt cx="354" cy="154"/>
              </a:xfrm>
            </p:grpSpPr>
            <p:grpSp>
              <p:nvGrpSpPr>
                <p:cNvPr id="1076" name="Google Shape;1076;p18"/>
                <p:cNvGrpSpPr/>
                <p:nvPr/>
              </p:nvGrpSpPr>
              <p:grpSpPr>
                <a:xfrm>
                  <a:off x="794" y="3209"/>
                  <a:ext cx="290" cy="154"/>
                  <a:chOff x="844" y="3337"/>
                  <a:chExt cx="290" cy="154"/>
                </a:xfrm>
              </p:grpSpPr>
              <p:sp>
                <p:nvSpPr>
                  <p:cNvPr id="1077" name="Google Shape;1077;p18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8" name="Google Shape;1078;p18"/>
                  <p:cNvSpPr txBox="1"/>
                  <p:nvPr/>
                </p:nvSpPr>
                <p:spPr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DNS</a:t>
                    </a:r>
                    <a:endParaRPr/>
                  </a:p>
                </p:txBody>
              </p:sp>
            </p:grpSp>
            <p:sp>
              <p:nvSpPr>
                <p:cNvPr id="1079" name="Google Shape;1079;p18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0" name="Google Shape;1080;p18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81" name="Google Shape;1081;p18"/>
              <p:cNvGrpSpPr/>
              <p:nvPr/>
            </p:nvGrpSpPr>
            <p:grpSpPr>
              <a:xfrm>
                <a:off x="278" y="1034"/>
                <a:ext cx="354" cy="154"/>
                <a:chOff x="836" y="3305"/>
                <a:chExt cx="354" cy="154"/>
              </a:xfrm>
            </p:grpSpPr>
            <p:grpSp>
              <p:nvGrpSpPr>
                <p:cNvPr id="1082" name="Google Shape;1082;p18"/>
                <p:cNvGrpSpPr/>
                <p:nvPr/>
              </p:nvGrpSpPr>
              <p:grpSpPr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1083" name="Google Shape;1083;p18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4" name="Google Shape;1084;p18"/>
                  <p:cNvSpPr txBox="1"/>
                  <p:nvPr/>
                </p:nvSpPr>
                <p:spPr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DNS</a:t>
                    </a:r>
                    <a:endParaRPr/>
                  </a:p>
                </p:txBody>
              </p:sp>
            </p:grpSp>
            <p:grpSp>
              <p:nvGrpSpPr>
                <p:cNvPr id="1085" name="Google Shape;1085;p18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086" name="Google Shape;1086;p18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7" name="Google Shape;1087;p18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088" name="Google Shape;1088;p18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089" name="Google Shape;1089;p18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0" name="Google Shape;1090;p18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91" name="Google Shape;1091;p18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1092" name="Google Shape;1092;p18"/>
                <p:cNvGrpSpPr/>
                <p:nvPr/>
              </p:nvGrpSpPr>
              <p:grpSpPr>
                <a:xfrm>
                  <a:off x="623" y="3523"/>
                  <a:ext cx="480" cy="154"/>
                  <a:chOff x="723" y="3453"/>
                  <a:chExt cx="480" cy="154"/>
                </a:xfrm>
              </p:grpSpPr>
              <p:grpSp>
                <p:nvGrpSpPr>
                  <p:cNvPr id="1093" name="Google Shape;1093;p18"/>
                  <p:cNvGrpSpPr/>
                  <p:nvPr/>
                </p:nvGrpSpPr>
                <p:grpSpPr>
                  <a:xfrm>
                    <a:off x="836" y="3453"/>
                    <a:ext cx="354" cy="154"/>
                    <a:chOff x="836" y="3305"/>
                    <a:chExt cx="354" cy="154"/>
                  </a:xfrm>
                </p:grpSpPr>
                <p:grpSp>
                  <p:nvGrpSpPr>
                    <p:cNvPr id="1094" name="Google Shape;1094;p18"/>
                    <p:cNvGrpSpPr/>
                    <p:nvPr/>
                  </p:nvGrpSpPr>
                  <p:grpSpPr>
                    <a:xfrm>
                      <a:off x="890" y="3305"/>
                      <a:ext cx="290" cy="154"/>
                      <a:chOff x="844" y="3337"/>
                      <a:chExt cx="290" cy="154"/>
                    </a:xfrm>
                  </p:grpSpPr>
                  <p:sp>
                    <p:nvSpPr>
                      <p:cNvPr id="1095" name="Google Shape;1095;p18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096" name="Google Shape;1096;p18"/>
                      <p:cNvSpPr txBox="1"/>
                      <p:nvPr/>
                    </p:nvSpPr>
                    <p:spPr>
                      <a:xfrm>
                        <a:off x="844" y="3337"/>
                        <a:ext cx="28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DNS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1097" name="Google Shape;1097;p18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098" name="Google Shape;1098;p18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099" name="Google Shape;1099;p18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1100" name="Google Shape;1100;p18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1" name="Google Shape;1101;p18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102" name="Google Shape;1102;p18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3" name="Google Shape;1103;p18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4" name="Google Shape;1104;p18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105" name="Google Shape;1105;p18"/>
            <p:cNvSpPr/>
            <p:nvPr/>
          </p:nvSpPr>
          <p:spPr>
            <a:xfrm rot="10800000">
              <a:off x="1727" y="3105"/>
              <a:ext cx="240" cy="767"/>
            </a:xfrm>
            <a:prstGeom prst="downArrow">
              <a:avLst>
                <a:gd fmla="val 54167" name="adj1"/>
                <a:gd fmla="val 51311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6" name="Google Shape;1106;p18"/>
            <p:cNvGrpSpPr/>
            <p:nvPr/>
          </p:nvGrpSpPr>
          <p:grpSpPr>
            <a:xfrm>
              <a:off x="1695" y="3227"/>
              <a:ext cx="290" cy="154"/>
              <a:chOff x="844" y="3337"/>
              <a:chExt cx="290" cy="154"/>
            </a:xfrm>
          </p:grpSpPr>
          <p:sp>
            <p:nvSpPr>
              <p:cNvPr id="1107" name="Google Shape;1107;p18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8" name="Google Shape;1108;p18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</p:grpSp>
      <p:grpSp>
        <p:nvGrpSpPr>
          <p:cNvPr id="1109" name="Google Shape;1109;p18"/>
          <p:cNvGrpSpPr/>
          <p:nvPr/>
        </p:nvGrpSpPr>
        <p:grpSpPr>
          <a:xfrm>
            <a:off x="7043551" y="2123701"/>
            <a:ext cx="358775" cy="623888"/>
            <a:chOff x="4140" y="429"/>
            <a:chExt cx="1425" cy="2396"/>
          </a:xfrm>
        </p:grpSpPr>
        <p:sp>
          <p:nvSpPr>
            <p:cNvPr id="1110" name="Google Shape;1110;p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18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8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5" name="Google Shape;1115;p18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1116" name="Google Shape;1116;p18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18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8" name="Google Shape;1118;p18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9" name="Google Shape;1119;p18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1120" name="Google Shape;1120;p18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1" name="Google Shape;1121;p18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22" name="Google Shape;1122;p18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8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24" name="Google Shape;1124;p18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1125" name="Google Shape;1125;p18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6" name="Google Shape;1126;p18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27" name="Google Shape;1127;p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28" name="Google Shape;1128;p18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1129" name="Google Shape;1129;p18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Google Shape;1130;p18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1" name="Google Shape;1131;p18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18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18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18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18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18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18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18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2" name="Google Shape;1142;p18"/>
          <p:cNvGrpSpPr/>
          <p:nvPr/>
        </p:nvGrpSpPr>
        <p:grpSpPr>
          <a:xfrm>
            <a:off x="4395993" y="1490721"/>
            <a:ext cx="460375" cy="487292"/>
            <a:chOff x="4568161" y="1475417"/>
            <a:chExt cx="460375" cy="487292"/>
          </a:xfrm>
        </p:grpSpPr>
        <p:grpSp>
          <p:nvGrpSpPr>
            <p:cNvPr id="1143" name="Google Shape;1143;p18"/>
            <p:cNvGrpSpPr/>
            <p:nvPr/>
          </p:nvGrpSpPr>
          <p:grpSpPr>
            <a:xfrm>
              <a:off x="4568161" y="1500816"/>
              <a:ext cx="460375" cy="244475"/>
              <a:chOff x="844" y="3337"/>
              <a:chExt cx="290" cy="154"/>
            </a:xfrm>
          </p:grpSpPr>
          <p:sp>
            <p:nvSpPr>
              <p:cNvPr id="1144" name="Google Shape;1144;p18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" name="Google Shape;1145;p18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sp>
          <p:nvSpPr>
            <p:cNvPr id="1146" name="Google Shape;1146;p18"/>
            <p:cNvSpPr/>
            <p:nvPr/>
          </p:nvSpPr>
          <p:spPr>
            <a:xfrm>
              <a:off x="4627915" y="1475417"/>
              <a:ext cx="381000" cy="487292"/>
            </a:xfrm>
            <a:prstGeom prst="downArrow">
              <a:avLst>
                <a:gd fmla="val 54167" name="adj1"/>
                <a:gd fmla="val 49170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19"/>
          <p:cNvSpPr txBox="1"/>
          <p:nvPr>
            <p:ph type="title"/>
          </p:nvPr>
        </p:nvSpPr>
        <p:spPr>
          <a:xfrm>
            <a:off x="811306" y="303903"/>
            <a:ext cx="10999694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 day in the life…TCP connection carrying HTTP</a:t>
            </a:r>
            <a:endParaRPr b="0"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19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5" name="Google Shape;1155;p19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6" name="Google Shape;1156;p19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19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58" name="Google Shape;1158;p19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9" name="Google Shape;1159;p19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1160" name="Google Shape;1160;p1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1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62" name="Google Shape;1162;p1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63" name="Google Shape;1163;p1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4" name="Google Shape;1164;p1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5" name="Google Shape;1165;p1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6" name="Google Shape;1166;p1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67" name="Google Shape;1167;p19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68" name="Google Shape;1168;p19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69" name="Google Shape;1169;p19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170" name="Google Shape;1170;p19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1171" name="Google Shape;1171;p1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72" name="Google Shape;1172;p1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73" name="Google Shape;1173;p1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74" name="Google Shape;1174;p1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1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1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7" name="Google Shape;1177;p1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8" name="Google Shape;1178;p19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1179" name="Google Shape;1179;p1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9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9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84" name="Google Shape;1184;p19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1185" name="Google Shape;1185;p19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6" name="Google Shape;1186;p19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87" name="Google Shape;1187;p19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88" name="Google Shape;1188;p19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1189" name="Google Shape;1189;p19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0" name="Google Shape;1190;p19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91" name="Google Shape;1191;p19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19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93" name="Google Shape;1193;p19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1194" name="Google Shape;1194;p19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5" name="Google Shape;1195;p19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96" name="Google Shape;1196;p1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97" name="Google Shape;1197;p19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1198" name="Google Shape;1198;p19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9" name="Google Shape;1199;p19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0" name="Google Shape;1200;p19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19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1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9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9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9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9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9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9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1" name="Google Shape;1211;p19"/>
          <p:cNvGrpSpPr/>
          <p:nvPr/>
        </p:nvGrpSpPr>
        <p:grpSpPr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1212" name="Google Shape;1212;p19"/>
            <p:cNvGrpSpPr/>
            <p:nvPr/>
          </p:nvGrpSpPr>
          <p:grpSpPr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1213" name="Google Shape;1213;p19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4" name="Google Shape;1214;p19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grpSp>
          <p:nvGrpSpPr>
            <p:cNvPr id="1215" name="Google Shape;1215;p19"/>
            <p:cNvGrpSpPr/>
            <p:nvPr/>
          </p:nvGrpSpPr>
          <p:grpSpPr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1216" name="Google Shape;1216;p19"/>
              <p:cNvGrpSpPr/>
              <p:nvPr/>
            </p:nvGrpSpPr>
            <p:grpSpPr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1217" name="Google Shape;1217;p19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8" name="Google Shape;1218;p19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sp>
            <p:nvSpPr>
              <p:cNvPr id="1219" name="Google Shape;1219;p19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0" name="Google Shape;1220;p19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21" name="Google Shape;1221;p19"/>
            <p:cNvGrpSpPr/>
            <p:nvPr/>
          </p:nvGrpSpPr>
          <p:grpSpPr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1222" name="Google Shape;1222;p19"/>
              <p:cNvGrpSpPr/>
              <p:nvPr/>
            </p:nvGrpSpPr>
            <p:grpSpPr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1223" name="Google Shape;1223;p19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4" name="Google Shape;1224;p19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grpSp>
            <p:nvGrpSpPr>
              <p:cNvPr id="1225" name="Google Shape;1225;p19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1226" name="Google Shape;1226;p19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7" name="Google Shape;1227;p19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228" name="Google Shape;1228;p19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1229" name="Google Shape;1229;p19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0" name="Google Shape;1230;p19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31" name="Google Shape;1231;p19"/>
            <p:cNvSpPr/>
            <p:nvPr/>
          </p:nvSpPr>
          <p:spPr>
            <a:xfrm>
              <a:off x="393" y="729"/>
              <a:ext cx="240" cy="552"/>
            </a:xfrm>
            <a:prstGeom prst="downArrow">
              <a:avLst>
                <a:gd fmla="val 54167" name="adj1"/>
                <a:gd fmla="val 36928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2" name="Google Shape;1232;p19"/>
          <p:cNvSpPr/>
          <p:nvPr/>
        </p:nvSpPr>
        <p:spPr>
          <a:xfrm>
            <a:off x="4781673" y="1792392"/>
            <a:ext cx="3486028" cy="2590938"/>
          </a:xfrm>
          <a:custGeom>
            <a:rect b="b" l="l" r="r" t="t"/>
            <a:pathLst>
              <a:path extrusionOk="0" h="9973" w="10000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19"/>
          <p:cNvSpPr txBox="1"/>
          <p:nvPr/>
        </p:nvSpPr>
        <p:spPr>
          <a:xfrm>
            <a:off x="4838700" y="2566706"/>
            <a:ext cx="181133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Comcast network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68.80.0.0/13</a:t>
            </a:r>
            <a:endParaRPr/>
          </a:p>
        </p:txBody>
      </p:sp>
      <p:cxnSp>
        <p:nvCxnSpPr>
          <p:cNvPr id="1234" name="Google Shape;1234;p19"/>
          <p:cNvCxnSpPr/>
          <p:nvPr/>
        </p:nvCxnSpPr>
        <p:spPr>
          <a:xfrm flipH="1" rot="10800000">
            <a:off x="3670020" y="3535642"/>
            <a:ext cx="1819275" cy="733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35" name="Google Shape;1235;p19"/>
          <p:cNvGrpSpPr/>
          <p:nvPr/>
        </p:nvGrpSpPr>
        <p:grpSpPr>
          <a:xfrm flipH="1">
            <a:off x="5635438" y="3627064"/>
            <a:ext cx="400050" cy="152400"/>
            <a:chOff x="3228" y="1776"/>
            <a:chExt cx="252" cy="96"/>
          </a:xfrm>
        </p:grpSpPr>
        <p:cxnSp>
          <p:nvCxnSpPr>
            <p:cNvPr id="1236" name="Google Shape;1236;p19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7" name="Google Shape;1237;p19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38" name="Google Shape;1238;p19"/>
          <p:cNvGrpSpPr/>
          <p:nvPr/>
        </p:nvGrpSpPr>
        <p:grpSpPr>
          <a:xfrm rot="10800000">
            <a:off x="5787838" y="3103189"/>
            <a:ext cx="400050" cy="152400"/>
            <a:chOff x="3228" y="1776"/>
            <a:chExt cx="252" cy="96"/>
          </a:xfrm>
        </p:grpSpPr>
        <p:cxnSp>
          <p:nvCxnSpPr>
            <p:cNvPr id="1239" name="Google Shape;1239;p19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0" name="Google Shape;1240;p19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41" name="Google Shape;1241;p19"/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1242" name="Google Shape;1242;p1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43" name="Google Shape;1243;p1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44" name="Google Shape;1244;p1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45" name="Google Shape;1245;p1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6" name="Google Shape;1246;p1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7" name="Google Shape;1247;p1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1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49" name="Google Shape;1249;p19"/>
          <p:cNvSpPr/>
          <p:nvPr/>
        </p:nvSpPr>
        <p:spPr>
          <a:xfrm>
            <a:off x="915707" y="4764367"/>
            <a:ext cx="6419850" cy="1620838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0" name="Google Shape;1250;p19"/>
          <p:cNvCxnSpPr/>
          <p:nvPr/>
        </p:nvCxnSpPr>
        <p:spPr>
          <a:xfrm flipH="1" rot="10800000">
            <a:off x="4306607" y="3692805"/>
            <a:ext cx="1174750" cy="165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1" name="Google Shape;1251;p19"/>
          <p:cNvCxnSpPr/>
          <p:nvPr/>
        </p:nvCxnSpPr>
        <p:spPr>
          <a:xfrm flipH="1" rot="10800000">
            <a:off x="2885795" y="5512080"/>
            <a:ext cx="94297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2" name="Google Shape;1252;p19"/>
          <p:cNvSpPr txBox="1"/>
          <p:nvPr/>
        </p:nvSpPr>
        <p:spPr>
          <a:xfrm>
            <a:off x="1798357" y="5904192"/>
            <a:ext cx="15954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64.233.169.105</a:t>
            </a:r>
            <a:endParaRPr/>
          </a:p>
        </p:txBody>
      </p:sp>
      <p:sp>
        <p:nvSpPr>
          <p:cNvPr id="1253" name="Google Shape;1253;p19"/>
          <p:cNvSpPr txBox="1"/>
          <p:nvPr/>
        </p:nvSpPr>
        <p:spPr>
          <a:xfrm>
            <a:off x="1779307" y="5648605"/>
            <a:ext cx="190629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web server</a:t>
            </a:r>
            <a:endParaRPr/>
          </a:p>
        </p:txBody>
      </p:sp>
      <p:grpSp>
        <p:nvGrpSpPr>
          <p:cNvPr id="1254" name="Google Shape;1254;p19"/>
          <p:cNvGrpSpPr/>
          <p:nvPr/>
        </p:nvGrpSpPr>
        <p:grpSpPr>
          <a:xfrm>
            <a:off x="3765270" y="5718455"/>
            <a:ext cx="295275" cy="114300"/>
            <a:chOff x="3228" y="1776"/>
            <a:chExt cx="252" cy="96"/>
          </a:xfrm>
        </p:grpSpPr>
        <p:cxnSp>
          <p:nvCxnSpPr>
            <p:cNvPr id="1255" name="Google Shape;1255;p19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6" name="Google Shape;1256;p19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57" name="Google Shape;1257;p19"/>
          <p:cNvGrpSpPr/>
          <p:nvPr/>
        </p:nvGrpSpPr>
        <p:grpSpPr>
          <a:xfrm flipH="1">
            <a:off x="4403445" y="5718455"/>
            <a:ext cx="295275" cy="114300"/>
            <a:chOff x="3228" y="1776"/>
            <a:chExt cx="252" cy="96"/>
          </a:xfrm>
        </p:grpSpPr>
        <p:cxnSp>
          <p:nvCxnSpPr>
            <p:cNvPr id="1258" name="Google Shape;1258;p19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9" name="Google Shape;1259;p19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60" name="Google Shape;1260;p19"/>
          <p:cNvGrpSpPr/>
          <p:nvPr/>
        </p:nvGrpSpPr>
        <p:grpSpPr>
          <a:xfrm rot="10800000">
            <a:off x="4608232" y="5423180"/>
            <a:ext cx="295275" cy="114300"/>
            <a:chOff x="3228" y="1776"/>
            <a:chExt cx="252" cy="96"/>
          </a:xfrm>
        </p:grpSpPr>
        <p:cxnSp>
          <p:nvCxnSpPr>
            <p:cNvPr id="1261" name="Google Shape;1261;p19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2" name="Google Shape;1262;p19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63" name="Google Shape;1263;p19"/>
          <p:cNvGrpSpPr/>
          <p:nvPr/>
        </p:nvGrpSpPr>
        <p:grpSpPr>
          <a:xfrm>
            <a:off x="3885507" y="5310841"/>
            <a:ext cx="809010" cy="502026"/>
            <a:chOff x="7493876" y="2774731"/>
            <a:chExt cx="1481958" cy="894622"/>
          </a:xfrm>
        </p:grpSpPr>
        <p:sp>
          <p:nvSpPr>
            <p:cNvPr id="1264" name="Google Shape;1264;p1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65" name="Google Shape;1265;p1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66" name="Google Shape;1266;p1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67" name="Google Shape;1267;p1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8" name="Google Shape;1268;p1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9" name="Google Shape;1269;p1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0" name="Google Shape;1270;p1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71" name="Google Shape;1271;p19"/>
          <p:cNvGrpSpPr/>
          <p:nvPr/>
        </p:nvGrpSpPr>
        <p:grpSpPr>
          <a:xfrm>
            <a:off x="2703232" y="5072342"/>
            <a:ext cx="358775" cy="623888"/>
            <a:chOff x="4140" y="429"/>
            <a:chExt cx="1425" cy="2396"/>
          </a:xfrm>
        </p:grpSpPr>
        <p:sp>
          <p:nvSpPr>
            <p:cNvPr id="1272" name="Google Shape;1272;p1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9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1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1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19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7" name="Google Shape;1277;p19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1278" name="Google Shape;1278;p19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19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0" name="Google Shape;1280;p19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1" name="Google Shape;1281;p19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1282" name="Google Shape;1282;p19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19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4" name="Google Shape;1284;p19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9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6" name="Google Shape;1286;p19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1287" name="Google Shape;1287;p19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8" name="Google Shape;1288;p19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9" name="Google Shape;1289;p1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90" name="Google Shape;1290;p19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1291" name="Google Shape;1291;p19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19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93" name="Google Shape;1293;p19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1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1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19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1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19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19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19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19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19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19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4" name="Google Shape;1304;p19"/>
          <p:cNvGrpSpPr/>
          <p:nvPr/>
        </p:nvGrpSpPr>
        <p:grpSpPr>
          <a:xfrm>
            <a:off x="1323975" y="1595438"/>
            <a:ext cx="976312" cy="1460500"/>
            <a:chOff x="651" y="681"/>
            <a:chExt cx="615" cy="920"/>
          </a:xfrm>
        </p:grpSpPr>
        <p:sp>
          <p:nvSpPr>
            <p:cNvPr id="1305" name="Google Shape;1305;p19"/>
            <p:cNvSpPr/>
            <p:nvPr/>
          </p:nvSpPr>
          <p:spPr>
            <a:xfrm>
              <a:off x="662" y="698"/>
              <a:ext cx="604" cy="903"/>
            </a:xfrm>
            <a:custGeom>
              <a:rect b="b" l="l" r="r" t="t"/>
              <a:pathLst>
                <a:path extrusionOk="0" h="10000" w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7951" y="8723"/>
                  </a:lnTo>
                  <a:lnTo>
                    <a:pt x="8212" y="0"/>
                  </a:ln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>
                    <a:alpha val="77647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6" name="Google Shape;1306;p19"/>
            <p:cNvGrpSpPr/>
            <p:nvPr/>
          </p:nvGrpSpPr>
          <p:grpSpPr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1307" name="Google Shape;1307;p19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8" name="Google Shape;1308;p19"/>
              <p:cNvSpPr txBox="1"/>
              <p:nvPr/>
            </p:nvSpPr>
            <p:spPr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1309" name="Google Shape;1309;p19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0" name="Google Shape;1310;p19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1" name="Google Shape;1311;p19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2" name="Google Shape;1312;p19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13" name="Google Shape;1313;p19"/>
          <p:cNvGrpSpPr/>
          <p:nvPr/>
        </p:nvGrpSpPr>
        <p:grpSpPr>
          <a:xfrm>
            <a:off x="571500" y="1568450"/>
            <a:ext cx="515937" cy="333375"/>
            <a:chOff x="328" y="678"/>
            <a:chExt cx="325" cy="210"/>
          </a:xfrm>
        </p:grpSpPr>
        <p:grpSp>
          <p:nvGrpSpPr>
            <p:cNvPr id="1314" name="Google Shape;1314;p19"/>
            <p:cNvGrpSpPr/>
            <p:nvPr/>
          </p:nvGrpSpPr>
          <p:grpSpPr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1315" name="Google Shape;1315;p19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6" name="Google Shape;1316;p19"/>
              <p:cNvSpPr txBox="1"/>
              <p:nvPr/>
            </p:nvSpPr>
            <p:spPr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</p:txBody>
          </p:sp>
        </p:grpSp>
        <p:sp>
          <p:nvSpPr>
            <p:cNvPr id="1317" name="Google Shape;1317;p19"/>
            <p:cNvSpPr/>
            <p:nvPr/>
          </p:nvSpPr>
          <p:spPr>
            <a:xfrm>
              <a:off x="396" y="678"/>
              <a:ext cx="240" cy="210"/>
            </a:xfrm>
            <a:prstGeom prst="downArrow">
              <a:avLst>
                <a:gd fmla="val 49167" name="adj1"/>
                <a:gd fmla="val 24292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8" name="Google Shape;1318;p19"/>
          <p:cNvSpPr/>
          <p:nvPr/>
        </p:nvSpPr>
        <p:spPr>
          <a:xfrm>
            <a:off x="7088188" y="1568450"/>
            <a:ext cx="4227512" cy="950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send HTTP request, client first opens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TCP socket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web server</a:t>
            </a:r>
            <a:endParaRPr/>
          </a:p>
        </p:txBody>
      </p:sp>
      <p:sp>
        <p:nvSpPr>
          <p:cNvPr id="1319" name="Google Shape;1319;p19"/>
          <p:cNvSpPr/>
          <p:nvPr/>
        </p:nvSpPr>
        <p:spPr>
          <a:xfrm>
            <a:off x="7040562" y="2924175"/>
            <a:ext cx="4783138" cy="985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SYN segment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(step 1 in TCP 3-way handshake)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inter-domain routed to web server</a:t>
            </a:r>
            <a:endParaRPr/>
          </a:p>
        </p:txBody>
      </p:sp>
      <p:sp>
        <p:nvSpPr>
          <p:cNvPr id="1320" name="Google Shape;1320;p19"/>
          <p:cNvSpPr/>
          <p:nvPr/>
        </p:nvSpPr>
        <p:spPr>
          <a:xfrm>
            <a:off x="7081837" y="5397500"/>
            <a:ext cx="4997745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connection established!</a:t>
            </a:r>
            <a:endParaRPr/>
          </a:p>
        </p:txBody>
      </p:sp>
      <p:grpSp>
        <p:nvGrpSpPr>
          <p:cNvPr id="1321" name="Google Shape;1321;p19"/>
          <p:cNvGrpSpPr/>
          <p:nvPr/>
        </p:nvGrpSpPr>
        <p:grpSpPr>
          <a:xfrm>
            <a:off x="207962" y="2414588"/>
            <a:ext cx="1081088" cy="244475"/>
            <a:chOff x="410" y="1508"/>
            <a:chExt cx="681" cy="154"/>
          </a:xfrm>
        </p:grpSpPr>
        <p:sp>
          <p:nvSpPr>
            <p:cNvPr id="1322" name="Google Shape;1322;p19"/>
            <p:cNvSpPr/>
            <p:nvPr/>
          </p:nvSpPr>
          <p:spPr>
            <a:xfrm>
              <a:off x="410" y="1511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9"/>
            <p:cNvSpPr/>
            <p:nvPr/>
          </p:nvSpPr>
          <p:spPr>
            <a:xfrm>
              <a:off x="538" y="1536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9"/>
            <p:cNvSpPr/>
            <p:nvPr/>
          </p:nvSpPr>
          <p:spPr>
            <a:xfrm>
              <a:off x="529" y="1525"/>
              <a:ext cx="480" cy="112"/>
            </a:xfrm>
            <a:prstGeom prst="rect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9"/>
            <p:cNvSpPr/>
            <p:nvPr/>
          </p:nvSpPr>
          <p:spPr>
            <a:xfrm>
              <a:off x="423" y="1527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9"/>
            <p:cNvSpPr/>
            <p:nvPr/>
          </p:nvSpPr>
          <p:spPr>
            <a:xfrm>
              <a:off x="1021" y="1526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27" name="Google Shape;1327;p19"/>
            <p:cNvGrpSpPr/>
            <p:nvPr/>
          </p:nvGrpSpPr>
          <p:grpSpPr>
            <a:xfrm>
              <a:off x="647" y="1508"/>
              <a:ext cx="354" cy="154"/>
              <a:chOff x="290" y="875"/>
              <a:chExt cx="354" cy="154"/>
            </a:xfrm>
          </p:grpSpPr>
          <p:sp>
            <p:nvSpPr>
              <p:cNvPr id="1328" name="Google Shape;1328;p19"/>
              <p:cNvSpPr/>
              <p:nvPr/>
            </p:nvSpPr>
            <p:spPr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9" name="Google Shape;1329;p19"/>
              <p:cNvSpPr/>
              <p:nvPr/>
            </p:nvSpPr>
            <p:spPr>
              <a:xfrm>
                <a:off x="290" y="903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0" name="Google Shape;1330;p19"/>
              <p:cNvSpPr txBox="1"/>
              <p:nvPr/>
            </p:nvSpPr>
            <p:spPr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</a:t>
                </a:r>
                <a:endParaRPr/>
              </a:p>
            </p:txBody>
          </p:sp>
        </p:grpSp>
      </p:grpSp>
      <p:grpSp>
        <p:nvGrpSpPr>
          <p:cNvPr id="1331" name="Google Shape;1331;p19"/>
          <p:cNvGrpSpPr/>
          <p:nvPr/>
        </p:nvGrpSpPr>
        <p:grpSpPr>
          <a:xfrm>
            <a:off x="549275" y="4546600"/>
            <a:ext cx="1081088" cy="782638"/>
            <a:chOff x="59" y="863"/>
            <a:chExt cx="681" cy="493"/>
          </a:xfrm>
        </p:grpSpPr>
        <p:grpSp>
          <p:nvGrpSpPr>
            <p:cNvPr id="1332" name="Google Shape;1332;p19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1333" name="Google Shape;1333;p19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4" name="Google Shape;1334;p19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5" name="Google Shape;1335;p19"/>
            <p:cNvGrpSpPr/>
            <p:nvPr/>
          </p:nvGrpSpPr>
          <p:grpSpPr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1336" name="Google Shape;1336;p19"/>
              <p:cNvSpPr/>
              <p:nvPr/>
            </p:nvSpPr>
            <p:spPr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7" name="Google Shape;1337;p19"/>
              <p:cNvSpPr/>
              <p:nvPr/>
            </p:nvSpPr>
            <p:spPr>
              <a:xfrm>
                <a:off x="290" y="903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8" name="Google Shape;1338;p19"/>
              <p:cNvSpPr txBox="1"/>
              <p:nvPr/>
            </p:nvSpPr>
            <p:spPr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</a:t>
                </a:r>
                <a:endParaRPr/>
              </a:p>
            </p:txBody>
          </p:sp>
        </p:grpSp>
        <p:grpSp>
          <p:nvGrpSpPr>
            <p:cNvPr id="1339" name="Google Shape;1339;p19"/>
            <p:cNvGrpSpPr/>
            <p:nvPr/>
          </p:nvGrpSpPr>
          <p:grpSpPr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1340" name="Google Shape;1340;p19"/>
              <p:cNvSpPr/>
              <p:nvPr/>
            </p:nvSpPr>
            <p:spPr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1" name="Google Shape;1341;p19"/>
              <p:cNvSpPr/>
              <p:nvPr/>
            </p:nvSpPr>
            <p:spPr>
              <a:xfrm>
                <a:off x="290" y="903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2" name="Google Shape;1342;p19"/>
              <p:cNvSpPr txBox="1"/>
              <p:nvPr/>
            </p:nvSpPr>
            <p:spPr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</a:t>
                </a:r>
                <a:endParaRPr/>
              </a:p>
            </p:txBody>
          </p:sp>
        </p:grpSp>
        <p:grpSp>
          <p:nvGrpSpPr>
            <p:cNvPr id="1343" name="Google Shape;1343;p19"/>
            <p:cNvGrpSpPr/>
            <p:nvPr/>
          </p:nvGrpSpPr>
          <p:grpSpPr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1344" name="Google Shape;1344;p19"/>
              <p:cNvSpPr/>
              <p:nvPr/>
            </p:nvSpPr>
            <p:spPr>
              <a:xfrm>
                <a:off x="410" y="1511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19"/>
              <p:cNvSpPr/>
              <p:nvPr/>
            </p:nvSpPr>
            <p:spPr>
              <a:xfrm>
                <a:off x="538" y="1536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p19"/>
              <p:cNvSpPr/>
              <p:nvPr/>
            </p:nvSpPr>
            <p:spPr>
              <a:xfrm>
                <a:off x="529" y="1525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7" name="Google Shape;1347;p19"/>
              <p:cNvSpPr/>
              <p:nvPr/>
            </p:nvSpPr>
            <p:spPr>
              <a:xfrm>
                <a:off x="423" y="1527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8" name="Google Shape;1348;p19"/>
              <p:cNvSpPr/>
              <p:nvPr/>
            </p:nvSpPr>
            <p:spPr>
              <a:xfrm>
                <a:off x="1021" y="1526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49" name="Google Shape;1349;p19"/>
              <p:cNvGrpSpPr/>
              <p:nvPr/>
            </p:nvGrpSpPr>
            <p:grpSpPr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1350" name="Google Shape;1350;p19"/>
                <p:cNvSpPr/>
                <p:nvPr/>
              </p:nvSpPr>
              <p:spPr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1" name="Google Shape;1351;p19"/>
                <p:cNvSpPr/>
                <p:nvPr/>
              </p:nvSpPr>
              <p:spPr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2" name="Google Shape;1352;p19"/>
                <p:cNvSpPr txBox="1"/>
                <p:nvPr/>
              </p:nvSpPr>
              <p:spPr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SYN</a:t>
                  </a:r>
                  <a:endParaRPr/>
                </a:p>
              </p:txBody>
            </p:sp>
          </p:grpSp>
        </p:grpSp>
      </p:grpSp>
      <p:grpSp>
        <p:nvGrpSpPr>
          <p:cNvPr id="1353" name="Google Shape;1353;p19"/>
          <p:cNvGrpSpPr/>
          <p:nvPr/>
        </p:nvGrpSpPr>
        <p:grpSpPr>
          <a:xfrm>
            <a:off x="1751013" y="4270375"/>
            <a:ext cx="973137" cy="1416050"/>
            <a:chOff x="4000" y="1895"/>
            <a:chExt cx="613" cy="892"/>
          </a:xfrm>
        </p:grpSpPr>
        <p:sp>
          <p:nvSpPr>
            <p:cNvPr id="1354" name="Google Shape;1354;p19"/>
            <p:cNvSpPr/>
            <p:nvPr/>
          </p:nvSpPr>
          <p:spPr>
            <a:xfrm>
              <a:off x="4011" y="1912"/>
              <a:ext cx="602" cy="875"/>
            </a:xfrm>
            <a:custGeom>
              <a:rect b="b" l="l" r="r" t="t"/>
              <a:pathLst>
                <a:path extrusionOk="0" h="10000" w="10000">
                  <a:moveTo>
                    <a:pt x="8239" y="0"/>
                  </a:moveTo>
                  <a:cubicBezTo>
                    <a:pt x="8793" y="2137"/>
                    <a:pt x="8981" y="4731"/>
                    <a:pt x="9900" y="6411"/>
                  </a:cubicBezTo>
                  <a:cubicBezTo>
                    <a:pt x="10055" y="7271"/>
                    <a:pt x="9844" y="9139"/>
                    <a:pt x="10000" y="10000"/>
                  </a:cubicBezTo>
                  <a:cubicBezTo>
                    <a:pt x="6733" y="9577"/>
                    <a:pt x="3333" y="9337"/>
                    <a:pt x="0" y="9005"/>
                  </a:cubicBezTo>
                  <a:lnTo>
                    <a:pt x="7575" y="8572"/>
                  </a:lnTo>
                  <a:cubicBezTo>
                    <a:pt x="7797" y="5714"/>
                    <a:pt x="8017" y="2858"/>
                    <a:pt x="8239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99000">
                  <a:srgbClr val="FFFFFF">
                    <a:alpha val="81960"/>
                  </a:srgbClr>
                </a:gs>
                <a:gs pos="100000">
                  <a:srgbClr val="FFFFFF">
                    <a:alpha val="8196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55" name="Google Shape;1355;p19"/>
            <p:cNvGrpSpPr/>
            <p:nvPr/>
          </p:nvGrpSpPr>
          <p:grpSpPr>
            <a:xfrm>
              <a:off x="4000" y="1895"/>
              <a:ext cx="500" cy="834"/>
              <a:chOff x="569" y="2954"/>
              <a:chExt cx="500" cy="834"/>
            </a:xfrm>
          </p:grpSpPr>
          <p:sp>
            <p:nvSpPr>
              <p:cNvPr id="1356" name="Google Shape;1356;p19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p19"/>
              <p:cNvSpPr txBox="1"/>
              <p:nvPr/>
            </p:nvSpPr>
            <p:spPr>
              <a:xfrm>
                <a:off x="645" y="2954"/>
                <a:ext cx="374" cy="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omic Sans MS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1358" name="Google Shape;1358;p19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9" name="Google Shape;1359;p19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0" name="Google Shape;1360;p19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1" name="Google Shape;1361;p19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62" name="Google Shape;1362;p19"/>
          <p:cNvGrpSpPr/>
          <p:nvPr/>
        </p:nvGrpSpPr>
        <p:grpSpPr>
          <a:xfrm>
            <a:off x="207962" y="1870075"/>
            <a:ext cx="1081088" cy="782638"/>
            <a:chOff x="59" y="863"/>
            <a:chExt cx="681" cy="493"/>
          </a:xfrm>
        </p:grpSpPr>
        <p:grpSp>
          <p:nvGrpSpPr>
            <p:cNvPr id="1363" name="Google Shape;1363;p19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1364" name="Google Shape;1364;p19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19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6" name="Google Shape;1366;p19"/>
            <p:cNvGrpSpPr/>
            <p:nvPr/>
          </p:nvGrpSpPr>
          <p:grpSpPr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1367" name="Google Shape;1367;p19"/>
              <p:cNvSpPr/>
              <p:nvPr/>
            </p:nvSpPr>
            <p:spPr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p19"/>
              <p:cNvSpPr/>
              <p:nvPr/>
            </p:nvSpPr>
            <p:spPr>
              <a:xfrm>
                <a:off x="290" y="903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19"/>
              <p:cNvSpPr txBox="1"/>
              <p:nvPr/>
            </p:nvSpPr>
            <p:spPr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</a:t>
                </a:r>
                <a:endParaRPr/>
              </a:p>
            </p:txBody>
          </p:sp>
        </p:grpSp>
        <p:grpSp>
          <p:nvGrpSpPr>
            <p:cNvPr id="1370" name="Google Shape;1370;p19"/>
            <p:cNvGrpSpPr/>
            <p:nvPr/>
          </p:nvGrpSpPr>
          <p:grpSpPr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1371" name="Google Shape;1371;p19"/>
              <p:cNvSpPr/>
              <p:nvPr/>
            </p:nvSpPr>
            <p:spPr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p19"/>
              <p:cNvSpPr/>
              <p:nvPr/>
            </p:nvSpPr>
            <p:spPr>
              <a:xfrm>
                <a:off x="290" y="903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19"/>
              <p:cNvSpPr txBox="1"/>
              <p:nvPr/>
            </p:nvSpPr>
            <p:spPr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</a:t>
                </a:r>
                <a:endParaRPr/>
              </a:p>
            </p:txBody>
          </p:sp>
        </p:grpSp>
        <p:grpSp>
          <p:nvGrpSpPr>
            <p:cNvPr id="1374" name="Google Shape;1374;p19"/>
            <p:cNvGrpSpPr/>
            <p:nvPr/>
          </p:nvGrpSpPr>
          <p:grpSpPr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1375" name="Google Shape;1375;p19"/>
              <p:cNvSpPr/>
              <p:nvPr/>
            </p:nvSpPr>
            <p:spPr>
              <a:xfrm>
                <a:off x="410" y="1511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6" name="Google Shape;1376;p19"/>
              <p:cNvSpPr/>
              <p:nvPr/>
            </p:nvSpPr>
            <p:spPr>
              <a:xfrm>
                <a:off x="538" y="1536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7" name="Google Shape;1377;p19"/>
              <p:cNvSpPr/>
              <p:nvPr/>
            </p:nvSpPr>
            <p:spPr>
              <a:xfrm>
                <a:off x="529" y="1525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19"/>
              <p:cNvSpPr/>
              <p:nvPr/>
            </p:nvSpPr>
            <p:spPr>
              <a:xfrm>
                <a:off x="423" y="1527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19"/>
              <p:cNvSpPr/>
              <p:nvPr/>
            </p:nvSpPr>
            <p:spPr>
              <a:xfrm>
                <a:off x="1021" y="1526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80" name="Google Shape;1380;p19"/>
              <p:cNvGrpSpPr/>
              <p:nvPr/>
            </p:nvGrpSpPr>
            <p:grpSpPr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1381" name="Google Shape;1381;p19"/>
                <p:cNvSpPr/>
                <p:nvPr/>
              </p:nvSpPr>
              <p:spPr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2" name="Google Shape;1382;p19"/>
                <p:cNvSpPr/>
                <p:nvPr/>
              </p:nvSpPr>
              <p:spPr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3" name="Google Shape;1383;p19"/>
                <p:cNvSpPr txBox="1"/>
                <p:nvPr/>
              </p:nvSpPr>
              <p:spPr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SYN</a:t>
                  </a:r>
                  <a:endParaRPr/>
                </a:p>
              </p:txBody>
            </p:sp>
          </p:grpSp>
        </p:grpSp>
      </p:grpSp>
      <p:sp>
        <p:nvSpPr>
          <p:cNvPr id="1384" name="Google Shape;1384;p19"/>
          <p:cNvSpPr/>
          <p:nvPr/>
        </p:nvSpPr>
        <p:spPr>
          <a:xfrm>
            <a:off x="1220788" y="4757738"/>
            <a:ext cx="1841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5" name="Google Shape;1385;p19"/>
          <p:cNvGrpSpPr/>
          <p:nvPr/>
        </p:nvGrpSpPr>
        <p:grpSpPr>
          <a:xfrm>
            <a:off x="547688" y="4546600"/>
            <a:ext cx="1081087" cy="782638"/>
            <a:chOff x="2675" y="3676"/>
            <a:chExt cx="681" cy="493"/>
          </a:xfrm>
        </p:grpSpPr>
        <p:grpSp>
          <p:nvGrpSpPr>
            <p:cNvPr id="1386" name="Google Shape;1386;p19"/>
            <p:cNvGrpSpPr/>
            <p:nvPr/>
          </p:nvGrpSpPr>
          <p:grpSpPr>
            <a:xfrm>
              <a:off x="2793" y="3855"/>
              <a:ext cx="480" cy="112"/>
              <a:chOff x="627" y="3377"/>
              <a:chExt cx="480" cy="112"/>
            </a:xfrm>
          </p:grpSpPr>
          <p:sp>
            <p:nvSpPr>
              <p:cNvPr id="1387" name="Google Shape;1387;p19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8" name="Google Shape;1388;p19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9" name="Google Shape;1389;p19"/>
            <p:cNvGrpSpPr/>
            <p:nvPr/>
          </p:nvGrpSpPr>
          <p:grpSpPr>
            <a:xfrm>
              <a:off x="2855" y="3676"/>
              <a:ext cx="444" cy="154"/>
              <a:chOff x="2717" y="3676"/>
              <a:chExt cx="444" cy="154"/>
            </a:xfrm>
          </p:grpSpPr>
          <p:sp>
            <p:nvSpPr>
              <p:cNvPr id="1390" name="Google Shape;1390;p19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1" name="Google Shape;1391;p19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2" name="Google Shape;1392;p19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  <p:sp>
          <p:nvSpPr>
            <p:cNvPr id="1393" name="Google Shape;1393;p19"/>
            <p:cNvSpPr/>
            <p:nvPr/>
          </p:nvSpPr>
          <p:spPr>
            <a:xfrm>
              <a:off x="2675" y="4018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9"/>
            <p:cNvSpPr/>
            <p:nvPr/>
          </p:nvSpPr>
          <p:spPr>
            <a:xfrm>
              <a:off x="2803" y="4043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9"/>
            <p:cNvSpPr/>
            <p:nvPr/>
          </p:nvSpPr>
          <p:spPr>
            <a:xfrm>
              <a:off x="2794" y="4032"/>
              <a:ext cx="480" cy="112"/>
            </a:xfrm>
            <a:prstGeom prst="rect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9"/>
            <p:cNvSpPr/>
            <p:nvPr/>
          </p:nvSpPr>
          <p:spPr>
            <a:xfrm>
              <a:off x="2688" y="4034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9"/>
            <p:cNvSpPr/>
            <p:nvPr/>
          </p:nvSpPr>
          <p:spPr>
            <a:xfrm>
              <a:off x="3286" y="4033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8" name="Google Shape;1398;p19"/>
            <p:cNvGrpSpPr/>
            <p:nvPr/>
          </p:nvGrpSpPr>
          <p:grpSpPr>
            <a:xfrm>
              <a:off x="2864" y="3835"/>
              <a:ext cx="444" cy="154"/>
              <a:chOff x="2717" y="3676"/>
              <a:chExt cx="444" cy="154"/>
            </a:xfrm>
          </p:grpSpPr>
          <p:sp>
            <p:nvSpPr>
              <p:cNvPr id="1399" name="Google Shape;1399;p19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p19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1" name="Google Shape;1401;p19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  <p:grpSp>
          <p:nvGrpSpPr>
            <p:cNvPr id="1402" name="Google Shape;1402;p19"/>
            <p:cNvGrpSpPr/>
            <p:nvPr/>
          </p:nvGrpSpPr>
          <p:grpSpPr>
            <a:xfrm>
              <a:off x="2867" y="4015"/>
              <a:ext cx="444" cy="154"/>
              <a:chOff x="2717" y="3676"/>
              <a:chExt cx="444" cy="154"/>
            </a:xfrm>
          </p:grpSpPr>
          <p:sp>
            <p:nvSpPr>
              <p:cNvPr id="1403" name="Google Shape;1403;p19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4" name="Google Shape;1404;p19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p19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</p:grpSp>
      <p:grpSp>
        <p:nvGrpSpPr>
          <p:cNvPr id="1406" name="Google Shape;1406;p19"/>
          <p:cNvGrpSpPr/>
          <p:nvPr/>
        </p:nvGrpSpPr>
        <p:grpSpPr>
          <a:xfrm>
            <a:off x="211137" y="1868488"/>
            <a:ext cx="1081088" cy="782637"/>
            <a:chOff x="2613" y="3554"/>
            <a:chExt cx="681" cy="493"/>
          </a:xfrm>
        </p:grpSpPr>
        <p:grpSp>
          <p:nvGrpSpPr>
            <p:cNvPr id="1407" name="Google Shape;1407;p19"/>
            <p:cNvGrpSpPr/>
            <p:nvPr/>
          </p:nvGrpSpPr>
          <p:grpSpPr>
            <a:xfrm>
              <a:off x="2731" y="3733"/>
              <a:ext cx="480" cy="112"/>
              <a:chOff x="627" y="3377"/>
              <a:chExt cx="480" cy="112"/>
            </a:xfrm>
          </p:grpSpPr>
          <p:sp>
            <p:nvSpPr>
              <p:cNvPr id="1408" name="Google Shape;1408;p19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p19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10" name="Google Shape;1410;p19"/>
            <p:cNvGrpSpPr/>
            <p:nvPr/>
          </p:nvGrpSpPr>
          <p:grpSpPr>
            <a:xfrm>
              <a:off x="2793" y="3554"/>
              <a:ext cx="444" cy="154"/>
              <a:chOff x="2717" y="3676"/>
              <a:chExt cx="444" cy="154"/>
            </a:xfrm>
          </p:grpSpPr>
          <p:sp>
            <p:nvSpPr>
              <p:cNvPr id="1411" name="Google Shape;1411;p19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2" name="Google Shape;1412;p19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19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  <p:sp>
          <p:nvSpPr>
            <p:cNvPr id="1414" name="Google Shape;1414;p19"/>
            <p:cNvSpPr/>
            <p:nvPr/>
          </p:nvSpPr>
          <p:spPr>
            <a:xfrm>
              <a:off x="2613" y="3896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19"/>
            <p:cNvSpPr/>
            <p:nvPr/>
          </p:nvSpPr>
          <p:spPr>
            <a:xfrm>
              <a:off x="2741" y="3921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19"/>
            <p:cNvSpPr/>
            <p:nvPr/>
          </p:nvSpPr>
          <p:spPr>
            <a:xfrm>
              <a:off x="2732" y="3910"/>
              <a:ext cx="480" cy="112"/>
            </a:xfrm>
            <a:prstGeom prst="rect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19"/>
            <p:cNvSpPr/>
            <p:nvPr/>
          </p:nvSpPr>
          <p:spPr>
            <a:xfrm>
              <a:off x="2626" y="3912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19"/>
            <p:cNvSpPr/>
            <p:nvPr/>
          </p:nvSpPr>
          <p:spPr>
            <a:xfrm>
              <a:off x="3224" y="3911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19" name="Google Shape;1419;p19"/>
            <p:cNvGrpSpPr/>
            <p:nvPr/>
          </p:nvGrpSpPr>
          <p:grpSpPr>
            <a:xfrm>
              <a:off x="2802" y="3713"/>
              <a:ext cx="444" cy="154"/>
              <a:chOff x="2717" y="3676"/>
              <a:chExt cx="444" cy="154"/>
            </a:xfrm>
          </p:grpSpPr>
          <p:sp>
            <p:nvSpPr>
              <p:cNvPr id="1420" name="Google Shape;1420;p19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19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2" name="Google Shape;1422;p19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  <p:grpSp>
          <p:nvGrpSpPr>
            <p:cNvPr id="1423" name="Google Shape;1423;p19"/>
            <p:cNvGrpSpPr/>
            <p:nvPr/>
          </p:nvGrpSpPr>
          <p:grpSpPr>
            <a:xfrm>
              <a:off x="2805" y="3893"/>
              <a:ext cx="444" cy="154"/>
              <a:chOff x="2717" y="3676"/>
              <a:chExt cx="444" cy="154"/>
            </a:xfrm>
          </p:grpSpPr>
          <p:sp>
            <p:nvSpPr>
              <p:cNvPr id="1424" name="Google Shape;1424;p19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19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6" name="Google Shape;1426;p19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</p:grpSp>
      <p:grpSp>
        <p:nvGrpSpPr>
          <p:cNvPr id="1427" name="Google Shape;1427;p19"/>
          <p:cNvGrpSpPr/>
          <p:nvPr/>
        </p:nvGrpSpPr>
        <p:grpSpPr>
          <a:xfrm>
            <a:off x="552450" y="5076825"/>
            <a:ext cx="1081088" cy="244475"/>
            <a:chOff x="2709" y="3989"/>
            <a:chExt cx="681" cy="154"/>
          </a:xfrm>
        </p:grpSpPr>
        <p:sp>
          <p:nvSpPr>
            <p:cNvPr id="1428" name="Google Shape;1428;p19"/>
            <p:cNvSpPr/>
            <p:nvPr/>
          </p:nvSpPr>
          <p:spPr>
            <a:xfrm>
              <a:off x="2709" y="3992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19"/>
            <p:cNvSpPr/>
            <p:nvPr/>
          </p:nvSpPr>
          <p:spPr>
            <a:xfrm>
              <a:off x="2837" y="4017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19"/>
            <p:cNvSpPr/>
            <p:nvPr/>
          </p:nvSpPr>
          <p:spPr>
            <a:xfrm>
              <a:off x="2828" y="4006"/>
              <a:ext cx="480" cy="112"/>
            </a:xfrm>
            <a:prstGeom prst="rect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19"/>
            <p:cNvSpPr/>
            <p:nvPr/>
          </p:nvSpPr>
          <p:spPr>
            <a:xfrm>
              <a:off x="2722" y="4008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19"/>
            <p:cNvSpPr/>
            <p:nvPr/>
          </p:nvSpPr>
          <p:spPr>
            <a:xfrm>
              <a:off x="3320" y="4007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3" name="Google Shape;1433;p19"/>
            <p:cNvGrpSpPr/>
            <p:nvPr/>
          </p:nvGrpSpPr>
          <p:grpSpPr>
            <a:xfrm>
              <a:off x="2901" y="3989"/>
              <a:ext cx="444" cy="154"/>
              <a:chOff x="2717" y="3676"/>
              <a:chExt cx="444" cy="154"/>
            </a:xfrm>
          </p:grpSpPr>
          <p:sp>
            <p:nvSpPr>
              <p:cNvPr id="1434" name="Google Shape;1434;p19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5" name="Google Shape;1435;p19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p19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</p:grpSp>
      <p:sp>
        <p:nvSpPr>
          <p:cNvPr id="1437" name="Google Shape;1437;p19"/>
          <p:cNvSpPr/>
          <p:nvPr/>
        </p:nvSpPr>
        <p:spPr>
          <a:xfrm>
            <a:off x="7037388" y="4141788"/>
            <a:ext cx="4652603" cy="985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server responds with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TCP SYNACK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(step 2 in TCP 3-way handshake)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8" name="Google Shape;1438;p19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1439" name="Google Shape;1439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0" name="Google Shape;1440;p19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441" name="Google Shape;1441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2" name="Google Shape;1442;p19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19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19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19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19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19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48" name="Google Shape;1448;p19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449" name="Google Shape;1449;p1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0" name="Google Shape;1450;p1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1" name="Google Shape;1451;p1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2" name="Google Shape;1452;p1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3" name="Google Shape;1453;p1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4" name="Google Shape;1454;p1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55" name="Google Shape;1455;p19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19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19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19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19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19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20"/>
          <p:cNvSpPr txBox="1"/>
          <p:nvPr>
            <p:ph type="title"/>
          </p:nvPr>
        </p:nvSpPr>
        <p:spPr>
          <a:xfrm>
            <a:off x="811306" y="303903"/>
            <a:ext cx="10999694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 day in the life… HTTP request/reply </a:t>
            </a:r>
            <a:endParaRPr b="0"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20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9" name="Google Shape;1469;p20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0" name="Google Shape;1470;p20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1" name="Google Shape;1471;p20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72" name="Google Shape;1472;p20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73" name="Google Shape;1473;p20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1474" name="Google Shape;1474;p2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2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76" name="Google Shape;1476;p2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77" name="Google Shape;1477;p2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8" name="Google Shape;1478;p2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9" name="Google Shape;1479;p2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0" name="Google Shape;1480;p2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81" name="Google Shape;1481;p20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82" name="Google Shape;1482;p20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83" name="Google Shape;1483;p20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484" name="Google Shape;1484;p20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1485" name="Google Shape;1485;p2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86" name="Google Shape;1486;p2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87" name="Google Shape;1487;p2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88" name="Google Shape;1488;p2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9" name="Google Shape;1489;p2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0" name="Google Shape;1490;p2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1" name="Google Shape;1491;p2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92" name="Google Shape;1492;p20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1493" name="Google Shape;1493;p2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20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2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2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20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8" name="Google Shape;1498;p20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1499" name="Google Shape;1499;p20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0" name="Google Shape;1500;p20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01" name="Google Shape;1501;p20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2" name="Google Shape;1502;p20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1503" name="Google Shape;1503;p20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4" name="Google Shape;1504;p20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05" name="Google Shape;1505;p20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20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7" name="Google Shape;1507;p20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1508" name="Google Shape;1508;p20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p20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10" name="Google Shape;1510;p2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11" name="Google Shape;1511;p20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1512" name="Google Shape;1512;p20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20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14" name="Google Shape;1514;p20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2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2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20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2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20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20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20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20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20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20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5" name="Google Shape;1525;p20"/>
          <p:cNvGrpSpPr/>
          <p:nvPr/>
        </p:nvGrpSpPr>
        <p:grpSpPr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1526" name="Google Shape;1526;p20"/>
            <p:cNvGrpSpPr/>
            <p:nvPr/>
          </p:nvGrpSpPr>
          <p:grpSpPr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1527" name="Google Shape;1527;p20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8" name="Google Shape;1528;p20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grpSp>
          <p:nvGrpSpPr>
            <p:cNvPr id="1529" name="Google Shape;1529;p20"/>
            <p:cNvGrpSpPr/>
            <p:nvPr/>
          </p:nvGrpSpPr>
          <p:grpSpPr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1530" name="Google Shape;1530;p20"/>
              <p:cNvGrpSpPr/>
              <p:nvPr/>
            </p:nvGrpSpPr>
            <p:grpSpPr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1531" name="Google Shape;1531;p20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2" name="Google Shape;1532;p20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sp>
            <p:nvSpPr>
              <p:cNvPr id="1533" name="Google Shape;1533;p20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4" name="Google Shape;1534;p20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5" name="Google Shape;1535;p20"/>
            <p:cNvGrpSpPr/>
            <p:nvPr/>
          </p:nvGrpSpPr>
          <p:grpSpPr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1536" name="Google Shape;1536;p20"/>
              <p:cNvGrpSpPr/>
              <p:nvPr/>
            </p:nvGrpSpPr>
            <p:grpSpPr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1537" name="Google Shape;1537;p20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8" name="Google Shape;1538;p20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grpSp>
            <p:nvGrpSpPr>
              <p:cNvPr id="1539" name="Google Shape;1539;p20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1540" name="Google Shape;1540;p20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41" name="Google Shape;1541;p20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542" name="Google Shape;1542;p20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1543" name="Google Shape;1543;p20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p20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45" name="Google Shape;1545;p20"/>
            <p:cNvSpPr/>
            <p:nvPr/>
          </p:nvSpPr>
          <p:spPr>
            <a:xfrm>
              <a:off x="393" y="729"/>
              <a:ext cx="240" cy="552"/>
            </a:xfrm>
            <a:prstGeom prst="downArrow">
              <a:avLst>
                <a:gd fmla="val 54167" name="adj1"/>
                <a:gd fmla="val 36928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6" name="Google Shape;1546;p20"/>
          <p:cNvSpPr/>
          <p:nvPr/>
        </p:nvSpPr>
        <p:spPr>
          <a:xfrm>
            <a:off x="4781673" y="1792392"/>
            <a:ext cx="3486028" cy="2590938"/>
          </a:xfrm>
          <a:custGeom>
            <a:rect b="b" l="l" r="r" t="t"/>
            <a:pathLst>
              <a:path extrusionOk="0" h="9973" w="10000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p20"/>
          <p:cNvSpPr txBox="1"/>
          <p:nvPr/>
        </p:nvSpPr>
        <p:spPr>
          <a:xfrm>
            <a:off x="4838700" y="2566706"/>
            <a:ext cx="181133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Comcast network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68.80.0.0/13</a:t>
            </a:r>
            <a:endParaRPr/>
          </a:p>
        </p:txBody>
      </p:sp>
      <p:cxnSp>
        <p:nvCxnSpPr>
          <p:cNvPr id="1548" name="Google Shape;1548;p20"/>
          <p:cNvCxnSpPr/>
          <p:nvPr/>
        </p:nvCxnSpPr>
        <p:spPr>
          <a:xfrm flipH="1" rot="10800000">
            <a:off x="3670020" y="3535642"/>
            <a:ext cx="1819275" cy="733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49" name="Google Shape;1549;p20"/>
          <p:cNvGrpSpPr/>
          <p:nvPr/>
        </p:nvGrpSpPr>
        <p:grpSpPr>
          <a:xfrm flipH="1">
            <a:off x="5635438" y="3627064"/>
            <a:ext cx="400050" cy="152400"/>
            <a:chOff x="3228" y="1776"/>
            <a:chExt cx="252" cy="96"/>
          </a:xfrm>
        </p:grpSpPr>
        <p:cxnSp>
          <p:nvCxnSpPr>
            <p:cNvPr id="1550" name="Google Shape;1550;p20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1" name="Google Shape;1551;p20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52" name="Google Shape;1552;p20"/>
          <p:cNvGrpSpPr/>
          <p:nvPr/>
        </p:nvGrpSpPr>
        <p:grpSpPr>
          <a:xfrm rot="10800000">
            <a:off x="5787838" y="3103189"/>
            <a:ext cx="400050" cy="152400"/>
            <a:chOff x="3228" y="1776"/>
            <a:chExt cx="252" cy="96"/>
          </a:xfrm>
        </p:grpSpPr>
        <p:cxnSp>
          <p:nvCxnSpPr>
            <p:cNvPr id="1553" name="Google Shape;1553;p20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4" name="Google Shape;1554;p20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55" name="Google Shape;1555;p20"/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1556" name="Google Shape;1556;p2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557" name="Google Shape;1557;p2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558" name="Google Shape;1558;p2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59" name="Google Shape;1559;p2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0" name="Google Shape;1560;p2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1" name="Google Shape;1561;p2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2" name="Google Shape;1562;p2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63" name="Google Shape;1563;p20"/>
          <p:cNvSpPr/>
          <p:nvPr/>
        </p:nvSpPr>
        <p:spPr>
          <a:xfrm>
            <a:off x="915707" y="4764367"/>
            <a:ext cx="6419850" cy="1620838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4" name="Google Shape;1564;p20"/>
          <p:cNvCxnSpPr/>
          <p:nvPr/>
        </p:nvCxnSpPr>
        <p:spPr>
          <a:xfrm flipH="1" rot="10800000">
            <a:off x="4306607" y="3692805"/>
            <a:ext cx="1174750" cy="165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5" name="Google Shape;1565;p20"/>
          <p:cNvCxnSpPr/>
          <p:nvPr/>
        </p:nvCxnSpPr>
        <p:spPr>
          <a:xfrm flipH="1" rot="10800000">
            <a:off x="2885795" y="5512080"/>
            <a:ext cx="94297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6" name="Google Shape;1566;p20"/>
          <p:cNvSpPr txBox="1"/>
          <p:nvPr/>
        </p:nvSpPr>
        <p:spPr>
          <a:xfrm>
            <a:off x="1798357" y="5904192"/>
            <a:ext cx="15954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64.233.169.105</a:t>
            </a:r>
            <a:endParaRPr/>
          </a:p>
        </p:txBody>
      </p:sp>
      <p:sp>
        <p:nvSpPr>
          <p:cNvPr id="1567" name="Google Shape;1567;p20"/>
          <p:cNvSpPr txBox="1"/>
          <p:nvPr/>
        </p:nvSpPr>
        <p:spPr>
          <a:xfrm>
            <a:off x="1779307" y="5648605"/>
            <a:ext cx="190629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web server</a:t>
            </a:r>
            <a:endParaRPr/>
          </a:p>
        </p:txBody>
      </p:sp>
      <p:grpSp>
        <p:nvGrpSpPr>
          <p:cNvPr id="1568" name="Google Shape;1568;p20"/>
          <p:cNvGrpSpPr/>
          <p:nvPr/>
        </p:nvGrpSpPr>
        <p:grpSpPr>
          <a:xfrm>
            <a:off x="3765270" y="5718455"/>
            <a:ext cx="295275" cy="114300"/>
            <a:chOff x="3228" y="1776"/>
            <a:chExt cx="252" cy="96"/>
          </a:xfrm>
        </p:grpSpPr>
        <p:cxnSp>
          <p:nvCxnSpPr>
            <p:cNvPr id="1569" name="Google Shape;1569;p20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0" name="Google Shape;1570;p20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71" name="Google Shape;1571;p20"/>
          <p:cNvGrpSpPr/>
          <p:nvPr/>
        </p:nvGrpSpPr>
        <p:grpSpPr>
          <a:xfrm flipH="1">
            <a:off x="4403445" y="5718455"/>
            <a:ext cx="295275" cy="114300"/>
            <a:chOff x="3228" y="1776"/>
            <a:chExt cx="252" cy="96"/>
          </a:xfrm>
        </p:grpSpPr>
        <p:cxnSp>
          <p:nvCxnSpPr>
            <p:cNvPr id="1572" name="Google Shape;1572;p20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3" name="Google Shape;1573;p20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74" name="Google Shape;1574;p20"/>
          <p:cNvGrpSpPr/>
          <p:nvPr/>
        </p:nvGrpSpPr>
        <p:grpSpPr>
          <a:xfrm rot="10800000">
            <a:off x="4608232" y="5423180"/>
            <a:ext cx="295275" cy="114300"/>
            <a:chOff x="3228" y="1776"/>
            <a:chExt cx="252" cy="96"/>
          </a:xfrm>
        </p:grpSpPr>
        <p:cxnSp>
          <p:nvCxnSpPr>
            <p:cNvPr id="1575" name="Google Shape;1575;p20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6" name="Google Shape;1576;p20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77" name="Google Shape;1577;p20"/>
          <p:cNvGrpSpPr/>
          <p:nvPr/>
        </p:nvGrpSpPr>
        <p:grpSpPr>
          <a:xfrm>
            <a:off x="3885507" y="5310841"/>
            <a:ext cx="809010" cy="502026"/>
            <a:chOff x="7493876" y="2774731"/>
            <a:chExt cx="1481958" cy="894622"/>
          </a:xfrm>
        </p:grpSpPr>
        <p:sp>
          <p:nvSpPr>
            <p:cNvPr id="1578" name="Google Shape;1578;p2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580" name="Google Shape;1580;p2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81" name="Google Shape;1581;p2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2" name="Google Shape;1582;p2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3" name="Google Shape;1583;p2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4" name="Google Shape;1584;p2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85" name="Google Shape;1585;p20"/>
          <p:cNvGrpSpPr/>
          <p:nvPr/>
        </p:nvGrpSpPr>
        <p:grpSpPr>
          <a:xfrm>
            <a:off x="2703232" y="5072342"/>
            <a:ext cx="358775" cy="623888"/>
            <a:chOff x="4140" y="429"/>
            <a:chExt cx="1425" cy="2396"/>
          </a:xfrm>
        </p:grpSpPr>
        <p:sp>
          <p:nvSpPr>
            <p:cNvPr id="1586" name="Google Shape;1586;p2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1" name="Google Shape;1591;p20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1592" name="Google Shape;1592;p20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3" name="Google Shape;1593;p20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94" name="Google Shape;1594;p20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5" name="Google Shape;1595;p20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1596" name="Google Shape;1596;p20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7" name="Google Shape;1597;p20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98" name="Google Shape;1598;p20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00" name="Google Shape;1600;p20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1601" name="Google Shape;1601;p20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20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03" name="Google Shape;1603;p2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04" name="Google Shape;1604;p20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1605" name="Google Shape;1605;p20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20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07" name="Google Shape;1607;p20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2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2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20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2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20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20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20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20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20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20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8" name="Google Shape;1618;p20"/>
          <p:cNvGrpSpPr/>
          <p:nvPr/>
        </p:nvGrpSpPr>
        <p:grpSpPr>
          <a:xfrm>
            <a:off x="1323975" y="1595438"/>
            <a:ext cx="976312" cy="1460500"/>
            <a:chOff x="651" y="681"/>
            <a:chExt cx="615" cy="920"/>
          </a:xfrm>
        </p:grpSpPr>
        <p:sp>
          <p:nvSpPr>
            <p:cNvPr id="1619" name="Google Shape;1619;p20"/>
            <p:cNvSpPr/>
            <p:nvPr/>
          </p:nvSpPr>
          <p:spPr>
            <a:xfrm>
              <a:off x="662" y="698"/>
              <a:ext cx="604" cy="903"/>
            </a:xfrm>
            <a:custGeom>
              <a:rect b="b" l="l" r="r" t="t"/>
              <a:pathLst>
                <a:path extrusionOk="0" h="10000" w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7951" y="8723"/>
                  </a:lnTo>
                  <a:lnTo>
                    <a:pt x="8212" y="0"/>
                  </a:ln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>
                    <a:alpha val="77647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20" name="Google Shape;1620;p20"/>
            <p:cNvGrpSpPr/>
            <p:nvPr/>
          </p:nvGrpSpPr>
          <p:grpSpPr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1621" name="Google Shape;1621;p20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2" name="Google Shape;1622;p20"/>
              <p:cNvSpPr txBox="1"/>
              <p:nvPr/>
            </p:nvSpPr>
            <p:spPr>
              <a:xfrm>
                <a:off x="606" y="2954"/>
                <a:ext cx="453" cy="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1623" name="Google Shape;1623;p20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4" name="Google Shape;1624;p20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5" name="Google Shape;1625;p20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6" name="Google Shape;1626;p20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627" name="Google Shape;1627;p20"/>
          <p:cNvGrpSpPr/>
          <p:nvPr/>
        </p:nvGrpSpPr>
        <p:grpSpPr>
          <a:xfrm>
            <a:off x="1751013" y="4270375"/>
            <a:ext cx="973137" cy="1416050"/>
            <a:chOff x="4000" y="1895"/>
            <a:chExt cx="613" cy="892"/>
          </a:xfrm>
        </p:grpSpPr>
        <p:sp>
          <p:nvSpPr>
            <p:cNvPr id="1628" name="Google Shape;1628;p20"/>
            <p:cNvSpPr/>
            <p:nvPr/>
          </p:nvSpPr>
          <p:spPr>
            <a:xfrm>
              <a:off x="4011" y="1912"/>
              <a:ext cx="602" cy="875"/>
            </a:xfrm>
            <a:custGeom>
              <a:rect b="b" l="l" r="r" t="t"/>
              <a:pathLst>
                <a:path extrusionOk="0" h="10000" w="10000">
                  <a:moveTo>
                    <a:pt x="8239" y="0"/>
                  </a:moveTo>
                  <a:cubicBezTo>
                    <a:pt x="8793" y="2137"/>
                    <a:pt x="8981" y="4731"/>
                    <a:pt x="9900" y="6411"/>
                  </a:cubicBezTo>
                  <a:cubicBezTo>
                    <a:pt x="10055" y="7271"/>
                    <a:pt x="9844" y="9139"/>
                    <a:pt x="10000" y="10000"/>
                  </a:cubicBezTo>
                  <a:cubicBezTo>
                    <a:pt x="6733" y="9577"/>
                    <a:pt x="3333" y="9337"/>
                    <a:pt x="0" y="9005"/>
                  </a:cubicBezTo>
                  <a:lnTo>
                    <a:pt x="7575" y="8572"/>
                  </a:lnTo>
                  <a:cubicBezTo>
                    <a:pt x="7797" y="5714"/>
                    <a:pt x="8017" y="2858"/>
                    <a:pt x="8239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99000">
                  <a:srgbClr val="FFFFFF">
                    <a:alpha val="81960"/>
                  </a:srgbClr>
                </a:gs>
                <a:gs pos="100000">
                  <a:srgbClr val="FFFFFF">
                    <a:alpha val="8196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29" name="Google Shape;1629;p20"/>
            <p:cNvGrpSpPr/>
            <p:nvPr/>
          </p:nvGrpSpPr>
          <p:grpSpPr>
            <a:xfrm>
              <a:off x="4000" y="1895"/>
              <a:ext cx="500" cy="834"/>
              <a:chOff x="569" y="2954"/>
              <a:chExt cx="500" cy="834"/>
            </a:xfrm>
          </p:grpSpPr>
          <p:sp>
            <p:nvSpPr>
              <p:cNvPr id="1630" name="Google Shape;1630;p20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1" name="Google Shape;1631;p20"/>
              <p:cNvSpPr txBox="1"/>
              <p:nvPr/>
            </p:nvSpPr>
            <p:spPr>
              <a:xfrm>
                <a:off x="606" y="2954"/>
                <a:ext cx="453" cy="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1632" name="Google Shape;1632;p20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33" name="Google Shape;1633;p20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34" name="Google Shape;1634;p20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35" name="Google Shape;1635;p20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636" name="Google Shape;1636;p20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1637" name="Google Shape;1637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8" name="Google Shape;1638;p20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639" name="Google Shape;1639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0" name="Google Shape;1640;p20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1" name="Google Shape;1641;p20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2" name="Google Shape;1642;p20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46" name="Google Shape;1646;p20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647" name="Google Shape;1647;p2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8" name="Google Shape;1648;p2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9" name="Google Shape;1649;p2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2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2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2" name="Google Shape;1652;p2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53" name="Google Shape;1653;p20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20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7" name="Google Shape;1657;p20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1658;p20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9" name="Google Shape;1659;p20"/>
          <p:cNvGrpSpPr/>
          <p:nvPr/>
        </p:nvGrpSpPr>
        <p:grpSpPr>
          <a:xfrm>
            <a:off x="544513" y="1574800"/>
            <a:ext cx="515937" cy="333375"/>
            <a:chOff x="328" y="678"/>
            <a:chExt cx="325" cy="210"/>
          </a:xfrm>
        </p:grpSpPr>
        <p:grpSp>
          <p:nvGrpSpPr>
            <p:cNvPr id="1660" name="Google Shape;1660;p20"/>
            <p:cNvGrpSpPr/>
            <p:nvPr/>
          </p:nvGrpSpPr>
          <p:grpSpPr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1661" name="Google Shape;1661;p20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2" name="Google Shape;1662;p20"/>
              <p:cNvSpPr txBox="1"/>
              <p:nvPr/>
            </p:nvSpPr>
            <p:spPr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</p:txBody>
          </p:sp>
        </p:grpSp>
        <p:sp>
          <p:nvSpPr>
            <p:cNvPr id="1663" name="Google Shape;1663;p20"/>
            <p:cNvSpPr/>
            <p:nvPr/>
          </p:nvSpPr>
          <p:spPr>
            <a:xfrm>
              <a:off x="396" y="678"/>
              <a:ext cx="240" cy="210"/>
            </a:xfrm>
            <a:prstGeom prst="downArrow">
              <a:avLst>
                <a:gd fmla="val 49167" name="adj1"/>
                <a:gd fmla="val 24292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4" name="Google Shape;1664;p20"/>
          <p:cNvSpPr/>
          <p:nvPr/>
        </p:nvSpPr>
        <p:spPr>
          <a:xfrm>
            <a:off x="7289800" y="1581150"/>
            <a:ext cx="4383088" cy="950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 request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sent into TCP socket</a:t>
            </a:r>
            <a:endParaRPr/>
          </a:p>
        </p:txBody>
      </p:sp>
      <p:sp>
        <p:nvSpPr>
          <p:cNvPr id="1665" name="Google Shape;1665;p20"/>
          <p:cNvSpPr/>
          <p:nvPr/>
        </p:nvSpPr>
        <p:spPr>
          <a:xfrm>
            <a:off x="7264991" y="2527300"/>
            <a:ext cx="4558710" cy="985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datagram containing HTTP request routed to www.google.com</a:t>
            </a:r>
            <a:endParaRPr/>
          </a:p>
        </p:txBody>
      </p:sp>
      <p:sp>
        <p:nvSpPr>
          <p:cNvPr id="1666" name="Google Shape;1666;p20"/>
          <p:cNvSpPr/>
          <p:nvPr/>
        </p:nvSpPr>
        <p:spPr>
          <a:xfrm>
            <a:off x="7269114" y="5168900"/>
            <a:ext cx="4364086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datagram containing HTTP reply routed back to client</a:t>
            </a:r>
            <a:endParaRPr/>
          </a:p>
        </p:txBody>
      </p:sp>
      <p:sp>
        <p:nvSpPr>
          <p:cNvPr id="1667" name="Google Shape;1667;p20"/>
          <p:cNvSpPr/>
          <p:nvPr/>
        </p:nvSpPr>
        <p:spPr>
          <a:xfrm>
            <a:off x="7271340" y="3859213"/>
            <a:ext cx="4823823" cy="985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server responds with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 reply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(containing web page)</a:t>
            </a:r>
            <a:endParaRPr/>
          </a:p>
        </p:txBody>
      </p:sp>
      <p:grpSp>
        <p:nvGrpSpPr>
          <p:cNvPr id="1668" name="Google Shape;1668;p20"/>
          <p:cNvGrpSpPr/>
          <p:nvPr/>
        </p:nvGrpSpPr>
        <p:grpSpPr>
          <a:xfrm>
            <a:off x="190500" y="1884363"/>
            <a:ext cx="1081088" cy="1058862"/>
            <a:chOff x="56" y="859"/>
            <a:chExt cx="681" cy="667"/>
          </a:xfrm>
        </p:grpSpPr>
        <p:grpSp>
          <p:nvGrpSpPr>
            <p:cNvPr id="1669" name="Google Shape;1669;p20"/>
            <p:cNvGrpSpPr/>
            <p:nvPr/>
          </p:nvGrpSpPr>
          <p:grpSpPr>
            <a:xfrm>
              <a:off x="290" y="874"/>
              <a:ext cx="379" cy="154"/>
              <a:chOff x="740" y="3209"/>
              <a:chExt cx="379" cy="154"/>
            </a:xfrm>
          </p:grpSpPr>
          <p:grpSp>
            <p:nvGrpSpPr>
              <p:cNvPr id="1670" name="Google Shape;1670;p20"/>
              <p:cNvGrpSpPr/>
              <p:nvPr/>
            </p:nvGrpSpPr>
            <p:grpSpPr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1671" name="Google Shape;1671;p20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2" name="Google Shape;1672;p20"/>
                <p:cNvSpPr txBox="1"/>
                <p:nvPr/>
              </p:nvSpPr>
              <p:spPr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HTTP</a:t>
                  </a:r>
                  <a:endParaRPr/>
                </a:p>
              </p:txBody>
            </p:sp>
          </p:grpSp>
          <p:sp>
            <p:nvSpPr>
              <p:cNvPr id="1673" name="Google Shape;1673;p20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4" name="Google Shape;1674;p20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5" name="Google Shape;1675;p20"/>
            <p:cNvGrpSpPr/>
            <p:nvPr/>
          </p:nvGrpSpPr>
          <p:grpSpPr>
            <a:xfrm>
              <a:off x="290" y="1022"/>
              <a:ext cx="379" cy="154"/>
              <a:chOff x="836" y="3305"/>
              <a:chExt cx="379" cy="154"/>
            </a:xfrm>
          </p:grpSpPr>
          <p:grpSp>
            <p:nvGrpSpPr>
              <p:cNvPr id="1676" name="Google Shape;1676;p20"/>
              <p:cNvGrpSpPr/>
              <p:nvPr/>
            </p:nvGrpSpPr>
            <p:grpSpPr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1677" name="Google Shape;1677;p20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8" name="Google Shape;1678;p20"/>
                <p:cNvSpPr txBox="1"/>
                <p:nvPr/>
              </p:nvSpPr>
              <p:spPr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HTTP</a:t>
                  </a:r>
                  <a:endParaRPr/>
                </a:p>
              </p:txBody>
            </p:sp>
          </p:grpSp>
          <p:grpSp>
            <p:nvGrpSpPr>
              <p:cNvPr id="1679" name="Google Shape;1679;p20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1680" name="Google Shape;1680;p20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1" name="Google Shape;1681;p20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82" name="Google Shape;1682;p20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1683" name="Google Shape;1683;p20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4" name="Google Shape;1684;p20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85" name="Google Shape;1685;p20"/>
            <p:cNvGrpSpPr/>
            <p:nvPr/>
          </p:nvGrpSpPr>
          <p:grpSpPr>
            <a:xfrm>
              <a:off x="56" y="1189"/>
              <a:ext cx="681" cy="154"/>
              <a:chOff x="504" y="3523"/>
              <a:chExt cx="681" cy="154"/>
            </a:xfrm>
          </p:grpSpPr>
          <p:grpSp>
            <p:nvGrpSpPr>
              <p:cNvPr id="1686" name="Google Shape;1686;p20"/>
              <p:cNvGrpSpPr/>
              <p:nvPr/>
            </p:nvGrpSpPr>
            <p:grpSpPr>
              <a:xfrm>
                <a:off x="623" y="3523"/>
                <a:ext cx="492" cy="154"/>
                <a:chOff x="723" y="3453"/>
                <a:chExt cx="492" cy="154"/>
              </a:xfrm>
            </p:grpSpPr>
            <p:grpSp>
              <p:nvGrpSpPr>
                <p:cNvPr id="1687" name="Google Shape;1687;p20"/>
                <p:cNvGrpSpPr/>
                <p:nvPr/>
              </p:nvGrpSpPr>
              <p:grpSpPr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1688" name="Google Shape;1688;p20"/>
                  <p:cNvGrpSpPr/>
                  <p:nvPr/>
                </p:nvGrpSpPr>
                <p:grpSpPr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1689" name="Google Shape;1689;p20"/>
                    <p:cNvSpPr/>
                    <p:nvPr/>
                  </p:nvSpPr>
                  <p:spPr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cap="flat" cmpd="sng" w="9525">
                      <a:solidFill>
                        <a:srgbClr val="FFFF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90" name="Google Shape;1690;p20"/>
                    <p:cNvSpPr txBox="1"/>
                    <p:nvPr/>
                  </p:nvSpPr>
                  <p:spPr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</a:t>
                      </a:r>
                      <a:endParaRPr/>
                    </a:p>
                  </p:txBody>
                </p:sp>
              </p:grpSp>
              <p:grpSp>
                <p:nvGrpSpPr>
                  <p:cNvPr id="1691" name="Google Shape;1691;p20"/>
                  <p:cNvGrpSpPr/>
                  <p:nvPr/>
                </p:nvGrpSpPr>
                <p:grpSpPr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1692" name="Google Shape;1692;p20"/>
                    <p:cNvSpPr/>
                    <p:nvPr/>
                  </p:nvSpPr>
                  <p:spPr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rgbClr val="00CC99"/>
                    </a:solidFill>
                    <a:ln cap="flat" cmpd="sng" w="9525">
                      <a:solidFill>
                        <a:srgbClr val="FFFF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93" name="Google Shape;1693;p20"/>
                    <p:cNvSpPr/>
                    <p:nvPr/>
                  </p:nvSpPr>
                  <p:spPr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rgbClr val="00CC99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694" name="Google Shape;1694;p20"/>
                <p:cNvSpPr/>
                <p:nvPr/>
              </p:nvSpPr>
              <p:spPr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95" name="Google Shape;1695;p20"/>
                <p:cNvSpPr/>
                <p:nvPr/>
              </p:nvSpPr>
              <p:spPr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696" name="Google Shape;1696;p20"/>
              <p:cNvSpPr/>
              <p:nvPr/>
            </p:nvSpPr>
            <p:spPr>
              <a:xfrm>
                <a:off x="517" y="3545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7" name="Google Shape;1697;p20"/>
              <p:cNvSpPr/>
              <p:nvPr/>
            </p:nvSpPr>
            <p:spPr>
              <a:xfrm>
                <a:off x="1115" y="3544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8" name="Google Shape;1698;p20"/>
              <p:cNvSpPr/>
              <p:nvPr/>
            </p:nvSpPr>
            <p:spPr>
              <a:xfrm>
                <a:off x="504" y="3529"/>
                <a:ext cx="681" cy="138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99" name="Google Shape;1699;p20"/>
            <p:cNvSpPr/>
            <p:nvPr/>
          </p:nvSpPr>
          <p:spPr>
            <a:xfrm>
              <a:off x="341" y="859"/>
              <a:ext cx="240" cy="667"/>
            </a:xfrm>
            <a:prstGeom prst="downArrow">
              <a:avLst>
                <a:gd fmla="val 49167" name="adj1"/>
                <a:gd fmla="val 67511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0" name="Google Shape;1700;p20"/>
          <p:cNvGrpSpPr/>
          <p:nvPr/>
        </p:nvGrpSpPr>
        <p:grpSpPr>
          <a:xfrm>
            <a:off x="193675" y="2411413"/>
            <a:ext cx="1081088" cy="244475"/>
            <a:chOff x="0" y="2762"/>
            <a:chExt cx="681" cy="154"/>
          </a:xfrm>
        </p:grpSpPr>
        <p:sp>
          <p:nvSpPr>
            <p:cNvPr id="1701" name="Google Shape;1701;p20"/>
            <p:cNvSpPr/>
            <p:nvPr/>
          </p:nvSpPr>
          <p:spPr>
            <a:xfrm>
              <a:off x="0" y="2768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02" name="Google Shape;1702;p20"/>
            <p:cNvGrpSpPr/>
            <p:nvPr/>
          </p:nvGrpSpPr>
          <p:grpSpPr>
            <a:xfrm>
              <a:off x="119" y="2762"/>
              <a:ext cx="492" cy="154"/>
              <a:chOff x="723" y="3453"/>
              <a:chExt cx="492" cy="154"/>
            </a:xfrm>
          </p:grpSpPr>
          <p:grpSp>
            <p:nvGrpSpPr>
              <p:cNvPr id="1703" name="Google Shape;1703;p20"/>
              <p:cNvGrpSpPr/>
              <p:nvPr/>
            </p:nvGrpSpPr>
            <p:grpSpPr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1704" name="Google Shape;1704;p20"/>
                <p:cNvGrpSpPr/>
                <p:nvPr/>
              </p:nvGrpSpPr>
              <p:grpSpPr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1705" name="Google Shape;1705;p20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06" name="Google Shape;1706;p20"/>
                  <p:cNvSpPr txBox="1"/>
                  <p:nvPr/>
                </p:nvSpPr>
                <p:spPr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HTTP</a:t>
                    </a:r>
                    <a:endParaRPr/>
                  </a:p>
                </p:txBody>
              </p:sp>
            </p:grpSp>
            <p:grpSp>
              <p:nvGrpSpPr>
                <p:cNvPr id="1707" name="Google Shape;1707;p20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708" name="Google Shape;1708;p20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09" name="Google Shape;1709;p20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710" name="Google Shape;1710;p20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1" name="Google Shape;1711;p20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12" name="Google Shape;1712;p20"/>
            <p:cNvSpPr/>
            <p:nvPr/>
          </p:nvSpPr>
          <p:spPr>
            <a:xfrm>
              <a:off x="13" y="2784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20"/>
            <p:cNvSpPr/>
            <p:nvPr/>
          </p:nvSpPr>
          <p:spPr>
            <a:xfrm>
              <a:off x="611" y="2783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4" name="Google Shape;1714;p20"/>
          <p:cNvGrpSpPr/>
          <p:nvPr/>
        </p:nvGrpSpPr>
        <p:grpSpPr>
          <a:xfrm>
            <a:off x="665163" y="4308475"/>
            <a:ext cx="1081087" cy="949325"/>
            <a:chOff x="2231" y="3555"/>
            <a:chExt cx="681" cy="598"/>
          </a:xfrm>
        </p:grpSpPr>
        <p:grpSp>
          <p:nvGrpSpPr>
            <p:cNvPr id="1715" name="Google Shape;1715;p20"/>
            <p:cNvGrpSpPr/>
            <p:nvPr/>
          </p:nvGrpSpPr>
          <p:grpSpPr>
            <a:xfrm>
              <a:off x="2231" y="3684"/>
              <a:ext cx="681" cy="469"/>
              <a:chOff x="152" y="970"/>
              <a:chExt cx="681" cy="469"/>
            </a:xfrm>
          </p:grpSpPr>
          <p:grpSp>
            <p:nvGrpSpPr>
              <p:cNvPr id="1716" name="Google Shape;1716;p20"/>
              <p:cNvGrpSpPr/>
              <p:nvPr/>
            </p:nvGrpSpPr>
            <p:grpSpPr>
              <a:xfrm>
                <a:off x="386" y="970"/>
                <a:ext cx="379" cy="154"/>
                <a:chOff x="740" y="3209"/>
                <a:chExt cx="379" cy="154"/>
              </a:xfrm>
            </p:grpSpPr>
            <p:grpSp>
              <p:nvGrpSpPr>
                <p:cNvPr id="1717" name="Google Shape;1717;p20"/>
                <p:cNvGrpSpPr/>
                <p:nvPr/>
              </p:nvGrpSpPr>
              <p:grpSpPr>
                <a:xfrm>
                  <a:off x="794" y="3209"/>
                  <a:ext cx="325" cy="154"/>
                  <a:chOff x="844" y="3337"/>
                  <a:chExt cx="325" cy="154"/>
                </a:xfrm>
              </p:grpSpPr>
              <p:sp>
                <p:nvSpPr>
                  <p:cNvPr id="1718" name="Google Shape;1718;p20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19" name="Google Shape;1719;p20"/>
                  <p:cNvSpPr txBox="1"/>
                  <p:nvPr/>
                </p:nvSpPr>
                <p:spPr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HTTP</a:t>
                    </a:r>
                    <a:endParaRPr/>
                  </a:p>
                </p:txBody>
              </p:sp>
            </p:grpSp>
            <p:sp>
              <p:nvSpPr>
                <p:cNvPr id="1720" name="Google Shape;1720;p20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1" name="Google Shape;1721;p20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22" name="Google Shape;1722;p20"/>
              <p:cNvGrpSpPr/>
              <p:nvPr/>
            </p:nvGrpSpPr>
            <p:grpSpPr>
              <a:xfrm>
                <a:off x="386" y="1118"/>
                <a:ext cx="379" cy="154"/>
                <a:chOff x="836" y="3305"/>
                <a:chExt cx="379" cy="154"/>
              </a:xfrm>
            </p:grpSpPr>
            <p:grpSp>
              <p:nvGrpSpPr>
                <p:cNvPr id="1723" name="Google Shape;1723;p20"/>
                <p:cNvGrpSpPr/>
                <p:nvPr/>
              </p:nvGrpSpPr>
              <p:grpSpPr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1724" name="Google Shape;1724;p20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25" name="Google Shape;1725;p20"/>
                  <p:cNvSpPr txBox="1"/>
                  <p:nvPr/>
                </p:nvSpPr>
                <p:spPr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HTTP</a:t>
                    </a:r>
                    <a:endParaRPr/>
                  </a:p>
                </p:txBody>
              </p:sp>
            </p:grpSp>
            <p:grpSp>
              <p:nvGrpSpPr>
                <p:cNvPr id="1726" name="Google Shape;1726;p20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727" name="Google Shape;1727;p20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28" name="Google Shape;1728;p20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729" name="Google Shape;1729;p20"/>
              <p:cNvGrpSpPr/>
              <p:nvPr/>
            </p:nvGrpSpPr>
            <p:grpSpPr>
              <a:xfrm>
                <a:off x="273" y="1138"/>
                <a:ext cx="480" cy="112"/>
                <a:chOff x="627" y="3377"/>
                <a:chExt cx="480" cy="112"/>
              </a:xfrm>
            </p:grpSpPr>
            <p:sp>
              <p:nvSpPr>
                <p:cNvPr id="1730" name="Google Shape;1730;p20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1" name="Google Shape;1731;p20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32" name="Google Shape;1732;p20"/>
              <p:cNvGrpSpPr/>
              <p:nvPr/>
            </p:nvGrpSpPr>
            <p:grpSpPr>
              <a:xfrm>
                <a:off x="152" y="1285"/>
                <a:ext cx="681" cy="154"/>
                <a:chOff x="504" y="3523"/>
                <a:chExt cx="681" cy="154"/>
              </a:xfrm>
            </p:grpSpPr>
            <p:grpSp>
              <p:nvGrpSpPr>
                <p:cNvPr id="1733" name="Google Shape;1733;p20"/>
                <p:cNvGrpSpPr/>
                <p:nvPr/>
              </p:nvGrpSpPr>
              <p:grpSpPr>
                <a:xfrm>
                  <a:off x="623" y="3523"/>
                  <a:ext cx="492" cy="154"/>
                  <a:chOff x="723" y="3453"/>
                  <a:chExt cx="492" cy="154"/>
                </a:xfrm>
              </p:grpSpPr>
              <p:grpSp>
                <p:nvGrpSpPr>
                  <p:cNvPr id="1734" name="Google Shape;1734;p20"/>
                  <p:cNvGrpSpPr/>
                  <p:nvPr/>
                </p:nvGrpSpPr>
                <p:grpSpPr>
                  <a:xfrm>
                    <a:off x="836" y="3453"/>
                    <a:ext cx="379" cy="154"/>
                    <a:chOff x="836" y="3305"/>
                    <a:chExt cx="379" cy="154"/>
                  </a:xfrm>
                </p:grpSpPr>
                <p:grpSp>
                  <p:nvGrpSpPr>
                    <p:cNvPr id="1735" name="Google Shape;1735;p20"/>
                    <p:cNvGrpSpPr/>
                    <p:nvPr/>
                  </p:nvGrpSpPr>
                  <p:grpSpPr>
                    <a:xfrm>
                      <a:off x="890" y="3305"/>
                      <a:ext cx="325" cy="154"/>
                      <a:chOff x="844" y="3337"/>
                      <a:chExt cx="325" cy="154"/>
                    </a:xfrm>
                  </p:grpSpPr>
                  <p:sp>
                    <p:nvSpPr>
                      <p:cNvPr id="1736" name="Google Shape;1736;p20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737" name="Google Shape;1737;p20"/>
                      <p:cNvSpPr txBox="1"/>
                      <p:nvPr/>
                    </p:nvSpPr>
                    <p:spPr>
                      <a:xfrm>
                        <a:off x="844" y="3337"/>
                        <a:ext cx="32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HTTP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1738" name="Google Shape;1738;p20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739" name="Google Shape;1739;p20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740" name="Google Shape;1740;p20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1741" name="Google Shape;1741;p20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42" name="Google Shape;1742;p20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743" name="Google Shape;1743;p20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4" name="Google Shape;1744;p20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5" name="Google Shape;1745;p20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746" name="Google Shape;1746;p20"/>
            <p:cNvGrpSpPr/>
            <p:nvPr/>
          </p:nvGrpSpPr>
          <p:grpSpPr>
            <a:xfrm>
              <a:off x="2517" y="3555"/>
              <a:ext cx="325" cy="154"/>
              <a:chOff x="844" y="3337"/>
              <a:chExt cx="325" cy="154"/>
            </a:xfrm>
          </p:grpSpPr>
          <p:sp>
            <p:nvSpPr>
              <p:cNvPr id="1747" name="Google Shape;1747;p20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8" name="Google Shape;1748;p20"/>
              <p:cNvSpPr txBox="1"/>
              <p:nvPr/>
            </p:nvSpPr>
            <p:spPr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</p:txBody>
          </p:sp>
        </p:grpSp>
      </p:grpSp>
      <p:grpSp>
        <p:nvGrpSpPr>
          <p:cNvPr id="1749" name="Google Shape;1749;p20"/>
          <p:cNvGrpSpPr/>
          <p:nvPr/>
        </p:nvGrpSpPr>
        <p:grpSpPr>
          <a:xfrm>
            <a:off x="177800" y="1639888"/>
            <a:ext cx="1081088" cy="1016000"/>
            <a:chOff x="2256" y="3531"/>
            <a:chExt cx="681" cy="640"/>
          </a:xfrm>
        </p:grpSpPr>
        <p:grpSp>
          <p:nvGrpSpPr>
            <p:cNvPr id="1750" name="Google Shape;1750;p20"/>
            <p:cNvGrpSpPr/>
            <p:nvPr/>
          </p:nvGrpSpPr>
          <p:grpSpPr>
            <a:xfrm>
              <a:off x="2482" y="3684"/>
              <a:ext cx="379" cy="154"/>
              <a:chOff x="740" y="3209"/>
              <a:chExt cx="379" cy="154"/>
            </a:xfrm>
          </p:grpSpPr>
          <p:grpSp>
            <p:nvGrpSpPr>
              <p:cNvPr id="1751" name="Google Shape;1751;p20"/>
              <p:cNvGrpSpPr/>
              <p:nvPr/>
            </p:nvGrpSpPr>
            <p:grpSpPr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1752" name="Google Shape;1752;p20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3" name="Google Shape;1753;p20"/>
                <p:cNvSpPr txBox="1"/>
                <p:nvPr/>
              </p:nvSpPr>
              <p:spPr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HTTP</a:t>
                  </a:r>
                  <a:endParaRPr/>
                </a:p>
              </p:txBody>
            </p:sp>
          </p:grpSp>
          <p:sp>
            <p:nvSpPr>
              <p:cNvPr id="1754" name="Google Shape;1754;p20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5" name="Google Shape;1755;p20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56" name="Google Shape;1756;p20"/>
            <p:cNvGrpSpPr/>
            <p:nvPr/>
          </p:nvGrpSpPr>
          <p:grpSpPr>
            <a:xfrm>
              <a:off x="2482" y="3844"/>
              <a:ext cx="379" cy="154"/>
              <a:chOff x="836" y="3305"/>
              <a:chExt cx="379" cy="154"/>
            </a:xfrm>
          </p:grpSpPr>
          <p:grpSp>
            <p:nvGrpSpPr>
              <p:cNvPr id="1757" name="Google Shape;1757;p20"/>
              <p:cNvGrpSpPr/>
              <p:nvPr/>
            </p:nvGrpSpPr>
            <p:grpSpPr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1758" name="Google Shape;1758;p20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9" name="Google Shape;1759;p20"/>
                <p:cNvSpPr txBox="1"/>
                <p:nvPr/>
              </p:nvSpPr>
              <p:spPr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HTTP</a:t>
                  </a:r>
                  <a:endParaRPr/>
                </a:p>
              </p:txBody>
            </p:sp>
          </p:grpSp>
          <p:grpSp>
            <p:nvGrpSpPr>
              <p:cNvPr id="1760" name="Google Shape;1760;p20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1761" name="Google Shape;1761;p20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62" name="Google Shape;1762;p20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763" name="Google Shape;1763;p20"/>
            <p:cNvGrpSpPr/>
            <p:nvPr/>
          </p:nvGrpSpPr>
          <p:grpSpPr>
            <a:xfrm>
              <a:off x="2369" y="3858"/>
              <a:ext cx="480" cy="112"/>
              <a:chOff x="627" y="3377"/>
              <a:chExt cx="480" cy="112"/>
            </a:xfrm>
          </p:grpSpPr>
          <p:sp>
            <p:nvSpPr>
              <p:cNvPr id="1764" name="Google Shape;1764;p20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5" name="Google Shape;1765;p20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66" name="Google Shape;1766;p20"/>
            <p:cNvGrpSpPr/>
            <p:nvPr/>
          </p:nvGrpSpPr>
          <p:grpSpPr>
            <a:xfrm>
              <a:off x="2534" y="3531"/>
              <a:ext cx="325" cy="154"/>
              <a:chOff x="844" y="3337"/>
              <a:chExt cx="325" cy="154"/>
            </a:xfrm>
          </p:grpSpPr>
          <p:sp>
            <p:nvSpPr>
              <p:cNvPr id="1767" name="Google Shape;1767;p20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8" name="Google Shape;1768;p20"/>
              <p:cNvSpPr txBox="1"/>
              <p:nvPr/>
            </p:nvSpPr>
            <p:spPr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</p:txBody>
          </p:sp>
        </p:grpSp>
        <p:grpSp>
          <p:nvGrpSpPr>
            <p:cNvPr id="1769" name="Google Shape;1769;p20"/>
            <p:cNvGrpSpPr/>
            <p:nvPr/>
          </p:nvGrpSpPr>
          <p:grpSpPr>
            <a:xfrm>
              <a:off x="2256" y="4017"/>
              <a:ext cx="681" cy="154"/>
              <a:chOff x="-341" y="3180"/>
              <a:chExt cx="681" cy="154"/>
            </a:xfrm>
          </p:grpSpPr>
          <p:sp>
            <p:nvSpPr>
              <p:cNvPr id="1770" name="Google Shape;1770;p20"/>
              <p:cNvSpPr/>
              <p:nvPr/>
            </p:nvSpPr>
            <p:spPr>
              <a:xfrm>
                <a:off x="-341" y="3186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71" name="Google Shape;1771;p20"/>
              <p:cNvGrpSpPr/>
              <p:nvPr/>
            </p:nvGrpSpPr>
            <p:grpSpPr>
              <a:xfrm>
                <a:off x="-222" y="3180"/>
                <a:ext cx="492" cy="154"/>
                <a:chOff x="723" y="3453"/>
                <a:chExt cx="492" cy="154"/>
              </a:xfrm>
            </p:grpSpPr>
            <p:grpSp>
              <p:nvGrpSpPr>
                <p:cNvPr id="1772" name="Google Shape;1772;p20"/>
                <p:cNvGrpSpPr/>
                <p:nvPr/>
              </p:nvGrpSpPr>
              <p:grpSpPr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1773" name="Google Shape;1773;p20"/>
                  <p:cNvGrpSpPr/>
                  <p:nvPr/>
                </p:nvGrpSpPr>
                <p:grpSpPr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1774" name="Google Shape;1774;p20"/>
                    <p:cNvSpPr/>
                    <p:nvPr/>
                  </p:nvSpPr>
                  <p:spPr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cap="flat" cmpd="sng" w="9525">
                      <a:solidFill>
                        <a:srgbClr val="FFFF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775" name="Google Shape;1775;p20"/>
                    <p:cNvSpPr txBox="1"/>
                    <p:nvPr/>
                  </p:nvSpPr>
                  <p:spPr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</a:t>
                      </a:r>
                      <a:endParaRPr/>
                    </a:p>
                  </p:txBody>
                </p:sp>
              </p:grpSp>
              <p:grpSp>
                <p:nvGrpSpPr>
                  <p:cNvPr id="1776" name="Google Shape;1776;p20"/>
                  <p:cNvGrpSpPr/>
                  <p:nvPr/>
                </p:nvGrpSpPr>
                <p:grpSpPr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1777" name="Google Shape;1777;p20"/>
                    <p:cNvSpPr/>
                    <p:nvPr/>
                  </p:nvSpPr>
                  <p:spPr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rgbClr val="00CC99"/>
                    </a:solidFill>
                    <a:ln cap="flat" cmpd="sng" w="9525">
                      <a:solidFill>
                        <a:srgbClr val="FFFF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778" name="Google Shape;1778;p20"/>
                    <p:cNvSpPr/>
                    <p:nvPr/>
                  </p:nvSpPr>
                  <p:spPr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rgbClr val="00CC99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779" name="Google Shape;1779;p20"/>
                <p:cNvSpPr/>
                <p:nvPr/>
              </p:nvSpPr>
              <p:spPr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0" name="Google Shape;1780;p20"/>
                <p:cNvSpPr/>
                <p:nvPr/>
              </p:nvSpPr>
              <p:spPr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781" name="Google Shape;1781;p20"/>
              <p:cNvSpPr/>
              <p:nvPr/>
            </p:nvSpPr>
            <p:spPr>
              <a:xfrm>
                <a:off x="-328" y="3202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2" name="Google Shape;1782;p20"/>
              <p:cNvSpPr/>
              <p:nvPr/>
            </p:nvSpPr>
            <p:spPr>
              <a:xfrm>
                <a:off x="270" y="3201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783" name="Google Shape;1783;p20"/>
          <p:cNvGrpSpPr/>
          <p:nvPr/>
        </p:nvGrpSpPr>
        <p:grpSpPr>
          <a:xfrm>
            <a:off x="668338" y="5013325"/>
            <a:ext cx="1081087" cy="244475"/>
            <a:chOff x="-341" y="3180"/>
            <a:chExt cx="681" cy="154"/>
          </a:xfrm>
        </p:grpSpPr>
        <p:sp>
          <p:nvSpPr>
            <p:cNvPr id="1784" name="Google Shape;1784;p20"/>
            <p:cNvSpPr/>
            <p:nvPr/>
          </p:nvSpPr>
          <p:spPr>
            <a:xfrm>
              <a:off x="-341" y="3186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85" name="Google Shape;1785;p20"/>
            <p:cNvGrpSpPr/>
            <p:nvPr/>
          </p:nvGrpSpPr>
          <p:grpSpPr>
            <a:xfrm>
              <a:off x="-222" y="3180"/>
              <a:ext cx="492" cy="154"/>
              <a:chOff x="723" y="3453"/>
              <a:chExt cx="492" cy="154"/>
            </a:xfrm>
          </p:grpSpPr>
          <p:grpSp>
            <p:nvGrpSpPr>
              <p:cNvPr id="1786" name="Google Shape;1786;p20"/>
              <p:cNvGrpSpPr/>
              <p:nvPr/>
            </p:nvGrpSpPr>
            <p:grpSpPr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1787" name="Google Shape;1787;p20"/>
                <p:cNvGrpSpPr/>
                <p:nvPr/>
              </p:nvGrpSpPr>
              <p:grpSpPr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1788" name="Google Shape;1788;p20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89" name="Google Shape;1789;p20"/>
                  <p:cNvSpPr txBox="1"/>
                  <p:nvPr/>
                </p:nvSpPr>
                <p:spPr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HTTP</a:t>
                    </a:r>
                    <a:endParaRPr/>
                  </a:p>
                </p:txBody>
              </p:sp>
            </p:grpSp>
            <p:grpSp>
              <p:nvGrpSpPr>
                <p:cNvPr id="1790" name="Google Shape;1790;p20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791" name="Google Shape;1791;p20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92" name="Google Shape;1792;p20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793" name="Google Shape;1793;p20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4" name="Google Shape;1794;p20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95" name="Google Shape;1795;p20"/>
            <p:cNvSpPr/>
            <p:nvPr/>
          </p:nvSpPr>
          <p:spPr>
            <a:xfrm>
              <a:off x="-328" y="3202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20"/>
            <p:cNvSpPr/>
            <p:nvPr/>
          </p:nvSpPr>
          <p:spPr>
            <a:xfrm>
              <a:off x="270" y="3201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97" name="Google Shape;179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44776" y="2632037"/>
            <a:ext cx="639182" cy="395101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798" name="Google Shape;1798;p20"/>
          <p:cNvSpPr/>
          <p:nvPr/>
        </p:nvSpPr>
        <p:spPr>
          <a:xfrm>
            <a:off x="2344747" y="1988349"/>
            <a:ext cx="2595553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7325" lvl="0" marL="238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page </a:t>
            </a:r>
            <a:r>
              <a:rPr b="0" i="1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finally (!!!)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displayed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2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Chapter 6: Summary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21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p21"/>
          <p:cNvSpPr txBox="1"/>
          <p:nvPr/>
        </p:nvSpPr>
        <p:spPr>
          <a:xfrm>
            <a:off x="757518" y="1324816"/>
            <a:ext cx="11434482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principles behind data link layer services: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sharing a broadcast channel: multiple access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layer addressing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instantiation, implementation of various link layer technologies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switched LANS, VLANs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virtualized networks as a link layer: MPLS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synthesis: a day in the life of a web request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2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Chapter 6: let’s take a breath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22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p22"/>
          <p:cNvSpPr txBox="1"/>
          <p:nvPr/>
        </p:nvSpPr>
        <p:spPr>
          <a:xfrm>
            <a:off x="1026459" y="1365157"/>
            <a:ext cx="10215282" cy="29379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journey down protocol stack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(except PHY)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solid understanding of networking principles, practice!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….. could stop here …. but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more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interesting topics!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wireless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security 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23"/>
          <p:cNvSpPr txBox="1"/>
          <p:nvPr>
            <p:ph type="title"/>
          </p:nvPr>
        </p:nvSpPr>
        <p:spPr>
          <a:xfrm>
            <a:off x="580529" y="463807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Link Layer</a:t>
            </a:r>
            <a:endParaRPr sz="6000"/>
          </a:p>
        </p:txBody>
      </p:sp>
      <p:grpSp>
        <p:nvGrpSpPr>
          <p:cNvPr id="1821" name="Google Shape;1821;p23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1822" name="Google Shape;1822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3" name="Google Shape;1823;p23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1824" name="Google Shape;1824;p23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1825" name="Google Shape;1825;p2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26" name="Google Shape;1826;p23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27" name="Google Shape;1827;p23"/>
          <p:cNvGrpSpPr/>
          <p:nvPr/>
        </p:nvGrpSpPr>
        <p:grpSpPr>
          <a:xfrm>
            <a:off x="706121" y="6088211"/>
            <a:ext cx="6892924" cy="461665"/>
            <a:chOff x="731521" y="6141551"/>
            <a:chExt cx="6892924" cy="461665"/>
          </a:xfrm>
        </p:grpSpPr>
        <p:sp>
          <p:nvSpPr>
            <p:cNvPr id="1828" name="Google Shape;1828;p23"/>
            <p:cNvSpPr txBox="1"/>
            <p:nvPr/>
          </p:nvSpPr>
          <p:spPr>
            <a:xfrm>
              <a:off x="731521" y="6141551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    2020, J.F. Kurose, All Rights Reserved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   1996-2020, J.F. Kurose, K.W. Ross, All Rights Reserved</a:t>
              </a:r>
              <a:endParaRPr/>
            </a:p>
          </p:txBody>
        </p:sp>
        <p:grpSp>
          <p:nvGrpSpPr>
            <p:cNvPr id="1829" name="Google Shape;1829;p23"/>
            <p:cNvGrpSpPr/>
            <p:nvPr/>
          </p:nvGrpSpPr>
          <p:grpSpPr>
            <a:xfrm>
              <a:off x="1252378" y="6209727"/>
              <a:ext cx="473108" cy="346349"/>
              <a:chOff x="1252378" y="6209727"/>
              <a:chExt cx="473108" cy="346349"/>
            </a:xfrm>
          </p:grpSpPr>
          <p:pic>
            <p:nvPicPr>
              <p:cNvPr id="1830" name="Google Shape;1830;p2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252378" y="6209727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31" name="Google Shape;1831;p2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99650" y="6395855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832" name="Google Shape;1832;p23"/>
          <p:cNvSpPr txBox="1"/>
          <p:nvPr/>
        </p:nvSpPr>
        <p:spPr>
          <a:xfrm>
            <a:off x="574495" y="2100867"/>
            <a:ext cx="9734917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 to the Link Layer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Error-detection and -correction Techniques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Links and Protocols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Switched Local Area Networks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a Network as a Link Layer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13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Retrospective: A Day in the Life of a Web Page Request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