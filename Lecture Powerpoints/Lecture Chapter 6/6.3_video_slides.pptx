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illSans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Gill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gif"/><Relationship Id="rId4" Type="http://schemas.openxmlformats.org/officeDocument/2006/relationships/image" Target="../media/image12.jpg"/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2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Introduction to the Link Layer </a:t>
            </a:r>
            <a:r>
              <a:rPr lang="en-US" sz="32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links, protocols</a:t>
            </a:r>
            <a:endParaRPr sz="4400"/>
          </a:p>
        </p:txBody>
      </p:sp>
      <p:sp>
        <p:nvSpPr>
          <p:cNvPr id="72" name="Google Shape;72;p13"/>
          <p:cNvSpPr txBox="1"/>
          <p:nvPr/>
        </p:nvSpPr>
        <p:spPr>
          <a:xfrm>
            <a:off x="1448045" y="1319435"/>
            <a:ext cx="77724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types of “links”:</a:t>
            </a:r>
            <a:endParaRPr/>
          </a:p>
          <a:p>
            <a:pPr indent="-333375" lvl="0" marL="466725" marR="0" rtl="0" algn="l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 link between Ethernet switch, host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PPP for dial-up access</a:t>
            </a:r>
            <a:endParaRPr/>
          </a:p>
          <a:p>
            <a:pPr indent="-333375" lvl="0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broadcast (shared wire or medium)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old-school Ethernet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HFC in cable-based access network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802.11 wireless LAN, 4G/4G. satellite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3" name="Google Shape;73;p13"/>
          <p:cNvGrpSpPr/>
          <p:nvPr/>
        </p:nvGrpSpPr>
        <p:grpSpPr>
          <a:xfrm>
            <a:off x="6882164" y="4987878"/>
            <a:ext cx="2026132" cy="1407972"/>
            <a:chOff x="6882164" y="4987878"/>
            <a:chExt cx="2026132" cy="1407972"/>
          </a:xfrm>
        </p:grpSpPr>
        <p:sp>
          <p:nvSpPr>
            <p:cNvPr id="74" name="Google Shape;74;p13"/>
            <p:cNvSpPr txBox="1"/>
            <p:nvPr/>
          </p:nvSpPr>
          <p:spPr>
            <a:xfrm>
              <a:off x="6882164" y="6092369"/>
              <a:ext cx="2026132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shared radio: satellite </a:t>
              </a:r>
              <a:endParaRPr/>
            </a:p>
          </p:txBody>
        </p:sp>
        <p:grpSp>
          <p:nvGrpSpPr>
            <p:cNvPr id="75" name="Google Shape;75;p13"/>
            <p:cNvGrpSpPr/>
            <p:nvPr/>
          </p:nvGrpSpPr>
          <p:grpSpPr>
            <a:xfrm>
              <a:off x="7127673" y="5700665"/>
              <a:ext cx="288925" cy="220663"/>
              <a:chOff x="2274" y="2821"/>
              <a:chExt cx="215" cy="238"/>
            </a:xfrm>
          </p:grpSpPr>
          <p:sp>
            <p:nvSpPr>
              <p:cNvPr id="76" name="Google Shape;76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7" name="Google Shape;77;p13"/>
              <p:cNvCxnSpPr/>
              <p:nvPr/>
            </p:nvCxnSpPr>
            <p:spPr>
              <a:xfrm>
                <a:off x="2317" y="2951"/>
                <a:ext cx="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" name="Google Shape;78;p13"/>
              <p:cNvSpPr/>
              <p:nvPr/>
            </p:nvSpPr>
            <p:spPr>
              <a:xfrm>
                <a:off x="2317" y="2923"/>
                <a:ext cx="44" cy="109"/>
              </a:xfrm>
              <a:custGeom>
                <a:rect b="b" l="l" r="r" t="t"/>
                <a:pathLst>
                  <a:path extrusionOk="0" h="219" w="87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13"/>
              <p:cNvCxnSpPr/>
              <p:nvPr/>
            </p:nvCxnSpPr>
            <p:spPr>
              <a:xfrm flipH="1" rot="10800000">
                <a:off x="2300" y="2951"/>
                <a:ext cx="47" cy="8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" name="Google Shape;80;p13"/>
              <p:cNvSpPr/>
              <p:nvPr/>
            </p:nvSpPr>
            <p:spPr>
              <a:xfrm>
                <a:off x="2317" y="3005"/>
                <a:ext cx="86" cy="27"/>
              </a:xfrm>
              <a:custGeom>
                <a:rect b="b" l="l" r="r" t="t"/>
                <a:pathLst>
                  <a:path extrusionOk="0" h="55" w="172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" name="Google Shape;81;p13"/>
              <p:cNvCxnSpPr/>
              <p:nvPr/>
            </p:nvCxnSpPr>
            <p:spPr>
              <a:xfrm rot="10800000">
                <a:off x="2375" y="2960"/>
                <a:ext cx="46" cy="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" name="Google Shape;82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290" y="3043"/>
                <a:ext cx="171" cy="1"/>
              </a:xfrm>
              <a:custGeom>
                <a:rect b="b" l="l" r="r" t="t"/>
                <a:pathLst>
                  <a:path extrusionOk="0" h="1" w="343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81" y="2821"/>
                <a:ext cx="208" cy="175"/>
              </a:xfrm>
              <a:custGeom>
                <a:rect b="b" l="l" r="r" t="t"/>
                <a:pathLst>
                  <a:path extrusionOk="0" h="350" w="415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" name="Google Shape;86;p13"/>
              <p:cNvCxnSpPr/>
              <p:nvPr/>
            </p:nvCxnSpPr>
            <p:spPr>
              <a:xfrm rot="10800000">
                <a:off x="2285" y="2824"/>
                <a:ext cx="136" cy="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 flipH="1">
                <a:off x="2372" y="2826"/>
                <a:ext cx="49" cy="1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421" y="2826"/>
                <a:ext cx="67" cy="1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" name="Google Shape;89;p13"/>
              <p:cNvSpPr/>
              <p:nvPr/>
            </p:nvSpPr>
            <p:spPr>
              <a:xfrm>
                <a:off x="2349" y="2902"/>
                <a:ext cx="51" cy="40"/>
              </a:xfrm>
              <a:custGeom>
                <a:rect b="b" l="l" r="r" t="t"/>
                <a:pathLst>
                  <a:path extrusionOk="0" h="80" w="101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3"/>
            <p:cNvGrpSpPr/>
            <p:nvPr/>
          </p:nvGrpSpPr>
          <p:grpSpPr>
            <a:xfrm>
              <a:off x="7634085" y="5681615"/>
              <a:ext cx="223838" cy="254000"/>
              <a:chOff x="2274" y="2821"/>
              <a:chExt cx="215" cy="238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2" name="Google Shape;92;p13"/>
              <p:cNvCxnSpPr/>
              <p:nvPr/>
            </p:nvCxnSpPr>
            <p:spPr>
              <a:xfrm>
                <a:off x="2317" y="2951"/>
                <a:ext cx="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" name="Google Shape;93;p13"/>
              <p:cNvSpPr/>
              <p:nvPr/>
            </p:nvSpPr>
            <p:spPr>
              <a:xfrm>
                <a:off x="2317" y="2923"/>
                <a:ext cx="44" cy="109"/>
              </a:xfrm>
              <a:custGeom>
                <a:rect b="b" l="l" r="r" t="t"/>
                <a:pathLst>
                  <a:path extrusionOk="0" h="219" w="87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4" name="Google Shape;94;p13"/>
              <p:cNvCxnSpPr/>
              <p:nvPr/>
            </p:nvCxnSpPr>
            <p:spPr>
              <a:xfrm flipH="1" rot="10800000">
                <a:off x="2300" y="2951"/>
                <a:ext cx="47" cy="8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" name="Google Shape;95;p13"/>
              <p:cNvSpPr/>
              <p:nvPr/>
            </p:nvSpPr>
            <p:spPr>
              <a:xfrm>
                <a:off x="2317" y="3005"/>
                <a:ext cx="86" cy="27"/>
              </a:xfrm>
              <a:custGeom>
                <a:rect b="b" l="l" r="r" t="t"/>
                <a:pathLst>
                  <a:path extrusionOk="0" h="55" w="172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6" name="Google Shape;96;p13"/>
              <p:cNvCxnSpPr/>
              <p:nvPr/>
            </p:nvCxnSpPr>
            <p:spPr>
              <a:xfrm rot="10800000">
                <a:off x="2375" y="2960"/>
                <a:ext cx="46" cy="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" name="Google Shape;97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290" y="3043"/>
                <a:ext cx="171" cy="1"/>
              </a:xfrm>
              <a:custGeom>
                <a:rect b="b" l="l" r="r" t="t"/>
                <a:pathLst>
                  <a:path extrusionOk="0" h="1" w="343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281" y="2821"/>
                <a:ext cx="208" cy="175"/>
              </a:xfrm>
              <a:custGeom>
                <a:rect b="b" l="l" r="r" t="t"/>
                <a:pathLst>
                  <a:path extrusionOk="0" h="350" w="415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1" name="Google Shape;101;p13"/>
              <p:cNvCxnSpPr/>
              <p:nvPr/>
            </p:nvCxnSpPr>
            <p:spPr>
              <a:xfrm rot="10800000">
                <a:off x="2285" y="2824"/>
                <a:ext cx="136" cy="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13"/>
              <p:cNvCxnSpPr/>
              <p:nvPr/>
            </p:nvCxnSpPr>
            <p:spPr>
              <a:xfrm flipH="1">
                <a:off x="2372" y="2826"/>
                <a:ext cx="49" cy="1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13"/>
              <p:cNvCxnSpPr/>
              <p:nvPr/>
            </p:nvCxnSpPr>
            <p:spPr>
              <a:xfrm>
                <a:off x="2421" y="2826"/>
                <a:ext cx="67" cy="1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" name="Google Shape;104;p13"/>
              <p:cNvSpPr/>
              <p:nvPr/>
            </p:nvSpPr>
            <p:spPr>
              <a:xfrm>
                <a:off x="2349" y="2902"/>
                <a:ext cx="51" cy="40"/>
              </a:xfrm>
              <a:custGeom>
                <a:rect b="b" l="l" r="r" t="t"/>
                <a:pathLst>
                  <a:path extrusionOk="0" h="80" w="101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13"/>
            <p:cNvGrpSpPr/>
            <p:nvPr/>
          </p:nvGrpSpPr>
          <p:grpSpPr>
            <a:xfrm flipH="1">
              <a:off x="8013498" y="5710190"/>
              <a:ext cx="298450" cy="211138"/>
              <a:chOff x="2274" y="2821"/>
              <a:chExt cx="215" cy="238"/>
            </a:xfrm>
          </p:grpSpPr>
          <p:sp>
            <p:nvSpPr>
              <p:cNvPr id="106" name="Google Shape;106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  <a:close/>
                    <a:moveTo>
                      <a:pt x="376" y="18"/>
                    </a:moveTo>
                    <a:lnTo>
                      <a:pt x="33" y="18"/>
                    </a:lnTo>
                    <a:lnTo>
                      <a:pt x="376" y="18"/>
                    </a:lnTo>
                    <a:close/>
                  </a:path>
                </a:pathLst>
              </a:custGeom>
              <a:solidFill>
                <a:srgbClr val="3333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7" name="Google Shape;107;p13"/>
              <p:cNvCxnSpPr/>
              <p:nvPr/>
            </p:nvCxnSpPr>
            <p:spPr>
              <a:xfrm>
                <a:off x="2317" y="2951"/>
                <a:ext cx="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" name="Google Shape;108;p13"/>
              <p:cNvSpPr/>
              <p:nvPr/>
            </p:nvSpPr>
            <p:spPr>
              <a:xfrm>
                <a:off x="2317" y="2923"/>
                <a:ext cx="44" cy="109"/>
              </a:xfrm>
              <a:custGeom>
                <a:rect b="b" l="l" r="r" t="t"/>
                <a:pathLst>
                  <a:path extrusionOk="0" h="219" w="87">
                    <a:moveTo>
                      <a:pt x="87" y="219"/>
                    </a:moveTo>
                    <a:lnTo>
                      <a:pt x="0" y="5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9" name="Google Shape;109;p13"/>
              <p:cNvCxnSpPr/>
              <p:nvPr/>
            </p:nvCxnSpPr>
            <p:spPr>
              <a:xfrm flipH="1" rot="10800000">
                <a:off x="2300" y="2951"/>
                <a:ext cx="47" cy="8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" name="Google Shape;110;p13"/>
              <p:cNvSpPr/>
              <p:nvPr/>
            </p:nvSpPr>
            <p:spPr>
              <a:xfrm>
                <a:off x="2317" y="3005"/>
                <a:ext cx="86" cy="27"/>
              </a:xfrm>
              <a:custGeom>
                <a:rect b="b" l="l" r="r" t="t"/>
                <a:pathLst>
                  <a:path extrusionOk="0" h="55" w="172">
                    <a:moveTo>
                      <a:pt x="28" y="55"/>
                    </a:moveTo>
                    <a:lnTo>
                      <a:pt x="0" y="0"/>
                    </a:lnTo>
                    <a:lnTo>
                      <a:pt x="172" y="0"/>
                    </a:lnTo>
                    <a:lnTo>
                      <a:pt x="146" y="55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" name="Google Shape;111;p13"/>
              <p:cNvCxnSpPr/>
              <p:nvPr/>
            </p:nvCxnSpPr>
            <p:spPr>
              <a:xfrm rot="10800000">
                <a:off x="2375" y="2960"/>
                <a:ext cx="46" cy="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2" name="Google Shape;112;p13"/>
              <p:cNvSpPr/>
              <p:nvPr/>
            </p:nvSpPr>
            <p:spPr>
              <a:xfrm>
                <a:off x="2274" y="3034"/>
                <a:ext cx="215" cy="25"/>
              </a:xfrm>
              <a:custGeom>
                <a:rect b="b" l="l" r="r" t="t"/>
                <a:pathLst>
                  <a:path extrusionOk="0" h="50" w="430">
                    <a:moveTo>
                      <a:pt x="26" y="18"/>
                    </a:moveTo>
                    <a:lnTo>
                      <a:pt x="0" y="18"/>
                    </a:lnTo>
                    <a:lnTo>
                      <a:pt x="0" y="50"/>
                    </a:lnTo>
                    <a:lnTo>
                      <a:pt x="430" y="50"/>
                    </a:lnTo>
                    <a:lnTo>
                      <a:pt x="430" y="18"/>
                    </a:lnTo>
                    <a:lnTo>
                      <a:pt x="376" y="18"/>
                    </a:lnTo>
                    <a:lnTo>
                      <a:pt x="376" y="0"/>
                    </a:lnTo>
                    <a:lnTo>
                      <a:pt x="26" y="0"/>
                    </a:lnTo>
                    <a:lnTo>
                      <a:pt x="26" y="18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290" y="3043"/>
                <a:ext cx="171" cy="1"/>
              </a:xfrm>
              <a:custGeom>
                <a:rect b="b" l="l" r="r" t="t"/>
                <a:pathLst>
                  <a:path extrusionOk="0" h="1" w="343">
                    <a:moveTo>
                      <a:pt x="343" y="0"/>
                    </a:moveTo>
                    <a:lnTo>
                      <a:pt x="0" y="0"/>
                    </a:lnTo>
                    <a:lnTo>
                      <a:pt x="343" y="0"/>
                    </a:lnTo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347" y="2951"/>
                <a:ext cx="27" cy="83"/>
              </a:xfrm>
              <a:prstGeom prst="rect">
                <a:avLst/>
              </a:pr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281" y="2821"/>
                <a:ext cx="208" cy="175"/>
              </a:xfrm>
              <a:custGeom>
                <a:rect b="b" l="l" r="r" t="t"/>
                <a:pathLst>
                  <a:path extrusionOk="0" h="350" w="415">
                    <a:moveTo>
                      <a:pt x="8" y="12"/>
                    </a:moveTo>
                    <a:lnTo>
                      <a:pt x="1" y="32"/>
                    </a:lnTo>
                    <a:lnTo>
                      <a:pt x="0" y="53"/>
                    </a:lnTo>
                    <a:lnTo>
                      <a:pt x="3" y="78"/>
                    </a:lnTo>
                    <a:lnTo>
                      <a:pt x="8" y="103"/>
                    </a:lnTo>
                    <a:lnTo>
                      <a:pt x="18" y="130"/>
                    </a:lnTo>
                    <a:lnTo>
                      <a:pt x="34" y="158"/>
                    </a:lnTo>
                    <a:lnTo>
                      <a:pt x="51" y="185"/>
                    </a:lnTo>
                    <a:lnTo>
                      <a:pt x="73" y="211"/>
                    </a:lnTo>
                    <a:lnTo>
                      <a:pt x="97" y="236"/>
                    </a:lnTo>
                    <a:lnTo>
                      <a:pt x="124" y="261"/>
                    </a:lnTo>
                    <a:lnTo>
                      <a:pt x="151" y="282"/>
                    </a:lnTo>
                    <a:lnTo>
                      <a:pt x="182" y="302"/>
                    </a:lnTo>
                    <a:lnTo>
                      <a:pt x="212" y="318"/>
                    </a:lnTo>
                    <a:lnTo>
                      <a:pt x="242" y="332"/>
                    </a:lnTo>
                    <a:lnTo>
                      <a:pt x="270" y="341"/>
                    </a:lnTo>
                    <a:lnTo>
                      <a:pt x="299" y="346"/>
                    </a:lnTo>
                    <a:lnTo>
                      <a:pt x="325" y="350"/>
                    </a:lnTo>
                    <a:lnTo>
                      <a:pt x="349" y="346"/>
                    </a:lnTo>
                    <a:lnTo>
                      <a:pt x="371" y="341"/>
                    </a:lnTo>
                    <a:lnTo>
                      <a:pt x="388" y="332"/>
                    </a:lnTo>
                    <a:lnTo>
                      <a:pt x="402" y="318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  <a:moveTo>
                      <a:pt x="8" y="12"/>
                    </a:moveTo>
                    <a:lnTo>
                      <a:pt x="14" y="5"/>
                    </a:lnTo>
                    <a:lnTo>
                      <a:pt x="24" y="0"/>
                    </a:lnTo>
                    <a:lnTo>
                      <a:pt x="38" y="0"/>
                    </a:lnTo>
                    <a:lnTo>
                      <a:pt x="56" y="2"/>
                    </a:lnTo>
                    <a:lnTo>
                      <a:pt x="77" y="7"/>
                    </a:lnTo>
                    <a:lnTo>
                      <a:pt x="100" y="16"/>
                    </a:lnTo>
                    <a:lnTo>
                      <a:pt x="126" y="26"/>
                    </a:lnTo>
                    <a:lnTo>
                      <a:pt x="153" y="41"/>
                    </a:lnTo>
                    <a:lnTo>
                      <a:pt x="182" y="57"/>
                    </a:lnTo>
                    <a:lnTo>
                      <a:pt x="210" y="74"/>
                    </a:lnTo>
                    <a:lnTo>
                      <a:pt x="239" y="94"/>
                    </a:lnTo>
                    <a:lnTo>
                      <a:pt x="268" y="115"/>
                    </a:lnTo>
                    <a:lnTo>
                      <a:pt x="295" y="138"/>
                    </a:lnTo>
                    <a:lnTo>
                      <a:pt x="321" y="160"/>
                    </a:lnTo>
                    <a:lnTo>
                      <a:pt x="345" y="183"/>
                    </a:lnTo>
                    <a:lnTo>
                      <a:pt x="365" y="204"/>
                    </a:lnTo>
                    <a:lnTo>
                      <a:pt x="382" y="226"/>
                    </a:lnTo>
                    <a:lnTo>
                      <a:pt x="396" y="245"/>
                    </a:lnTo>
                    <a:lnTo>
                      <a:pt x="406" y="263"/>
                    </a:lnTo>
                    <a:lnTo>
                      <a:pt x="412" y="279"/>
                    </a:lnTo>
                    <a:lnTo>
                      <a:pt x="415" y="291"/>
                    </a:lnTo>
                    <a:lnTo>
                      <a:pt x="412" y="302"/>
                    </a:lnTo>
                    <a:lnTo>
                      <a:pt x="406" y="309"/>
                    </a:lnTo>
                    <a:lnTo>
                      <a:pt x="396" y="314"/>
                    </a:lnTo>
                    <a:lnTo>
                      <a:pt x="382" y="316"/>
                    </a:lnTo>
                    <a:lnTo>
                      <a:pt x="365" y="313"/>
                    </a:lnTo>
                    <a:lnTo>
                      <a:pt x="343" y="307"/>
                    </a:lnTo>
                    <a:lnTo>
                      <a:pt x="321" y="300"/>
                    </a:lnTo>
                    <a:lnTo>
                      <a:pt x="295" y="288"/>
                    </a:lnTo>
                    <a:lnTo>
                      <a:pt x="268" y="275"/>
                    </a:lnTo>
                    <a:lnTo>
                      <a:pt x="239" y="259"/>
                    </a:lnTo>
                    <a:lnTo>
                      <a:pt x="210" y="240"/>
                    </a:lnTo>
                    <a:lnTo>
                      <a:pt x="182" y="220"/>
                    </a:lnTo>
                    <a:lnTo>
                      <a:pt x="153" y="199"/>
                    </a:lnTo>
                    <a:lnTo>
                      <a:pt x="126" y="178"/>
                    </a:lnTo>
                    <a:lnTo>
                      <a:pt x="100" y="154"/>
                    </a:lnTo>
                    <a:lnTo>
                      <a:pt x="76" y="131"/>
                    </a:lnTo>
                    <a:lnTo>
                      <a:pt x="56" y="110"/>
                    </a:lnTo>
                    <a:lnTo>
                      <a:pt x="38" y="89"/>
                    </a:lnTo>
                    <a:lnTo>
                      <a:pt x="24" y="69"/>
                    </a:lnTo>
                    <a:lnTo>
                      <a:pt x="14" y="51"/>
                    </a:lnTo>
                    <a:lnTo>
                      <a:pt x="8" y="35"/>
                    </a:lnTo>
                    <a:lnTo>
                      <a:pt x="5" y="23"/>
                    </a:lnTo>
                    <a:lnTo>
                      <a:pt x="8" y="12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6" name="Google Shape;116;p13"/>
              <p:cNvCxnSpPr/>
              <p:nvPr/>
            </p:nvCxnSpPr>
            <p:spPr>
              <a:xfrm rot="10800000">
                <a:off x="2285" y="2824"/>
                <a:ext cx="136" cy="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3"/>
              <p:cNvCxnSpPr/>
              <p:nvPr/>
            </p:nvCxnSpPr>
            <p:spPr>
              <a:xfrm flipH="1">
                <a:off x="2372" y="2826"/>
                <a:ext cx="49" cy="1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13"/>
              <p:cNvCxnSpPr/>
              <p:nvPr/>
            </p:nvCxnSpPr>
            <p:spPr>
              <a:xfrm>
                <a:off x="2421" y="2826"/>
                <a:ext cx="67" cy="1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" name="Google Shape;119;p13"/>
              <p:cNvSpPr/>
              <p:nvPr/>
            </p:nvSpPr>
            <p:spPr>
              <a:xfrm>
                <a:off x="2349" y="2902"/>
                <a:ext cx="51" cy="40"/>
              </a:xfrm>
              <a:custGeom>
                <a:rect b="b" l="l" r="r" t="t"/>
                <a:pathLst>
                  <a:path extrusionOk="0" h="80" w="101">
                    <a:moveTo>
                      <a:pt x="0" y="3"/>
                    </a:moveTo>
                    <a:lnTo>
                      <a:pt x="4" y="0"/>
                    </a:lnTo>
                    <a:lnTo>
                      <a:pt x="13" y="1"/>
                    </a:lnTo>
                    <a:lnTo>
                      <a:pt x="24" y="3"/>
                    </a:lnTo>
                    <a:lnTo>
                      <a:pt x="37" y="10"/>
                    </a:lnTo>
                    <a:lnTo>
                      <a:pt x="51" y="19"/>
                    </a:lnTo>
                    <a:lnTo>
                      <a:pt x="66" y="30"/>
                    </a:lnTo>
                    <a:lnTo>
                      <a:pt x="79" y="40"/>
                    </a:lnTo>
                    <a:lnTo>
                      <a:pt x="90" y="51"/>
                    </a:lnTo>
                    <a:lnTo>
                      <a:pt x="97" y="62"/>
                    </a:lnTo>
                    <a:lnTo>
                      <a:pt x="101" y="71"/>
                    </a:lnTo>
                    <a:lnTo>
                      <a:pt x="101" y="76"/>
                    </a:lnTo>
                    <a:lnTo>
                      <a:pt x="97" y="80"/>
                    </a:lnTo>
                    <a:lnTo>
                      <a:pt x="90" y="78"/>
                    </a:lnTo>
                    <a:lnTo>
                      <a:pt x="79" y="74"/>
                    </a:lnTo>
                    <a:lnTo>
                      <a:pt x="66" y="69"/>
                    </a:lnTo>
                    <a:lnTo>
                      <a:pt x="51" y="60"/>
                    </a:lnTo>
                    <a:lnTo>
                      <a:pt x="37" y="49"/>
                    </a:lnTo>
                    <a:lnTo>
                      <a:pt x="23" y="39"/>
                    </a:lnTo>
                    <a:lnTo>
                      <a:pt x="13" y="28"/>
                    </a:lnTo>
                    <a:lnTo>
                      <a:pt x="4" y="17"/>
                    </a:lnTo>
                    <a:lnTo>
                      <a:pt x="0" y="8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MMj03957750000[1]" id="120" name="Google Shape;12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00723" y="4987878"/>
              <a:ext cx="561975" cy="479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>
            <a:off x="8862810" y="4906915"/>
            <a:ext cx="2666586" cy="1631405"/>
            <a:chOff x="8862810" y="4906915"/>
            <a:chExt cx="2666586" cy="1631405"/>
          </a:xfrm>
        </p:grpSpPr>
        <p:sp>
          <p:nvSpPr>
            <p:cNvPr id="122" name="Google Shape;122;p13"/>
            <p:cNvSpPr txBox="1"/>
            <p:nvPr/>
          </p:nvSpPr>
          <p:spPr>
            <a:xfrm>
              <a:off x="8862810" y="6025551"/>
              <a:ext cx="2666586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humans at a cocktail party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(shared air, acoustical)</a:t>
              </a:r>
              <a:endParaRPr/>
            </a:p>
          </p:txBody>
        </p:sp>
        <p:pic>
          <p:nvPicPr>
            <p:cNvPr descr="cocktail" id="123" name="Google Shape;12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46005" y="4906915"/>
              <a:ext cx="2030412" cy="104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13"/>
          <p:cNvGrpSpPr/>
          <p:nvPr/>
        </p:nvGrpSpPr>
        <p:grpSpPr>
          <a:xfrm>
            <a:off x="5137642" y="4630344"/>
            <a:ext cx="1695785" cy="1760737"/>
            <a:chOff x="5137642" y="4630344"/>
            <a:chExt cx="1695785" cy="1760737"/>
          </a:xfrm>
        </p:grpSpPr>
        <p:sp>
          <p:nvSpPr>
            <p:cNvPr id="125" name="Google Shape;125;p13"/>
            <p:cNvSpPr txBox="1"/>
            <p:nvPr/>
          </p:nvSpPr>
          <p:spPr>
            <a:xfrm>
              <a:off x="5137642" y="6087600"/>
              <a:ext cx="1695785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shared radio: WiFi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" name="Google Shape;126;p13"/>
            <p:cNvGrpSpPr/>
            <p:nvPr/>
          </p:nvGrpSpPr>
          <p:grpSpPr>
            <a:xfrm>
              <a:off x="5370862" y="4630344"/>
              <a:ext cx="635000" cy="491904"/>
              <a:chOff x="3061" y="2530"/>
              <a:chExt cx="400" cy="310"/>
            </a:xfrm>
          </p:grpSpPr>
          <p:grpSp>
            <p:nvGrpSpPr>
              <p:cNvPr id="127" name="Google Shape;127;p13"/>
              <p:cNvGrpSpPr/>
              <p:nvPr/>
            </p:nvGrpSpPr>
            <p:grpSpPr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128" name="Google Shape;128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laptop_keyboard" id="134" name="Google Shape;134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13"/>
              <p:cNvSpPr/>
              <p:nvPr/>
            </p:nvSpPr>
            <p:spPr>
              <a:xfrm>
                <a:off x="3190" y="2638"/>
                <a:ext cx="197" cy="131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36" name="Google Shape;136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p13"/>
              <p:cNvSpPr/>
              <p:nvPr/>
            </p:nvSpPr>
            <p:spPr>
              <a:xfrm>
                <a:off x="3226" y="2634"/>
                <a:ext cx="167" cy="25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3189" y="2634"/>
                <a:ext cx="46" cy="102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3342" y="2652"/>
                <a:ext cx="50" cy="11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3188" y="2730"/>
                <a:ext cx="183" cy="40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3347" y="2653"/>
                <a:ext cx="47" cy="118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3188" y="2736"/>
                <a:ext cx="163" cy="39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3" name="Google Shape;143;p13"/>
              <p:cNvGrpSpPr/>
              <p:nvPr/>
            </p:nvGrpSpPr>
            <p:grpSpPr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144" name="Google Shape;144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0" name="Google Shape;150;p13"/>
              <p:cNvSpPr/>
              <p:nvPr/>
            </p:nvSpPr>
            <p:spPr>
              <a:xfrm>
                <a:off x="3280" y="2781"/>
                <a:ext cx="67" cy="51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3109" y="2785"/>
                <a:ext cx="171" cy="4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110" y="277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3110" y="273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3115" y="2778"/>
                <a:ext cx="162" cy="4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 flipH="1" rot="10800000">
                <a:off x="3277" y="2775"/>
                <a:ext cx="66" cy="4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3382" y="273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3382" y="269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13"/>
            <p:cNvGrpSpPr/>
            <p:nvPr/>
          </p:nvGrpSpPr>
          <p:grpSpPr>
            <a:xfrm>
              <a:off x="6258275" y="4798619"/>
              <a:ext cx="536575" cy="407766"/>
              <a:chOff x="3328" y="2543"/>
              <a:chExt cx="338" cy="257"/>
            </a:xfrm>
          </p:grpSpPr>
          <p:grpSp>
            <p:nvGrpSpPr>
              <p:cNvPr id="159" name="Google Shape;159;p13"/>
              <p:cNvGrpSpPr/>
              <p:nvPr/>
            </p:nvGrpSpPr>
            <p:grpSpPr>
              <a:xfrm>
                <a:off x="3328" y="2543"/>
                <a:ext cx="327" cy="81"/>
                <a:chOff x="2199" y="955"/>
                <a:chExt cx="2547" cy="506"/>
              </a:xfrm>
            </p:grpSpPr>
            <p:sp>
              <p:nvSpPr>
                <p:cNvPr id="160" name="Google Shape;160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laptop_keyboard" id="166" name="Google Shape;166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3381" y="2696"/>
                <a:ext cx="245" cy="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7" name="Google Shape;167;p13"/>
              <p:cNvSpPr/>
              <p:nvPr/>
            </p:nvSpPr>
            <p:spPr>
              <a:xfrm>
                <a:off x="3462" y="2598"/>
                <a:ext cx="197" cy="131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68" name="Google Shape;168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72" y="2601"/>
                <a:ext cx="179" cy="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/>
              <p:nvPr/>
            </p:nvSpPr>
            <p:spPr>
              <a:xfrm>
                <a:off x="3498" y="2594"/>
                <a:ext cx="167" cy="25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461" y="2594"/>
                <a:ext cx="46" cy="102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614" y="2612"/>
                <a:ext cx="50" cy="11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3460" y="2690"/>
                <a:ext cx="183" cy="40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3619" y="2613"/>
                <a:ext cx="47" cy="118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3460" y="2696"/>
                <a:ext cx="163" cy="39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5" name="Google Shape;175;p13"/>
              <p:cNvGrpSpPr/>
              <p:nvPr/>
            </p:nvGrpSpPr>
            <p:grpSpPr>
              <a:xfrm>
                <a:off x="3458" y="2737"/>
                <a:ext cx="55" cy="24"/>
                <a:chOff x="1740" y="2642"/>
                <a:chExt cx="752" cy="327"/>
              </a:xfrm>
            </p:grpSpPr>
            <p:sp>
              <p:nvSpPr>
                <p:cNvPr id="176" name="Google Shape;176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2" name="Google Shape;182;p13"/>
              <p:cNvSpPr/>
              <p:nvPr/>
            </p:nvSpPr>
            <p:spPr>
              <a:xfrm>
                <a:off x="3552" y="2741"/>
                <a:ext cx="67" cy="51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3381" y="2745"/>
                <a:ext cx="171" cy="4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3387" y="2738"/>
                <a:ext cx="162" cy="4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 flipH="1" rot="10800000">
                <a:off x="3549" y="2735"/>
                <a:ext cx="66" cy="4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" name="Google Shape;186;p13"/>
            <p:cNvGrpSpPr/>
            <p:nvPr/>
          </p:nvGrpSpPr>
          <p:grpSpPr>
            <a:xfrm>
              <a:off x="5640737" y="5058969"/>
              <a:ext cx="585788" cy="419100"/>
              <a:chOff x="5096" y="2218"/>
              <a:chExt cx="369" cy="264"/>
            </a:xfrm>
          </p:grpSpPr>
          <p:grpSp>
            <p:nvGrpSpPr>
              <p:cNvPr id="187" name="Google Shape;187;p13"/>
              <p:cNvGrpSpPr/>
              <p:nvPr/>
            </p:nvGrpSpPr>
            <p:grpSpPr>
              <a:xfrm>
                <a:off x="5096" y="2218"/>
                <a:ext cx="327" cy="81"/>
                <a:chOff x="2199" y="955"/>
                <a:chExt cx="2547" cy="506"/>
              </a:xfrm>
            </p:grpSpPr>
            <p:sp>
              <p:nvSpPr>
                <p:cNvPr id="188" name="Google Shape;188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access_point_stylized_small" id="194" name="Google Shape;194;p1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192" y="2250"/>
                <a:ext cx="273" cy="2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195" name="Google Shape;195;p1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195" y="2251"/>
                <a:ext cx="260" cy="23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6" name="Google Shape;196;p13"/>
            <p:cNvGrpSpPr/>
            <p:nvPr/>
          </p:nvGrpSpPr>
          <p:grpSpPr>
            <a:xfrm>
              <a:off x="5342287" y="5484419"/>
              <a:ext cx="635000" cy="491904"/>
              <a:chOff x="3061" y="2530"/>
              <a:chExt cx="400" cy="310"/>
            </a:xfrm>
          </p:grpSpPr>
          <p:grpSp>
            <p:nvGrpSpPr>
              <p:cNvPr id="197" name="Google Shape;197;p13"/>
              <p:cNvGrpSpPr/>
              <p:nvPr/>
            </p:nvGrpSpPr>
            <p:grpSpPr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198" name="Google Shape;198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laptop_keyboard" id="204" name="Google Shape;204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" name="Google Shape;205;p13"/>
              <p:cNvSpPr/>
              <p:nvPr/>
            </p:nvSpPr>
            <p:spPr>
              <a:xfrm>
                <a:off x="3190" y="2638"/>
                <a:ext cx="197" cy="131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06" name="Google Shape;206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13"/>
              <p:cNvSpPr/>
              <p:nvPr/>
            </p:nvSpPr>
            <p:spPr>
              <a:xfrm>
                <a:off x="3226" y="2634"/>
                <a:ext cx="167" cy="25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3189" y="2634"/>
                <a:ext cx="46" cy="102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3342" y="2652"/>
                <a:ext cx="50" cy="11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3188" y="2730"/>
                <a:ext cx="183" cy="40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3347" y="2653"/>
                <a:ext cx="47" cy="118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3188" y="2736"/>
                <a:ext cx="163" cy="39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3" name="Google Shape;213;p13"/>
              <p:cNvGrpSpPr/>
              <p:nvPr/>
            </p:nvGrpSpPr>
            <p:grpSpPr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214" name="Google Shape;214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0" name="Google Shape;220;p13"/>
              <p:cNvSpPr/>
              <p:nvPr/>
            </p:nvSpPr>
            <p:spPr>
              <a:xfrm>
                <a:off x="3280" y="2781"/>
                <a:ext cx="67" cy="51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3"/>
              <p:cNvSpPr/>
              <p:nvPr/>
            </p:nvSpPr>
            <p:spPr>
              <a:xfrm>
                <a:off x="3109" y="2785"/>
                <a:ext cx="171" cy="4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>
                <a:off x="3110" y="277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3"/>
              <p:cNvSpPr/>
              <p:nvPr/>
            </p:nvSpPr>
            <p:spPr>
              <a:xfrm>
                <a:off x="3110" y="273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3"/>
              <p:cNvSpPr/>
              <p:nvPr/>
            </p:nvSpPr>
            <p:spPr>
              <a:xfrm>
                <a:off x="3115" y="2778"/>
                <a:ext cx="162" cy="4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 flipH="1" rot="10800000">
                <a:off x="3277" y="2775"/>
                <a:ext cx="66" cy="4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3382" y="273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3382" y="269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>
              <a:off x="5824887" y="5539981"/>
              <a:ext cx="635000" cy="491904"/>
              <a:chOff x="3061" y="2530"/>
              <a:chExt cx="400" cy="310"/>
            </a:xfrm>
          </p:grpSpPr>
          <p:grpSp>
            <p:nvGrpSpPr>
              <p:cNvPr id="229" name="Google Shape;229;p13"/>
              <p:cNvGrpSpPr/>
              <p:nvPr/>
            </p:nvGrpSpPr>
            <p:grpSpPr>
              <a:xfrm>
                <a:off x="3061" y="2530"/>
                <a:ext cx="327" cy="81"/>
                <a:chOff x="2199" y="955"/>
                <a:chExt cx="2547" cy="506"/>
              </a:xfrm>
            </p:grpSpPr>
            <p:sp>
              <p:nvSpPr>
                <p:cNvPr id="230" name="Google Shape;230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laptop_keyboard" id="236" name="Google Shape;236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3109" y="2736"/>
                <a:ext cx="245" cy="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7" name="Google Shape;237;p13"/>
              <p:cNvSpPr/>
              <p:nvPr/>
            </p:nvSpPr>
            <p:spPr>
              <a:xfrm>
                <a:off x="3190" y="2638"/>
                <a:ext cx="197" cy="131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38" name="Google Shape;238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200" y="2641"/>
                <a:ext cx="179" cy="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" name="Google Shape;239;p13"/>
              <p:cNvSpPr/>
              <p:nvPr/>
            </p:nvSpPr>
            <p:spPr>
              <a:xfrm>
                <a:off x="3226" y="2634"/>
                <a:ext cx="167" cy="25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3189" y="2634"/>
                <a:ext cx="46" cy="102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3342" y="2652"/>
                <a:ext cx="50" cy="117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3188" y="2730"/>
                <a:ext cx="183" cy="40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3347" y="2653"/>
                <a:ext cx="47" cy="118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3188" y="2736"/>
                <a:ext cx="163" cy="39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5" name="Google Shape;245;p13"/>
              <p:cNvGrpSpPr/>
              <p:nvPr/>
            </p:nvGrpSpPr>
            <p:grpSpPr>
              <a:xfrm>
                <a:off x="3186" y="2777"/>
                <a:ext cx="55" cy="24"/>
                <a:chOff x="1740" y="2642"/>
                <a:chExt cx="752" cy="327"/>
              </a:xfrm>
            </p:grpSpPr>
            <p:sp>
              <p:nvSpPr>
                <p:cNvPr id="246" name="Google Shape;246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CC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2" name="Google Shape;252;p13"/>
              <p:cNvSpPr/>
              <p:nvPr/>
            </p:nvSpPr>
            <p:spPr>
              <a:xfrm>
                <a:off x="3280" y="2781"/>
                <a:ext cx="67" cy="51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3109" y="2785"/>
                <a:ext cx="171" cy="4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3110" y="277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3110" y="273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3115" y="2778"/>
                <a:ext cx="162" cy="4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 flipH="1" rot="10800000">
                <a:off x="3277" y="2775"/>
                <a:ext cx="66" cy="4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3382" y="2736"/>
                <a:ext cx="1" cy="10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3382" y="2698"/>
                <a:ext cx="79" cy="39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0" name="Google Shape;260;p13"/>
          <p:cNvGrpSpPr/>
          <p:nvPr/>
        </p:nvGrpSpPr>
        <p:grpSpPr>
          <a:xfrm>
            <a:off x="1176517" y="4567121"/>
            <a:ext cx="1672254" cy="1938344"/>
            <a:chOff x="1176517" y="4567121"/>
            <a:chExt cx="1672254" cy="1938344"/>
          </a:xfrm>
        </p:grpSpPr>
        <p:sp>
          <p:nvSpPr>
            <p:cNvPr id="261" name="Google Shape;261;p13"/>
            <p:cNvSpPr txBox="1"/>
            <p:nvPr/>
          </p:nvSpPr>
          <p:spPr>
            <a:xfrm>
              <a:off x="1176517" y="5992696"/>
              <a:ext cx="1672254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shared wire (e.g.,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cabled Ethernet)</a:t>
              </a:r>
              <a:endParaRPr/>
            </a:p>
          </p:txBody>
        </p:sp>
        <p:cxnSp>
          <p:nvCxnSpPr>
            <p:cNvPr id="262" name="Google Shape;262;p13"/>
            <p:cNvCxnSpPr/>
            <p:nvPr/>
          </p:nvCxnSpPr>
          <p:spPr>
            <a:xfrm flipH="1">
              <a:off x="1822938" y="4821121"/>
              <a:ext cx="466725" cy="890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13"/>
            <p:cNvCxnSpPr/>
            <p:nvPr/>
          </p:nvCxnSpPr>
          <p:spPr>
            <a:xfrm>
              <a:off x="1805475" y="5292608"/>
              <a:ext cx="242888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" name="Google Shape;264;p13"/>
            <p:cNvCxnSpPr/>
            <p:nvPr/>
          </p:nvCxnSpPr>
          <p:spPr>
            <a:xfrm>
              <a:off x="1670538" y="5629158"/>
              <a:ext cx="190500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13"/>
            <p:cNvCxnSpPr/>
            <p:nvPr/>
          </p:nvCxnSpPr>
          <p:spPr>
            <a:xfrm flipH="1" rot="10800000">
              <a:off x="2115038" y="5152908"/>
              <a:ext cx="177800" cy="79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13"/>
            <p:cNvCxnSpPr/>
            <p:nvPr/>
          </p:nvCxnSpPr>
          <p:spPr>
            <a:xfrm>
              <a:off x="1986450" y="4925896"/>
              <a:ext cx="242888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1986450" y="4925896"/>
              <a:ext cx="242888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1918188" y="5562483"/>
              <a:ext cx="190500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9" name="Google Shape;269;p13"/>
            <p:cNvGrpSpPr/>
            <p:nvPr/>
          </p:nvGrpSpPr>
          <p:grpSpPr>
            <a:xfrm flipH="1">
              <a:off x="1256200" y="5438658"/>
              <a:ext cx="501650" cy="512763"/>
              <a:chOff x="2839" y="3501"/>
              <a:chExt cx="755" cy="803"/>
            </a:xfrm>
          </p:grpSpPr>
          <p:pic>
            <p:nvPicPr>
              <p:cNvPr descr="desktop_computer_stylized_medium" id="270" name="Google Shape;270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13"/>
            <p:cNvGrpSpPr/>
            <p:nvPr/>
          </p:nvGrpSpPr>
          <p:grpSpPr>
            <a:xfrm flipH="1">
              <a:off x="1410188" y="4994158"/>
              <a:ext cx="501650" cy="512763"/>
              <a:chOff x="2839" y="3501"/>
              <a:chExt cx="755" cy="803"/>
            </a:xfrm>
          </p:grpSpPr>
          <p:pic>
            <p:nvPicPr>
              <p:cNvPr descr="desktop_computer_stylized_medium" id="273" name="Google Shape;273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" name="Google Shape;275;p13"/>
            <p:cNvGrpSpPr/>
            <p:nvPr/>
          </p:nvGrpSpPr>
          <p:grpSpPr>
            <a:xfrm flipH="1">
              <a:off x="1561000" y="4567121"/>
              <a:ext cx="501650" cy="512762"/>
              <a:chOff x="2839" y="3501"/>
              <a:chExt cx="755" cy="803"/>
            </a:xfrm>
          </p:grpSpPr>
          <p:pic>
            <p:nvPicPr>
              <p:cNvPr descr="desktop_computer_stylized_medium" id="276" name="Google Shape;276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13"/>
            <p:cNvGrpSpPr/>
            <p:nvPr/>
          </p:nvGrpSpPr>
          <p:grpSpPr>
            <a:xfrm>
              <a:off x="2234100" y="4954471"/>
              <a:ext cx="501650" cy="512762"/>
              <a:chOff x="2839" y="3501"/>
              <a:chExt cx="755" cy="803"/>
            </a:xfrm>
          </p:grpSpPr>
          <p:pic>
            <p:nvPicPr>
              <p:cNvPr descr="desktop_computer_stylized_medium" id="279" name="Google Shape;279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13"/>
            <p:cNvGrpSpPr/>
            <p:nvPr/>
          </p:nvGrpSpPr>
          <p:grpSpPr>
            <a:xfrm>
              <a:off x="2035663" y="5394208"/>
              <a:ext cx="501650" cy="512763"/>
              <a:chOff x="2839" y="3501"/>
              <a:chExt cx="755" cy="803"/>
            </a:xfrm>
          </p:grpSpPr>
          <p:pic>
            <p:nvPicPr>
              <p:cNvPr descr="desktop_computer_stylized_medium" id="282" name="Google Shape;282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p1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4" name="Google Shape;284;p13"/>
          <p:cNvGrpSpPr/>
          <p:nvPr/>
        </p:nvGrpSpPr>
        <p:grpSpPr>
          <a:xfrm>
            <a:off x="3021501" y="4737811"/>
            <a:ext cx="1951525" cy="1657756"/>
            <a:chOff x="3021501" y="4737811"/>
            <a:chExt cx="1951525" cy="1657756"/>
          </a:xfrm>
        </p:grpSpPr>
        <p:grpSp>
          <p:nvGrpSpPr>
            <p:cNvPr id="285" name="Google Shape;285;p13"/>
            <p:cNvGrpSpPr/>
            <p:nvPr/>
          </p:nvGrpSpPr>
          <p:grpSpPr>
            <a:xfrm>
              <a:off x="3021501" y="4737811"/>
              <a:ext cx="1951525" cy="1263172"/>
              <a:chOff x="7891681" y="3099042"/>
              <a:chExt cx="2342453" cy="1569939"/>
            </a:xfrm>
          </p:grpSpPr>
          <p:sp>
            <p:nvSpPr>
              <p:cNvPr id="286" name="Google Shape;286;p13"/>
              <p:cNvSpPr/>
              <p:nvPr/>
            </p:nvSpPr>
            <p:spPr>
              <a:xfrm>
                <a:off x="9285510" y="3593195"/>
                <a:ext cx="69106" cy="79124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Noto Sans Symbols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7" name="Google Shape;287;p13"/>
              <p:cNvGrpSpPr/>
              <p:nvPr/>
            </p:nvGrpSpPr>
            <p:grpSpPr>
              <a:xfrm>
                <a:off x="9022376" y="3275911"/>
                <a:ext cx="615031" cy="694531"/>
                <a:chOff x="2920" y="1424"/>
                <a:chExt cx="326" cy="320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9" name="Google Shape;289;p13"/>
                <p:cNvGrpSpPr/>
                <p:nvPr/>
              </p:nvGrpSpPr>
              <p:grpSpPr>
                <a:xfrm>
                  <a:off x="2949" y="1424"/>
                  <a:ext cx="265" cy="280"/>
                  <a:chOff x="2949" y="1424"/>
                  <a:chExt cx="265" cy="280"/>
                </a:xfrm>
              </p:grpSpPr>
              <p:sp>
                <p:nvSpPr>
                  <p:cNvPr id="290" name="Google Shape;290;p13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1" name="Google Shape;291;p13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" name="Google Shape;293;p13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13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5" name="Google Shape;295;p13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9122147" y="3619386"/>
                <a:ext cx="393690" cy="1049595"/>
                <a:chOff x="3130" y="3288"/>
                <a:chExt cx="410" cy="742"/>
              </a:xfrm>
            </p:grpSpPr>
            <p:cxnSp>
              <p:nvCxnSpPr>
                <p:cNvPr id="297" name="Google Shape;297;p1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8" name="Google Shape;298;p1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" name="Google Shape;299;p1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" name="Google Shape;300;p1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" name="Google Shape;301;p1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" name="Google Shape;302;p1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3" name="Google Shape;303;p1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" name="Google Shape;304;p1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" name="Google Shape;305;p1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" name="Google Shape;306;p1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8" name="Google Shape;308;p1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9" name="Google Shape;309;p1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0" name="Google Shape;310;p1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1" name="Google Shape;311;p1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2" name="Google Shape;312;p13"/>
              <p:cNvGrpSpPr/>
              <p:nvPr/>
            </p:nvGrpSpPr>
            <p:grpSpPr>
              <a:xfrm>
                <a:off x="8405402" y="3099042"/>
                <a:ext cx="527285" cy="593983"/>
                <a:chOff x="8328836" y="2202873"/>
                <a:chExt cx="527285" cy="593983"/>
              </a:xfrm>
            </p:grpSpPr>
            <p:pic>
              <p:nvPicPr>
                <p:cNvPr descr="iphone_stylized_small" id="313" name="Google Shape;313;p13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566432" y="2271663"/>
                  <a:ext cx="180509" cy="5251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14" name="Google Shape;314;p13"/>
                <p:cNvGrpSpPr/>
                <p:nvPr/>
              </p:nvGrpSpPr>
              <p:grpSpPr>
                <a:xfrm>
                  <a:off x="8328836" y="2202873"/>
                  <a:ext cx="527285" cy="118466"/>
                  <a:chOff x="2199" y="955"/>
                  <a:chExt cx="2547" cy="506"/>
                </a:xfrm>
              </p:grpSpPr>
              <p:sp>
                <p:nvSpPr>
                  <p:cNvPr id="315" name="Google Shape;315;p13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" name="Google Shape;316;p13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" name="Google Shape;317;p13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" name="Google Shape;318;p13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" name="Google Shape;319;p13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0" name="Google Shape;320;p13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1" name="Google Shape;321;p13"/>
              <p:cNvGrpSpPr/>
              <p:nvPr/>
            </p:nvGrpSpPr>
            <p:grpSpPr>
              <a:xfrm>
                <a:off x="7891681" y="4024818"/>
                <a:ext cx="1120341" cy="347863"/>
                <a:chOff x="9561515" y="2748013"/>
                <a:chExt cx="1120341" cy="347863"/>
              </a:xfrm>
            </p:grpSpPr>
            <p:pic>
              <p:nvPicPr>
                <p:cNvPr descr="car_icon_small" id="322" name="Google Shape;322;p13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9561515" y="2826814"/>
                  <a:ext cx="1120341" cy="2690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23" name="Google Shape;323;p13"/>
                <p:cNvGrpSpPr/>
                <p:nvPr/>
              </p:nvGrpSpPr>
              <p:grpSpPr>
                <a:xfrm>
                  <a:off x="9788587" y="2748013"/>
                  <a:ext cx="527285" cy="118466"/>
                  <a:chOff x="2199" y="955"/>
                  <a:chExt cx="2547" cy="506"/>
                </a:xfrm>
              </p:grpSpPr>
              <p:sp>
                <p:nvSpPr>
                  <p:cNvPr id="324" name="Google Shape;324;p13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13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" name="Google Shape;326;p13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7" name="Google Shape;327;p13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" name="Google Shape;328;p13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" name="Google Shape;329;p13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30" name="Google Shape;330;p13"/>
                <p:cNvCxnSpPr/>
                <p:nvPr/>
              </p:nvCxnSpPr>
              <p:spPr>
                <a:xfrm>
                  <a:off x="10032156" y="2798664"/>
                  <a:ext cx="31623" cy="13689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31" name="Google Shape;331;p13"/>
              <p:cNvGrpSpPr/>
              <p:nvPr/>
            </p:nvGrpSpPr>
            <p:grpSpPr>
              <a:xfrm>
                <a:off x="9729378" y="3463179"/>
                <a:ext cx="504756" cy="520384"/>
                <a:chOff x="7339071" y="2307905"/>
                <a:chExt cx="511700" cy="446467"/>
              </a:xfrm>
            </p:grpSpPr>
            <p:grpSp>
              <p:nvGrpSpPr>
                <p:cNvPr id="332" name="Google Shape;332;p13"/>
                <p:cNvGrpSpPr/>
                <p:nvPr/>
              </p:nvGrpSpPr>
              <p:grpSpPr>
                <a:xfrm>
                  <a:off x="7339071" y="2426725"/>
                  <a:ext cx="511700" cy="327647"/>
                  <a:chOff x="7455987" y="2414528"/>
                  <a:chExt cx="511700" cy="327647"/>
                </a:xfrm>
              </p:grpSpPr>
              <p:pic>
                <p:nvPicPr>
                  <p:cNvPr descr="laptop_keyboard" id="333" name="Google Shape;333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7458407" y="2575770"/>
                    <a:ext cx="437221" cy="1595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34" name="Google Shape;334;p13"/>
                  <p:cNvSpPr/>
                  <p:nvPr/>
                </p:nvSpPr>
                <p:spPr>
                  <a:xfrm>
                    <a:off x="7603304" y="2420984"/>
                    <a:ext cx="351919" cy="208167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35" name="Google Shape;335;p13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7620637" y="2426338"/>
                    <a:ext cx="319785" cy="18942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36" name="Google Shape;336;p13"/>
                  <p:cNvSpPr/>
                  <p:nvPr/>
                </p:nvSpPr>
                <p:spPr>
                  <a:xfrm>
                    <a:off x="7667378" y="2414843"/>
                    <a:ext cx="298167" cy="3873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" name="Google Shape;337;p13"/>
                  <p:cNvSpPr/>
                  <p:nvPr/>
                </p:nvSpPr>
                <p:spPr>
                  <a:xfrm>
                    <a:off x="7600188" y="2414528"/>
                    <a:ext cx="82770" cy="161243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" name="Google Shape;338;p13"/>
                  <p:cNvSpPr/>
                  <p:nvPr/>
                </p:nvSpPr>
                <p:spPr>
                  <a:xfrm>
                    <a:off x="7874205" y="2443344"/>
                    <a:ext cx="89197" cy="18612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13"/>
                  <p:cNvSpPr/>
                  <p:nvPr/>
                </p:nvSpPr>
                <p:spPr>
                  <a:xfrm>
                    <a:off x="7599214" y="2567582"/>
                    <a:ext cx="327185" cy="62828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13"/>
                  <p:cNvSpPr/>
                  <p:nvPr/>
                </p:nvSpPr>
                <p:spPr>
                  <a:xfrm>
                    <a:off x="7884138" y="2444918"/>
                    <a:ext cx="83549" cy="186909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" name="Google Shape;341;p13"/>
                  <p:cNvSpPr/>
                  <p:nvPr/>
                </p:nvSpPr>
                <p:spPr>
                  <a:xfrm>
                    <a:off x="7599603" y="2575928"/>
                    <a:ext cx="290961" cy="62041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42" name="Google Shape;342;p13"/>
                  <p:cNvGrpSpPr/>
                  <p:nvPr/>
                </p:nvGrpSpPr>
                <p:grpSpPr>
                  <a:xfrm>
                    <a:off x="7594735" y="2642220"/>
                    <a:ext cx="98740" cy="36846"/>
                    <a:chOff x="1740" y="2642"/>
                    <a:chExt cx="752" cy="327"/>
                  </a:xfrm>
                </p:grpSpPr>
                <p:sp>
                  <p:nvSpPr>
                    <p:cNvPr id="343" name="Google Shape;343;p13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4" name="Google Shape;344;p13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5" name="Google Shape;345;p13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6" name="Google Shape;346;p13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" name="Google Shape;347;p13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" name="Google Shape;348;p13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9" name="Google Shape;349;p13"/>
                  <p:cNvSpPr/>
                  <p:nvPr/>
                </p:nvSpPr>
                <p:spPr>
                  <a:xfrm>
                    <a:off x="7763780" y="2647731"/>
                    <a:ext cx="119578" cy="80936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" name="Google Shape;350;p13"/>
                  <p:cNvSpPr/>
                  <p:nvPr/>
                </p:nvSpPr>
                <p:spPr>
                  <a:xfrm>
                    <a:off x="7458602" y="2654187"/>
                    <a:ext cx="305957" cy="73850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13"/>
                  <p:cNvSpPr/>
                  <p:nvPr/>
                </p:nvSpPr>
                <p:spPr>
                  <a:xfrm>
                    <a:off x="7458797" y="2640645"/>
                    <a:ext cx="3311" cy="14959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" name="Google Shape;352;p13"/>
                  <p:cNvSpPr/>
                  <p:nvPr/>
                </p:nvSpPr>
                <p:spPr>
                  <a:xfrm>
                    <a:off x="7458992" y="2579707"/>
                    <a:ext cx="142170" cy="6188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" name="Google Shape;353;p13"/>
                  <p:cNvSpPr/>
                  <p:nvPr/>
                </p:nvSpPr>
                <p:spPr>
                  <a:xfrm>
                    <a:off x="7468535" y="2643795"/>
                    <a:ext cx="290182" cy="71016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" name="Google Shape;354;p13"/>
                  <p:cNvSpPr/>
                  <p:nvPr/>
                </p:nvSpPr>
                <p:spPr>
                  <a:xfrm flipH="1" rot="10800000">
                    <a:off x="7758327" y="2638756"/>
                    <a:ext cx="118410" cy="73535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" name="Google Shape;355;p13"/>
                <p:cNvGrpSpPr/>
                <p:nvPr/>
              </p:nvGrpSpPr>
              <p:grpSpPr>
                <a:xfrm>
                  <a:off x="7408527" y="2307905"/>
                  <a:ext cx="399726" cy="74090"/>
                  <a:chOff x="2199" y="955"/>
                  <a:chExt cx="2547" cy="506"/>
                </a:xfrm>
              </p:grpSpPr>
              <p:sp>
                <p:nvSpPr>
                  <p:cNvPr id="356" name="Google Shape;356;p13"/>
                  <p:cNvSpPr/>
                  <p:nvPr/>
                </p:nvSpPr>
                <p:spPr>
                  <a:xfrm>
                    <a:off x="2199" y="1166"/>
                    <a:ext cx="260" cy="281"/>
                  </a:xfrm>
                  <a:custGeom>
                    <a:rect b="b" l="l" r="r" t="t"/>
                    <a:pathLst>
                      <a:path extrusionOk="0" h="281" w="260">
                        <a:moveTo>
                          <a:pt x="260" y="0"/>
                        </a:moveTo>
                        <a:cubicBezTo>
                          <a:pt x="224" y="19"/>
                          <a:pt x="79" y="77"/>
                          <a:pt x="42" y="112"/>
                        </a:cubicBezTo>
                        <a:cubicBezTo>
                          <a:pt x="5" y="143"/>
                          <a:pt x="0" y="183"/>
                          <a:pt x="35" y="211"/>
                        </a:cubicBezTo>
                        <a:cubicBezTo>
                          <a:pt x="70" y="239"/>
                          <a:pt x="208" y="266"/>
                          <a:pt x="253" y="281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" name="Google Shape;357;p13"/>
                  <p:cNvSpPr/>
                  <p:nvPr/>
                </p:nvSpPr>
                <p:spPr>
                  <a:xfrm>
                    <a:off x="2482" y="1040"/>
                    <a:ext cx="900" cy="421"/>
                  </a:xfrm>
                  <a:custGeom>
                    <a:rect b="b" l="l" r="r" t="t"/>
                    <a:pathLst>
                      <a:path extrusionOk="0" h="421" w="900">
                        <a:moveTo>
                          <a:pt x="531" y="0"/>
                        </a:moveTo>
                        <a:cubicBezTo>
                          <a:pt x="489" y="13"/>
                          <a:pt x="356" y="47"/>
                          <a:pt x="279" y="77"/>
                        </a:cubicBezTo>
                        <a:cubicBezTo>
                          <a:pt x="202" y="107"/>
                          <a:pt x="109" y="141"/>
                          <a:pt x="68" y="182"/>
                        </a:cubicBezTo>
                        <a:cubicBezTo>
                          <a:pt x="31" y="213"/>
                          <a:pt x="0" y="292"/>
                          <a:pt x="33" y="323"/>
                        </a:cubicBezTo>
                        <a:cubicBezTo>
                          <a:pt x="76" y="359"/>
                          <a:pt x="198" y="384"/>
                          <a:pt x="328" y="400"/>
                        </a:cubicBezTo>
                        <a:cubicBezTo>
                          <a:pt x="458" y="416"/>
                          <a:pt x="724" y="421"/>
                          <a:pt x="812" y="421"/>
                        </a:cubicBezTo>
                        <a:cubicBezTo>
                          <a:pt x="900" y="421"/>
                          <a:pt x="846" y="404"/>
                          <a:pt x="855" y="40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8" name="Google Shape;358;p13"/>
                  <p:cNvSpPr/>
                  <p:nvPr/>
                </p:nvSpPr>
                <p:spPr>
                  <a:xfrm>
                    <a:off x="2782" y="1068"/>
                    <a:ext cx="428" cy="269"/>
                  </a:xfrm>
                  <a:custGeom>
                    <a:rect b="b" l="l" r="r" t="t"/>
                    <a:pathLst>
                      <a:path extrusionOk="0" h="269" w="428">
                        <a:moveTo>
                          <a:pt x="428" y="0"/>
                        </a:moveTo>
                        <a:cubicBezTo>
                          <a:pt x="428" y="0"/>
                          <a:pt x="217" y="35"/>
                          <a:pt x="217" y="35"/>
                        </a:cubicBezTo>
                        <a:cubicBezTo>
                          <a:pt x="217" y="35"/>
                          <a:pt x="42" y="105"/>
                          <a:pt x="21" y="140"/>
                        </a:cubicBezTo>
                        <a:cubicBezTo>
                          <a:pt x="0" y="175"/>
                          <a:pt x="14" y="217"/>
                          <a:pt x="91" y="246"/>
                        </a:cubicBezTo>
                        <a:cubicBezTo>
                          <a:pt x="126" y="267"/>
                          <a:pt x="177" y="265"/>
                          <a:pt x="231" y="267"/>
                        </a:cubicBezTo>
                        <a:cubicBezTo>
                          <a:pt x="285" y="269"/>
                          <a:pt x="376" y="262"/>
                          <a:pt x="414" y="26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" name="Google Shape;359;p13"/>
                  <p:cNvSpPr/>
                  <p:nvPr/>
                </p:nvSpPr>
                <p:spPr>
                  <a:xfrm>
                    <a:off x="3554" y="1075"/>
                    <a:ext cx="377" cy="239"/>
                  </a:xfrm>
                  <a:custGeom>
                    <a:rect b="b" l="l" r="r" t="t"/>
                    <a:pathLst>
                      <a:path extrusionOk="0" h="239" w="377">
                        <a:moveTo>
                          <a:pt x="42" y="239"/>
                        </a:moveTo>
                        <a:cubicBezTo>
                          <a:pt x="89" y="224"/>
                          <a:pt x="285" y="178"/>
                          <a:pt x="335" y="146"/>
                        </a:cubicBezTo>
                        <a:cubicBezTo>
                          <a:pt x="372" y="115"/>
                          <a:pt x="377" y="75"/>
                          <a:pt x="342" y="47"/>
                        </a:cubicBezTo>
                        <a:cubicBezTo>
                          <a:pt x="286" y="23"/>
                          <a:pt x="71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" name="Google Shape;360;p13"/>
                  <p:cNvSpPr/>
                  <p:nvPr/>
                </p:nvSpPr>
                <p:spPr>
                  <a:xfrm>
                    <a:off x="3646" y="997"/>
                    <a:ext cx="660" cy="336"/>
                  </a:xfrm>
                  <a:custGeom>
                    <a:rect b="b" l="l" r="r" t="t"/>
                    <a:pathLst>
                      <a:path extrusionOk="0" h="300" w="646">
                        <a:moveTo>
                          <a:pt x="343" y="300"/>
                        </a:moveTo>
                        <a:cubicBezTo>
                          <a:pt x="367" y="292"/>
                          <a:pt x="443" y="272"/>
                          <a:pt x="487" y="254"/>
                        </a:cubicBezTo>
                        <a:cubicBezTo>
                          <a:pt x="531" y="236"/>
                          <a:pt x="584" y="216"/>
                          <a:pt x="607" y="191"/>
                        </a:cubicBezTo>
                        <a:cubicBezTo>
                          <a:pt x="628" y="173"/>
                          <a:pt x="646" y="125"/>
                          <a:pt x="627" y="107"/>
                        </a:cubicBezTo>
                        <a:cubicBezTo>
                          <a:pt x="603" y="85"/>
                          <a:pt x="563" y="79"/>
                          <a:pt x="459" y="61"/>
                        </a:cubicBezTo>
                        <a:cubicBezTo>
                          <a:pt x="355" y="43"/>
                          <a:pt x="76" y="10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1" name="Google Shape;361;p13"/>
                  <p:cNvSpPr/>
                  <p:nvPr/>
                </p:nvSpPr>
                <p:spPr>
                  <a:xfrm>
                    <a:off x="4116" y="955"/>
                    <a:ext cx="630" cy="397"/>
                  </a:xfrm>
                  <a:custGeom>
                    <a:rect b="b" l="l" r="r" t="t"/>
                    <a:pathLst>
                      <a:path extrusionOk="0" h="397" w="630">
                        <a:moveTo>
                          <a:pt x="320" y="397"/>
                        </a:moveTo>
                        <a:cubicBezTo>
                          <a:pt x="345" y="388"/>
                          <a:pt x="423" y="366"/>
                          <a:pt x="468" y="345"/>
                        </a:cubicBezTo>
                        <a:cubicBezTo>
                          <a:pt x="513" y="325"/>
                          <a:pt x="567" y="303"/>
                          <a:pt x="590" y="275"/>
                        </a:cubicBezTo>
                        <a:cubicBezTo>
                          <a:pt x="612" y="255"/>
                          <a:pt x="630" y="201"/>
                          <a:pt x="611" y="181"/>
                        </a:cubicBezTo>
                        <a:cubicBezTo>
                          <a:pt x="586" y="156"/>
                          <a:pt x="541" y="159"/>
                          <a:pt x="439" y="129"/>
                        </a:cubicBezTo>
                        <a:cubicBezTo>
                          <a:pt x="337" y="99"/>
                          <a:pt x="91" y="27"/>
                          <a:pt x="0" y="0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362" name="Google Shape;362;p13"/>
                <p:cNvCxnSpPr/>
                <p:nvPr/>
              </p:nvCxnSpPr>
              <p:spPr>
                <a:xfrm flipH="1">
                  <a:off x="7594314" y="2366481"/>
                  <a:ext cx="39385" cy="702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363" name="Google Shape;363;p13"/>
            <p:cNvSpPr txBox="1"/>
            <p:nvPr/>
          </p:nvSpPr>
          <p:spPr>
            <a:xfrm>
              <a:off x="3084295" y="6092086"/>
              <a:ext cx="1872116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shared radio: 4G/5G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protocols</a:t>
            </a:r>
            <a:endParaRPr sz="4400"/>
          </a:p>
        </p:txBody>
      </p:sp>
      <p:sp>
        <p:nvSpPr>
          <p:cNvPr id="370" name="Google Shape;370;p14"/>
          <p:cNvSpPr txBox="1"/>
          <p:nvPr/>
        </p:nvSpPr>
        <p:spPr>
          <a:xfrm>
            <a:off x="765106" y="1363316"/>
            <a:ext cx="1114859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shared broadcast channel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or more simultaneous transmissions by nodes: interference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node receives two or more signals at the same time</a:t>
            </a:r>
            <a:endParaRPr b="0" i="1" sz="2400" u="sng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1156044" y="3848099"/>
            <a:ext cx="9962530" cy="24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distributed algorithm that determines how nodes share channel, i.e., determine when node can transmit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about channel sharing must use channel itself! </a:t>
            </a:r>
            <a:endParaRPr/>
          </a:p>
          <a:p>
            <a:pPr indent="-223837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out-of-band channel for coordination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901148" y="3472071"/>
            <a:ext cx="10442713" cy="2358886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1258956" y="3154018"/>
            <a:ext cx="422461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 protocol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An ideal multiple access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944216" y="1626703"/>
            <a:ext cx="100550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access channel (MAC) of rate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desiderata: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one node wants to transmit, it can send at rate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when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 want to transmit, each can send at average rate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R/M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fully decentralized: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special node to coordinate transmissions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synchronization of clocks, slots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simple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MAC protocols: taxonomy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692428" y="1356210"/>
            <a:ext cx="6165572" cy="5163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broad classes: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 channel into smaller “pieces” (time slots, frequency, code)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allocate piece to node for exclusive use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channel not divided, allow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“recover” from collisions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</a:t>
            </a:r>
            <a:endParaRPr b="0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nodes take turns, but nodes with more to send can take longer turns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TDMA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TDMA: time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to channel in “rounds”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station gets fixed length slot (length = packet transmission time) in each round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unused slots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packets to send, slots 2,5,6 idle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5" name="Google Shape;395;p17"/>
          <p:cNvGrpSpPr/>
          <p:nvPr/>
        </p:nvGrpSpPr>
        <p:grpSpPr>
          <a:xfrm>
            <a:off x="2497001" y="4766572"/>
            <a:ext cx="6084887" cy="962025"/>
            <a:chOff x="2497001" y="4766572"/>
            <a:chExt cx="6084887" cy="962025"/>
          </a:xfrm>
        </p:grpSpPr>
        <p:cxnSp>
          <p:nvCxnSpPr>
            <p:cNvPr id="396" name="Google Shape;396;p17"/>
            <p:cNvCxnSpPr/>
            <p:nvPr/>
          </p:nvCxnSpPr>
          <p:spPr>
            <a:xfrm>
              <a:off x="2497001" y="5652397"/>
              <a:ext cx="6084887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7" name="Google Shape;397;p17"/>
            <p:cNvSpPr/>
            <p:nvPr/>
          </p:nvSpPr>
          <p:spPr>
            <a:xfrm>
              <a:off x="2719251" y="5425384"/>
              <a:ext cx="479425" cy="230188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3678101" y="5425384"/>
              <a:ext cx="479425" cy="23018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4152763" y="5425384"/>
              <a:ext cx="479425" cy="230188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17"/>
            <p:cNvCxnSpPr/>
            <p:nvPr/>
          </p:nvCxnSpPr>
          <p:spPr>
            <a:xfrm>
              <a:off x="2720838" y="5312672"/>
              <a:ext cx="0" cy="338137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17"/>
            <p:cNvCxnSpPr/>
            <p:nvPr/>
          </p:nvCxnSpPr>
          <p:spPr>
            <a:xfrm>
              <a:off x="5586276" y="5315847"/>
              <a:ext cx="0" cy="3381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2" name="Google Shape;402;p17"/>
            <p:cNvSpPr txBox="1"/>
            <p:nvPr/>
          </p:nvSpPr>
          <p:spPr>
            <a:xfrm>
              <a:off x="2819263" y="5392047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03" name="Google Shape;403;p17"/>
            <p:cNvSpPr txBox="1"/>
            <p:nvPr/>
          </p:nvSpPr>
          <p:spPr>
            <a:xfrm>
              <a:off x="3765413" y="5377759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404" name="Google Shape;404;p17"/>
            <p:cNvSpPr txBox="1"/>
            <p:nvPr/>
          </p:nvSpPr>
          <p:spPr>
            <a:xfrm>
              <a:off x="4230551" y="5384109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5576751" y="5420622"/>
              <a:ext cx="479425" cy="23018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6535601" y="5420622"/>
              <a:ext cx="479425" cy="230187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7010263" y="5420622"/>
              <a:ext cx="479425" cy="2301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17"/>
            <p:cNvCxnSpPr/>
            <p:nvPr/>
          </p:nvCxnSpPr>
          <p:spPr>
            <a:xfrm>
              <a:off x="5578338" y="5307909"/>
              <a:ext cx="0" cy="338138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9" name="Google Shape;409;p17"/>
            <p:cNvSpPr txBox="1"/>
            <p:nvPr/>
          </p:nvSpPr>
          <p:spPr>
            <a:xfrm>
              <a:off x="5676763" y="5387284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10" name="Google Shape;410;p17"/>
            <p:cNvSpPr txBox="1"/>
            <p:nvPr/>
          </p:nvSpPr>
          <p:spPr>
            <a:xfrm>
              <a:off x="6622913" y="5372997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411" name="Google Shape;411;p17"/>
            <p:cNvSpPr txBox="1"/>
            <p:nvPr/>
          </p:nvSpPr>
          <p:spPr>
            <a:xfrm>
              <a:off x="7088051" y="5379347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cxnSp>
          <p:nvCxnSpPr>
            <p:cNvPr id="412" name="Google Shape;412;p17"/>
            <p:cNvCxnSpPr/>
            <p:nvPr/>
          </p:nvCxnSpPr>
          <p:spPr>
            <a:xfrm>
              <a:off x="3201851" y="5417447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7"/>
            <p:cNvCxnSpPr/>
            <p:nvPr/>
          </p:nvCxnSpPr>
          <p:spPr>
            <a:xfrm>
              <a:off x="3678101" y="5422209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7"/>
            <p:cNvCxnSpPr/>
            <p:nvPr/>
          </p:nvCxnSpPr>
          <p:spPr>
            <a:xfrm>
              <a:off x="4154351" y="5422209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7"/>
            <p:cNvCxnSpPr/>
            <p:nvPr/>
          </p:nvCxnSpPr>
          <p:spPr>
            <a:xfrm>
              <a:off x="4630601" y="5422209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7"/>
            <p:cNvCxnSpPr/>
            <p:nvPr/>
          </p:nvCxnSpPr>
          <p:spPr>
            <a:xfrm>
              <a:off x="5111613" y="5412684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7"/>
            <p:cNvCxnSpPr/>
            <p:nvPr/>
          </p:nvCxnSpPr>
          <p:spPr>
            <a:xfrm>
              <a:off x="6059351" y="5417447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7"/>
            <p:cNvCxnSpPr/>
            <p:nvPr/>
          </p:nvCxnSpPr>
          <p:spPr>
            <a:xfrm>
              <a:off x="7007088" y="5412684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7"/>
            <p:cNvCxnSpPr/>
            <p:nvPr/>
          </p:nvCxnSpPr>
          <p:spPr>
            <a:xfrm>
              <a:off x="7954826" y="5407922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7"/>
            <p:cNvCxnSpPr/>
            <p:nvPr/>
          </p:nvCxnSpPr>
          <p:spPr>
            <a:xfrm>
              <a:off x="7488101" y="5417447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7"/>
            <p:cNvCxnSpPr/>
            <p:nvPr/>
          </p:nvCxnSpPr>
          <p:spPr>
            <a:xfrm>
              <a:off x="8435838" y="5322197"/>
              <a:ext cx="0" cy="338137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17"/>
            <p:cNvCxnSpPr/>
            <p:nvPr/>
          </p:nvCxnSpPr>
          <p:spPr>
            <a:xfrm>
              <a:off x="6535601" y="5417447"/>
              <a:ext cx="0" cy="2381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17"/>
            <p:cNvSpPr txBox="1"/>
            <p:nvPr/>
          </p:nvSpPr>
          <p:spPr>
            <a:xfrm>
              <a:off x="3765413" y="4793559"/>
              <a:ext cx="70485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6-slot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</p:txBody>
        </p:sp>
        <p:cxnSp>
          <p:nvCxnSpPr>
            <p:cNvPr id="424" name="Google Shape;424;p17"/>
            <p:cNvCxnSpPr/>
            <p:nvPr/>
          </p:nvCxnSpPr>
          <p:spPr>
            <a:xfrm>
              <a:off x="4576626" y="5130109"/>
              <a:ext cx="9890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5" name="Google Shape;425;p17"/>
            <p:cNvCxnSpPr/>
            <p:nvPr/>
          </p:nvCxnSpPr>
          <p:spPr>
            <a:xfrm rot="10800000">
              <a:off x="2731951" y="5125347"/>
              <a:ext cx="9890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6" name="Google Shape;426;p17"/>
            <p:cNvCxnSpPr/>
            <p:nvPr/>
          </p:nvCxnSpPr>
          <p:spPr>
            <a:xfrm>
              <a:off x="2711313" y="5038034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17"/>
            <p:cNvCxnSpPr/>
            <p:nvPr/>
          </p:nvCxnSpPr>
          <p:spPr>
            <a:xfrm>
              <a:off x="5570401" y="5028509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28" name="Google Shape;428;p17"/>
            <p:cNvSpPr txBox="1"/>
            <p:nvPr/>
          </p:nvSpPr>
          <p:spPr>
            <a:xfrm>
              <a:off x="6629263" y="4766572"/>
              <a:ext cx="70485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6-slot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/>
            </a:p>
          </p:txBody>
        </p:sp>
        <p:cxnSp>
          <p:nvCxnSpPr>
            <p:cNvPr id="429" name="Google Shape;429;p17"/>
            <p:cNvCxnSpPr/>
            <p:nvPr/>
          </p:nvCxnSpPr>
          <p:spPr>
            <a:xfrm>
              <a:off x="7440476" y="5136459"/>
              <a:ext cx="9890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0" name="Google Shape;430;p17"/>
            <p:cNvCxnSpPr/>
            <p:nvPr/>
          </p:nvCxnSpPr>
          <p:spPr>
            <a:xfrm rot="10800000">
              <a:off x="5595801" y="5131697"/>
              <a:ext cx="9890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1" name="Google Shape;431;p17"/>
            <p:cNvCxnSpPr/>
            <p:nvPr/>
          </p:nvCxnSpPr>
          <p:spPr>
            <a:xfrm>
              <a:off x="8434251" y="5001522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FDMA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FDMA: frequency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channel spectrum divided into frequency bands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station assigned fixed frequency band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unused transmission time in frequency bands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 to send, frequency bands 2,5,6 idle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9" name="Google Shape;439;p18"/>
          <p:cNvGrpSpPr/>
          <p:nvPr/>
        </p:nvGrpSpPr>
        <p:grpSpPr>
          <a:xfrm>
            <a:off x="2440541" y="3835508"/>
            <a:ext cx="7658479" cy="2434910"/>
            <a:chOff x="2440541" y="3835508"/>
            <a:chExt cx="7658479" cy="2434910"/>
          </a:xfrm>
        </p:grpSpPr>
        <p:sp>
          <p:nvSpPr>
            <p:cNvPr id="440" name="Google Shape;440;p18"/>
            <p:cNvSpPr/>
            <p:nvPr/>
          </p:nvSpPr>
          <p:spPr>
            <a:xfrm>
              <a:off x="6774416" y="4019343"/>
              <a:ext cx="627062" cy="2251075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1" name="Google Shape;441;p18"/>
            <p:cNvCxnSpPr/>
            <p:nvPr/>
          </p:nvCxnSpPr>
          <p:spPr>
            <a:xfrm flipH="1" rot="10800000">
              <a:off x="6772828" y="5124243"/>
              <a:ext cx="622300" cy="15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18"/>
            <p:cNvCxnSpPr/>
            <p:nvPr/>
          </p:nvCxnSpPr>
          <p:spPr>
            <a:xfrm flipH="1" rot="10800000">
              <a:off x="6768066" y="5516355"/>
              <a:ext cx="631825" cy="63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18"/>
            <p:cNvCxnSpPr/>
            <p:nvPr/>
          </p:nvCxnSpPr>
          <p:spPr>
            <a:xfrm flipH="1" rot="10800000">
              <a:off x="6772828" y="5902118"/>
              <a:ext cx="627063" cy="15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18"/>
            <p:cNvCxnSpPr/>
            <p:nvPr/>
          </p:nvCxnSpPr>
          <p:spPr>
            <a:xfrm flipH="1" rot="10800000">
              <a:off x="6768066" y="4738480"/>
              <a:ext cx="631825" cy="63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18"/>
            <p:cNvCxnSpPr/>
            <p:nvPr/>
          </p:nvCxnSpPr>
          <p:spPr>
            <a:xfrm flipH="1" rot="10800000">
              <a:off x="6772828" y="4352718"/>
              <a:ext cx="631825" cy="635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8"/>
            <p:cNvCxnSpPr/>
            <p:nvPr/>
          </p:nvCxnSpPr>
          <p:spPr>
            <a:xfrm>
              <a:off x="7493553" y="4292393"/>
              <a:ext cx="222885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7" name="Google Shape;447;p18"/>
            <p:cNvSpPr/>
            <p:nvPr/>
          </p:nvSpPr>
          <p:spPr>
            <a:xfrm>
              <a:off x="7641191" y="4173330"/>
              <a:ext cx="1728787" cy="114300"/>
            </a:xfrm>
            <a:custGeom>
              <a:rect b="b" l="l" r="r" t="t"/>
              <a:pathLst>
                <a:path extrusionOk="0" h="72" w="1089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18"/>
            <p:cNvCxnSpPr/>
            <p:nvPr/>
          </p:nvCxnSpPr>
          <p:spPr>
            <a:xfrm>
              <a:off x="7541178" y="4695618"/>
              <a:ext cx="222885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9" name="Google Shape;449;p18"/>
            <p:cNvCxnSpPr/>
            <p:nvPr/>
          </p:nvCxnSpPr>
          <p:spPr>
            <a:xfrm>
              <a:off x="7541178" y="5094080"/>
              <a:ext cx="222885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0" name="Google Shape;450;p18"/>
            <p:cNvSpPr/>
            <p:nvPr/>
          </p:nvSpPr>
          <p:spPr>
            <a:xfrm>
              <a:off x="7688816" y="4975018"/>
              <a:ext cx="1728787" cy="114300"/>
            </a:xfrm>
            <a:custGeom>
              <a:rect b="b" l="l" r="r" t="t"/>
              <a:pathLst>
                <a:path extrusionOk="0" h="72" w="1089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" name="Google Shape;451;p18"/>
            <p:cNvGrpSpPr/>
            <p:nvPr/>
          </p:nvGrpSpPr>
          <p:grpSpPr>
            <a:xfrm>
              <a:off x="7558641" y="5379830"/>
              <a:ext cx="2228850" cy="119063"/>
              <a:chOff x="1884" y="2826"/>
              <a:chExt cx="1404" cy="75"/>
            </a:xfrm>
          </p:grpSpPr>
          <p:cxnSp>
            <p:nvCxnSpPr>
              <p:cNvPr id="452" name="Google Shape;452;p18"/>
              <p:cNvCxnSpPr/>
              <p:nvPr/>
            </p:nvCxnSpPr>
            <p:spPr>
              <a:xfrm>
                <a:off x="1884" y="2901"/>
                <a:ext cx="1404" cy="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453" name="Google Shape;453;p18"/>
              <p:cNvSpPr/>
              <p:nvPr/>
            </p:nvSpPr>
            <p:spPr>
              <a:xfrm>
                <a:off x="1977" y="2826"/>
                <a:ext cx="1089" cy="72"/>
              </a:xfrm>
              <a:custGeom>
                <a:rect b="b" l="l" r="r" t="t"/>
                <a:pathLst>
                  <a:path extrusionOk="0" h="72" w="1089">
                    <a:moveTo>
                      <a:pt x="0" y="72"/>
                    </a:moveTo>
                    <a:lnTo>
                      <a:pt x="0" y="3"/>
                    </a:lnTo>
                    <a:lnTo>
                      <a:pt x="1089" y="0"/>
                    </a:lnTo>
                    <a:lnTo>
                      <a:pt x="1089" y="72"/>
                    </a:lnTo>
                  </a:path>
                </a:pathLst>
              </a:custGeom>
              <a:solidFill>
                <a:srgbClr val="00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54" name="Google Shape;454;p18"/>
            <p:cNvCxnSpPr/>
            <p:nvPr/>
          </p:nvCxnSpPr>
          <p:spPr>
            <a:xfrm>
              <a:off x="7588803" y="5905293"/>
              <a:ext cx="222885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5" name="Google Shape;455;p18"/>
            <p:cNvSpPr txBox="1"/>
            <p:nvPr/>
          </p:nvSpPr>
          <p:spPr>
            <a:xfrm rot="-5400000">
              <a:off x="5570297" y="4899612"/>
              <a:ext cx="1873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frequency bands</a:t>
              </a:r>
              <a:endParaRPr/>
            </a:p>
          </p:txBody>
        </p:sp>
        <p:sp>
          <p:nvSpPr>
            <p:cNvPr id="456" name="Google Shape;456;p18"/>
            <p:cNvSpPr txBox="1"/>
            <p:nvPr/>
          </p:nvSpPr>
          <p:spPr>
            <a:xfrm rot="67766">
              <a:off x="9479516" y="3841543"/>
              <a:ext cx="6159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4178853" y="4228893"/>
              <a:ext cx="595313" cy="1538287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" name="Google Shape;458;p18"/>
            <p:cNvGrpSpPr/>
            <p:nvPr/>
          </p:nvGrpSpPr>
          <p:grpSpPr>
            <a:xfrm>
              <a:off x="2440541" y="4867068"/>
              <a:ext cx="1666875" cy="314325"/>
              <a:chOff x="1614" y="1494"/>
              <a:chExt cx="1050" cy="198"/>
            </a:xfrm>
          </p:grpSpPr>
          <p:sp>
            <p:nvSpPr>
              <p:cNvPr id="459" name="Google Shape;459;p18"/>
              <p:cNvSpPr/>
              <p:nvPr/>
            </p:nvSpPr>
            <p:spPr>
              <a:xfrm>
                <a:off x="2358" y="1500"/>
                <a:ext cx="168" cy="17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8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50000">
                    <a:srgbClr val="FFFFFF"/>
                  </a:gs>
                  <a:gs pos="100000">
                    <a:srgbClr val="000000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2" name="Google Shape;462;p18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3" name="Google Shape;463;p18"/>
            <p:cNvSpPr txBox="1"/>
            <p:nvPr/>
          </p:nvSpPr>
          <p:spPr>
            <a:xfrm>
              <a:off x="2589766" y="5579855"/>
              <a:ext cx="12890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FDM cable</a:t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5002905" y="5527821"/>
              <a:ext cx="1003515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" name="Google Shape;465;p18"/>
            <p:cNvGrpSpPr/>
            <p:nvPr/>
          </p:nvGrpSpPr>
          <p:grpSpPr>
            <a:xfrm>
              <a:off x="5000976" y="4204816"/>
              <a:ext cx="907351" cy="280296"/>
              <a:chOff x="4298196" y="6444710"/>
              <a:chExt cx="907351" cy="280296"/>
            </a:xfrm>
          </p:grpSpPr>
          <p:sp>
            <p:nvSpPr>
              <p:cNvPr id="466" name="Google Shape;466;p18"/>
              <p:cNvSpPr/>
              <p:nvPr/>
            </p:nvSpPr>
            <p:spPr>
              <a:xfrm>
                <a:off x="4298196" y="6444710"/>
                <a:ext cx="455909" cy="275129"/>
              </a:xfrm>
              <a:custGeom>
                <a:rect b="b" l="l" r="r" t="t"/>
                <a:pathLst>
                  <a:path extrusionOk="0" h="437864" w="1937289">
                    <a:moveTo>
                      <a:pt x="0" y="228603"/>
                    </a:moveTo>
                    <a:cubicBezTo>
                      <a:pt x="33580" y="152403"/>
                      <a:pt x="49079" y="1294"/>
                      <a:pt x="100739" y="3"/>
                    </a:cubicBezTo>
                    <a:cubicBezTo>
                      <a:pt x="152399" y="-1288"/>
                      <a:pt x="223434" y="428790"/>
                      <a:pt x="286719" y="430081"/>
                    </a:cubicBezTo>
                    <a:cubicBezTo>
                      <a:pt x="350004" y="431372"/>
                      <a:pt x="414580" y="7106"/>
                      <a:pt x="480448" y="7752"/>
                    </a:cubicBezTo>
                    <a:cubicBezTo>
                      <a:pt x="546316" y="8398"/>
                      <a:pt x="617350" y="433956"/>
                      <a:pt x="681926" y="433956"/>
                    </a:cubicBezTo>
                    <a:cubicBezTo>
                      <a:pt x="746502" y="433956"/>
                      <a:pt x="804620" y="8398"/>
                      <a:pt x="867905" y="7752"/>
                    </a:cubicBezTo>
                    <a:cubicBezTo>
                      <a:pt x="931190" y="7106"/>
                      <a:pt x="997058" y="430727"/>
                      <a:pt x="1061634" y="430081"/>
                    </a:cubicBezTo>
                    <a:cubicBezTo>
                      <a:pt x="1126210" y="429435"/>
                      <a:pt x="1190141" y="3878"/>
                      <a:pt x="1255363" y="3878"/>
                    </a:cubicBezTo>
                    <a:cubicBezTo>
                      <a:pt x="1320585" y="3878"/>
                      <a:pt x="1389036" y="430081"/>
                      <a:pt x="1452966" y="430081"/>
                    </a:cubicBezTo>
                    <a:cubicBezTo>
                      <a:pt x="1516896" y="430081"/>
                      <a:pt x="1575015" y="2587"/>
                      <a:pt x="1638946" y="3878"/>
                    </a:cubicBezTo>
                    <a:cubicBezTo>
                      <a:pt x="1702877" y="5170"/>
                      <a:pt x="1764224" y="435247"/>
                      <a:pt x="1836550" y="437830"/>
                    </a:cubicBezTo>
                    <a:cubicBezTo>
                      <a:pt x="1908876" y="440413"/>
                      <a:pt x="1903709" y="295763"/>
                      <a:pt x="1937289" y="224729"/>
                    </a:cubicBezTo>
                  </a:path>
                </a:pathLst>
              </a:cu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8"/>
              <p:cNvSpPr/>
              <p:nvPr/>
            </p:nvSpPr>
            <p:spPr>
              <a:xfrm>
                <a:off x="4749638" y="6449877"/>
                <a:ext cx="455909" cy="275129"/>
              </a:xfrm>
              <a:custGeom>
                <a:rect b="b" l="l" r="r" t="t"/>
                <a:pathLst>
                  <a:path extrusionOk="0" h="437864" w="1937289">
                    <a:moveTo>
                      <a:pt x="0" y="228603"/>
                    </a:moveTo>
                    <a:cubicBezTo>
                      <a:pt x="33580" y="152403"/>
                      <a:pt x="49079" y="1294"/>
                      <a:pt x="100739" y="3"/>
                    </a:cubicBezTo>
                    <a:cubicBezTo>
                      <a:pt x="152399" y="-1288"/>
                      <a:pt x="223434" y="428790"/>
                      <a:pt x="286719" y="430081"/>
                    </a:cubicBezTo>
                    <a:cubicBezTo>
                      <a:pt x="350004" y="431372"/>
                      <a:pt x="414580" y="7106"/>
                      <a:pt x="480448" y="7752"/>
                    </a:cubicBezTo>
                    <a:cubicBezTo>
                      <a:pt x="546316" y="8398"/>
                      <a:pt x="617350" y="433956"/>
                      <a:pt x="681926" y="433956"/>
                    </a:cubicBezTo>
                    <a:cubicBezTo>
                      <a:pt x="746502" y="433956"/>
                      <a:pt x="804620" y="8398"/>
                      <a:pt x="867905" y="7752"/>
                    </a:cubicBezTo>
                    <a:cubicBezTo>
                      <a:pt x="931190" y="7106"/>
                      <a:pt x="997058" y="430727"/>
                      <a:pt x="1061634" y="430081"/>
                    </a:cubicBezTo>
                    <a:cubicBezTo>
                      <a:pt x="1126210" y="429435"/>
                      <a:pt x="1190141" y="3878"/>
                      <a:pt x="1255363" y="3878"/>
                    </a:cubicBezTo>
                    <a:cubicBezTo>
                      <a:pt x="1320585" y="3878"/>
                      <a:pt x="1389036" y="430081"/>
                      <a:pt x="1452966" y="430081"/>
                    </a:cubicBezTo>
                    <a:cubicBezTo>
                      <a:pt x="1516896" y="430081"/>
                      <a:pt x="1575015" y="2587"/>
                      <a:pt x="1638946" y="3878"/>
                    </a:cubicBezTo>
                    <a:cubicBezTo>
                      <a:pt x="1702877" y="5170"/>
                      <a:pt x="1764224" y="435247"/>
                      <a:pt x="1836550" y="437830"/>
                    </a:cubicBezTo>
                    <a:cubicBezTo>
                      <a:pt x="1908876" y="440413"/>
                      <a:pt x="1903709" y="295763"/>
                      <a:pt x="1937289" y="224729"/>
                    </a:cubicBezTo>
                  </a:path>
                </a:pathLst>
              </a:cu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8" name="Google Shape;468;p18"/>
            <p:cNvGrpSpPr/>
            <p:nvPr/>
          </p:nvGrpSpPr>
          <p:grpSpPr>
            <a:xfrm>
              <a:off x="4979505" y="4883429"/>
              <a:ext cx="993354" cy="277839"/>
              <a:chOff x="4343400" y="5348498"/>
              <a:chExt cx="993354" cy="277839"/>
            </a:xfrm>
          </p:grpSpPr>
          <p:sp>
            <p:nvSpPr>
              <p:cNvPr id="469" name="Google Shape;469;p18"/>
              <p:cNvSpPr/>
              <p:nvPr/>
            </p:nvSpPr>
            <p:spPr>
              <a:xfrm>
                <a:off x="4343400" y="5348498"/>
                <a:ext cx="614122" cy="275129"/>
              </a:xfrm>
              <a:custGeom>
                <a:rect b="b" l="l" r="r" t="t"/>
                <a:pathLst>
                  <a:path extrusionOk="0" h="437864" w="1937289">
                    <a:moveTo>
                      <a:pt x="0" y="228603"/>
                    </a:moveTo>
                    <a:cubicBezTo>
                      <a:pt x="33580" y="152403"/>
                      <a:pt x="49079" y="1294"/>
                      <a:pt x="100739" y="3"/>
                    </a:cubicBezTo>
                    <a:cubicBezTo>
                      <a:pt x="152399" y="-1288"/>
                      <a:pt x="223434" y="428790"/>
                      <a:pt x="286719" y="430081"/>
                    </a:cubicBezTo>
                    <a:cubicBezTo>
                      <a:pt x="350004" y="431372"/>
                      <a:pt x="414580" y="7106"/>
                      <a:pt x="480448" y="7752"/>
                    </a:cubicBezTo>
                    <a:cubicBezTo>
                      <a:pt x="546316" y="8398"/>
                      <a:pt x="617350" y="433956"/>
                      <a:pt x="681926" y="433956"/>
                    </a:cubicBezTo>
                    <a:cubicBezTo>
                      <a:pt x="746502" y="433956"/>
                      <a:pt x="804620" y="8398"/>
                      <a:pt x="867905" y="7752"/>
                    </a:cubicBezTo>
                    <a:cubicBezTo>
                      <a:pt x="931190" y="7106"/>
                      <a:pt x="997058" y="430727"/>
                      <a:pt x="1061634" y="430081"/>
                    </a:cubicBezTo>
                    <a:cubicBezTo>
                      <a:pt x="1126210" y="429435"/>
                      <a:pt x="1190141" y="3878"/>
                      <a:pt x="1255363" y="3878"/>
                    </a:cubicBezTo>
                    <a:cubicBezTo>
                      <a:pt x="1320585" y="3878"/>
                      <a:pt x="1389036" y="430081"/>
                      <a:pt x="1452966" y="430081"/>
                    </a:cubicBezTo>
                    <a:cubicBezTo>
                      <a:pt x="1516896" y="430081"/>
                      <a:pt x="1575015" y="2587"/>
                      <a:pt x="1638946" y="3878"/>
                    </a:cubicBezTo>
                    <a:cubicBezTo>
                      <a:pt x="1702877" y="5170"/>
                      <a:pt x="1764224" y="435247"/>
                      <a:pt x="1836550" y="437830"/>
                    </a:cubicBezTo>
                    <a:cubicBezTo>
                      <a:pt x="1908876" y="440413"/>
                      <a:pt x="1903709" y="295763"/>
                      <a:pt x="1937289" y="224729"/>
                    </a:cubicBezTo>
                  </a:path>
                </a:pathLst>
              </a:cu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8"/>
              <p:cNvSpPr/>
              <p:nvPr/>
            </p:nvSpPr>
            <p:spPr>
              <a:xfrm>
                <a:off x="4951503" y="5353664"/>
                <a:ext cx="385251" cy="272673"/>
              </a:xfrm>
              <a:custGeom>
                <a:rect b="b" l="l" r="r" t="t"/>
                <a:pathLst>
                  <a:path extrusionOk="0" h="433956" w="1215300">
                    <a:moveTo>
                      <a:pt x="0" y="228603"/>
                    </a:moveTo>
                    <a:cubicBezTo>
                      <a:pt x="33580" y="152403"/>
                      <a:pt x="49079" y="1294"/>
                      <a:pt x="100739" y="3"/>
                    </a:cubicBezTo>
                    <a:cubicBezTo>
                      <a:pt x="152399" y="-1288"/>
                      <a:pt x="223434" y="428790"/>
                      <a:pt x="286719" y="430081"/>
                    </a:cubicBezTo>
                    <a:cubicBezTo>
                      <a:pt x="350004" y="431372"/>
                      <a:pt x="414580" y="7106"/>
                      <a:pt x="480448" y="7752"/>
                    </a:cubicBezTo>
                    <a:cubicBezTo>
                      <a:pt x="546316" y="8398"/>
                      <a:pt x="617350" y="433956"/>
                      <a:pt x="681926" y="433956"/>
                    </a:cubicBezTo>
                    <a:cubicBezTo>
                      <a:pt x="746502" y="433956"/>
                      <a:pt x="804620" y="8398"/>
                      <a:pt x="867905" y="7752"/>
                    </a:cubicBezTo>
                    <a:cubicBezTo>
                      <a:pt x="931190" y="7106"/>
                      <a:pt x="1003735" y="397882"/>
                      <a:pt x="1061634" y="430081"/>
                    </a:cubicBezTo>
                    <a:cubicBezTo>
                      <a:pt x="1119533" y="462280"/>
                      <a:pt x="1190142" y="281793"/>
                      <a:pt x="1215300" y="200945"/>
                    </a:cubicBezTo>
                  </a:path>
                </a:pathLst>
              </a:cu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Random access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799736" y="1280077"/>
            <a:ext cx="6376316" cy="541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node has packet to send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 at full channel data rate R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priori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coordination among nodes</a:t>
            </a:r>
            <a:endParaRPr/>
          </a:p>
          <a:p>
            <a:pPr indent="-274638" lvl="0" marL="287338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or more transmitting nodes: “collision” </a:t>
            </a:r>
            <a:endParaRPr/>
          </a:p>
        </p:txBody>
      </p:sp>
      <p:sp>
        <p:nvSpPr>
          <p:cNvPr id="478" name="Google Shape;478;p19"/>
          <p:cNvSpPr txBox="1"/>
          <p:nvPr/>
        </p:nvSpPr>
        <p:spPr>
          <a:xfrm>
            <a:off x="798443" y="3698600"/>
            <a:ext cx="11393557" cy="2940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protocol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specifies: 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detect collisions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recover from collisions (e.g., via delayed retransmissions)</a:t>
            </a:r>
            <a:endParaRPr/>
          </a:p>
          <a:p>
            <a:pPr indent="-274638" lvl="0" marL="287338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random access MAC protocols: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ALOHA, slotted ALOHA</a:t>
            </a:r>
            <a:endParaRPr/>
          </a:p>
          <a:p>
            <a:pPr indent="-231775" lvl="1" marL="695325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CSMA, CSMA/CD, CSMA/CA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845584" y="1416396"/>
            <a:ext cx="510464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frames same size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equal size slots (time to transmit 1 frame)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nodes start to transmit only slot beginning 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nodes are synchronized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2 or more nodes transmit in slot, all nodes detect collision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6440557" y="1447181"/>
            <a:ext cx="51683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operation:</a:t>
            </a:r>
            <a:endParaRPr/>
          </a:p>
          <a:p>
            <a:pPr indent="-2349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node obtains fresh frame, transmits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no collision: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can send new frame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collision: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retransmits frame in each subsequent slot with probability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until success</a:t>
            </a:r>
            <a:endParaRPr/>
          </a:p>
        </p:txBody>
      </p:sp>
      <p:grpSp>
        <p:nvGrpSpPr>
          <p:cNvPr id="487" name="Google Shape;487;p20"/>
          <p:cNvGrpSpPr/>
          <p:nvPr/>
        </p:nvGrpSpPr>
        <p:grpSpPr>
          <a:xfrm>
            <a:off x="7222435" y="4651513"/>
            <a:ext cx="3379304" cy="1707369"/>
            <a:chOff x="7222435" y="4651513"/>
            <a:chExt cx="3379304" cy="1707369"/>
          </a:xfrm>
        </p:grpSpPr>
        <p:sp>
          <p:nvSpPr>
            <p:cNvPr id="488" name="Google Shape;488;p20"/>
            <p:cNvSpPr txBox="1"/>
            <p:nvPr/>
          </p:nvSpPr>
          <p:spPr>
            <a:xfrm>
              <a:off x="7222435" y="5897217"/>
              <a:ext cx="29426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randomization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why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10058399" y="4651513"/>
              <a:ext cx="543340" cy="54334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0" name="Google Shape;490;p20"/>
            <p:cNvCxnSpPr/>
            <p:nvPr/>
          </p:nvCxnSpPr>
          <p:spPr>
            <a:xfrm flipH="1">
              <a:off x="8468481" y="5181601"/>
              <a:ext cx="1636301" cy="70236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1089991" y="3654425"/>
            <a:ext cx="4846983" cy="320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active node can continuously transmit at full rate of channel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highly decentralized: only slots in nodes need to be in sync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/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6149008" y="3631167"/>
            <a:ext cx="5579166" cy="27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Cons: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collisions, wasting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idle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nodes may be able to detect collision in less than time to transmit packet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clock synchronization</a:t>
            </a:r>
            <a:endParaRPr/>
          </a:p>
        </p:txBody>
      </p:sp>
      <p:grpSp>
        <p:nvGrpSpPr>
          <p:cNvPr id="499" name="Google Shape;499;p21"/>
          <p:cNvGrpSpPr/>
          <p:nvPr/>
        </p:nvGrpSpPr>
        <p:grpSpPr>
          <a:xfrm>
            <a:off x="3258866" y="1417223"/>
            <a:ext cx="449263" cy="338137"/>
            <a:chOff x="1185" y="903"/>
            <a:chExt cx="283" cy="213"/>
          </a:xfrm>
        </p:grpSpPr>
        <p:sp>
          <p:nvSpPr>
            <p:cNvPr id="500" name="Google Shape;500;p2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02" name="Google Shape;502;p21"/>
          <p:cNvGrpSpPr/>
          <p:nvPr/>
        </p:nvGrpSpPr>
        <p:grpSpPr>
          <a:xfrm>
            <a:off x="4239941" y="1420398"/>
            <a:ext cx="449263" cy="338137"/>
            <a:chOff x="1185" y="903"/>
            <a:chExt cx="283" cy="213"/>
          </a:xfrm>
        </p:grpSpPr>
        <p:sp>
          <p:nvSpPr>
            <p:cNvPr id="503" name="Google Shape;503;p2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5776641" y="1421985"/>
            <a:ext cx="449263" cy="338137"/>
            <a:chOff x="1185" y="903"/>
            <a:chExt cx="283" cy="213"/>
          </a:xfrm>
        </p:grpSpPr>
        <p:sp>
          <p:nvSpPr>
            <p:cNvPr id="506" name="Google Shape;506;p2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08" name="Google Shape;508;p21"/>
          <p:cNvGrpSpPr/>
          <p:nvPr/>
        </p:nvGrpSpPr>
        <p:grpSpPr>
          <a:xfrm>
            <a:off x="6792641" y="1417223"/>
            <a:ext cx="449263" cy="338137"/>
            <a:chOff x="1185" y="903"/>
            <a:chExt cx="283" cy="213"/>
          </a:xfrm>
        </p:grpSpPr>
        <p:sp>
          <p:nvSpPr>
            <p:cNvPr id="509" name="Google Shape;509;p2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511" name="Google Shape;511;p21"/>
          <p:cNvGrpSpPr/>
          <p:nvPr/>
        </p:nvGrpSpPr>
        <p:grpSpPr>
          <a:xfrm>
            <a:off x="3260453" y="1934748"/>
            <a:ext cx="449263" cy="338137"/>
            <a:chOff x="4584" y="1229"/>
            <a:chExt cx="283" cy="213"/>
          </a:xfrm>
        </p:grpSpPr>
        <p:sp>
          <p:nvSpPr>
            <p:cNvPr id="512" name="Google Shape;512;p2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2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14" name="Google Shape;514;p21"/>
          <p:cNvGrpSpPr/>
          <p:nvPr/>
        </p:nvGrpSpPr>
        <p:grpSpPr>
          <a:xfrm>
            <a:off x="3262041" y="2444335"/>
            <a:ext cx="449263" cy="338137"/>
            <a:chOff x="4827" y="1591"/>
            <a:chExt cx="283" cy="213"/>
          </a:xfrm>
        </p:grpSpPr>
        <p:sp>
          <p:nvSpPr>
            <p:cNvPr id="515" name="Google Shape;515;p2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517" name="Google Shape;517;p21"/>
          <p:cNvGrpSpPr/>
          <p:nvPr/>
        </p:nvGrpSpPr>
        <p:grpSpPr>
          <a:xfrm>
            <a:off x="4249466" y="1936335"/>
            <a:ext cx="449263" cy="338137"/>
            <a:chOff x="4584" y="1229"/>
            <a:chExt cx="283" cy="213"/>
          </a:xfrm>
        </p:grpSpPr>
        <p:sp>
          <p:nvSpPr>
            <p:cNvPr id="518" name="Google Shape;518;p2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20" name="Google Shape;520;p21"/>
          <p:cNvGrpSpPr/>
          <p:nvPr/>
        </p:nvGrpSpPr>
        <p:grpSpPr>
          <a:xfrm>
            <a:off x="4766991" y="1937923"/>
            <a:ext cx="449263" cy="338137"/>
            <a:chOff x="4584" y="1229"/>
            <a:chExt cx="283" cy="213"/>
          </a:xfrm>
        </p:grpSpPr>
        <p:sp>
          <p:nvSpPr>
            <p:cNvPr id="521" name="Google Shape;521;p2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23" name="Google Shape;523;p21"/>
          <p:cNvGrpSpPr/>
          <p:nvPr/>
        </p:nvGrpSpPr>
        <p:grpSpPr>
          <a:xfrm>
            <a:off x="5778228" y="2445922"/>
            <a:ext cx="449263" cy="338137"/>
            <a:chOff x="4827" y="1591"/>
            <a:chExt cx="283" cy="213"/>
          </a:xfrm>
        </p:grpSpPr>
        <p:sp>
          <p:nvSpPr>
            <p:cNvPr id="524" name="Google Shape;524;p2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526" name="Google Shape;526;p21"/>
          <p:cNvGrpSpPr/>
          <p:nvPr/>
        </p:nvGrpSpPr>
        <p:grpSpPr>
          <a:xfrm>
            <a:off x="7289528" y="2447510"/>
            <a:ext cx="449263" cy="338137"/>
            <a:chOff x="4827" y="1591"/>
            <a:chExt cx="283" cy="213"/>
          </a:xfrm>
        </p:grpSpPr>
        <p:sp>
          <p:nvSpPr>
            <p:cNvPr id="527" name="Google Shape;527;p2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2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529" name="Google Shape;529;p21"/>
          <p:cNvSpPr txBox="1"/>
          <p:nvPr/>
        </p:nvSpPr>
        <p:spPr>
          <a:xfrm>
            <a:off x="2411141" y="145214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1</a:t>
            </a:r>
            <a:endParaRPr/>
          </a:p>
        </p:txBody>
      </p:sp>
      <p:sp>
        <p:nvSpPr>
          <p:cNvPr id="530" name="Google Shape;530;p21"/>
          <p:cNvSpPr txBox="1"/>
          <p:nvPr/>
        </p:nvSpPr>
        <p:spPr>
          <a:xfrm>
            <a:off x="2393678" y="196649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2</a:t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2439716" y="2469735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3</a:t>
            </a:r>
            <a:endParaRPr/>
          </a:p>
        </p:txBody>
      </p:sp>
      <p:cxnSp>
        <p:nvCxnSpPr>
          <p:cNvPr id="532" name="Google Shape;532;p21"/>
          <p:cNvCxnSpPr/>
          <p:nvPr/>
        </p:nvCxnSpPr>
        <p:spPr>
          <a:xfrm>
            <a:off x="3236641" y="2977735"/>
            <a:ext cx="5210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21"/>
          <p:cNvCxnSpPr/>
          <p:nvPr/>
        </p:nvCxnSpPr>
        <p:spPr>
          <a:xfrm>
            <a:off x="3239816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21"/>
          <p:cNvCxnSpPr/>
          <p:nvPr/>
        </p:nvCxnSpPr>
        <p:spPr>
          <a:xfrm>
            <a:off x="37398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21"/>
          <p:cNvCxnSpPr/>
          <p:nvPr/>
        </p:nvCxnSpPr>
        <p:spPr>
          <a:xfrm>
            <a:off x="4243116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21"/>
          <p:cNvCxnSpPr/>
          <p:nvPr/>
        </p:nvCxnSpPr>
        <p:spPr>
          <a:xfrm>
            <a:off x="474952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21"/>
          <p:cNvCxnSpPr/>
          <p:nvPr/>
        </p:nvCxnSpPr>
        <p:spPr>
          <a:xfrm>
            <a:off x="525435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21"/>
          <p:cNvCxnSpPr/>
          <p:nvPr/>
        </p:nvCxnSpPr>
        <p:spPr>
          <a:xfrm>
            <a:off x="5762353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21"/>
          <p:cNvCxnSpPr/>
          <p:nvPr/>
        </p:nvCxnSpPr>
        <p:spPr>
          <a:xfrm>
            <a:off x="62671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21"/>
          <p:cNvCxnSpPr/>
          <p:nvPr/>
        </p:nvCxnSpPr>
        <p:spPr>
          <a:xfrm>
            <a:off x="677200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21"/>
          <p:cNvCxnSpPr/>
          <p:nvPr/>
        </p:nvCxnSpPr>
        <p:spPr>
          <a:xfrm>
            <a:off x="7280003" y="287137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21"/>
          <p:cNvCxnSpPr/>
          <p:nvPr/>
        </p:nvCxnSpPr>
        <p:spPr>
          <a:xfrm>
            <a:off x="7768953" y="286819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21"/>
          <p:cNvSpPr txBox="1"/>
          <p:nvPr/>
        </p:nvSpPr>
        <p:spPr>
          <a:xfrm>
            <a:off x="330172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44" name="Google Shape;544;p21"/>
          <p:cNvSpPr txBox="1"/>
          <p:nvPr/>
        </p:nvSpPr>
        <p:spPr>
          <a:xfrm>
            <a:off x="4320903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45" name="Google Shape;545;p21"/>
          <p:cNvSpPr txBox="1"/>
          <p:nvPr/>
        </p:nvSpPr>
        <p:spPr>
          <a:xfrm>
            <a:off x="583537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46" name="Google Shape;546;p21"/>
          <p:cNvSpPr txBox="1"/>
          <p:nvPr/>
        </p:nvSpPr>
        <p:spPr>
          <a:xfrm>
            <a:off x="483525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547" name="Google Shape;547;p21"/>
          <p:cNvSpPr txBox="1"/>
          <p:nvPr/>
        </p:nvSpPr>
        <p:spPr>
          <a:xfrm>
            <a:off x="683550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548" name="Google Shape;548;p21"/>
          <p:cNvSpPr txBox="1"/>
          <p:nvPr/>
        </p:nvSpPr>
        <p:spPr>
          <a:xfrm>
            <a:off x="7321278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549" name="Google Shape;549;p21"/>
          <p:cNvSpPr txBox="1"/>
          <p:nvPr/>
        </p:nvSpPr>
        <p:spPr>
          <a:xfrm>
            <a:off x="3824016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550" name="Google Shape;550;p21"/>
          <p:cNvSpPr txBox="1"/>
          <p:nvPr/>
        </p:nvSpPr>
        <p:spPr>
          <a:xfrm>
            <a:off x="5340078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6340203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552" name="Google Shape;552;p21"/>
          <p:cNvSpPr txBox="1"/>
          <p:nvPr/>
        </p:nvSpPr>
        <p:spPr>
          <a:xfrm>
            <a:off x="8693431" y="1736034"/>
            <a:ext cx="15141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collision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success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empty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"/>
          <p:cNvSpPr txBox="1"/>
          <p:nvPr>
            <p:ph idx="1" type="body"/>
          </p:nvPr>
        </p:nvSpPr>
        <p:spPr>
          <a:xfrm>
            <a:off x="824948" y="1697523"/>
            <a:ext cx="11062252" cy="47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efficiency: </a:t>
            </a:r>
            <a:r>
              <a:rPr lang="en-US"/>
              <a:t>long-run  fraction of successful slots  (many nodes, all with many frames to send)</a:t>
            </a:r>
            <a:endParaRPr/>
          </a:p>
          <a:p>
            <a:pPr indent="-27463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i="1" lang="en-US"/>
              <a:t>suppose:</a:t>
            </a:r>
            <a:r>
              <a:rPr lang="en-US"/>
              <a:t> </a:t>
            </a:r>
            <a:r>
              <a:rPr i="1" lang="en-US"/>
              <a:t>N</a:t>
            </a:r>
            <a:r>
              <a:rPr lang="en-US"/>
              <a:t> nodes with many frames to send, each transmits in slot with probability </a:t>
            </a:r>
            <a:r>
              <a:rPr i="1" lang="en-US"/>
              <a:t>p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given node has success in a slot  = </a:t>
            </a:r>
            <a:r>
              <a:rPr i="1" lang="en-US" sz="2600"/>
              <a:t>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</a:t>
            </a:r>
            <a:r>
              <a:rPr i="1" lang="en-US" sz="2600"/>
              <a:t>any</a:t>
            </a:r>
            <a:r>
              <a:rPr lang="en-US" sz="2600"/>
              <a:t> node has a success =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max efficiency: find </a:t>
            </a:r>
            <a:r>
              <a:rPr i="1" lang="en-US" sz="2600"/>
              <a:t>p* </a:t>
            </a:r>
            <a:r>
              <a:rPr lang="en-US" sz="2600"/>
              <a:t>that maximizes 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for many nodes, take limit of </a:t>
            </a:r>
            <a:r>
              <a:rPr i="1" lang="en-US" sz="2600"/>
              <a:t>Np*(1-p*)</a:t>
            </a:r>
            <a:r>
              <a:rPr b="1" baseline="30000" i="1" lang="en-US" sz="2600"/>
              <a:t>N-1 </a:t>
            </a:r>
            <a:r>
              <a:rPr lang="en-US" sz="2600"/>
              <a:t>as </a:t>
            </a:r>
            <a:r>
              <a:rPr i="1" lang="en-US" sz="2600"/>
              <a:t>N</a:t>
            </a:r>
            <a:r>
              <a:rPr lang="en-US" sz="2600"/>
              <a:t> goes to infinity, gives</a:t>
            </a:r>
            <a:r>
              <a:rPr lang="en-US"/>
              <a:t>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00000"/>
                </a:solidFill>
              </a:rPr>
              <a:t>    </a:t>
            </a:r>
            <a:r>
              <a:rPr i="1" lang="en-US">
                <a:solidFill>
                  <a:srgbClr val="C00000"/>
                </a:solidFill>
              </a:rPr>
              <a:t>max efficiency = 1/e = .37</a:t>
            </a:r>
            <a:endParaRPr b="1" baseline="30000" i="1">
              <a:solidFill>
                <a:srgbClr val="C00000"/>
              </a:solidFill>
            </a:endParaRPr>
          </a:p>
          <a:p>
            <a:pPr indent="-274638" lvl="0" marL="45720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</a:pPr>
            <a:r>
              <a:rPr i="1" lang="en-US" sz="3600">
                <a:solidFill>
                  <a:srgbClr val="0000A8"/>
                </a:solidFill>
              </a:rPr>
              <a:t>at best:</a:t>
            </a:r>
            <a:r>
              <a:rPr i="1" lang="en-US" sz="3200">
                <a:solidFill>
                  <a:srgbClr val="0000A8"/>
                </a:solidFill>
              </a:rPr>
              <a:t> </a:t>
            </a:r>
            <a:r>
              <a:rPr lang="en-US" sz="3200"/>
              <a:t>channel used for useful  transmissions 37% of time!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i="1"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9" name="Google Shape;559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Slotted ALOHA: efficiency</a:t>
            </a:r>
            <a:endParaRPr/>
          </a:p>
        </p:txBody>
      </p:sp>
      <p:pic>
        <p:nvPicPr>
          <p:cNvPr descr="A picture containing icon&#10;&#10;Description automatically generated" id="560" name="Google Shape;5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8273" y="5062654"/>
            <a:ext cx="1639229" cy="1639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Pure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891209" y="1435652"/>
            <a:ext cx="10518913" cy="23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unslotted Aloha: simpler, no synchronization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frame first arrives: transmit immediately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collision probability increases with no synchronization: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at 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collides with other frames sent in [t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+1]</a:t>
            </a:r>
            <a:endParaRPr/>
          </a:p>
        </p:txBody>
      </p:sp>
      <p:grpSp>
        <p:nvGrpSpPr>
          <p:cNvPr id="568" name="Google Shape;568;p23"/>
          <p:cNvGrpSpPr/>
          <p:nvPr/>
        </p:nvGrpSpPr>
        <p:grpSpPr>
          <a:xfrm>
            <a:off x="2981739" y="3590924"/>
            <a:ext cx="6215270" cy="1680396"/>
            <a:chOff x="2981739" y="3590924"/>
            <a:chExt cx="6215270" cy="1680396"/>
          </a:xfrm>
        </p:grpSpPr>
        <p:grpSp>
          <p:nvGrpSpPr>
            <p:cNvPr id="569" name="Google Shape;569;p23"/>
            <p:cNvGrpSpPr/>
            <p:nvPr/>
          </p:nvGrpSpPr>
          <p:grpSpPr>
            <a:xfrm>
              <a:off x="3709987" y="4014790"/>
              <a:ext cx="1533525" cy="57150"/>
              <a:chOff x="5229225" y="5548314"/>
              <a:chExt cx="1533525" cy="57150"/>
            </a:xfrm>
          </p:grpSpPr>
          <p:cxnSp>
            <p:nvCxnSpPr>
              <p:cNvPr id="570" name="Google Shape;570;p2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71" name="Google Shape;571;p2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23"/>
            <p:cNvGrpSpPr/>
            <p:nvPr/>
          </p:nvGrpSpPr>
          <p:grpSpPr>
            <a:xfrm>
              <a:off x="5262562" y="4014791"/>
              <a:ext cx="1533525" cy="57150"/>
              <a:chOff x="5229225" y="5548314"/>
              <a:chExt cx="1533525" cy="57150"/>
            </a:xfrm>
          </p:grpSpPr>
          <p:cxnSp>
            <p:nvCxnSpPr>
              <p:cNvPr id="573" name="Google Shape;573;p2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74" name="Google Shape;574;p2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75" name="Google Shape;575;p23"/>
            <p:cNvCxnSpPr/>
            <p:nvPr/>
          </p:nvCxnSpPr>
          <p:spPr>
            <a:xfrm>
              <a:off x="2981739" y="4890052"/>
              <a:ext cx="62152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6" name="Google Shape;576;p23"/>
            <p:cNvCxnSpPr/>
            <p:nvPr/>
          </p:nvCxnSpPr>
          <p:spPr>
            <a:xfrm>
              <a:off x="6798365" y="3817663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7" name="Google Shape;577;p23"/>
            <p:cNvCxnSpPr/>
            <p:nvPr/>
          </p:nvCxnSpPr>
          <p:spPr>
            <a:xfrm>
              <a:off x="5254486" y="3823252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8" name="Google Shape;578;p23"/>
            <p:cNvCxnSpPr/>
            <p:nvPr/>
          </p:nvCxnSpPr>
          <p:spPr>
            <a:xfrm>
              <a:off x="3710607" y="3833604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579" name="Google Shape;579;p23"/>
            <p:cNvSpPr txBox="1"/>
            <p:nvPr/>
          </p:nvSpPr>
          <p:spPr>
            <a:xfrm>
              <a:off x="6453809" y="4863548"/>
              <a:ext cx="7312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+ 1</a:t>
              </a:r>
              <a:endParaRPr/>
            </a:p>
          </p:txBody>
        </p:sp>
        <p:sp>
          <p:nvSpPr>
            <p:cNvPr id="580" name="Google Shape;580;p23"/>
            <p:cNvSpPr txBox="1"/>
            <p:nvPr/>
          </p:nvSpPr>
          <p:spPr>
            <a:xfrm>
              <a:off x="3381167" y="4871210"/>
              <a:ext cx="68159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- 1</a:t>
              </a:r>
              <a:endParaRPr/>
            </a:p>
          </p:txBody>
        </p:sp>
        <p:sp>
          <p:nvSpPr>
            <p:cNvPr id="581" name="Google Shape;581;p23"/>
            <p:cNvSpPr txBox="1"/>
            <p:nvPr/>
          </p:nvSpPr>
          <p:spPr>
            <a:xfrm>
              <a:off x="5102086" y="4865199"/>
              <a:ext cx="3577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4090988" y="4191000"/>
              <a:ext cx="1547812" cy="1714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5248276" y="4429125"/>
              <a:ext cx="1547812" cy="1714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519864" y="4672012"/>
              <a:ext cx="1547812" cy="17145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23"/>
            <p:cNvSpPr txBox="1"/>
            <p:nvPr/>
          </p:nvSpPr>
          <p:spPr>
            <a:xfrm>
              <a:off x="5514017" y="3590925"/>
              <a:ext cx="105830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end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  <p:sp>
          <p:nvSpPr>
            <p:cNvPr id="586" name="Google Shape;586;p23"/>
            <p:cNvSpPr txBox="1"/>
            <p:nvPr/>
          </p:nvSpPr>
          <p:spPr>
            <a:xfrm>
              <a:off x="3946547" y="3590924"/>
              <a:ext cx="111665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start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</p:grpSp>
      <p:sp>
        <p:nvSpPr>
          <p:cNvPr id="587" name="Google Shape;587;p23"/>
          <p:cNvSpPr txBox="1"/>
          <p:nvPr/>
        </p:nvSpPr>
        <p:spPr>
          <a:xfrm>
            <a:off x="911088" y="5316331"/>
            <a:ext cx="10518913" cy="62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pure Aloha efficiency: 18% !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 (carrier sense multiple access)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 txBox="1"/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listen before transmit: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idle: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transmit entire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busy: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defer transmission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analogy: don’t interrupt others!</a:t>
            </a:r>
            <a:endParaRPr/>
          </a:p>
        </p:txBody>
      </p:sp>
      <p:sp>
        <p:nvSpPr>
          <p:cNvPr id="595" name="Google Shape;595;p24"/>
          <p:cNvSpPr txBox="1"/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CSMA with </a:t>
            </a: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 detection</a:t>
            </a:r>
            <a:endParaRPr b="0" i="1" sz="28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within short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colliding transmissions aborted, reducing channel wastage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collision detection easy in wired, difficult with 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human analogy: the polite conversationalist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CSMA: collisions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collisions can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still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occur with carrier sensing: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delay means  two nodes may not hear each other’s just-started transmission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entire packet transmission time wasted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&amp; propagation delay play role in in determining collision probability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603" name="Google Shape;6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70" y="1216371"/>
            <a:ext cx="4287837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5"/>
          <p:cNvSpPr/>
          <p:nvPr/>
        </p:nvSpPr>
        <p:spPr>
          <a:xfrm>
            <a:off x="7999482" y="778221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7305745" y="2446683"/>
            <a:ext cx="3736975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7313682" y="2703858"/>
            <a:ext cx="3725863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7275582" y="2956271"/>
            <a:ext cx="3763963" cy="16240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7248595" y="4564408"/>
            <a:ext cx="3789362" cy="2035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7242245" y="1148108"/>
            <a:ext cx="4040187" cy="130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" name="Google Shape;610;p25"/>
          <p:cNvGrpSpPr/>
          <p:nvPr/>
        </p:nvGrpSpPr>
        <p:grpSpPr>
          <a:xfrm>
            <a:off x="7426395" y="1146521"/>
            <a:ext cx="3513137" cy="628650"/>
            <a:chOff x="3117" y="180"/>
            <a:chExt cx="2213" cy="396"/>
          </a:xfrm>
        </p:grpSpPr>
        <p:grpSp>
          <p:nvGrpSpPr>
            <p:cNvPr id="611" name="Google Shape;611;p25"/>
            <p:cNvGrpSpPr/>
            <p:nvPr/>
          </p:nvGrpSpPr>
          <p:grpSpPr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612" name="Google Shape;612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3" name="Google Shape;613;p2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25"/>
            <p:cNvGrpSpPr/>
            <p:nvPr/>
          </p:nvGrpSpPr>
          <p:grpSpPr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615" name="Google Shape;615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6" name="Google Shape;616;p2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7" name="Google Shape;617;p25"/>
            <p:cNvGrpSpPr/>
            <p:nvPr/>
          </p:nvGrpSpPr>
          <p:grpSpPr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618" name="Google Shape;618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p2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" name="Google Shape;620;p25"/>
            <p:cNvGrpSpPr/>
            <p:nvPr/>
          </p:nvGrpSpPr>
          <p:grpSpPr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621" name="Google Shape;621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2" name="Google Shape;622;p2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23" name="Google Shape;623;p25"/>
            <p:cNvCxnSpPr/>
            <p:nvPr/>
          </p:nvCxnSpPr>
          <p:spPr>
            <a:xfrm>
              <a:off x="3309" y="181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25"/>
            <p:cNvCxnSpPr/>
            <p:nvPr/>
          </p:nvCxnSpPr>
          <p:spPr>
            <a:xfrm>
              <a:off x="330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25"/>
            <p:cNvCxnSpPr/>
            <p:nvPr/>
          </p:nvCxnSpPr>
          <p:spPr>
            <a:xfrm>
              <a:off x="3975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25"/>
            <p:cNvCxnSpPr/>
            <p:nvPr/>
          </p:nvCxnSpPr>
          <p:spPr>
            <a:xfrm>
              <a:off x="4578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25"/>
            <p:cNvCxnSpPr/>
            <p:nvPr/>
          </p:nvCxnSpPr>
          <p:spPr>
            <a:xfrm>
              <a:off x="528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6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CSMA/CD reduces the amount of time wasted in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aborted on collision detection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635" name="Google Shape;6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882" y="750060"/>
            <a:ext cx="4433887" cy="38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6"/>
          <p:cNvSpPr/>
          <p:nvPr/>
        </p:nvSpPr>
        <p:spPr>
          <a:xfrm>
            <a:off x="7196619" y="664335"/>
            <a:ext cx="4135438" cy="1211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7933219" y="813560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26"/>
          <p:cNvGrpSpPr/>
          <p:nvPr/>
        </p:nvGrpSpPr>
        <p:grpSpPr>
          <a:xfrm>
            <a:off x="7696682" y="1204085"/>
            <a:ext cx="3263900" cy="195262"/>
            <a:chOff x="4220" y="1231"/>
            <a:chExt cx="1989" cy="90"/>
          </a:xfrm>
        </p:grpSpPr>
        <p:cxnSp>
          <p:nvCxnSpPr>
            <p:cNvPr id="639" name="Google Shape;639;p26"/>
            <p:cNvCxnSpPr/>
            <p:nvPr/>
          </p:nvCxnSpPr>
          <p:spPr>
            <a:xfrm>
              <a:off x="4220" y="1232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26"/>
            <p:cNvCxnSpPr/>
            <p:nvPr/>
          </p:nvCxnSpPr>
          <p:spPr>
            <a:xfrm>
              <a:off x="422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26"/>
            <p:cNvCxnSpPr/>
            <p:nvPr/>
          </p:nvCxnSpPr>
          <p:spPr>
            <a:xfrm>
              <a:off x="4886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6"/>
            <p:cNvCxnSpPr/>
            <p:nvPr/>
          </p:nvCxnSpPr>
          <p:spPr>
            <a:xfrm>
              <a:off x="5489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26"/>
            <p:cNvCxnSpPr/>
            <p:nvPr/>
          </p:nvCxnSpPr>
          <p:spPr>
            <a:xfrm>
              <a:off x="620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4" name="Google Shape;644;p26"/>
          <p:cNvGrpSpPr/>
          <p:nvPr/>
        </p:nvGrpSpPr>
        <p:grpSpPr>
          <a:xfrm flipH="1">
            <a:off x="7342669" y="1337435"/>
            <a:ext cx="501650" cy="512762"/>
            <a:chOff x="2839" y="3501"/>
            <a:chExt cx="755" cy="803"/>
          </a:xfrm>
        </p:grpSpPr>
        <p:pic>
          <p:nvPicPr>
            <p:cNvPr descr="desktop_computer_stylized_medium" id="645" name="Google Shape;64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2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26"/>
          <p:cNvGrpSpPr/>
          <p:nvPr/>
        </p:nvGrpSpPr>
        <p:grpSpPr>
          <a:xfrm flipH="1">
            <a:off x="8434869" y="1319972"/>
            <a:ext cx="501650" cy="512763"/>
            <a:chOff x="2839" y="3501"/>
            <a:chExt cx="755" cy="803"/>
          </a:xfrm>
        </p:grpSpPr>
        <p:pic>
          <p:nvPicPr>
            <p:cNvPr descr="desktop_computer_stylized_medium" id="648" name="Google Shape;64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9" name="Google Shape;649;p2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p26"/>
          <p:cNvGrpSpPr/>
          <p:nvPr/>
        </p:nvGrpSpPr>
        <p:grpSpPr>
          <a:xfrm flipH="1">
            <a:off x="9433407" y="1310447"/>
            <a:ext cx="501650" cy="512763"/>
            <a:chOff x="2839" y="3501"/>
            <a:chExt cx="755" cy="803"/>
          </a:xfrm>
        </p:grpSpPr>
        <p:pic>
          <p:nvPicPr>
            <p:cNvPr descr="desktop_computer_stylized_medium" id="651" name="Google Shape;65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2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p26"/>
          <p:cNvGrpSpPr/>
          <p:nvPr/>
        </p:nvGrpSpPr>
        <p:grpSpPr>
          <a:xfrm flipH="1">
            <a:off x="10552594" y="1324735"/>
            <a:ext cx="501650" cy="512762"/>
            <a:chOff x="2839" y="3501"/>
            <a:chExt cx="755" cy="803"/>
          </a:xfrm>
        </p:grpSpPr>
        <p:pic>
          <p:nvPicPr>
            <p:cNvPr descr="desktop_computer_stylized_medium" id="654" name="Google Shape;65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2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26"/>
          <p:cNvSpPr/>
          <p:nvPr/>
        </p:nvSpPr>
        <p:spPr>
          <a:xfrm>
            <a:off x="7342577" y="2036867"/>
            <a:ext cx="3986127" cy="2699396"/>
          </a:xfrm>
          <a:custGeom>
            <a:rect b="b" l="l" r="r" t="t"/>
            <a:pathLst>
              <a:path extrusionOk="0" h="2699396" w="3986127">
                <a:moveTo>
                  <a:pt x="0" y="158788"/>
                </a:moveTo>
                <a:lnTo>
                  <a:pt x="1357912" y="32853"/>
                </a:lnTo>
                <a:lnTo>
                  <a:pt x="1522175" y="0"/>
                </a:lnTo>
                <a:lnTo>
                  <a:pt x="3542616" y="246395"/>
                </a:lnTo>
                <a:lnTo>
                  <a:pt x="3936848" y="394232"/>
                </a:lnTo>
                <a:lnTo>
                  <a:pt x="3986127" y="2699396"/>
                </a:lnTo>
                <a:lnTo>
                  <a:pt x="5476" y="2650117"/>
                </a:lnTo>
                <a:cubicBezTo>
                  <a:pt x="3651" y="1819674"/>
                  <a:pt x="1825" y="989231"/>
                  <a:pt x="0" y="1587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Ethernet CSMA/CD algorithm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 txBox="1"/>
          <p:nvPr/>
        </p:nvSpPr>
        <p:spPr>
          <a:xfrm>
            <a:off x="804379" y="1513440"/>
            <a:ext cx="10181673" cy="242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receives datagram from network layer, creates frame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Ethernet senses channel: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idle: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frame transmission. 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busy: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 until channel idle, then transmit</a:t>
            </a:r>
            <a:endParaRPr/>
          </a:p>
          <a:p>
            <a:pPr indent="-3397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entire frame transmitted without collision - done!</a:t>
            </a:r>
            <a:endParaRPr/>
          </a:p>
        </p:txBody>
      </p:sp>
      <p:sp>
        <p:nvSpPr>
          <p:cNvPr id="664" name="Google Shape;664;p27"/>
          <p:cNvSpPr txBox="1"/>
          <p:nvPr/>
        </p:nvSpPr>
        <p:spPr>
          <a:xfrm>
            <a:off x="848785" y="3990199"/>
            <a:ext cx="11211339" cy="2493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 startAt="4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 another transmission detected while sending: abort, send jam signal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AutoNum type="arabicPeriod" startAt="4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aborting, enter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binary (exponential) backoff: 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 collision, chooses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random from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{0,1,2, …, 2</a:t>
            </a:r>
            <a:r>
              <a:rPr b="1" baseline="30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-1}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Ethernet waits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·512 bit times, returns to Step 2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collisions: longer backoff interval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 efficiency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 txBox="1"/>
          <p:nvPr/>
        </p:nvSpPr>
        <p:spPr>
          <a:xfrm>
            <a:off x="1219200" y="1586948"/>
            <a:ext cx="10972800" cy="1684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max prop delay between 2 nodes in LAN</a:t>
            </a:r>
            <a:endParaRPr/>
          </a:p>
          <a:p>
            <a:pPr indent="-238125" lvl="0" marL="2381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time to transmit max-size frame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efficiency goes to 1 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goes to 0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goes to infinity</a:t>
            </a:r>
            <a:endParaRPr/>
          </a:p>
          <a:p>
            <a:pPr indent="-277813" lvl="0" marL="277813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performance than ALOHA: and simple, cheap, decentralized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979" y="2514531"/>
            <a:ext cx="3570287" cy="9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858078" y="1355033"/>
            <a:ext cx="9200321" cy="2759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channel partitioning MAC protocols: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 channel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fairly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 high load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inefficient at low load: delay in channel access, 1/N bandwidth allocated even if only 1 active node! </a:t>
            </a:r>
            <a:endParaRPr/>
          </a:p>
        </p:txBody>
      </p:sp>
      <p:sp>
        <p:nvSpPr>
          <p:cNvPr id="680" name="Google Shape;680;p29"/>
          <p:cNvSpPr txBox="1"/>
          <p:nvPr/>
        </p:nvSpPr>
        <p:spPr>
          <a:xfrm>
            <a:off x="974037" y="3316356"/>
            <a:ext cx="10455964" cy="2527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random access MAC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 at low load: single node can fully utilize channel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 load: collision overhead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 for best of both worlds!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7" name="Google Shape;687;p30"/>
          <p:cNvGrpSpPr/>
          <p:nvPr/>
        </p:nvGrpSpPr>
        <p:grpSpPr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descr="desktop_computer_stylized_medium" id="688" name="Google Shape;688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30"/>
          <p:cNvGrpSpPr/>
          <p:nvPr/>
        </p:nvGrpSpPr>
        <p:grpSpPr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descr="desktop_computer_stylized_medium" id="691" name="Google Shape;69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30"/>
          <p:cNvGrpSpPr/>
          <p:nvPr/>
        </p:nvGrpSpPr>
        <p:grpSpPr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descr="desktop_computer_stylized_medium" id="694" name="Google Shape;694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30"/>
          <p:cNvGrpSpPr/>
          <p:nvPr/>
        </p:nvGrpSpPr>
        <p:grpSpPr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descr="desktop_computer_stylized_medium" id="697" name="Google Shape;697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9" name="Google Shape;699;p30"/>
          <p:cNvGrpSpPr/>
          <p:nvPr/>
        </p:nvGrpSpPr>
        <p:grpSpPr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descr="desktop_computer_stylized_medium" id="700" name="Google Shape;7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p30"/>
          <p:cNvSpPr txBox="1"/>
          <p:nvPr/>
        </p:nvSpPr>
        <p:spPr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polling:</a:t>
            </a:r>
            <a:r>
              <a:rPr b="1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controller “invites” other nodes to transmit in turn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used with “dumb” devices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polling overhead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 (master)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Bluetooth uses polling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3" name="Google Shape;703;p30"/>
          <p:cNvCxnSpPr/>
          <p:nvPr/>
        </p:nvCxnSpPr>
        <p:spPr>
          <a:xfrm>
            <a:off x="8909464" y="2675834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30"/>
          <p:cNvSpPr txBox="1"/>
          <p:nvPr/>
        </p:nvSpPr>
        <p:spPr>
          <a:xfrm>
            <a:off x="10071237" y="3129859"/>
            <a:ext cx="158736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controller</a:t>
            </a:r>
            <a:endParaRPr/>
          </a:p>
        </p:txBody>
      </p:sp>
      <p:sp>
        <p:nvSpPr>
          <p:cNvPr id="705" name="Google Shape;705;p30"/>
          <p:cNvSpPr txBox="1"/>
          <p:nvPr/>
        </p:nvSpPr>
        <p:spPr>
          <a:xfrm>
            <a:off x="7445789" y="4715772"/>
            <a:ext cx="17828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devices</a:t>
            </a:r>
            <a:endParaRPr/>
          </a:p>
        </p:txBody>
      </p:sp>
      <p:grpSp>
        <p:nvGrpSpPr>
          <p:cNvPr id="706" name="Google Shape;706;p30"/>
          <p:cNvGrpSpPr/>
          <p:nvPr/>
        </p:nvGrpSpPr>
        <p:grpSpPr>
          <a:xfrm>
            <a:off x="9804814" y="2544072"/>
            <a:ext cx="560388" cy="336550"/>
            <a:chOff x="4212" y="2864"/>
            <a:chExt cx="353" cy="212"/>
          </a:xfrm>
        </p:grpSpPr>
        <p:sp>
          <p:nvSpPr>
            <p:cNvPr id="707" name="Google Shape;707;p30"/>
            <p:cNvSpPr/>
            <p:nvPr/>
          </p:nvSpPr>
          <p:spPr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0"/>
            <p:cNvSpPr txBox="1"/>
            <p:nvPr/>
          </p:nvSpPr>
          <p:spPr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poll</a:t>
              </a:r>
              <a:endParaRPr/>
            </a:p>
          </p:txBody>
        </p:sp>
      </p:grpSp>
      <p:grpSp>
        <p:nvGrpSpPr>
          <p:cNvPr id="709" name="Google Shape;709;p30"/>
          <p:cNvGrpSpPr/>
          <p:nvPr/>
        </p:nvGrpSpPr>
        <p:grpSpPr>
          <a:xfrm>
            <a:off x="7853777" y="3466409"/>
            <a:ext cx="595312" cy="336550"/>
            <a:chOff x="4415" y="2364"/>
            <a:chExt cx="375" cy="212"/>
          </a:xfrm>
        </p:grpSpPr>
        <p:sp>
          <p:nvSpPr>
            <p:cNvPr id="710" name="Google Shape;710;p3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grpSp>
        <p:nvGrpSpPr>
          <p:cNvPr id="712" name="Google Shape;712;p30"/>
          <p:cNvGrpSpPr/>
          <p:nvPr/>
        </p:nvGrpSpPr>
        <p:grpSpPr>
          <a:xfrm>
            <a:off x="8360189" y="2348809"/>
            <a:ext cx="595313" cy="336550"/>
            <a:chOff x="4415" y="2364"/>
            <a:chExt cx="375" cy="212"/>
          </a:xfrm>
        </p:grpSpPr>
        <p:sp>
          <p:nvSpPr>
            <p:cNvPr id="713" name="Google Shape;713;p3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cxnSp>
        <p:nvCxnSpPr>
          <p:cNvPr id="715" name="Google Shape;715;p30"/>
          <p:cNvCxnSpPr/>
          <p:nvPr/>
        </p:nvCxnSpPr>
        <p:spPr>
          <a:xfrm>
            <a:off x="9003957" y="3002692"/>
            <a:ext cx="12933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30"/>
          <p:cNvCxnSpPr>
            <a:endCxn id="703" idx="1"/>
          </p:cNvCxnSpPr>
          <p:nvPr/>
        </p:nvCxnSpPr>
        <p:spPr>
          <a:xfrm flipH="1" rot="10800000">
            <a:off x="8896147" y="2675797"/>
            <a:ext cx="267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30"/>
          <p:cNvCxnSpPr/>
          <p:nvPr/>
        </p:nvCxnSpPr>
        <p:spPr>
          <a:xfrm flipH="1" rot="10800000">
            <a:off x="8311979" y="2673178"/>
            <a:ext cx="848497" cy="177525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8" name="Google Shape;718;p30"/>
          <p:cNvCxnSpPr/>
          <p:nvPr/>
        </p:nvCxnSpPr>
        <p:spPr>
          <a:xfrm flipH="1" rot="10800000">
            <a:off x="8607823" y="3240127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30"/>
          <p:cNvCxnSpPr/>
          <p:nvPr/>
        </p:nvCxnSpPr>
        <p:spPr>
          <a:xfrm flipH="1" rot="10800000">
            <a:off x="8327736" y="3862084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0" name="Google Shape;720;p30"/>
          <p:cNvCxnSpPr/>
          <p:nvPr/>
        </p:nvCxnSpPr>
        <p:spPr>
          <a:xfrm flipH="1" rot="10800000">
            <a:off x="8051769" y="4446971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1199995" y="1512965"/>
            <a:ext cx="5194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 passing:</a:t>
            </a:r>
            <a:endParaRPr b="1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937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explicitly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passed from one node to next, sequentially</a:t>
            </a:r>
            <a:endParaRPr/>
          </a:p>
          <a:p>
            <a:pPr indent="-279400" lvl="1" marL="850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 while holding token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token overhead 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 (token)</a:t>
            </a:r>
            <a:endParaRPr/>
          </a:p>
        </p:txBody>
      </p:sp>
      <p:grpSp>
        <p:nvGrpSpPr>
          <p:cNvPr id="728" name="Google Shape;728;p31"/>
          <p:cNvGrpSpPr/>
          <p:nvPr/>
        </p:nvGrpSpPr>
        <p:grpSpPr>
          <a:xfrm>
            <a:off x="10387741" y="3262312"/>
            <a:ext cx="781050" cy="681038"/>
            <a:chOff x="-44" y="1473"/>
            <a:chExt cx="981" cy="1105"/>
          </a:xfrm>
        </p:grpSpPr>
        <p:pic>
          <p:nvPicPr>
            <p:cNvPr descr="desktop_computer_stylized_medium" id="729" name="Google Shape;72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31"/>
          <p:cNvGrpSpPr/>
          <p:nvPr/>
        </p:nvGrpSpPr>
        <p:grpSpPr>
          <a:xfrm>
            <a:off x="7673116" y="3219450"/>
            <a:ext cx="781050" cy="681037"/>
            <a:chOff x="-44" y="1473"/>
            <a:chExt cx="981" cy="1105"/>
          </a:xfrm>
        </p:grpSpPr>
        <p:pic>
          <p:nvPicPr>
            <p:cNvPr descr="desktop_computer_stylized_medium" id="732" name="Google Shape;73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p31"/>
          <p:cNvGrpSpPr/>
          <p:nvPr/>
        </p:nvGrpSpPr>
        <p:grpSpPr>
          <a:xfrm>
            <a:off x="8990741" y="1555750"/>
            <a:ext cx="781050" cy="681037"/>
            <a:chOff x="-44" y="1473"/>
            <a:chExt cx="981" cy="1105"/>
          </a:xfrm>
        </p:grpSpPr>
        <p:pic>
          <p:nvPicPr>
            <p:cNvPr descr="desktop_computer_stylized_medium" id="735" name="Google Shape;73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p31"/>
          <p:cNvGrpSpPr/>
          <p:nvPr/>
        </p:nvGrpSpPr>
        <p:grpSpPr>
          <a:xfrm>
            <a:off x="9044716" y="5003800"/>
            <a:ext cx="781050" cy="681037"/>
            <a:chOff x="-44" y="1473"/>
            <a:chExt cx="981" cy="1105"/>
          </a:xfrm>
        </p:grpSpPr>
        <p:pic>
          <p:nvPicPr>
            <p:cNvPr descr="desktop_computer_stylized_medium" id="738" name="Google Shape;738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31"/>
          <p:cNvSpPr/>
          <p:nvPr/>
        </p:nvSpPr>
        <p:spPr>
          <a:xfrm>
            <a:off x="8519254" y="2212975"/>
            <a:ext cx="2046287" cy="2778125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9363804" y="1320800"/>
            <a:ext cx="274637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9108216" y="5603875"/>
            <a:ext cx="811213" cy="32067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43" name="Google Shape;743;p31"/>
          <p:cNvSpPr txBox="1"/>
          <p:nvPr/>
        </p:nvSpPr>
        <p:spPr>
          <a:xfrm>
            <a:off x="7500079" y="2674937"/>
            <a:ext cx="1009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(nothing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send)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7996966" y="3338512"/>
            <a:ext cx="274638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2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Cable access network: FDM, TDM </a:t>
            </a:r>
            <a:r>
              <a:rPr i="1" lang="en-US"/>
              <a:t>and</a:t>
            </a:r>
            <a:r>
              <a:rPr lang="en-US"/>
              <a:t> random access!</a:t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3408324" y="2623099"/>
            <a:ext cx="955675" cy="7000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2847937" y="2081761"/>
            <a:ext cx="1925637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753" name="Google Shape;753;p32"/>
          <p:cNvSpPr txBox="1"/>
          <p:nvPr/>
        </p:nvSpPr>
        <p:spPr>
          <a:xfrm>
            <a:off x="3349587" y="2592936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3313074" y="2359574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 rot="10800000">
            <a:off x="1009273" y="2875629"/>
            <a:ext cx="1846681" cy="851585"/>
          </a:xfrm>
          <a:custGeom>
            <a:rect b="b" l="l" r="r" t="t"/>
            <a:pathLst>
              <a:path extrusionOk="0" h="9966" w="10000">
                <a:moveTo>
                  <a:pt x="5243" y="79"/>
                </a:moveTo>
                <a:cubicBezTo>
                  <a:pt x="4365" y="204"/>
                  <a:pt x="3927" y="485"/>
                  <a:pt x="3148" y="796"/>
                </a:cubicBezTo>
                <a:cubicBezTo>
                  <a:pt x="2369" y="1106"/>
                  <a:pt x="1108" y="972"/>
                  <a:pt x="600" y="1942"/>
                </a:cubicBezTo>
                <a:cubicBezTo>
                  <a:pt x="91" y="2911"/>
                  <a:pt x="-144" y="5278"/>
                  <a:pt x="94" y="6612"/>
                </a:cubicBezTo>
                <a:cubicBezTo>
                  <a:pt x="333" y="7946"/>
                  <a:pt x="1163" y="9760"/>
                  <a:pt x="2031" y="9948"/>
                </a:cubicBezTo>
                <a:cubicBezTo>
                  <a:pt x="2899" y="10136"/>
                  <a:pt x="3225" y="8832"/>
                  <a:pt x="4139" y="8683"/>
                </a:cubicBezTo>
                <a:cubicBezTo>
                  <a:pt x="5052" y="8534"/>
                  <a:pt x="6674" y="9035"/>
                  <a:pt x="7509" y="9056"/>
                </a:cubicBezTo>
                <a:cubicBezTo>
                  <a:pt x="8344" y="9077"/>
                  <a:pt x="8726" y="9097"/>
                  <a:pt x="9123" y="8849"/>
                </a:cubicBezTo>
                <a:cubicBezTo>
                  <a:pt x="9519" y="8601"/>
                  <a:pt x="9759" y="8519"/>
                  <a:pt x="9888" y="7567"/>
                </a:cubicBezTo>
                <a:cubicBezTo>
                  <a:pt x="10015" y="6615"/>
                  <a:pt x="10071" y="4299"/>
                  <a:pt x="9859" y="3140"/>
                </a:cubicBezTo>
                <a:cubicBezTo>
                  <a:pt x="9647" y="1983"/>
                  <a:pt x="9377" y="1073"/>
                  <a:pt x="8613" y="577"/>
                </a:cubicBezTo>
                <a:cubicBezTo>
                  <a:pt x="7849" y="79"/>
                  <a:pt x="6390" y="-127"/>
                  <a:pt x="5243" y="79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32"/>
          <p:cNvCxnSpPr/>
          <p:nvPr/>
        </p:nvCxnSpPr>
        <p:spPr>
          <a:xfrm flipH="1" rot="10800000">
            <a:off x="1973710" y="3110966"/>
            <a:ext cx="157454" cy="8415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32"/>
          <p:cNvCxnSpPr/>
          <p:nvPr/>
        </p:nvCxnSpPr>
        <p:spPr>
          <a:xfrm>
            <a:off x="1759397" y="3279268"/>
            <a:ext cx="0" cy="8078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32"/>
          <p:cNvCxnSpPr/>
          <p:nvPr/>
        </p:nvCxnSpPr>
        <p:spPr>
          <a:xfrm flipH="1" rot="10800000">
            <a:off x="1973710" y="3178287"/>
            <a:ext cx="329487" cy="282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32"/>
          <p:cNvCxnSpPr/>
          <p:nvPr/>
        </p:nvCxnSpPr>
        <p:spPr>
          <a:xfrm>
            <a:off x="2430035" y="3177165"/>
            <a:ext cx="0" cy="19186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32"/>
          <p:cNvCxnSpPr/>
          <p:nvPr/>
        </p:nvCxnSpPr>
        <p:spPr>
          <a:xfrm>
            <a:off x="1997036" y="3476741"/>
            <a:ext cx="23618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1" name="Google Shape;761;p32"/>
          <p:cNvGrpSpPr/>
          <p:nvPr/>
        </p:nvGrpSpPr>
        <p:grpSpPr>
          <a:xfrm flipH="1">
            <a:off x="1090801" y="3470003"/>
            <a:ext cx="466530" cy="2244"/>
            <a:chOff x="3159352" y="3666243"/>
            <a:chExt cx="466530" cy="2244"/>
          </a:xfrm>
        </p:grpSpPr>
        <p:cxnSp>
          <p:nvCxnSpPr>
            <p:cNvPr id="762" name="Google Shape;762;p32"/>
            <p:cNvCxnSpPr/>
            <p:nvPr/>
          </p:nvCxnSpPr>
          <p:spPr>
            <a:xfrm>
              <a:off x="3159352" y="3668487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32"/>
            <p:cNvCxnSpPr/>
            <p:nvPr/>
          </p:nvCxnSpPr>
          <p:spPr>
            <a:xfrm>
              <a:off x="3404280" y="3666243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764" name="Google Shape;764;p32"/>
          <p:cNvSpPr txBox="1"/>
          <p:nvPr/>
        </p:nvSpPr>
        <p:spPr>
          <a:xfrm>
            <a:off x="2611187" y="3431361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</a:t>
            </a:r>
            <a:endParaRPr/>
          </a:p>
        </p:txBody>
      </p:sp>
      <p:cxnSp>
        <p:nvCxnSpPr>
          <p:cNvPr id="765" name="Google Shape;765;p32"/>
          <p:cNvCxnSpPr/>
          <p:nvPr/>
        </p:nvCxnSpPr>
        <p:spPr>
          <a:xfrm rot="10800000">
            <a:off x="4127462" y="3172374"/>
            <a:ext cx="452437" cy="381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32"/>
          <p:cNvSpPr txBox="1"/>
          <p:nvPr/>
        </p:nvSpPr>
        <p:spPr>
          <a:xfrm>
            <a:off x="4033959" y="3414608"/>
            <a:ext cx="1611339" cy="460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modem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termination system</a:t>
            </a:r>
            <a:endParaRPr/>
          </a:p>
        </p:txBody>
      </p:sp>
      <p:grpSp>
        <p:nvGrpSpPr>
          <p:cNvPr id="767" name="Google Shape;767;p32"/>
          <p:cNvGrpSpPr/>
          <p:nvPr/>
        </p:nvGrpSpPr>
        <p:grpSpPr>
          <a:xfrm>
            <a:off x="8677789" y="2097636"/>
            <a:ext cx="2498818" cy="1466537"/>
            <a:chOff x="467224" y="1239838"/>
            <a:chExt cx="2268538" cy="1465643"/>
          </a:xfrm>
        </p:grpSpPr>
        <p:sp>
          <p:nvSpPr>
            <p:cNvPr id="768" name="Google Shape;768;p32"/>
            <p:cNvSpPr/>
            <p:nvPr/>
          </p:nvSpPr>
          <p:spPr>
            <a:xfrm>
              <a:off x="717379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9" name="Google Shape;769;p32"/>
            <p:cNvCxnSpPr/>
            <p:nvPr/>
          </p:nvCxnSpPr>
          <p:spPr>
            <a:xfrm flipH="1" rot="10800000">
              <a:off x="958850" y="2201863"/>
              <a:ext cx="365125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0" name="Google Shape;770;p32"/>
            <p:cNvSpPr txBox="1"/>
            <p:nvPr/>
          </p:nvSpPr>
          <p:spPr>
            <a:xfrm>
              <a:off x="1250087" y="2264475"/>
              <a:ext cx="748923" cy="441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modem</a:t>
              </a:r>
              <a:endParaRPr/>
            </a:p>
          </p:txBody>
        </p:sp>
        <p:sp>
          <p:nvSpPr>
            <p:cNvPr id="771" name="Google Shape;771;p32"/>
            <p:cNvSpPr txBox="1"/>
            <p:nvPr/>
          </p:nvSpPr>
          <p:spPr>
            <a:xfrm>
              <a:off x="607799" y="2331583"/>
              <a:ext cx="707245" cy="26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splitter</a:t>
              </a:r>
              <a:endParaRPr/>
            </a:p>
          </p:txBody>
        </p:sp>
        <p:grpSp>
          <p:nvGrpSpPr>
            <p:cNvPr id="772" name="Google Shape;772;p32"/>
            <p:cNvGrpSpPr/>
            <p:nvPr/>
          </p:nvGrpSpPr>
          <p:grpSpPr>
            <a:xfrm>
              <a:off x="1304925" y="2078038"/>
              <a:ext cx="614363" cy="220011"/>
              <a:chOff x="322" y="890"/>
              <a:chExt cx="872" cy="338"/>
            </a:xfrm>
          </p:grpSpPr>
          <p:sp>
            <p:nvSpPr>
              <p:cNvPr id="773" name="Google Shape;773;p32"/>
              <p:cNvSpPr/>
              <p:nvPr/>
            </p:nvSpPr>
            <p:spPr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2"/>
              <p:cNvSpPr/>
              <p:nvPr/>
            </p:nvSpPr>
            <p:spPr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9" name="Google Shape;779;p32"/>
            <p:cNvSpPr/>
            <p:nvPr/>
          </p:nvSpPr>
          <p:spPr>
            <a:xfrm>
              <a:off x="467224" y="1239838"/>
              <a:ext cx="2268538" cy="468028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2"/>
            <p:cNvSpPr/>
            <p:nvPr/>
          </p:nvSpPr>
          <p:spPr>
            <a:xfrm flipH="1">
              <a:off x="970845" y="1691922"/>
              <a:ext cx="479425" cy="434975"/>
            </a:xfrm>
            <a:custGeom>
              <a:rect b="b" l="l" r="r" t="t"/>
              <a:pathLst>
                <a:path extrusionOk="0" h="274" w="381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2" name="Google Shape;782;p32"/>
            <p:cNvCxnSpPr/>
            <p:nvPr/>
          </p:nvCxnSpPr>
          <p:spPr>
            <a:xfrm rot="10800000">
              <a:off x="1917701" y="2215556"/>
              <a:ext cx="2397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v" id="783" name="Google Shape;78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84" name="Google Shape;784;p32"/>
            <p:cNvGrpSpPr/>
            <p:nvPr/>
          </p:nvGrpSpPr>
          <p:grpSpPr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descr="desktop_computer_stylized_medium" id="785" name="Google Shape;785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6" name="Google Shape;786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7" name="Google Shape;787;p32"/>
          <p:cNvGrpSpPr/>
          <p:nvPr/>
        </p:nvGrpSpPr>
        <p:grpSpPr>
          <a:xfrm>
            <a:off x="4222712" y="2307186"/>
            <a:ext cx="4938712" cy="1389063"/>
            <a:chOff x="4327270" y="1745934"/>
            <a:chExt cx="4938730" cy="1388847"/>
          </a:xfrm>
        </p:grpSpPr>
        <p:cxnSp>
          <p:nvCxnSpPr>
            <p:cNvPr id="788" name="Google Shape;788;p32"/>
            <p:cNvCxnSpPr/>
            <p:nvPr/>
          </p:nvCxnSpPr>
          <p:spPr>
            <a:xfrm>
              <a:off x="4327270" y="2504641"/>
              <a:ext cx="493873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89" name="Google Shape;789;p32"/>
            <p:cNvGrpSpPr/>
            <p:nvPr/>
          </p:nvGrpSpPr>
          <p:grpSpPr>
            <a:xfrm flipH="1">
              <a:off x="5533568" y="1745934"/>
              <a:ext cx="2894013" cy="752358"/>
              <a:chOff x="5534758" y="1745934"/>
              <a:chExt cx="2894013" cy="752358"/>
            </a:xfrm>
          </p:grpSpPr>
          <p:grpSp>
            <p:nvGrpSpPr>
              <p:cNvPr id="790" name="Google Shape;790;p32"/>
              <p:cNvGrpSpPr/>
              <p:nvPr/>
            </p:nvGrpSpPr>
            <p:grpSpPr>
              <a:xfrm>
                <a:off x="5534758" y="1752284"/>
                <a:ext cx="850900" cy="527050"/>
                <a:chOff x="-489" y="1664"/>
                <a:chExt cx="1429" cy="842"/>
              </a:xfrm>
            </p:grpSpPr>
            <p:sp>
              <p:nvSpPr>
                <p:cNvPr id="791" name="Google Shape;791;p3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92" name="Google Shape;792;p3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793" name="Google Shape;793;p3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794" name="Google Shape;794;p3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795" name="Google Shape;795;p3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796" name="Google Shape;796;p3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7" name="Google Shape;797;p3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8" name="Google Shape;798;p3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9" name="Google Shape;799;p3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0" name="Google Shape;800;p3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1" name="Google Shape;801;p3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02" name="Google Shape;802;p3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03" name="Google Shape;803;p3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05" name="Google Shape;805;p3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806" name="Google Shape;806;p3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807" name="Google Shape;807;p32"/>
              <p:cNvGrpSpPr/>
              <p:nvPr/>
            </p:nvGrpSpPr>
            <p:grpSpPr>
              <a:xfrm>
                <a:off x="6436458" y="1745934"/>
                <a:ext cx="850900" cy="527050"/>
                <a:chOff x="-489" y="1664"/>
                <a:chExt cx="1429" cy="842"/>
              </a:xfrm>
            </p:grpSpPr>
            <p:sp>
              <p:nvSpPr>
                <p:cNvPr id="808" name="Google Shape;808;p3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1" name="Google Shape;811;p3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12" name="Google Shape;812;p3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813" name="Google Shape;813;p3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4" name="Google Shape;814;p3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5" name="Google Shape;815;p3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6" name="Google Shape;816;p3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7" name="Google Shape;817;p3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8" name="Google Shape;818;p3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19" name="Google Shape;819;p3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22" name="Google Shape;822;p3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823" name="Google Shape;823;p3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824" name="Google Shape;824;p32"/>
              <p:cNvGrpSpPr/>
              <p:nvPr/>
            </p:nvGrpSpPr>
            <p:grpSpPr>
              <a:xfrm>
                <a:off x="7577871" y="1753872"/>
                <a:ext cx="850900" cy="527050"/>
                <a:chOff x="-489" y="1664"/>
                <a:chExt cx="1429" cy="842"/>
              </a:xfrm>
            </p:grpSpPr>
            <p:sp>
              <p:nvSpPr>
                <p:cNvPr id="825" name="Google Shape;825;p3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28" name="Google Shape;828;p3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29" name="Google Shape;829;p3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830" name="Google Shape;830;p3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1" name="Google Shape;831;p3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2" name="Google Shape;832;p3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3" name="Google Shape;833;p3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4" name="Google Shape;834;p3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5" name="Google Shape;835;p3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36" name="Google Shape;836;p3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39" name="Google Shape;839;p3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840" name="Google Shape;840;p3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41" name="Google Shape;841;p32"/>
              <p:cNvSpPr txBox="1"/>
              <p:nvPr/>
            </p:nvSpPr>
            <p:spPr>
              <a:xfrm>
                <a:off x="7279808" y="1823710"/>
                <a:ext cx="397868" cy="4615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842" name="Google Shape;842;p32"/>
              <p:cNvCxnSpPr/>
              <p:nvPr/>
            </p:nvCxnSpPr>
            <p:spPr>
              <a:xfrm flipH="1">
                <a:off x="6169544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3" name="Google Shape;843;p32"/>
              <p:cNvCxnSpPr/>
              <p:nvPr/>
            </p:nvCxnSpPr>
            <p:spPr>
              <a:xfrm flipH="1">
                <a:off x="7074423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4" name="Google Shape;844;p32"/>
              <p:cNvCxnSpPr/>
              <p:nvPr/>
            </p:nvCxnSpPr>
            <p:spPr>
              <a:xfrm flipH="1">
                <a:off x="8211077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45" name="Google Shape;845;p32"/>
            <p:cNvGrpSpPr/>
            <p:nvPr/>
          </p:nvGrpSpPr>
          <p:grpSpPr>
            <a:xfrm flipH="1">
              <a:off x="7297444" y="2490881"/>
              <a:ext cx="850900" cy="626437"/>
              <a:chOff x="6488846" y="2501584"/>
              <a:chExt cx="850900" cy="626437"/>
            </a:xfrm>
          </p:grpSpPr>
          <p:grpSp>
            <p:nvGrpSpPr>
              <p:cNvPr id="846" name="Google Shape;846;p32"/>
              <p:cNvGrpSpPr/>
              <p:nvPr/>
            </p:nvGrpSpPr>
            <p:grpSpPr>
              <a:xfrm>
                <a:off x="6488846" y="2600971"/>
                <a:ext cx="850900" cy="527050"/>
                <a:chOff x="-489" y="1663"/>
                <a:chExt cx="1429" cy="842"/>
              </a:xfrm>
            </p:grpSpPr>
            <p:sp>
              <p:nvSpPr>
                <p:cNvPr id="847" name="Google Shape;847;p32"/>
                <p:cNvSpPr/>
                <p:nvPr/>
              </p:nvSpPr>
              <p:spPr>
                <a:xfrm>
                  <a:off x="-489" y="1663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48" name="Google Shape;848;p32"/>
                <p:cNvGrpSpPr/>
                <p:nvPr/>
              </p:nvGrpSpPr>
              <p:grpSpPr>
                <a:xfrm>
                  <a:off x="-427" y="1737"/>
                  <a:ext cx="1218" cy="768"/>
                  <a:chOff x="-427" y="1737"/>
                  <a:chExt cx="1218" cy="768"/>
                </a:xfrm>
              </p:grpSpPr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50" name="Google Shape;850;p3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51" name="Google Shape;851;p32"/>
                  <p:cNvGrpSpPr/>
                  <p:nvPr/>
                </p:nvGrpSpPr>
                <p:grpSpPr>
                  <a:xfrm>
                    <a:off x="68" y="2192"/>
                    <a:ext cx="387" cy="138"/>
                    <a:chOff x="322" y="890"/>
                    <a:chExt cx="871" cy="337"/>
                  </a:xfrm>
                </p:grpSpPr>
                <p:sp>
                  <p:nvSpPr>
                    <p:cNvPr id="852" name="Google Shape;852;p32"/>
                    <p:cNvSpPr/>
                    <p:nvPr/>
                  </p:nvSpPr>
                  <p:spPr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3" name="Google Shape;853;p32"/>
                    <p:cNvSpPr/>
                    <p:nvPr/>
                  </p:nvSpPr>
                  <p:spPr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4" name="Google Shape;854;p32"/>
                    <p:cNvSpPr/>
                    <p:nvPr/>
                  </p:nvSpPr>
                  <p:spPr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5" name="Google Shape;855;p32"/>
                    <p:cNvSpPr/>
                    <p:nvPr/>
                  </p:nvSpPr>
                  <p:spPr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6" name="Google Shape;856;p32"/>
                    <p:cNvSpPr/>
                    <p:nvPr/>
                  </p:nvSpPr>
                  <p:spPr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7" name="Google Shape;857;p3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58" name="Google Shape;858;p3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" name="Google Shape;860;p3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61" name="Google Shape;861;p32"/>
                  <p:cNvCxnSpPr/>
                  <p:nvPr/>
                </p:nvCxnSpPr>
                <p:spPr>
                  <a:xfrm rot="10800000">
                    <a:off x="471" y="2269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862" name="Google Shape;862;p3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63" name="Google Shape;863;p3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4" name="Google Shape;864;p32"/>
            <p:cNvGrpSpPr/>
            <p:nvPr/>
          </p:nvGrpSpPr>
          <p:grpSpPr>
            <a:xfrm flipH="1">
              <a:off x="5984855" y="2507718"/>
              <a:ext cx="850900" cy="627063"/>
              <a:chOff x="6487656" y="2501584"/>
              <a:chExt cx="850900" cy="627063"/>
            </a:xfrm>
          </p:grpSpPr>
          <p:grpSp>
            <p:nvGrpSpPr>
              <p:cNvPr id="865" name="Google Shape;865;p32"/>
              <p:cNvGrpSpPr/>
              <p:nvPr/>
            </p:nvGrpSpPr>
            <p:grpSpPr>
              <a:xfrm>
                <a:off x="6487656" y="2601597"/>
                <a:ext cx="850900" cy="527050"/>
                <a:chOff x="-491" y="1664"/>
                <a:chExt cx="1429" cy="842"/>
              </a:xfrm>
            </p:grpSpPr>
            <p:sp>
              <p:nvSpPr>
                <p:cNvPr id="866" name="Google Shape;866;p32"/>
                <p:cNvSpPr/>
                <p:nvPr/>
              </p:nvSpPr>
              <p:spPr>
                <a:xfrm>
                  <a:off x="-491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-427" y="1737"/>
                  <a:ext cx="1216" cy="769"/>
                  <a:chOff x="-427" y="1737"/>
                  <a:chExt cx="1216" cy="769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69" name="Google Shape;869;p3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70" name="Google Shape;870;p32"/>
                  <p:cNvGrpSpPr/>
                  <p:nvPr/>
                </p:nvGrpSpPr>
                <p:grpSpPr>
                  <a:xfrm>
                    <a:off x="67" y="2192"/>
                    <a:ext cx="383" cy="139"/>
                    <a:chOff x="319" y="890"/>
                    <a:chExt cx="862" cy="339"/>
                  </a:xfrm>
                </p:grpSpPr>
                <p:sp>
                  <p:nvSpPr>
                    <p:cNvPr id="871" name="Google Shape;871;p32"/>
                    <p:cNvSpPr/>
                    <p:nvPr/>
                  </p:nvSpPr>
                  <p:spPr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2" name="Google Shape;872;p32"/>
                    <p:cNvSpPr/>
                    <p:nvPr/>
                  </p:nvSpPr>
                  <p:spPr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32"/>
                    <p:cNvSpPr/>
                    <p:nvPr/>
                  </p:nvSpPr>
                  <p:spPr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32"/>
                    <p:cNvSpPr/>
                    <p:nvPr/>
                  </p:nvSpPr>
                  <p:spPr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5" name="Google Shape;875;p32"/>
                    <p:cNvSpPr/>
                    <p:nvPr/>
                  </p:nvSpPr>
                  <p:spPr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6" name="Google Shape;876;p3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77" name="Google Shape;877;p3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78" name="Google Shape;878;p3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9" name="Google Shape;879;p3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80" name="Google Shape;880;p32"/>
                  <p:cNvCxnSpPr/>
                  <p:nvPr/>
                </p:nvCxnSpPr>
                <p:spPr>
                  <a:xfrm rot="10800000">
                    <a:off x="469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881" name="Google Shape;881;p3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82" name="Google Shape;882;p3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3" name="Google Shape;883;p32"/>
            <p:cNvSpPr txBox="1"/>
            <p:nvPr/>
          </p:nvSpPr>
          <p:spPr>
            <a:xfrm>
              <a:off x="6787904" y="2596702"/>
              <a:ext cx="397867" cy="461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</p:grpSp>
      <p:grpSp>
        <p:nvGrpSpPr>
          <p:cNvPr id="884" name="Google Shape;884;p32"/>
          <p:cNvGrpSpPr/>
          <p:nvPr/>
        </p:nvGrpSpPr>
        <p:grpSpPr>
          <a:xfrm>
            <a:off x="3698837" y="1413425"/>
            <a:ext cx="6373812" cy="773112"/>
            <a:chOff x="1912787" y="1498311"/>
            <a:chExt cx="5338532" cy="773565"/>
          </a:xfrm>
        </p:grpSpPr>
        <p:sp>
          <p:nvSpPr>
            <p:cNvPr id="885" name="Google Shape;885;p32"/>
            <p:cNvSpPr txBox="1"/>
            <p:nvPr/>
          </p:nvSpPr>
          <p:spPr>
            <a:xfrm>
              <a:off x="1912787" y="1498311"/>
              <a:ext cx="5338532" cy="517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frames, TV channels, control  transmitted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downstream at different frequencies</a:t>
              </a:r>
              <a:endParaRPr/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3457110" y="1929117"/>
              <a:ext cx="2387053" cy="342759"/>
            </a:xfrm>
            <a:prstGeom prst="rightArrow">
              <a:avLst>
                <a:gd fmla="val 50000" name="adj1"/>
                <a:gd fmla="val 50007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7" name="Google Shape;88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49662" y="2748511"/>
            <a:ext cx="26035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32"/>
          <p:cNvSpPr/>
          <p:nvPr/>
        </p:nvSpPr>
        <p:spPr>
          <a:xfrm>
            <a:off x="1447800" y="4457700"/>
            <a:ext cx="10377487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(broadcast) FDM channels: up to 1.6 Gbps/channel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CMTS transmits into channels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channels (up to 1 Gbps/channel)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users contend (random access) for certain upstream channel time slots; others assigned TDM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9" name="Google Shape;889;p32"/>
          <p:cNvGrpSpPr/>
          <p:nvPr/>
        </p:nvGrpSpPr>
        <p:grpSpPr>
          <a:xfrm>
            <a:off x="1528349" y="3077606"/>
            <a:ext cx="466491" cy="198344"/>
            <a:chOff x="7493876" y="2774731"/>
            <a:chExt cx="1481958" cy="894622"/>
          </a:xfrm>
        </p:grpSpPr>
        <p:sp>
          <p:nvSpPr>
            <p:cNvPr id="890" name="Google Shape;890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2" name="Google Shape;892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3" name="Google Shape;893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7" name="Google Shape;897;p32"/>
          <p:cNvGrpSpPr/>
          <p:nvPr/>
        </p:nvGrpSpPr>
        <p:grpSpPr>
          <a:xfrm>
            <a:off x="1527619" y="3348134"/>
            <a:ext cx="466491" cy="198344"/>
            <a:chOff x="7493876" y="2774731"/>
            <a:chExt cx="1481958" cy="894622"/>
          </a:xfrm>
        </p:grpSpPr>
        <p:sp>
          <p:nvSpPr>
            <p:cNvPr id="898" name="Google Shape;898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0" name="Google Shape;900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Google Shape;901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5" name="Google Shape;905;p32"/>
          <p:cNvGrpSpPr/>
          <p:nvPr/>
        </p:nvGrpSpPr>
        <p:grpSpPr>
          <a:xfrm>
            <a:off x="2092010" y="3011250"/>
            <a:ext cx="466491" cy="198344"/>
            <a:chOff x="7493876" y="2774731"/>
            <a:chExt cx="1481958" cy="894622"/>
          </a:xfrm>
        </p:grpSpPr>
        <p:sp>
          <p:nvSpPr>
            <p:cNvPr id="906" name="Google Shape;906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8" name="Google Shape;908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9" name="Google Shape;909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3" name="Google Shape;913;p32"/>
          <p:cNvGrpSpPr/>
          <p:nvPr/>
        </p:nvGrpSpPr>
        <p:grpSpPr>
          <a:xfrm>
            <a:off x="2231285" y="3356155"/>
            <a:ext cx="466491" cy="198344"/>
            <a:chOff x="7493876" y="2774731"/>
            <a:chExt cx="1481958" cy="894622"/>
          </a:xfrm>
        </p:grpSpPr>
        <p:sp>
          <p:nvSpPr>
            <p:cNvPr id="914" name="Google Shape;914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16" name="Google Shape;916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7" name="Google Shape;917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21" name="Google Shape;921;p32"/>
          <p:cNvCxnSpPr/>
          <p:nvPr/>
        </p:nvCxnSpPr>
        <p:spPr>
          <a:xfrm>
            <a:off x="2557238" y="3107254"/>
            <a:ext cx="140297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oogle Shape;927;p33"/>
          <p:cNvGrpSpPr/>
          <p:nvPr/>
        </p:nvGrpSpPr>
        <p:grpSpPr>
          <a:xfrm>
            <a:off x="1311965" y="4731027"/>
            <a:ext cx="8507896" cy="1610138"/>
            <a:chOff x="1311965" y="4691270"/>
            <a:chExt cx="8507896" cy="1610138"/>
          </a:xfrm>
        </p:grpSpPr>
        <p:sp>
          <p:nvSpPr>
            <p:cNvPr id="928" name="Google Shape;928;p33"/>
            <p:cNvSpPr/>
            <p:nvPr/>
          </p:nvSpPr>
          <p:spPr>
            <a:xfrm>
              <a:off x="1311965" y="4691270"/>
              <a:ext cx="815009" cy="35780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1325217" y="5141844"/>
              <a:ext cx="815009" cy="35780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7878417" y="5930347"/>
              <a:ext cx="1941444" cy="37106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1" name="Google Shape;931;p33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Cable access network:</a:t>
            </a:r>
            <a:endParaRPr/>
          </a:p>
        </p:txBody>
      </p:sp>
      <p:sp>
        <p:nvSpPr>
          <p:cNvPr id="932" name="Google Shape;932;p33"/>
          <p:cNvSpPr/>
          <p:nvPr/>
        </p:nvSpPr>
        <p:spPr>
          <a:xfrm>
            <a:off x="1003610" y="4159320"/>
            <a:ext cx="1035578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DOCSIS: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ata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able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ervice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nterface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pecification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FDM over upstream, downstream frequency channels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TDM upstream: some slots assigned, some have contention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MAP frame: assigns upstream slots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for upstream slots (and data) transmitted random access (binary backoff) in selected slots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933" name="Google Shape;933;p33"/>
          <p:cNvSpPr txBox="1"/>
          <p:nvPr/>
        </p:nvSpPr>
        <p:spPr>
          <a:xfrm>
            <a:off x="7893939" y="2865737"/>
            <a:ext cx="2438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Residences with cable modems</a:t>
            </a:r>
            <a:endParaRPr/>
          </a:p>
        </p:txBody>
      </p:sp>
      <p:sp>
        <p:nvSpPr>
          <p:cNvPr id="934" name="Google Shape;934;p33"/>
          <p:cNvSpPr/>
          <p:nvPr/>
        </p:nvSpPr>
        <p:spPr>
          <a:xfrm rot="-5400000">
            <a:off x="6023803" y="60121"/>
            <a:ext cx="390525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3"/>
          <p:cNvSpPr/>
          <p:nvPr/>
        </p:nvSpPr>
        <p:spPr>
          <a:xfrm rot="5400000">
            <a:off x="5965066" y="485571"/>
            <a:ext cx="374650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3"/>
          <p:cNvSpPr txBox="1"/>
          <p:nvPr/>
        </p:nvSpPr>
        <p:spPr>
          <a:xfrm>
            <a:off x="5271549" y="1730144"/>
            <a:ext cx="1577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channel i</a:t>
            </a:r>
            <a:endParaRPr/>
          </a:p>
        </p:txBody>
      </p:sp>
      <p:sp>
        <p:nvSpPr>
          <p:cNvPr id="937" name="Google Shape;937;p33"/>
          <p:cNvSpPr txBox="1"/>
          <p:nvPr/>
        </p:nvSpPr>
        <p:spPr>
          <a:xfrm>
            <a:off x="5414415" y="2152334"/>
            <a:ext cx="13949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 j</a:t>
            </a:r>
            <a:endParaRPr/>
          </a:p>
        </p:txBody>
      </p:sp>
      <p:grpSp>
        <p:nvGrpSpPr>
          <p:cNvPr id="938" name="Google Shape;938;p33"/>
          <p:cNvGrpSpPr/>
          <p:nvPr/>
        </p:nvGrpSpPr>
        <p:grpSpPr>
          <a:xfrm>
            <a:off x="5916168" y="1303951"/>
            <a:ext cx="1907860" cy="400110"/>
            <a:chOff x="5916168" y="1476227"/>
            <a:chExt cx="1907860" cy="400110"/>
          </a:xfrm>
        </p:grpSpPr>
        <p:sp>
          <p:nvSpPr>
            <p:cNvPr id="939" name="Google Shape;939;p33"/>
            <p:cNvSpPr/>
            <p:nvPr/>
          </p:nvSpPr>
          <p:spPr>
            <a:xfrm>
              <a:off x="5916168" y="1495043"/>
              <a:ext cx="1047435" cy="36930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3"/>
            <p:cNvSpPr txBox="1"/>
            <p:nvPr/>
          </p:nvSpPr>
          <p:spPr>
            <a:xfrm>
              <a:off x="5920797" y="1476227"/>
              <a:ext cx="9701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MAP frame for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Interval [t1, t2]</a:t>
              </a:r>
              <a:endParaRPr/>
            </a:p>
          </p:txBody>
        </p:sp>
        <p:pic>
          <p:nvPicPr>
            <p:cNvPr id="941" name="Google Shape;9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06466" y="1556372"/>
              <a:ext cx="817562" cy="2428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2" name="Google Shape;942;p33"/>
          <p:cNvGrpSpPr/>
          <p:nvPr/>
        </p:nvGrpSpPr>
        <p:grpSpPr>
          <a:xfrm>
            <a:off x="4765167" y="2631871"/>
            <a:ext cx="2817561" cy="584241"/>
            <a:chOff x="4765167" y="2631871"/>
            <a:chExt cx="2817561" cy="584241"/>
          </a:xfrm>
        </p:grpSpPr>
        <p:cxnSp>
          <p:nvCxnSpPr>
            <p:cNvPr id="943" name="Google Shape;943;p33"/>
            <p:cNvCxnSpPr/>
            <p:nvPr/>
          </p:nvCxnSpPr>
          <p:spPr>
            <a:xfrm>
              <a:off x="4826828" y="2825546"/>
              <a:ext cx="2755900" cy="4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4" name="Google Shape;944;p33"/>
            <p:cNvCxnSpPr/>
            <p:nvPr/>
          </p:nvCxnSpPr>
          <p:spPr>
            <a:xfrm>
              <a:off x="4885566" y="2631871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5" name="Google Shape;945;p33"/>
            <p:cNvCxnSpPr/>
            <p:nvPr/>
          </p:nvCxnSpPr>
          <p:spPr>
            <a:xfrm flipH="1">
              <a:off x="4971291" y="2717596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6" name="Google Shape;946;p33"/>
            <p:cNvCxnSpPr/>
            <p:nvPr/>
          </p:nvCxnSpPr>
          <p:spPr>
            <a:xfrm flipH="1">
              <a:off x="5052253" y="2717596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7" name="Google Shape;947;p33"/>
            <p:cNvCxnSpPr/>
            <p:nvPr/>
          </p:nvCxnSpPr>
          <p:spPr>
            <a:xfrm flipH="1">
              <a:off x="5133216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8" name="Google Shape;948;p33"/>
            <p:cNvCxnSpPr/>
            <p:nvPr/>
          </p:nvCxnSpPr>
          <p:spPr>
            <a:xfrm flipH="1">
              <a:off x="5214178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9" name="Google Shape;949;p33"/>
            <p:cNvCxnSpPr/>
            <p:nvPr/>
          </p:nvCxnSpPr>
          <p:spPr>
            <a:xfrm flipH="1">
              <a:off x="5295141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0" name="Google Shape;950;p33"/>
            <p:cNvCxnSpPr/>
            <p:nvPr/>
          </p:nvCxnSpPr>
          <p:spPr>
            <a:xfrm flipH="1">
              <a:off x="5374516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1" name="Google Shape;951;p33"/>
            <p:cNvCxnSpPr/>
            <p:nvPr/>
          </p:nvCxnSpPr>
          <p:spPr>
            <a:xfrm flipH="1">
              <a:off x="5455478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33"/>
            <p:cNvCxnSpPr/>
            <p:nvPr/>
          </p:nvCxnSpPr>
          <p:spPr>
            <a:xfrm flipH="1">
              <a:off x="5536441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" name="Google Shape;953;p33"/>
            <p:cNvCxnSpPr/>
            <p:nvPr/>
          </p:nvCxnSpPr>
          <p:spPr>
            <a:xfrm flipH="1">
              <a:off x="5617403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" name="Google Shape;954;p33"/>
            <p:cNvCxnSpPr/>
            <p:nvPr/>
          </p:nvCxnSpPr>
          <p:spPr>
            <a:xfrm flipH="1">
              <a:off x="5706303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33"/>
            <p:cNvCxnSpPr/>
            <p:nvPr/>
          </p:nvCxnSpPr>
          <p:spPr>
            <a:xfrm flipH="1">
              <a:off x="5785678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33"/>
            <p:cNvCxnSpPr/>
            <p:nvPr/>
          </p:nvCxnSpPr>
          <p:spPr>
            <a:xfrm flipH="1">
              <a:off x="5866641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33"/>
            <p:cNvCxnSpPr/>
            <p:nvPr/>
          </p:nvCxnSpPr>
          <p:spPr>
            <a:xfrm flipH="1">
              <a:off x="5947603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8" name="Google Shape;958;p33"/>
            <p:cNvCxnSpPr/>
            <p:nvPr/>
          </p:nvCxnSpPr>
          <p:spPr>
            <a:xfrm flipH="1">
              <a:off x="6028566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9" name="Google Shape;959;p33"/>
            <p:cNvCxnSpPr/>
            <p:nvPr/>
          </p:nvCxnSpPr>
          <p:spPr>
            <a:xfrm flipH="1">
              <a:off x="6109528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0" name="Google Shape;960;p33"/>
            <p:cNvCxnSpPr/>
            <p:nvPr/>
          </p:nvCxnSpPr>
          <p:spPr>
            <a:xfrm flipH="1">
              <a:off x="6190491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1" name="Google Shape;961;p33"/>
            <p:cNvCxnSpPr/>
            <p:nvPr/>
          </p:nvCxnSpPr>
          <p:spPr>
            <a:xfrm flipH="1">
              <a:off x="6271453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" name="Google Shape;962;p33"/>
            <p:cNvCxnSpPr/>
            <p:nvPr/>
          </p:nvCxnSpPr>
          <p:spPr>
            <a:xfrm flipH="1">
              <a:off x="6350828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3" name="Google Shape;963;p33"/>
            <p:cNvCxnSpPr/>
            <p:nvPr/>
          </p:nvCxnSpPr>
          <p:spPr>
            <a:xfrm flipH="1">
              <a:off x="6444491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4" name="Google Shape;964;p33"/>
            <p:cNvCxnSpPr/>
            <p:nvPr/>
          </p:nvCxnSpPr>
          <p:spPr>
            <a:xfrm flipH="1">
              <a:off x="6533391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33"/>
            <p:cNvCxnSpPr/>
            <p:nvPr/>
          </p:nvCxnSpPr>
          <p:spPr>
            <a:xfrm flipH="1">
              <a:off x="6614353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6" name="Google Shape;966;p33"/>
            <p:cNvCxnSpPr/>
            <p:nvPr/>
          </p:nvCxnSpPr>
          <p:spPr>
            <a:xfrm flipH="1">
              <a:off x="6695316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33"/>
            <p:cNvCxnSpPr/>
            <p:nvPr/>
          </p:nvCxnSpPr>
          <p:spPr>
            <a:xfrm flipH="1">
              <a:off x="6774691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8" name="Google Shape;968;p33"/>
            <p:cNvCxnSpPr/>
            <p:nvPr/>
          </p:nvCxnSpPr>
          <p:spPr>
            <a:xfrm flipH="1">
              <a:off x="6855653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9" name="Google Shape;969;p33"/>
            <p:cNvCxnSpPr/>
            <p:nvPr/>
          </p:nvCxnSpPr>
          <p:spPr>
            <a:xfrm flipH="1">
              <a:off x="6936616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0" name="Google Shape;970;p33"/>
            <p:cNvCxnSpPr/>
            <p:nvPr/>
          </p:nvCxnSpPr>
          <p:spPr>
            <a:xfrm flipH="1">
              <a:off x="7017578" y="2720771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33"/>
            <p:cNvCxnSpPr/>
            <p:nvPr/>
          </p:nvCxnSpPr>
          <p:spPr>
            <a:xfrm flipH="1">
              <a:off x="7098541" y="2720771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2" name="Google Shape;972;p33"/>
            <p:cNvCxnSpPr/>
            <p:nvPr/>
          </p:nvCxnSpPr>
          <p:spPr>
            <a:xfrm flipH="1">
              <a:off x="7179503" y="2720771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3" name="Google Shape;973;p33"/>
            <p:cNvCxnSpPr/>
            <p:nvPr/>
          </p:nvCxnSpPr>
          <p:spPr>
            <a:xfrm>
              <a:off x="7274753" y="2636443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4" name="Google Shape;974;p33"/>
            <p:cNvSpPr txBox="1"/>
            <p:nvPr/>
          </p:nvSpPr>
          <p:spPr>
            <a:xfrm>
              <a:off x="4765167" y="2877558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975" name="Google Shape;975;p33"/>
            <p:cNvSpPr txBox="1"/>
            <p:nvPr/>
          </p:nvSpPr>
          <p:spPr>
            <a:xfrm>
              <a:off x="7160369" y="2875142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976" name="Google Shape;976;p33"/>
            <p:cNvCxnSpPr/>
            <p:nvPr/>
          </p:nvCxnSpPr>
          <p:spPr>
            <a:xfrm>
              <a:off x="4877628" y="2909683"/>
              <a:ext cx="577850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77" name="Google Shape;977;p33"/>
            <p:cNvCxnSpPr/>
            <p:nvPr/>
          </p:nvCxnSpPr>
          <p:spPr>
            <a:xfrm>
              <a:off x="5445953" y="2916033"/>
              <a:ext cx="1870075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978" name="Google Shape;978;p33"/>
          <p:cNvGrpSpPr/>
          <p:nvPr/>
        </p:nvGrpSpPr>
        <p:grpSpPr>
          <a:xfrm>
            <a:off x="6243039" y="2971596"/>
            <a:ext cx="2895343" cy="919255"/>
            <a:chOff x="6243039" y="2971596"/>
            <a:chExt cx="2895343" cy="919255"/>
          </a:xfrm>
        </p:grpSpPr>
        <p:cxnSp>
          <p:nvCxnSpPr>
            <p:cNvPr id="979" name="Google Shape;979;p33"/>
            <p:cNvCxnSpPr/>
            <p:nvPr/>
          </p:nvCxnSpPr>
          <p:spPr>
            <a:xfrm>
              <a:off x="6339716" y="2971596"/>
              <a:ext cx="6350" cy="514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0" name="Google Shape;980;p33"/>
            <p:cNvSpPr txBox="1"/>
            <p:nvPr/>
          </p:nvSpPr>
          <p:spPr>
            <a:xfrm>
              <a:off x="6243039" y="3429186"/>
              <a:ext cx="28953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Assigned minislots containing cable modem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data frames</a:t>
              </a:r>
              <a:endParaRPr/>
            </a:p>
          </p:txBody>
        </p:sp>
      </p:grpSp>
      <p:grpSp>
        <p:nvGrpSpPr>
          <p:cNvPr id="981" name="Google Shape;981;p33"/>
          <p:cNvGrpSpPr/>
          <p:nvPr/>
        </p:nvGrpSpPr>
        <p:grpSpPr>
          <a:xfrm>
            <a:off x="4346093" y="2963658"/>
            <a:ext cx="1710725" cy="925606"/>
            <a:chOff x="4346093" y="2963658"/>
            <a:chExt cx="1710725" cy="925606"/>
          </a:xfrm>
        </p:grpSpPr>
        <p:cxnSp>
          <p:nvCxnSpPr>
            <p:cNvPr id="982" name="Google Shape;982;p33"/>
            <p:cNvCxnSpPr/>
            <p:nvPr/>
          </p:nvCxnSpPr>
          <p:spPr>
            <a:xfrm>
              <a:off x="5166553" y="2963658"/>
              <a:ext cx="4763" cy="512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3" name="Google Shape;983;p33"/>
            <p:cNvSpPr txBox="1"/>
            <p:nvPr/>
          </p:nvSpPr>
          <p:spPr>
            <a:xfrm>
              <a:off x="4346093" y="3427599"/>
              <a:ext cx="17107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containing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request frames</a:t>
              </a:r>
              <a:endParaRPr/>
            </a:p>
          </p:txBody>
        </p:sp>
      </p:grpSp>
      <p:sp>
        <p:nvSpPr>
          <p:cNvPr id="984" name="Google Shape;984;p33"/>
          <p:cNvSpPr/>
          <p:nvPr/>
        </p:nvSpPr>
        <p:spPr>
          <a:xfrm>
            <a:off x="3197880" y="1789944"/>
            <a:ext cx="955617" cy="69994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3"/>
          <p:cNvSpPr txBox="1"/>
          <p:nvPr/>
        </p:nvSpPr>
        <p:spPr>
          <a:xfrm>
            <a:off x="2558153" y="2521231"/>
            <a:ext cx="192552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986" name="Google Shape;986;p33"/>
          <p:cNvSpPr txBox="1"/>
          <p:nvPr/>
        </p:nvSpPr>
        <p:spPr>
          <a:xfrm>
            <a:off x="3169132" y="1758746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987" name="Google Shape;987;p33"/>
          <p:cNvSpPr/>
          <p:nvPr/>
        </p:nvSpPr>
        <p:spPr>
          <a:xfrm>
            <a:off x="3102803" y="1526971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8" name="Google Shape;9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391" y="1914321"/>
            <a:ext cx="258762" cy="52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9" name="Google Shape;989;p33"/>
          <p:cNvGrpSpPr/>
          <p:nvPr/>
        </p:nvGrpSpPr>
        <p:grpSpPr>
          <a:xfrm flipH="1">
            <a:off x="8068939" y="1185658"/>
            <a:ext cx="1034751" cy="625796"/>
            <a:chOff x="-490" y="1664"/>
            <a:chExt cx="1429" cy="843"/>
          </a:xfrm>
        </p:grpSpPr>
        <p:sp>
          <p:nvSpPr>
            <p:cNvPr id="990" name="Google Shape;990;p3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1" name="Google Shape;991;p33"/>
            <p:cNvGrpSpPr/>
            <p:nvPr/>
          </p:nvGrpSpPr>
          <p:grpSpPr>
            <a:xfrm>
              <a:off x="-427" y="1737"/>
              <a:ext cx="1218" cy="770"/>
              <a:chOff x="-427" y="1737"/>
              <a:chExt cx="1218" cy="770"/>
            </a:xfrm>
          </p:grpSpPr>
          <p:sp>
            <p:nvSpPr>
              <p:cNvPr id="992" name="Google Shape;992;p33"/>
              <p:cNvSpPr/>
              <p:nvPr/>
            </p:nvSpPr>
            <p:spPr>
              <a:xfrm>
                <a:off x="-336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3" name="Google Shape;993;p3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994" name="Google Shape;994;p33"/>
              <p:cNvGrpSpPr/>
              <p:nvPr/>
            </p:nvGrpSpPr>
            <p:grpSpPr>
              <a:xfrm>
                <a:off x="68" y="2192"/>
                <a:ext cx="385" cy="139"/>
                <a:chOff x="322" y="890"/>
                <a:chExt cx="868" cy="339"/>
              </a:xfrm>
            </p:grpSpPr>
            <p:sp>
              <p:nvSpPr>
                <p:cNvPr id="995" name="Google Shape;995;p33"/>
                <p:cNvSpPr/>
                <p:nvPr/>
              </p:nvSpPr>
              <p:spPr>
                <a:xfrm>
                  <a:off x="340" y="1000"/>
                  <a:ext cx="850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6" name="Google Shape;996;p33"/>
                <p:cNvSpPr/>
                <p:nvPr/>
              </p:nvSpPr>
              <p:spPr>
                <a:xfrm>
                  <a:off x="409" y="1073"/>
                  <a:ext cx="40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33"/>
                <p:cNvSpPr/>
                <p:nvPr/>
              </p:nvSpPr>
              <p:spPr>
                <a:xfrm>
                  <a:off x="468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33"/>
                <p:cNvSpPr/>
                <p:nvPr/>
              </p:nvSpPr>
              <p:spPr>
                <a:xfrm>
                  <a:off x="537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3"/>
                <p:cNvSpPr/>
                <p:nvPr/>
              </p:nvSpPr>
              <p:spPr>
                <a:xfrm>
                  <a:off x="616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3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001" name="Google Shape;1001;p3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2" name="Google Shape;1002;p33"/>
              <p:cNvSpPr/>
              <p:nvPr/>
            </p:nvSpPr>
            <p:spPr>
              <a:xfrm>
                <a:off x="530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3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4" name="Google Shape;1004;p3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005" name="Google Shape;1005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06" name="Google Shape;1006;p33"/>
          <p:cNvGrpSpPr/>
          <p:nvPr/>
        </p:nvGrpSpPr>
        <p:grpSpPr>
          <a:xfrm flipH="1">
            <a:off x="9280288" y="1537877"/>
            <a:ext cx="1034751" cy="625796"/>
            <a:chOff x="-491" y="1664"/>
            <a:chExt cx="1429" cy="843"/>
          </a:xfrm>
        </p:grpSpPr>
        <p:sp>
          <p:nvSpPr>
            <p:cNvPr id="1007" name="Google Shape;1007;p3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8" name="Google Shape;1008;p3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1009" name="Google Shape;1009;p3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10" name="Google Shape;1010;p3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011" name="Google Shape;1011;p3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40"/>
              </a:xfrm>
            </p:grpSpPr>
            <p:sp>
              <p:nvSpPr>
                <p:cNvPr id="1012" name="Google Shape;1012;p33"/>
                <p:cNvSpPr/>
                <p:nvPr/>
              </p:nvSpPr>
              <p:spPr>
                <a:xfrm>
                  <a:off x="323" y="1001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33"/>
                <p:cNvSpPr/>
                <p:nvPr/>
              </p:nvSpPr>
              <p:spPr>
                <a:xfrm>
                  <a:off x="392" y="1074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33"/>
                <p:cNvSpPr/>
                <p:nvPr/>
              </p:nvSpPr>
              <p:spPr>
                <a:xfrm>
                  <a:off x="466" y="1074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5" name="Google Shape;1015;p33"/>
                <p:cNvSpPr/>
                <p:nvPr/>
              </p:nvSpPr>
              <p:spPr>
                <a:xfrm>
                  <a:off x="535" y="1069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33"/>
                <p:cNvSpPr/>
                <p:nvPr/>
              </p:nvSpPr>
              <p:spPr>
                <a:xfrm>
                  <a:off x="614" y="1069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3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018" name="Google Shape;1018;p3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9" name="Google Shape;1019;p3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3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21" name="Google Shape;1021;p33"/>
              <p:cNvCxnSpPr/>
              <p:nvPr/>
            </p:nvCxnSpPr>
            <p:spPr>
              <a:xfrm rot="10800000">
                <a:off x="470" y="2272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022" name="Google Shape;1022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23" name="Google Shape;1023;p33"/>
          <p:cNvGrpSpPr/>
          <p:nvPr/>
        </p:nvGrpSpPr>
        <p:grpSpPr>
          <a:xfrm flipH="1">
            <a:off x="9080400" y="2243231"/>
            <a:ext cx="1034751" cy="625054"/>
            <a:chOff x="-491" y="1664"/>
            <a:chExt cx="1429" cy="842"/>
          </a:xfrm>
        </p:grpSpPr>
        <p:sp>
          <p:nvSpPr>
            <p:cNvPr id="1024" name="Google Shape;1024;p3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3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1026" name="Google Shape;1026;p33"/>
              <p:cNvSpPr/>
              <p:nvPr/>
            </p:nvSpPr>
            <p:spPr>
              <a:xfrm>
                <a:off x="-337" y="1922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27" name="Google Shape;1027;p3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028" name="Google Shape;1028;p3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38"/>
              </a:xfrm>
            </p:grpSpPr>
            <p:sp>
              <p:nvSpPr>
                <p:cNvPr id="1029" name="Google Shape;1029;p33"/>
                <p:cNvSpPr/>
                <p:nvPr/>
              </p:nvSpPr>
              <p:spPr>
                <a:xfrm>
                  <a:off x="323" y="999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3"/>
                <p:cNvSpPr/>
                <p:nvPr/>
              </p:nvSpPr>
              <p:spPr>
                <a:xfrm>
                  <a:off x="392" y="1072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3"/>
                <p:cNvSpPr/>
                <p:nvPr/>
              </p:nvSpPr>
              <p:spPr>
                <a:xfrm>
                  <a:off x="466" y="1072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33"/>
                <p:cNvSpPr/>
                <p:nvPr/>
              </p:nvSpPr>
              <p:spPr>
                <a:xfrm>
                  <a:off x="536" y="1067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33"/>
                <p:cNvSpPr/>
                <p:nvPr/>
              </p:nvSpPr>
              <p:spPr>
                <a:xfrm>
                  <a:off x="615" y="1067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3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035" name="Google Shape;1035;p3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6" name="Google Shape;1036;p33"/>
              <p:cNvSpPr/>
              <p:nvPr/>
            </p:nvSpPr>
            <p:spPr>
              <a:xfrm>
                <a:off x="529" y="2232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8" name="Google Shape;1038;p3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039" name="Google Shape;1039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0" name="Google Shape;1040;p33"/>
          <p:cNvGrpSpPr/>
          <p:nvPr/>
        </p:nvGrpSpPr>
        <p:grpSpPr>
          <a:xfrm flipH="1">
            <a:off x="8020975" y="1925365"/>
            <a:ext cx="1034751" cy="625796"/>
            <a:chOff x="-490" y="1664"/>
            <a:chExt cx="1429" cy="843"/>
          </a:xfrm>
        </p:grpSpPr>
        <p:sp>
          <p:nvSpPr>
            <p:cNvPr id="1041" name="Google Shape;1041;p3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2" name="Google Shape;1042;p3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1043" name="Google Shape;1043;p3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4" name="Google Shape;1044;p3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045" name="Google Shape;1045;p3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6" cy="339"/>
              </a:xfrm>
            </p:grpSpPr>
            <p:sp>
              <p:nvSpPr>
                <p:cNvPr id="1046" name="Google Shape;1046;p33"/>
                <p:cNvSpPr/>
                <p:nvPr/>
              </p:nvSpPr>
              <p:spPr>
                <a:xfrm>
                  <a:off x="324" y="1000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3"/>
                <p:cNvSpPr/>
                <p:nvPr/>
              </p:nvSpPr>
              <p:spPr>
                <a:xfrm>
                  <a:off x="393" y="1073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3"/>
                <p:cNvSpPr/>
                <p:nvPr/>
              </p:nvSpPr>
              <p:spPr>
                <a:xfrm>
                  <a:off x="467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3"/>
                <p:cNvSpPr/>
                <p:nvPr/>
              </p:nvSpPr>
              <p:spPr>
                <a:xfrm>
                  <a:off x="536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3"/>
                <p:cNvSpPr/>
                <p:nvPr/>
              </p:nvSpPr>
              <p:spPr>
                <a:xfrm>
                  <a:off x="615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1052" name="Google Shape;1052;p3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3" name="Google Shape;1053;p3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3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5" name="Google Shape;1055;p3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1056" name="Google Shape;1056;p3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Summary of </a:t>
            </a: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4"/>
          <p:cNvSpPr txBox="1"/>
          <p:nvPr/>
        </p:nvSpPr>
        <p:spPr>
          <a:xfrm>
            <a:off x="1219199" y="1414670"/>
            <a:ext cx="10588487" cy="527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81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time, frequency or code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TDMA, FDMA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(dynamic), 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ALOHA, S-ALOHA, CSMA, CSMA/CD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sensing: easy in some technologies (wire), hard in others (wireless)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in satellite, Ethernet, WiFi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taking turns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polling from central site, token passing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Bluetooth (token ring)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5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1070" name="Google Shape;1070;p35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071" name="Google Shape;107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35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073" name="Google Shape;1073;p35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074" name="Google Shape;1074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5" name="Google Shape;1075;p35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6" name="Google Shape;1076;p35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077" name="Google Shape;1077;p35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078" name="Google Shape;1078;p35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079" name="Google Shape;1079;p3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0" name="Google Shape;1080;p3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81" name="Google Shape;1081;p35"/>
          <p:cNvSpPr txBox="1"/>
          <p:nvPr/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