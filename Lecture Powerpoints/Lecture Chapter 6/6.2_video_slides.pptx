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The Link Layer</a:t>
            </a:r>
            <a:endParaRPr sz="6000"/>
          </a:p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Introduction to the Link Layer </a:t>
            </a:r>
            <a:r>
              <a:rPr lang="en-US" sz="3200"/>
              <a:t>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Error-detection and -correction Techniques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 Access Links and Protocols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Switched Local Area Networks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Link Virtualization: a Network as a Link Layer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Data Center Networking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Retrospective: A Day in the Life of a Web Page Request</a:t>
            </a:r>
            <a:endParaRPr/>
          </a:p>
        </p:txBody>
      </p:sp>
      <p:grpSp>
        <p:nvGrpSpPr>
          <p:cNvPr id="60" name="Google Shape;60;p1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1" name="Google Shape;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3" name="Google Shape;63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4" name="Google Shape;64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2093843" y="2862471"/>
            <a:ext cx="596348" cy="2902226"/>
          </a:xfrm>
          <a:custGeom>
            <a:rect b="b" l="l" r="r" t="t"/>
            <a:pathLst>
              <a:path extrusionOk="0" h="2796209" w="596348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1089990" y="1500049"/>
            <a:ext cx="986955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EDC: error detection and correction bits (e.g., redundancy)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D:  data protected by error checking, may include header fields 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8080513" y="3028121"/>
            <a:ext cx="344887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detection not 100% reliable!</a:t>
            </a:r>
            <a:endParaRPr/>
          </a:p>
          <a:p>
            <a:pPr indent="-287338" lvl="1" marL="4048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 may miss some errors, but rarely</a:t>
            </a:r>
            <a:endParaRPr/>
          </a:p>
          <a:p>
            <a:pPr indent="-287338" lvl="1" marL="4048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EDC field yields better detection and correction</a:t>
            </a:r>
            <a:endParaRPr/>
          </a:p>
        </p:txBody>
      </p:sp>
      <p:grpSp>
        <p:nvGrpSpPr>
          <p:cNvPr id="75" name="Google Shape;75;p13"/>
          <p:cNvGrpSpPr/>
          <p:nvPr/>
        </p:nvGrpSpPr>
        <p:grpSpPr>
          <a:xfrm>
            <a:off x="1550505" y="3048001"/>
            <a:ext cx="1656522" cy="400110"/>
            <a:chOff x="437322" y="2637183"/>
            <a:chExt cx="1656522" cy="400110"/>
          </a:xfrm>
        </p:grpSpPr>
        <p:sp>
          <p:nvSpPr>
            <p:cNvPr id="76" name="Google Shape;76;p13"/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3"/>
            <p:cNvSpPr txBox="1"/>
            <p:nvPr/>
          </p:nvSpPr>
          <p:spPr>
            <a:xfrm>
              <a:off x="675860" y="2637183"/>
              <a:ext cx="118058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13"/>
          <p:cNvGrpSpPr/>
          <p:nvPr/>
        </p:nvGrpSpPr>
        <p:grpSpPr>
          <a:xfrm>
            <a:off x="1567043" y="4446000"/>
            <a:ext cx="2325599" cy="862266"/>
            <a:chOff x="1567043" y="4446000"/>
            <a:chExt cx="2325599" cy="862266"/>
          </a:xfrm>
        </p:grpSpPr>
        <p:grpSp>
          <p:nvGrpSpPr>
            <p:cNvPr id="79" name="Google Shape;79;p13"/>
            <p:cNvGrpSpPr/>
            <p:nvPr/>
          </p:nvGrpSpPr>
          <p:grpSpPr>
            <a:xfrm>
              <a:off x="1567043" y="4905756"/>
              <a:ext cx="2325599" cy="402510"/>
              <a:chOff x="1904400" y="5169547"/>
              <a:chExt cx="2325599" cy="402510"/>
            </a:xfrm>
          </p:grpSpPr>
          <p:sp>
            <p:nvSpPr>
              <p:cNvPr id="80" name="Google Shape;80;p13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3"/>
              <p:cNvSpPr txBox="1"/>
              <p:nvPr/>
            </p:nvSpPr>
            <p:spPr>
              <a:xfrm>
                <a:off x="2617147" y="5171947"/>
                <a:ext cx="3417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3"/>
              <p:cNvSpPr txBox="1"/>
              <p:nvPr/>
            </p:nvSpPr>
            <p:spPr>
              <a:xfrm>
                <a:off x="3549850" y="5169547"/>
                <a:ext cx="60305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3" name="Google Shape;83;p13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4" name="Google Shape;84;p13"/>
            <p:cNvGrpSpPr/>
            <p:nvPr/>
          </p:nvGrpSpPr>
          <p:grpSpPr>
            <a:xfrm>
              <a:off x="1571947" y="4446000"/>
              <a:ext cx="1645200" cy="400110"/>
              <a:chOff x="1897200" y="4446000"/>
              <a:chExt cx="1645200" cy="400110"/>
            </a:xfrm>
          </p:grpSpPr>
          <p:cxnSp>
            <p:nvCxnSpPr>
              <p:cNvPr id="85" name="Google Shape;85;p13"/>
              <p:cNvCxnSpPr/>
              <p:nvPr/>
            </p:nvCxnSpPr>
            <p:spPr>
              <a:xfrm>
                <a:off x="1897200" y="4665600"/>
                <a:ext cx="1638000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86" name="Google Shape;86;p13"/>
              <p:cNvSpPr/>
              <p:nvPr/>
            </p:nvSpPr>
            <p:spPr>
              <a:xfrm>
                <a:off x="2098800" y="4636800"/>
                <a:ext cx="1245600" cy="4571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3"/>
              <p:cNvSpPr txBox="1"/>
              <p:nvPr/>
            </p:nvSpPr>
            <p:spPr>
              <a:xfrm>
                <a:off x="2088000" y="4446000"/>
                <a:ext cx="1278812" cy="400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 data bits</a:t>
                </a:r>
                <a:endParaRPr/>
              </a:p>
            </p:txBody>
          </p:sp>
          <p:cxnSp>
            <p:nvCxnSpPr>
              <p:cNvPr id="88" name="Google Shape;88;p13"/>
              <p:cNvCxnSpPr/>
              <p:nvPr/>
            </p:nvCxnSpPr>
            <p:spPr>
              <a:xfrm>
                <a:off x="3542400" y="45720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1902000" y="45696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0" name="Google Shape;90;p13"/>
          <p:cNvGrpSpPr/>
          <p:nvPr/>
        </p:nvGrpSpPr>
        <p:grpSpPr>
          <a:xfrm>
            <a:off x="2714378" y="5528580"/>
            <a:ext cx="2679258" cy="434898"/>
            <a:chOff x="3244465" y="6071919"/>
            <a:chExt cx="2679258" cy="434898"/>
          </a:xfrm>
        </p:grpSpPr>
        <p:grpSp>
          <p:nvGrpSpPr>
            <p:cNvPr id="91" name="Google Shape;91;p13"/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>
                <a:gsLst>
                  <a:gs pos="0">
                    <a:srgbClr val="2E75B5"/>
                  </a:gs>
                  <a:gs pos="50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" name="Google Shape;96;p13"/>
            <p:cNvSpPr txBox="1"/>
            <p:nvPr/>
          </p:nvSpPr>
          <p:spPr>
            <a:xfrm>
              <a:off x="3568996" y="6078283"/>
              <a:ext cx="21372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bit-error prone link</a:t>
              </a:r>
              <a:endParaRPr/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4661425" y="4717774"/>
            <a:ext cx="2325599" cy="1033670"/>
            <a:chOff x="4661425" y="4717774"/>
            <a:chExt cx="2325599" cy="1033670"/>
          </a:xfrm>
        </p:grpSpPr>
        <p:sp>
          <p:nvSpPr>
            <p:cNvPr id="98" name="Google Shape;98;p13"/>
            <p:cNvSpPr/>
            <p:nvPr/>
          </p:nvSpPr>
          <p:spPr>
            <a:xfrm>
              <a:off x="5486400" y="4717774"/>
              <a:ext cx="238539" cy="1033670"/>
            </a:xfrm>
            <a:custGeom>
              <a:rect b="b" l="l" r="r" t="t"/>
              <a:pathLst>
                <a:path extrusionOk="0" h="1033670" w="238539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" name="Google Shape;99;p13"/>
            <p:cNvGrpSpPr/>
            <p:nvPr/>
          </p:nvGrpSpPr>
          <p:grpSpPr>
            <a:xfrm>
              <a:off x="4661425" y="4890052"/>
              <a:ext cx="2325599" cy="402510"/>
              <a:chOff x="1904400" y="5169547"/>
              <a:chExt cx="2325599" cy="402510"/>
            </a:xfrm>
          </p:grpSpPr>
          <p:sp>
            <p:nvSpPr>
              <p:cNvPr id="100" name="Google Shape;100;p13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3"/>
              <p:cNvSpPr txBox="1"/>
              <p:nvPr/>
            </p:nvSpPr>
            <p:spPr>
              <a:xfrm>
                <a:off x="2617147" y="5171947"/>
                <a:ext cx="40626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D’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 txBox="1"/>
              <p:nvPr/>
            </p:nvSpPr>
            <p:spPr>
              <a:xfrm>
                <a:off x="3549850" y="5169547"/>
                <a:ext cx="6783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EDC’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" name="Google Shape;103;p13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04" name="Google Shape;104;p13"/>
          <p:cNvGrpSpPr/>
          <p:nvPr/>
        </p:nvGrpSpPr>
        <p:grpSpPr>
          <a:xfrm>
            <a:off x="4996068" y="3670851"/>
            <a:ext cx="2457775" cy="1037317"/>
            <a:chOff x="4996068" y="3670851"/>
            <a:chExt cx="2457775" cy="1037317"/>
          </a:xfrm>
        </p:grpSpPr>
        <p:grpSp>
          <p:nvGrpSpPr>
            <p:cNvPr id="105" name="Google Shape;105;p13"/>
            <p:cNvGrpSpPr/>
            <p:nvPr/>
          </p:nvGrpSpPr>
          <p:grpSpPr>
            <a:xfrm>
              <a:off x="4996068" y="3670851"/>
              <a:ext cx="1431235" cy="1037317"/>
              <a:chOff x="6718851" y="5632173"/>
              <a:chExt cx="1431235" cy="1037317"/>
            </a:xfrm>
          </p:grpSpPr>
          <p:sp>
            <p:nvSpPr>
              <p:cNvPr id="106" name="Google Shape;106;p13"/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3"/>
              <p:cNvSpPr txBox="1"/>
              <p:nvPr/>
            </p:nvSpPr>
            <p:spPr>
              <a:xfrm>
                <a:off x="6932490" y="5737183"/>
                <a:ext cx="1007327" cy="932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bits in D’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/>
              </a:p>
            </p:txBody>
          </p:sp>
        </p:grpSp>
        <p:sp>
          <p:nvSpPr>
            <p:cNvPr id="108" name="Google Shape;108;p13"/>
            <p:cNvSpPr txBox="1"/>
            <p:nvPr/>
          </p:nvSpPr>
          <p:spPr>
            <a:xfrm>
              <a:off x="6440556" y="3843131"/>
              <a:ext cx="34977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6380921" y="4207566"/>
              <a:ext cx="1072922" cy="492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detected </a:t>
              </a:r>
              <a:endParaRPr/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error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" name="Google Shape;110;p13"/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" name="Google Shape;111;p13"/>
          <p:cNvGrpSpPr/>
          <p:nvPr/>
        </p:nvGrpSpPr>
        <p:grpSpPr>
          <a:xfrm>
            <a:off x="4684642" y="2888974"/>
            <a:ext cx="1656522" cy="845626"/>
            <a:chOff x="4658138" y="2928730"/>
            <a:chExt cx="1656522" cy="845626"/>
          </a:xfrm>
        </p:grpSpPr>
        <p:sp>
          <p:nvSpPr>
            <p:cNvPr id="112" name="Google Shape;112;p13"/>
            <p:cNvSpPr/>
            <p:nvPr/>
          </p:nvSpPr>
          <p:spPr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3" name="Google Shape;113;p13"/>
            <p:cNvCxnSpPr/>
            <p:nvPr/>
          </p:nvCxnSpPr>
          <p:spPr>
            <a:xfrm rot="10800000">
              <a:off x="5685182" y="2928730"/>
              <a:ext cx="0" cy="72887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4" name="Google Shape;114;p13"/>
            <p:cNvSpPr txBox="1"/>
            <p:nvPr/>
          </p:nvSpPr>
          <p:spPr>
            <a:xfrm>
              <a:off x="4696239" y="3498575"/>
              <a:ext cx="1022524" cy="275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otherwise</a:t>
              </a:r>
              <a:endParaRPr/>
            </a:p>
          </p:txBody>
        </p:sp>
        <p:grpSp>
          <p:nvGrpSpPr>
            <p:cNvPr id="115" name="Google Shape;115;p13"/>
            <p:cNvGrpSpPr/>
            <p:nvPr/>
          </p:nvGrpSpPr>
          <p:grpSpPr>
            <a:xfrm>
              <a:off x="4658138" y="3028123"/>
              <a:ext cx="1656522" cy="400110"/>
              <a:chOff x="437322" y="2637183"/>
              <a:chExt cx="1656522" cy="400110"/>
            </a:xfrm>
          </p:grpSpPr>
          <p:sp>
            <p:nvSpPr>
              <p:cNvPr id="116" name="Google Shape;116;p13"/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3"/>
              <p:cNvSpPr txBox="1"/>
              <p:nvPr/>
            </p:nvSpPr>
            <p:spPr>
              <a:xfrm>
                <a:off x="675860" y="2637183"/>
                <a:ext cx="11805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Parity checking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50830" y="1311689"/>
            <a:ext cx="3366673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single bit parity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 single bit errors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946392" y="2320933"/>
            <a:ext cx="2407444" cy="3821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985682" y="2328077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0111000110101011</a:t>
            </a:r>
            <a:endParaRPr/>
          </a:p>
        </p:txBody>
      </p:sp>
      <p:cxnSp>
        <p:nvCxnSpPr>
          <p:cNvPr id="127" name="Google Shape;127;p14"/>
          <p:cNvCxnSpPr/>
          <p:nvPr/>
        </p:nvCxnSpPr>
        <p:spPr>
          <a:xfrm>
            <a:off x="925903" y="2939909"/>
            <a:ext cx="207761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3013295" y="28463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931949" y="28439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0" name="Google Shape;130;p14"/>
          <p:cNvGrpSpPr/>
          <p:nvPr/>
        </p:nvGrpSpPr>
        <p:grpSpPr>
          <a:xfrm>
            <a:off x="2902279" y="2326886"/>
            <a:ext cx="1803071" cy="1201960"/>
            <a:chOff x="2978479" y="2669786"/>
            <a:chExt cx="1803071" cy="1201960"/>
          </a:xfrm>
        </p:grpSpPr>
        <p:sp>
          <p:nvSpPr>
            <p:cNvPr id="131" name="Google Shape;131;p14"/>
            <p:cNvSpPr txBox="1"/>
            <p:nvPr/>
          </p:nvSpPr>
          <p:spPr>
            <a:xfrm>
              <a:off x="3093089" y="266978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2" name="Google Shape;132;p14"/>
            <p:cNvSpPr txBox="1"/>
            <p:nvPr/>
          </p:nvSpPr>
          <p:spPr>
            <a:xfrm>
              <a:off x="2978479" y="3527036"/>
              <a:ext cx="1803071" cy="3447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parity bit</a:t>
              </a:r>
              <a:endParaRPr/>
            </a:p>
          </p:txBody>
        </p:sp>
        <p:cxnSp>
          <p:nvCxnSpPr>
            <p:cNvPr id="133" name="Google Shape;133;p14"/>
            <p:cNvCxnSpPr/>
            <p:nvPr/>
          </p:nvCxnSpPr>
          <p:spPr>
            <a:xfrm>
              <a:off x="3244610" y="3167702"/>
              <a:ext cx="0" cy="4247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4" name="Google Shape;134;p14"/>
          <p:cNvCxnSpPr/>
          <p:nvPr/>
        </p:nvCxnSpPr>
        <p:spPr>
          <a:xfrm>
            <a:off x="3016010" y="2322631"/>
            <a:ext cx="0" cy="38724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4"/>
          <p:cNvSpPr txBox="1"/>
          <p:nvPr/>
        </p:nvSpPr>
        <p:spPr>
          <a:xfrm>
            <a:off x="1358401" y="2779945"/>
            <a:ext cx="1354981" cy="3447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data bits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746258" y="3016055"/>
            <a:ext cx="55180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two-bit errors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bit errors without retransmission!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4"/>
          <p:cNvGrpSpPr/>
          <p:nvPr/>
        </p:nvGrpSpPr>
        <p:grpSpPr>
          <a:xfrm>
            <a:off x="7533034" y="625337"/>
            <a:ext cx="3683372" cy="2054406"/>
            <a:chOff x="7427845" y="2584175"/>
            <a:chExt cx="3683372" cy="2054406"/>
          </a:xfrm>
        </p:grpSpPr>
        <p:grpSp>
          <p:nvGrpSpPr>
            <p:cNvPr id="138" name="Google Shape;138;p14"/>
            <p:cNvGrpSpPr/>
            <p:nvPr/>
          </p:nvGrpSpPr>
          <p:grpSpPr>
            <a:xfrm>
              <a:off x="8263305" y="2908577"/>
              <a:ext cx="697811" cy="1261499"/>
              <a:chOff x="6586330" y="2915478"/>
              <a:chExt cx="697811" cy="1261499"/>
            </a:xfrm>
          </p:grpSpPr>
          <p:sp>
            <p:nvSpPr>
              <p:cNvPr id="139" name="Google Shape;139;p14"/>
              <p:cNvSpPr txBox="1"/>
              <p:nvPr/>
            </p:nvSpPr>
            <p:spPr>
              <a:xfrm>
                <a:off x="6586330" y="2915478"/>
                <a:ext cx="5357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1,1</a:t>
                </a:r>
                <a:endParaRPr/>
              </a:p>
            </p:txBody>
          </p:sp>
          <p:sp>
            <p:nvSpPr>
              <p:cNvPr id="140" name="Google Shape;140;p14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2,1</a:t>
                </a:r>
                <a:endParaRPr/>
              </a:p>
            </p:txBody>
          </p:sp>
          <p:sp>
            <p:nvSpPr>
              <p:cNvPr id="141" name="Google Shape;141;p14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i,1</a:t>
                </a:r>
                <a:endParaRPr/>
              </a:p>
            </p:txBody>
          </p:sp>
          <p:sp>
            <p:nvSpPr>
              <p:cNvPr id="142" name="Google Shape;142;p14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grpSp>
          <p:nvGrpSpPr>
            <p:cNvPr id="143" name="Google Shape;143;p14"/>
            <p:cNvGrpSpPr/>
            <p:nvPr/>
          </p:nvGrpSpPr>
          <p:grpSpPr>
            <a:xfrm>
              <a:off x="10324987" y="2929914"/>
              <a:ext cx="697811" cy="1261499"/>
              <a:chOff x="6586330" y="2915478"/>
              <a:chExt cx="697811" cy="1261499"/>
            </a:xfrm>
          </p:grpSpPr>
          <p:sp>
            <p:nvSpPr>
              <p:cNvPr id="144" name="Google Shape;144;p14"/>
              <p:cNvSpPr txBox="1"/>
              <p:nvPr/>
            </p:nvSpPr>
            <p:spPr>
              <a:xfrm>
                <a:off x="6586330" y="2915478"/>
                <a:ext cx="66236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1,j+1</a:t>
                </a:r>
                <a:endParaRPr/>
              </a:p>
            </p:txBody>
          </p:sp>
          <p:sp>
            <p:nvSpPr>
              <p:cNvPr id="145" name="Google Shape;145;p14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2,j+1</a:t>
                </a:r>
                <a:endParaRPr/>
              </a:p>
            </p:txBody>
          </p:sp>
          <p:sp>
            <p:nvSpPr>
              <p:cNvPr id="146" name="Google Shape;146;p14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i,j+1</a:t>
                </a:r>
                <a:endParaRPr/>
              </a:p>
            </p:txBody>
          </p:sp>
          <p:sp>
            <p:nvSpPr>
              <p:cNvPr id="147" name="Google Shape;147;p14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sp>
          <p:nvSpPr>
            <p:cNvPr id="148" name="Google Shape;148;p14"/>
            <p:cNvSpPr txBox="1"/>
            <p:nvPr/>
          </p:nvSpPr>
          <p:spPr>
            <a:xfrm>
              <a:off x="9118145" y="4177312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grpSp>
          <p:nvGrpSpPr>
            <p:cNvPr id="149" name="Google Shape;149;p14"/>
            <p:cNvGrpSpPr/>
            <p:nvPr/>
          </p:nvGrpSpPr>
          <p:grpSpPr>
            <a:xfrm>
              <a:off x="9722377" y="2910339"/>
              <a:ext cx="697811" cy="1261499"/>
              <a:chOff x="6586330" y="2915478"/>
              <a:chExt cx="697811" cy="1261499"/>
            </a:xfrm>
          </p:grpSpPr>
          <p:sp>
            <p:nvSpPr>
              <p:cNvPr id="150" name="Google Shape;150;p14"/>
              <p:cNvSpPr txBox="1"/>
              <p:nvPr/>
            </p:nvSpPr>
            <p:spPr>
              <a:xfrm>
                <a:off x="6586330" y="2915478"/>
                <a:ext cx="4908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</a:t>
                </a:r>
                <a:endParaRPr/>
              </a:p>
            </p:txBody>
          </p:sp>
          <p:sp>
            <p:nvSpPr>
              <p:cNvPr id="151" name="Google Shape;151;p14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</a:t>
                </a:r>
                <a:endParaRPr/>
              </a:p>
            </p:txBody>
          </p:sp>
          <p:sp>
            <p:nvSpPr>
              <p:cNvPr id="152" name="Google Shape;152;p14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</a:t>
                </a:r>
                <a:endParaRPr b="0" baseline="-2500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4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grpSp>
          <p:nvGrpSpPr>
            <p:cNvPr id="154" name="Google Shape;154;p14"/>
            <p:cNvGrpSpPr/>
            <p:nvPr/>
          </p:nvGrpSpPr>
          <p:grpSpPr>
            <a:xfrm>
              <a:off x="8262620" y="4202830"/>
              <a:ext cx="2848597" cy="435751"/>
              <a:chOff x="8262620" y="4431427"/>
              <a:chExt cx="2848597" cy="435751"/>
            </a:xfrm>
          </p:grpSpPr>
          <p:sp>
            <p:nvSpPr>
              <p:cNvPr id="155" name="Google Shape;155;p14"/>
              <p:cNvSpPr txBox="1"/>
              <p:nvPr/>
            </p:nvSpPr>
            <p:spPr>
              <a:xfrm>
                <a:off x="8262620" y="4431427"/>
                <a:ext cx="6815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i+1,1</a:t>
                </a:r>
                <a:endParaRPr/>
              </a:p>
            </p:txBody>
          </p:sp>
          <p:sp>
            <p:nvSpPr>
              <p:cNvPr id="156" name="Google Shape;156;p14"/>
              <p:cNvSpPr txBox="1"/>
              <p:nvPr/>
            </p:nvSpPr>
            <p:spPr>
              <a:xfrm>
                <a:off x="10329998" y="4467068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i+1,j+1</a:t>
                </a:r>
                <a:endParaRPr/>
              </a:p>
            </p:txBody>
          </p:sp>
          <p:sp>
            <p:nvSpPr>
              <p:cNvPr id="157" name="Google Shape;157;p14"/>
              <p:cNvSpPr txBox="1"/>
              <p:nvPr/>
            </p:nvSpPr>
            <p:spPr>
              <a:xfrm>
                <a:off x="9727388" y="4447493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</a:t>
                </a:r>
                <a:endParaRPr/>
              </a:p>
            </p:txBody>
          </p:sp>
        </p:grpSp>
        <p:cxnSp>
          <p:nvCxnSpPr>
            <p:cNvPr id="158" name="Google Shape;158;p14"/>
            <p:cNvCxnSpPr/>
            <p:nvPr/>
          </p:nvCxnSpPr>
          <p:spPr>
            <a:xfrm>
              <a:off x="8343900" y="4214192"/>
              <a:ext cx="208721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14"/>
            <p:cNvCxnSpPr/>
            <p:nvPr/>
          </p:nvCxnSpPr>
          <p:spPr>
            <a:xfrm rot="10800000">
              <a:off x="10325100" y="3064566"/>
              <a:ext cx="0" cy="128877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0" name="Google Shape;160;p14"/>
            <p:cNvSpPr txBox="1"/>
            <p:nvPr/>
          </p:nvSpPr>
          <p:spPr>
            <a:xfrm>
              <a:off x="9111519" y="3792998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61" name="Google Shape;161;p14"/>
            <p:cNvSpPr txBox="1"/>
            <p:nvPr/>
          </p:nvSpPr>
          <p:spPr>
            <a:xfrm>
              <a:off x="9104893" y="3478259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62" name="Google Shape;162;p14"/>
            <p:cNvSpPr txBox="1"/>
            <p:nvPr/>
          </p:nvSpPr>
          <p:spPr>
            <a:xfrm>
              <a:off x="9108206" y="3183395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63" name="Google Shape;163;p14"/>
            <p:cNvSpPr txBox="1"/>
            <p:nvPr/>
          </p:nvSpPr>
          <p:spPr>
            <a:xfrm>
              <a:off x="9111519" y="2878596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64" name="Google Shape;164;p14"/>
            <p:cNvSpPr txBox="1"/>
            <p:nvPr/>
          </p:nvSpPr>
          <p:spPr>
            <a:xfrm>
              <a:off x="9670775" y="2584175"/>
              <a:ext cx="10413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row parity</a:t>
              </a:r>
              <a:endParaRPr/>
            </a:p>
          </p:txBody>
        </p:sp>
        <p:sp>
          <p:nvSpPr>
            <p:cNvPr id="165" name="Google Shape;165;p14"/>
            <p:cNvSpPr txBox="1"/>
            <p:nvPr/>
          </p:nvSpPr>
          <p:spPr>
            <a:xfrm>
              <a:off x="7427845" y="3998845"/>
              <a:ext cx="803297" cy="49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column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parity</a:t>
              </a:r>
              <a:endParaRPr/>
            </a:p>
          </p:txBody>
        </p:sp>
        <p:cxnSp>
          <p:nvCxnSpPr>
            <p:cNvPr id="166" name="Google Shape;166;p14"/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67" name="Google Shape;167;p14"/>
            <p:cNvCxnSpPr/>
            <p:nvPr/>
          </p:nvCxnSpPr>
          <p:spPr>
            <a:xfrm rot="5400000">
              <a:off x="7795591" y="4137991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68" name="Google Shape;168;p14"/>
          <p:cNvSpPr txBox="1"/>
          <p:nvPr/>
        </p:nvSpPr>
        <p:spPr>
          <a:xfrm>
            <a:off x="6996399" y="5656116"/>
            <a:ext cx="98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1 0 1 0 1</a:t>
            </a:r>
            <a:endParaRPr/>
          </a:p>
        </p:txBody>
      </p:sp>
      <p:grpSp>
        <p:nvGrpSpPr>
          <p:cNvPr id="169" name="Google Shape;169;p14"/>
          <p:cNvGrpSpPr/>
          <p:nvPr/>
        </p:nvGrpSpPr>
        <p:grpSpPr>
          <a:xfrm>
            <a:off x="6988036" y="4811287"/>
            <a:ext cx="1112530" cy="1123229"/>
            <a:chOff x="6988036" y="4811287"/>
            <a:chExt cx="1112530" cy="1123229"/>
          </a:xfrm>
        </p:grpSpPr>
        <p:sp>
          <p:nvSpPr>
            <p:cNvPr id="170" name="Google Shape;170;p14"/>
            <p:cNvSpPr txBox="1"/>
            <p:nvPr/>
          </p:nvSpPr>
          <p:spPr>
            <a:xfrm>
              <a:off x="6988036" y="5364459"/>
              <a:ext cx="9813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0 1 1 1 0</a:t>
              </a:r>
              <a:endParaRPr/>
            </a:p>
          </p:txBody>
        </p:sp>
        <p:sp>
          <p:nvSpPr>
            <p:cNvPr id="171" name="Google Shape;171;p14"/>
            <p:cNvSpPr txBox="1"/>
            <p:nvPr/>
          </p:nvSpPr>
          <p:spPr>
            <a:xfrm>
              <a:off x="7001286" y="4811287"/>
              <a:ext cx="9813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1 0 1 0 1</a:t>
              </a:r>
              <a:endParaRPr/>
            </a:p>
          </p:txBody>
        </p:sp>
        <p:sp>
          <p:nvSpPr>
            <p:cNvPr id="172" name="Google Shape;172;p14"/>
            <p:cNvSpPr txBox="1"/>
            <p:nvPr/>
          </p:nvSpPr>
          <p:spPr>
            <a:xfrm>
              <a:off x="6994660" y="5092897"/>
              <a:ext cx="9813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1 1 1 1 0</a:t>
              </a:r>
              <a:endParaRPr/>
            </a:p>
          </p:txBody>
        </p:sp>
        <p:cxnSp>
          <p:nvCxnSpPr>
            <p:cNvPr id="173" name="Google Shape;173;p14"/>
            <p:cNvCxnSpPr/>
            <p:nvPr/>
          </p:nvCxnSpPr>
          <p:spPr>
            <a:xfrm>
              <a:off x="7081235" y="5722156"/>
              <a:ext cx="101933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4" name="Google Shape;174;p14"/>
            <p:cNvCxnSpPr/>
            <p:nvPr/>
          </p:nvCxnSpPr>
          <p:spPr>
            <a:xfrm rot="-5400000">
              <a:off x="7428508" y="5424851"/>
              <a:ext cx="101933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5" name="Google Shape;175;p14"/>
          <p:cNvSpPr txBox="1"/>
          <p:nvPr/>
        </p:nvSpPr>
        <p:spPr>
          <a:xfrm>
            <a:off x="7917960" y="481015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7913410" y="50956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7913410" y="537880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7919097" y="56642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5884529" y="4804713"/>
            <a:ext cx="11035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errors:</a:t>
            </a:r>
            <a:endParaRPr/>
          </a:p>
        </p:txBody>
      </p:sp>
      <p:grpSp>
        <p:nvGrpSpPr>
          <p:cNvPr id="180" name="Google Shape;180;p14"/>
          <p:cNvGrpSpPr/>
          <p:nvPr/>
        </p:nvGrpSpPr>
        <p:grpSpPr>
          <a:xfrm>
            <a:off x="9880003" y="5062723"/>
            <a:ext cx="1778682" cy="359137"/>
            <a:chOff x="9880003" y="5062723"/>
            <a:chExt cx="1778682" cy="359137"/>
          </a:xfrm>
        </p:grpSpPr>
        <p:sp>
          <p:nvSpPr>
            <p:cNvPr id="181" name="Google Shape;181;p14"/>
            <p:cNvSpPr txBox="1"/>
            <p:nvPr/>
          </p:nvSpPr>
          <p:spPr>
            <a:xfrm>
              <a:off x="11111740" y="5062723"/>
              <a:ext cx="546945" cy="359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parity</a:t>
              </a:r>
              <a:endParaRPr/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error</a:t>
              </a:r>
              <a:endParaRPr/>
            </a:p>
          </p:txBody>
        </p:sp>
        <p:cxnSp>
          <p:nvCxnSpPr>
            <p:cNvPr id="182" name="Google Shape;182;p14"/>
            <p:cNvCxnSpPr>
              <a:stCxn id="183" idx="1"/>
            </p:cNvCxnSpPr>
            <p:nvPr/>
          </p:nvCxnSpPr>
          <p:spPr>
            <a:xfrm flipH="1" rot="10800000">
              <a:off x="9880003" y="5232723"/>
              <a:ext cx="1303200" cy="7500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84" name="Google Shape;184;p14"/>
          <p:cNvGrpSpPr/>
          <p:nvPr/>
        </p:nvGrpSpPr>
        <p:grpSpPr>
          <a:xfrm>
            <a:off x="9930014" y="4772156"/>
            <a:ext cx="546945" cy="1621566"/>
            <a:chOff x="9930014" y="4772156"/>
            <a:chExt cx="546945" cy="1621566"/>
          </a:xfrm>
        </p:grpSpPr>
        <p:sp>
          <p:nvSpPr>
            <p:cNvPr id="185" name="Google Shape;185;p14"/>
            <p:cNvSpPr txBox="1"/>
            <p:nvPr/>
          </p:nvSpPr>
          <p:spPr>
            <a:xfrm>
              <a:off x="9930014" y="6034585"/>
              <a:ext cx="546945" cy="359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parity</a:t>
              </a:r>
              <a:endParaRPr/>
            </a:p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error</a:t>
              </a:r>
              <a:endParaRPr/>
            </a:p>
          </p:txBody>
        </p:sp>
        <p:cxnSp>
          <p:nvCxnSpPr>
            <p:cNvPr id="186" name="Google Shape;186;p14"/>
            <p:cNvCxnSpPr/>
            <p:nvPr/>
          </p:nvCxnSpPr>
          <p:spPr>
            <a:xfrm flipH="1" rot="-5400000">
              <a:off x="9551132" y="5419989"/>
              <a:ext cx="1303277" cy="7611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87" name="Google Shape;187;p14"/>
          <p:cNvGrpSpPr/>
          <p:nvPr/>
        </p:nvGrpSpPr>
        <p:grpSpPr>
          <a:xfrm>
            <a:off x="8346385" y="4773947"/>
            <a:ext cx="2744420" cy="1243263"/>
            <a:chOff x="8346385" y="4773947"/>
            <a:chExt cx="2744420" cy="1243263"/>
          </a:xfrm>
        </p:grpSpPr>
        <p:grpSp>
          <p:nvGrpSpPr>
            <p:cNvPr id="188" name="Google Shape;188;p14"/>
            <p:cNvGrpSpPr/>
            <p:nvPr/>
          </p:nvGrpSpPr>
          <p:grpSpPr>
            <a:xfrm>
              <a:off x="9873379" y="4773947"/>
              <a:ext cx="1217426" cy="1214161"/>
              <a:chOff x="9873379" y="4773947"/>
              <a:chExt cx="1217426" cy="1214161"/>
            </a:xfrm>
          </p:grpSpPr>
          <p:sp>
            <p:nvSpPr>
              <p:cNvPr id="189" name="Google Shape;189;p14"/>
              <p:cNvSpPr txBox="1"/>
              <p:nvPr/>
            </p:nvSpPr>
            <p:spPr>
              <a:xfrm>
                <a:off x="9873379" y="5327119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0 1 1 1 0  1</a:t>
                </a:r>
                <a:endParaRPr/>
              </a:p>
            </p:txBody>
          </p:sp>
          <p:grpSp>
            <p:nvGrpSpPr>
              <p:cNvPr id="190" name="Google Shape;190;p14"/>
              <p:cNvGrpSpPr/>
              <p:nvPr/>
            </p:nvGrpSpPr>
            <p:grpSpPr>
              <a:xfrm>
                <a:off x="9880003" y="4773947"/>
                <a:ext cx="1210802" cy="1214161"/>
                <a:chOff x="6394173" y="4840358"/>
                <a:chExt cx="1210802" cy="1214161"/>
              </a:xfrm>
            </p:grpSpPr>
            <p:sp>
              <p:nvSpPr>
                <p:cNvPr id="191" name="Google Shape;191;p14"/>
                <p:cNvSpPr txBox="1"/>
                <p:nvPr/>
              </p:nvSpPr>
              <p:spPr>
                <a:xfrm>
                  <a:off x="6400799" y="4840358"/>
                  <a:ext cx="120417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1 0 1 0 1  1</a:t>
                  </a:r>
                  <a:endParaRPr/>
                </a:p>
              </p:txBody>
            </p:sp>
            <p:sp>
              <p:nvSpPr>
                <p:cNvPr id="183" name="Google Shape;183;p14"/>
                <p:cNvSpPr txBox="1"/>
                <p:nvPr/>
              </p:nvSpPr>
              <p:spPr>
                <a:xfrm>
                  <a:off x="6394173" y="5121968"/>
                  <a:ext cx="120417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 </a:t>
                  </a:r>
                  <a:r>
                    <a:rPr b="0" i="0" lang="en-US" sz="1800" u="none" cap="none" strike="noStrike">
                      <a:solidFill>
                        <a:srgbClr val="FF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0</a:t>
                  </a: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1 1 0  0</a:t>
                  </a:r>
                  <a:endParaRPr/>
                </a:p>
              </p:txBody>
            </p:sp>
            <p:sp>
              <p:nvSpPr>
                <p:cNvPr id="192" name="Google Shape;192;p14"/>
                <p:cNvSpPr txBox="1"/>
                <p:nvPr/>
              </p:nvSpPr>
              <p:spPr>
                <a:xfrm>
                  <a:off x="6395912" y="5685187"/>
                  <a:ext cx="120417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1 0 1 0 1  0</a:t>
                  </a:r>
                  <a:endParaRPr/>
                </a:p>
              </p:txBody>
            </p:sp>
            <p:cxnSp>
              <p:nvCxnSpPr>
                <p:cNvPr id="193" name="Google Shape;193;p14"/>
                <p:cNvCxnSpPr/>
                <p:nvPr/>
              </p:nvCxnSpPr>
              <p:spPr>
                <a:xfrm>
                  <a:off x="6480748" y="5751227"/>
                  <a:ext cx="1019331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4" name="Google Shape;194;p14"/>
                <p:cNvCxnSpPr/>
                <p:nvPr/>
              </p:nvCxnSpPr>
              <p:spPr>
                <a:xfrm rot="-5400000">
                  <a:off x="6828021" y="5453922"/>
                  <a:ext cx="1019331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95" name="Google Shape;195;p14"/>
            <p:cNvSpPr txBox="1"/>
            <p:nvPr/>
          </p:nvSpPr>
          <p:spPr>
            <a:xfrm>
              <a:off x="8346385" y="4811367"/>
              <a:ext cx="1411353" cy="1205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detected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and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correctable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single-bit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error:</a:t>
              </a:r>
              <a:endParaRPr/>
            </a:p>
          </p:txBody>
        </p:sp>
      </p:grpSp>
      <p:sp>
        <p:nvSpPr>
          <p:cNvPr id="196" name="Google Shape;196;p14"/>
          <p:cNvSpPr txBox="1"/>
          <p:nvPr/>
        </p:nvSpPr>
        <p:spPr>
          <a:xfrm>
            <a:off x="1176958" y="3591520"/>
            <a:ext cx="3585542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Even parity: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parity bit so there is an even number of 1’s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435076" y="6389262"/>
            <a:ext cx="9451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pic>
        <p:nvPicPr>
          <p:cNvPr descr="Icon&#10;&#10;Description automatically generated" id="198" name="Google Shape;1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6122" y="2794187"/>
            <a:ext cx="2157242" cy="1898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 txBox="1"/>
          <p:nvPr/>
        </p:nvSpPr>
        <p:spPr>
          <a:xfrm>
            <a:off x="872158" y="4277320"/>
            <a:ext cx="4785692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At receiver: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parity of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d+1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received bits, if not even, then error detected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detect odd number of bit flips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5739633" y="914400"/>
            <a:ext cx="22911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Two-D parity: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 </a:t>
            </a:r>
            <a:r>
              <a:rPr lang="en-US" sz="2800"/>
              <a:t>(review, see section 3.3)</a:t>
            </a:r>
            <a:endParaRPr sz="4400"/>
          </a:p>
        </p:txBody>
      </p:sp>
      <p:sp>
        <p:nvSpPr>
          <p:cNvPr id="207" name="Google Shape;207;p15"/>
          <p:cNvSpPr txBox="1"/>
          <p:nvPr/>
        </p:nvSpPr>
        <p:spPr>
          <a:xfrm>
            <a:off x="990599" y="2218943"/>
            <a:ext cx="4662055" cy="4478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treat contents of UDP segment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(including UDP header fields and IP addresses)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sequence of 16-bit integers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checksum: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(one’s complement sum)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segment content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 value put into UDP checksum field</a:t>
            </a:r>
            <a:endParaRPr/>
          </a:p>
          <a:p>
            <a:pPr indent="-2222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r>
              <a:rPr b="0" i="0" lang="en-US" sz="3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checksum of received segment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computed checksum equals checksum field value: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equal - error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equal - no error detected.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maybe errors nonetheless?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later ….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 errors (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transmitted segment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</a:t>
            </a:r>
            <a:endParaRPr sz="4400"/>
          </a:p>
        </p:txBody>
      </p:sp>
      <p:sp>
        <p:nvSpPr>
          <p:cNvPr id="216" name="Google Shape;216;p16"/>
          <p:cNvSpPr txBox="1"/>
          <p:nvPr/>
        </p:nvSpPr>
        <p:spPr>
          <a:xfrm>
            <a:off x="830820" y="1239611"/>
            <a:ext cx="10632309" cy="1530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powerful error-detection coding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bits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(given, think of these as a binary number)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 (generator),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r+1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(given, specified in CRC standard)</a:t>
            </a:r>
            <a:endParaRPr/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850698" y="4665031"/>
            <a:ext cx="11036502" cy="186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sender: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CRC bits,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such that &lt;D,R&gt;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exactly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divisible by G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(mod 2)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receiver knows G, divides &lt;D,R&gt; by G.  If non-zero remainder: error detected!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detect all burst errors less than r+1 bits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widely used in practice (Ethernet, 802.11 WiFi)</a:t>
            </a:r>
            <a:endParaRPr/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16"/>
          <p:cNvGrpSpPr/>
          <p:nvPr/>
        </p:nvGrpSpPr>
        <p:grpSpPr>
          <a:xfrm>
            <a:off x="3954671" y="3889513"/>
            <a:ext cx="6922203" cy="492873"/>
            <a:chOff x="3954671" y="3889513"/>
            <a:chExt cx="6922203" cy="492873"/>
          </a:xfrm>
        </p:grpSpPr>
        <p:grpSp>
          <p:nvGrpSpPr>
            <p:cNvPr id="219" name="Google Shape;219;p16"/>
            <p:cNvGrpSpPr/>
            <p:nvPr/>
          </p:nvGrpSpPr>
          <p:grpSpPr>
            <a:xfrm>
              <a:off x="3954671" y="3896138"/>
              <a:ext cx="2934586" cy="486248"/>
              <a:chOff x="8759687" y="3087756"/>
              <a:chExt cx="2934586" cy="486248"/>
            </a:xfrm>
          </p:grpSpPr>
          <p:sp>
            <p:nvSpPr>
              <p:cNvPr id="220" name="Google Shape;220;p16"/>
              <p:cNvSpPr txBox="1"/>
              <p:nvPr/>
            </p:nvSpPr>
            <p:spPr>
              <a:xfrm>
                <a:off x="8759687" y="3087756"/>
                <a:ext cx="293458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&lt;D,R&gt; = D  2</a:t>
                </a:r>
                <a:r>
                  <a:rPr b="0" baseline="3000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XOR  R  </a:t>
                </a:r>
                <a:endParaRPr/>
              </a:p>
            </p:txBody>
          </p:sp>
          <p:sp>
            <p:nvSpPr>
              <p:cNvPr id="221" name="Google Shape;221;p16"/>
              <p:cNvSpPr txBox="1"/>
              <p:nvPr/>
            </p:nvSpPr>
            <p:spPr>
              <a:xfrm>
                <a:off x="9972262" y="3173894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</a:t>
                </a:r>
                <a:endParaRPr/>
              </a:p>
            </p:txBody>
          </p:sp>
        </p:grpSp>
        <p:sp>
          <p:nvSpPr>
            <p:cNvPr id="222" name="Google Shape;222;p16"/>
            <p:cNvSpPr txBox="1"/>
            <p:nvPr/>
          </p:nvSpPr>
          <p:spPr>
            <a:xfrm>
              <a:off x="7997688" y="3889513"/>
              <a:ext cx="287918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formula for these bits</a:t>
              </a:r>
              <a:endParaRPr/>
            </a:p>
          </p:txBody>
        </p:sp>
        <p:cxnSp>
          <p:nvCxnSpPr>
            <p:cNvPr id="223" name="Google Shape;223;p16"/>
            <p:cNvCxnSpPr/>
            <p:nvPr/>
          </p:nvCxnSpPr>
          <p:spPr>
            <a:xfrm>
              <a:off x="6811619" y="4134678"/>
              <a:ext cx="1192695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" name="Google Shape;224;p16"/>
          <p:cNvGrpSpPr/>
          <p:nvPr/>
        </p:nvGrpSpPr>
        <p:grpSpPr>
          <a:xfrm>
            <a:off x="4243982" y="2770984"/>
            <a:ext cx="5397512" cy="1096490"/>
            <a:chOff x="4243982" y="2770984"/>
            <a:chExt cx="5397512" cy="1096490"/>
          </a:xfrm>
        </p:grpSpPr>
        <p:grpSp>
          <p:nvGrpSpPr>
            <p:cNvPr id="225" name="Google Shape;225;p16"/>
            <p:cNvGrpSpPr/>
            <p:nvPr/>
          </p:nvGrpSpPr>
          <p:grpSpPr>
            <a:xfrm>
              <a:off x="4243982" y="2770984"/>
              <a:ext cx="2691529" cy="1072438"/>
              <a:chOff x="2335669" y="2731227"/>
              <a:chExt cx="2691529" cy="1072438"/>
            </a:xfrm>
          </p:grpSpPr>
          <p:grpSp>
            <p:nvGrpSpPr>
              <p:cNvPr id="226" name="Google Shape;226;p16"/>
              <p:cNvGrpSpPr/>
              <p:nvPr/>
            </p:nvGrpSpPr>
            <p:grpSpPr>
              <a:xfrm>
                <a:off x="3847708" y="2731227"/>
                <a:ext cx="1179490" cy="644795"/>
                <a:chOff x="2714347" y="4114405"/>
                <a:chExt cx="1179490" cy="644795"/>
              </a:xfrm>
            </p:grpSpPr>
            <p:cxnSp>
              <p:nvCxnSpPr>
                <p:cNvPr id="227" name="Google Shape;227;p16"/>
                <p:cNvCxnSpPr/>
                <p:nvPr/>
              </p:nvCxnSpPr>
              <p:spPr>
                <a:xfrm>
                  <a:off x="2993162" y="4665600"/>
                  <a:ext cx="542038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228" name="Google Shape;228;p16"/>
                <p:cNvSpPr txBox="1"/>
                <p:nvPr/>
              </p:nvSpPr>
              <p:spPr>
                <a:xfrm>
                  <a:off x="2714347" y="4114405"/>
                  <a:ext cx="1179490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1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CRC bits</a:t>
                  </a:r>
                  <a:endParaRPr/>
                </a:p>
              </p:txBody>
            </p:sp>
            <p:cxnSp>
              <p:nvCxnSpPr>
                <p:cNvPr id="229" name="Google Shape;229;p16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30" name="Google Shape;230;p16"/>
              <p:cNvGrpSpPr/>
              <p:nvPr/>
            </p:nvGrpSpPr>
            <p:grpSpPr>
              <a:xfrm>
                <a:off x="2491075" y="3061148"/>
                <a:ext cx="1630353" cy="400110"/>
                <a:chOff x="1912047" y="4446000"/>
                <a:chExt cx="1630353" cy="400110"/>
              </a:xfrm>
            </p:grpSpPr>
            <p:cxnSp>
              <p:nvCxnSpPr>
                <p:cNvPr id="231" name="Google Shape;231;p16"/>
                <p:cNvCxnSpPr/>
                <p:nvPr/>
              </p:nvCxnSpPr>
              <p:spPr>
                <a:xfrm>
                  <a:off x="1914638" y="4665600"/>
                  <a:ext cx="1620562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232" name="Google Shape;232;p16"/>
                <p:cNvSpPr/>
                <p:nvPr/>
              </p:nvSpPr>
              <p:spPr>
                <a:xfrm>
                  <a:off x="2098800" y="4636800"/>
                  <a:ext cx="1245600" cy="45719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16"/>
                <p:cNvSpPr txBox="1"/>
                <p:nvPr/>
              </p:nvSpPr>
              <p:spPr>
                <a:xfrm>
                  <a:off x="2088000" y="4446000"/>
                  <a:ext cx="1278812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 data bits</a:t>
                  </a:r>
                  <a:endParaRPr/>
                </a:p>
              </p:txBody>
            </p:sp>
            <p:cxnSp>
              <p:nvCxnSpPr>
                <p:cNvPr id="234" name="Google Shape;234;p16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5" name="Google Shape;235;p16"/>
                <p:cNvCxnSpPr/>
                <p:nvPr/>
              </p:nvCxnSpPr>
              <p:spPr>
                <a:xfrm>
                  <a:off x="1912047" y="45696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36" name="Google Shape;236;p16"/>
              <p:cNvGrpSpPr/>
              <p:nvPr/>
            </p:nvGrpSpPr>
            <p:grpSpPr>
              <a:xfrm>
                <a:off x="2335669" y="3342000"/>
                <a:ext cx="2325599" cy="461665"/>
                <a:chOff x="1904400" y="5143043"/>
                <a:chExt cx="2325599" cy="461665"/>
              </a:xfrm>
            </p:grpSpPr>
            <p:sp>
              <p:nvSpPr>
                <p:cNvPr id="237" name="Google Shape;237;p16"/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16"/>
                <p:cNvSpPr txBox="1"/>
                <p:nvPr/>
              </p:nvSpPr>
              <p:spPr>
                <a:xfrm>
                  <a:off x="2617147" y="5171947"/>
                  <a:ext cx="34176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16"/>
                <p:cNvSpPr txBox="1"/>
                <p:nvPr/>
              </p:nvSpPr>
              <p:spPr>
                <a:xfrm>
                  <a:off x="3708874" y="5143043"/>
                  <a:ext cx="35137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400"/>
                    <a:buFont typeface="Calibri"/>
                    <a:buNone/>
                  </a:pPr>
                  <a:r>
                    <a:rPr b="0" i="0" lang="en-US" sz="2400" u="none" cap="none" strike="noStrike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endParaRPr b="0" i="0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40" name="Google Shape;240;p16"/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241" name="Google Shape;241;p16"/>
            <p:cNvSpPr txBox="1"/>
            <p:nvPr/>
          </p:nvSpPr>
          <p:spPr>
            <a:xfrm>
              <a:off x="8004315" y="3405809"/>
              <a:ext cx="163717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bits to send</a:t>
              </a:r>
              <a:endParaRPr/>
            </a:p>
          </p:txBody>
        </p:sp>
        <p:cxnSp>
          <p:nvCxnSpPr>
            <p:cNvPr id="242" name="Google Shape;242;p16"/>
            <p:cNvCxnSpPr/>
            <p:nvPr/>
          </p:nvCxnSpPr>
          <p:spPr>
            <a:xfrm>
              <a:off x="6791741" y="3637722"/>
              <a:ext cx="1192695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(CRC): example</a:t>
            </a:r>
            <a:endParaRPr sz="4400"/>
          </a:p>
        </p:txBody>
      </p:sp>
      <p:sp>
        <p:nvSpPr>
          <p:cNvPr id="249" name="Google Shape;249;p17"/>
          <p:cNvSpPr txBox="1"/>
          <p:nvPr/>
        </p:nvSpPr>
        <p:spPr>
          <a:xfrm>
            <a:off x="753302" y="1408042"/>
            <a:ext cx="5114097" cy="1335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Sender wants to compute R such that:</a:t>
            </a:r>
            <a:endParaRPr b="0" i="0" sz="32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b="0" baseline="3000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XOR  R = nG</a:t>
            </a:r>
            <a:endParaRPr b="0" i="1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498852" y="6357788"/>
            <a:ext cx="9533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grpSp>
        <p:nvGrpSpPr>
          <p:cNvPr id="251" name="Google Shape;251;p17"/>
          <p:cNvGrpSpPr/>
          <p:nvPr/>
        </p:nvGrpSpPr>
        <p:grpSpPr>
          <a:xfrm>
            <a:off x="1783729" y="5292725"/>
            <a:ext cx="2788271" cy="822325"/>
            <a:chOff x="1783729" y="4359275"/>
            <a:chExt cx="2788271" cy="822325"/>
          </a:xfrm>
        </p:grpSpPr>
        <p:sp>
          <p:nvSpPr>
            <p:cNvPr id="252" name="Google Shape;252;p17"/>
            <p:cNvSpPr txBox="1"/>
            <p:nvPr/>
          </p:nvSpPr>
          <p:spPr>
            <a:xfrm>
              <a:off x="3184939" y="4359275"/>
              <a:ext cx="1336675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30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cxnSp>
          <p:nvCxnSpPr>
            <p:cNvPr id="253" name="Google Shape;253;p17"/>
            <p:cNvCxnSpPr/>
            <p:nvPr/>
          </p:nvCxnSpPr>
          <p:spPr>
            <a:xfrm>
              <a:off x="3527839" y="4775200"/>
              <a:ext cx="63182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4" name="Google Shape;254;p17"/>
            <p:cNvSpPr txBox="1"/>
            <p:nvPr/>
          </p:nvSpPr>
          <p:spPr>
            <a:xfrm>
              <a:off x="1783729" y="4504911"/>
              <a:ext cx="2788271" cy="471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remainder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17"/>
          <p:cNvSpPr txBox="1"/>
          <p:nvPr/>
        </p:nvSpPr>
        <p:spPr>
          <a:xfrm>
            <a:off x="767158" y="2996120"/>
            <a:ext cx="5252642" cy="8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... or equivalently </a:t>
            </a:r>
            <a:r>
              <a:rPr b="0" i="0" lang="en-US" sz="2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(XOR R both sides):</a:t>
            </a:r>
            <a:endParaRPr b="0" i="0" sz="32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b="0" baseline="30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nG  XOR  R 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725595" y="4002308"/>
            <a:ext cx="4984888" cy="1252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... which says: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-234950" lvl="0" marL="457200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if we divide D 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by G, we want remainder R to satisfy: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7679634" y="2146851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8249478" y="3041373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1  0  1  0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8249479" y="2451654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1  0  1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8262729" y="2756456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8256103" y="3339547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/>
          </a:p>
        </p:txBody>
      </p:sp>
      <p:grpSp>
        <p:nvGrpSpPr>
          <p:cNvPr id="262" name="Google Shape;262;p17"/>
          <p:cNvGrpSpPr/>
          <p:nvPr/>
        </p:nvGrpSpPr>
        <p:grpSpPr>
          <a:xfrm>
            <a:off x="8825948" y="3664228"/>
            <a:ext cx="1505129" cy="2259494"/>
            <a:chOff x="8825948" y="3664228"/>
            <a:chExt cx="1505129" cy="2259494"/>
          </a:xfrm>
        </p:grpSpPr>
        <p:sp>
          <p:nvSpPr>
            <p:cNvPr id="263" name="Google Shape;263;p17"/>
            <p:cNvSpPr txBox="1"/>
            <p:nvPr/>
          </p:nvSpPr>
          <p:spPr>
            <a:xfrm>
              <a:off x="8832573" y="45587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9110869" y="5155096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8845821" y="3962406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0  0  0</a:t>
              </a:r>
              <a:endParaRPr/>
            </a:p>
          </p:txBody>
        </p:sp>
        <p:sp>
          <p:nvSpPr>
            <p:cNvPr id="266" name="Google Shape;266;p17"/>
            <p:cNvSpPr txBox="1"/>
            <p:nvPr/>
          </p:nvSpPr>
          <p:spPr>
            <a:xfrm>
              <a:off x="8825949" y="3664228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1  1  0</a:t>
              </a:r>
              <a:endParaRPr/>
            </a:p>
          </p:txBody>
        </p:sp>
        <p:sp>
          <p:nvSpPr>
            <p:cNvPr id="267" name="Google Shape;267;p17"/>
            <p:cNvSpPr txBox="1"/>
            <p:nvPr/>
          </p:nvSpPr>
          <p:spPr>
            <a:xfrm>
              <a:off x="8825948" y="42539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1  1  0  0</a:t>
              </a:r>
              <a:endParaRPr/>
            </a:p>
          </p:txBody>
        </p:sp>
        <p:sp>
          <p:nvSpPr>
            <p:cNvPr id="268" name="Google Shape;268;p17"/>
            <p:cNvSpPr txBox="1"/>
            <p:nvPr/>
          </p:nvSpPr>
          <p:spPr>
            <a:xfrm>
              <a:off x="9110871" y="4856920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1  0  1  0</a:t>
              </a:r>
              <a:endParaRPr/>
            </a:p>
          </p:txBody>
        </p:sp>
        <p:sp>
          <p:nvSpPr>
            <p:cNvPr id="269" name="Google Shape;269;p17"/>
            <p:cNvSpPr txBox="1"/>
            <p:nvPr/>
          </p:nvSpPr>
          <p:spPr>
            <a:xfrm>
              <a:off x="9395794" y="5462057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0  1  1</a:t>
              </a:r>
              <a:endParaRPr/>
            </a:p>
          </p:txBody>
        </p:sp>
      </p:grpSp>
      <p:sp>
        <p:nvSpPr>
          <p:cNvPr id="270" name="Google Shape;270;p17"/>
          <p:cNvSpPr txBox="1"/>
          <p:nvPr/>
        </p:nvSpPr>
        <p:spPr>
          <a:xfrm>
            <a:off x="9262887" y="1451109"/>
            <a:ext cx="10647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0  1  1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9998764" y="2537791"/>
            <a:ext cx="405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9700589" y="5963477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 rot="5400000">
            <a:off x="9749390" y="5609878"/>
            <a:ext cx="185531" cy="68069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17"/>
          <p:cNvGrpSpPr/>
          <p:nvPr/>
        </p:nvGrpSpPr>
        <p:grpSpPr>
          <a:xfrm>
            <a:off x="6367670" y="1219201"/>
            <a:ext cx="1220206" cy="1064637"/>
            <a:chOff x="6367670" y="1219201"/>
            <a:chExt cx="1220206" cy="1064637"/>
          </a:xfrm>
        </p:grpSpPr>
        <p:sp>
          <p:nvSpPr>
            <p:cNvPr id="275" name="Google Shape;275;p17"/>
            <p:cNvSpPr txBox="1"/>
            <p:nvPr/>
          </p:nvSpPr>
          <p:spPr>
            <a:xfrm>
              <a:off x="6367670" y="1822173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276" name="Google Shape;276;p17"/>
            <p:cNvSpPr txBox="1"/>
            <p:nvPr/>
          </p:nvSpPr>
          <p:spPr>
            <a:xfrm>
              <a:off x="6745358" y="1219201"/>
              <a:ext cx="4106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 rot="-5400000">
              <a:off x="6831499" y="1265579"/>
              <a:ext cx="231910" cy="100054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78" name="Google Shape;278;p17"/>
          <p:cNvCxnSpPr>
            <a:endCxn id="271" idx="1"/>
          </p:cNvCxnSpPr>
          <p:nvPr/>
        </p:nvCxnSpPr>
        <p:spPr>
          <a:xfrm>
            <a:off x="8839264" y="2200001"/>
            <a:ext cx="1159500" cy="5994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79" name="Google Shape;279;p17"/>
          <p:cNvGrpSpPr/>
          <p:nvPr/>
        </p:nvGrpSpPr>
        <p:grpSpPr>
          <a:xfrm>
            <a:off x="7550150" y="1873802"/>
            <a:ext cx="2658303" cy="323299"/>
            <a:chOff x="7550150" y="1873802"/>
            <a:chExt cx="2658303" cy="323299"/>
          </a:xfrm>
        </p:grpSpPr>
        <p:grpSp>
          <p:nvGrpSpPr>
            <p:cNvPr id="280" name="Google Shape;280;p17"/>
            <p:cNvGrpSpPr/>
            <p:nvPr/>
          </p:nvGrpSpPr>
          <p:grpSpPr>
            <a:xfrm>
              <a:off x="7550150" y="1873802"/>
              <a:ext cx="2658303" cy="323299"/>
              <a:chOff x="7572375" y="1842052"/>
              <a:chExt cx="2658303" cy="323299"/>
            </a:xfrm>
          </p:grpSpPr>
          <p:cxnSp>
            <p:nvCxnSpPr>
              <p:cNvPr id="281" name="Google Shape;281;p17"/>
              <p:cNvCxnSpPr/>
              <p:nvPr/>
            </p:nvCxnSpPr>
            <p:spPr>
              <a:xfrm>
                <a:off x="7659757" y="1842052"/>
                <a:ext cx="257092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82" name="Google Shape;282;p17"/>
              <p:cNvSpPr/>
              <p:nvPr/>
            </p:nvSpPr>
            <p:spPr>
              <a:xfrm rot="-5400000">
                <a:off x="7488045" y="1927002"/>
                <a:ext cx="322679" cy="154018"/>
              </a:xfrm>
              <a:prstGeom prst="pie">
                <a:avLst>
                  <a:gd fmla="val 0" name="adj1"/>
                  <a:gd fmla="val 10753547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p17"/>
            <p:cNvSpPr/>
            <p:nvPr/>
          </p:nvSpPr>
          <p:spPr>
            <a:xfrm>
              <a:off x="7585075" y="1882775"/>
              <a:ext cx="85725" cy="3079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7"/>
          <p:cNvSpPr txBox="1"/>
          <p:nvPr/>
        </p:nvSpPr>
        <p:spPr>
          <a:xfrm>
            <a:off x="9406127" y="1822173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7673008" y="1828798"/>
            <a:ext cx="18069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1  0  1  1  1  0</a:t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7712766" y="1881809"/>
            <a:ext cx="2597426" cy="33130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7"/>
          <p:cNvCxnSpPr>
            <a:endCxn id="271" idx="1"/>
          </p:cNvCxnSpPr>
          <p:nvPr/>
        </p:nvCxnSpPr>
        <p:spPr>
          <a:xfrm>
            <a:off x="9720364" y="2219801"/>
            <a:ext cx="278400" cy="57960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17"/>
          <p:cNvSpPr txBox="1"/>
          <p:nvPr/>
        </p:nvSpPr>
        <p:spPr>
          <a:xfrm>
            <a:off x="10376447" y="2544418"/>
            <a:ext cx="14820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(here, r=3)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10227366" y="2637181"/>
            <a:ext cx="3129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8523844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8810715" y="145061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9097586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4648200" y="5372100"/>
            <a:ext cx="1905715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algorithm for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computing R</a:t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1543050" y="5124450"/>
            <a:ext cx="3162300" cy="112395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>
            <p:ph type="title"/>
          </p:nvPr>
        </p:nvSpPr>
        <p:spPr>
          <a:xfrm>
            <a:off x="580529" y="463807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Link Layer</a:t>
            </a:r>
            <a:endParaRPr sz="6000"/>
          </a:p>
        </p:txBody>
      </p:sp>
      <p:grpSp>
        <p:nvGrpSpPr>
          <p:cNvPr id="301" name="Google Shape;301;p18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02" name="Google Shape;30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18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04" name="Google Shape;304;p18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305" name="Google Shape;305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6" name="Google Shape;306;p18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7" name="Google Shape;307;p18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308" name="Google Shape;308;p18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309" name="Google Shape;309;p18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310" name="Google Shape;310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2" name="Google Shape;312;p18"/>
          <p:cNvSpPr txBox="1"/>
          <p:nvPr/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 to the Link Layer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Error-detection and -correction Techniques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Links and Protocols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Switched Local Area Networks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a Network as a Link Layer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Retrospective: A Day in the Life of a Web Page Request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