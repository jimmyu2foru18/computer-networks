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20">
          <p15:clr>
            <a:srgbClr val="A4A3A4"/>
          </p15:clr>
        </p15:guide>
        <p15:guide id="2" pos="20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20" orient="horz"/>
        <p:guide pos="20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55614" y="1574801"/>
            <a:ext cx="8013829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Layering, encapsulation,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Networks under attack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panet2" id="47" name="Google Shape;47;p7"/>
          <p:cNvPicPr preferRelativeResize="0"/>
          <p:nvPr/>
        </p:nvPicPr>
        <p:blipFill rotWithShape="1">
          <a:blip r:embed="rId3">
            <a:alphaModFix/>
          </a:blip>
          <a:srcRect b="8457" l="0" r="0" t="0"/>
          <a:stretch/>
        </p:blipFill>
        <p:spPr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49" name="Google Shape;49;p7"/>
          <p:cNvSpPr txBox="1"/>
          <p:nvPr/>
        </p:nvSpPr>
        <p:spPr>
          <a:xfrm>
            <a:off x="7747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1961: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Kleinrock - queueing theory shows effectiveness of packet-switching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Baran - packet-switching in military nets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1967: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conceived by Advanced Research Projects Agency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first ARPAnet node operational</a:t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public demo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NCP (Network Control Protocol) first host-host protocol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e-mail program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has 15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1961-1972: Early packet-switching principles</a:t>
            </a:r>
            <a:endParaRPr b="0" i="0" sz="3200" u="sng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58" name="Google Shape;58;p8"/>
          <p:cNvSpPr txBox="1"/>
          <p:nvPr/>
        </p:nvSpPr>
        <p:spPr>
          <a:xfrm>
            <a:off x="660400" y="2095499"/>
            <a:ext cx="52832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1970: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ALOHAnet satellite network in Hawaii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Cerf and Kahn - architecture for interconnecting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Ethernet at Xerox PARC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late70’s: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proprietary architectures: DECnet, SNA, XNA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has 200 nodes</a:t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1972-1980: Internetworking, new and proprietary networks</a:t>
            </a: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61" name="Google Shape;61;p8"/>
            <p:cNvSpPr txBox="1"/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12700" lvl="0" marL="1174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Cerf and Kahn’s internetworking principles: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minimalism, autonomy - no internal changes required to interconnect networks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best-effort service model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stateless routing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control</a:t>
              </a:r>
              <a:endParaRPr/>
            </a:p>
            <a:p>
              <a:pPr indent="0" lvl="0" marL="1174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define today’s Internet architecture</a:t>
              </a:r>
              <a:endParaRPr b="0" i="0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6851353" y="2147296"/>
              <a:ext cx="4978399" cy="4050304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69" name="Google Shape;69;p9"/>
          <p:cNvSpPr txBox="1"/>
          <p:nvPr/>
        </p:nvSpPr>
        <p:spPr>
          <a:xfrm>
            <a:off x="7620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deployment of TCP/IP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e-mail protocol defined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defined for name-to-IP-address translation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1985: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ftp protocol defined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1988: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congestion control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national networks: CSnet, BITnet, NSFnet, Minitel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100,000 hosts connected to confederation of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1980-1990: new protocols, a proliferation of networks</a:t>
            </a:r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98" y="3880533"/>
            <a:ext cx="3906331" cy="2875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79" name="Google Shape;79;p10"/>
          <p:cNvSpPr txBox="1"/>
          <p:nvPr/>
        </p:nvSpPr>
        <p:spPr>
          <a:xfrm>
            <a:off x="787167" y="2079634"/>
            <a:ext cx="5578281" cy="471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decommissioned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1991: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NSF lifts restrictions on commercial use of NSFnet (decommissioned, 1995)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hypertext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[Bush 1945, Nelson 1960’s]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HTTP: Berners-Lee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1994: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Mosaic, later Netscape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late 1990s: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Web</a:t>
            </a:r>
            <a:endParaRPr/>
          </a:p>
        </p:txBody>
      </p:sp>
      <p:sp>
        <p:nvSpPr>
          <p:cNvPr id="80" name="Google Shape;80;p10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 1990s – 2000s: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killer apps: instant messaging, P2P file sharing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security to forefront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est. 50 million host, 100 million+ users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 links running at Gbps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1990, 2000s: commercialization, the Web, new applications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88" name="Google Shape;88;p11"/>
          <p:cNvSpPr txBox="1"/>
          <p:nvPr/>
        </p:nvSpPr>
        <p:spPr>
          <a:xfrm>
            <a:off x="820682" y="1913467"/>
            <a:ext cx="11142134" cy="4734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1" marL="519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aggressive deployment of broadband home access (10-100’s Mbps)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2008: software-defined networking (SDN)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increasing ubiquity of high-speed wireless access: 4G/5G, WiFi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providers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(Google, FB, Microsoft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create their own networks</a:t>
            </a:r>
            <a:endParaRPr/>
          </a:p>
          <a:p>
            <a:pPr indent="-234950" lvl="2" marL="812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bypass commercial Internet to connect “close” to end user, providing “instantaneous” access to social media, search, video content, …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enterprises run their services in “cloud”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Amazon Web Services, Microsoft Azure)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smartphones: more mobile than fixed devices on Internet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~18B devices attached to Internet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1651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2005-present: scale, SDN, mobility, cloud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Chapter 1: summary</a:t>
            </a:r>
            <a:endParaRPr sz="4400"/>
          </a:p>
        </p:txBody>
      </p:sp>
      <p:sp>
        <p:nvSpPr>
          <p:cNvPr id="96" name="Google Shape;96;p12"/>
          <p:cNvSpPr txBox="1"/>
          <p:nvPr/>
        </p:nvSpPr>
        <p:spPr>
          <a:xfrm>
            <a:off x="691846" y="1281975"/>
            <a:ext cx="6189609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We’ve covered a “ton” of material!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overview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what’s a protocol?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edge, access network, core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packet-switching versus circuit-switching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structure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layering, service , encapsulation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networks under attack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7587563" y="1261110"/>
            <a:ext cx="3994837" cy="36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You now have: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context, overview, vocabulary,  “feel” of networking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depth, detail,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fun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follow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05" name="Google Shape;10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07" name="Google Shape;107;p1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08" name="Google Shape;108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" name="Google Shape;109;p1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" name="Google Shape;110;p13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111" name="Google Shape;111;p13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112" name="Google Shape;11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3"/>
          <p:cNvSpPr txBox="1"/>
          <p:nvPr/>
        </p:nvSpPr>
        <p:spPr>
          <a:xfrm>
            <a:off x="455614" y="1574801"/>
            <a:ext cx="8013829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b="0" i="1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b="0" i="1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Layering, encapsulation, service models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Networks under attack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