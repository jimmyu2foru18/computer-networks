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Gill Sans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8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88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illSans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Gill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" name="Google Shape;86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6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46662" y="15240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Introduction</a:t>
            </a:r>
            <a:endParaRPr sz="6000"/>
          </a:p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84643" y="1879601"/>
            <a:ext cx="7677223" cy="49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Overview. What </a:t>
            </a:r>
            <a:r>
              <a:rPr i="1"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i="1"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edge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core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600"/>
              <a:buChar char="▪"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</p:txBody>
      </p:sp>
      <p:grpSp>
        <p:nvGrpSpPr>
          <p:cNvPr id="36" name="Google Shape;36;p6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7" name="Google Shape;3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6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9" name="Google Shape;39;p6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0" name="Google Shape;40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" name="Google Shape;41;p6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7"/>
          <p:cNvCxnSpPr/>
          <p:nvPr/>
        </p:nvCxnSpPr>
        <p:spPr>
          <a:xfrm>
            <a:off x="5779371" y="4596717"/>
            <a:ext cx="1933575" cy="952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8" name="Google Shape;48;p7"/>
          <p:cNvGrpSpPr/>
          <p:nvPr/>
        </p:nvGrpSpPr>
        <p:grpSpPr>
          <a:xfrm>
            <a:off x="4584883" y="4186185"/>
            <a:ext cx="1511352" cy="863670"/>
            <a:chOff x="7493876" y="2774731"/>
            <a:chExt cx="1481958" cy="894622"/>
          </a:xfrm>
        </p:grpSpPr>
        <p:sp>
          <p:nvSpPr>
            <p:cNvPr id="49" name="Google Shape;49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1" name="Google Shape;51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" name="Google Shape;52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6" name="Google Shape;56;p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How do packet delay and loss occur?</a:t>
            </a:r>
            <a:endParaRPr sz="4400"/>
          </a:p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825266" y="1253331"/>
            <a:ext cx="1113754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packets </a:t>
            </a:r>
            <a:r>
              <a:rPr i="1" lang="en-US">
                <a:solidFill>
                  <a:srgbClr val="C00000"/>
                </a:solidFill>
              </a:rPr>
              <a:t>queue</a:t>
            </a:r>
            <a:r>
              <a:rPr lang="en-US"/>
              <a:t> in router buffers, waiting for turn for transmission</a:t>
            </a:r>
            <a:endParaRPr/>
          </a:p>
          <a:p>
            <a:pPr indent="-277813" lvl="1" marL="75088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/>
              <a:t>queue length grows when arrival rate to link (temporarily) exceeds output link capacity 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packet </a:t>
            </a:r>
            <a:r>
              <a:rPr i="1" lang="en-US">
                <a:solidFill>
                  <a:srgbClr val="CC0000"/>
                </a:solidFill>
              </a:rPr>
              <a:t>loss</a:t>
            </a:r>
            <a:r>
              <a:rPr lang="en-US">
                <a:solidFill>
                  <a:srgbClr val="CC0000"/>
                </a:solidFill>
              </a:rPr>
              <a:t> </a:t>
            </a:r>
            <a:r>
              <a:rPr lang="en-US"/>
              <a:t>occurs when memory to hold queued packets fills up</a:t>
            </a:r>
            <a:endParaRPr/>
          </a:p>
        </p:txBody>
      </p:sp>
      <p:cxnSp>
        <p:nvCxnSpPr>
          <p:cNvPr id="58" name="Google Shape;58;p7"/>
          <p:cNvCxnSpPr/>
          <p:nvPr/>
        </p:nvCxnSpPr>
        <p:spPr>
          <a:xfrm>
            <a:off x="3855321" y="4177617"/>
            <a:ext cx="741362" cy="35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/>
          <p:nvPr/>
        </p:nvSpPr>
        <p:spPr>
          <a:xfrm>
            <a:off x="5445996" y="4468129"/>
            <a:ext cx="147637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5601571" y="4468129"/>
            <a:ext cx="147637" cy="200025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5736508" y="4406217"/>
            <a:ext cx="147638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7"/>
          <p:cNvCxnSpPr/>
          <p:nvPr/>
        </p:nvCxnSpPr>
        <p:spPr>
          <a:xfrm flipH="1" rot="10800000">
            <a:off x="3853733" y="4717367"/>
            <a:ext cx="735013" cy="5508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7"/>
          <p:cNvSpPr/>
          <p:nvPr/>
        </p:nvSpPr>
        <p:spPr>
          <a:xfrm>
            <a:off x="4393483" y="4368117"/>
            <a:ext cx="147638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7"/>
          <p:cNvCxnSpPr/>
          <p:nvPr/>
        </p:nvCxnSpPr>
        <p:spPr>
          <a:xfrm>
            <a:off x="4344271" y="4304617"/>
            <a:ext cx="21113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" name="Google Shape;65;p7"/>
          <p:cNvSpPr txBox="1"/>
          <p:nvPr/>
        </p:nvSpPr>
        <p:spPr>
          <a:xfrm>
            <a:off x="3021677" y="3861704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66" name="Google Shape;66;p7"/>
          <p:cNvSpPr txBox="1"/>
          <p:nvPr/>
        </p:nvSpPr>
        <p:spPr>
          <a:xfrm>
            <a:off x="3094654" y="4814204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67" name="Google Shape;67;p7"/>
          <p:cNvGrpSpPr/>
          <p:nvPr/>
        </p:nvGrpSpPr>
        <p:grpSpPr>
          <a:xfrm>
            <a:off x="3128246" y="3861704"/>
            <a:ext cx="779462" cy="679450"/>
            <a:chOff x="-44" y="1473"/>
            <a:chExt cx="981" cy="1105"/>
          </a:xfrm>
        </p:grpSpPr>
        <p:pic>
          <p:nvPicPr>
            <p:cNvPr descr="desktop_computer_stylized_medium" id="68" name="Google Shape;68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desktop_computer_stylized_medium" id="70" name="Google Shape;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23290" y="4868179"/>
            <a:ext cx="779462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7"/>
          <p:cNvSpPr/>
          <p:nvPr/>
        </p:nvSpPr>
        <p:spPr>
          <a:xfrm flipH="1">
            <a:off x="3555416" y="4933357"/>
            <a:ext cx="379004" cy="31113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3956921" y="5023754"/>
            <a:ext cx="139700" cy="185738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7"/>
          <p:cNvCxnSpPr/>
          <p:nvPr/>
        </p:nvCxnSpPr>
        <p:spPr>
          <a:xfrm flipH="1" rot="10800000">
            <a:off x="4131546" y="4993592"/>
            <a:ext cx="220662" cy="1619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" name="Google Shape;74;p7"/>
          <p:cNvSpPr/>
          <p:nvPr/>
        </p:nvSpPr>
        <p:spPr>
          <a:xfrm>
            <a:off x="5293596" y="4469717"/>
            <a:ext cx="147637" cy="2000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5144371" y="4468129"/>
            <a:ext cx="147637" cy="2000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4991971" y="4471304"/>
            <a:ext cx="147637" cy="2000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7"/>
          <p:cNvGrpSpPr/>
          <p:nvPr/>
        </p:nvGrpSpPr>
        <p:grpSpPr>
          <a:xfrm>
            <a:off x="4277596" y="3137806"/>
            <a:ext cx="5876927" cy="1239838"/>
            <a:chOff x="1279" y="2225"/>
            <a:chExt cx="3702" cy="781"/>
          </a:xfrm>
        </p:grpSpPr>
        <p:sp>
          <p:nvSpPr>
            <p:cNvPr id="78" name="Google Shape;78;p7"/>
            <p:cNvSpPr txBox="1"/>
            <p:nvPr/>
          </p:nvSpPr>
          <p:spPr>
            <a:xfrm>
              <a:off x="1279" y="2225"/>
              <a:ext cx="3702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 being transmitted 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(transmission delay)</a:t>
              </a:r>
              <a:endParaRPr/>
            </a:p>
          </p:txBody>
        </p:sp>
        <p:cxnSp>
          <p:nvCxnSpPr>
            <p:cNvPr id="79" name="Google Shape;79;p7"/>
            <p:cNvCxnSpPr/>
            <p:nvPr/>
          </p:nvCxnSpPr>
          <p:spPr>
            <a:xfrm flipH="1">
              <a:off x="2259" y="2462"/>
              <a:ext cx="836" cy="5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" name="Google Shape;80;p7"/>
          <p:cNvGrpSpPr/>
          <p:nvPr/>
        </p:nvGrpSpPr>
        <p:grpSpPr>
          <a:xfrm>
            <a:off x="5550773" y="4742762"/>
            <a:ext cx="5216531" cy="900111"/>
            <a:chOff x="2103" y="3214"/>
            <a:chExt cx="3286" cy="567"/>
          </a:xfrm>
        </p:grpSpPr>
        <p:sp>
          <p:nvSpPr>
            <p:cNvPr id="81" name="Google Shape;81;p7"/>
            <p:cNvSpPr txBox="1"/>
            <p:nvPr/>
          </p:nvSpPr>
          <p:spPr>
            <a:xfrm>
              <a:off x="2530" y="3490"/>
              <a:ext cx="285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packets in buffers</a:t>
              </a:r>
              <a:r>
                <a:rPr b="0" i="0" lang="en-US" sz="2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(queueing delay)</a:t>
              </a:r>
              <a:endParaRPr/>
            </a:p>
          </p:txBody>
        </p:sp>
        <p:cxnSp>
          <p:nvCxnSpPr>
            <p:cNvPr id="82" name="Google Shape;82;p7"/>
            <p:cNvCxnSpPr/>
            <p:nvPr/>
          </p:nvCxnSpPr>
          <p:spPr>
            <a:xfrm rot="10800000">
              <a:off x="2103" y="3214"/>
              <a:ext cx="471" cy="4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" name="Google Shape;83;p7"/>
          <p:cNvGrpSpPr/>
          <p:nvPr/>
        </p:nvGrpSpPr>
        <p:grpSpPr>
          <a:xfrm>
            <a:off x="4468095" y="4704672"/>
            <a:ext cx="5173663" cy="1757364"/>
            <a:chOff x="1421" y="3190"/>
            <a:chExt cx="3259" cy="1107"/>
          </a:xfrm>
        </p:grpSpPr>
        <p:cxnSp>
          <p:nvCxnSpPr>
            <p:cNvPr id="84" name="Google Shape;84;p7"/>
            <p:cNvCxnSpPr/>
            <p:nvPr/>
          </p:nvCxnSpPr>
          <p:spPr>
            <a:xfrm flipH="1" rot="10800000">
              <a:off x="1793" y="3190"/>
              <a:ext cx="110" cy="6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5" name="Google Shape;85;p7"/>
            <p:cNvSpPr txBox="1"/>
            <p:nvPr/>
          </p:nvSpPr>
          <p:spPr>
            <a:xfrm>
              <a:off x="1421" y="3774"/>
              <a:ext cx="3259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free (available) buffers: arriving packets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dropped (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loss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if no free buffers</a:t>
              </a:r>
              <a:endParaRPr/>
            </a:p>
          </p:txBody>
        </p:sp>
      </p:grpSp>
      <p:grpSp>
        <p:nvGrpSpPr>
          <p:cNvPr id="86" name="Google Shape;86;p7"/>
          <p:cNvGrpSpPr/>
          <p:nvPr/>
        </p:nvGrpSpPr>
        <p:grpSpPr>
          <a:xfrm>
            <a:off x="7723012" y="4224627"/>
            <a:ext cx="1511352" cy="863670"/>
            <a:chOff x="7493876" y="2774731"/>
            <a:chExt cx="1481958" cy="894622"/>
          </a:xfrm>
        </p:grpSpPr>
        <p:sp>
          <p:nvSpPr>
            <p:cNvPr id="87" name="Google Shape;87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9" name="Google Shape;89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0" name="Google Shape;90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8"/>
          <p:cNvGrpSpPr/>
          <p:nvPr/>
        </p:nvGrpSpPr>
        <p:grpSpPr>
          <a:xfrm>
            <a:off x="3364430" y="1767623"/>
            <a:ext cx="1511352" cy="863670"/>
            <a:chOff x="7493876" y="2774731"/>
            <a:chExt cx="1481958" cy="894622"/>
          </a:xfrm>
        </p:grpSpPr>
        <p:sp>
          <p:nvSpPr>
            <p:cNvPr id="100" name="Google Shape;100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2" name="Google Shape;102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" name="Google Shape;103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7" name="Google Shape;107;p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Packet delay: four sources</a:t>
            </a:r>
            <a:endParaRPr sz="4400"/>
          </a:p>
        </p:txBody>
      </p:sp>
      <p:sp>
        <p:nvSpPr>
          <p:cNvPr id="108" name="Google Shape;108;p8"/>
          <p:cNvSpPr txBox="1"/>
          <p:nvPr/>
        </p:nvSpPr>
        <p:spPr>
          <a:xfrm>
            <a:off x="1621934" y="4604492"/>
            <a:ext cx="3810000" cy="1839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527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proc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nodal processing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3362" lvl="0" marL="3492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bit errors</a:t>
            </a:r>
            <a:endParaRPr/>
          </a:p>
          <a:p>
            <a:pPr indent="-233362" lvl="0" marL="3492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determine output link</a:t>
            </a:r>
            <a:endParaRPr/>
          </a:p>
          <a:p>
            <a:pPr indent="-233362" lvl="0" marL="3492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typically &lt; microsecs</a:t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6212541" y="4536106"/>
            <a:ext cx="5054724" cy="139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4488" lvl="0" marL="3444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queueing delay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waiting at output link for transmission 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depends on congestion level of router</a:t>
            </a:r>
            <a:endParaRPr/>
          </a:p>
        </p:txBody>
      </p:sp>
      <p:cxnSp>
        <p:nvCxnSpPr>
          <p:cNvPr id="110" name="Google Shape;110;p8"/>
          <p:cNvCxnSpPr/>
          <p:nvPr/>
        </p:nvCxnSpPr>
        <p:spPr>
          <a:xfrm>
            <a:off x="2621011" y="1783635"/>
            <a:ext cx="741403" cy="35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8"/>
          <p:cNvSpPr/>
          <p:nvPr/>
        </p:nvSpPr>
        <p:spPr>
          <a:xfrm>
            <a:off x="5464378" y="2002710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4211773" y="2074148"/>
            <a:ext cx="147645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373707" y="2074148"/>
            <a:ext cx="147645" cy="200025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8"/>
          <p:cNvCxnSpPr/>
          <p:nvPr/>
        </p:nvCxnSpPr>
        <p:spPr>
          <a:xfrm>
            <a:off x="7042061" y="1833751"/>
            <a:ext cx="36673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8"/>
          <p:cNvSpPr/>
          <p:nvPr/>
        </p:nvSpPr>
        <p:spPr>
          <a:xfrm>
            <a:off x="4502301" y="20122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 txBox="1"/>
          <p:nvPr/>
        </p:nvSpPr>
        <p:spPr>
          <a:xfrm>
            <a:off x="5370720" y="1587878"/>
            <a:ext cx="1700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propagation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8"/>
          <p:cNvCxnSpPr/>
          <p:nvPr/>
        </p:nvCxnSpPr>
        <p:spPr>
          <a:xfrm rot="10800000">
            <a:off x="5073803" y="1831109"/>
            <a:ext cx="31910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" name="Google Shape;118;p8"/>
          <p:cNvSpPr txBox="1"/>
          <p:nvPr/>
        </p:nvSpPr>
        <p:spPr>
          <a:xfrm>
            <a:off x="3016098" y="2729785"/>
            <a:ext cx="151182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/>
          </a:p>
        </p:txBody>
      </p:sp>
      <p:cxnSp>
        <p:nvCxnSpPr>
          <p:cNvPr id="119" name="Google Shape;119;p8"/>
          <p:cNvCxnSpPr/>
          <p:nvPr/>
        </p:nvCxnSpPr>
        <p:spPr>
          <a:xfrm rot="10800000">
            <a:off x="3363541" y="2729991"/>
            <a:ext cx="8334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0" name="Google Shape;120;p8"/>
          <p:cNvCxnSpPr/>
          <p:nvPr/>
        </p:nvCxnSpPr>
        <p:spPr>
          <a:xfrm rot="10800000">
            <a:off x="4187959" y="2536110"/>
            <a:ext cx="3857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1" name="Google Shape;121;p8"/>
          <p:cNvSpPr txBox="1"/>
          <p:nvPr/>
        </p:nvSpPr>
        <p:spPr>
          <a:xfrm>
            <a:off x="4595969" y="2957464"/>
            <a:ext cx="13548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queueing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8"/>
          <p:cNvCxnSpPr/>
          <p:nvPr/>
        </p:nvCxnSpPr>
        <p:spPr>
          <a:xfrm rot="10800000">
            <a:off x="4349892" y="2536110"/>
            <a:ext cx="595346" cy="552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8"/>
          <p:cNvSpPr/>
          <p:nvPr/>
        </p:nvSpPr>
        <p:spPr>
          <a:xfrm>
            <a:off x="1743075" y="3585728"/>
            <a:ext cx="6175328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8"/>
          <p:cNvCxnSpPr/>
          <p:nvPr/>
        </p:nvCxnSpPr>
        <p:spPr>
          <a:xfrm flipH="1" rot="10800000">
            <a:off x="2619131" y="2323384"/>
            <a:ext cx="735346" cy="54993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8"/>
          <p:cNvSpPr/>
          <p:nvPr/>
        </p:nvSpPr>
        <p:spPr>
          <a:xfrm>
            <a:off x="3159202" y="19741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8"/>
          <p:cNvCxnSpPr/>
          <p:nvPr/>
        </p:nvCxnSpPr>
        <p:spPr>
          <a:xfrm>
            <a:off x="3109988" y="1910635"/>
            <a:ext cx="2111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8"/>
          <p:cNvSpPr txBox="1"/>
          <p:nvPr/>
        </p:nvSpPr>
        <p:spPr>
          <a:xfrm>
            <a:off x="1816815" y="1467723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28" name="Google Shape;128;p8"/>
          <p:cNvSpPr txBox="1"/>
          <p:nvPr/>
        </p:nvSpPr>
        <p:spPr>
          <a:xfrm>
            <a:off x="1845558" y="2420223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129" name="Google Shape;129;p8"/>
          <p:cNvGrpSpPr/>
          <p:nvPr/>
        </p:nvGrpSpPr>
        <p:grpSpPr>
          <a:xfrm>
            <a:off x="1923392" y="1467723"/>
            <a:ext cx="779505" cy="679450"/>
            <a:chOff x="-44" y="1473"/>
            <a:chExt cx="981" cy="1105"/>
          </a:xfrm>
        </p:grpSpPr>
        <p:pic>
          <p:nvPicPr>
            <p:cNvPr descr="desktop_computer_stylized_medium" id="130" name="Google Shape;130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8"/>
          <p:cNvGrpSpPr/>
          <p:nvPr/>
        </p:nvGrpSpPr>
        <p:grpSpPr>
          <a:xfrm>
            <a:off x="1914200" y="2474691"/>
            <a:ext cx="779506" cy="679450"/>
            <a:chOff x="-44" y="1473"/>
            <a:chExt cx="981" cy="1105"/>
          </a:xfrm>
        </p:grpSpPr>
        <p:pic>
          <p:nvPicPr>
            <p:cNvPr descr="desktop_computer_stylized_medium" id="133" name="Google Shape;133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8"/>
          <p:cNvSpPr txBox="1"/>
          <p:nvPr/>
        </p:nvSpPr>
        <p:spPr>
          <a:xfrm>
            <a:off x="2833286" y="1145961"/>
            <a:ext cx="17685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transmission</a:t>
            </a:r>
            <a:endParaRPr/>
          </a:p>
        </p:txBody>
      </p:sp>
      <p:cxnSp>
        <p:nvCxnSpPr>
          <p:cNvPr id="136" name="Google Shape;136;p8"/>
          <p:cNvCxnSpPr/>
          <p:nvPr/>
        </p:nvCxnSpPr>
        <p:spPr>
          <a:xfrm>
            <a:off x="4038725" y="1443910"/>
            <a:ext cx="528667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8"/>
          <p:cNvSpPr/>
          <p:nvPr/>
        </p:nvSpPr>
        <p:spPr>
          <a:xfrm>
            <a:off x="2722441" y="2630267"/>
            <a:ext cx="139773" cy="185197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8"/>
          <p:cNvCxnSpPr/>
          <p:nvPr/>
        </p:nvCxnSpPr>
        <p:spPr>
          <a:xfrm flipH="1" rot="10800000">
            <a:off x="2897771" y="2599885"/>
            <a:ext cx="219680" cy="1619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8"/>
          <p:cNvCxnSpPr/>
          <p:nvPr/>
        </p:nvCxnSpPr>
        <p:spPr>
          <a:xfrm>
            <a:off x="4880582" y="2238559"/>
            <a:ext cx="3388992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40" name="Google Shape;140;p8"/>
          <p:cNvGrpSpPr/>
          <p:nvPr/>
        </p:nvGrpSpPr>
        <p:grpSpPr>
          <a:xfrm>
            <a:off x="7991017" y="1778258"/>
            <a:ext cx="1511352" cy="863670"/>
            <a:chOff x="7493876" y="2774731"/>
            <a:chExt cx="1481958" cy="894622"/>
          </a:xfrm>
        </p:grpSpPr>
        <p:sp>
          <p:nvSpPr>
            <p:cNvPr id="141" name="Google Shape;141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2" name="Google Shape;142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3" name="Google Shape;143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4" name="Google Shape;144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9"/>
          <p:cNvGrpSpPr/>
          <p:nvPr/>
        </p:nvGrpSpPr>
        <p:grpSpPr>
          <a:xfrm>
            <a:off x="3364430" y="1767623"/>
            <a:ext cx="1511352" cy="863670"/>
            <a:chOff x="7493876" y="2774731"/>
            <a:chExt cx="1481958" cy="894622"/>
          </a:xfrm>
        </p:grpSpPr>
        <p:sp>
          <p:nvSpPr>
            <p:cNvPr id="154" name="Google Shape;154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1" name="Google Shape;161;p9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Packet delay: four sources</a:t>
            </a:r>
            <a:endParaRPr sz="4400"/>
          </a:p>
        </p:txBody>
      </p:sp>
      <p:cxnSp>
        <p:nvCxnSpPr>
          <p:cNvPr id="162" name="Google Shape;162;p9"/>
          <p:cNvCxnSpPr/>
          <p:nvPr/>
        </p:nvCxnSpPr>
        <p:spPr>
          <a:xfrm>
            <a:off x="2621011" y="1783635"/>
            <a:ext cx="741403" cy="35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9"/>
          <p:cNvSpPr/>
          <p:nvPr/>
        </p:nvSpPr>
        <p:spPr>
          <a:xfrm>
            <a:off x="5464378" y="2002710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211773" y="2074148"/>
            <a:ext cx="147645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4373707" y="2074148"/>
            <a:ext cx="147645" cy="200025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9"/>
          <p:cNvCxnSpPr/>
          <p:nvPr/>
        </p:nvCxnSpPr>
        <p:spPr>
          <a:xfrm>
            <a:off x="7042061" y="1833751"/>
            <a:ext cx="36673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" name="Google Shape;167;p9"/>
          <p:cNvSpPr/>
          <p:nvPr/>
        </p:nvSpPr>
        <p:spPr>
          <a:xfrm>
            <a:off x="4502301" y="20122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5370720" y="1587878"/>
            <a:ext cx="1700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propagation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9"/>
          <p:cNvCxnSpPr/>
          <p:nvPr/>
        </p:nvCxnSpPr>
        <p:spPr>
          <a:xfrm rot="10800000">
            <a:off x="5073803" y="1831109"/>
            <a:ext cx="31910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9"/>
          <p:cNvSpPr txBox="1"/>
          <p:nvPr/>
        </p:nvSpPr>
        <p:spPr>
          <a:xfrm>
            <a:off x="3016098" y="2729785"/>
            <a:ext cx="151182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/>
          </a:p>
        </p:txBody>
      </p:sp>
      <p:cxnSp>
        <p:nvCxnSpPr>
          <p:cNvPr id="171" name="Google Shape;171;p9"/>
          <p:cNvCxnSpPr/>
          <p:nvPr/>
        </p:nvCxnSpPr>
        <p:spPr>
          <a:xfrm rot="10800000">
            <a:off x="3363541" y="2729991"/>
            <a:ext cx="8334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2" name="Google Shape;172;p9"/>
          <p:cNvCxnSpPr/>
          <p:nvPr/>
        </p:nvCxnSpPr>
        <p:spPr>
          <a:xfrm rot="10800000">
            <a:off x="4187959" y="2536110"/>
            <a:ext cx="3857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3" name="Google Shape;173;p9"/>
          <p:cNvSpPr txBox="1"/>
          <p:nvPr/>
        </p:nvSpPr>
        <p:spPr>
          <a:xfrm>
            <a:off x="4595969" y="2957464"/>
            <a:ext cx="13548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queueing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9"/>
          <p:cNvCxnSpPr/>
          <p:nvPr/>
        </p:nvCxnSpPr>
        <p:spPr>
          <a:xfrm rot="10800000">
            <a:off x="4349892" y="2536110"/>
            <a:ext cx="595346" cy="552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9"/>
          <p:cNvSpPr/>
          <p:nvPr/>
        </p:nvSpPr>
        <p:spPr>
          <a:xfrm>
            <a:off x="1743075" y="3585728"/>
            <a:ext cx="6175328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9"/>
          <p:cNvCxnSpPr/>
          <p:nvPr/>
        </p:nvCxnSpPr>
        <p:spPr>
          <a:xfrm flipH="1" rot="10800000">
            <a:off x="2619131" y="2323384"/>
            <a:ext cx="735346" cy="54993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9"/>
          <p:cNvSpPr/>
          <p:nvPr/>
        </p:nvSpPr>
        <p:spPr>
          <a:xfrm>
            <a:off x="3159202" y="19741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9"/>
          <p:cNvCxnSpPr/>
          <p:nvPr/>
        </p:nvCxnSpPr>
        <p:spPr>
          <a:xfrm>
            <a:off x="3109988" y="1910635"/>
            <a:ext cx="2111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9"/>
          <p:cNvSpPr txBox="1"/>
          <p:nvPr/>
        </p:nvSpPr>
        <p:spPr>
          <a:xfrm>
            <a:off x="1816815" y="1467723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80" name="Google Shape;180;p9"/>
          <p:cNvSpPr txBox="1"/>
          <p:nvPr/>
        </p:nvSpPr>
        <p:spPr>
          <a:xfrm>
            <a:off x="1845558" y="2420223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181" name="Google Shape;181;p9"/>
          <p:cNvGrpSpPr/>
          <p:nvPr/>
        </p:nvGrpSpPr>
        <p:grpSpPr>
          <a:xfrm>
            <a:off x="1923392" y="1467723"/>
            <a:ext cx="779505" cy="679450"/>
            <a:chOff x="-44" y="1473"/>
            <a:chExt cx="981" cy="1105"/>
          </a:xfrm>
        </p:grpSpPr>
        <p:pic>
          <p:nvPicPr>
            <p:cNvPr descr="desktop_computer_stylized_medium" id="182" name="Google Shape;182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9"/>
          <p:cNvGrpSpPr/>
          <p:nvPr/>
        </p:nvGrpSpPr>
        <p:grpSpPr>
          <a:xfrm>
            <a:off x="1914200" y="2474691"/>
            <a:ext cx="779506" cy="679450"/>
            <a:chOff x="-44" y="1473"/>
            <a:chExt cx="981" cy="1105"/>
          </a:xfrm>
        </p:grpSpPr>
        <p:pic>
          <p:nvPicPr>
            <p:cNvPr descr="desktop_computer_stylized_medium" id="185" name="Google Shape;185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9"/>
          <p:cNvSpPr txBox="1"/>
          <p:nvPr/>
        </p:nvSpPr>
        <p:spPr>
          <a:xfrm>
            <a:off x="2833286" y="1145961"/>
            <a:ext cx="17685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transmission</a:t>
            </a:r>
            <a:endParaRPr/>
          </a:p>
        </p:txBody>
      </p:sp>
      <p:cxnSp>
        <p:nvCxnSpPr>
          <p:cNvPr id="188" name="Google Shape;188;p9"/>
          <p:cNvCxnSpPr/>
          <p:nvPr/>
        </p:nvCxnSpPr>
        <p:spPr>
          <a:xfrm>
            <a:off x="4038725" y="1443910"/>
            <a:ext cx="528667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9"/>
          <p:cNvSpPr/>
          <p:nvPr/>
        </p:nvSpPr>
        <p:spPr>
          <a:xfrm>
            <a:off x="2722441" y="2630267"/>
            <a:ext cx="139773" cy="185197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9"/>
          <p:cNvCxnSpPr/>
          <p:nvPr/>
        </p:nvCxnSpPr>
        <p:spPr>
          <a:xfrm flipH="1" rot="10800000">
            <a:off x="2897771" y="2599885"/>
            <a:ext cx="219680" cy="1619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9"/>
          <p:cNvCxnSpPr/>
          <p:nvPr/>
        </p:nvCxnSpPr>
        <p:spPr>
          <a:xfrm>
            <a:off x="4880582" y="2238559"/>
            <a:ext cx="3388992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92" name="Google Shape;192;p9"/>
          <p:cNvGrpSpPr/>
          <p:nvPr/>
        </p:nvGrpSpPr>
        <p:grpSpPr>
          <a:xfrm>
            <a:off x="7991017" y="1778258"/>
            <a:ext cx="1511352" cy="863670"/>
            <a:chOff x="7493876" y="2774731"/>
            <a:chExt cx="1481958" cy="894622"/>
          </a:xfrm>
        </p:grpSpPr>
        <p:sp>
          <p:nvSpPr>
            <p:cNvPr id="193" name="Google Shape;193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95" name="Google Shape;195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6" name="Google Shape;196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0" name="Google Shape;200;p9"/>
          <p:cNvSpPr/>
          <p:nvPr/>
        </p:nvSpPr>
        <p:spPr>
          <a:xfrm>
            <a:off x="1231746" y="4297060"/>
            <a:ext cx="4380277" cy="2078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transmission delay: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packet length (bits) 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link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transmission rate (bps)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L/R</a:t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6527008" y="4304008"/>
            <a:ext cx="5147743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propagation delay:</a:t>
            </a:r>
            <a:endParaRPr b="0" i="0" sz="1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length of physical link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propagation speed (~2x10</a:t>
            </a:r>
            <a:r>
              <a:rPr b="0" baseline="30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m/sec)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grpSp>
        <p:nvGrpSpPr>
          <p:cNvPr id="202" name="Google Shape;202;p9"/>
          <p:cNvGrpSpPr/>
          <p:nvPr/>
        </p:nvGrpSpPr>
        <p:grpSpPr>
          <a:xfrm>
            <a:off x="1211117" y="5494308"/>
            <a:ext cx="7076415" cy="1127327"/>
            <a:chOff x="1211117" y="5568048"/>
            <a:chExt cx="7076415" cy="1127327"/>
          </a:xfrm>
        </p:grpSpPr>
        <p:sp>
          <p:nvSpPr>
            <p:cNvPr id="203" name="Google Shape;203;p9"/>
            <p:cNvSpPr txBox="1"/>
            <p:nvPr/>
          </p:nvSpPr>
          <p:spPr>
            <a:xfrm>
              <a:off x="3836662" y="5864378"/>
              <a:ext cx="210522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trans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</a:t>
              </a: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prop</a:t>
              </a:r>
              <a:endParaRPr b="0" baseline="-25000" i="0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very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different</a:t>
              </a: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1211117" y="5568048"/>
              <a:ext cx="1869375" cy="500634"/>
            </a:xfrm>
            <a:prstGeom prst="ellipse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6418157" y="5570209"/>
              <a:ext cx="1869375" cy="500634"/>
            </a:xfrm>
            <a:prstGeom prst="ellipse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6" name="Google Shape;206;p9"/>
            <p:cNvCxnSpPr>
              <a:stCxn id="205" idx="2"/>
            </p:cNvCxnSpPr>
            <p:nvPr/>
          </p:nvCxnSpPr>
          <p:spPr>
            <a:xfrm flipH="1">
              <a:off x="5393057" y="5820526"/>
              <a:ext cx="1025100" cy="24810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" name="Google Shape;207;p9"/>
            <p:cNvCxnSpPr/>
            <p:nvPr/>
          </p:nvCxnSpPr>
          <p:spPr>
            <a:xfrm>
              <a:off x="3097924" y="5820526"/>
              <a:ext cx="940801" cy="248156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Caravan analogy</a:t>
            </a:r>
            <a:endParaRPr sz="4400"/>
          </a:p>
        </p:txBody>
      </p:sp>
      <p:sp>
        <p:nvSpPr>
          <p:cNvPr id="214" name="Google Shape;214;p10"/>
          <p:cNvSpPr txBox="1"/>
          <p:nvPr/>
        </p:nvSpPr>
        <p:spPr>
          <a:xfrm>
            <a:off x="929148" y="2992271"/>
            <a:ext cx="537717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 ~ bit; caravan ~ packet; toll service ~ link transmission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toll booth takes 12 sec to service car (bit transmission time)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“propagate” at  100 km/hr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How long until caravan is lined up before 2nd toll booth?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6776218" y="3006559"/>
            <a:ext cx="4875008" cy="33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to “push” entire caravan through toll booth onto highway = 12*10 = 120 sec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for last car to propagate from 1st to 2nd toll both: 100km/(100km/hr) = 1 hr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62 minutes</a:t>
            </a:r>
            <a:endParaRPr/>
          </a:p>
        </p:txBody>
      </p:sp>
      <p:sp>
        <p:nvSpPr>
          <p:cNvPr id="216" name="Google Shape;216;p10"/>
          <p:cNvSpPr txBox="1"/>
          <p:nvPr/>
        </p:nvSpPr>
        <p:spPr>
          <a:xfrm>
            <a:off x="6396831" y="2031427"/>
            <a:ext cx="21272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toll booth</a:t>
            </a:r>
            <a:endParaRPr/>
          </a:p>
        </p:txBody>
      </p:sp>
      <p:sp>
        <p:nvSpPr>
          <p:cNvPr id="217" name="Google Shape;217;p10"/>
          <p:cNvSpPr txBox="1"/>
          <p:nvPr/>
        </p:nvSpPr>
        <p:spPr>
          <a:xfrm>
            <a:off x="3405981" y="2031428"/>
            <a:ext cx="2343150" cy="708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toll  booth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(aka link)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1647031" y="2028252"/>
            <a:ext cx="211655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ten-car caravan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(aka 10-bit packet)</a:t>
            </a:r>
            <a:endParaRPr/>
          </a:p>
        </p:txBody>
      </p:sp>
      <p:cxnSp>
        <p:nvCxnSpPr>
          <p:cNvPr id="219" name="Google Shape;219;p10"/>
          <p:cNvCxnSpPr/>
          <p:nvPr/>
        </p:nvCxnSpPr>
        <p:spPr>
          <a:xfrm rot="10800000">
            <a:off x="4383881" y="1679002"/>
            <a:ext cx="6588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10"/>
          <p:cNvSpPr txBox="1"/>
          <p:nvPr/>
        </p:nvSpPr>
        <p:spPr>
          <a:xfrm>
            <a:off x="5042693" y="14789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221" name="Google Shape;221;p10"/>
          <p:cNvCxnSpPr/>
          <p:nvPr/>
        </p:nvCxnSpPr>
        <p:spPr>
          <a:xfrm rot="10800000">
            <a:off x="7376318" y="1677414"/>
            <a:ext cx="6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10"/>
          <p:cNvSpPr txBox="1"/>
          <p:nvPr/>
        </p:nvSpPr>
        <p:spPr>
          <a:xfrm>
            <a:off x="7998618" y="14789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223" name="Google Shape;223;p10"/>
          <p:cNvCxnSpPr/>
          <p:nvPr/>
        </p:nvCxnSpPr>
        <p:spPr>
          <a:xfrm>
            <a:off x="6122193" y="16774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p10"/>
          <p:cNvSpPr/>
          <p:nvPr/>
        </p:nvSpPr>
        <p:spPr>
          <a:xfrm rot="5400000">
            <a:off x="2614644" y="763777"/>
            <a:ext cx="107886" cy="252571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5" name="Google Shape;225;p10"/>
          <p:cNvGrpSpPr/>
          <p:nvPr/>
        </p:nvGrpSpPr>
        <p:grpSpPr>
          <a:xfrm>
            <a:off x="6396831" y="1369439"/>
            <a:ext cx="2127250" cy="1031875"/>
            <a:chOff x="1190" y="938"/>
            <a:chExt cx="1340" cy="650"/>
          </a:xfrm>
        </p:grpSpPr>
        <p:sp>
          <p:nvSpPr>
            <p:cNvPr id="226" name="Google Shape;226;p10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0"/>
            <p:cNvSpPr txBox="1"/>
            <p:nvPr/>
          </p:nvSpPr>
          <p:spPr>
            <a:xfrm>
              <a:off x="1190" y="1355"/>
              <a:ext cx="1340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booth</a:t>
              </a:r>
              <a:endParaRPr/>
            </a:p>
          </p:txBody>
        </p:sp>
      </p:grpSp>
      <p:grpSp>
        <p:nvGrpSpPr>
          <p:cNvPr id="228" name="Google Shape;228;p10"/>
          <p:cNvGrpSpPr/>
          <p:nvPr/>
        </p:nvGrpSpPr>
        <p:grpSpPr>
          <a:xfrm>
            <a:off x="3405981" y="1369440"/>
            <a:ext cx="2343150" cy="1370014"/>
            <a:chOff x="1103" y="938"/>
            <a:chExt cx="1476" cy="863"/>
          </a:xfrm>
        </p:grpSpPr>
        <p:sp>
          <p:nvSpPr>
            <p:cNvPr id="229" name="Google Shape;229;p10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0"/>
            <p:cNvSpPr txBox="1"/>
            <p:nvPr/>
          </p:nvSpPr>
          <p:spPr>
            <a:xfrm>
              <a:off x="1103" y="1355"/>
              <a:ext cx="147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 booth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(aka link)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1" name="Google Shape;231;p10"/>
          <p:cNvCxnSpPr/>
          <p:nvPr/>
        </p:nvCxnSpPr>
        <p:spPr>
          <a:xfrm rot="10800000">
            <a:off x="4383881" y="1679002"/>
            <a:ext cx="6588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10"/>
          <p:cNvCxnSpPr/>
          <p:nvPr/>
        </p:nvCxnSpPr>
        <p:spPr>
          <a:xfrm rot="10800000">
            <a:off x="7376318" y="1677414"/>
            <a:ext cx="6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" name="Google Shape;233;p10"/>
          <p:cNvSpPr/>
          <p:nvPr/>
        </p:nvSpPr>
        <p:spPr>
          <a:xfrm>
            <a:off x="2128043" y="1679002"/>
            <a:ext cx="74613" cy="74613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2280443" y="1679002"/>
            <a:ext cx="74613" cy="74613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2504281" y="1679002"/>
            <a:ext cx="74613" cy="74613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" name="Google Shape;236;p10"/>
          <p:cNvGrpSpPr/>
          <p:nvPr/>
        </p:nvGrpSpPr>
        <p:grpSpPr>
          <a:xfrm>
            <a:off x="3931443" y="1280539"/>
            <a:ext cx="458788" cy="777875"/>
            <a:chOff x="2365" y="1352"/>
            <a:chExt cx="1022" cy="1616"/>
          </a:xfrm>
        </p:grpSpPr>
        <p:pic>
          <p:nvPicPr>
            <p:cNvPr id="237" name="Google Shape;237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10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10"/>
          <p:cNvGrpSpPr/>
          <p:nvPr/>
        </p:nvGrpSpPr>
        <p:grpSpPr>
          <a:xfrm>
            <a:off x="6854031" y="1309114"/>
            <a:ext cx="458788" cy="777875"/>
            <a:chOff x="2365" y="1352"/>
            <a:chExt cx="1022" cy="1616"/>
          </a:xfrm>
        </p:grpSpPr>
        <p:pic>
          <p:nvPicPr>
            <p:cNvPr id="240" name="Google Shape;240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10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42" name="Google Shape;242;p10"/>
          <p:cNvCxnSpPr/>
          <p:nvPr/>
        </p:nvCxnSpPr>
        <p:spPr>
          <a:xfrm>
            <a:off x="6122193" y="16774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3" name="Google Shape;243;p10"/>
          <p:cNvSpPr/>
          <p:nvPr/>
        </p:nvSpPr>
        <p:spPr>
          <a:xfrm rot="5400000">
            <a:off x="2614644" y="763777"/>
            <a:ext cx="107886" cy="252571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 Car Symbol - Free image on Pixabay" id="244" name="Google Shape;2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543" y="1391341"/>
            <a:ext cx="875228" cy="592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 Car Symbol - Free image on Pixabay" id="245" name="Google Shape;24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1164" y="1388802"/>
            <a:ext cx="875228" cy="592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 Car Symbol - Free image on Pixabay" id="246" name="Google Shape;24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6100" y="1389538"/>
            <a:ext cx="875228" cy="5926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7" name="Google Shape;247;p10"/>
          <p:cNvCxnSpPr/>
          <p:nvPr/>
        </p:nvCxnSpPr>
        <p:spPr>
          <a:xfrm>
            <a:off x="8928893" y="16647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48" name="Google Shape;248;p10"/>
          <p:cNvGrpSpPr/>
          <p:nvPr/>
        </p:nvGrpSpPr>
        <p:grpSpPr>
          <a:xfrm>
            <a:off x="9203531" y="1356739"/>
            <a:ext cx="2127250" cy="1031875"/>
            <a:chOff x="1190" y="938"/>
            <a:chExt cx="1340" cy="650"/>
          </a:xfrm>
        </p:grpSpPr>
        <p:sp>
          <p:nvSpPr>
            <p:cNvPr id="249" name="Google Shape;249;p10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0"/>
            <p:cNvSpPr txBox="1"/>
            <p:nvPr/>
          </p:nvSpPr>
          <p:spPr>
            <a:xfrm>
              <a:off x="1190" y="1355"/>
              <a:ext cx="1340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booth</a:t>
              </a:r>
              <a:endParaRPr/>
            </a:p>
          </p:txBody>
        </p:sp>
      </p:grpSp>
      <p:grpSp>
        <p:nvGrpSpPr>
          <p:cNvPr id="251" name="Google Shape;251;p10"/>
          <p:cNvGrpSpPr/>
          <p:nvPr/>
        </p:nvGrpSpPr>
        <p:grpSpPr>
          <a:xfrm>
            <a:off x="9660731" y="1296414"/>
            <a:ext cx="458788" cy="777875"/>
            <a:chOff x="2365" y="1352"/>
            <a:chExt cx="1022" cy="1616"/>
          </a:xfrm>
        </p:grpSpPr>
        <p:pic>
          <p:nvPicPr>
            <p:cNvPr id="252" name="Google Shape;252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10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54" name="Google Shape;254;p10"/>
          <p:cNvCxnSpPr/>
          <p:nvPr/>
        </p:nvCxnSpPr>
        <p:spPr>
          <a:xfrm>
            <a:off x="8928893" y="16647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Caravan analogy</a:t>
            </a:r>
            <a:endParaRPr sz="4400"/>
          </a:p>
        </p:txBody>
      </p:sp>
      <p:grpSp>
        <p:nvGrpSpPr>
          <p:cNvPr id="261" name="Google Shape;261;p11"/>
          <p:cNvGrpSpPr/>
          <p:nvPr/>
        </p:nvGrpSpPr>
        <p:grpSpPr>
          <a:xfrm>
            <a:off x="7158831" y="1420239"/>
            <a:ext cx="2127250" cy="1031875"/>
            <a:chOff x="1190" y="938"/>
            <a:chExt cx="1340" cy="650"/>
          </a:xfrm>
        </p:grpSpPr>
        <p:sp>
          <p:nvSpPr>
            <p:cNvPr id="262" name="Google Shape;262;p11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1"/>
            <p:cNvSpPr txBox="1"/>
            <p:nvPr/>
          </p:nvSpPr>
          <p:spPr>
            <a:xfrm>
              <a:off x="1190" y="1355"/>
              <a:ext cx="1340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booth</a:t>
              </a:r>
              <a:endParaRPr/>
            </a:p>
          </p:txBody>
        </p:sp>
      </p:grpSp>
      <p:grpSp>
        <p:nvGrpSpPr>
          <p:cNvPr id="264" name="Google Shape;264;p11"/>
          <p:cNvGrpSpPr/>
          <p:nvPr/>
        </p:nvGrpSpPr>
        <p:grpSpPr>
          <a:xfrm>
            <a:off x="4167981" y="1420240"/>
            <a:ext cx="2343150" cy="1370014"/>
            <a:chOff x="1103" y="938"/>
            <a:chExt cx="1476" cy="863"/>
          </a:xfrm>
        </p:grpSpPr>
        <p:sp>
          <p:nvSpPr>
            <p:cNvPr id="265" name="Google Shape;265;p11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1"/>
            <p:cNvSpPr txBox="1"/>
            <p:nvPr/>
          </p:nvSpPr>
          <p:spPr>
            <a:xfrm>
              <a:off x="1103" y="1355"/>
              <a:ext cx="147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 booth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(aka router)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" name="Google Shape;267;p11"/>
          <p:cNvSpPr txBox="1"/>
          <p:nvPr/>
        </p:nvSpPr>
        <p:spPr>
          <a:xfrm>
            <a:off x="2409031" y="2079052"/>
            <a:ext cx="211655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ten-car caravan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(aka 10-bit packet)</a:t>
            </a:r>
            <a:endParaRPr/>
          </a:p>
        </p:txBody>
      </p:sp>
      <p:cxnSp>
        <p:nvCxnSpPr>
          <p:cNvPr id="268" name="Google Shape;268;p11"/>
          <p:cNvCxnSpPr/>
          <p:nvPr/>
        </p:nvCxnSpPr>
        <p:spPr>
          <a:xfrm rot="10800000">
            <a:off x="5145881" y="1729802"/>
            <a:ext cx="6588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" name="Google Shape;269;p11"/>
          <p:cNvSpPr txBox="1"/>
          <p:nvPr/>
        </p:nvSpPr>
        <p:spPr>
          <a:xfrm>
            <a:off x="5804693" y="15297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270" name="Google Shape;270;p11"/>
          <p:cNvCxnSpPr/>
          <p:nvPr/>
        </p:nvCxnSpPr>
        <p:spPr>
          <a:xfrm rot="10800000">
            <a:off x="8138318" y="1728214"/>
            <a:ext cx="6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1" name="Google Shape;271;p11"/>
          <p:cNvSpPr txBox="1"/>
          <p:nvPr/>
        </p:nvSpPr>
        <p:spPr>
          <a:xfrm>
            <a:off x="8760618" y="15297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272" name="Google Shape;272;p11"/>
          <p:cNvCxnSpPr/>
          <p:nvPr/>
        </p:nvCxnSpPr>
        <p:spPr>
          <a:xfrm>
            <a:off x="9670045" y="1728214"/>
            <a:ext cx="46955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11"/>
          <p:cNvSpPr/>
          <p:nvPr/>
        </p:nvSpPr>
        <p:spPr>
          <a:xfrm>
            <a:off x="2890043" y="1729802"/>
            <a:ext cx="74613" cy="746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3042443" y="1729802"/>
            <a:ext cx="74613" cy="746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3266281" y="1729802"/>
            <a:ext cx="74613" cy="746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Cj03985170000[1]" id="276" name="Google Shape;2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374231" y="1640902"/>
            <a:ext cx="7493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j03985170000[1]" id="277" name="Google Shape;2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107406" y="1636139"/>
            <a:ext cx="749300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8" name="Google Shape;278;p11"/>
          <p:cNvGrpSpPr/>
          <p:nvPr/>
        </p:nvGrpSpPr>
        <p:grpSpPr>
          <a:xfrm>
            <a:off x="4693443" y="1331339"/>
            <a:ext cx="458788" cy="777875"/>
            <a:chOff x="2365" y="1352"/>
            <a:chExt cx="1022" cy="1616"/>
          </a:xfrm>
        </p:grpSpPr>
        <p:pic>
          <p:nvPicPr>
            <p:cNvPr id="279" name="Google Shape;279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11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MCj03985170000[1]" id="281" name="Google Shape;2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4137818" y="1661539"/>
            <a:ext cx="749300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2" name="Google Shape;282;p11"/>
          <p:cNvGrpSpPr/>
          <p:nvPr/>
        </p:nvGrpSpPr>
        <p:grpSpPr>
          <a:xfrm>
            <a:off x="7616031" y="1359914"/>
            <a:ext cx="458788" cy="777875"/>
            <a:chOff x="2365" y="1352"/>
            <a:chExt cx="1022" cy="1616"/>
          </a:xfrm>
        </p:grpSpPr>
        <p:pic>
          <p:nvPicPr>
            <p:cNvPr id="283" name="Google Shape;283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11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85" name="Google Shape;285;p11"/>
          <p:cNvCxnSpPr/>
          <p:nvPr/>
        </p:nvCxnSpPr>
        <p:spPr>
          <a:xfrm>
            <a:off x="6884193" y="17282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6" name="Google Shape;286;p11"/>
          <p:cNvSpPr/>
          <p:nvPr/>
        </p:nvSpPr>
        <p:spPr>
          <a:xfrm rot="5400000">
            <a:off x="3376644" y="814577"/>
            <a:ext cx="107886" cy="252571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 txBox="1"/>
          <p:nvPr/>
        </p:nvSpPr>
        <p:spPr>
          <a:xfrm>
            <a:off x="825267" y="3347774"/>
            <a:ext cx="10515600" cy="1655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suppose cars now “propagate” at 1000 km/hr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suppose toll booth now takes one min to service a car</a:t>
            </a:r>
            <a:endParaRPr b="0" i="0" sz="28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Will cars arrive to 2nd booth before all cars serviced at first booth?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 txBox="1"/>
          <p:nvPr/>
        </p:nvSpPr>
        <p:spPr>
          <a:xfrm>
            <a:off x="1127510" y="4881442"/>
            <a:ext cx="10649258" cy="1467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 Yes!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after 7 min, first car arrives at second booth; three cars still at first booth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 q</a:t>
            </a:r>
            <a:r>
              <a:rPr lang="en-US" sz="4400"/>
              <a:t>ueueing delay (revisited)</a:t>
            </a:r>
            <a:endParaRPr sz="4400"/>
          </a:p>
        </p:txBody>
      </p:sp>
      <p:sp>
        <p:nvSpPr>
          <p:cNvPr id="295" name="Google Shape;295;p12"/>
          <p:cNvSpPr txBox="1"/>
          <p:nvPr/>
        </p:nvSpPr>
        <p:spPr>
          <a:xfrm>
            <a:off x="919843" y="1385661"/>
            <a:ext cx="5655128" cy="178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0188" lvl="0" marL="2301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packet arrival rate</a:t>
            </a:r>
            <a:endParaRPr/>
          </a:p>
          <a:p>
            <a:pPr indent="-230188" lvl="0" marL="2301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packet length (bits)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link bandwidth (bit transmission rate)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932543" y="4263423"/>
            <a:ext cx="5975117" cy="193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La/R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~ 0: avg. queueing delay small</a:t>
            </a:r>
            <a:endParaRPr/>
          </a:p>
          <a:p>
            <a:pPr indent="-231775" lvl="0" marL="231775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La/R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-&gt; 1: avg. queueing delay large</a:t>
            </a:r>
            <a:endParaRPr/>
          </a:p>
          <a:p>
            <a:pPr indent="-231775" lvl="0" marL="23177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La/R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 1: more “work” arriving  is more than can be serviced -  average delay infinite!</a:t>
            </a:r>
            <a:endParaRPr/>
          </a:p>
        </p:txBody>
      </p:sp>
      <p:grpSp>
        <p:nvGrpSpPr>
          <p:cNvPr id="297" name="Google Shape;297;p12"/>
          <p:cNvGrpSpPr/>
          <p:nvPr/>
        </p:nvGrpSpPr>
        <p:grpSpPr>
          <a:xfrm>
            <a:off x="8407167" y="4367394"/>
            <a:ext cx="2782888" cy="2261260"/>
            <a:chOff x="8407167" y="4367394"/>
            <a:chExt cx="2782888" cy="2261260"/>
          </a:xfrm>
        </p:grpSpPr>
        <p:pic>
          <p:nvPicPr>
            <p:cNvPr id="298" name="Google Shape;298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43830" y="5047839"/>
              <a:ext cx="1546225" cy="12398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407167" y="4471879"/>
              <a:ext cx="1481138" cy="1117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12"/>
            <p:cNvSpPr txBox="1"/>
            <p:nvPr/>
          </p:nvSpPr>
          <p:spPr>
            <a:xfrm>
              <a:off x="9849087" y="4367394"/>
              <a:ext cx="9541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La/R 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~ 0</a:t>
              </a:r>
              <a:endParaRPr/>
            </a:p>
          </p:txBody>
        </p:sp>
        <p:sp>
          <p:nvSpPr>
            <p:cNvPr id="301" name="Google Shape;301;p12"/>
            <p:cNvSpPr txBox="1"/>
            <p:nvPr/>
          </p:nvSpPr>
          <p:spPr>
            <a:xfrm>
              <a:off x="9643830" y="6259322"/>
              <a:ext cx="102463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La/R -&gt; 1</a:t>
              </a:r>
              <a:endParaRPr/>
            </a:p>
          </p:txBody>
        </p:sp>
      </p:grpSp>
      <p:grpSp>
        <p:nvGrpSpPr>
          <p:cNvPr id="302" name="Google Shape;302;p12"/>
          <p:cNvGrpSpPr/>
          <p:nvPr/>
        </p:nvGrpSpPr>
        <p:grpSpPr>
          <a:xfrm>
            <a:off x="8001634" y="1103085"/>
            <a:ext cx="3246937" cy="2992869"/>
            <a:chOff x="7232377" y="708301"/>
            <a:chExt cx="3769920" cy="3402168"/>
          </a:xfrm>
        </p:grpSpPr>
        <p:sp>
          <p:nvSpPr>
            <p:cNvPr id="303" name="Google Shape;303;p12"/>
            <p:cNvSpPr/>
            <p:nvPr/>
          </p:nvSpPr>
          <p:spPr>
            <a:xfrm>
              <a:off x="7381311" y="3605438"/>
              <a:ext cx="2911022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36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traffic intensity = </a:t>
              </a:r>
              <a:r>
                <a:rPr b="0" i="1" lang="en-US" sz="1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La/R</a:t>
              </a:r>
              <a:endParaRPr/>
            </a:p>
          </p:txBody>
        </p:sp>
        <p:sp>
          <p:nvSpPr>
            <p:cNvPr id="304" name="Google Shape;304;p12"/>
            <p:cNvSpPr/>
            <p:nvPr/>
          </p:nvSpPr>
          <p:spPr>
            <a:xfrm rot="-5400000">
              <a:off x="6114777" y="2075824"/>
              <a:ext cx="2740025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36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average  queueing delay</a:t>
              </a:r>
              <a:endParaRPr/>
            </a:p>
          </p:txBody>
        </p:sp>
        <p:cxnSp>
          <p:nvCxnSpPr>
            <p:cNvPr id="305" name="Google Shape;305;p12"/>
            <p:cNvCxnSpPr/>
            <p:nvPr/>
          </p:nvCxnSpPr>
          <p:spPr>
            <a:xfrm>
              <a:off x="7616120" y="3540100"/>
              <a:ext cx="338617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6" name="Google Shape;306;p12"/>
            <p:cNvCxnSpPr/>
            <p:nvPr/>
          </p:nvCxnSpPr>
          <p:spPr>
            <a:xfrm rot="10800000">
              <a:off x="7601372" y="1041103"/>
              <a:ext cx="0" cy="250593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7" name="Google Shape;307;p12"/>
            <p:cNvSpPr/>
            <p:nvPr/>
          </p:nvSpPr>
          <p:spPr>
            <a:xfrm>
              <a:off x="7616120" y="708301"/>
              <a:ext cx="2743200" cy="2816942"/>
            </a:xfrm>
            <a:custGeom>
              <a:rect b="b" l="l" r="r" t="t"/>
              <a:pathLst>
                <a:path extrusionOk="0" h="2816942" w="2743200">
                  <a:moveTo>
                    <a:pt x="0" y="2816942"/>
                  </a:moveTo>
                  <a:cubicBezTo>
                    <a:pt x="363998" y="2816020"/>
                    <a:pt x="477171" y="2811923"/>
                    <a:pt x="663677" y="2802193"/>
                  </a:cubicBezTo>
                  <a:cubicBezTo>
                    <a:pt x="850183" y="2792463"/>
                    <a:pt x="1661652" y="2767780"/>
                    <a:pt x="1976284" y="2625212"/>
                  </a:cubicBezTo>
                  <a:cubicBezTo>
                    <a:pt x="2290916" y="2482644"/>
                    <a:pt x="2423652" y="2384322"/>
                    <a:pt x="2551471" y="1946787"/>
                  </a:cubicBezTo>
                  <a:cubicBezTo>
                    <a:pt x="2679290" y="1509252"/>
                    <a:pt x="2711245" y="754626"/>
                    <a:pt x="2743200" y="0"/>
                  </a:cubicBez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8" name="Google Shape;308;p12"/>
            <p:cNvCxnSpPr/>
            <p:nvPr/>
          </p:nvCxnSpPr>
          <p:spPr>
            <a:xfrm rot="10800000">
              <a:off x="10442559" y="1034169"/>
              <a:ext cx="0" cy="250593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309" name="Google Shape;309;p12"/>
            <p:cNvSpPr/>
            <p:nvPr/>
          </p:nvSpPr>
          <p:spPr>
            <a:xfrm>
              <a:off x="10214306" y="3605644"/>
              <a:ext cx="509587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36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1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0" name="Google Shape;310;p12"/>
          <p:cNvGrpSpPr/>
          <p:nvPr/>
        </p:nvGrpSpPr>
        <p:grpSpPr>
          <a:xfrm>
            <a:off x="1199878" y="3314700"/>
            <a:ext cx="3457968" cy="523220"/>
            <a:chOff x="1211074" y="3275230"/>
            <a:chExt cx="3457968" cy="523220"/>
          </a:xfrm>
        </p:grpSpPr>
        <p:sp>
          <p:nvSpPr>
            <p:cNvPr id="311" name="Google Shape;311;p12"/>
            <p:cNvSpPr txBox="1"/>
            <p:nvPr/>
          </p:nvSpPr>
          <p:spPr>
            <a:xfrm>
              <a:off x="2188876" y="3327958"/>
              <a:ext cx="248016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service rate of bits</a:t>
              </a:r>
              <a:endParaRPr/>
            </a:p>
          </p:txBody>
        </p:sp>
        <p:sp>
          <p:nvSpPr>
            <p:cNvPr id="312" name="Google Shape;312;p12"/>
            <p:cNvSpPr txBox="1"/>
            <p:nvPr/>
          </p:nvSpPr>
          <p:spPr>
            <a:xfrm>
              <a:off x="1211074" y="3275230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313" name="Google Shape;313;p12"/>
          <p:cNvGrpSpPr/>
          <p:nvPr/>
        </p:nvGrpSpPr>
        <p:grpSpPr>
          <a:xfrm>
            <a:off x="1066278" y="2847705"/>
            <a:ext cx="3490678" cy="523220"/>
            <a:chOff x="1066278" y="2873829"/>
            <a:chExt cx="3490678" cy="523220"/>
          </a:xfrm>
        </p:grpSpPr>
        <p:sp>
          <p:nvSpPr>
            <p:cNvPr id="314" name="Google Shape;314;p12"/>
            <p:cNvSpPr txBox="1"/>
            <p:nvPr/>
          </p:nvSpPr>
          <p:spPr>
            <a:xfrm>
              <a:off x="2169123" y="2910251"/>
              <a:ext cx="23878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arrival rate of bits</a:t>
              </a:r>
              <a:endParaRPr/>
            </a:p>
          </p:txBody>
        </p:sp>
        <p:grpSp>
          <p:nvGrpSpPr>
            <p:cNvPr id="315" name="Google Shape;315;p12"/>
            <p:cNvGrpSpPr/>
            <p:nvPr/>
          </p:nvGrpSpPr>
          <p:grpSpPr>
            <a:xfrm>
              <a:off x="1066278" y="2873829"/>
              <a:ext cx="681588" cy="523220"/>
              <a:chOff x="1066278" y="2873829"/>
              <a:chExt cx="681588" cy="523220"/>
            </a:xfrm>
          </p:grpSpPr>
          <p:sp>
            <p:nvSpPr>
              <p:cNvPr id="316" name="Google Shape;316;p12"/>
              <p:cNvSpPr txBox="1"/>
              <p:nvPr/>
            </p:nvSpPr>
            <p:spPr>
              <a:xfrm>
                <a:off x="1066278" y="2873829"/>
                <a:ext cx="335348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</a:t>
                </a:r>
                <a:endParaRPr/>
              </a:p>
            </p:txBody>
          </p:sp>
          <p:sp>
            <p:nvSpPr>
              <p:cNvPr id="317" name="Google Shape;317;p12"/>
              <p:cNvSpPr txBox="1"/>
              <p:nvPr/>
            </p:nvSpPr>
            <p:spPr>
              <a:xfrm>
                <a:off x="1378854" y="2873829"/>
                <a:ext cx="369012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318" name="Google Shape;318;p12"/>
              <p:cNvSpPr txBox="1"/>
              <p:nvPr/>
            </p:nvSpPr>
            <p:spPr>
              <a:xfrm>
                <a:off x="1278923" y="2909664"/>
                <a:ext cx="2423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/>
              </a:p>
            </p:txBody>
          </p:sp>
        </p:grpSp>
      </p:grpSp>
      <p:grpSp>
        <p:nvGrpSpPr>
          <p:cNvPr id="319" name="Google Shape;319;p12"/>
          <p:cNvGrpSpPr/>
          <p:nvPr/>
        </p:nvGrpSpPr>
        <p:grpSpPr>
          <a:xfrm>
            <a:off x="1204684" y="2981937"/>
            <a:ext cx="3323775" cy="584775"/>
            <a:chOff x="1204684" y="2981937"/>
            <a:chExt cx="3323775" cy="584775"/>
          </a:xfrm>
        </p:grpSpPr>
        <p:cxnSp>
          <p:nvCxnSpPr>
            <p:cNvPr id="320" name="Google Shape;320;p12"/>
            <p:cNvCxnSpPr/>
            <p:nvPr/>
          </p:nvCxnSpPr>
          <p:spPr>
            <a:xfrm>
              <a:off x="2300167" y="3338737"/>
              <a:ext cx="222829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" name="Google Shape;321;p12"/>
            <p:cNvCxnSpPr/>
            <p:nvPr/>
          </p:nvCxnSpPr>
          <p:spPr>
            <a:xfrm>
              <a:off x="1204684" y="3342018"/>
              <a:ext cx="34834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2" name="Google Shape;322;p12"/>
            <p:cNvSpPr txBox="1"/>
            <p:nvPr/>
          </p:nvSpPr>
          <p:spPr>
            <a:xfrm>
              <a:off x="1687802" y="2981937"/>
              <a:ext cx="63862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/>
            </a:p>
          </p:txBody>
        </p:sp>
      </p:grpSp>
      <p:sp>
        <p:nvSpPr>
          <p:cNvPr id="323" name="Google Shape;323;p12"/>
          <p:cNvSpPr txBox="1"/>
          <p:nvPr/>
        </p:nvSpPr>
        <p:spPr>
          <a:xfrm>
            <a:off x="5025350" y="2902857"/>
            <a:ext cx="158261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“traffic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intensity”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9" name="Google Shape;329;p13"/>
          <p:cNvCxnSpPr/>
          <p:nvPr/>
        </p:nvCxnSpPr>
        <p:spPr>
          <a:xfrm>
            <a:off x="2831406" y="5366286"/>
            <a:ext cx="469144" cy="31549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13"/>
          <p:cNvCxnSpPr/>
          <p:nvPr/>
        </p:nvCxnSpPr>
        <p:spPr>
          <a:xfrm flipH="1" rot="10800000">
            <a:off x="3691311" y="5467468"/>
            <a:ext cx="639909" cy="207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1" name="Google Shape;331;p13"/>
          <p:cNvGrpSpPr/>
          <p:nvPr/>
        </p:nvGrpSpPr>
        <p:grpSpPr>
          <a:xfrm>
            <a:off x="3109054" y="5514269"/>
            <a:ext cx="860625" cy="398511"/>
            <a:chOff x="7493876" y="2774731"/>
            <a:chExt cx="1481958" cy="894622"/>
          </a:xfrm>
        </p:grpSpPr>
        <p:sp>
          <p:nvSpPr>
            <p:cNvPr id="332" name="Google Shape;332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33" name="Google Shape;333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34" name="Google Shape;334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35" name="Google Shape;335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39" name="Google Shape;339;p13"/>
          <p:cNvCxnSpPr/>
          <p:nvPr/>
        </p:nvCxnSpPr>
        <p:spPr>
          <a:xfrm>
            <a:off x="4626350" y="5451593"/>
            <a:ext cx="677550" cy="207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13"/>
          <p:cNvCxnSpPr/>
          <p:nvPr/>
        </p:nvCxnSpPr>
        <p:spPr>
          <a:xfrm flipH="1">
            <a:off x="4388223" y="5062655"/>
            <a:ext cx="661222" cy="2730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13"/>
          <p:cNvCxnSpPr/>
          <p:nvPr/>
        </p:nvCxnSpPr>
        <p:spPr>
          <a:xfrm>
            <a:off x="4356474" y="5583355"/>
            <a:ext cx="318847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2" name="Google Shape;342;p13"/>
          <p:cNvGrpSpPr/>
          <p:nvPr/>
        </p:nvGrpSpPr>
        <p:grpSpPr>
          <a:xfrm>
            <a:off x="3957067" y="5203592"/>
            <a:ext cx="860625" cy="398511"/>
            <a:chOff x="7493876" y="2774731"/>
            <a:chExt cx="1481958" cy="894622"/>
          </a:xfrm>
        </p:grpSpPr>
        <p:sp>
          <p:nvSpPr>
            <p:cNvPr id="343" name="Google Shape;343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44" name="Google Shape;344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45" name="Google Shape;345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46" name="Google Shape;346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50" name="Google Shape;350;p13"/>
          <p:cNvCxnSpPr/>
          <p:nvPr/>
        </p:nvCxnSpPr>
        <p:spPr>
          <a:xfrm flipH="1">
            <a:off x="5602660" y="5511918"/>
            <a:ext cx="865759" cy="1444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13"/>
          <p:cNvCxnSpPr/>
          <p:nvPr/>
        </p:nvCxnSpPr>
        <p:spPr>
          <a:xfrm flipH="1">
            <a:off x="4997823" y="5773855"/>
            <a:ext cx="487128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2" name="Google Shape;352;p13"/>
          <p:cNvGrpSpPr/>
          <p:nvPr/>
        </p:nvGrpSpPr>
        <p:grpSpPr>
          <a:xfrm>
            <a:off x="4985387" y="5543879"/>
            <a:ext cx="860625" cy="398511"/>
            <a:chOff x="7493876" y="2774731"/>
            <a:chExt cx="1481958" cy="894622"/>
          </a:xfrm>
        </p:grpSpPr>
        <p:sp>
          <p:nvSpPr>
            <p:cNvPr id="353" name="Google Shape;353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54" name="Google Shape;354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55" name="Google Shape;355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56" name="Google Shape;356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0" name="Google Shape;360;p1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“Real” Internet delays and routes</a:t>
            </a:r>
            <a:endParaRPr sz="4400"/>
          </a:p>
        </p:txBody>
      </p:sp>
      <p:sp>
        <p:nvSpPr>
          <p:cNvPr id="361" name="Google Shape;361;p13"/>
          <p:cNvSpPr txBox="1"/>
          <p:nvPr/>
        </p:nvSpPr>
        <p:spPr>
          <a:xfrm>
            <a:off x="980180" y="1324511"/>
            <a:ext cx="10342830" cy="1885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do “real” Internet delay &amp; loss look like? 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1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traceroute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program: provides delay measurement from source to router along end-end Internet path towards destination.  For all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i:</a:t>
            </a:r>
            <a:endParaRPr/>
          </a:p>
        </p:txBody>
      </p:sp>
      <p:cxnSp>
        <p:nvCxnSpPr>
          <p:cNvPr id="362" name="Google Shape;362;p13"/>
          <p:cNvCxnSpPr/>
          <p:nvPr/>
        </p:nvCxnSpPr>
        <p:spPr>
          <a:xfrm>
            <a:off x="6721850" y="5476993"/>
            <a:ext cx="677550" cy="207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13"/>
          <p:cNvCxnSpPr/>
          <p:nvPr/>
        </p:nvCxnSpPr>
        <p:spPr>
          <a:xfrm flipH="1">
            <a:off x="7660060" y="5423018"/>
            <a:ext cx="777191" cy="27781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13"/>
          <p:cNvCxnSpPr/>
          <p:nvPr/>
        </p:nvCxnSpPr>
        <p:spPr>
          <a:xfrm>
            <a:off x="6280524" y="5170605"/>
            <a:ext cx="318847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13"/>
          <p:cNvCxnSpPr/>
          <p:nvPr/>
        </p:nvCxnSpPr>
        <p:spPr>
          <a:xfrm>
            <a:off x="5394926" y="5277473"/>
            <a:ext cx="8857" cy="2603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13"/>
          <p:cNvSpPr txBox="1"/>
          <p:nvPr/>
        </p:nvSpPr>
        <p:spPr>
          <a:xfrm>
            <a:off x="2999161" y="5135680"/>
            <a:ext cx="13971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probes</a:t>
            </a:r>
            <a:endParaRPr/>
          </a:p>
        </p:txBody>
      </p:sp>
      <p:sp>
        <p:nvSpPr>
          <p:cNvPr id="367" name="Google Shape;367;p13"/>
          <p:cNvSpPr txBox="1"/>
          <p:nvPr/>
        </p:nvSpPr>
        <p:spPr>
          <a:xfrm>
            <a:off x="3613524" y="5696068"/>
            <a:ext cx="13971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probes</a:t>
            </a:r>
            <a:endParaRPr/>
          </a:p>
        </p:txBody>
      </p:sp>
      <p:sp>
        <p:nvSpPr>
          <p:cNvPr id="368" name="Google Shape;368;p13"/>
          <p:cNvSpPr txBox="1"/>
          <p:nvPr/>
        </p:nvSpPr>
        <p:spPr>
          <a:xfrm>
            <a:off x="4842700" y="5044156"/>
            <a:ext cx="13971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probes</a:t>
            </a:r>
            <a:endParaRPr/>
          </a:p>
        </p:txBody>
      </p:sp>
      <p:grpSp>
        <p:nvGrpSpPr>
          <p:cNvPr id="369" name="Google Shape;369;p13"/>
          <p:cNvGrpSpPr/>
          <p:nvPr/>
        </p:nvGrpSpPr>
        <p:grpSpPr>
          <a:xfrm>
            <a:off x="1934728" y="5072180"/>
            <a:ext cx="1027081" cy="688975"/>
            <a:chOff x="-44" y="1473"/>
            <a:chExt cx="981" cy="1105"/>
          </a:xfrm>
        </p:grpSpPr>
        <p:pic>
          <p:nvPicPr>
            <p:cNvPr descr="desktop_computer_stylized_medium" id="370" name="Google Shape;37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13"/>
          <p:cNvGrpSpPr/>
          <p:nvPr/>
        </p:nvGrpSpPr>
        <p:grpSpPr>
          <a:xfrm flipH="1">
            <a:off x="8177586" y="5110280"/>
            <a:ext cx="1051754" cy="669925"/>
            <a:chOff x="-44" y="1473"/>
            <a:chExt cx="981" cy="1105"/>
          </a:xfrm>
        </p:grpSpPr>
        <p:pic>
          <p:nvPicPr>
            <p:cNvPr descr="desktop_computer_stylized_medium" id="373" name="Google Shape;373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4" name="Google Shape;374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13"/>
          <p:cNvSpPr/>
          <p:nvPr/>
        </p:nvSpPr>
        <p:spPr>
          <a:xfrm>
            <a:off x="2868986" y="5356343"/>
            <a:ext cx="3135331" cy="403225"/>
          </a:xfrm>
          <a:custGeom>
            <a:rect b="b" l="l" r="r" t="t"/>
            <a:pathLst>
              <a:path extrusionOk="0" h="254" w="1416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2900736" y="5392855"/>
            <a:ext cx="584553" cy="419100"/>
          </a:xfrm>
          <a:custGeom>
            <a:rect b="b" l="l" r="r" t="t"/>
            <a:pathLst>
              <a:path extrusionOk="0" h="264" w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2894387" y="5307130"/>
            <a:ext cx="1877656" cy="474663"/>
          </a:xfrm>
          <a:custGeom>
            <a:rect b="b" l="l" r="r" t="t"/>
            <a:pathLst>
              <a:path extrusionOk="0" h="299" w="848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8" name="Google Shape;378;p13"/>
          <p:cNvGrpSpPr/>
          <p:nvPr/>
        </p:nvGrpSpPr>
        <p:grpSpPr>
          <a:xfrm>
            <a:off x="6096000" y="5229664"/>
            <a:ext cx="860625" cy="398511"/>
            <a:chOff x="7493876" y="2774731"/>
            <a:chExt cx="1481958" cy="894622"/>
          </a:xfrm>
        </p:grpSpPr>
        <p:sp>
          <p:nvSpPr>
            <p:cNvPr id="379" name="Google Shape;379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81" name="Google Shape;381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82" name="Google Shape;382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6" name="Google Shape;386;p13"/>
          <p:cNvSpPr txBox="1"/>
          <p:nvPr/>
        </p:nvSpPr>
        <p:spPr>
          <a:xfrm>
            <a:off x="909932" y="3067365"/>
            <a:ext cx="10342830" cy="1723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5425" lvl="1" marL="682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sends three packets that will reach router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on path towards destination (with time-to-live field value of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will return packets to sender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 measures time interval between transmission and reply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4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Real Internet delays and routes</a:t>
            </a:r>
            <a:endParaRPr sz="4400"/>
          </a:p>
        </p:txBody>
      </p:sp>
      <p:sp>
        <p:nvSpPr>
          <p:cNvPr id="393" name="Google Shape;393;p14"/>
          <p:cNvSpPr txBox="1"/>
          <p:nvPr/>
        </p:nvSpPr>
        <p:spPr>
          <a:xfrm>
            <a:off x="1663495" y="2282978"/>
            <a:ext cx="8229600" cy="394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cs-gw (128.119.240.254)  1 ms  1 ms  2 ms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border1-rt-fa5-1-0.gw.umass.edu (128.119.3.145)  1 ms  1 ms  2 ms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 cht-vbns.gw.umass.edu (128.119.3.130)  6 ms 5 ms 5 ms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 jn1-at1-0-0-19.wor.vbns.net (204.147.132.129)  16 ms 11 ms 13 ms 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 jn1-so7-0-0-0.wae.vbns.net (204.147.136.136)  21 ms 18 ms 18 ms 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 abilene-vbns.abilene.ucaid.edu (198.32.11.9)  22 ms  18 ms  22 ms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 nycm-wash.abilene.ucaid.edu (198.32.8.46)  22 ms  22 ms  22 ms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  62.40.103.253 (62.40.103.253)  104 ms 109 ms 106 ms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  de2-1.de1.de.geant.net (62.40.96.129)  109 ms 102 ms 104 ms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 de.fr1.fr.geant.net (62.40.96.50)  113 ms 121 ms 114 ms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  renater-gw.fr1.fr.geant.net (62.40.103.54)  112 ms  114 ms  112 ms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 nio-n2.cssi.renater.fr (193.51.206.13)  111 ms  114 ms  116 ms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  nice.cssi.renater.fr (195.220.98.102)  123 ms  125 ms  124 ms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  r3t2-nice.cssi.renater.fr (195.220.98.110)  126 ms  126 ms  124 ms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  eurecom-valbonne.r3t2.ft.net (193.48.50.54)  135 ms  128 ms  133 ms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 194.214.211.25 (194.214.211.25)  126 ms  128 ms  126 ms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  * * *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  * * *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  fantasia.eurecom.fr (193.55.113.142)  132 ms  128 ms  136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14"/>
          <p:cNvSpPr txBox="1"/>
          <p:nvPr/>
        </p:nvSpPr>
        <p:spPr>
          <a:xfrm>
            <a:off x="1684133" y="1091177"/>
            <a:ext cx="81930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traceroute: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gaia.cs.umass.edu to www.eurecom.fr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 txBox="1"/>
          <p:nvPr/>
        </p:nvSpPr>
        <p:spPr>
          <a:xfrm>
            <a:off x="1704770" y="6259665"/>
            <a:ext cx="65293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Do some traceroutes from exotic countries at www.traceroute.org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6" name="Google Shape;396;p14"/>
          <p:cNvGrpSpPr/>
          <p:nvPr/>
        </p:nvGrpSpPr>
        <p:grpSpPr>
          <a:xfrm>
            <a:off x="2464209" y="5464534"/>
            <a:ext cx="7293694" cy="400110"/>
            <a:chOff x="2464209" y="5464534"/>
            <a:chExt cx="7293694" cy="400110"/>
          </a:xfrm>
        </p:grpSpPr>
        <p:sp>
          <p:nvSpPr>
            <p:cNvPr id="397" name="Google Shape;397;p14"/>
            <p:cNvSpPr txBox="1"/>
            <p:nvPr/>
          </p:nvSpPr>
          <p:spPr>
            <a:xfrm>
              <a:off x="3471403" y="5464534"/>
              <a:ext cx="62865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* means no response (probe lost, router not replying)</a:t>
              </a:r>
              <a:endParaRPr/>
            </a:p>
          </p:txBody>
        </p:sp>
        <p:cxnSp>
          <p:nvCxnSpPr>
            <p:cNvPr id="398" name="Google Shape;398;p14"/>
            <p:cNvCxnSpPr/>
            <p:nvPr/>
          </p:nvCxnSpPr>
          <p:spPr>
            <a:xfrm rot="10800000">
              <a:off x="2464209" y="5590849"/>
              <a:ext cx="1007194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399" name="Google Shape;399;p14"/>
          <p:cNvGrpSpPr/>
          <p:nvPr/>
        </p:nvGrpSpPr>
        <p:grpSpPr>
          <a:xfrm>
            <a:off x="1915886" y="1596610"/>
            <a:ext cx="9454526" cy="899847"/>
            <a:chOff x="1915886" y="1596610"/>
            <a:chExt cx="9454526" cy="899847"/>
          </a:xfrm>
        </p:grpSpPr>
        <p:sp>
          <p:nvSpPr>
            <p:cNvPr id="400" name="Google Shape;400;p14"/>
            <p:cNvSpPr txBox="1"/>
            <p:nvPr/>
          </p:nvSpPr>
          <p:spPr>
            <a:xfrm>
              <a:off x="5433162" y="1596610"/>
              <a:ext cx="5937250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3 delay measurements from 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gaia.cs.umass.edu </a:t>
              </a: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b="0" i="0" lang="en-US" sz="1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cs-gw.cs.umass.edu </a:t>
              </a:r>
              <a:endParaRPr b="0" i="0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01" name="Google Shape;401;p14"/>
            <p:cNvCxnSpPr/>
            <p:nvPr/>
          </p:nvCxnSpPr>
          <p:spPr>
            <a:xfrm flipH="1" rot="10800000">
              <a:off x="4430508" y="1909915"/>
              <a:ext cx="671512" cy="41275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02" name="Google Shape;402;p14"/>
            <p:cNvCxnSpPr/>
            <p:nvPr/>
          </p:nvCxnSpPr>
          <p:spPr>
            <a:xfrm flipH="1" rot="10800000">
              <a:off x="4970258" y="1898803"/>
              <a:ext cx="139700" cy="404812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03" name="Google Shape;403;p14"/>
            <p:cNvCxnSpPr/>
            <p:nvPr/>
          </p:nvCxnSpPr>
          <p:spPr>
            <a:xfrm rot="10800000">
              <a:off x="5105195" y="1908328"/>
              <a:ext cx="366713" cy="390525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04" name="Google Shape;404;p14"/>
            <p:cNvCxnSpPr/>
            <p:nvPr/>
          </p:nvCxnSpPr>
          <p:spPr>
            <a:xfrm rot="10800000">
              <a:off x="5102020" y="1908328"/>
              <a:ext cx="512012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05" name="Google Shape;405;p14"/>
            <p:cNvSpPr/>
            <p:nvPr/>
          </p:nvSpPr>
          <p:spPr>
            <a:xfrm>
              <a:off x="1915886" y="2307771"/>
              <a:ext cx="638628" cy="188686"/>
            </a:xfrm>
            <a:prstGeom prst="rect">
              <a:avLst/>
            </a:prstGeom>
            <a:solidFill>
              <a:srgbClr val="FFFF00">
                <a:alpha val="3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6" name="Google Shape;406;p14"/>
          <p:cNvGrpSpPr/>
          <p:nvPr/>
        </p:nvGrpSpPr>
        <p:grpSpPr>
          <a:xfrm>
            <a:off x="1959429" y="2305498"/>
            <a:ext cx="10306229" cy="617861"/>
            <a:chOff x="1959429" y="2305498"/>
            <a:chExt cx="10306229" cy="617861"/>
          </a:xfrm>
        </p:grpSpPr>
        <p:sp>
          <p:nvSpPr>
            <p:cNvPr id="407" name="Google Shape;407;p14"/>
            <p:cNvSpPr txBox="1"/>
            <p:nvPr/>
          </p:nvSpPr>
          <p:spPr>
            <a:xfrm>
              <a:off x="8179566" y="2305498"/>
              <a:ext cx="4086092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3 delay measurements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b="0" i="0" lang="en-US" sz="1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border1-rt-fa5-1-0.gw.umass.edu </a:t>
              </a:r>
              <a:endParaRPr b="0" i="0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08" name="Google Shape;408;p14"/>
            <p:cNvCxnSpPr/>
            <p:nvPr/>
          </p:nvCxnSpPr>
          <p:spPr>
            <a:xfrm rot="10800000">
              <a:off x="8136140" y="2591761"/>
              <a:ext cx="738960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09" name="Google Shape;409;p14"/>
            <p:cNvSpPr/>
            <p:nvPr/>
          </p:nvSpPr>
          <p:spPr>
            <a:xfrm>
              <a:off x="1959429" y="2525486"/>
              <a:ext cx="2975428" cy="159657"/>
            </a:xfrm>
            <a:prstGeom prst="rect">
              <a:avLst/>
            </a:prstGeom>
            <a:solidFill>
              <a:srgbClr val="FFFF00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" name="Google Shape;410;p14"/>
          <p:cNvGrpSpPr/>
          <p:nvPr/>
        </p:nvGrpSpPr>
        <p:grpSpPr>
          <a:xfrm>
            <a:off x="7046686" y="4088438"/>
            <a:ext cx="4427559" cy="617861"/>
            <a:chOff x="7046686" y="4088438"/>
            <a:chExt cx="4427559" cy="617861"/>
          </a:xfrm>
        </p:grpSpPr>
        <p:grpSp>
          <p:nvGrpSpPr>
            <p:cNvPr id="411" name="Google Shape;411;p14"/>
            <p:cNvGrpSpPr/>
            <p:nvPr/>
          </p:nvGrpSpPr>
          <p:grpSpPr>
            <a:xfrm>
              <a:off x="8136140" y="4088438"/>
              <a:ext cx="3338105" cy="617861"/>
              <a:chOff x="8136140" y="4088438"/>
              <a:chExt cx="3338105" cy="617861"/>
            </a:xfrm>
          </p:grpSpPr>
          <p:sp>
            <p:nvSpPr>
              <p:cNvPr id="412" name="Google Shape;412;p14"/>
              <p:cNvSpPr txBox="1"/>
              <p:nvPr/>
            </p:nvSpPr>
            <p:spPr>
              <a:xfrm>
                <a:off x="8731045" y="4088438"/>
                <a:ext cx="2743200" cy="617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looks like delays </a:t>
                </a:r>
                <a:r>
                  <a:rPr b="0" i="1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decrease</a:t>
                </a: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! Why?</a:t>
                </a:r>
                <a:endParaRPr/>
              </a:p>
            </p:txBody>
          </p:sp>
          <p:cxnSp>
            <p:nvCxnSpPr>
              <p:cNvPr id="413" name="Google Shape;413;p14"/>
              <p:cNvCxnSpPr/>
              <p:nvPr/>
            </p:nvCxnSpPr>
            <p:spPr>
              <a:xfrm rot="10800000">
                <a:off x="8136140" y="4381712"/>
                <a:ext cx="73896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414" name="Google Shape;414;p14"/>
            <p:cNvSpPr/>
            <p:nvPr/>
          </p:nvSpPr>
          <p:spPr>
            <a:xfrm>
              <a:off x="7402286" y="4223657"/>
              <a:ext cx="725714" cy="261257"/>
            </a:xfrm>
            <a:prstGeom prst="rect">
              <a:avLst/>
            </a:prstGeom>
            <a:solidFill>
              <a:srgbClr val="FFFF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4"/>
            <p:cNvSpPr/>
            <p:nvPr/>
          </p:nvSpPr>
          <p:spPr>
            <a:xfrm>
              <a:off x="7046686" y="4419600"/>
              <a:ext cx="725714" cy="261257"/>
            </a:xfrm>
            <a:prstGeom prst="rect">
              <a:avLst/>
            </a:prstGeom>
            <a:solidFill>
              <a:srgbClr val="FFFF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6" name="Google Shape;416;p14"/>
          <p:cNvGrpSpPr/>
          <p:nvPr/>
        </p:nvGrpSpPr>
        <p:grpSpPr>
          <a:xfrm>
            <a:off x="1937658" y="3381528"/>
            <a:ext cx="8901587" cy="508300"/>
            <a:chOff x="1937658" y="3381528"/>
            <a:chExt cx="8901587" cy="508300"/>
          </a:xfrm>
        </p:grpSpPr>
        <p:grpSp>
          <p:nvGrpSpPr>
            <p:cNvPr id="417" name="Google Shape;417;p14"/>
            <p:cNvGrpSpPr/>
            <p:nvPr/>
          </p:nvGrpSpPr>
          <p:grpSpPr>
            <a:xfrm>
              <a:off x="1937658" y="3381528"/>
              <a:ext cx="8901587" cy="460375"/>
              <a:chOff x="1937658" y="3381528"/>
              <a:chExt cx="8901587" cy="460375"/>
            </a:xfrm>
          </p:grpSpPr>
          <p:sp>
            <p:nvSpPr>
              <p:cNvPr id="418" name="Google Shape;418;p14"/>
              <p:cNvSpPr/>
              <p:nvPr/>
            </p:nvSpPr>
            <p:spPr>
              <a:xfrm>
                <a:off x="7051470" y="3595840"/>
                <a:ext cx="1012825" cy="246063"/>
              </a:xfrm>
              <a:custGeom>
                <a:rect b="b" l="l" r="r" t="t"/>
                <a:pathLst>
                  <a:path extrusionOk="0" h="155" w="638">
                    <a:moveTo>
                      <a:pt x="593" y="0"/>
                    </a:moveTo>
                    <a:cubicBezTo>
                      <a:pt x="607" y="9"/>
                      <a:pt x="621" y="18"/>
                      <a:pt x="623" y="38"/>
                    </a:cubicBezTo>
                    <a:cubicBezTo>
                      <a:pt x="625" y="58"/>
                      <a:pt x="638" y="104"/>
                      <a:pt x="608" y="123"/>
                    </a:cubicBezTo>
                    <a:cubicBezTo>
                      <a:pt x="578" y="142"/>
                      <a:pt x="547" y="153"/>
                      <a:pt x="446" y="154"/>
                    </a:cubicBezTo>
                    <a:cubicBezTo>
                      <a:pt x="345" y="155"/>
                      <a:pt x="72" y="133"/>
                      <a:pt x="0" y="130"/>
                    </a:cubicBezTo>
                  </a:path>
                </a:pathLst>
              </a:cu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4"/>
              <p:cNvSpPr txBox="1"/>
              <p:nvPr/>
            </p:nvSpPr>
            <p:spPr>
              <a:xfrm>
                <a:off x="8096045" y="3381528"/>
                <a:ext cx="274320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trans-oceanic link</a:t>
                </a:r>
                <a:endParaRPr/>
              </a:p>
            </p:txBody>
          </p:sp>
          <p:sp>
            <p:nvSpPr>
              <p:cNvPr id="420" name="Google Shape;420;p14"/>
              <p:cNvSpPr/>
              <p:nvPr/>
            </p:nvSpPr>
            <p:spPr>
              <a:xfrm>
                <a:off x="1937658" y="3519717"/>
                <a:ext cx="2750456" cy="123370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4"/>
              <p:cNvSpPr/>
              <p:nvPr/>
            </p:nvSpPr>
            <p:spPr>
              <a:xfrm>
                <a:off x="2002973" y="3686630"/>
                <a:ext cx="1306284" cy="145141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2" name="Google Shape;422;p14"/>
            <p:cNvSpPr/>
            <p:nvPr/>
          </p:nvSpPr>
          <p:spPr>
            <a:xfrm>
              <a:off x="7315200" y="3468914"/>
              <a:ext cx="667657" cy="203200"/>
            </a:xfrm>
            <a:prstGeom prst="rect">
              <a:avLst/>
            </a:prstGeom>
            <a:solidFill>
              <a:srgbClr val="FFFF00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4"/>
            <p:cNvSpPr/>
            <p:nvPr/>
          </p:nvSpPr>
          <p:spPr>
            <a:xfrm>
              <a:off x="6320972" y="3679371"/>
              <a:ext cx="776514" cy="210457"/>
            </a:xfrm>
            <a:prstGeom prst="rect">
              <a:avLst/>
            </a:prstGeom>
            <a:solidFill>
              <a:srgbClr val="FFFF00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15"/>
          <p:cNvGrpSpPr/>
          <p:nvPr/>
        </p:nvGrpSpPr>
        <p:grpSpPr>
          <a:xfrm>
            <a:off x="4551470" y="4236503"/>
            <a:ext cx="1463604" cy="737240"/>
            <a:chOff x="7493876" y="2774731"/>
            <a:chExt cx="1481958" cy="894622"/>
          </a:xfrm>
        </p:grpSpPr>
        <p:sp>
          <p:nvSpPr>
            <p:cNvPr id="430" name="Google Shape;430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31" name="Google Shape;431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32" name="Google Shape;432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33" name="Google Shape;433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7" name="Google Shape;437;p1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Packet loss</a:t>
            </a:r>
            <a:endParaRPr sz="4400"/>
          </a:p>
        </p:txBody>
      </p:sp>
      <p:sp>
        <p:nvSpPr>
          <p:cNvPr id="438" name="Google Shape;438;p15"/>
          <p:cNvSpPr txBox="1"/>
          <p:nvPr/>
        </p:nvSpPr>
        <p:spPr>
          <a:xfrm>
            <a:off x="975618" y="1391460"/>
            <a:ext cx="10214897" cy="719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 (aka buffer) preceding link in buffer has finite capacity</a:t>
            </a: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4638675" y="4485753"/>
            <a:ext cx="1198563" cy="263525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" name="Google Shape;440;p15"/>
          <p:cNvCxnSpPr/>
          <p:nvPr/>
        </p:nvCxnSpPr>
        <p:spPr>
          <a:xfrm>
            <a:off x="3946525" y="4252390"/>
            <a:ext cx="698500" cy="3333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15"/>
          <p:cNvCxnSpPr/>
          <p:nvPr/>
        </p:nvCxnSpPr>
        <p:spPr>
          <a:xfrm flipH="1" rot="10800000">
            <a:off x="4235450" y="4646090"/>
            <a:ext cx="411163" cy="5254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15"/>
          <p:cNvCxnSpPr/>
          <p:nvPr/>
        </p:nvCxnSpPr>
        <p:spPr>
          <a:xfrm>
            <a:off x="5832475" y="4649265"/>
            <a:ext cx="1933575" cy="95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3" name="Google Shape;443;p15"/>
          <p:cNvSpPr/>
          <p:nvPr/>
        </p:nvSpPr>
        <p:spPr>
          <a:xfrm>
            <a:off x="6751638" y="4449240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5499100" y="4520678"/>
            <a:ext cx="147638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5661025" y="4520678"/>
            <a:ext cx="147638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5"/>
          <p:cNvSpPr txBox="1"/>
          <p:nvPr/>
        </p:nvSpPr>
        <p:spPr>
          <a:xfrm>
            <a:off x="2963863" y="3780903"/>
            <a:ext cx="362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447" name="Google Shape;447;p15"/>
          <p:cNvSpPr txBox="1"/>
          <p:nvPr/>
        </p:nvSpPr>
        <p:spPr>
          <a:xfrm>
            <a:off x="3284538" y="4766740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448" name="Google Shape;448;p15"/>
          <p:cNvSpPr txBox="1"/>
          <p:nvPr/>
        </p:nvSpPr>
        <p:spPr>
          <a:xfrm>
            <a:off x="6311900" y="3690415"/>
            <a:ext cx="2790700" cy="3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packet being transmitted</a:t>
            </a:r>
            <a:endParaRPr/>
          </a:p>
        </p:txBody>
      </p:sp>
      <p:cxnSp>
        <p:nvCxnSpPr>
          <p:cNvPr id="449" name="Google Shape;449;p15"/>
          <p:cNvCxnSpPr/>
          <p:nvPr/>
        </p:nvCxnSpPr>
        <p:spPr>
          <a:xfrm flipH="1">
            <a:off x="5875338" y="3982515"/>
            <a:ext cx="681037" cy="56515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0" name="Google Shape;450;p15"/>
          <p:cNvSpPr/>
          <p:nvPr/>
        </p:nvSpPr>
        <p:spPr>
          <a:xfrm>
            <a:off x="5335588" y="4519090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5173663" y="452226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5008563" y="4519090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4845050" y="4519090"/>
            <a:ext cx="147638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4679950" y="4520678"/>
            <a:ext cx="147638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4651375" y="4496865"/>
            <a:ext cx="1171575" cy="24288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5"/>
          <p:cNvSpPr txBox="1"/>
          <p:nvPr/>
        </p:nvSpPr>
        <p:spPr>
          <a:xfrm>
            <a:off x="4499629" y="3509440"/>
            <a:ext cx="1624291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buffer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(waiting area)</a:t>
            </a:r>
            <a:endParaRPr/>
          </a:p>
        </p:txBody>
      </p:sp>
      <p:cxnSp>
        <p:nvCxnSpPr>
          <p:cNvPr id="457" name="Google Shape;457;p15"/>
          <p:cNvCxnSpPr/>
          <p:nvPr/>
        </p:nvCxnSpPr>
        <p:spPr>
          <a:xfrm>
            <a:off x="4784725" y="4117453"/>
            <a:ext cx="0" cy="333375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58" name="Google Shape;458;p15"/>
          <p:cNvGrpSpPr/>
          <p:nvPr/>
        </p:nvGrpSpPr>
        <p:grpSpPr>
          <a:xfrm>
            <a:off x="3140075" y="3801540"/>
            <a:ext cx="820738" cy="688975"/>
            <a:chOff x="-44" y="1473"/>
            <a:chExt cx="981" cy="1105"/>
          </a:xfrm>
        </p:grpSpPr>
        <p:pic>
          <p:nvPicPr>
            <p:cNvPr descr="desktop_computer_stylized_medium" id="459" name="Google Shape;45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1" name="Google Shape;461;p15"/>
          <p:cNvGrpSpPr/>
          <p:nvPr/>
        </p:nvGrpSpPr>
        <p:grpSpPr>
          <a:xfrm>
            <a:off x="3468688" y="4792140"/>
            <a:ext cx="820737" cy="688975"/>
            <a:chOff x="-44" y="1473"/>
            <a:chExt cx="981" cy="1105"/>
          </a:xfrm>
        </p:grpSpPr>
        <p:pic>
          <p:nvPicPr>
            <p:cNvPr descr="desktop_computer_stylized_medium" id="462" name="Google Shape;46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3" name="Google Shape;463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4" name="Google Shape;464;p15"/>
          <p:cNvSpPr txBox="1"/>
          <p:nvPr/>
        </p:nvSpPr>
        <p:spPr>
          <a:xfrm>
            <a:off x="1250140" y="6114279"/>
            <a:ext cx="95254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Check out the Java applet for an interactive animation (on publisher’s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website)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queuing and loss</a:t>
            </a:r>
            <a:endParaRPr/>
          </a:p>
        </p:txBody>
      </p:sp>
      <p:grpSp>
        <p:nvGrpSpPr>
          <p:cNvPr id="465" name="Google Shape;465;p15"/>
          <p:cNvGrpSpPr/>
          <p:nvPr/>
        </p:nvGrpSpPr>
        <p:grpSpPr>
          <a:xfrm>
            <a:off x="971989" y="1867073"/>
            <a:ext cx="10214897" cy="3871598"/>
            <a:chOff x="971989" y="1867073"/>
            <a:chExt cx="10214897" cy="3871598"/>
          </a:xfrm>
        </p:grpSpPr>
        <p:grpSp>
          <p:nvGrpSpPr>
            <p:cNvPr id="466" name="Google Shape;466;p15"/>
            <p:cNvGrpSpPr/>
            <p:nvPr/>
          </p:nvGrpSpPr>
          <p:grpSpPr>
            <a:xfrm>
              <a:off x="4381500" y="4714353"/>
              <a:ext cx="2873096" cy="1024318"/>
              <a:chOff x="4381500" y="4714353"/>
              <a:chExt cx="2873096" cy="1024318"/>
            </a:xfrm>
          </p:grpSpPr>
          <p:sp>
            <p:nvSpPr>
              <p:cNvPr id="467" name="Google Shape;467;p15"/>
              <p:cNvSpPr/>
              <p:nvPr/>
            </p:nvSpPr>
            <p:spPr>
              <a:xfrm>
                <a:off x="4411663" y="4868340"/>
                <a:ext cx="147637" cy="200025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8" name="Google Shape;468;p15"/>
              <p:cNvCxnSpPr/>
              <p:nvPr/>
            </p:nvCxnSpPr>
            <p:spPr>
              <a:xfrm flipH="1" rot="10800000">
                <a:off x="4381500" y="4714353"/>
                <a:ext cx="106363" cy="1460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69" name="Google Shape;469;p15"/>
              <p:cNvCxnSpPr/>
              <p:nvPr/>
            </p:nvCxnSpPr>
            <p:spPr>
              <a:xfrm rot="10800000">
                <a:off x="4638675" y="4988990"/>
                <a:ext cx="687388" cy="331788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0" name="Google Shape;470;p15"/>
              <p:cNvSpPr txBox="1"/>
              <p:nvPr/>
            </p:nvSpPr>
            <p:spPr>
              <a:xfrm>
                <a:off x="5254625" y="5147740"/>
                <a:ext cx="1999971" cy="5909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packet arriving to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full buffer is </a:t>
                </a:r>
                <a:r>
                  <a:rPr b="0" i="1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lost</a:t>
                </a:r>
                <a:endParaRPr/>
              </a:p>
            </p:txBody>
          </p:sp>
        </p:grpSp>
        <p:sp>
          <p:nvSpPr>
            <p:cNvPr id="471" name="Google Shape;471;p15"/>
            <p:cNvSpPr txBox="1"/>
            <p:nvPr/>
          </p:nvSpPr>
          <p:spPr>
            <a:xfrm>
              <a:off x="971989" y="1867073"/>
              <a:ext cx="10214897" cy="2117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87338" lvl="0" marL="2873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 arriving to full queue dropped (aka lost)</a:t>
              </a:r>
              <a:endParaRPr/>
            </a:p>
            <a:p>
              <a:pPr indent="-287338" lvl="0" marL="287338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lost packet may be retransmitted by previous node, by source end system, or not at all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7" name="Google Shape;477;p16"/>
          <p:cNvCxnSpPr/>
          <p:nvPr/>
        </p:nvCxnSpPr>
        <p:spPr>
          <a:xfrm>
            <a:off x="3004779" y="4480629"/>
            <a:ext cx="6316663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8" name="Google Shape;478;p16"/>
          <p:cNvGrpSpPr/>
          <p:nvPr/>
        </p:nvGrpSpPr>
        <p:grpSpPr>
          <a:xfrm>
            <a:off x="4551470" y="4103771"/>
            <a:ext cx="1463604" cy="737240"/>
            <a:chOff x="7493876" y="2774731"/>
            <a:chExt cx="1481958" cy="894622"/>
          </a:xfrm>
        </p:grpSpPr>
        <p:sp>
          <p:nvSpPr>
            <p:cNvPr id="479" name="Google Shape;479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81" name="Google Shape;481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2" name="Google Shape;482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86" name="Google Shape;486;p16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Throughput</a:t>
            </a:r>
            <a:endParaRPr sz="4400"/>
          </a:p>
        </p:txBody>
      </p:sp>
      <p:sp>
        <p:nvSpPr>
          <p:cNvPr id="487" name="Google Shape;487;p16"/>
          <p:cNvSpPr txBox="1"/>
          <p:nvPr/>
        </p:nvSpPr>
        <p:spPr>
          <a:xfrm>
            <a:off x="989013" y="1359295"/>
            <a:ext cx="10973804" cy="1779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throughput: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(bits/time unit) at which bits are being sent from sender to receiver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instantaneous: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at given point in time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average: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over longer period of time</a:t>
            </a:r>
            <a:endParaRPr/>
          </a:p>
        </p:txBody>
      </p:sp>
      <p:sp>
        <p:nvSpPr>
          <p:cNvPr id="488" name="Google Shape;488;p16"/>
          <p:cNvSpPr/>
          <p:nvPr/>
        </p:nvSpPr>
        <p:spPr>
          <a:xfrm>
            <a:off x="1980004" y="3615115"/>
            <a:ext cx="500062" cy="581025"/>
          </a:xfrm>
          <a:prstGeom prst="can">
            <a:avLst>
              <a:gd fmla="val 23491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89" name="Google Shape;489;p16"/>
          <p:cNvGrpSpPr/>
          <p:nvPr/>
        </p:nvGrpSpPr>
        <p:grpSpPr>
          <a:xfrm>
            <a:off x="2538054" y="4021842"/>
            <a:ext cx="352425" cy="876300"/>
            <a:chOff x="4140" y="429"/>
            <a:chExt cx="1425" cy="2396"/>
          </a:xfrm>
        </p:grpSpPr>
        <p:sp>
          <p:nvSpPr>
            <p:cNvPr id="490" name="Google Shape;490;p1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4204" y="429"/>
              <a:ext cx="1046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6"/>
            <p:cNvSpPr/>
            <p:nvPr/>
          </p:nvSpPr>
          <p:spPr>
            <a:xfrm>
              <a:off x="4211" y="694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5" name="Google Shape;495;p16"/>
            <p:cNvGrpSpPr/>
            <p:nvPr/>
          </p:nvGrpSpPr>
          <p:grpSpPr>
            <a:xfrm>
              <a:off x="4750" y="668"/>
              <a:ext cx="578" cy="143"/>
              <a:chOff x="615" y="2568"/>
              <a:chExt cx="721" cy="137"/>
            </a:xfrm>
          </p:grpSpPr>
          <p:sp>
            <p:nvSpPr>
              <p:cNvPr id="496" name="Google Shape;496;p16"/>
              <p:cNvSpPr/>
              <p:nvPr/>
            </p:nvSpPr>
            <p:spPr>
              <a:xfrm>
                <a:off x="615" y="2568"/>
                <a:ext cx="721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16"/>
              <p:cNvSpPr/>
              <p:nvPr/>
            </p:nvSpPr>
            <p:spPr>
              <a:xfrm>
                <a:off x="631" y="2584"/>
                <a:ext cx="689" cy="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8" name="Google Shape;498;p16"/>
            <p:cNvSpPr/>
            <p:nvPr/>
          </p:nvSpPr>
          <p:spPr>
            <a:xfrm>
              <a:off x="4223" y="1019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9" name="Google Shape;499;p16"/>
            <p:cNvGrpSpPr/>
            <p:nvPr/>
          </p:nvGrpSpPr>
          <p:grpSpPr>
            <a:xfrm>
              <a:off x="4749" y="993"/>
              <a:ext cx="578" cy="135"/>
              <a:chOff x="617" y="2567"/>
              <a:chExt cx="721" cy="140"/>
            </a:xfrm>
          </p:grpSpPr>
          <p:sp>
            <p:nvSpPr>
              <p:cNvPr id="500" name="Google Shape;500;p16"/>
              <p:cNvSpPr/>
              <p:nvPr/>
            </p:nvSpPr>
            <p:spPr>
              <a:xfrm>
                <a:off x="617" y="2567"/>
                <a:ext cx="72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16"/>
              <p:cNvSpPr/>
              <p:nvPr/>
            </p:nvSpPr>
            <p:spPr>
              <a:xfrm>
                <a:off x="634" y="2585"/>
                <a:ext cx="689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2" name="Google Shape;502;p16"/>
            <p:cNvSpPr/>
            <p:nvPr/>
          </p:nvSpPr>
          <p:spPr>
            <a:xfrm>
              <a:off x="4217" y="1358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4230" y="1653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4" name="Google Shape;504;p16"/>
            <p:cNvGrpSpPr/>
            <p:nvPr/>
          </p:nvGrpSpPr>
          <p:grpSpPr>
            <a:xfrm>
              <a:off x="4737" y="1627"/>
              <a:ext cx="578" cy="152"/>
              <a:chOff x="616" y="2568"/>
              <a:chExt cx="720" cy="140"/>
            </a:xfrm>
          </p:grpSpPr>
          <p:sp>
            <p:nvSpPr>
              <p:cNvPr id="505" name="Google Shape;505;p16"/>
              <p:cNvSpPr/>
              <p:nvPr/>
            </p:nvSpPr>
            <p:spPr>
              <a:xfrm>
                <a:off x="616" y="2568"/>
                <a:ext cx="720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16"/>
              <p:cNvSpPr/>
              <p:nvPr/>
            </p:nvSpPr>
            <p:spPr>
              <a:xfrm>
                <a:off x="632" y="2584"/>
                <a:ext cx="688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7" name="Google Shape;507;p1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8" name="Google Shape;508;p16"/>
            <p:cNvGrpSpPr/>
            <p:nvPr/>
          </p:nvGrpSpPr>
          <p:grpSpPr>
            <a:xfrm>
              <a:off x="4737" y="1327"/>
              <a:ext cx="584" cy="139"/>
              <a:chOff x="611" y="2568"/>
              <a:chExt cx="728" cy="139"/>
            </a:xfrm>
          </p:grpSpPr>
          <p:sp>
            <p:nvSpPr>
              <p:cNvPr id="509" name="Google Shape;509;p16"/>
              <p:cNvSpPr/>
              <p:nvPr/>
            </p:nvSpPr>
            <p:spPr>
              <a:xfrm>
                <a:off x="611" y="2568"/>
                <a:ext cx="728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16"/>
              <p:cNvSpPr/>
              <p:nvPr/>
            </p:nvSpPr>
            <p:spPr>
              <a:xfrm>
                <a:off x="627" y="2586"/>
                <a:ext cx="696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1" name="Google Shape;511;p16"/>
            <p:cNvSpPr/>
            <p:nvPr/>
          </p:nvSpPr>
          <p:spPr>
            <a:xfrm>
              <a:off x="5250" y="429"/>
              <a:ext cx="71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4140" y="2677"/>
              <a:ext cx="1200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4204" y="2712"/>
              <a:ext cx="1072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6"/>
            <p:cNvSpPr/>
            <p:nvPr/>
          </p:nvSpPr>
          <p:spPr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2" name="Google Shape;522;p16"/>
          <p:cNvGrpSpPr/>
          <p:nvPr/>
        </p:nvGrpSpPr>
        <p:grpSpPr>
          <a:xfrm flipH="1">
            <a:off x="9843242" y="4083754"/>
            <a:ext cx="1192212" cy="1171575"/>
            <a:chOff x="-44" y="1473"/>
            <a:chExt cx="981" cy="1105"/>
          </a:xfrm>
        </p:grpSpPr>
        <p:pic>
          <p:nvPicPr>
            <p:cNvPr descr="desktop_computer_stylized_medium" id="523" name="Google Shape;523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5" name="Google Shape;525;p16"/>
          <p:cNvSpPr txBox="1"/>
          <p:nvPr/>
        </p:nvSpPr>
        <p:spPr>
          <a:xfrm>
            <a:off x="792820" y="5516537"/>
            <a:ext cx="2198742" cy="103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server, with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of F bits 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send to client</a:t>
            </a:r>
            <a:endParaRPr/>
          </a:p>
        </p:txBody>
      </p:sp>
      <p:sp>
        <p:nvSpPr>
          <p:cNvPr id="526" name="Google Shape;526;p16"/>
          <p:cNvSpPr txBox="1"/>
          <p:nvPr/>
        </p:nvSpPr>
        <p:spPr>
          <a:xfrm>
            <a:off x="3097926" y="4936011"/>
            <a:ext cx="1722587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capacity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bits/sec</a:t>
            </a:r>
            <a:endParaRPr/>
          </a:p>
        </p:txBody>
      </p:sp>
      <p:sp>
        <p:nvSpPr>
          <p:cNvPr id="527" name="Google Shape;527;p16"/>
          <p:cNvSpPr txBox="1"/>
          <p:nvPr/>
        </p:nvSpPr>
        <p:spPr>
          <a:xfrm>
            <a:off x="7217773" y="4939162"/>
            <a:ext cx="1722587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capacity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bits/sec</a:t>
            </a:r>
            <a:endParaRPr/>
          </a:p>
        </p:txBody>
      </p:sp>
      <p:grpSp>
        <p:nvGrpSpPr>
          <p:cNvPr id="528" name="Google Shape;528;p16"/>
          <p:cNvGrpSpPr/>
          <p:nvPr/>
        </p:nvGrpSpPr>
        <p:grpSpPr>
          <a:xfrm>
            <a:off x="644751" y="4976621"/>
            <a:ext cx="9050338" cy="1484313"/>
            <a:chOff x="-335" y="3658"/>
            <a:chExt cx="5701" cy="935"/>
          </a:xfrm>
        </p:grpSpPr>
        <p:sp>
          <p:nvSpPr>
            <p:cNvPr id="529" name="Google Shape;529;p16"/>
            <p:cNvSpPr txBox="1"/>
            <p:nvPr/>
          </p:nvSpPr>
          <p:spPr>
            <a:xfrm>
              <a:off x="-335" y="3942"/>
              <a:ext cx="1461" cy="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 sends bits 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(fluid) into pipe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30" name="Google Shape;530;p16"/>
            <p:cNvSpPr txBox="1"/>
            <p:nvPr/>
          </p:nvSpPr>
          <p:spPr>
            <a:xfrm>
              <a:off x="1089" y="3661"/>
              <a:ext cx="1769" cy="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Gill San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pipe that can carry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fluid at rate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(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bits/sec)</a:t>
              </a:r>
              <a:endParaRPr/>
            </a:p>
          </p:txBody>
        </p:sp>
        <p:sp>
          <p:nvSpPr>
            <p:cNvPr id="531" name="Google Shape;531;p16"/>
            <p:cNvSpPr txBox="1"/>
            <p:nvPr/>
          </p:nvSpPr>
          <p:spPr>
            <a:xfrm>
              <a:off x="3506" y="3658"/>
              <a:ext cx="1860" cy="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pipe that can carry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fluid at rate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(R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bits/sec)</a:t>
              </a:r>
              <a:endParaRPr/>
            </a:p>
          </p:txBody>
        </p:sp>
      </p:grpSp>
      <p:grpSp>
        <p:nvGrpSpPr>
          <p:cNvPr id="532" name="Google Shape;532;p16"/>
          <p:cNvGrpSpPr/>
          <p:nvPr/>
        </p:nvGrpSpPr>
        <p:grpSpPr>
          <a:xfrm>
            <a:off x="2071325" y="4013900"/>
            <a:ext cx="7826653" cy="763668"/>
            <a:chOff x="2071325" y="4013900"/>
            <a:chExt cx="7826653" cy="763668"/>
          </a:xfrm>
        </p:grpSpPr>
        <p:sp>
          <p:nvSpPr>
            <p:cNvPr id="533" name="Google Shape;533;p16"/>
            <p:cNvSpPr/>
            <p:nvPr/>
          </p:nvSpPr>
          <p:spPr>
            <a:xfrm>
              <a:off x="9008978" y="4275842"/>
              <a:ext cx="889000" cy="485775"/>
            </a:xfrm>
            <a:prstGeom prst="rightArrow">
              <a:avLst>
                <a:gd fmla="val 50000" name="adj1"/>
                <a:gd fmla="val 45752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534" name="Google Shape;534;p16"/>
            <p:cNvGrpSpPr/>
            <p:nvPr/>
          </p:nvGrpSpPr>
          <p:grpSpPr>
            <a:xfrm>
              <a:off x="3016469" y="4319954"/>
              <a:ext cx="2322512" cy="392112"/>
              <a:chOff x="2249" y="3430"/>
              <a:chExt cx="1389" cy="256"/>
            </a:xfrm>
          </p:grpSpPr>
          <p:sp>
            <p:nvSpPr>
              <p:cNvPr id="535" name="Google Shape;535;p16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6" name="Google Shape;536;p16"/>
              <p:cNvSpPr/>
              <p:nvPr/>
            </p:nvSpPr>
            <p:spPr>
              <a:xfrm>
                <a:off x="2275" y="3433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7" name="Google Shape;537;p16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8" name="Google Shape;538;p16"/>
              <p:cNvSpPr/>
              <p:nvPr/>
            </p:nvSpPr>
            <p:spPr>
              <a:xfrm>
                <a:off x="3562" y="3438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39" name="Google Shape;539;p16"/>
            <p:cNvGrpSpPr/>
            <p:nvPr/>
          </p:nvGrpSpPr>
          <p:grpSpPr>
            <a:xfrm>
              <a:off x="6475852" y="4196543"/>
              <a:ext cx="2801937" cy="581025"/>
              <a:chOff x="2249" y="3430"/>
              <a:chExt cx="1389" cy="256"/>
            </a:xfrm>
          </p:grpSpPr>
          <p:sp>
            <p:nvSpPr>
              <p:cNvPr id="540" name="Google Shape;540;p16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1" name="Google Shape;541;p16"/>
              <p:cNvSpPr/>
              <p:nvPr/>
            </p:nvSpPr>
            <p:spPr>
              <a:xfrm>
                <a:off x="2275" y="3433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2" name="Google Shape;542;p16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3" name="Google Shape;543;p16"/>
              <p:cNvSpPr/>
              <p:nvPr/>
            </p:nvSpPr>
            <p:spPr>
              <a:xfrm>
                <a:off x="3562" y="3438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544" name="Google Shape;544;p16"/>
            <p:cNvSpPr/>
            <p:nvPr/>
          </p:nvSpPr>
          <p:spPr>
            <a:xfrm>
              <a:off x="5295542" y="4258379"/>
              <a:ext cx="1279525" cy="485775"/>
            </a:xfrm>
            <a:prstGeom prst="rightArrow">
              <a:avLst>
                <a:gd fmla="val 50000" name="adj1"/>
                <a:gd fmla="val 65850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5" name="Google Shape;545;p16"/>
            <p:cNvSpPr/>
            <p:nvPr/>
          </p:nvSpPr>
          <p:spPr>
            <a:xfrm flipH="1" rot="10800000">
              <a:off x="2071329" y="4013904"/>
              <a:ext cx="974725" cy="720725"/>
            </a:xfrm>
            <a:custGeom>
              <a:rect b="b" l="l" r="r" t="t"/>
              <a:pathLst>
                <a:path extrusionOk="0" h="21600" w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6"/>
            <p:cNvSpPr txBox="1"/>
            <p:nvPr/>
          </p:nvSpPr>
          <p:spPr>
            <a:xfrm flipH="1">
              <a:off x="2071325" y="4013900"/>
              <a:ext cx="974725" cy="720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47" name="Google Shape;547;p16"/>
          <p:cNvCxnSpPr/>
          <p:nvPr/>
        </p:nvCxnSpPr>
        <p:spPr>
          <a:xfrm>
            <a:off x="2663444" y="4956164"/>
            <a:ext cx="0" cy="499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8" name="Google Shape;548;p16"/>
          <p:cNvCxnSpPr/>
          <p:nvPr/>
        </p:nvCxnSpPr>
        <p:spPr>
          <a:xfrm>
            <a:off x="3671250" y="4571341"/>
            <a:ext cx="0" cy="499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9" name="Google Shape;549;p16"/>
          <p:cNvCxnSpPr/>
          <p:nvPr/>
        </p:nvCxnSpPr>
        <p:spPr>
          <a:xfrm>
            <a:off x="7773171" y="4574886"/>
            <a:ext cx="0" cy="499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Throughput</a:t>
            </a:r>
            <a:endParaRPr sz="4400"/>
          </a:p>
        </p:txBody>
      </p:sp>
      <p:grpSp>
        <p:nvGrpSpPr>
          <p:cNvPr id="556" name="Google Shape;556;p17"/>
          <p:cNvGrpSpPr/>
          <p:nvPr/>
        </p:nvGrpSpPr>
        <p:grpSpPr>
          <a:xfrm>
            <a:off x="4983726" y="4245735"/>
            <a:ext cx="912813" cy="415925"/>
            <a:chOff x="1871277" y="1576300"/>
            <a:chExt cx="1128371" cy="437861"/>
          </a:xfrm>
        </p:grpSpPr>
        <p:sp>
          <p:nvSpPr>
            <p:cNvPr id="557" name="Google Shape;557;p17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7"/>
            <p:cNvSpPr/>
            <p:nvPr/>
          </p:nvSpPr>
          <p:spPr>
            <a:xfrm>
              <a:off x="1871277" y="1740080"/>
              <a:ext cx="1128371" cy="115314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7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7"/>
            <p:cNvSpPr/>
            <p:nvPr/>
          </p:nvSpPr>
          <p:spPr>
            <a:xfrm>
              <a:off x="2159748" y="1673231"/>
              <a:ext cx="547504" cy="160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7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7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7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64" name="Google Shape;564;p17"/>
            <p:cNvCxnSpPr>
              <a:endCxn id="559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565" name="Google Shape;565;p17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566" name="Google Shape;566;p17"/>
          <p:cNvGrpSpPr/>
          <p:nvPr/>
        </p:nvGrpSpPr>
        <p:grpSpPr>
          <a:xfrm>
            <a:off x="4937689" y="2318255"/>
            <a:ext cx="911225" cy="415925"/>
            <a:chOff x="1871277" y="1576300"/>
            <a:chExt cx="1128371" cy="437861"/>
          </a:xfrm>
        </p:grpSpPr>
        <p:sp>
          <p:nvSpPr>
            <p:cNvPr id="567" name="Google Shape;567;p17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17"/>
            <p:cNvSpPr/>
            <p:nvPr/>
          </p:nvSpPr>
          <p:spPr>
            <a:xfrm>
              <a:off x="1871277" y="1740080"/>
              <a:ext cx="1128371" cy="11531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17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17"/>
            <p:cNvSpPr/>
            <p:nvPr/>
          </p:nvSpPr>
          <p:spPr>
            <a:xfrm>
              <a:off x="2160249" y="1673231"/>
              <a:ext cx="548460" cy="160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17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17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17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4" name="Google Shape;574;p17"/>
            <p:cNvCxnSpPr>
              <a:endCxn id="569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575" name="Google Shape;575;p17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576" name="Google Shape;576;p17"/>
          <p:cNvGrpSpPr/>
          <p:nvPr/>
        </p:nvGrpSpPr>
        <p:grpSpPr>
          <a:xfrm>
            <a:off x="2292914" y="1991230"/>
            <a:ext cx="352425" cy="876300"/>
            <a:chOff x="4140" y="429"/>
            <a:chExt cx="1425" cy="2396"/>
          </a:xfrm>
        </p:grpSpPr>
        <p:sp>
          <p:nvSpPr>
            <p:cNvPr id="577" name="Google Shape;577;p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7"/>
            <p:cNvSpPr/>
            <p:nvPr/>
          </p:nvSpPr>
          <p:spPr>
            <a:xfrm>
              <a:off x="4204" y="429"/>
              <a:ext cx="1046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17"/>
            <p:cNvSpPr/>
            <p:nvPr/>
          </p:nvSpPr>
          <p:spPr>
            <a:xfrm>
              <a:off x="4211" y="694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2" name="Google Shape;582;p17"/>
            <p:cNvGrpSpPr/>
            <p:nvPr/>
          </p:nvGrpSpPr>
          <p:grpSpPr>
            <a:xfrm>
              <a:off x="4750" y="668"/>
              <a:ext cx="578" cy="143"/>
              <a:chOff x="615" y="2568"/>
              <a:chExt cx="721" cy="137"/>
            </a:xfrm>
          </p:grpSpPr>
          <p:sp>
            <p:nvSpPr>
              <p:cNvPr id="583" name="Google Shape;583;p17"/>
              <p:cNvSpPr/>
              <p:nvPr/>
            </p:nvSpPr>
            <p:spPr>
              <a:xfrm>
                <a:off x="615" y="2568"/>
                <a:ext cx="721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17"/>
              <p:cNvSpPr/>
              <p:nvPr/>
            </p:nvSpPr>
            <p:spPr>
              <a:xfrm>
                <a:off x="631" y="2584"/>
                <a:ext cx="689" cy="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5" name="Google Shape;585;p17"/>
            <p:cNvSpPr/>
            <p:nvPr/>
          </p:nvSpPr>
          <p:spPr>
            <a:xfrm>
              <a:off x="4223" y="1019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6" name="Google Shape;586;p17"/>
            <p:cNvGrpSpPr/>
            <p:nvPr/>
          </p:nvGrpSpPr>
          <p:grpSpPr>
            <a:xfrm>
              <a:off x="4749" y="993"/>
              <a:ext cx="578" cy="135"/>
              <a:chOff x="617" y="2567"/>
              <a:chExt cx="721" cy="140"/>
            </a:xfrm>
          </p:grpSpPr>
          <p:sp>
            <p:nvSpPr>
              <p:cNvPr id="587" name="Google Shape;587;p17"/>
              <p:cNvSpPr/>
              <p:nvPr/>
            </p:nvSpPr>
            <p:spPr>
              <a:xfrm>
                <a:off x="617" y="2567"/>
                <a:ext cx="72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17"/>
              <p:cNvSpPr/>
              <p:nvPr/>
            </p:nvSpPr>
            <p:spPr>
              <a:xfrm>
                <a:off x="634" y="2585"/>
                <a:ext cx="689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9" name="Google Shape;589;p17"/>
            <p:cNvSpPr/>
            <p:nvPr/>
          </p:nvSpPr>
          <p:spPr>
            <a:xfrm>
              <a:off x="4217" y="1358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17"/>
            <p:cNvSpPr/>
            <p:nvPr/>
          </p:nvSpPr>
          <p:spPr>
            <a:xfrm>
              <a:off x="4230" y="1653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1" name="Google Shape;591;p17"/>
            <p:cNvGrpSpPr/>
            <p:nvPr/>
          </p:nvGrpSpPr>
          <p:grpSpPr>
            <a:xfrm>
              <a:off x="4737" y="1627"/>
              <a:ext cx="578" cy="152"/>
              <a:chOff x="616" y="2568"/>
              <a:chExt cx="720" cy="140"/>
            </a:xfrm>
          </p:grpSpPr>
          <p:sp>
            <p:nvSpPr>
              <p:cNvPr id="592" name="Google Shape;592;p17"/>
              <p:cNvSpPr/>
              <p:nvPr/>
            </p:nvSpPr>
            <p:spPr>
              <a:xfrm>
                <a:off x="616" y="2568"/>
                <a:ext cx="720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17"/>
              <p:cNvSpPr/>
              <p:nvPr/>
            </p:nvSpPr>
            <p:spPr>
              <a:xfrm>
                <a:off x="632" y="2584"/>
                <a:ext cx="688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4" name="Google Shape;594;p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5" name="Google Shape;595;p17"/>
            <p:cNvGrpSpPr/>
            <p:nvPr/>
          </p:nvGrpSpPr>
          <p:grpSpPr>
            <a:xfrm>
              <a:off x="4737" y="1328"/>
              <a:ext cx="584" cy="139"/>
              <a:chOff x="611" y="2569"/>
              <a:chExt cx="728" cy="139"/>
            </a:xfrm>
          </p:grpSpPr>
          <p:sp>
            <p:nvSpPr>
              <p:cNvPr id="596" name="Google Shape;596;p17"/>
              <p:cNvSpPr/>
              <p:nvPr/>
            </p:nvSpPr>
            <p:spPr>
              <a:xfrm>
                <a:off x="611" y="2569"/>
                <a:ext cx="728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17"/>
              <p:cNvSpPr/>
              <p:nvPr/>
            </p:nvSpPr>
            <p:spPr>
              <a:xfrm>
                <a:off x="627" y="2586"/>
                <a:ext cx="696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8" name="Google Shape;598;p17"/>
            <p:cNvSpPr/>
            <p:nvPr/>
          </p:nvSpPr>
          <p:spPr>
            <a:xfrm>
              <a:off x="5250" y="429"/>
              <a:ext cx="71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7"/>
            <p:cNvSpPr/>
            <p:nvPr/>
          </p:nvSpPr>
          <p:spPr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7"/>
            <p:cNvSpPr/>
            <p:nvPr/>
          </p:nvSpPr>
          <p:spPr>
            <a:xfrm>
              <a:off x="4140" y="2677"/>
              <a:ext cx="1200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7"/>
            <p:cNvSpPr/>
            <p:nvPr/>
          </p:nvSpPr>
          <p:spPr>
            <a:xfrm>
              <a:off x="4204" y="2712"/>
              <a:ext cx="1072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17"/>
            <p:cNvSpPr/>
            <p:nvPr/>
          </p:nvSpPr>
          <p:spPr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7"/>
            <p:cNvSpPr/>
            <p:nvPr/>
          </p:nvSpPr>
          <p:spPr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7"/>
            <p:cNvSpPr/>
            <p:nvPr/>
          </p:nvSpPr>
          <p:spPr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9" name="Google Shape;609;p17"/>
          <p:cNvSpPr txBox="1"/>
          <p:nvPr/>
        </p:nvSpPr>
        <p:spPr>
          <a:xfrm>
            <a:off x="1197539" y="1361756"/>
            <a:ext cx="8150225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&lt; 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1" lang="en-US" sz="28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average end-end throughput?</a:t>
            </a:r>
            <a:endParaRPr/>
          </a:p>
        </p:txBody>
      </p:sp>
      <p:grpSp>
        <p:nvGrpSpPr>
          <p:cNvPr id="610" name="Google Shape;610;p17"/>
          <p:cNvGrpSpPr/>
          <p:nvPr/>
        </p:nvGrpSpPr>
        <p:grpSpPr>
          <a:xfrm>
            <a:off x="2745351" y="2343655"/>
            <a:ext cx="2136775" cy="307975"/>
            <a:chOff x="2249" y="3430"/>
            <a:chExt cx="1389" cy="256"/>
          </a:xfrm>
        </p:grpSpPr>
        <p:sp>
          <p:nvSpPr>
            <p:cNvPr id="611" name="Google Shape;611;p17"/>
            <p:cNvSpPr/>
            <p:nvPr/>
          </p:nvSpPr>
          <p:spPr>
            <a:xfrm>
              <a:off x="3569" y="3433"/>
              <a:ext cx="69" cy="253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7"/>
            <p:cNvSpPr/>
            <p:nvPr/>
          </p:nvSpPr>
          <p:spPr>
            <a:xfrm>
              <a:off x="2275" y="3433"/>
              <a:ext cx="1326" cy="253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7"/>
            <p:cNvSpPr/>
            <p:nvPr/>
          </p:nvSpPr>
          <p:spPr>
            <a:xfrm>
              <a:off x="3562" y="3438"/>
              <a:ext cx="44" cy="24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5" name="Google Shape;615;p17"/>
          <p:cNvSpPr txBox="1"/>
          <p:nvPr/>
        </p:nvSpPr>
        <p:spPr>
          <a:xfrm>
            <a:off x="2534214" y="2270741"/>
            <a:ext cx="25860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bits/sec</a:t>
            </a:r>
            <a:endParaRPr/>
          </a:p>
        </p:txBody>
      </p:sp>
      <p:sp>
        <p:nvSpPr>
          <p:cNvPr id="616" name="Google Shape;616;p17"/>
          <p:cNvSpPr/>
          <p:nvPr/>
        </p:nvSpPr>
        <p:spPr>
          <a:xfrm flipH="1" rot="10800000">
            <a:off x="1934139" y="2111880"/>
            <a:ext cx="895350" cy="565150"/>
          </a:xfrm>
          <a:custGeom>
            <a:rect b="b" l="l" r="r" t="t"/>
            <a:pathLst>
              <a:path extrusionOk="0" h="21600" w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CC0000"/>
              </a:gs>
            </a:gsLst>
            <a:lin ang="0" scaled="0"/>
          </a:gra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7"/>
          <p:cNvSpPr txBox="1"/>
          <p:nvPr/>
        </p:nvSpPr>
        <p:spPr>
          <a:xfrm flipH="1">
            <a:off x="1934125" y="2111875"/>
            <a:ext cx="895350" cy="565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7"/>
          <p:cNvSpPr/>
          <p:nvPr/>
        </p:nvSpPr>
        <p:spPr>
          <a:xfrm>
            <a:off x="8168251" y="2318255"/>
            <a:ext cx="941624" cy="379413"/>
          </a:xfrm>
          <a:prstGeom prst="rightArrow">
            <a:avLst>
              <a:gd fmla="val 50000" name="adj1"/>
              <a:gd fmla="val 53870" name="adj2"/>
            </a:avLst>
          </a:prstGeom>
          <a:gradFill>
            <a:gsLst>
              <a:gs pos="0">
                <a:srgbClr val="FFFFFF"/>
              </a:gs>
              <a:gs pos="100000">
                <a:srgbClr val="CC0000"/>
              </a:gs>
            </a:gsLst>
            <a:lin ang="0" scaled="0"/>
          </a:gra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9" name="Google Shape;619;p17"/>
          <p:cNvGrpSpPr/>
          <p:nvPr/>
        </p:nvGrpSpPr>
        <p:grpSpPr>
          <a:xfrm>
            <a:off x="6118790" y="2210305"/>
            <a:ext cx="2577607" cy="569913"/>
            <a:chOff x="3130" y="3069"/>
            <a:chExt cx="1765" cy="366"/>
          </a:xfrm>
        </p:grpSpPr>
        <p:grpSp>
          <p:nvGrpSpPr>
            <p:cNvPr id="620" name="Google Shape;620;p17"/>
            <p:cNvGrpSpPr/>
            <p:nvPr/>
          </p:nvGrpSpPr>
          <p:grpSpPr>
            <a:xfrm>
              <a:off x="3130" y="3069"/>
              <a:ext cx="1765" cy="366"/>
              <a:chOff x="2249" y="3430"/>
              <a:chExt cx="1389" cy="256"/>
            </a:xfrm>
          </p:grpSpPr>
          <p:sp>
            <p:nvSpPr>
              <p:cNvPr id="621" name="Google Shape;621;p17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17"/>
              <p:cNvSpPr/>
              <p:nvPr/>
            </p:nvSpPr>
            <p:spPr>
              <a:xfrm>
                <a:off x="2275" y="3433"/>
                <a:ext cx="1329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17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17"/>
              <p:cNvSpPr/>
              <p:nvPr/>
            </p:nvSpPr>
            <p:spPr>
              <a:xfrm>
                <a:off x="3562" y="3438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5" name="Google Shape;625;p17"/>
            <p:cNvSpPr txBox="1"/>
            <p:nvPr/>
          </p:nvSpPr>
          <p:spPr>
            <a:xfrm>
              <a:off x="3181" y="3135"/>
              <a:ext cx="1702" cy="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</p:grpSp>
      <p:sp>
        <p:nvSpPr>
          <p:cNvPr id="626" name="Google Shape;626;p17"/>
          <p:cNvSpPr/>
          <p:nvPr/>
        </p:nvSpPr>
        <p:spPr>
          <a:xfrm>
            <a:off x="1234051" y="3170791"/>
            <a:ext cx="8062913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&gt; 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1" lang="en-US" sz="28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average end-end throughput?</a:t>
            </a:r>
            <a:endParaRPr/>
          </a:p>
        </p:txBody>
      </p:sp>
      <p:grpSp>
        <p:nvGrpSpPr>
          <p:cNvPr id="627" name="Google Shape;627;p17"/>
          <p:cNvGrpSpPr/>
          <p:nvPr/>
        </p:nvGrpSpPr>
        <p:grpSpPr>
          <a:xfrm>
            <a:off x="1327659" y="5111236"/>
            <a:ext cx="8847138" cy="1282702"/>
            <a:chOff x="186" y="3246"/>
            <a:chExt cx="5573" cy="808"/>
          </a:xfrm>
        </p:grpSpPr>
        <p:sp>
          <p:nvSpPr>
            <p:cNvPr id="628" name="Google Shape;628;p17"/>
            <p:cNvSpPr/>
            <p:nvPr/>
          </p:nvSpPr>
          <p:spPr>
            <a:xfrm>
              <a:off x="186" y="3414"/>
              <a:ext cx="5521" cy="64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17"/>
            <p:cNvSpPr txBox="1"/>
            <p:nvPr/>
          </p:nvSpPr>
          <p:spPr>
            <a:xfrm>
              <a:off x="238" y="3585"/>
              <a:ext cx="5521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 on end-end path that constrains  end-end throughput</a:t>
              </a:r>
              <a:endParaRPr/>
            </a:p>
          </p:txBody>
        </p:sp>
        <p:sp>
          <p:nvSpPr>
            <p:cNvPr id="630" name="Google Shape;630;p17"/>
            <p:cNvSpPr txBox="1"/>
            <p:nvPr/>
          </p:nvSpPr>
          <p:spPr>
            <a:xfrm>
              <a:off x="375" y="3246"/>
              <a:ext cx="1629" cy="3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bottleneck link</a:t>
              </a:r>
              <a:endParaRPr/>
            </a:p>
          </p:txBody>
        </p:sp>
      </p:grpSp>
      <p:sp>
        <p:nvSpPr>
          <p:cNvPr id="631" name="Google Shape;631;p17"/>
          <p:cNvSpPr/>
          <p:nvPr/>
        </p:nvSpPr>
        <p:spPr>
          <a:xfrm>
            <a:off x="4883714" y="2311905"/>
            <a:ext cx="1365250" cy="381000"/>
          </a:xfrm>
          <a:prstGeom prst="rightArrow">
            <a:avLst>
              <a:gd fmla="val 50000" name="adj1"/>
              <a:gd fmla="val 89583" name="adj2"/>
            </a:avLst>
          </a:prstGeom>
          <a:gradFill>
            <a:gsLst>
              <a:gs pos="0">
                <a:srgbClr val="FFFFFF"/>
              </a:gs>
              <a:gs pos="100000">
                <a:srgbClr val="CC0000"/>
              </a:gs>
            </a:gsLst>
            <a:lin ang="0" scaled="0"/>
          </a:gra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2" name="Google Shape;632;p17"/>
          <p:cNvGrpSpPr/>
          <p:nvPr/>
        </p:nvGrpSpPr>
        <p:grpSpPr>
          <a:xfrm flipH="1">
            <a:off x="9058681" y="2157918"/>
            <a:ext cx="871538" cy="885825"/>
            <a:chOff x="-44" y="1473"/>
            <a:chExt cx="981" cy="1105"/>
          </a:xfrm>
        </p:grpSpPr>
        <p:pic>
          <p:nvPicPr>
            <p:cNvPr descr="desktop_computer_stylized_medium" id="633" name="Google Shape;633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4" name="Google Shape;634;p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5" name="Google Shape;635;p17"/>
          <p:cNvSpPr/>
          <p:nvPr/>
        </p:nvSpPr>
        <p:spPr>
          <a:xfrm>
            <a:off x="1846826" y="1854705"/>
            <a:ext cx="407988" cy="431800"/>
          </a:xfrm>
          <a:prstGeom prst="can">
            <a:avLst>
              <a:gd fmla="val 21398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6" name="Google Shape;636;p17"/>
          <p:cNvGrpSpPr/>
          <p:nvPr/>
        </p:nvGrpSpPr>
        <p:grpSpPr>
          <a:xfrm>
            <a:off x="1908739" y="3723447"/>
            <a:ext cx="8126412" cy="1166813"/>
            <a:chOff x="775" y="2474"/>
            <a:chExt cx="5119" cy="735"/>
          </a:xfrm>
        </p:grpSpPr>
        <p:grpSp>
          <p:nvGrpSpPr>
            <p:cNvPr id="637" name="Google Shape;637;p17"/>
            <p:cNvGrpSpPr/>
            <p:nvPr/>
          </p:nvGrpSpPr>
          <p:grpSpPr>
            <a:xfrm>
              <a:off x="1056" y="2589"/>
              <a:ext cx="222" cy="552"/>
              <a:chOff x="4140" y="429"/>
              <a:chExt cx="1425" cy="2396"/>
            </a:xfrm>
          </p:grpSpPr>
          <p:sp>
            <p:nvSpPr>
              <p:cNvPr id="638" name="Google Shape;638;p17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17"/>
              <p:cNvSpPr/>
              <p:nvPr/>
            </p:nvSpPr>
            <p:spPr>
              <a:xfrm>
                <a:off x="4204" y="429"/>
                <a:ext cx="1046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17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17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17"/>
              <p:cNvSpPr/>
              <p:nvPr/>
            </p:nvSpPr>
            <p:spPr>
              <a:xfrm>
                <a:off x="4211" y="694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43" name="Google Shape;643;p17"/>
              <p:cNvGrpSpPr/>
              <p:nvPr/>
            </p:nvGrpSpPr>
            <p:grpSpPr>
              <a:xfrm>
                <a:off x="4750" y="668"/>
                <a:ext cx="578" cy="143"/>
                <a:chOff x="615" y="2568"/>
                <a:chExt cx="721" cy="137"/>
              </a:xfrm>
            </p:grpSpPr>
            <p:sp>
              <p:nvSpPr>
                <p:cNvPr id="644" name="Google Shape;644;p17"/>
                <p:cNvSpPr/>
                <p:nvPr/>
              </p:nvSpPr>
              <p:spPr>
                <a:xfrm>
                  <a:off x="615" y="2568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45;p17"/>
                <p:cNvSpPr/>
                <p:nvPr/>
              </p:nvSpPr>
              <p:spPr>
                <a:xfrm>
                  <a:off x="631" y="2584"/>
                  <a:ext cx="689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46" name="Google Shape;646;p17"/>
              <p:cNvSpPr/>
              <p:nvPr/>
            </p:nvSpPr>
            <p:spPr>
              <a:xfrm>
                <a:off x="4223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47" name="Google Shape;647;p17"/>
              <p:cNvGrpSpPr/>
              <p:nvPr/>
            </p:nvGrpSpPr>
            <p:grpSpPr>
              <a:xfrm>
                <a:off x="4749" y="993"/>
                <a:ext cx="578" cy="135"/>
                <a:chOff x="617" y="2567"/>
                <a:chExt cx="721" cy="140"/>
              </a:xfrm>
            </p:grpSpPr>
            <p:sp>
              <p:nvSpPr>
                <p:cNvPr id="648" name="Google Shape;648;p17"/>
                <p:cNvSpPr/>
                <p:nvPr/>
              </p:nvSpPr>
              <p:spPr>
                <a:xfrm>
                  <a:off x="617" y="2567"/>
                  <a:ext cx="721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" name="Google Shape;649;p17"/>
                <p:cNvSpPr/>
                <p:nvPr/>
              </p:nvSpPr>
              <p:spPr>
                <a:xfrm>
                  <a:off x="634" y="2585"/>
                  <a:ext cx="689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50" name="Google Shape;650;p17"/>
              <p:cNvSpPr/>
              <p:nvPr/>
            </p:nvSpPr>
            <p:spPr>
              <a:xfrm>
                <a:off x="4217" y="1358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17"/>
              <p:cNvSpPr/>
              <p:nvPr/>
            </p:nvSpPr>
            <p:spPr>
              <a:xfrm>
                <a:off x="4230" y="1653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52" name="Google Shape;652;p17"/>
              <p:cNvGrpSpPr/>
              <p:nvPr/>
            </p:nvGrpSpPr>
            <p:grpSpPr>
              <a:xfrm>
                <a:off x="4737" y="1627"/>
                <a:ext cx="578" cy="152"/>
                <a:chOff x="616" y="2568"/>
                <a:chExt cx="720" cy="140"/>
              </a:xfrm>
            </p:grpSpPr>
            <p:sp>
              <p:nvSpPr>
                <p:cNvPr id="653" name="Google Shape;653;p17"/>
                <p:cNvSpPr/>
                <p:nvPr/>
              </p:nvSpPr>
              <p:spPr>
                <a:xfrm>
                  <a:off x="616" y="2568"/>
                  <a:ext cx="720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4" name="Google Shape;654;p17"/>
                <p:cNvSpPr/>
                <p:nvPr/>
              </p:nvSpPr>
              <p:spPr>
                <a:xfrm>
                  <a:off x="632" y="2584"/>
                  <a:ext cx="688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55" name="Google Shape;655;p17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56" name="Google Shape;656;p17"/>
              <p:cNvGrpSpPr/>
              <p:nvPr/>
            </p:nvGrpSpPr>
            <p:grpSpPr>
              <a:xfrm>
                <a:off x="4737" y="1327"/>
                <a:ext cx="584" cy="139"/>
                <a:chOff x="611" y="2568"/>
                <a:chExt cx="728" cy="139"/>
              </a:xfrm>
            </p:grpSpPr>
            <p:sp>
              <p:nvSpPr>
                <p:cNvPr id="657" name="Google Shape;657;p17"/>
                <p:cNvSpPr/>
                <p:nvPr/>
              </p:nvSpPr>
              <p:spPr>
                <a:xfrm>
                  <a:off x="611" y="2568"/>
                  <a:ext cx="728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8" name="Google Shape;658;p17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59" name="Google Shape;659;p17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17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17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17"/>
              <p:cNvSpPr/>
              <p:nvPr/>
            </p:nvSpPr>
            <p:spPr>
              <a:xfrm>
                <a:off x="5520" y="2612"/>
                <a:ext cx="45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1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17"/>
              <p:cNvSpPr/>
              <p:nvPr/>
            </p:nvSpPr>
            <p:spPr>
              <a:xfrm>
                <a:off x="4140" y="2677"/>
                <a:ext cx="1200" cy="148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17"/>
              <p:cNvSpPr/>
              <p:nvPr/>
            </p:nvSpPr>
            <p:spPr>
              <a:xfrm>
                <a:off x="4204" y="2712"/>
                <a:ext cx="1072" cy="8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17"/>
              <p:cNvSpPr/>
              <p:nvPr/>
            </p:nvSpPr>
            <p:spPr>
              <a:xfrm>
                <a:off x="4307" y="2382"/>
                <a:ext cx="160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17"/>
              <p:cNvSpPr/>
              <p:nvPr/>
            </p:nvSpPr>
            <p:spPr>
              <a:xfrm>
                <a:off x="4487" y="2382"/>
                <a:ext cx="160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17"/>
              <p:cNvSpPr/>
              <p:nvPr/>
            </p:nvSpPr>
            <p:spPr>
              <a:xfrm>
                <a:off x="4660" y="2382"/>
                <a:ext cx="160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17"/>
              <p:cNvSpPr/>
              <p:nvPr/>
            </p:nvSpPr>
            <p:spPr>
              <a:xfrm>
                <a:off x="5064" y="1835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70" name="Google Shape;670;p17"/>
            <p:cNvCxnSpPr/>
            <p:nvPr/>
          </p:nvCxnSpPr>
          <p:spPr>
            <a:xfrm>
              <a:off x="1354" y="2913"/>
              <a:ext cx="3661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71" name="Google Shape;671;p17"/>
            <p:cNvGrpSpPr/>
            <p:nvPr/>
          </p:nvGrpSpPr>
          <p:grpSpPr>
            <a:xfrm>
              <a:off x="2731" y="2870"/>
              <a:ext cx="607" cy="108"/>
              <a:chOff x="3603" y="243"/>
              <a:chExt cx="357" cy="106"/>
            </a:xfrm>
          </p:grpSpPr>
          <p:cxnSp>
            <p:nvCxnSpPr>
              <p:cNvPr id="672" name="Google Shape;672;p17"/>
              <p:cNvCxnSpPr/>
              <p:nvPr/>
            </p:nvCxnSpPr>
            <p:spPr>
              <a:xfrm>
                <a:off x="3603" y="289"/>
                <a:ext cx="0" cy="6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3" name="Google Shape;673;p17"/>
              <p:cNvCxnSpPr/>
              <p:nvPr/>
            </p:nvCxnSpPr>
            <p:spPr>
              <a:xfrm>
                <a:off x="3960" y="289"/>
                <a:ext cx="0" cy="6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4" name="Google Shape;674;p17"/>
              <p:cNvSpPr/>
              <p:nvPr/>
            </p:nvSpPr>
            <p:spPr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75" name="Google Shape;675;p17"/>
              <p:cNvGrpSpPr/>
              <p:nvPr/>
            </p:nvGrpSpPr>
            <p:grpSpPr>
              <a:xfrm>
                <a:off x="3749" y="248"/>
                <a:ext cx="119" cy="65"/>
                <a:chOff x="2894" y="850"/>
                <a:chExt cx="94" cy="96"/>
              </a:xfrm>
            </p:grpSpPr>
            <p:cxnSp>
              <p:nvCxnSpPr>
                <p:cNvPr id="676" name="Google Shape;676;p17"/>
                <p:cNvCxnSpPr/>
                <p:nvPr/>
              </p:nvCxnSpPr>
              <p:spPr>
                <a:xfrm>
                  <a:off x="2944" y="946"/>
                  <a:ext cx="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7" name="Google Shape;677;p17"/>
                <p:cNvCxnSpPr/>
                <p:nvPr/>
              </p:nvCxnSpPr>
              <p:spPr>
                <a:xfrm>
                  <a:off x="2894" y="850"/>
                  <a:ext cx="52" cy="9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78" name="Google Shape;678;p17"/>
              <p:cNvGrpSpPr/>
              <p:nvPr/>
            </p:nvGrpSpPr>
            <p:grpSpPr>
              <a:xfrm flipH="1" rot="10800000">
                <a:off x="3689" y="243"/>
                <a:ext cx="124" cy="66"/>
                <a:chOff x="2848" y="848"/>
                <a:chExt cx="98" cy="98"/>
              </a:xfrm>
            </p:grpSpPr>
            <p:cxnSp>
              <p:nvCxnSpPr>
                <p:cNvPr id="679" name="Google Shape;679;p17"/>
                <p:cNvCxnSpPr/>
                <p:nvPr/>
              </p:nvCxnSpPr>
              <p:spPr>
                <a:xfrm flipH="1" rot="10800000">
                  <a:off x="2848" y="848"/>
                  <a:ext cx="50" cy="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0" name="Google Shape;680;p17"/>
                <p:cNvCxnSpPr/>
                <p:nvPr/>
              </p:nvCxnSpPr>
              <p:spPr>
                <a:xfrm>
                  <a:off x="2894" y="850"/>
                  <a:ext cx="52" cy="9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681" name="Google Shape;681;p17"/>
            <p:cNvSpPr/>
            <p:nvPr/>
          </p:nvSpPr>
          <p:spPr>
            <a:xfrm>
              <a:off x="4741" y="2812"/>
              <a:ext cx="609" cy="239"/>
            </a:xfrm>
            <a:prstGeom prst="rightArrow">
              <a:avLst>
                <a:gd fmla="val 50000" name="adj1"/>
                <a:gd fmla="val 53870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2" name="Google Shape;682;p17"/>
            <p:cNvGrpSpPr/>
            <p:nvPr/>
          </p:nvGrpSpPr>
          <p:grpSpPr>
            <a:xfrm>
              <a:off x="1328" y="2739"/>
              <a:ext cx="1347" cy="360"/>
              <a:chOff x="2249" y="3459"/>
              <a:chExt cx="1389" cy="257"/>
            </a:xfrm>
          </p:grpSpPr>
          <p:sp>
            <p:nvSpPr>
              <p:cNvPr id="683" name="Google Shape;683;p17"/>
              <p:cNvSpPr/>
              <p:nvPr/>
            </p:nvSpPr>
            <p:spPr>
              <a:xfrm>
                <a:off x="3569" y="346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" name="Google Shape;684;p17"/>
              <p:cNvSpPr/>
              <p:nvPr/>
            </p:nvSpPr>
            <p:spPr>
              <a:xfrm>
                <a:off x="2275" y="3459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17"/>
              <p:cNvSpPr/>
              <p:nvPr/>
            </p:nvSpPr>
            <p:spPr>
              <a:xfrm>
                <a:off x="2249" y="346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17"/>
              <p:cNvSpPr/>
              <p:nvPr/>
            </p:nvSpPr>
            <p:spPr>
              <a:xfrm>
                <a:off x="3562" y="3462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87" name="Google Shape;687;p17"/>
            <p:cNvSpPr txBox="1"/>
            <p:nvPr/>
          </p:nvSpPr>
          <p:spPr>
            <a:xfrm>
              <a:off x="1313" y="2811"/>
              <a:ext cx="141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  <p:grpSp>
          <p:nvGrpSpPr>
            <p:cNvPr id="688" name="Google Shape;688;p17"/>
            <p:cNvGrpSpPr/>
            <p:nvPr/>
          </p:nvGrpSpPr>
          <p:grpSpPr>
            <a:xfrm>
              <a:off x="3419" y="2828"/>
              <a:ext cx="1621" cy="194"/>
              <a:chOff x="2249" y="3430"/>
              <a:chExt cx="1389" cy="256"/>
            </a:xfrm>
          </p:grpSpPr>
          <p:sp>
            <p:nvSpPr>
              <p:cNvPr id="689" name="Google Shape;689;p17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17"/>
              <p:cNvSpPr/>
              <p:nvPr/>
            </p:nvSpPr>
            <p:spPr>
              <a:xfrm>
                <a:off x="2275" y="3433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17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17"/>
              <p:cNvSpPr/>
              <p:nvPr/>
            </p:nvSpPr>
            <p:spPr>
              <a:xfrm>
                <a:off x="3562" y="3438"/>
                <a:ext cx="45" cy="245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3" name="Google Shape;693;p17"/>
            <p:cNvSpPr txBox="1"/>
            <p:nvPr/>
          </p:nvSpPr>
          <p:spPr>
            <a:xfrm>
              <a:off x="3475" y="2780"/>
              <a:ext cx="162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R</a:t>
              </a:r>
              <a:r>
                <a:rPr b="0" baseline="-2500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  <p:sp>
          <p:nvSpPr>
            <p:cNvPr id="694" name="Google Shape;694;p17"/>
            <p:cNvSpPr/>
            <p:nvPr/>
          </p:nvSpPr>
          <p:spPr>
            <a:xfrm>
              <a:off x="2668" y="2808"/>
              <a:ext cx="860" cy="240"/>
            </a:xfrm>
            <a:prstGeom prst="rightArrow">
              <a:avLst>
                <a:gd fmla="val 50000" name="adj1"/>
                <a:gd fmla="val 89583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17"/>
            <p:cNvSpPr/>
            <p:nvPr/>
          </p:nvSpPr>
          <p:spPr>
            <a:xfrm flipH="1" rot="10800000">
              <a:off x="814" y="2682"/>
              <a:ext cx="564" cy="356"/>
            </a:xfrm>
            <a:custGeom>
              <a:rect b="b" l="l" r="r" t="t"/>
              <a:pathLst>
                <a:path extrusionOk="0" h="21600" w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7"/>
            <p:cNvSpPr txBox="1"/>
            <p:nvPr/>
          </p:nvSpPr>
          <p:spPr>
            <a:xfrm flipH="1">
              <a:off x="800" y="2675"/>
              <a:ext cx="564" cy="3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7" name="Google Shape;697;p17"/>
            <p:cNvGrpSpPr/>
            <p:nvPr/>
          </p:nvGrpSpPr>
          <p:grpSpPr>
            <a:xfrm flipH="1">
              <a:off x="5345" y="2651"/>
              <a:ext cx="549" cy="558"/>
              <a:chOff x="-248" y="1473"/>
              <a:chExt cx="981" cy="1105"/>
            </a:xfrm>
          </p:grpSpPr>
          <p:pic>
            <p:nvPicPr>
              <p:cNvPr descr="desktop_computer_stylized_medium" id="698" name="Google Shape;698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248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9" name="Google Shape;699;p17"/>
              <p:cNvSpPr/>
              <p:nvPr/>
            </p:nvSpPr>
            <p:spPr>
              <a:xfrm flipH="1">
                <a:off x="20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00" name="Google Shape;700;p17"/>
            <p:cNvSpPr/>
            <p:nvPr/>
          </p:nvSpPr>
          <p:spPr>
            <a:xfrm>
              <a:off x="775" y="2474"/>
              <a:ext cx="257" cy="272"/>
            </a:xfrm>
            <a:prstGeom prst="can">
              <a:avLst>
                <a:gd fmla="val 21398" name="adj"/>
              </a:avLst>
            </a:pr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Throughput: network scenario</a:t>
            </a:r>
            <a:endParaRPr sz="4400"/>
          </a:p>
        </p:txBody>
      </p:sp>
      <p:grpSp>
        <p:nvGrpSpPr>
          <p:cNvPr id="707" name="Google Shape;707;p18"/>
          <p:cNvGrpSpPr/>
          <p:nvPr/>
        </p:nvGrpSpPr>
        <p:grpSpPr>
          <a:xfrm>
            <a:off x="1066778" y="1303830"/>
            <a:ext cx="4754562" cy="5021997"/>
            <a:chOff x="6096000" y="1390614"/>
            <a:chExt cx="4754562" cy="5021997"/>
          </a:xfrm>
        </p:grpSpPr>
        <p:sp>
          <p:nvSpPr>
            <p:cNvPr id="708" name="Google Shape;708;p18"/>
            <p:cNvSpPr txBox="1"/>
            <p:nvPr/>
          </p:nvSpPr>
          <p:spPr>
            <a:xfrm>
              <a:off x="6096000" y="5581614"/>
              <a:ext cx="475456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 connections (fairly) share backbone bottleneck link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  <p:sp>
          <p:nvSpPr>
            <p:cNvPr id="709" name="Google Shape;709;p18"/>
            <p:cNvSpPr/>
            <p:nvPr/>
          </p:nvSpPr>
          <p:spPr>
            <a:xfrm>
              <a:off x="6742112" y="2666964"/>
              <a:ext cx="3127375" cy="1498600"/>
            </a:xfrm>
            <a:custGeom>
              <a:rect b="b" l="l" r="r" t="t"/>
              <a:pathLst>
                <a:path extrusionOk="0" h="917" w="1877">
                  <a:moveTo>
                    <a:pt x="889" y="23"/>
                  </a:moveTo>
                  <a:cubicBezTo>
                    <a:pt x="804" y="39"/>
                    <a:pt x="771" y="98"/>
                    <a:pt x="692" y="109"/>
                  </a:cubicBezTo>
                  <a:cubicBezTo>
                    <a:pt x="613" y="120"/>
                    <a:pt x="511" y="81"/>
                    <a:pt x="415" y="91"/>
                  </a:cubicBezTo>
                  <a:cubicBezTo>
                    <a:pt x="319" y="101"/>
                    <a:pt x="174" y="126"/>
                    <a:pt x="112" y="170"/>
                  </a:cubicBezTo>
                  <a:cubicBezTo>
                    <a:pt x="51" y="214"/>
                    <a:pt x="66" y="294"/>
                    <a:pt x="50" y="353"/>
                  </a:cubicBezTo>
                  <a:cubicBezTo>
                    <a:pt x="34" y="412"/>
                    <a:pt x="0" y="479"/>
                    <a:pt x="14" y="528"/>
                  </a:cubicBezTo>
                  <a:cubicBezTo>
                    <a:pt x="29" y="577"/>
                    <a:pt x="57" y="608"/>
                    <a:pt x="139" y="650"/>
                  </a:cubicBezTo>
                  <a:cubicBezTo>
                    <a:pt x="221" y="692"/>
                    <a:pt x="372" y="742"/>
                    <a:pt x="505" y="781"/>
                  </a:cubicBezTo>
                  <a:cubicBezTo>
                    <a:pt x="638" y="820"/>
                    <a:pt x="789" y="866"/>
                    <a:pt x="933" y="886"/>
                  </a:cubicBezTo>
                  <a:cubicBezTo>
                    <a:pt x="1077" y="906"/>
                    <a:pt x="1246" y="917"/>
                    <a:pt x="1370" y="901"/>
                  </a:cubicBezTo>
                  <a:cubicBezTo>
                    <a:pt x="1494" y="885"/>
                    <a:pt x="1594" y="839"/>
                    <a:pt x="1676" y="793"/>
                  </a:cubicBezTo>
                  <a:cubicBezTo>
                    <a:pt x="1758" y="747"/>
                    <a:pt x="1843" y="720"/>
                    <a:pt x="1860" y="624"/>
                  </a:cubicBezTo>
                  <a:cubicBezTo>
                    <a:pt x="1877" y="528"/>
                    <a:pt x="1835" y="306"/>
                    <a:pt x="1776" y="219"/>
                  </a:cubicBezTo>
                  <a:cubicBezTo>
                    <a:pt x="1717" y="132"/>
                    <a:pt x="1599" y="134"/>
                    <a:pt x="1503" y="100"/>
                  </a:cubicBezTo>
                  <a:cubicBezTo>
                    <a:pt x="1407" y="66"/>
                    <a:pt x="1302" y="26"/>
                    <a:pt x="1200" y="13"/>
                  </a:cubicBezTo>
                  <a:cubicBezTo>
                    <a:pt x="1098" y="0"/>
                    <a:pt x="974" y="7"/>
                    <a:pt x="889" y="2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18"/>
            <p:cNvSpPr txBox="1"/>
            <p:nvPr/>
          </p:nvSpPr>
          <p:spPr>
            <a:xfrm>
              <a:off x="6605587" y="2290727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8"/>
            <p:cNvSpPr/>
            <p:nvPr/>
          </p:nvSpPr>
          <p:spPr>
            <a:xfrm rot="5400000">
              <a:off x="8470106" y="3718683"/>
              <a:ext cx="50800" cy="525462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18"/>
            <p:cNvSpPr/>
            <p:nvPr/>
          </p:nvSpPr>
          <p:spPr>
            <a:xfrm rot="5400000">
              <a:off x="8003381" y="3224971"/>
              <a:ext cx="984250" cy="525462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18"/>
            <p:cNvSpPr/>
            <p:nvPr/>
          </p:nvSpPr>
          <p:spPr>
            <a:xfrm rot="5400000">
              <a:off x="8474075" y="2739989"/>
              <a:ext cx="52387" cy="525463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18"/>
            <p:cNvSpPr/>
            <p:nvPr/>
          </p:nvSpPr>
          <p:spPr>
            <a:xfrm rot="5400000">
              <a:off x="8474075" y="3711539"/>
              <a:ext cx="31750" cy="51117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18"/>
            <p:cNvSpPr/>
            <p:nvPr/>
          </p:nvSpPr>
          <p:spPr>
            <a:xfrm rot="1792560">
              <a:off x="7480300" y="2614577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18"/>
            <p:cNvSpPr/>
            <p:nvPr/>
          </p:nvSpPr>
          <p:spPr>
            <a:xfrm rot="1792560">
              <a:off x="6815137" y="2411377"/>
              <a:ext cx="730250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8"/>
            <p:cNvSpPr/>
            <p:nvPr/>
          </p:nvSpPr>
          <p:spPr>
            <a:xfrm rot="1792560">
              <a:off x="6850062" y="2211352"/>
              <a:ext cx="38100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18"/>
            <p:cNvSpPr/>
            <p:nvPr/>
          </p:nvSpPr>
          <p:spPr>
            <a:xfrm rot="1792560">
              <a:off x="7477125" y="2611402"/>
              <a:ext cx="23812" cy="153987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9" name="Google Shape;719;p18"/>
            <p:cNvCxnSpPr/>
            <p:nvPr/>
          </p:nvCxnSpPr>
          <p:spPr>
            <a:xfrm rot="1792560">
              <a:off x="6686550" y="2482814"/>
              <a:ext cx="9556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20" name="Google Shape;720;p18"/>
            <p:cNvSpPr/>
            <p:nvPr/>
          </p:nvSpPr>
          <p:spPr>
            <a:xfrm rot="2768172">
              <a:off x="7989887" y="2617752"/>
              <a:ext cx="47625" cy="14287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18"/>
            <p:cNvSpPr/>
            <p:nvPr/>
          </p:nvSpPr>
          <p:spPr>
            <a:xfrm rot="2768172">
              <a:off x="7268369" y="2285170"/>
              <a:ext cx="915988" cy="14287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18"/>
            <p:cNvSpPr/>
            <p:nvPr/>
          </p:nvSpPr>
          <p:spPr>
            <a:xfrm rot="2768172">
              <a:off x="7419975" y="1958939"/>
              <a:ext cx="47625" cy="142875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18"/>
            <p:cNvSpPr/>
            <p:nvPr/>
          </p:nvSpPr>
          <p:spPr>
            <a:xfrm rot="2768172">
              <a:off x="7989887" y="2609814"/>
              <a:ext cx="30163" cy="138113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4" name="Google Shape;724;p18"/>
            <p:cNvCxnSpPr/>
            <p:nvPr/>
          </p:nvCxnSpPr>
          <p:spPr>
            <a:xfrm rot="2768172">
              <a:off x="7111999" y="2341527"/>
              <a:ext cx="11969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25" name="Google Shape;725;p18"/>
            <p:cNvSpPr/>
            <p:nvPr/>
          </p:nvSpPr>
          <p:spPr>
            <a:xfrm flipH="1" rot="-1792560">
              <a:off x="6943725" y="4467189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18"/>
            <p:cNvSpPr/>
            <p:nvPr/>
          </p:nvSpPr>
          <p:spPr>
            <a:xfrm flipH="1" rot="-1792560">
              <a:off x="6916737" y="4263989"/>
              <a:ext cx="730250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18"/>
            <p:cNvSpPr/>
            <p:nvPr/>
          </p:nvSpPr>
          <p:spPr>
            <a:xfrm flipH="1" rot="-1792560">
              <a:off x="7575550" y="4063964"/>
              <a:ext cx="36512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18"/>
            <p:cNvSpPr/>
            <p:nvPr/>
          </p:nvSpPr>
          <p:spPr>
            <a:xfrm flipH="1" rot="-1792560">
              <a:off x="6959600" y="4464014"/>
              <a:ext cx="23812" cy="153988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9" name="Google Shape;729;p18"/>
            <p:cNvCxnSpPr/>
            <p:nvPr/>
          </p:nvCxnSpPr>
          <p:spPr>
            <a:xfrm rot="9007440">
              <a:off x="6821487" y="4335427"/>
              <a:ext cx="9556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30" name="Google Shape;730;p18"/>
            <p:cNvSpPr/>
            <p:nvPr/>
          </p:nvSpPr>
          <p:spPr>
            <a:xfrm flipH="1" rot="8031828">
              <a:off x="8197850" y="4240177"/>
              <a:ext cx="47625" cy="14287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18"/>
            <p:cNvSpPr/>
            <p:nvPr/>
          </p:nvSpPr>
          <p:spPr>
            <a:xfrm flipH="1" rot="8031828">
              <a:off x="7475537" y="4571964"/>
              <a:ext cx="917575" cy="14287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18"/>
            <p:cNvSpPr/>
            <p:nvPr/>
          </p:nvSpPr>
          <p:spPr>
            <a:xfrm flipH="1" rot="8031828">
              <a:off x="7629525" y="4898989"/>
              <a:ext cx="47625" cy="142875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18"/>
            <p:cNvSpPr/>
            <p:nvPr/>
          </p:nvSpPr>
          <p:spPr>
            <a:xfrm flipH="1" rot="8031828">
              <a:off x="8197850" y="4249702"/>
              <a:ext cx="30162" cy="138112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34" name="Google Shape;734;p18"/>
            <p:cNvCxnSpPr/>
            <p:nvPr/>
          </p:nvCxnSpPr>
          <p:spPr>
            <a:xfrm rot="-2768172">
              <a:off x="7319962" y="4657690"/>
              <a:ext cx="11969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735" name="Google Shape;735;p18"/>
            <p:cNvSpPr/>
            <p:nvPr/>
          </p:nvSpPr>
          <p:spPr>
            <a:xfrm flipH="1" rot="-1792560">
              <a:off x="9150350" y="2586002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18"/>
            <p:cNvSpPr/>
            <p:nvPr/>
          </p:nvSpPr>
          <p:spPr>
            <a:xfrm flipH="1" rot="-1792560">
              <a:off x="9123362" y="2382802"/>
              <a:ext cx="730250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18"/>
            <p:cNvSpPr/>
            <p:nvPr/>
          </p:nvSpPr>
          <p:spPr>
            <a:xfrm flipH="1" rot="-1792560">
              <a:off x="9782175" y="2182777"/>
              <a:ext cx="36512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18"/>
            <p:cNvSpPr/>
            <p:nvPr/>
          </p:nvSpPr>
          <p:spPr>
            <a:xfrm flipH="1" rot="-1792560">
              <a:off x="9166225" y="2582827"/>
              <a:ext cx="25400" cy="153987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39" name="Google Shape;739;p18"/>
            <p:cNvCxnSpPr/>
            <p:nvPr/>
          </p:nvCxnSpPr>
          <p:spPr>
            <a:xfrm rot="9007440">
              <a:off x="9028112" y="2454239"/>
              <a:ext cx="9556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40" name="Google Shape;740;p18"/>
            <p:cNvSpPr/>
            <p:nvPr/>
          </p:nvSpPr>
          <p:spPr>
            <a:xfrm rot="1792560">
              <a:off x="9907587" y="4546564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18"/>
            <p:cNvSpPr/>
            <p:nvPr/>
          </p:nvSpPr>
          <p:spPr>
            <a:xfrm rot="1792560">
              <a:off x="9240837" y="4341777"/>
              <a:ext cx="731838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18"/>
            <p:cNvSpPr/>
            <p:nvPr/>
          </p:nvSpPr>
          <p:spPr>
            <a:xfrm rot="1792560">
              <a:off x="9275762" y="4141752"/>
              <a:ext cx="38100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18"/>
            <p:cNvSpPr/>
            <p:nvPr/>
          </p:nvSpPr>
          <p:spPr>
            <a:xfrm rot="1792560">
              <a:off x="9902825" y="4543389"/>
              <a:ext cx="25400" cy="1524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4" name="Google Shape;744;p18"/>
            <p:cNvCxnSpPr/>
            <p:nvPr/>
          </p:nvCxnSpPr>
          <p:spPr>
            <a:xfrm rot="1792560">
              <a:off x="9102725" y="4441789"/>
              <a:ext cx="1062037" cy="1270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45" name="Google Shape;745;p18"/>
            <p:cNvSpPr txBox="1"/>
            <p:nvPr/>
          </p:nvSpPr>
          <p:spPr>
            <a:xfrm>
              <a:off x="7575550" y="1849402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18"/>
            <p:cNvSpPr txBox="1"/>
            <p:nvPr/>
          </p:nvSpPr>
          <p:spPr>
            <a:xfrm>
              <a:off x="9402762" y="2357402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18"/>
            <p:cNvSpPr/>
            <p:nvPr/>
          </p:nvSpPr>
          <p:spPr>
            <a:xfrm>
              <a:off x="7569200" y="2717764"/>
              <a:ext cx="800100" cy="1381125"/>
            </a:xfrm>
            <a:custGeom>
              <a:rect b="b" l="l" r="r" t="t"/>
              <a:pathLst>
                <a:path extrusionOk="0" h="870" w="504">
                  <a:moveTo>
                    <a:pt x="0" y="0"/>
                  </a:moveTo>
                  <a:cubicBezTo>
                    <a:pt x="21" y="11"/>
                    <a:pt x="79" y="44"/>
                    <a:pt x="129" y="63"/>
                  </a:cubicBezTo>
                  <a:cubicBezTo>
                    <a:pt x="179" y="82"/>
                    <a:pt x="255" y="102"/>
                    <a:pt x="299" y="112"/>
                  </a:cubicBezTo>
                  <a:cubicBezTo>
                    <a:pt x="343" y="122"/>
                    <a:pt x="362" y="116"/>
                    <a:pt x="392" y="121"/>
                  </a:cubicBezTo>
                  <a:cubicBezTo>
                    <a:pt x="417" y="124"/>
                    <a:pt x="469" y="100"/>
                    <a:pt x="479" y="145"/>
                  </a:cubicBezTo>
                  <a:cubicBezTo>
                    <a:pt x="490" y="191"/>
                    <a:pt x="504" y="700"/>
                    <a:pt x="490" y="772"/>
                  </a:cubicBezTo>
                  <a:cubicBezTo>
                    <a:pt x="477" y="845"/>
                    <a:pt x="447" y="842"/>
                    <a:pt x="406" y="839"/>
                  </a:cubicBezTo>
                  <a:cubicBezTo>
                    <a:pt x="365" y="836"/>
                    <a:pt x="323" y="835"/>
                    <a:pt x="286" y="833"/>
                  </a:cubicBezTo>
                  <a:cubicBezTo>
                    <a:pt x="250" y="831"/>
                    <a:pt x="226" y="822"/>
                    <a:pt x="192" y="828"/>
                  </a:cubicBezTo>
                  <a:cubicBezTo>
                    <a:pt x="158" y="834"/>
                    <a:pt x="107" y="861"/>
                    <a:pt x="84" y="870"/>
                  </a:cubicBezTo>
                </a:path>
              </a:pathLst>
            </a:custGeom>
            <a:noFill/>
            <a:ln cap="flat" cmpd="sng" w="3810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18"/>
            <p:cNvSpPr txBox="1"/>
            <p:nvPr/>
          </p:nvSpPr>
          <p:spPr>
            <a:xfrm>
              <a:off x="6583362" y="3833062"/>
              <a:ext cx="67468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18"/>
            <p:cNvSpPr/>
            <p:nvPr/>
          </p:nvSpPr>
          <p:spPr>
            <a:xfrm>
              <a:off x="8032750" y="2695539"/>
              <a:ext cx="431800" cy="1570038"/>
            </a:xfrm>
            <a:custGeom>
              <a:rect b="b" l="l" r="r" t="t"/>
              <a:pathLst>
                <a:path extrusionOk="0" h="989" w="272">
                  <a:moveTo>
                    <a:pt x="0" y="0"/>
                  </a:moveTo>
                  <a:cubicBezTo>
                    <a:pt x="15" y="13"/>
                    <a:pt x="49" y="56"/>
                    <a:pt x="92" y="80"/>
                  </a:cubicBezTo>
                  <a:cubicBezTo>
                    <a:pt x="231" y="84"/>
                    <a:pt x="204" y="89"/>
                    <a:pt x="257" y="147"/>
                  </a:cubicBezTo>
                  <a:cubicBezTo>
                    <a:pt x="270" y="295"/>
                    <a:pt x="272" y="652"/>
                    <a:pt x="268" y="774"/>
                  </a:cubicBezTo>
                  <a:cubicBezTo>
                    <a:pt x="268" y="895"/>
                    <a:pt x="261" y="853"/>
                    <a:pt x="257" y="875"/>
                  </a:cubicBezTo>
                  <a:cubicBezTo>
                    <a:pt x="251" y="894"/>
                    <a:pt x="257" y="889"/>
                    <a:pt x="242" y="908"/>
                  </a:cubicBezTo>
                  <a:cubicBezTo>
                    <a:pt x="227" y="927"/>
                    <a:pt x="183" y="972"/>
                    <a:pt x="167" y="989"/>
                  </a:cubicBezTo>
                </a:path>
              </a:pathLst>
            </a:custGeom>
            <a:noFill/>
            <a:ln cap="flat" cmpd="sng" w="3810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18"/>
            <p:cNvSpPr/>
            <p:nvPr/>
          </p:nvSpPr>
          <p:spPr>
            <a:xfrm>
              <a:off x="8616950" y="2679664"/>
              <a:ext cx="638175" cy="1538288"/>
            </a:xfrm>
            <a:custGeom>
              <a:rect b="b" l="l" r="r" t="t"/>
              <a:pathLst>
                <a:path extrusionOk="0" h="969" w="402">
                  <a:moveTo>
                    <a:pt x="306" y="0"/>
                  </a:moveTo>
                  <a:cubicBezTo>
                    <a:pt x="295" y="5"/>
                    <a:pt x="262" y="24"/>
                    <a:pt x="240" y="36"/>
                  </a:cubicBezTo>
                  <a:cubicBezTo>
                    <a:pt x="218" y="48"/>
                    <a:pt x="199" y="58"/>
                    <a:pt x="174" y="72"/>
                  </a:cubicBezTo>
                  <a:cubicBezTo>
                    <a:pt x="149" y="86"/>
                    <a:pt x="115" y="101"/>
                    <a:pt x="90" y="119"/>
                  </a:cubicBezTo>
                  <a:cubicBezTo>
                    <a:pt x="64" y="136"/>
                    <a:pt x="72" y="127"/>
                    <a:pt x="25" y="178"/>
                  </a:cubicBezTo>
                  <a:cubicBezTo>
                    <a:pt x="14" y="223"/>
                    <a:pt x="0" y="732"/>
                    <a:pt x="14" y="804"/>
                  </a:cubicBezTo>
                  <a:cubicBezTo>
                    <a:pt x="27" y="877"/>
                    <a:pt x="53" y="854"/>
                    <a:pt x="98" y="871"/>
                  </a:cubicBezTo>
                  <a:cubicBezTo>
                    <a:pt x="144" y="888"/>
                    <a:pt x="209" y="884"/>
                    <a:pt x="261" y="900"/>
                  </a:cubicBezTo>
                  <a:cubicBezTo>
                    <a:pt x="312" y="916"/>
                    <a:pt x="373" y="955"/>
                    <a:pt x="402" y="969"/>
                  </a:cubicBezTo>
                </a:path>
              </a:pathLst>
            </a:custGeom>
            <a:noFill/>
            <a:ln cap="flat" cmpd="sng" w="3810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18"/>
            <p:cNvSpPr txBox="1"/>
            <p:nvPr/>
          </p:nvSpPr>
          <p:spPr>
            <a:xfrm>
              <a:off x="7842250" y="4444964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18"/>
            <p:cNvSpPr txBox="1"/>
            <p:nvPr/>
          </p:nvSpPr>
          <p:spPr>
            <a:xfrm>
              <a:off x="9529762" y="3932202"/>
              <a:ext cx="67468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18"/>
            <p:cNvSpPr txBox="1"/>
            <p:nvPr/>
          </p:nvSpPr>
          <p:spPr>
            <a:xfrm>
              <a:off x="8558212" y="3303552"/>
              <a:ext cx="6762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  <p:grpSp>
          <p:nvGrpSpPr>
            <p:cNvPr id="754" name="Google Shape;754;p18"/>
            <p:cNvGrpSpPr/>
            <p:nvPr/>
          </p:nvGrpSpPr>
          <p:grpSpPr>
            <a:xfrm>
              <a:off x="6435725" y="1730339"/>
              <a:ext cx="352425" cy="660400"/>
              <a:chOff x="4140" y="429"/>
              <a:chExt cx="1425" cy="2396"/>
            </a:xfrm>
          </p:grpSpPr>
          <p:sp>
            <p:nvSpPr>
              <p:cNvPr id="755" name="Google Shape;755;p1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18"/>
              <p:cNvSpPr/>
              <p:nvPr/>
            </p:nvSpPr>
            <p:spPr>
              <a:xfrm>
                <a:off x="4204" y="429"/>
                <a:ext cx="1046" cy="2287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1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18"/>
              <p:cNvSpPr/>
              <p:nvPr/>
            </p:nvSpPr>
            <p:spPr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60" name="Google Shape;760;p18"/>
              <p:cNvGrpSpPr/>
              <p:nvPr/>
            </p:nvGrpSpPr>
            <p:grpSpPr>
              <a:xfrm>
                <a:off x="4750" y="660"/>
                <a:ext cx="578" cy="155"/>
                <a:chOff x="615" y="2560"/>
                <a:chExt cx="721" cy="149"/>
              </a:xfrm>
            </p:grpSpPr>
            <p:sp>
              <p:nvSpPr>
                <p:cNvPr id="761" name="Google Shape;761;p18"/>
                <p:cNvSpPr/>
                <p:nvPr/>
              </p:nvSpPr>
              <p:spPr>
                <a:xfrm>
                  <a:off x="615" y="2560"/>
                  <a:ext cx="721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18"/>
                <p:cNvSpPr/>
                <p:nvPr/>
              </p:nvSpPr>
              <p:spPr>
                <a:xfrm>
                  <a:off x="631" y="2582"/>
                  <a:ext cx="689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3" name="Google Shape;763;p18"/>
              <p:cNvSpPr/>
              <p:nvPr/>
            </p:nvSpPr>
            <p:spPr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64" name="Google Shape;764;p18"/>
              <p:cNvGrpSpPr/>
              <p:nvPr/>
            </p:nvGrpSpPr>
            <p:grpSpPr>
              <a:xfrm>
                <a:off x="4749" y="993"/>
                <a:ext cx="578" cy="132"/>
                <a:chOff x="617" y="2567"/>
                <a:chExt cx="721" cy="137"/>
              </a:xfrm>
            </p:grpSpPr>
            <p:sp>
              <p:nvSpPr>
                <p:cNvPr id="765" name="Google Shape;765;p18"/>
                <p:cNvSpPr/>
                <p:nvPr/>
              </p:nvSpPr>
              <p:spPr>
                <a:xfrm>
                  <a:off x="617" y="2567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6" name="Google Shape;766;p18"/>
                <p:cNvSpPr/>
                <p:nvPr/>
              </p:nvSpPr>
              <p:spPr>
                <a:xfrm>
                  <a:off x="634" y="2585"/>
                  <a:ext cx="689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7" name="Google Shape;767;p18"/>
              <p:cNvSpPr/>
              <p:nvPr/>
            </p:nvSpPr>
            <p:spPr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18"/>
              <p:cNvSpPr/>
              <p:nvPr/>
            </p:nvSpPr>
            <p:spPr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69" name="Google Shape;769;p18"/>
              <p:cNvGrpSpPr/>
              <p:nvPr/>
            </p:nvGrpSpPr>
            <p:grpSpPr>
              <a:xfrm>
                <a:off x="4737" y="1627"/>
                <a:ext cx="578" cy="150"/>
                <a:chOff x="616" y="2568"/>
                <a:chExt cx="720" cy="138"/>
              </a:xfrm>
            </p:grpSpPr>
            <p:sp>
              <p:nvSpPr>
                <p:cNvPr id="770" name="Google Shape;770;p18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1" name="Google Shape;771;p18"/>
                <p:cNvSpPr/>
                <p:nvPr/>
              </p:nvSpPr>
              <p:spPr>
                <a:xfrm>
                  <a:off x="632" y="2584"/>
                  <a:ext cx="688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72" name="Google Shape;772;p1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73" name="Google Shape;773;p18"/>
              <p:cNvGrpSpPr/>
              <p:nvPr/>
            </p:nvGrpSpPr>
            <p:grpSpPr>
              <a:xfrm>
                <a:off x="4737" y="1328"/>
                <a:ext cx="584" cy="138"/>
                <a:chOff x="611" y="2569"/>
                <a:chExt cx="728" cy="138"/>
              </a:xfrm>
            </p:grpSpPr>
            <p:sp>
              <p:nvSpPr>
                <p:cNvPr id="774" name="Google Shape;774;p18"/>
                <p:cNvSpPr/>
                <p:nvPr/>
              </p:nvSpPr>
              <p:spPr>
                <a:xfrm>
                  <a:off x="611" y="2569"/>
                  <a:ext cx="728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5" name="Google Shape;775;p18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76" name="Google Shape;776;p18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1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1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18"/>
              <p:cNvSpPr/>
              <p:nvPr/>
            </p:nvSpPr>
            <p:spPr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1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18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18"/>
              <p:cNvSpPr/>
              <p:nvPr/>
            </p:nvSpPr>
            <p:spPr>
              <a:xfrm>
                <a:off x="4204" y="2710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18"/>
              <p:cNvSpPr/>
              <p:nvPr/>
            </p:nvSpPr>
            <p:spPr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18"/>
              <p:cNvSpPr/>
              <p:nvPr/>
            </p:nvSpPr>
            <p:spPr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18"/>
              <p:cNvSpPr/>
              <p:nvPr/>
            </p:nvSpPr>
            <p:spPr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18"/>
              <p:cNvSpPr/>
              <p:nvPr/>
            </p:nvSpPr>
            <p:spPr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7" name="Google Shape;787;p18"/>
            <p:cNvGrpSpPr/>
            <p:nvPr/>
          </p:nvGrpSpPr>
          <p:grpSpPr>
            <a:xfrm>
              <a:off x="7010400" y="1390614"/>
              <a:ext cx="352425" cy="660400"/>
              <a:chOff x="4140" y="429"/>
              <a:chExt cx="1425" cy="2396"/>
            </a:xfrm>
          </p:grpSpPr>
          <p:sp>
            <p:nvSpPr>
              <p:cNvPr id="788" name="Google Shape;788;p1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18"/>
              <p:cNvSpPr/>
              <p:nvPr/>
            </p:nvSpPr>
            <p:spPr>
              <a:xfrm>
                <a:off x="4204" y="429"/>
                <a:ext cx="1046" cy="2287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1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1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18"/>
              <p:cNvSpPr/>
              <p:nvPr/>
            </p:nvSpPr>
            <p:spPr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93" name="Google Shape;793;p18"/>
              <p:cNvGrpSpPr/>
              <p:nvPr/>
            </p:nvGrpSpPr>
            <p:grpSpPr>
              <a:xfrm>
                <a:off x="4750" y="660"/>
                <a:ext cx="578" cy="155"/>
                <a:chOff x="615" y="2560"/>
                <a:chExt cx="721" cy="149"/>
              </a:xfrm>
            </p:grpSpPr>
            <p:sp>
              <p:nvSpPr>
                <p:cNvPr id="794" name="Google Shape;794;p18"/>
                <p:cNvSpPr/>
                <p:nvPr/>
              </p:nvSpPr>
              <p:spPr>
                <a:xfrm>
                  <a:off x="615" y="2560"/>
                  <a:ext cx="721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" name="Google Shape;795;p18"/>
                <p:cNvSpPr/>
                <p:nvPr/>
              </p:nvSpPr>
              <p:spPr>
                <a:xfrm>
                  <a:off x="631" y="2582"/>
                  <a:ext cx="689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96" name="Google Shape;796;p18"/>
              <p:cNvSpPr/>
              <p:nvPr/>
            </p:nvSpPr>
            <p:spPr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97" name="Google Shape;797;p18"/>
              <p:cNvGrpSpPr/>
              <p:nvPr/>
            </p:nvGrpSpPr>
            <p:grpSpPr>
              <a:xfrm>
                <a:off x="4749" y="993"/>
                <a:ext cx="578" cy="132"/>
                <a:chOff x="617" y="2567"/>
                <a:chExt cx="721" cy="137"/>
              </a:xfrm>
            </p:grpSpPr>
            <p:sp>
              <p:nvSpPr>
                <p:cNvPr id="798" name="Google Shape;798;p18"/>
                <p:cNvSpPr/>
                <p:nvPr/>
              </p:nvSpPr>
              <p:spPr>
                <a:xfrm>
                  <a:off x="617" y="2567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18"/>
                <p:cNvSpPr/>
                <p:nvPr/>
              </p:nvSpPr>
              <p:spPr>
                <a:xfrm>
                  <a:off x="634" y="2585"/>
                  <a:ext cx="689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00" name="Google Shape;800;p18"/>
              <p:cNvSpPr/>
              <p:nvPr/>
            </p:nvSpPr>
            <p:spPr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8"/>
              <p:cNvSpPr/>
              <p:nvPr/>
            </p:nvSpPr>
            <p:spPr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02" name="Google Shape;802;p18"/>
              <p:cNvGrpSpPr/>
              <p:nvPr/>
            </p:nvGrpSpPr>
            <p:grpSpPr>
              <a:xfrm>
                <a:off x="4737" y="1627"/>
                <a:ext cx="578" cy="150"/>
                <a:chOff x="616" y="2568"/>
                <a:chExt cx="720" cy="138"/>
              </a:xfrm>
            </p:grpSpPr>
            <p:sp>
              <p:nvSpPr>
                <p:cNvPr id="803" name="Google Shape;803;p18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18"/>
                <p:cNvSpPr/>
                <p:nvPr/>
              </p:nvSpPr>
              <p:spPr>
                <a:xfrm>
                  <a:off x="632" y="2584"/>
                  <a:ext cx="688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05" name="Google Shape;805;p1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06" name="Google Shape;806;p18"/>
              <p:cNvGrpSpPr/>
              <p:nvPr/>
            </p:nvGrpSpPr>
            <p:grpSpPr>
              <a:xfrm>
                <a:off x="4737" y="1328"/>
                <a:ext cx="584" cy="138"/>
                <a:chOff x="611" y="2569"/>
                <a:chExt cx="728" cy="138"/>
              </a:xfrm>
            </p:grpSpPr>
            <p:sp>
              <p:nvSpPr>
                <p:cNvPr id="807" name="Google Shape;807;p18"/>
                <p:cNvSpPr/>
                <p:nvPr/>
              </p:nvSpPr>
              <p:spPr>
                <a:xfrm>
                  <a:off x="611" y="2569"/>
                  <a:ext cx="728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18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09" name="Google Shape;809;p18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1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1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18"/>
              <p:cNvSpPr/>
              <p:nvPr/>
            </p:nvSpPr>
            <p:spPr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1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18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18"/>
              <p:cNvSpPr/>
              <p:nvPr/>
            </p:nvSpPr>
            <p:spPr>
              <a:xfrm>
                <a:off x="4204" y="2710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18"/>
              <p:cNvSpPr/>
              <p:nvPr/>
            </p:nvSpPr>
            <p:spPr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18"/>
              <p:cNvSpPr/>
              <p:nvPr/>
            </p:nvSpPr>
            <p:spPr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18"/>
              <p:cNvSpPr/>
              <p:nvPr/>
            </p:nvSpPr>
            <p:spPr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18"/>
              <p:cNvSpPr/>
              <p:nvPr/>
            </p:nvSpPr>
            <p:spPr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0" name="Google Shape;820;p18"/>
            <p:cNvGrpSpPr/>
            <p:nvPr/>
          </p:nvGrpSpPr>
          <p:grpSpPr>
            <a:xfrm>
              <a:off x="9861550" y="1646202"/>
              <a:ext cx="352425" cy="660400"/>
              <a:chOff x="4140" y="429"/>
              <a:chExt cx="1425" cy="2396"/>
            </a:xfrm>
          </p:grpSpPr>
          <p:sp>
            <p:nvSpPr>
              <p:cNvPr id="821" name="Google Shape;821;p1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18"/>
              <p:cNvSpPr/>
              <p:nvPr/>
            </p:nvSpPr>
            <p:spPr>
              <a:xfrm>
                <a:off x="4204" y="429"/>
                <a:ext cx="1046" cy="2287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1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1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18"/>
              <p:cNvSpPr/>
              <p:nvPr/>
            </p:nvSpPr>
            <p:spPr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26" name="Google Shape;826;p18"/>
              <p:cNvGrpSpPr/>
              <p:nvPr/>
            </p:nvGrpSpPr>
            <p:grpSpPr>
              <a:xfrm>
                <a:off x="4750" y="660"/>
                <a:ext cx="578" cy="155"/>
                <a:chOff x="615" y="2560"/>
                <a:chExt cx="721" cy="149"/>
              </a:xfrm>
            </p:grpSpPr>
            <p:sp>
              <p:nvSpPr>
                <p:cNvPr id="827" name="Google Shape;827;p18"/>
                <p:cNvSpPr/>
                <p:nvPr/>
              </p:nvSpPr>
              <p:spPr>
                <a:xfrm>
                  <a:off x="615" y="2560"/>
                  <a:ext cx="721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18"/>
                <p:cNvSpPr/>
                <p:nvPr/>
              </p:nvSpPr>
              <p:spPr>
                <a:xfrm>
                  <a:off x="631" y="2582"/>
                  <a:ext cx="689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29" name="Google Shape;829;p18"/>
              <p:cNvSpPr/>
              <p:nvPr/>
            </p:nvSpPr>
            <p:spPr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0" name="Google Shape;830;p18"/>
              <p:cNvGrpSpPr/>
              <p:nvPr/>
            </p:nvGrpSpPr>
            <p:grpSpPr>
              <a:xfrm>
                <a:off x="4749" y="993"/>
                <a:ext cx="578" cy="132"/>
                <a:chOff x="617" y="2567"/>
                <a:chExt cx="721" cy="137"/>
              </a:xfrm>
            </p:grpSpPr>
            <p:sp>
              <p:nvSpPr>
                <p:cNvPr id="831" name="Google Shape;831;p18"/>
                <p:cNvSpPr/>
                <p:nvPr/>
              </p:nvSpPr>
              <p:spPr>
                <a:xfrm>
                  <a:off x="617" y="2567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18"/>
                <p:cNvSpPr/>
                <p:nvPr/>
              </p:nvSpPr>
              <p:spPr>
                <a:xfrm>
                  <a:off x="634" y="2585"/>
                  <a:ext cx="689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3" name="Google Shape;833;p18"/>
              <p:cNvSpPr/>
              <p:nvPr/>
            </p:nvSpPr>
            <p:spPr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18"/>
              <p:cNvSpPr/>
              <p:nvPr/>
            </p:nvSpPr>
            <p:spPr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5" name="Google Shape;835;p18"/>
              <p:cNvGrpSpPr/>
              <p:nvPr/>
            </p:nvGrpSpPr>
            <p:grpSpPr>
              <a:xfrm>
                <a:off x="4737" y="1627"/>
                <a:ext cx="578" cy="150"/>
                <a:chOff x="616" y="2568"/>
                <a:chExt cx="720" cy="138"/>
              </a:xfrm>
            </p:grpSpPr>
            <p:sp>
              <p:nvSpPr>
                <p:cNvPr id="836" name="Google Shape;836;p18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" name="Google Shape;837;p18"/>
                <p:cNvSpPr/>
                <p:nvPr/>
              </p:nvSpPr>
              <p:spPr>
                <a:xfrm>
                  <a:off x="632" y="2584"/>
                  <a:ext cx="688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8" name="Google Shape;838;p1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9" name="Google Shape;839;p18"/>
              <p:cNvGrpSpPr/>
              <p:nvPr/>
            </p:nvGrpSpPr>
            <p:grpSpPr>
              <a:xfrm>
                <a:off x="4737" y="1328"/>
                <a:ext cx="584" cy="138"/>
                <a:chOff x="611" y="2569"/>
                <a:chExt cx="728" cy="138"/>
              </a:xfrm>
            </p:grpSpPr>
            <p:sp>
              <p:nvSpPr>
                <p:cNvPr id="840" name="Google Shape;840;p18"/>
                <p:cNvSpPr/>
                <p:nvPr/>
              </p:nvSpPr>
              <p:spPr>
                <a:xfrm>
                  <a:off x="611" y="2569"/>
                  <a:ext cx="728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1" name="Google Shape;841;p18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42" name="Google Shape;842;p18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1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18"/>
              <p:cNvSpPr/>
              <p:nvPr/>
            </p:nvSpPr>
            <p:spPr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1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18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18"/>
              <p:cNvSpPr/>
              <p:nvPr/>
            </p:nvSpPr>
            <p:spPr>
              <a:xfrm>
                <a:off x="4204" y="2710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18"/>
              <p:cNvSpPr/>
              <p:nvPr/>
            </p:nvSpPr>
            <p:spPr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18"/>
              <p:cNvSpPr/>
              <p:nvPr/>
            </p:nvSpPr>
            <p:spPr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18"/>
              <p:cNvSpPr/>
              <p:nvPr/>
            </p:nvSpPr>
            <p:spPr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18"/>
              <p:cNvSpPr/>
              <p:nvPr/>
            </p:nvSpPr>
            <p:spPr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3" name="Google Shape;853;p18"/>
            <p:cNvGrpSpPr/>
            <p:nvPr/>
          </p:nvGrpSpPr>
          <p:grpSpPr>
            <a:xfrm flipH="1">
              <a:off x="10010775" y="4435439"/>
              <a:ext cx="803275" cy="771525"/>
              <a:chOff x="-44" y="1473"/>
              <a:chExt cx="981" cy="1105"/>
            </a:xfrm>
          </p:grpSpPr>
          <p:pic>
            <p:nvPicPr>
              <p:cNvPr descr="desktop_computer_stylized_medium" id="854" name="Google Shape;854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55" name="Google Shape;855;p1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6" name="Google Shape;856;p18"/>
            <p:cNvGrpSpPr/>
            <p:nvPr/>
          </p:nvGrpSpPr>
          <p:grpSpPr>
            <a:xfrm>
              <a:off x="6096000" y="4416389"/>
              <a:ext cx="803275" cy="771525"/>
              <a:chOff x="-44" y="1473"/>
              <a:chExt cx="981" cy="1105"/>
            </a:xfrm>
          </p:grpSpPr>
          <p:pic>
            <p:nvPicPr>
              <p:cNvPr descr="desktop_computer_stylized_medium" id="857" name="Google Shape;857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58" name="Google Shape;858;p1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9" name="Google Shape;859;p18"/>
            <p:cNvGrpSpPr/>
            <p:nvPr/>
          </p:nvGrpSpPr>
          <p:grpSpPr>
            <a:xfrm>
              <a:off x="6718300" y="4865652"/>
              <a:ext cx="803275" cy="771525"/>
              <a:chOff x="-44" y="1473"/>
              <a:chExt cx="981" cy="1105"/>
            </a:xfrm>
          </p:grpSpPr>
          <p:pic>
            <p:nvPicPr>
              <p:cNvPr descr="desktop_computer_stylized_medium" id="860" name="Google Shape;860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1" name="Google Shape;861;p1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62" name="Google Shape;862;p18"/>
          <p:cNvGrpSpPr/>
          <p:nvPr/>
        </p:nvGrpSpPr>
        <p:grpSpPr>
          <a:xfrm>
            <a:off x="6423336" y="1491893"/>
            <a:ext cx="4706682" cy="4114800"/>
            <a:chOff x="877941" y="1593850"/>
            <a:chExt cx="4706682" cy="4114800"/>
          </a:xfrm>
        </p:grpSpPr>
        <p:sp>
          <p:nvSpPr>
            <p:cNvPr id="863" name="Google Shape;863;p18"/>
            <p:cNvSpPr txBox="1"/>
            <p:nvPr/>
          </p:nvSpPr>
          <p:spPr>
            <a:xfrm>
              <a:off x="877941" y="1593850"/>
              <a:ext cx="4522733" cy="41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3200"/>
                <a:buFont typeface="Noto Sans Symbols"/>
                <a:buChar char="▪"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per-connection end-end throughput: 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min(R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,R/10)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640"/>
                </a:spcBef>
                <a:spcAft>
                  <a:spcPts val="0"/>
                </a:spcAft>
                <a:buClr>
                  <a:srgbClr val="000090"/>
                </a:buClr>
                <a:buSzPts val="3200"/>
                <a:buFont typeface="Noto Sans Symbols"/>
                <a:buChar char="▪"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 practice: 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or 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is often bottleneck</a:t>
              </a:r>
              <a:endParaRPr/>
            </a:p>
          </p:txBody>
        </p:sp>
        <p:sp>
          <p:nvSpPr>
            <p:cNvPr id="864" name="Google Shape;864;p18"/>
            <p:cNvSpPr txBox="1"/>
            <p:nvPr/>
          </p:nvSpPr>
          <p:spPr>
            <a:xfrm>
              <a:off x="1077710" y="4985599"/>
              <a:ext cx="4506913" cy="522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* Check out the online interactive exercises for more examples: h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ttp://gaia.cs.umass.edu/kurose_ross/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9"/>
          <p:cNvSpPr txBox="1"/>
          <p:nvPr>
            <p:ph type="title"/>
          </p:nvPr>
        </p:nvSpPr>
        <p:spPr>
          <a:xfrm>
            <a:off x="546662" y="15240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Introduction</a:t>
            </a:r>
            <a:endParaRPr sz="6000"/>
          </a:p>
        </p:txBody>
      </p:sp>
      <p:sp>
        <p:nvSpPr>
          <p:cNvPr id="871" name="Google Shape;871;p19"/>
          <p:cNvSpPr txBox="1"/>
          <p:nvPr>
            <p:ph idx="2" type="body"/>
          </p:nvPr>
        </p:nvSpPr>
        <p:spPr>
          <a:xfrm>
            <a:off x="484643" y="1879601"/>
            <a:ext cx="7677223" cy="49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Overview. What </a:t>
            </a:r>
            <a:r>
              <a:rPr i="1"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i="1"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edge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core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600"/>
              <a:buChar char="▪"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Performance: delay, loss,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</p:txBody>
      </p:sp>
      <p:grpSp>
        <p:nvGrpSpPr>
          <p:cNvPr id="872" name="Google Shape;872;p19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873" name="Google Shape;87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4" name="Google Shape;874;p19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875" name="Google Shape;875;p19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876" name="Google Shape;876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77" name="Google Shape;877;p19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78" name="Google Shape;878;p19"/>
          <p:cNvGrpSpPr/>
          <p:nvPr/>
        </p:nvGrpSpPr>
        <p:grpSpPr>
          <a:xfrm>
            <a:off x="5108787" y="6105145"/>
            <a:ext cx="6892924" cy="461665"/>
            <a:chOff x="5108787" y="6105145"/>
            <a:chExt cx="6892924" cy="461665"/>
          </a:xfrm>
        </p:grpSpPr>
        <p:sp>
          <p:nvSpPr>
            <p:cNvPr id="879" name="Google Shape;879;p19"/>
            <p:cNvSpPr txBox="1"/>
            <p:nvPr/>
          </p:nvSpPr>
          <p:spPr>
            <a:xfrm>
              <a:off x="5108787" y="6105145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2020, J.F. Kurose, All Rights Reserved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1996-2020, J.F. Kurose, K.W. Ross, All Rights Reserved</a:t>
              </a:r>
              <a:endParaRPr/>
            </a:p>
          </p:txBody>
        </p:sp>
        <p:pic>
          <p:nvPicPr>
            <p:cNvPr id="880" name="Google Shape;880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028246" y="6178318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1" name="Google Shape;881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56647" y="6354452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