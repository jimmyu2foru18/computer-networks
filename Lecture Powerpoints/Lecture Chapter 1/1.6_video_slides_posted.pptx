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ill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20">
          <p15:clr>
            <a:srgbClr val="A4A3A4"/>
          </p15:clr>
        </p15:guide>
        <p15:guide id="2" pos="20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20" orient="horz"/>
        <p:guide pos="20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ill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1.jp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55614" y="1574801"/>
            <a:ext cx="8013829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Layering, encapsulation,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Networks under attack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48" name="Google Shape;48;p7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</a:t>
            </a:r>
            <a:r>
              <a:rPr lang="en-US"/>
              <a:t>g</a:t>
            </a:r>
            <a:r>
              <a:rPr lang="en-US" sz="4400"/>
              <a:t>uys: packet </a:t>
            </a:r>
            <a:r>
              <a:rPr lang="en-US"/>
              <a:t>i</a:t>
            </a:r>
            <a:r>
              <a:rPr lang="en-US" sz="4400"/>
              <a:t>nterception</a:t>
            </a:r>
            <a:endParaRPr sz="4400"/>
          </a:p>
        </p:txBody>
      </p:sp>
      <p:sp>
        <p:nvSpPr>
          <p:cNvPr id="55" name="Google Shape;55;p8"/>
          <p:cNvSpPr txBox="1"/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 “sniffing”: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 media (shared Ethernet, wireless)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promiscuous network interface reads/records all packets (e.g., including passwords!) passing by</a:t>
            </a:r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descr="desktop_computer_stylized_medium" id="57" name="Google Shape;5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8"/>
          <p:cNvSpPr/>
          <p:nvPr/>
        </p:nvSpPr>
        <p:spPr>
          <a:xfrm>
            <a:off x="3359028" y="4133276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6191128" y="4003101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8"/>
          <p:cNvCxnSpPr/>
          <p:nvPr/>
        </p:nvCxnSpPr>
        <p:spPr>
          <a:xfrm rot="10800000">
            <a:off x="4533778" y="4525389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8"/>
          <p:cNvCxnSpPr/>
          <p:nvPr/>
        </p:nvCxnSpPr>
        <p:spPr>
          <a:xfrm rot="10800000">
            <a:off x="4552828" y="5236589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8"/>
          <p:cNvSpPr txBox="1"/>
          <p:nvPr/>
        </p:nvSpPr>
        <p:spPr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65" name="Google Shape;65;p8"/>
          <p:cNvSpPr txBox="1"/>
          <p:nvPr/>
        </p:nvSpPr>
        <p:spPr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67" name="Google Shape;67;p8"/>
            <p:cNvGrpSpPr/>
            <p:nvPr/>
          </p:nvGrpSpPr>
          <p:grpSpPr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68" name="Google Shape;68;p8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9" name="Google Shape;69;p8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8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8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8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src:B dest:A     payload</a:t>
                </a:r>
                <a:endParaRPr b="0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3" name="Google Shape;73;p8"/>
            <p:cNvSpPr/>
            <p:nvPr/>
          </p:nvSpPr>
          <p:spPr>
            <a:xfrm>
              <a:off x="5156078" y="4607939"/>
              <a:ext cx="2635250" cy="241300"/>
            </a:xfrm>
            <a:custGeom>
              <a:rect b="b" l="l" r="r" t="t"/>
              <a:pathLst>
                <a:path extrusionOk="0" h="152" w="1660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" name="Google Shape;74;p8"/>
            <p:cNvCxnSpPr/>
            <p:nvPr/>
          </p:nvCxnSpPr>
          <p:spPr>
            <a:xfrm rot="10800000">
              <a:off x="6299078" y="4004689"/>
              <a:ext cx="0" cy="60325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8"/>
          <p:cNvGrpSpPr/>
          <p:nvPr/>
        </p:nvGrpSpPr>
        <p:grpSpPr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77" name="Google Shape;77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8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83" name="Google Shape;83;p8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8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8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8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87" name="Google Shape;87;p8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" name="Google Shape;89;p8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8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2" name="Google Shape;92;p8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" name="Google Shape;94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8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6" name="Google Shape;96;p8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" name="Google Shape;98;p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8"/>
          <p:cNvGrpSpPr/>
          <p:nvPr/>
        </p:nvGrpSpPr>
        <p:grpSpPr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descr="desktop_computer_stylized_medium" id="110" name="Google Shape;11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113" name="Google Shape;113;p8"/>
            <p:cNvSpPr/>
            <p:nvPr/>
          </p:nvSpPr>
          <p:spPr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Wireshark software used for our end-of-chapter labs is a (free) packet-sniffer</a:t>
              </a:r>
              <a:endParaRPr/>
            </a:p>
            <a:p>
              <a:pPr indent="-285750" lvl="1" marL="742950" marR="0" rtl="0" algn="l">
                <a:spcBef>
                  <a:spcPts val="360"/>
                </a:spcBef>
                <a:spcAft>
                  <a:spcPts val="0"/>
                </a:spcAft>
                <a:buClr>
                  <a:schemeClr val="accent2"/>
                </a:buClr>
                <a:buSzPts val="135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descr="Image result for wireshark logo" id="114" name="Google Shape;11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56133" y="5624388"/>
              <a:ext cx="667509" cy="667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8"/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116" name="Google Shape;116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" name="Google Shape;118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" name="Google Shape;119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 fake identity</a:t>
            </a:r>
            <a:endParaRPr sz="4400"/>
          </a:p>
        </p:txBody>
      </p:sp>
      <p:sp>
        <p:nvSpPr>
          <p:cNvPr id="129" name="Google Shape;129;p9"/>
          <p:cNvSpPr txBox="1"/>
          <p:nvPr/>
        </p:nvSpPr>
        <p:spPr>
          <a:xfrm>
            <a:off x="774909" y="1560282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spoofing: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 of packet with false source address</a:t>
            </a:r>
            <a:endParaRPr/>
          </a:p>
        </p:txBody>
      </p:sp>
      <p:grpSp>
        <p:nvGrpSpPr>
          <p:cNvPr id="130" name="Google Shape;130;p9"/>
          <p:cNvGrpSpPr/>
          <p:nvPr/>
        </p:nvGrpSpPr>
        <p:grpSpPr>
          <a:xfrm flipH="1">
            <a:off x="5850455" y="3016127"/>
            <a:ext cx="735012" cy="681037"/>
            <a:chOff x="-44" y="1473"/>
            <a:chExt cx="981" cy="1105"/>
          </a:xfrm>
        </p:grpSpPr>
        <p:pic>
          <p:nvPicPr>
            <p:cNvPr descr="desktop_computer_stylized_medium" id="131" name="Google Shape;13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9"/>
          <p:cNvSpPr/>
          <p:nvPr/>
        </p:nvSpPr>
        <p:spPr>
          <a:xfrm>
            <a:off x="3345380" y="3751139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177480" y="3620964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9"/>
          <p:cNvCxnSpPr/>
          <p:nvPr/>
        </p:nvCxnSpPr>
        <p:spPr>
          <a:xfrm rot="10800000">
            <a:off x="4520130" y="4143252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9"/>
          <p:cNvCxnSpPr/>
          <p:nvPr/>
        </p:nvCxnSpPr>
        <p:spPr>
          <a:xfrm rot="10800000">
            <a:off x="4539180" y="4854452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9"/>
          <p:cNvSpPr txBox="1"/>
          <p:nvPr/>
        </p:nvSpPr>
        <p:spPr>
          <a:xfrm>
            <a:off x="2802455" y="3039939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8271392" y="4503614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6369567" y="3017714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442" y="3084389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9"/>
          <p:cNvGrpSpPr/>
          <p:nvPr/>
        </p:nvGrpSpPr>
        <p:grpSpPr>
          <a:xfrm>
            <a:off x="3170755" y="3078039"/>
            <a:ext cx="365125" cy="712788"/>
            <a:chOff x="4140" y="429"/>
            <a:chExt cx="1425" cy="2396"/>
          </a:xfrm>
        </p:grpSpPr>
        <p:sp>
          <p:nvSpPr>
            <p:cNvPr id="142" name="Google Shape;142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9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148" name="Google Shape;148;p9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" name="Google Shape;150;p9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" name="Google Shape;151;p9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152" name="Google Shape;152;p9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" name="Google Shape;154;p9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59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0" name="Google Shape;160;p9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161" name="Google Shape;161;p9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" name="Google Shape;163;p9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9"/>
          <p:cNvGrpSpPr/>
          <p:nvPr/>
        </p:nvGrpSpPr>
        <p:grpSpPr>
          <a:xfrm flipH="1">
            <a:off x="7663380" y="4395664"/>
            <a:ext cx="735012" cy="681038"/>
            <a:chOff x="-44" y="1473"/>
            <a:chExt cx="981" cy="1105"/>
          </a:xfrm>
        </p:grpSpPr>
        <p:pic>
          <p:nvPicPr>
            <p:cNvPr descr="desktop_computer_stylized_medium" id="175" name="Google Shape;17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9"/>
          <p:cNvGrpSpPr/>
          <p:nvPr/>
        </p:nvGrpSpPr>
        <p:grpSpPr>
          <a:xfrm>
            <a:off x="4040705" y="4402197"/>
            <a:ext cx="958850" cy="476251"/>
            <a:chOff x="7493876" y="2774731"/>
            <a:chExt cx="1481958" cy="894622"/>
          </a:xfrm>
        </p:grpSpPr>
        <p:sp>
          <p:nvSpPr>
            <p:cNvPr id="178" name="Google Shape;178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0" name="Google Shape;180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Google Shape;181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5" name="Google Shape;185;p9"/>
          <p:cNvGrpSpPr/>
          <p:nvPr/>
        </p:nvGrpSpPr>
        <p:grpSpPr>
          <a:xfrm>
            <a:off x="3280164" y="3584927"/>
            <a:ext cx="2967038" cy="819150"/>
            <a:chOff x="3293812" y="3967064"/>
            <a:chExt cx="2967038" cy="819150"/>
          </a:xfrm>
        </p:grpSpPr>
        <p:sp>
          <p:nvSpPr>
            <p:cNvPr id="186" name="Google Shape;186;p9"/>
            <p:cNvSpPr/>
            <p:nvPr/>
          </p:nvSpPr>
          <p:spPr>
            <a:xfrm>
              <a:off x="3293812" y="3967064"/>
              <a:ext cx="2967038" cy="704850"/>
            </a:xfrm>
            <a:custGeom>
              <a:rect b="b" l="l" r="r" t="t"/>
              <a:pathLst>
                <a:path extrusionOk="0" h="444" w="1869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" name="Google Shape;187;p9"/>
            <p:cNvGrpSpPr/>
            <p:nvPr/>
          </p:nvGrpSpPr>
          <p:grpSpPr>
            <a:xfrm>
              <a:off x="3760537" y="4449664"/>
              <a:ext cx="2295525" cy="336550"/>
              <a:chOff x="2418" y="3342"/>
              <a:chExt cx="1446" cy="212"/>
            </a:xfrm>
          </p:grpSpPr>
          <p:sp>
            <p:nvSpPr>
              <p:cNvPr id="188" name="Google Shape;188;p9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89" name="Google Shape;189;p9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9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9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2" name="Google Shape;192;p9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dest:A     payload</a:t>
                </a: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denial of service</a:t>
            </a:r>
            <a:endParaRPr/>
          </a:p>
        </p:txBody>
      </p:sp>
      <p:grpSp>
        <p:nvGrpSpPr>
          <p:cNvPr id="199" name="Google Shape;199;p10"/>
          <p:cNvGrpSpPr/>
          <p:nvPr/>
        </p:nvGrpSpPr>
        <p:grpSpPr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descr="desktop_computer_stylized_medium" id="200" name="Google Shape;20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0"/>
          <p:cNvGrpSpPr/>
          <p:nvPr/>
        </p:nvGrpSpPr>
        <p:grpSpPr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203" name="Google Shape;203;p10"/>
            <p:cNvSpPr txBox="1"/>
            <p:nvPr/>
          </p:nvSpPr>
          <p:spPr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</p:txBody>
        </p:sp>
        <p:grpSp>
          <p:nvGrpSpPr>
            <p:cNvPr id="204" name="Google Shape;204;p10"/>
            <p:cNvGrpSpPr/>
            <p:nvPr/>
          </p:nvGrpSpPr>
          <p:grpSpPr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205" name="Google Shape;205;p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4206" y="429"/>
                <a:ext cx="1049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0"/>
              <p:cNvSpPr/>
              <p:nvPr/>
            </p:nvSpPr>
            <p:spPr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0" name="Google Shape;210;p10"/>
              <p:cNvGrpSpPr/>
              <p:nvPr/>
            </p:nvGrpSpPr>
            <p:grpSpPr>
              <a:xfrm>
                <a:off x="4747" y="667"/>
                <a:ext cx="580" cy="146"/>
                <a:chOff x="612" y="2567"/>
                <a:chExt cx="724" cy="140"/>
              </a:xfrm>
            </p:grpSpPr>
            <p:sp>
              <p:nvSpPr>
                <p:cNvPr id="211" name="Google Shape;211;p10"/>
                <p:cNvSpPr/>
                <p:nvPr/>
              </p:nvSpPr>
              <p:spPr>
                <a:xfrm>
                  <a:off x="612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10"/>
                <p:cNvSpPr/>
                <p:nvPr/>
              </p:nvSpPr>
              <p:spPr>
                <a:xfrm>
                  <a:off x="626" y="2583"/>
                  <a:ext cx="689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3" name="Google Shape;213;p10"/>
              <p:cNvSpPr/>
              <p:nvPr/>
            </p:nvSpPr>
            <p:spPr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4" name="Google Shape;214;p10"/>
              <p:cNvGrpSpPr/>
              <p:nvPr/>
            </p:nvGrpSpPr>
            <p:grpSpPr>
              <a:xfrm>
                <a:off x="4748" y="992"/>
                <a:ext cx="580" cy="134"/>
                <a:chOff x="615" y="2566"/>
                <a:chExt cx="724" cy="139"/>
              </a:xfrm>
            </p:grpSpPr>
            <p:sp>
              <p:nvSpPr>
                <p:cNvPr id="215" name="Google Shape;215;p10"/>
                <p:cNvSpPr/>
                <p:nvPr/>
              </p:nvSpPr>
              <p:spPr>
                <a:xfrm>
                  <a:off x="615" y="2566"/>
                  <a:ext cx="724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10"/>
                <p:cNvSpPr/>
                <p:nvPr/>
              </p:nvSpPr>
              <p:spPr>
                <a:xfrm>
                  <a:off x="628" y="2584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7" name="Google Shape;217;p10"/>
              <p:cNvSpPr/>
              <p:nvPr/>
            </p:nvSpPr>
            <p:spPr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0"/>
              <p:cNvSpPr/>
              <p:nvPr/>
            </p:nvSpPr>
            <p:spPr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9" name="Google Shape;219;p10"/>
              <p:cNvGrpSpPr/>
              <p:nvPr/>
            </p:nvGrpSpPr>
            <p:grpSpPr>
              <a:xfrm>
                <a:off x="4737" y="1627"/>
                <a:ext cx="580" cy="150"/>
                <a:chOff x="616" y="2568"/>
                <a:chExt cx="722" cy="138"/>
              </a:xfrm>
            </p:grpSpPr>
            <p:sp>
              <p:nvSpPr>
                <p:cNvPr id="220" name="Google Shape;220;p10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0"/>
                <p:cNvSpPr/>
                <p:nvPr/>
              </p:nvSpPr>
              <p:spPr>
                <a:xfrm>
                  <a:off x="630" y="2583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2" name="Google Shape;222;p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3" name="Google Shape;223;p10"/>
              <p:cNvGrpSpPr/>
              <p:nvPr/>
            </p:nvGrpSpPr>
            <p:grpSpPr>
              <a:xfrm>
                <a:off x="4737" y="1326"/>
                <a:ext cx="585" cy="138"/>
                <a:chOff x="611" y="2567"/>
                <a:chExt cx="729" cy="138"/>
              </a:xfrm>
            </p:grpSpPr>
            <p:sp>
              <p:nvSpPr>
                <p:cNvPr id="224" name="Google Shape;224;p10"/>
                <p:cNvSpPr/>
                <p:nvPr/>
              </p:nvSpPr>
              <p:spPr>
                <a:xfrm>
                  <a:off x="611" y="2567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10"/>
                <p:cNvSpPr/>
                <p:nvPr/>
              </p:nvSpPr>
              <p:spPr>
                <a:xfrm>
                  <a:off x="625" y="2584"/>
                  <a:ext cx="695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6" name="Google Shape;226;p10"/>
              <p:cNvSpPr/>
              <p:nvPr/>
            </p:nvSpPr>
            <p:spPr>
              <a:xfrm>
                <a:off x="5250" y="429"/>
                <a:ext cx="66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4140" y="2679"/>
                <a:ext cx="1199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4206" y="2712"/>
                <a:ext cx="1072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0"/>
              <p:cNvSpPr/>
              <p:nvPr/>
            </p:nvSpPr>
            <p:spPr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0"/>
              <p:cNvSpPr/>
              <p:nvPr/>
            </p:nvSpPr>
            <p:spPr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7" name="Google Shape;237;p10"/>
          <p:cNvSpPr txBox="1"/>
          <p:nvPr/>
        </p:nvSpPr>
        <p:spPr>
          <a:xfrm>
            <a:off x="727345" y="1393213"/>
            <a:ext cx="9863871" cy="152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 (DoS):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attackers make resources (server, bandwidth) unavailable to legitimate traffic by overwhelming resource with bogus traffic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select target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1788645" y="3635965"/>
            <a:ext cx="3795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break into hosts around the network (see botnet)</a:t>
            </a:r>
            <a:endParaRPr/>
          </a:p>
          <a:p>
            <a:pPr indent="-30607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728360" y="4894191"/>
            <a:ext cx="411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 packets to target from compromised hosts</a:t>
            </a:r>
            <a:endParaRPr/>
          </a:p>
        </p:txBody>
      </p:sp>
      <p:grpSp>
        <p:nvGrpSpPr>
          <p:cNvPr id="241" name="Google Shape;241;p10"/>
          <p:cNvGrpSpPr/>
          <p:nvPr/>
        </p:nvGrpSpPr>
        <p:grpSpPr>
          <a:xfrm>
            <a:off x="6876086" y="3297818"/>
            <a:ext cx="2720975" cy="2674938"/>
            <a:chOff x="-262" y="2555"/>
            <a:chExt cx="1714" cy="1685"/>
          </a:xfrm>
        </p:grpSpPr>
        <p:cxnSp>
          <p:nvCxnSpPr>
            <p:cNvPr id="242" name="Google Shape;242;p10"/>
            <p:cNvCxnSpPr/>
            <p:nvPr/>
          </p:nvCxnSpPr>
          <p:spPr>
            <a:xfrm flipH="1" rot="10800000">
              <a:off x="160" y="3261"/>
              <a:ext cx="436" cy="1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3" name="Google Shape;243;p10"/>
            <p:cNvCxnSpPr/>
            <p:nvPr/>
          </p:nvCxnSpPr>
          <p:spPr>
            <a:xfrm flipH="1" rot="10800000">
              <a:off x="413" y="3470"/>
              <a:ext cx="226" cy="32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4" name="Google Shape;244;p10"/>
            <p:cNvCxnSpPr/>
            <p:nvPr/>
          </p:nvCxnSpPr>
          <p:spPr>
            <a:xfrm rot="10800000">
              <a:off x="857" y="3410"/>
              <a:ext cx="595" cy="45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735" y="2555"/>
              <a:ext cx="16" cy="46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6" name="Google Shape;246;p10"/>
            <p:cNvCxnSpPr/>
            <p:nvPr/>
          </p:nvCxnSpPr>
          <p:spPr>
            <a:xfrm flipH="1">
              <a:off x="829" y="3011"/>
              <a:ext cx="473" cy="18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-262" y="3083"/>
              <a:ext cx="879" cy="1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8" name="Google Shape;248;p10"/>
            <p:cNvCxnSpPr/>
            <p:nvPr/>
          </p:nvCxnSpPr>
          <p:spPr>
            <a:xfrm flipH="1" rot="10800000">
              <a:off x="-201" y="3362"/>
              <a:ext cx="800" cy="64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9" name="Google Shape;249;p10"/>
            <p:cNvCxnSpPr/>
            <p:nvPr/>
          </p:nvCxnSpPr>
          <p:spPr>
            <a:xfrm flipH="1">
              <a:off x="852" y="2623"/>
              <a:ext cx="352" cy="39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0" name="Google Shape;250;p10"/>
            <p:cNvCxnSpPr/>
            <p:nvPr/>
          </p:nvCxnSpPr>
          <p:spPr>
            <a:xfrm flipH="1" rot="10800000">
              <a:off x="494" y="3582"/>
              <a:ext cx="198" cy="6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162" y="2738"/>
              <a:ext cx="416" cy="2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2" name="Google Shape;252;p10"/>
          <p:cNvGrpSpPr/>
          <p:nvPr/>
        </p:nvGrpSpPr>
        <p:grpSpPr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descr="desktop_computer_stylized_medium" id="253" name="Google Shape;25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0"/>
          <p:cNvGrpSpPr/>
          <p:nvPr/>
        </p:nvGrpSpPr>
        <p:grpSpPr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descr="desktop_computer_stylized_medium" id="256" name="Google Shape;25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0"/>
          <p:cNvGrpSpPr/>
          <p:nvPr/>
        </p:nvGrpSpPr>
        <p:grpSpPr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descr="desktop_computer_stylized_medium" id="259" name="Google Shape;25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0"/>
          <p:cNvGrpSpPr/>
          <p:nvPr/>
        </p:nvGrpSpPr>
        <p:grpSpPr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descr="desktop_computer_stylized_medium" id="262" name="Google Shape;26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0"/>
          <p:cNvGrpSpPr/>
          <p:nvPr/>
        </p:nvGrpSpPr>
        <p:grpSpPr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descr="desktop_computer_stylized_medium" id="265" name="Google Shape;26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0"/>
          <p:cNvGrpSpPr/>
          <p:nvPr/>
        </p:nvGrpSpPr>
        <p:grpSpPr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descr="desktop_computer_stylized_medium" id="268" name="Google Shape;26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descr="desktop_computer_stylized_medium" id="271" name="Google Shape;27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0"/>
          <p:cNvGrpSpPr/>
          <p:nvPr/>
        </p:nvGrpSpPr>
        <p:grpSpPr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descr="desktop_computer_stylized_medium" id="274" name="Google Shape;27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descr="desktop_computer_stylized_medium" id="277" name="Google Shape;27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0"/>
          <p:cNvGrpSpPr/>
          <p:nvPr/>
        </p:nvGrpSpPr>
        <p:grpSpPr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descr="desktop_computer_stylized_medium" id="280" name="Google Shape;28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0"/>
          <p:cNvGrpSpPr/>
          <p:nvPr/>
        </p:nvGrpSpPr>
        <p:grpSpPr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descr="desktop_computer_stylized_medium" id="283" name="Google Shape;28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0"/>
          <p:cNvGrpSpPr/>
          <p:nvPr/>
        </p:nvGrpSpPr>
        <p:grpSpPr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descr="desktop_computer_stylized_medium" id="286" name="Google Shape;28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289" name="Google Shape;28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Lines of defense:</a:t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841312" y="1344535"/>
            <a:ext cx="10342830" cy="4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proving you are who you say you are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cellular networks provides hardware identity via SIM card; no such hardware assist in traditional Internet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 checks: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signatures prevent/detect tampering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restrictions: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password-protected VPNs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firewalls: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specialized “middleboxes” in access and core networks: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off-by-default: filter incoming packets to restrict senders, receivers, applications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detecting/reacting to DOS attacks</a:t>
            </a:r>
            <a:endParaRPr/>
          </a:p>
          <a:p>
            <a:pPr indent="-67309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80914" y="6172356"/>
            <a:ext cx="10250759" cy="6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lots more on security (throughout, Chapter 8)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grpSp>
        <p:nvGrpSpPr>
          <p:cNvPr id="313" name="Google Shape;313;p12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14" name="Google Shape;31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16" name="Google Shape;316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317" name="Google Shape;317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" name="Google Shape;318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" name="Google Shape;319;p12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320" name="Google Shape;320;p12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321" name="Google Shape;321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12"/>
          <p:cNvSpPr txBox="1"/>
          <p:nvPr/>
        </p:nvSpPr>
        <p:spPr>
          <a:xfrm>
            <a:off x="455614" y="1574801"/>
            <a:ext cx="8013829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Layering, encapsulation, service models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Networks under attack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