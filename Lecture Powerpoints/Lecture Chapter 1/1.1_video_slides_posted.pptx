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">
          <p15:clr>
            <a:srgbClr val="A4A3A4"/>
          </p15:clr>
        </p15:guide>
        <p15:guide id="2" pos="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" orient="horz"/>
        <p:guide pos="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2" name="Google Shape;16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4" name="Google Shape;16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important points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distributed</a:t>
            </a:r>
            <a:r>
              <a:rPr lang="en-US"/>
              <a:t> entities, exchanging messages (governed by protocols)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Time going down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go over definition of protocol (showing format, order of messages sent and received, and actions taken)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We’ll see these kinds of diagrams a lot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65" name="Google Shape;16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6" name="Google Shape;17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48.png"/><Relationship Id="rId5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9.png"/><Relationship Id="rId11" Type="http://schemas.openxmlformats.org/officeDocument/2006/relationships/image" Target="../media/image7.png"/><Relationship Id="rId22" Type="http://schemas.openxmlformats.org/officeDocument/2006/relationships/image" Target="../media/image26.png"/><Relationship Id="rId10" Type="http://schemas.openxmlformats.org/officeDocument/2006/relationships/image" Target="../media/image3.png"/><Relationship Id="rId21" Type="http://schemas.openxmlformats.org/officeDocument/2006/relationships/image" Target="../media/image18.png"/><Relationship Id="rId13" Type="http://schemas.openxmlformats.org/officeDocument/2006/relationships/image" Target="../media/image19.png"/><Relationship Id="rId24" Type="http://schemas.openxmlformats.org/officeDocument/2006/relationships/image" Target="../media/image27.png"/><Relationship Id="rId12" Type="http://schemas.openxmlformats.org/officeDocument/2006/relationships/image" Target="../media/image21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7" Type="http://schemas.openxmlformats.org/officeDocument/2006/relationships/image" Target="../media/image13.png"/><Relationship Id="rId16" Type="http://schemas.openxmlformats.org/officeDocument/2006/relationships/image" Target="../media/image30.png"/><Relationship Id="rId5" Type="http://schemas.openxmlformats.org/officeDocument/2006/relationships/image" Target="../media/image22.png"/><Relationship Id="rId19" Type="http://schemas.openxmlformats.org/officeDocument/2006/relationships/image" Target="../media/image12.png"/><Relationship Id="rId6" Type="http://schemas.openxmlformats.org/officeDocument/2006/relationships/image" Target="../media/image44.jpg"/><Relationship Id="rId18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62.png"/><Relationship Id="rId13" Type="http://schemas.openxmlformats.org/officeDocument/2006/relationships/image" Target="../media/image76.jpg"/><Relationship Id="rId1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3.png"/><Relationship Id="rId4" Type="http://schemas.openxmlformats.org/officeDocument/2006/relationships/image" Target="../media/image46.jpg"/><Relationship Id="rId9" Type="http://schemas.openxmlformats.org/officeDocument/2006/relationships/image" Target="../media/image58.png"/><Relationship Id="rId15" Type="http://schemas.openxmlformats.org/officeDocument/2006/relationships/image" Target="../media/image61.png"/><Relationship Id="rId14" Type="http://schemas.openxmlformats.org/officeDocument/2006/relationships/image" Target="../media/image74.png"/><Relationship Id="rId17" Type="http://schemas.openxmlformats.org/officeDocument/2006/relationships/image" Target="../media/image65.png"/><Relationship Id="rId16" Type="http://schemas.openxmlformats.org/officeDocument/2006/relationships/image" Target="../media/image71.png"/><Relationship Id="rId5" Type="http://schemas.openxmlformats.org/officeDocument/2006/relationships/image" Target="../media/image59.png"/><Relationship Id="rId19" Type="http://schemas.openxmlformats.org/officeDocument/2006/relationships/image" Target="../media/image72.png"/><Relationship Id="rId6" Type="http://schemas.openxmlformats.org/officeDocument/2006/relationships/image" Target="../media/image57.png"/><Relationship Id="rId18" Type="http://schemas.openxmlformats.org/officeDocument/2006/relationships/image" Target="../media/image70.png"/><Relationship Id="rId7" Type="http://schemas.openxmlformats.org/officeDocument/2006/relationships/image" Target="../media/image55.jpg"/><Relationship Id="rId8" Type="http://schemas.openxmlformats.org/officeDocument/2006/relationships/image" Target="../media/image56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30.png"/><Relationship Id="rId22" Type="http://schemas.openxmlformats.org/officeDocument/2006/relationships/image" Target="../media/image17.png"/><Relationship Id="rId10" Type="http://schemas.openxmlformats.org/officeDocument/2006/relationships/image" Target="../media/image18.png"/><Relationship Id="rId21" Type="http://schemas.openxmlformats.org/officeDocument/2006/relationships/image" Target="../media/image4.png"/><Relationship Id="rId13" Type="http://schemas.openxmlformats.org/officeDocument/2006/relationships/image" Target="../media/image19.png"/><Relationship Id="rId12" Type="http://schemas.openxmlformats.org/officeDocument/2006/relationships/image" Target="../media/image23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49.png"/><Relationship Id="rId15" Type="http://schemas.openxmlformats.org/officeDocument/2006/relationships/image" Target="../media/image31.png"/><Relationship Id="rId14" Type="http://schemas.openxmlformats.org/officeDocument/2006/relationships/image" Target="../media/image26.png"/><Relationship Id="rId17" Type="http://schemas.openxmlformats.org/officeDocument/2006/relationships/image" Target="../media/image21.png"/><Relationship Id="rId16" Type="http://schemas.openxmlformats.org/officeDocument/2006/relationships/image" Target="../media/image27.png"/><Relationship Id="rId5" Type="http://schemas.openxmlformats.org/officeDocument/2006/relationships/image" Target="../media/image5.png"/><Relationship Id="rId19" Type="http://schemas.openxmlformats.org/officeDocument/2006/relationships/image" Target="../media/image11.png"/><Relationship Id="rId6" Type="http://schemas.openxmlformats.org/officeDocument/2006/relationships/image" Target="../media/image3.png"/><Relationship Id="rId18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11" Type="http://schemas.openxmlformats.org/officeDocument/2006/relationships/image" Target="../media/image30.png"/><Relationship Id="rId22" Type="http://schemas.openxmlformats.org/officeDocument/2006/relationships/image" Target="../media/image17.png"/><Relationship Id="rId10" Type="http://schemas.openxmlformats.org/officeDocument/2006/relationships/image" Target="../media/image18.png"/><Relationship Id="rId21" Type="http://schemas.openxmlformats.org/officeDocument/2006/relationships/image" Target="../media/image4.png"/><Relationship Id="rId13" Type="http://schemas.openxmlformats.org/officeDocument/2006/relationships/image" Target="../media/image19.png"/><Relationship Id="rId12" Type="http://schemas.openxmlformats.org/officeDocument/2006/relationships/image" Target="../media/image23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49.png"/><Relationship Id="rId15" Type="http://schemas.openxmlformats.org/officeDocument/2006/relationships/image" Target="../media/image31.png"/><Relationship Id="rId14" Type="http://schemas.openxmlformats.org/officeDocument/2006/relationships/image" Target="../media/image26.png"/><Relationship Id="rId17" Type="http://schemas.openxmlformats.org/officeDocument/2006/relationships/image" Target="../media/image21.png"/><Relationship Id="rId16" Type="http://schemas.openxmlformats.org/officeDocument/2006/relationships/image" Target="../media/image27.png"/><Relationship Id="rId5" Type="http://schemas.openxmlformats.org/officeDocument/2006/relationships/image" Target="../media/image5.png"/><Relationship Id="rId19" Type="http://schemas.openxmlformats.org/officeDocument/2006/relationships/image" Target="../media/image11.png"/><Relationship Id="rId6" Type="http://schemas.openxmlformats.org/officeDocument/2006/relationships/image" Target="../media/image3.png"/><Relationship Id="rId18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7.png"/><Relationship Id="rId4" Type="http://schemas.openxmlformats.org/officeDocument/2006/relationships/image" Target="../media/image75.png"/><Relationship Id="rId5" Type="http://schemas.openxmlformats.org/officeDocument/2006/relationships/image" Target="../media/image6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1.jpg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46662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4643" y="1879601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Overview. What </a:t>
            </a:r>
            <a:r>
              <a:rPr i="1" lang="en-US" sz="3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45382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Chapter 1: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786816" y="1375384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Chapter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“feel,” “big picture,” introduction to terminology</a:t>
            </a:r>
            <a:endParaRPr/>
          </a:p>
          <a:p>
            <a:pPr indent="-225425" lvl="1" marL="800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depth, detail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later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 course</a:t>
            </a:r>
            <a:endParaRPr/>
          </a:p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5968416" y="1422888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Overview/roadmap: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833" y="4034454"/>
            <a:ext cx="2745129" cy="2058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932" y="1422218"/>
            <a:ext cx="5532967" cy="33550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8"/>
          <p:cNvGrpSpPr/>
          <p:nvPr/>
        </p:nvGrpSpPr>
        <p:grpSpPr>
          <a:xfrm>
            <a:off x="2642871" y="2235201"/>
            <a:ext cx="5840729" cy="3301999"/>
            <a:chOff x="6266604" y="1841500"/>
            <a:chExt cx="5563445" cy="2825750"/>
          </a:xfrm>
        </p:grpSpPr>
        <p:pic>
          <p:nvPicPr>
            <p:cNvPr id="57" name="Google Shape;5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66604" y="1841500"/>
              <a:ext cx="5563445" cy="282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8"/>
            <p:cNvSpPr/>
            <p:nvPr/>
          </p:nvSpPr>
          <p:spPr>
            <a:xfrm>
              <a:off x="6400004" y="4355660"/>
              <a:ext cx="3962400" cy="264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https://www.youtube.com/watch?v=ourb9j-dq8Q</a:t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392291" y="3909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54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7266" y="3065464"/>
            <a:ext cx="5291666" cy="357187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/>
          <p:nvPr/>
        </p:nvSpPr>
        <p:spPr>
          <a:xfrm>
            <a:off x="592666" y="1422400"/>
            <a:ext cx="48486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https://www.youtube.com/watch?v=iDbyYGrswtg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798691" y="2290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71" name="Google Shape;71;p9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" name="Google Shape;73;p9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74" name="Google Shape;74;p9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9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" name="Google Shape;76;p9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9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78" name="Google Shape;78;p9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79" name="Google Shape;79;p9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" name="Google Shape;81;p9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82" name="Google Shape;82;p9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9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4" name="Google Shape;84;p9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9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9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9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9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9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0" name="Google Shape;90;p9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91" name="Google Shape;91;p9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9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3" name="Google Shape;93;p9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9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9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9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9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9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9" name="Google Shape;99;p9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9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03" name="Google Shape;103;p9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04" name="Google Shape;104;p9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9"/>
          <p:cNvGrpSpPr/>
          <p:nvPr/>
        </p:nvGrpSpPr>
        <p:grpSpPr>
          <a:xfrm>
            <a:off x="1297913" y="3134990"/>
            <a:ext cx="5623201" cy="1305077"/>
            <a:chOff x="1297913" y="3209940"/>
            <a:chExt cx="5623201" cy="1305077"/>
          </a:xfrm>
        </p:grpSpPr>
        <p:sp>
          <p:nvSpPr>
            <p:cNvPr id="106" name="Google Shape;106;p9"/>
            <p:cNvSpPr txBox="1"/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400"/>
                <a:buFont typeface="Noto Sans Symbols"/>
                <a:buNone/>
              </a:pP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switches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forward packets (chunks of data)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switches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" name="Google Shape;107;p9"/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108" name="Google Shape;108;p9"/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109" name="Google Shape;109;p9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10" name="Google Shape;110;p9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11" name="Google Shape;111;p9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2" name="Google Shape;112;p9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" name="Google Shape;113;p9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" name="Google Shape;114;p9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" name="Google Shape;115;p9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6" name="Google Shape;116;p9"/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20" name="Google Shape;120;p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" name="Google Shape;121;p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" name="Google Shape;122;p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24" name="Google Shape;124;p9"/>
          <p:cNvGrpSpPr/>
          <p:nvPr/>
        </p:nvGrpSpPr>
        <p:grpSpPr>
          <a:xfrm>
            <a:off x="972848" y="3887572"/>
            <a:ext cx="5946258" cy="1994414"/>
            <a:chOff x="972848" y="3947532"/>
            <a:chExt cx="5946258" cy="1994414"/>
          </a:xfrm>
        </p:grpSpPr>
        <p:sp>
          <p:nvSpPr>
            <p:cNvPr id="125" name="Google Shape;125;p9"/>
            <p:cNvSpPr txBox="1"/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858" marR="0" rtl="0" algn="l">
                <a:lnSpc>
                  <a:spcPct val="90000"/>
                </a:lnSpc>
                <a:spcBef>
                  <a:spcPts val="672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links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fiber, copper, radio, satellite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rate: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</a:t>
              </a:r>
              <a:b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" name="Google Shape;126;p9"/>
            <p:cNvGrpSpPr/>
            <p:nvPr/>
          </p:nvGrpSpPr>
          <p:grpSpPr>
            <a:xfrm>
              <a:off x="2428229" y="4382136"/>
              <a:ext cx="457200" cy="733152"/>
              <a:chOff x="6061075" y="1844675"/>
              <a:chExt cx="457200" cy="733152"/>
            </a:xfrm>
          </p:grpSpPr>
          <p:cxnSp>
            <p:nvCxnSpPr>
              <p:cNvPr id="127" name="Google Shape;127;p9"/>
              <p:cNvCxnSpPr/>
              <p:nvPr/>
            </p:nvCxnSpPr>
            <p:spPr>
              <a:xfrm>
                <a:off x="6289675" y="2403475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8" name="Google Shape;128;p9"/>
              <p:cNvGrpSpPr/>
              <p:nvPr/>
            </p:nvGrpSpPr>
            <p:grpSpPr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129" name="Google Shape;129;p9"/>
                <p:cNvGrpSpPr/>
                <p:nvPr/>
              </p:nvGrpSpPr>
              <p:grpSpPr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cxnSp>
                <p:nvCxnSpPr>
                  <p:cNvPr id="130" name="Google Shape;130;p9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1" name="Google Shape;131;p9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" name="Google Shape;132;p9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3" name="Google Shape;133;p9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4" name="Google Shape;134;p9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5" name="Google Shape;135;p9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6" name="Google Shape;136;p9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7" name="Google Shape;137;p9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8" name="Google Shape;138;p9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9" name="Google Shape;139;p9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0" name="Google Shape;140;p9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1" name="Google Shape;141;p9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2" name="Google Shape;142;p9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3" name="Google Shape;143;p9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44" name="Google Shape;144;p9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pic>
              <p:nvPicPr>
                <p:cNvPr descr="cell_tower_radiation copy" id="145" name="Google Shape;145;p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6" name="Google Shape;146;p9"/>
                <p:cNvSpPr/>
                <p:nvPr/>
              </p:nvSpPr>
              <p:spPr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7" name="Google Shape;147;p9"/>
            <p:cNvGrpSpPr/>
            <p:nvPr/>
          </p:nvGrpSpPr>
          <p:grpSpPr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descr="access_point_stylized_small" id="148" name="Google Shape;148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49" name="Google Shape;149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mage result for Ethernet cable" id="150" name="Google Shape;15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6310" y="4560750"/>
              <a:ext cx="874495" cy="513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9"/>
          <p:cNvGrpSpPr/>
          <p:nvPr/>
        </p:nvGrpSpPr>
        <p:grpSpPr>
          <a:xfrm>
            <a:off x="413554" y="1318241"/>
            <a:ext cx="6618129" cy="1705461"/>
            <a:chOff x="413554" y="1318241"/>
            <a:chExt cx="6618129" cy="1705461"/>
          </a:xfrm>
        </p:grpSpPr>
        <p:sp>
          <p:nvSpPr>
            <p:cNvPr id="152" name="Google Shape;152;p9"/>
            <p:cNvSpPr txBox="1"/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Billions of connected computing </a:t>
              </a: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devices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hosts</a:t>
              </a: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end systems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running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</a:t>
              </a: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apps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Internet’s “edge”</a:t>
              </a:r>
              <a:endParaRPr/>
            </a:p>
          </p:txBody>
        </p:sp>
        <p:grpSp>
          <p:nvGrpSpPr>
            <p:cNvPr id="153" name="Google Shape;153;p9"/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154" name="Google Shape;154;p9"/>
              <p:cNvGrpSpPr/>
              <p:nvPr/>
            </p:nvGrpSpPr>
            <p:grpSpPr>
              <a:xfrm>
                <a:off x="2228805" y="1490654"/>
                <a:ext cx="627929" cy="619360"/>
                <a:chOff x="877" y="1008"/>
                <a:chExt cx="2747" cy="2626"/>
              </a:xfrm>
            </p:grpSpPr>
            <p:pic>
              <p:nvPicPr>
                <p:cNvPr descr="antenna_stylized" id="155" name="Google Shape;155;p9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156" name="Google Shape;156;p9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 flipH="1" rot="109064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7" name="Google Shape;157;p9"/>
                <p:cNvSpPr/>
                <p:nvPr/>
              </p:nvSpPr>
              <p:spPr>
                <a:xfrm>
                  <a:off x="1753" y="1603"/>
                  <a:ext cx="1807" cy="1322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58" name="Google Shape;158;p9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" name="Google Shape;159;p9"/>
                <p:cNvSpPr/>
                <p:nvPr/>
              </p:nvSpPr>
              <p:spPr>
                <a:xfrm>
                  <a:off x="2082" y="1564"/>
                  <a:ext cx="1531" cy="24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9"/>
                <p:cNvSpPr/>
                <p:nvPr/>
              </p:nvSpPr>
              <p:spPr>
                <a:xfrm>
                  <a:off x="1737" y="1562"/>
                  <a:ext cx="425" cy="1024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9"/>
                <p:cNvSpPr/>
                <p:nvPr/>
              </p:nvSpPr>
              <p:spPr>
                <a:xfrm>
                  <a:off x="3144" y="1745"/>
                  <a:ext cx="458" cy="118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9"/>
                <p:cNvSpPr/>
                <p:nvPr/>
              </p:nvSpPr>
              <p:spPr>
                <a:xfrm>
                  <a:off x="1732" y="2534"/>
                  <a:ext cx="1680" cy="399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9"/>
                <p:cNvSpPr/>
                <p:nvPr/>
              </p:nvSpPr>
              <p:spPr>
                <a:xfrm>
                  <a:off x="3195" y="1755"/>
                  <a:ext cx="429" cy="1187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9"/>
                <p:cNvSpPr/>
                <p:nvPr/>
              </p:nvSpPr>
              <p:spPr>
                <a:xfrm>
                  <a:off x="1734" y="2587"/>
                  <a:ext cx="1494" cy="394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5" name="Google Shape;165;p9"/>
                <p:cNvGrpSpPr/>
                <p:nvPr/>
              </p:nvGrpSpPr>
              <p:grpSpPr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66" name="Google Shape;166;p9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" name="Google Shape;167;p9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" name="Google Shape;168;p9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9" name="Google Shape;169;p9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" name="Google Shape;170;p9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" name="Google Shape;171;p9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72" name="Google Shape;172;p9"/>
                <p:cNvSpPr/>
                <p:nvPr/>
              </p:nvSpPr>
              <p:spPr>
                <a:xfrm>
                  <a:off x="2577" y="3043"/>
                  <a:ext cx="614" cy="514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p9"/>
                <p:cNvSpPr/>
                <p:nvPr/>
              </p:nvSpPr>
              <p:spPr>
                <a:xfrm>
                  <a:off x="1010" y="3084"/>
                  <a:ext cx="1571" cy="469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9"/>
                <p:cNvSpPr/>
                <p:nvPr/>
              </p:nvSpPr>
              <p:spPr>
                <a:xfrm>
                  <a:off x="1011" y="2998"/>
                  <a:ext cx="17" cy="95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9"/>
                <p:cNvSpPr/>
                <p:nvPr/>
              </p:nvSpPr>
              <p:spPr>
                <a:xfrm>
                  <a:off x="1012" y="2611"/>
                  <a:ext cx="730" cy="39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9"/>
                <p:cNvSpPr/>
                <p:nvPr/>
              </p:nvSpPr>
              <p:spPr>
                <a:xfrm>
                  <a:off x="1061" y="3018"/>
                  <a:ext cx="1490" cy="451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9"/>
                <p:cNvSpPr/>
                <p:nvPr/>
              </p:nvSpPr>
              <p:spPr>
                <a:xfrm flipH="1" rot="10800000">
                  <a:off x="2549" y="2986"/>
                  <a:ext cx="608" cy="467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" name="Google Shape;178;p9"/>
              <p:cNvGrpSpPr/>
              <p:nvPr/>
            </p:nvGrpSpPr>
            <p:grpSpPr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descr="iphone_stylized_small" id="179" name="Google Shape;179;p9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80" name="Google Shape;180;p9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1" name="Google Shape;181;p9"/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descr="fridge2.png" id="182" name="Google Shape;182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83" name="Google Shape;183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84" name="Google Shape;184;p9"/>
              <p:cNvGrpSpPr/>
              <p:nvPr/>
            </p:nvGrpSpPr>
            <p:grpSpPr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185" name="Google Shape;185;p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91" name="Google Shape;191;p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3" name="Google Shape;193;p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4" name="Google Shape;194;p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95" name="Google Shape;195;p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6" name="Google Shape;196;p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7" name="Google Shape;197;p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" name="Google Shape;199;p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0" name="Google Shape;200;p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2" name="Google Shape;202;p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3" name="Google Shape;203;p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4" name="Google Shape;204;p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5" name="Google Shape;205;p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6" name="Google Shape;206;p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7" name="Google Shape;217;p9"/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descr="server_rack.png" id="218" name="Google Shape;218;p9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19" name="Google Shape;219;p9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20" name="Google Shape;220;p9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21" name="Google Shape;221;p9"/>
              <p:cNvGrpSpPr/>
              <p:nvPr/>
            </p:nvGrpSpPr>
            <p:grpSpPr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descr="desktop_computer_stylized_medium" id="222" name="Google Shape;222;p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3" name="Google Shape;223;p9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4" name="Google Shape;224;p9"/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descr="light2.png" id="225" name="Google Shape;225;p9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26" name="Google Shape;226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27" name="Google Shape;227;p9"/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28" name="Google Shape;228;p9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29" name="Google Shape;229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30" name="Google Shape;230;p9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231" name="Google Shape;231;p9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9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9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9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9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9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9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9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9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9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9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2" name="Google Shape;242;p9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243" name="Google Shape;243;p9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244" name="Google Shape;244;p9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9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6" name="Google Shape;246;p9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7" name="Google Shape;247;p9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9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" name="Google Shape;249;p9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" name="Google Shape;250;p9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" name="Google Shape;251;p9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2" name="Google Shape;252;p9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" name="Google Shape;253;p9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" name="Google Shape;254;p9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9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" name="Google Shape;256;p9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" name="Google Shape;257;p9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" name="Google Shape;258;p9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9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9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9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2" name="Google Shape;262;p9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3" name="Google Shape;263;p9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4" name="Google Shape;264;p9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5" name="Google Shape;265;p9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66" name="Google Shape;266;p9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" name="Google Shape;267;p9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268" name="Google Shape;268;p9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69" name="Google Shape;269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270" name="Google Shape;270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9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2" name="Google Shape;272;p9"/>
          <p:cNvGrpSpPr/>
          <p:nvPr/>
        </p:nvGrpSpPr>
        <p:grpSpPr>
          <a:xfrm>
            <a:off x="7414072" y="1891912"/>
            <a:ext cx="4144321" cy="4305092"/>
            <a:chOff x="7432700" y="1830405"/>
            <a:chExt cx="4144321" cy="4305092"/>
          </a:xfrm>
        </p:grpSpPr>
        <p:grpSp>
          <p:nvGrpSpPr>
            <p:cNvPr id="273" name="Google Shape;273;p9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74" name="Google Shape;274;p9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75" name="Google Shape;275;p9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76" name="Google Shape;276;p9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7" name="Google Shape;277;p9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78" name="Google Shape;278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79" name="Google Shape;279;p9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0" name="Google Shape;280;p9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81" name="Google Shape;281;p9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2" name="Google Shape;282;p9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9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9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9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9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9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8" name="Google Shape;288;p9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89" name="Google Shape;289;p9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0" name="Google Shape;290;p9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1" name="Google Shape;291;p9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9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" name="Google Shape;293;p9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9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5" name="Google Shape;295;p9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9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9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9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9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9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1" name="Google Shape;301;p9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302" name="Google Shape;302;p9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3" name="Google Shape;303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04" name="Google Shape;304;p9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305" name="Google Shape;305;p9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6" name="Google Shape;306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7" name="Google Shape;307;p9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308" name="Google Shape;308;p9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309" name="Google Shape;309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310" name="Google Shape;310;p9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11" name="Google Shape;311;p9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12" name="Google Shape;312;p9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13" name="Google Shape;313;p9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9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9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9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9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9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9" name="Google Shape;319;p9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20" name="Google Shape;320;p9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1" name="Google Shape;321;p9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2" name="Google Shape;322;p9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" name="Google Shape;323;p9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" name="Google Shape;324;p9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9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" name="Google Shape;326;p9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9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9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9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9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9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2" name="Google Shape;332;p9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33" name="Google Shape;333;p9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4" name="Google Shape;334;p9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5" name="Google Shape;335;p9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36" name="Google Shape;336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37" name="Google Shape;337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38" name="Google Shape;338;p9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39" name="Google Shape;339;p9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40" name="Google Shape;340;p9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1" name="Google Shape;341;p9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2" name="Google Shape;342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3" name="Google Shape;343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4" name="Google Shape;344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45" name="Google Shape;345;p9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46" name="Google Shape;346;p9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7" name="Google Shape;347;p9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8" name="Google Shape;348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" name="Google Shape;349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0" name="Google Shape;350;p9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51" name="Google Shape;351;p9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52" name="Google Shape;352;p9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53" name="Google Shape;353;p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" name="Google Shape;355;p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8" name="Google Shape;358;p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59" name="Google Shape;359;p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0" name="Google Shape;360;p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1" name="Google Shape;361;p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2" name="Google Shape;362;p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63" name="Google Shape;363;p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4" name="Google Shape;364;p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5" name="Google Shape;365;p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7" name="Google Shape;367;p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68" name="Google Shape;368;p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70" name="Google Shape;370;p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1" name="Google Shape;371;p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72" name="Google Shape;372;p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p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74" name="Google Shape;374;p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" name="Google Shape;380;p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" name="Google Shape;385;p9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386" name="Google Shape;386;p9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387" name="Google Shape;387;p9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8" name="Google Shape;388;p9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9" name="Google Shape;389;p9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390" name="Google Shape;390;p9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391" name="Google Shape;391;p9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92" name="Google Shape;392;p9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93" name="Google Shape;393;p9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94" name="Google Shape;394;p9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5" name="Google Shape;395;p9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9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9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8" name="Google Shape;398;p9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9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00" name="Google Shape;400;p9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01" name="Google Shape;401;p9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2" name="Google Shape;402;p9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3" name="Google Shape;403;p9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4" name="Google Shape;404;p9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5" name="Google Shape;405;p9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6" name="Google Shape;406;p9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07" name="Google Shape;407;p9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8" name="Google Shape;408;p9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9" name="Google Shape;409;p9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0" name="Google Shape;410;p9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1" name="Google Shape;411;p9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2" name="Google Shape;412;p9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3" name="Google Shape;413;p9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14" name="Google Shape;414;p9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" name="Google Shape;415;p9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6" name="Google Shape;416;p9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17" name="Google Shape;417;p9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8" name="Google Shape;418;p9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9" name="Google Shape;419;p9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20" name="Google Shape;420;p9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21" name="Google Shape;421;p9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2" name="Google Shape;422;p9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23" name="Google Shape;423;p9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24" name="Google Shape;424;p9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25" name="Google Shape;425;p9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26" name="Google Shape;426;p9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27" name="Google Shape;427;p9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8" name="Google Shape;428;p9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9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9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9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9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33" name="Google Shape;433;p9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34" name="Google Shape;434;p9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5" name="Google Shape;435;p9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" name="Google Shape;436;p9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7" name="Google Shape;437;p9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8" name="Google Shape;438;p9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9" name="Google Shape;439;p9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40" name="Google Shape;440;p9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1" name="Google Shape;441;p9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2" name="Google Shape;442;p9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" name="Google Shape;443;p9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" name="Google Shape;444;p9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5" name="Google Shape;445;p9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46" name="Google Shape;446;p9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47" name="Google Shape;447;p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2" name="Google Shape;452;p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53" name="Google Shape;453;p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5" name="Google Shape;455;p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6" name="Google Shape;456;p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57" name="Google Shape;457;p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" name="Google Shape;458;p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9" name="Google Shape;459;p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1" name="Google Shape;461;p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62" name="Google Shape;462;p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64" name="Google Shape;464;p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5" name="Google Shape;465;p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66" name="Google Shape;466;p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68" name="Google Shape;468;p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sz="1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79" name="Google Shape;479;p9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480" name="Google Shape;480;p9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1" name="Google Shape;481;p9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482" name="Google Shape;482;p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497" name="Google Shape;49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498" name="Google Shape;49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9" name="Google Shape;499;p9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500" name="Google Shape;500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2" name="Google Shape;502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3" name="Google Shape;503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7" name="Google Shape;507;p9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08" name="Google Shape;508;p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0" name="Google Shape;510;p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1" name="Google Shape;511;p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5" name="Google Shape;515;p9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16" name="Google Shape;516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8" name="Google Shape;518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9" name="Google Shape;519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3" name="Google Shape;523;p9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24" name="Google Shape;524;p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7" name="Google Shape;527;p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1" name="Google Shape;531;p9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32" name="Google Shape;532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3" name="Google Shape;533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4" name="Google Shape;534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5" name="Google Shape;535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9" name="Google Shape;539;p9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40" name="Google Shape;540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2" name="Google Shape;542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3" name="Google Shape;543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7" name="Google Shape;547;p9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48" name="Google Shape;548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9" name="Google Shape;549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0" name="Google Shape;550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1" name="Google Shape;551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5" name="Google Shape;555;p9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56" name="Google Shape;556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7" name="Google Shape;557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8" name="Google Shape;558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9" name="Google Shape;559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3" name="Google Shape;563;p9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64" name="Google Shape;564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5" name="Google Shape;565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6" name="Google Shape;566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7" name="Google Shape;567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" name="Google Shape;569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0" name="Google Shape;570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1" name="Google Shape;571;p9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72" name="Google Shape;572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4" name="Google Shape;574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5" name="Google Shape;575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" name="Google Shape;576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" name="Google Shape;577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9" name="Google Shape;579;p9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80" name="Google Shape;580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1" name="Google Shape;581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2" name="Google Shape;582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3" name="Google Shape;583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586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7" name="Google Shape;587;p9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88" name="Google Shape;588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9" name="Google Shape;589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0" name="Google Shape;590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1" name="Google Shape;591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592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593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5" name="Google Shape;595;p9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96" name="Google Shape;596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7" name="Google Shape;597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8" name="Google Shape;598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9" name="Google Shape;599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3" name="Google Shape;603;p9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604" name="Google Shape;604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5" name="Google Shape;605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6" name="Google Shape;606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7" name="Google Shape;607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1" name="Google Shape;611;p9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612" name="Google Shape;612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3" name="Google Shape;613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4" name="Google Shape;614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5" name="Google Shape;615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9" name="Google Shape;619;p9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0" name="Google Shape;620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1" name="Google Shape;621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2" name="Google Shape;622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" name="Google Shape;623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7" name="Google Shape;627;p9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628" name="Google Shape;628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9" name="Google Shape;629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30" name="Google Shape;630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31" name="Google Shape;631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5" name="Google Shape;635;p9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636" name="Google Shape;636;p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37" name="Google Shape;637;p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38" name="Google Shape;638;p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39" name="Google Shape;639;p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43" name="Google Shape;643;p9"/>
          <p:cNvGrpSpPr/>
          <p:nvPr/>
        </p:nvGrpSpPr>
        <p:grpSpPr>
          <a:xfrm>
            <a:off x="1728873" y="5539150"/>
            <a:ext cx="5446393" cy="1149445"/>
            <a:chOff x="1728873" y="5539150"/>
            <a:chExt cx="5446393" cy="1149445"/>
          </a:xfrm>
        </p:grpSpPr>
        <p:sp>
          <p:nvSpPr>
            <p:cNvPr id="644" name="Google Shape;644;p9"/>
            <p:cNvSpPr/>
            <p:nvPr/>
          </p:nvSpPr>
          <p:spPr>
            <a:xfrm>
              <a:off x="1728873" y="5660145"/>
              <a:ext cx="1143514" cy="68053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9"/>
            <p:cNvSpPr txBox="1"/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collection of devices, routers, links: managed by an organization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6" name="Google Shape;646;p9"/>
          <p:cNvSpPr/>
          <p:nvPr/>
        </p:nvSpPr>
        <p:spPr>
          <a:xfrm>
            <a:off x="7189291" y="1641975"/>
            <a:ext cx="4101062" cy="4254341"/>
          </a:xfrm>
          <a:custGeom>
            <a:rect b="b" l="l" r="r" t="t"/>
            <a:pathLst>
              <a:path extrusionOk="0" h="4254341" w="4101062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 cap="flat" cmpd="sng" w="12700">
            <a:solidFill>
              <a:srgbClr val="31538F">
                <a:alpha val="5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0"/>
          <p:cNvSpPr txBox="1"/>
          <p:nvPr>
            <p:ph type="title"/>
          </p:nvPr>
        </p:nvSpPr>
        <p:spPr>
          <a:xfrm>
            <a:off x="787400" y="3359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“Fun” Internet-connected devices</a:t>
            </a:r>
            <a:endParaRPr/>
          </a:p>
        </p:txBody>
      </p:sp>
      <p:pic>
        <p:nvPicPr>
          <p:cNvPr descr="toaster" id="652" name="Google Shape;6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235" y="2861110"/>
            <a:ext cx="1675416" cy="197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0"/>
          <p:cNvSpPr txBox="1"/>
          <p:nvPr/>
        </p:nvSpPr>
        <p:spPr>
          <a:xfrm>
            <a:off x="7093001" y="3040516"/>
            <a:ext cx="20926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Web-enabled toaster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forecaster</a:t>
            </a:r>
            <a:endParaRPr/>
          </a:p>
        </p:txBody>
      </p:sp>
      <p:grpSp>
        <p:nvGrpSpPr>
          <p:cNvPr id="654" name="Google Shape;654;p10"/>
          <p:cNvGrpSpPr/>
          <p:nvPr/>
        </p:nvGrpSpPr>
        <p:grpSpPr>
          <a:xfrm>
            <a:off x="723207" y="3591303"/>
            <a:ext cx="4897766" cy="2945470"/>
            <a:chOff x="723207" y="3591303"/>
            <a:chExt cx="4897766" cy="2945470"/>
          </a:xfrm>
        </p:grpSpPr>
        <p:grpSp>
          <p:nvGrpSpPr>
            <p:cNvPr id="655" name="Google Shape;655;p10"/>
            <p:cNvGrpSpPr/>
            <p:nvPr/>
          </p:nvGrpSpPr>
          <p:grpSpPr>
            <a:xfrm>
              <a:off x="723207" y="4924676"/>
              <a:ext cx="1768379" cy="1612097"/>
              <a:chOff x="723207" y="4924676"/>
              <a:chExt cx="1768379" cy="1612097"/>
            </a:xfrm>
          </p:grpSpPr>
          <p:pic>
            <p:nvPicPr>
              <p:cNvPr descr="cisco" id="656" name="Google Shape;656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3207" y="4924676"/>
                <a:ext cx="1768379" cy="14168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7" name="Google Shape;657;p10"/>
              <p:cNvSpPr txBox="1"/>
              <p:nvPr/>
            </p:nvSpPr>
            <p:spPr>
              <a:xfrm>
                <a:off x="952500" y="6198219"/>
                <a:ext cx="152118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phones</a:t>
                </a:r>
                <a:endParaRPr/>
              </a:p>
            </p:txBody>
          </p:sp>
        </p:grpSp>
        <p:grpSp>
          <p:nvGrpSpPr>
            <p:cNvPr id="658" name="Google Shape;658;p10"/>
            <p:cNvGrpSpPr/>
            <p:nvPr/>
          </p:nvGrpSpPr>
          <p:grpSpPr>
            <a:xfrm>
              <a:off x="3863186" y="3591303"/>
              <a:ext cx="1757787" cy="1165800"/>
              <a:chOff x="3863186" y="3591303"/>
              <a:chExt cx="1757787" cy="1165800"/>
            </a:xfrm>
          </p:grpSpPr>
          <p:pic>
            <p:nvPicPr>
              <p:cNvPr id="659" name="Google Shape;659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68398" y="3591303"/>
                <a:ext cx="1552575" cy="742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0" name="Google Shape;660;p10"/>
              <p:cNvSpPr txBox="1"/>
              <p:nvPr/>
            </p:nvSpPr>
            <p:spPr>
              <a:xfrm>
                <a:off x="3863186" y="4172328"/>
                <a:ext cx="15912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Slingbox: remote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cable TV</a:t>
                </a:r>
                <a:endParaRPr/>
              </a:p>
            </p:txBody>
          </p:sp>
        </p:grpSp>
      </p:grpSp>
      <p:grpSp>
        <p:nvGrpSpPr>
          <p:cNvPr id="661" name="Google Shape;661;p10"/>
          <p:cNvGrpSpPr/>
          <p:nvPr/>
        </p:nvGrpSpPr>
        <p:grpSpPr>
          <a:xfrm>
            <a:off x="814227" y="3747548"/>
            <a:ext cx="2676937" cy="1188113"/>
            <a:chOff x="1752086" y="3835708"/>
            <a:chExt cx="2676937" cy="1188113"/>
          </a:xfrm>
        </p:grpSpPr>
        <p:sp>
          <p:nvSpPr>
            <p:cNvPr id="662" name="Google Shape;662;p10"/>
            <p:cNvSpPr txBox="1"/>
            <p:nvPr/>
          </p:nvSpPr>
          <p:spPr>
            <a:xfrm>
              <a:off x="2887639" y="4685267"/>
              <a:ext cx="154138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Camera</a:t>
              </a:r>
              <a:endParaRPr/>
            </a:p>
          </p:txBody>
        </p:sp>
        <p:pic>
          <p:nvPicPr>
            <p:cNvPr id="663" name="Google Shape;66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4" name="Google Shape;664;p10"/>
          <p:cNvGrpSpPr/>
          <p:nvPr/>
        </p:nvGrpSpPr>
        <p:grpSpPr>
          <a:xfrm>
            <a:off x="722790" y="1143651"/>
            <a:ext cx="10449383" cy="5458394"/>
            <a:chOff x="671990" y="1143651"/>
            <a:chExt cx="10449383" cy="5458394"/>
          </a:xfrm>
        </p:grpSpPr>
        <p:grpSp>
          <p:nvGrpSpPr>
            <p:cNvPr id="665" name="Google Shape;665;p10"/>
            <p:cNvGrpSpPr/>
            <p:nvPr/>
          </p:nvGrpSpPr>
          <p:grpSpPr>
            <a:xfrm>
              <a:off x="3363111" y="1717360"/>
              <a:ext cx="1895475" cy="1738803"/>
              <a:chOff x="3363111" y="1717360"/>
              <a:chExt cx="1895475" cy="1738803"/>
            </a:xfrm>
          </p:grpSpPr>
          <p:pic>
            <p:nvPicPr>
              <p:cNvPr descr="whisper" id="666" name="Google Shape;666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63111" y="1717360"/>
                <a:ext cx="1895475" cy="1560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7" name="Google Shape;667;p10"/>
              <p:cNvSpPr txBox="1"/>
              <p:nvPr/>
            </p:nvSpPr>
            <p:spPr>
              <a:xfrm>
                <a:off x="3517381" y="3117609"/>
                <a:ext cx="15178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picture frame</a:t>
                </a:r>
                <a:endParaRPr/>
              </a:p>
            </p:txBody>
          </p:sp>
        </p:grpSp>
        <p:grpSp>
          <p:nvGrpSpPr>
            <p:cNvPr id="668" name="Google Shape;668;p10"/>
            <p:cNvGrpSpPr/>
            <p:nvPr/>
          </p:nvGrpSpPr>
          <p:grpSpPr>
            <a:xfrm>
              <a:off x="2055482" y="1410532"/>
              <a:ext cx="1179513" cy="2761796"/>
              <a:chOff x="2506141" y="1897178"/>
              <a:chExt cx="1179513" cy="2761796"/>
            </a:xfrm>
          </p:grpSpPr>
          <p:pic>
            <p:nvPicPr>
              <p:cNvPr id="669" name="Google Shape;669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694260" y="1897178"/>
                <a:ext cx="803275" cy="216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0" name="Google Shape;670;p10"/>
              <p:cNvSpPr txBox="1"/>
              <p:nvPr/>
            </p:nvSpPr>
            <p:spPr>
              <a:xfrm>
                <a:off x="2506141" y="4077949"/>
                <a:ext cx="1179513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refrigerator</a:t>
                </a:r>
                <a:endParaRPr/>
              </a:p>
            </p:txBody>
          </p:sp>
        </p:grpSp>
        <p:grpSp>
          <p:nvGrpSpPr>
            <p:cNvPr id="671" name="Google Shape;671;p10"/>
            <p:cNvGrpSpPr/>
            <p:nvPr/>
          </p:nvGrpSpPr>
          <p:grpSpPr>
            <a:xfrm>
              <a:off x="8585501" y="1143651"/>
              <a:ext cx="2535872" cy="1141975"/>
              <a:chOff x="8636412" y="2605836"/>
              <a:chExt cx="2535872" cy="1141975"/>
            </a:xfrm>
          </p:grpSpPr>
          <p:pic>
            <p:nvPicPr>
              <p:cNvPr id="672" name="Google Shape;672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636412" y="2650849"/>
                <a:ext cx="695325" cy="10969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673" name="Google Shape;673;p10"/>
              <p:cNvSpPr txBox="1"/>
              <p:nvPr/>
            </p:nvSpPr>
            <p:spPr>
              <a:xfrm>
                <a:off x="9358967" y="2605836"/>
                <a:ext cx="181331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Tweet-a-watt: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energy use</a:t>
                </a:r>
                <a:endParaRPr/>
              </a:p>
            </p:txBody>
          </p:sp>
        </p:grpSp>
        <p:grpSp>
          <p:nvGrpSpPr>
            <p:cNvPr id="674" name="Google Shape;674;p10"/>
            <p:cNvGrpSpPr/>
            <p:nvPr/>
          </p:nvGrpSpPr>
          <p:grpSpPr>
            <a:xfrm>
              <a:off x="5012950" y="5049292"/>
              <a:ext cx="2435364" cy="1552753"/>
              <a:chOff x="5012950" y="5049292"/>
              <a:chExt cx="2435364" cy="1552753"/>
            </a:xfrm>
          </p:grpSpPr>
          <p:pic>
            <p:nvPicPr>
              <p:cNvPr id="675" name="Google Shape;675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012950" y="5057407"/>
                <a:ext cx="1289050" cy="154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6" name="Google Shape;676;p10"/>
              <p:cNvSpPr txBox="1"/>
              <p:nvPr/>
            </p:nvSpPr>
            <p:spPr>
              <a:xfrm>
                <a:off x="6327301" y="5049292"/>
                <a:ext cx="112101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sensorized,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mattress</a:t>
                </a:r>
                <a:endParaRPr/>
              </a:p>
            </p:txBody>
          </p:sp>
        </p:grpSp>
        <p:grpSp>
          <p:nvGrpSpPr>
            <p:cNvPr id="677" name="Google Shape;677;p10"/>
            <p:cNvGrpSpPr/>
            <p:nvPr/>
          </p:nvGrpSpPr>
          <p:grpSpPr>
            <a:xfrm>
              <a:off x="671990" y="1806119"/>
              <a:ext cx="1305870" cy="1496298"/>
              <a:chOff x="1563004" y="1837775"/>
              <a:chExt cx="1305870" cy="1496298"/>
            </a:xfrm>
          </p:grpSpPr>
          <p:pic>
            <p:nvPicPr>
              <p:cNvPr id="678" name="Google Shape;678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65601" y="1837775"/>
                <a:ext cx="550338" cy="1149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9" name="Google Shape;679;p10"/>
              <p:cNvSpPr txBox="1"/>
              <p:nvPr/>
            </p:nvSpPr>
            <p:spPr>
              <a:xfrm>
                <a:off x="1563004" y="2995519"/>
                <a:ext cx="13058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Echo</a:t>
                </a:r>
                <a:endParaRPr/>
              </a:p>
            </p:txBody>
          </p:sp>
        </p:grpSp>
      </p:grpSp>
      <p:sp>
        <p:nvSpPr>
          <p:cNvPr id="680" name="Google Shape;680;p10"/>
          <p:cNvSpPr txBox="1"/>
          <p:nvPr/>
        </p:nvSpPr>
        <p:spPr>
          <a:xfrm>
            <a:off x="9707225" y="5533965"/>
            <a:ext cx="1814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Others?</a:t>
            </a:r>
            <a:endParaRPr/>
          </a:p>
        </p:txBody>
      </p:sp>
      <p:grpSp>
        <p:nvGrpSpPr>
          <p:cNvPr id="681" name="Google Shape;681;p10"/>
          <p:cNvGrpSpPr/>
          <p:nvPr/>
        </p:nvGrpSpPr>
        <p:grpSpPr>
          <a:xfrm>
            <a:off x="5244182" y="1499729"/>
            <a:ext cx="4175678" cy="5125922"/>
            <a:chOff x="5244182" y="1499729"/>
            <a:chExt cx="4175678" cy="5125922"/>
          </a:xfrm>
        </p:grpSpPr>
        <p:grpSp>
          <p:nvGrpSpPr>
            <p:cNvPr id="682" name="Google Shape;682;p10"/>
            <p:cNvGrpSpPr/>
            <p:nvPr/>
          </p:nvGrpSpPr>
          <p:grpSpPr>
            <a:xfrm>
              <a:off x="5244182" y="1499729"/>
              <a:ext cx="2735863" cy="1090838"/>
              <a:chOff x="616980" y="5292729"/>
              <a:chExt cx="3127445" cy="1207904"/>
            </a:xfrm>
          </p:grpSpPr>
          <p:grpSp>
            <p:nvGrpSpPr>
              <p:cNvPr id="683" name="Google Shape;683;p10"/>
              <p:cNvGrpSpPr/>
              <p:nvPr/>
            </p:nvGrpSpPr>
            <p:grpSpPr>
              <a:xfrm>
                <a:off x="616980" y="5292729"/>
                <a:ext cx="3127445" cy="821190"/>
                <a:chOff x="842590" y="5420084"/>
                <a:chExt cx="3127445" cy="821190"/>
              </a:xfrm>
            </p:grpSpPr>
            <p:pic>
              <p:nvPicPr>
                <p:cNvPr id="684" name="Google Shape;684;p10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842590" y="5420084"/>
                  <a:ext cx="201647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85" name="Google Shape;685;p10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44905" r="0" t="0"/>
                <a:stretch/>
              </p:blipFill>
              <p:spPr>
                <a:xfrm>
                  <a:off x="2859067" y="5420084"/>
                  <a:ext cx="111096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86" name="Google Shape;686;p10"/>
              <p:cNvSpPr txBox="1"/>
              <p:nvPr/>
            </p:nvSpPr>
            <p:spPr>
              <a:xfrm>
                <a:off x="1008562" y="6125746"/>
                <a:ext cx="2301691" cy="37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Pacemaker &amp; Monitor</a:t>
                </a:r>
                <a:endParaRPr/>
              </a:p>
            </p:txBody>
          </p:sp>
        </p:grpSp>
        <p:grpSp>
          <p:nvGrpSpPr>
            <p:cNvPr id="687" name="Google Shape;687;p10"/>
            <p:cNvGrpSpPr/>
            <p:nvPr/>
          </p:nvGrpSpPr>
          <p:grpSpPr>
            <a:xfrm>
              <a:off x="7868239" y="4103350"/>
              <a:ext cx="1551621" cy="917725"/>
              <a:chOff x="7868239" y="4103350"/>
              <a:chExt cx="1551621" cy="917725"/>
            </a:xfrm>
          </p:grpSpPr>
          <p:pic>
            <p:nvPicPr>
              <p:cNvPr id="688" name="Google Shape;688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68239" y="4103350"/>
                <a:ext cx="1551621" cy="663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9" name="Google Shape;689;p10"/>
              <p:cNvSpPr txBox="1"/>
              <p:nvPr/>
            </p:nvSpPr>
            <p:spPr>
              <a:xfrm>
                <a:off x="8103032" y="4682521"/>
                <a:ext cx="10797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 devices</a:t>
                </a:r>
                <a:endParaRPr/>
              </a:p>
            </p:txBody>
          </p:sp>
        </p:grpSp>
        <p:grpSp>
          <p:nvGrpSpPr>
            <p:cNvPr id="690" name="Google Shape;690;p10"/>
            <p:cNvGrpSpPr/>
            <p:nvPr/>
          </p:nvGrpSpPr>
          <p:grpSpPr>
            <a:xfrm>
              <a:off x="7586090" y="5333549"/>
              <a:ext cx="1556069" cy="1292102"/>
              <a:chOff x="7586090" y="5333549"/>
              <a:chExt cx="1556069" cy="1292102"/>
            </a:xfrm>
          </p:grpSpPr>
          <p:pic>
            <p:nvPicPr>
              <p:cNvPr id="691" name="Google Shape;691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86090" y="5333549"/>
                <a:ext cx="1308005" cy="12921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2" name="Google Shape;692;p10"/>
              <p:cNvSpPr txBox="1"/>
              <p:nvPr/>
            </p:nvSpPr>
            <p:spPr>
              <a:xfrm>
                <a:off x="8513461" y="6201538"/>
                <a:ext cx="6286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Fitbit</a:t>
                </a:r>
                <a:endParaRPr/>
              </a:p>
            </p:txBody>
          </p:sp>
        </p:grpSp>
      </p:grpSp>
      <p:grpSp>
        <p:nvGrpSpPr>
          <p:cNvPr id="693" name="Google Shape;693;p10"/>
          <p:cNvGrpSpPr/>
          <p:nvPr/>
        </p:nvGrpSpPr>
        <p:grpSpPr>
          <a:xfrm>
            <a:off x="3149599" y="5058059"/>
            <a:ext cx="1519767" cy="1241029"/>
            <a:chOff x="3149599" y="5058059"/>
            <a:chExt cx="1519767" cy="1241029"/>
          </a:xfrm>
        </p:grpSpPr>
        <p:pic>
          <p:nvPicPr>
            <p:cNvPr id="694" name="Google Shape;694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9599" y="5058059"/>
              <a:ext cx="1519767" cy="97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10"/>
            <p:cNvSpPr txBox="1"/>
            <p:nvPr/>
          </p:nvSpPr>
          <p:spPr>
            <a:xfrm>
              <a:off x="3149601" y="5960534"/>
              <a:ext cx="14900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Gaming devices</a:t>
              </a:r>
              <a:endParaRPr/>
            </a:p>
          </p:txBody>
        </p:sp>
      </p:grpSp>
      <p:grpSp>
        <p:nvGrpSpPr>
          <p:cNvPr id="696" name="Google Shape;696;p10"/>
          <p:cNvGrpSpPr/>
          <p:nvPr/>
        </p:nvGrpSpPr>
        <p:grpSpPr>
          <a:xfrm>
            <a:off x="9643123" y="1811867"/>
            <a:ext cx="2328743" cy="3572821"/>
            <a:chOff x="9643123" y="1811867"/>
            <a:chExt cx="2328743" cy="3572821"/>
          </a:xfrm>
        </p:grpSpPr>
        <p:pic>
          <p:nvPicPr>
            <p:cNvPr id="697" name="Google Shape;697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735733" y="2137293"/>
              <a:ext cx="1147232" cy="103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182464" y="3606800"/>
              <a:ext cx="789402" cy="1483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643123" y="3014133"/>
              <a:ext cx="1723654" cy="1174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10"/>
            <p:cNvSpPr txBox="1"/>
            <p:nvPr/>
          </p:nvSpPr>
          <p:spPr>
            <a:xfrm>
              <a:off x="10176934" y="4114801"/>
              <a:ext cx="5160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cars</a:t>
              </a:r>
              <a:endParaRPr/>
            </a:p>
          </p:txBody>
        </p:sp>
        <p:sp>
          <p:nvSpPr>
            <p:cNvPr id="701" name="Google Shape;701;p10"/>
            <p:cNvSpPr txBox="1"/>
            <p:nvPr/>
          </p:nvSpPr>
          <p:spPr>
            <a:xfrm>
              <a:off x="11074401" y="5046134"/>
              <a:ext cx="8857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scooters</a:t>
              </a:r>
              <a:endParaRPr/>
            </a:p>
          </p:txBody>
        </p:sp>
        <p:sp>
          <p:nvSpPr>
            <p:cNvPr id="702" name="Google Shape;702;p10"/>
            <p:cNvSpPr txBox="1"/>
            <p:nvPr/>
          </p:nvSpPr>
          <p:spPr>
            <a:xfrm>
              <a:off x="11023601" y="1811867"/>
              <a:ext cx="6076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bikes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1"/>
          <p:cNvSpPr txBox="1"/>
          <p:nvPr>
            <p:ph idx="1" type="body"/>
          </p:nvPr>
        </p:nvSpPr>
        <p:spPr>
          <a:xfrm>
            <a:off x="713958" y="1708456"/>
            <a:ext cx="5394571" cy="95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Internet: “</a:t>
            </a:r>
            <a:r>
              <a:rPr lang="en-US">
                <a:solidFill>
                  <a:srgbClr val="CC0000"/>
                </a:solidFill>
              </a:rPr>
              <a:t>network of networks”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Interconnected ISPs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8" name="Google Shape;708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sp>
        <p:nvSpPr>
          <p:cNvPr id="709" name="Google Shape;709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1" name="Google Shape;711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12" name="Google Shape;712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16" name="Google Shape;716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717" name="Google Shape;717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18" name="Google Shape;718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9" name="Google Shape;719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20" name="Google Shape;720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2" name="Google Shape;722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7" name="Google Shape;727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8" name="Google Shape;728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29" name="Google Shape;729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1" name="Google Shape;731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3" name="Google Shape;733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4" name="Google Shape;734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7" name="Google Shape;737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39" name="Google Shape;739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741" name="Google Shape;741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42" name="Google Shape;742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3" name="Google Shape;743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744" name="Google Shape;744;p11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5" name="Google Shape;745;p11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6" name="Google Shape;746;p11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7" name="Google Shape;747;p11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8" name="Google Shape;748;p11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9" name="Google Shape;749;p11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0" name="Google Shape;750;p11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1" name="Google Shape;751;p11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2" name="Google Shape;752;p11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3" name="Google Shape;753;p11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4" name="Google Shape;754;p11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55" name="Google Shape;755;p11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756" name="Google Shape;756;p11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757" name="Google Shape;757;p11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1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1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1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1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2" name="Google Shape;762;p11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3" name="Google Shape;763;p11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4" name="Google Shape;764;p11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5" name="Google Shape;765;p11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6" name="Google Shape;766;p11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7" name="Google Shape;767;p11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8" name="Google Shape;768;p11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9" name="Google Shape;769;p11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1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1" name="Google Shape;771;p11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2" name="Google Shape;772;p11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3" name="Google Shape;773;p11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4" name="Google Shape;774;p11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5" name="Google Shape;775;p11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6" name="Google Shape;776;p11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7" name="Google Shape;777;p11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8" name="Google Shape;778;p11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9" name="Google Shape;779;p11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" name="Google Shape;780;p11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781" name="Google Shape;781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82" name="Google Shape;782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783" name="Google Shape;783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4" name="Google Shape;784;p11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5" name="Google Shape;785;p11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786" name="Google Shape;786;p11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787" name="Google Shape;787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88" name="Google Shape;788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89" name="Google Shape;789;p11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790" name="Google Shape;790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91" name="Google Shape;791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2" name="Google Shape;792;p11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93" name="Google Shape;793;p1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4" name="Google Shape;794;p11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1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11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1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1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1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0" name="Google Shape;800;p11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801" name="Google Shape;801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7" name="Google Shape;807;p11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1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1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1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3" name="Google Shape;813;p11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814" name="Google Shape;814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15" name="Google Shape;81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6" name="Google Shape;816;p11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817" name="Google Shape;817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18" name="Google Shape;818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19" name="Google Shape;819;p11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820" name="Google Shape;820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21" name="Google Shape;821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22" name="Google Shape;822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3" name="Google Shape;823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24" name="Google Shape;824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5" name="Google Shape;825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1" name="Google Shape;831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32" name="Google Shape;832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8" name="Google Shape;838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4" name="Google Shape;844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45" name="Google Shape;845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6" name="Google Shape;846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" name="Google Shape;847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48" name="Google Shape;848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49" name="Google Shape;849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50" name="Google Shape;850;p11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851" name="Google Shape;851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52" name="Google Shape;852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53" name="Google Shape;853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54" name="Google Shape;854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5" name="Google Shape;855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6" name="Google Shape;856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57" name="Google Shape;857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58" name="Google Shape;858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59" name="Google Shape;859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60" name="Google Shape;860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61" name="Google Shape;861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62" name="Google Shape;862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63" name="Google Shape;863;p11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864" name="Google Shape;864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9" name="Google Shape;869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2" name="Google Shape;872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3" name="Google Shape;873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74" name="Google Shape;874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" name="Google Shape;876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8" name="Google Shape;878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79" name="Google Shape;879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" name="Google Shape;881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2" name="Google Shape;882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83" name="Google Shape;883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5" name="Google Shape;885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11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897" name="Google Shape;89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9" name="Google Shape;899;p11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900" name="Google Shape;900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01" name="Google Shape;901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2" name="Google Shape;902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3" name="Google Shape;903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" name="Google Shape;910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11" name="Google Shape;911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7" name="Google Shape;917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11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924" name="Google Shape;924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11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927" name="Google Shape;92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" name="Google Shape;929;p11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930" name="Google Shape;930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2" name="Google Shape;932;p11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933" name="Google Shape;933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34" name="Google Shape;934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36" name="Google Shape;936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" name="Google Shape;937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3" name="Google Shape;943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44" name="Google Shape;944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0" name="Google Shape;950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6" name="Google Shape;956;p11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957" name="Google Shape;95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2" name="Google Shape;962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3" name="Google Shape;963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" name="Google Shape;965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6" name="Google Shape;966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67" name="Google Shape;967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9" name="Google Shape;969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1" name="Google Shape;971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2" name="Google Shape;972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" name="Google Shape;97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5" name="Google Shape;975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6" name="Google Shape;976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8" name="Google Shape;978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11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990" name="Google Shape;990;p11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91" name="Google Shape;991;p11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992" name="Google Shape;992;p1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1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1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1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1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" name="Google Shape;997;p1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" name="Google Shape;998;p1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" name="Google Shape;999;p1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" name="Google Shape;1000;p1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1" name="Google Shape;1001;p1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2" name="Google Shape;1002;p1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" name="Google Shape;1003;p1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" name="Google Shape;1004;p1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5" name="Google Shape;1005;p1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6" name="Google Shape;1006;p1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007" name="Google Shape;1007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008" name="Google Shape;1008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9" name="Google Shape;1009;p11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010" name="Google Shape;1010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11" name="Google Shape;1011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12" name="Google Shape;1012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13" name="Google Shape;1013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7" name="Google Shape;1017;p11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018" name="Google Shape;1018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0" name="Google Shape;1020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21" name="Google Shape;1021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5" name="Google Shape;1025;p11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026" name="Google Shape;1026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27" name="Google Shape;1027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28" name="Google Shape;1028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29" name="Google Shape;1029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3" name="Google Shape;1033;p11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034" name="Google Shape;1034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36" name="Google Shape;1036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37" name="Google Shape;1037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1" name="Google Shape;1041;p11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042" name="Google Shape;1042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3" name="Google Shape;1043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44" name="Google Shape;1044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45" name="Google Shape;1045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9" name="Google Shape;1049;p11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050" name="Google Shape;1050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1" name="Google Shape;1051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2" name="Google Shape;1052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3" name="Google Shape;1053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57" name="Google Shape;1057;p11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058" name="Google Shape;1058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9" name="Google Shape;1059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0" name="Google Shape;1060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1" name="Google Shape;1061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5" name="Google Shape;1065;p11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066" name="Google Shape;1066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67" name="Google Shape;1067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8" name="Google Shape;1068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9" name="Google Shape;1069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" name="Google Shape;1072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3" name="Google Shape;1073;p11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074" name="Google Shape;1074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5" name="Google Shape;1075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6" name="Google Shape;1076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7" name="Google Shape;1077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9" name="Google Shape;1079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0" name="Google Shape;1080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1" name="Google Shape;1081;p11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082" name="Google Shape;1082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3" name="Google Shape;1083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84" name="Google Shape;1084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5" name="Google Shape;1085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" name="Google Shape;1088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9" name="Google Shape;1089;p11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090" name="Google Shape;1090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1" name="Google Shape;1091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2" name="Google Shape;1092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3" name="Google Shape;1093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095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7" name="Google Shape;1097;p11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098" name="Google Shape;1098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9" name="Google Shape;1099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0" name="Google Shape;1100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1" name="Google Shape;1101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5" name="Google Shape;1105;p11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106" name="Google Shape;1106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07" name="Google Shape;1107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8" name="Google Shape;1108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9" name="Google Shape;1109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3" name="Google Shape;1113;p11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114" name="Google Shape;1114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15" name="Google Shape;1115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16" name="Google Shape;1116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17" name="Google Shape;1117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9" name="Google Shape;1119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0" name="Google Shape;1120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1" name="Google Shape;1121;p11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122" name="Google Shape;1122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3" name="Google Shape;1123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24" name="Google Shape;1124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25" name="Google Shape;1125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7" name="Google Shape;1127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8" name="Google Shape;1128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9" name="Google Shape;1129;p11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130" name="Google Shape;1130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1" name="Google Shape;1131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2" name="Google Shape;1132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3" name="Google Shape;1133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5" name="Google Shape;1135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7" name="Google Shape;1137;p11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138" name="Google Shape;1138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9" name="Google Shape;1139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40" name="Google Shape;1140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41" name="Google Shape;1141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3" name="Google Shape;1143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4" name="Google Shape;1144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45" name="Google Shape;1145;p11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146" name="Google Shape;1146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47" name="Google Shape;1147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48" name="Google Shape;1148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49" name="Google Shape;1149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2" name="Google Shape;1152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3" name="Google Shape;1153;p11"/>
          <p:cNvSpPr txBox="1"/>
          <p:nvPr/>
        </p:nvSpPr>
        <p:spPr>
          <a:xfrm>
            <a:off x="839601" y="2732121"/>
            <a:ext cx="5394571" cy="182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sending, receiving of messages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HTTP (Web), streaming video, Skype, TCP, IP, WiFi, 4G, Ethernet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4" name="Google Shape;1154;p11"/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1155" name="Google Shape;1155;p11"/>
            <p:cNvCxnSpPr/>
            <p:nvPr/>
          </p:nvCxnSpPr>
          <p:spPr>
            <a:xfrm flipH="1">
              <a:off x="7968718" y="5327774"/>
              <a:ext cx="439264" cy="15316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6" name="Google Shape;1156;p11"/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7" name="Google Shape;1157;p11"/>
            <p:cNvCxnSpPr/>
            <p:nvPr/>
          </p:nvCxnSpPr>
          <p:spPr>
            <a:xfrm>
              <a:off x="7704138" y="5144424"/>
              <a:ext cx="470403" cy="21674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8" name="Google Shape;1158;p11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159" name="Google Shape;1159;p11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0" name="Google Shape;1160;p11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1" name="Google Shape;1161;p11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2" name="Google Shape;1162;p11"/>
          <p:cNvGrpSpPr/>
          <p:nvPr/>
        </p:nvGrpSpPr>
        <p:grpSpPr>
          <a:xfrm>
            <a:off x="6371219" y="2787427"/>
            <a:ext cx="1271296" cy="663900"/>
            <a:chOff x="6371219" y="2787427"/>
            <a:chExt cx="1271296" cy="663900"/>
          </a:xfrm>
        </p:grpSpPr>
        <p:cxnSp>
          <p:nvCxnSpPr>
            <p:cNvPr id="1163" name="Google Shape;1163;p11"/>
            <p:cNvCxnSpPr>
              <a:endCxn id="821" idx="0"/>
            </p:cNvCxnSpPr>
            <p:nvPr/>
          </p:nvCxnSpPr>
          <p:spPr>
            <a:xfrm>
              <a:off x="7631115" y="2787427"/>
              <a:ext cx="11400" cy="66390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4" name="Google Shape;1164;p11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5" name="Google Shape;1165;p11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6" name="Google Shape;1166;p11"/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1167" name="Google Shape;1167;p11"/>
            <p:cNvCxnSpPr/>
            <p:nvPr/>
          </p:nvCxnSpPr>
          <p:spPr>
            <a:xfrm flipH="1">
              <a:off x="7084556" y="2978118"/>
              <a:ext cx="302191" cy="50873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8" name="Google Shape;1168;p11"/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9" name="Google Shape;1169;p11"/>
            <p:cNvCxnSpPr/>
            <p:nvPr/>
          </p:nvCxnSpPr>
          <p:spPr>
            <a:xfrm>
              <a:off x="6973411" y="3119431"/>
              <a:ext cx="262240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0" name="Google Shape;1170;p11"/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1171" name="Google Shape;1171;p11"/>
            <p:cNvCxnSpPr/>
            <p:nvPr/>
          </p:nvCxnSpPr>
          <p:spPr>
            <a:xfrm flipH="1">
              <a:off x="7091527" y="3177198"/>
              <a:ext cx="204850" cy="289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2" name="Google Shape;1172;p11"/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3" name="Google Shape;1173;p11"/>
            <p:cNvCxnSpPr/>
            <p:nvPr/>
          </p:nvCxnSpPr>
          <p:spPr>
            <a:xfrm flipH="1" rot="10800000">
              <a:off x="7230890" y="3377014"/>
              <a:ext cx="1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4" name="Google Shape;1174;p11"/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1175" name="Google Shape;1175;p11"/>
            <p:cNvCxnSpPr/>
            <p:nvPr/>
          </p:nvCxnSpPr>
          <p:spPr>
            <a:xfrm flipH="1" rot="10800000">
              <a:off x="7375489" y="3222818"/>
              <a:ext cx="628291" cy="13300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6" name="Google Shape;1176;p11"/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7" name="Google Shape;1177;p11"/>
            <p:cNvCxnSpPr>
              <a:stCxn id="817" idx="1"/>
            </p:cNvCxnSpPr>
            <p:nvPr/>
          </p:nvCxnSpPr>
          <p:spPr>
            <a:xfrm flipH="1" rot="10800000">
              <a:off x="7620426" y="2864174"/>
              <a:ext cx="430500" cy="449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8" name="Google Shape;1178;p11"/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1179" name="Google Shape;1179;p11"/>
            <p:cNvCxnSpPr/>
            <p:nvPr/>
          </p:nvCxnSpPr>
          <p:spPr>
            <a:xfrm flipH="1">
              <a:off x="6559961" y="3177198"/>
              <a:ext cx="736416" cy="89440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80" name="Google Shape;1180;p11"/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1" name="Google Shape;1181;p11"/>
            <p:cNvCxnSpPr/>
            <p:nvPr/>
          </p:nvCxnSpPr>
          <p:spPr>
            <a:xfrm rot="10800000">
              <a:off x="6929789" y="3709511"/>
              <a:ext cx="297918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2" name="Google Shape;1182;p11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183" name="Google Shape;1183;p11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84" name="Google Shape;1184;p11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5" name="Google Shape;1185;p11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86" name="Google Shape;1186;p11"/>
          <p:cNvSpPr txBox="1"/>
          <p:nvPr/>
        </p:nvSpPr>
        <p:spPr>
          <a:xfrm>
            <a:off x="852411" y="4676300"/>
            <a:ext cx="5394571" cy="1868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 standards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RFC: Request for Comments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IETF: Internet Engineering Task Force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2"/>
          <p:cNvSpPr txBox="1"/>
          <p:nvPr>
            <p:ph idx="1" type="body"/>
          </p:nvPr>
        </p:nvSpPr>
        <p:spPr>
          <a:xfrm>
            <a:off x="868663" y="1426343"/>
            <a:ext cx="5394571" cy="225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Infrastructure </a:t>
            </a:r>
            <a:r>
              <a:rPr lang="en-US"/>
              <a:t>that provides services to applications:</a:t>
            </a:r>
            <a:endParaRPr sz="240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Web, streaming video, multimedia teleconferencing, email, games, e-commerce, social media, inter-connected appliances, …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92" name="Google Shape;1192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“services” view</a:t>
            </a:r>
            <a:endParaRPr/>
          </a:p>
        </p:txBody>
      </p:sp>
      <p:sp>
        <p:nvSpPr>
          <p:cNvPr id="1193" name="Google Shape;1193;p12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12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5" name="Google Shape;1195;p12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196" name="Google Shape;1196;p12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2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8" name="Google Shape;1198;p12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2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200" name="Google Shape;1200;p12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201" name="Google Shape;1201;p12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202" name="Google Shape;1202;p12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3" name="Google Shape;1203;p12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204" name="Google Shape;1204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6" name="Google Shape;1206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12" name="Google Shape;1212;p12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13" name="Google Shape;1213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5" name="Google Shape;1215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6" name="Google Shape;1216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7" name="Google Shape;1217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8" name="Google Shape;1218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9" name="Google Shape;1219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21" name="Google Shape;1221;p12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12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23" name="Google Shape;1223;p12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12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25" name="Google Shape;1225;p12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26" name="Google Shape;1226;p12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7" name="Google Shape;1227;p12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228" name="Google Shape;1228;p12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12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0" name="Google Shape;1230;p12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1" name="Google Shape;1231;p12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2" name="Google Shape;1232;p12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3" name="Google Shape;1233;p12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4" name="Google Shape;1234;p12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5" name="Google Shape;1235;p12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6" name="Google Shape;1236;p12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7" name="Google Shape;1237;p12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38" name="Google Shape;1238;p12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39" name="Google Shape;1239;p12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240" name="Google Shape;1240;p12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241" name="Google Shape;1241;p12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2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2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2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12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6" name="Google Shape;1246;p12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7" name="Google Shape;1247;p12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8" name="Google Shape;1248;p12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9" name="Google Shape;1249;p12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0" name="Google Shape;1250;p12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1" name="Google Shape;1251;p12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2" name="Google Shape;1252;p12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3" name="Google Shape;1253;p12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4" name="Google Shape;1254;p12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5" name="Google Shape;1255;p12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6" name="Google Shape;1256;p12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7" name="Google Shape;1257;p12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8" name="Google Shape;1258;p12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9" name="Google Shape;1259;p12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60" name="Google Shape;1260;p12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61" name="Google Shape;1261;p12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62" name="Google Shape;1262;p12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63" name="Google Shape;1263;p12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4" name="Google Shape;1264;p12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65" name="Google Shape;1265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66" name="Google Shape;1266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67" name="Google Shape;1267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8" name="Google Shape;1268;p12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69" name="Google Shape;1269;p12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1270" name="Google Shape;1270;p12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271" name="Google Shape;1271;p1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72" name="Google Shape;1272;p1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3" name="Google Shape;1273;p12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1274" name="Google Shape;1274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75" name="Google Shape;1275;p1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6" name="Google Shape;1276;p12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77" name="Google Shape;1277;p1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8" name="Google Shape;1278;p12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2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12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12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12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2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84" name="Google Shape;1284;p12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285" name="Google Shape;1285;p12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12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8" name="Google Shape;1288;p1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9" name="Google Shape;1289;p12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0" name="Google Shape;1290;p1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91" name="Google Shape;1291;p12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12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2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2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2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12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7" name="Google Shape;1297;p12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1298" name="Google Shape;1298;p12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9" name="Google Shape;1299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00" name="Google Shape;1300;p12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1301" name="Google Shape;1301;p1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02" name="Google Shape;1302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03" name="Google Shape;1303;p12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1304" name="Google Shape;1304;p12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305" name="Google Shape;1305;p1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306" name="Google Shape;1306;p12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7" name="Google Shape;1307;p12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308" name="Google Shape;1308;p12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9" name="Google Shape;1309;p12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2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2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2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2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2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15" name="Google Shape;1315;p12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316" name="Google Shape;1316;p12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7" name="Google Shape;1317;p12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8" name="Google Shape;1318;p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9" name="Google Shape;1319;p1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0" name="Google Shape;1320;p12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1" name="Google Shape;1321;p1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22" name="Google Shape;1322;p12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2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2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2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2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2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8" name="Google Shape;1328;p12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329" name="Google Shape;1329;p12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0" name="Google Shape;1330;p1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1" name="Google Shape;1331;p12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332" name="Google Shape;1332;p12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33" name="Google Shape;1333;p1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34" name="Google Shape;1334;p12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1335" name="Google Shape;1335;p12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36" name="Google Shape;1336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37" name="Google Shape;1337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38" name="Google Shape;1338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9" name="Google Shape;1339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40" name="Google Shape;1340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41" name="Google Shape;1341;p12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42" name="Google Shape;1342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43" name="Google Shape;1343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44" name="Google Shape;1344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45" name="Google Shape;1345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46" name="Google Shape;1346;p1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47" name="Google Shape;1347;p12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1348" name="Google Shape;1348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3" name="Google Shape;1353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54" name="Google Shape;1354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6" name="Google Shape;1356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7" name="Google Shape;1357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58" name="Google Shape;1358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2" name="Google Shape;1362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63" name="Google Shape;1363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5" name="Google Shape;1365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6" name="Google Shape;1366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67" name="Google Shape;1367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9" name="Google Shape;1369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0" name="Google Shape;1380;p12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1381" name="Google Shape;1381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3" name="Google Shape;1383;p12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1384" name="Google Shape;1384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85" name="Google Shape;1385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6" name="Google Shape;1386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87" name="Google Shape;1387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8" name="Google Shape;1388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4" name="Google Shape;1394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95" name="Google Shape;1395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1" name="Google Shape;1401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12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1408" name="Google Shape;1408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9" name="Google Shape;1409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0" name="Google Shape;1410;p12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1411" name="Google Shape;1411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3" name="Google Shape;1413;p12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1414" name="Google Shape;1414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5" name="Google Shape;1415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6" name="Google Shape;1416;p12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1417" name="Google Shape;1417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18" name="Google Shape;1418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20" name="Google Shape;1420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7" name="Google Shape;1427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28" name="Google Shape;1428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4" name="Google Shape;1434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0" name="Google Shape;1440;p12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441" name="Google Shape;1441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6" name="Google Shape;1446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47" name="Google Shape;1447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9" name="Google Shape;1449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0" name="Google Shape;1450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51" name="Google Shape;1451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3" name="Google Shape;1453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5" name="Google Shape;1455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56" name="Google Shape;1456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8" name="Google Shape;1458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9" name="Google Shape;1459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60" name="Google Shape;1460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2" name="Google Shape;1462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3" name="Google Shape;1473;p12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474" name="Google Shape;1474;p12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5" name="Google Shape;1475;p12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476" name="Google Shape;1476;p1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1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1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1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1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2" name="Google Shape;1482;p1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3" name="Google Shape;1483;p1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4" name="Google Shape;1484;p1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5" name="Google Shape;1485;p1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6" name="Google Shape;1486;p1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7" name="Google Shape;1487;p1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8" name="Google Shape;1488;p1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9" name="Google Shape;1489;p1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0" name="Google Shape;1490;p1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91" name="Google Shape;1491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92" name="Google Shape;1492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3" name="Google Shape;1493;p12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94" name="Google Shape;1494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95" name="Google Shape;1495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96" name="Google Shape;1496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7" name="Google Shape;1497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0" name="Google Shape;1500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1" name="Google Shape;1501;p12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502" name="Google Shape;1502;p1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1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04" name="Google Shape;1504;p1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05" name="Google Shape;1505;p1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1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1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9" name="Google Shape;1509;p12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510" name="Google Shape;1510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11" name="Google Shape;1511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12" name="Google Shape;1512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13" name="Google Shape;1513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6" name="Google Shape;1516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17" name="Google Shape;1517;p12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518" name="Google Shape;1518;p1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1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20" name="Google Shape;1520;p1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21" name="Google Shape;1521;p1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1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1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4" name="Google Shape;1524;p1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25" name="Google Shape;1525;p12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526" name="Google Shape;1526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27" name="Google Shape;1527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28" name="Google Shape;1528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9" name="Google Shape;1529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2" name="Google Shape;1532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3" name="Google Shape;1533;p12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534" name="Google Shape;1534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35" name="Google Shape;1535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36" name="Google Shape;1536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37" name="Google Shape;1537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1" name="Google Shape;1541;p12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542" name="Google Shape;1542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43" name="Google Shape;1543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44" name="Google Shape;1544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45" name="Google Shape;1545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9" name="Google Shape;1549;p12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550" name="Google Shape;1550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1" name="Google Shape;1551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2" name="Google Shape;1552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3" name="Google Shape;1553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6" name="Google Shape;1556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7" name="Google Shape;1557;p12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558" name="Google Shape;1558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9" name="Google Shape;1559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0" name="Google Shape;1560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1" name="Google Shape;1561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5" name="Google Shape;1565;p12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566" name="Google Shape;1566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7" name="Google Shape;1567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8" name="Google Shape;1568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9" name="Google Shape;1569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3" name="Google Shape;1573;p12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574" name="Google Shape;1574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75" name="Google Shape;1575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76" name="Google Shape;1576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77" name="Google Shape;1577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0" name="Google Shape;1580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1" name="Google Shape;1581;p12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582" name="Google Shape;1582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83" name="Google Shape;1583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84" name="Google Shape;1584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85" name="Google Shape;1585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8" name="Google Shape;1588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9" name="Google Shape;1589;p12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590" name="Google Shape;1590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1" name="Google Shape;1591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2" name="Google Shape;1592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93" name="Google Shape;1593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6" name="Google Shape;1596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97" name="Google Shape;1597;p12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598" name="Google Shape;1598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9" name="Google Shape;1599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0" name="Google Shape;1600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1" name="Google Shape;1601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4" name="Google Shape;1604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5" name="Google Shape;1605;p12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606" name="Google Shape;1606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07" name="Google Shape;1607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8" name="Google Shape;1608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9" name="Google Shape;1609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2" name="Google Shape;1612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3" name="Google Shape;1613;p12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614" name="Google Shape;1614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15" name="Google Shape;1615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16" name="Google Shape;1616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17" name="Google Shape;1617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0" name="Google Shape;1620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1" name="Google Shape;1621;p12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622" name="Google Shape;1622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23" name="Google Shape;1623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24" name="Google Shape;1624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25" name="Google Shape;1625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8" name="Google Shape;1628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9" name="Google Shape;1629;p12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630" name="Google Shape;1630;p1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31" name="Google Shape;1631;p1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32" name="Google Shape;1632;p1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33" name="Google Shape;1633;p1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4" name="Google Shape;1634;p1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5" name="Google Shape;1635;p1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6" name="Google Shape;1636;p1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37" name="Google Shape;1637;p12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638" name="Google Shape;1638;p12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9" name="Google Shape;1639;p12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0" name="Google Shape;1640;p12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41" name="Google Shape;1641;p12"/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1642" name="Google Shape;1642;p12"/>
            <p:cNvCxnSpPr/>
            <p:nvPr/>
          </p:nvCxnSpPr>
          <p:spPr>
            <a:xfrm>
              <a:off x="7631020" y="2787535"/>
              <a:ext cx="11495" cy="66379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43" name="Google Shape;1643;p12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4" name="Google Shape;1644;p12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45" name="Google Shape;1645;p12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646" name="Google Shape;1646;p12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47" name="Google Shape;1647;p12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48" name="Google Shape;1648;p12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9" name="Google Shape;1649;p12"/>
          <p:cNvSpPr txBox="1"/>
          <p:nvPr/>
        </p:nvSpPr>
        <p:spPr>
          <a:xfrm>
            <a:off x="868663" y="3677908"/>
            <a:ext cx="5394571" cy="2721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interface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distributed applications: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“hooks” allowing sending/receiving  apps to “connect” to, use  Internet transport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service options, analogous to postal service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56" name="Google Shape;1656;p13"/>
          <p:cNvSpPr txBox="1"/>
          <p:nvPr/>
        </p:nvSpPr>
        <p:spPr>
          <a:xfrm>
            <a:off x="844202" y="1490089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Human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“what’s the time?”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have a question”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13"/>
          <p:cNvSpPr txBox="1"/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(devices) rather than humans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 activity in Internet governed by protocols</a:t>
            </a:r>
            <a:endParaRPr/>
          </a:p>
        </p:txBody>
      </p:sp>
      <p:grpSp>
        <p:nvGrpSpPr>
          <p:cNvPr id="1658" name="Google Shape;1658;p13"/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1659" name="Google Shape;1659;p13"/>
            <p:cNvSpPr/>
            <p:nvPr/>
          </p:nvSpPr>
          <p:spPr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80"/>
                <a:buFont typeface="Noto Sans Symbols"/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Protocols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define the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format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order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messages sent and received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among network entities, and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actions taken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message transmission, receipt</a:t>
              </a:r>
              <a:r>
                <a:rPr i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60" name="Google Shape;1660;p13"/>
            <p:cNvSpPr/>
            <p:nvPr/>
          </p:nvSpPr>
          <p:spPr>
            <a:xfrm>
              <a:off x="5653745" y="3999310"/>
              <a:ext cx="5780439" cy="2362200"/>
            </a:xfrm>
            <a:prstGeom prst="rect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61" name="Google Shape;1661;p13"/>
          <p:cNvSpPr txBox="1"/>
          <p:nvPr/>
        </p:nvSpPr>
        <p:spPr>
          <a:xfrm>
            <a:off x="952500" y="3843823"/>
            <a:ext cx="3581400" cy="20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messages sent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actions taken when message received, or other events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68" name="Google Shape;1668;p14"/>
          <p:cNvSpPr txBox="1"/>
          <p:nvPr/>
        </p:nvSpPr>
        <p:spPr>
          <a:xfrm>
            <a:off x="885095" y="1371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human protocol and a computer network protocol: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14"/>
          <p:cNvSpPr/>
          <p:nvPr/>
        </p:nvSpPr>
        <p:spPr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2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human protocols? </a:t>
            </a:r>
            <a:endParaRPr/>
          </a:p>
        </p:txBody>
      </p:sp>
      <p:pic>
        <p:nvPicPr>
          <p:cNvPr descr="Alice" id="1670" name="Google Shape;16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671" name="Google Shape;16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2" name="Google Shape;1672;p14"/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cxnSp>
          <p:nvCxnSpPr>
            <p:cNvPr id="1673" name="Google Shape;1673;p14"/>
            <p:cNvCxnSpPr/>
            <p:nvPr/>
          </p:nvCxnSpPr>
          <p:spPr>
            <a:xfrm>
              <a:off x="2925329" y="2709863"/>
              <a:ext cx="1762125" cy="2762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4" name="Google Shape;1674;p14"/>
            <p:cNvSpPr txBox="1"/>
            <p:nvPr/>
          </p:nvSpPr>
          <p:spPr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5" name="Google Shape;1675;p14"/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cxnSp>
          <p:nvCxnSpPr>
            <p:cNvPr id="1676" name="Google Shape;1676;p14"/>
            <p:cNvCxnSpPr/>
            <p:nvPr/>
          </p:nvCxnSpPr>
          <p:spPr>
            <a:xfrm flipH="1" rot="10800000">
              <a:off x="2617354" y="3268663"/>
              <a:ext cx="2085975" cy="3619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77" name="Google Shape;1677;p14"/>
            <p:cNvSpPr txBox="1"/>
            <p:nvPr/>
          </p:nvSpPr>
          <p:spPr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8" name="Google Shape;1678;p14"/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cxnSp>
          <p:nvCxnSpPr>
            <p:cNvPr id="1679" name="Google Shape;1679;p14"/>
            <p:cNvCxnSpPr/>
            <p:nvPr/>
          </p:nvCxnSpPr>
          <p:spPr>
            <a:xfrm>
              <a:off x="2601479" y="3700463"/>
              <a:ext cx="2162175" cy="4381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80" name="Google Shape;1680;p14"/>
            <p:cNvGrpSpPr/>
            <p:nvPr/>
          </p:nvGrpSpPr>
          <p:grpSpPr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1681" name="Google Shape;1681;p14"/>
              <p:cNvSpPr/>
              <p:nvPr/>
            </p:nvSpPr>
            <p:spPr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14"/>
              <p:cNvSpPr txBox="1"/>
              <p:nvPr/>
            </p:nvSpPr>
            <p:spPr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Got the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time?</a:t>
                </a:r>
                <a:endParaRPr/>
              </a:p>
            </p:txBody>
          </p:sp>
        </p:grpSp>
      </p:grpSp>
      <p:grpSp>
        <p:nvGrpSpPr>
          <p:cNvPr id="1683" name="Google Shape;1683;p14"/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cxnSp>
          <p:nvCxnSpPr>
            <p:cNvPr id="1684" name="Google Shape;1684;p14"/>
            <p:cNvCxnSpPr/>
            <p:nvPr/>
          </p:nvCxnSpPr>
          <p:spPr>
            <a:xfrm flipH="1" rot="10800000">
              <a:off x="2763404" y="4271963"/>
              <a:ext cx="1952625" cy="33337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85" name="Google Shape;1685;p14"/>
            <p:cNvGrpSpPr/>
            <p:nvPr/>
          </p:nvGrpSpPr>
          <p:grpSpPr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1686" name="Google Shape;1686;p14"/>
              <p:cNvSpPr/>
              <p:nvPr/>
            </p:nvSpPr>
            <p:spPr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14"/>
              <p:cNvSpPr txBox="1"/>
              <p:nvPr/>
            </p:nvSpPr>
            <p:spPr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2:00</a:t>
                </a:r>
                <a:endParaRPr/>
              </a:p>
            </p:txBody>
          </p:sp>
        </p:grpSp>
      </p:grpSp>
      <p:cxnSp>
        <p:nvCxnSpPr>
          <p:cNvPr id="1688" name="Google Shape;1688;p14"/>
          <p:cNvCxnSpPr/>
          <p:nvPr/>
        </p:nvCxnSpPr>
        <p:spPr>
          <a:xfrm>
            <a:off x="5730145" y="2115345"/>
            <a:ext cx="0" cy="3573462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89" name="Google Shape;1689;p14"/>
          <p:cNvGrpSpPr/>
          <p:nvPr/>
        </p:nvGrpSpPr>
        <p:grpSpPr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1690" name="Google Shape;1690;p14"/>
            <p:cNvSpPr/>
            <p:nvPr/>
          </p:nvSpPr>
          <p:spPr>
            <a:xfrm>
              <a:off x="2244" y="3282"/>
              <a:ext cx="408" cy="1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14"/>
            <p:cNvSpPr txBox="1"/>
            <p:nvPr/>
          </p:nvSpPr>
          <p:spPr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/>
            </a:p>
          </p:txBody>
        </p:sp>
      </p:grpSp>
      <p:grpSp>
        <p:nvGrpSpPr>
          <p:cNvPr id="1692" name="Google Shape;1692;p14"/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cxnSp>
          <p:nvCxnSpPr>
            <p:cNvPr id="1693" name="Google Shape;1693;p14"/>
            <p:cNvCxnSpPr/>
            <p:nvPr/>
          </p:nvCxnSpPr>
          <p:spPr>
            <a:xfrm flipH="1" rot="10800000">
              <a:off x="6786129" y="3255963"/>
              <a:ext cx="2216150" cy="398463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4" name="Google Shape;1694;p14"/>
            <p:cNvSpPr/>
            <p:nvPr/>
          </p:nvSpPr>
          <p:spPr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4"/>
            <p:cNvSpPr txBox="1"/>
            <p:nvPr/>
          </p:nvSpPr>
          <p:spPr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</p:grpSp>
      <p:grpSp>
        <p:nvGrpSpPr>
          <p:cNvPr id="1696" name="Google Shape;1696;p14"/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cxnSp>
          <p:nvCxnSpPr>
            <p:cNvPr id="1697" name="Google Shape;1697;p14"/>
            <p:cNvCxnSpPr/>
            <p:nvPr/>
          </p:nvCxnSpPr>
          <p:spPr>
            <a:xfrm flipH="1" rot="10800000">
              <a:off x="6833754" y="4464051"/>
              <a:ext cx="2343150" cy="4286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8" name="Google Shape;1698;p14"/>
            <p:cNvSpPr/>
            <p:nvPr/>
          </p:nvSpPr>
          <p:spPr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4"/>
            <p:cNvSpPr txBox="1"/>
            <p:nvPr/>
          </p:nvSpPr>
          <p:spPr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&lt;file&gt;</a:t>
              </a:r>
              <a:endParaRPr/>
            </a:p>
          </p:txBody>
        </p:sp>
      </p:grpSp>
      <p:grpSp>
        <p:nvGrpSpPr>
          <p:cNvPr id="1700" name="Google Shape;1700;p14"/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cxnSp>
          <p:nvCxnSpPr>
            <p:cNvPr id="1701" name="Google Shape;1701;p14"/>
            <p:cNvCxnSpPr/>
            <p:nvPr/>
          </p:nvCxnSpPr>
          <p:spPr>
            <a:xfrm>
              <a:off x="6848042" y="2749551"/>
              <a:ext cx="2176462" cy="347662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2" name="Google Shape;1702;p14"/>
            <p:cNvSpPr/>
            <p:nvPr/>
          </p:nvSpPr>
          <p:spPr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14"/>
            <p:cNvSpPr txBox="1"/>
            <p:nvPr/>
          </p:nvSpPr>
          <p:spPr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/>
            </a:p>
          </p:txBody>
        </p:sp>
      </p:grpSp>
      <p:grpSp>
        <p:nvGrpSpPr>
          <p:cNvPr id="1704" name="Google Shape;1704;p14"/>
          <p:cNvGrpSpPr/>
          <p:nvPr/>
        </p:nvGrpSpPr>
        <p:grpSpPr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1705" name="Google Shape;1705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4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14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0" name="Google Shape;1710;p14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711" name="Google Shape;1711;p14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14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3" name="Google Shape;1713;p14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4" name="Google Shape;1714;p14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715" name="Google Shape;1715;p14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14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7" name="Google Shape;1717;p14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4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9" name="Google Shape;1719;p14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720" name="Google Shape;1720;p14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14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2" name="Google Shape;1722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23" name="Google Shape;1723;p14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724" name="Google Shape;1724;p14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14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6" name="Google Shape;1726;p14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4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14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14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4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4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14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4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7" name="Google Shape;1737;p14"/>
          <p:cNvGrpSpPr/>
          <p:nvPr/>
        </p:nvGrpSpPr>
        <p:grpSpPr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descr="desktop_computer_stylized_medium" id="1738" name="Google Shape;1738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9" name="Google Shape;1739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0" name="Google Shape;1740;p14"/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cxnSp>
          <p:nvCxnSpPr>
            <p:cNvPr id="1741" name="Google Shape;1741;p14"/>
            <p:cNvCxnSpPr/>
            <p:nvPr/>
          </p:nvCxnSpPr>
          <p:spPr>
            <a:xfrm>
              <a:off x="6833754" y="3902076"/>
              <a:ext cx="2400300" cy="41910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2" name="Google Shape;1742;p14"/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14"/>
            <p:cNvSpPr txBox="1"/>
            <p:nvPr/>
          </p:nvSpPr>
          <p:spPr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http://gaia.cs.umass.edu/kurose_ross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5"/>
          <p:cNvSpPr txBox="1"/>
          <p:nvPr>
            <p:ph type="title"/>
          </p:nvPr>
        </p:nvSpPr>
        <p:spPr>
          <a:xfrm>
            <a:off x="529729" y="15240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Introduction</a:t>
            </a:r>
            <a:endParaRPr sz="6000"/>
          </a:p>
        </p:txBody>
      </p:sp>
      <p:sp>
        <p:nvSpPr>
          <p:cNvPr id="1750" name="Google Shape;1750;p15"/>
          <p:cNvSpPr txBox="1"/>
          <p:nvPr>
            <p:ph idx="2" type="body"/>
          </p:nvPr>
        </p:nvSpPr>
        <p:spPr>
          <a:xfrm>
            <a:off x="484643" y="1693333"/>
            <a:ext cx="7677223" cy="49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Introduction. What </a:t>
            </a:r>
            <a:r>
              <a:rPr i="1" lang="en-US" sz="3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3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edge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Network core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ts val="3600"/>
              <a:buChar char="▪"/>
            </a:pPr>
            <a:r>
              <a:rPr lang="en-US" sz="36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grpSp>
        <p:nvGrpSpPr>
          <p:cNvPr id="1751" name="Google Shape;1751;p15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752" name="Google Shape;175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3" name="Google Shape;1753;p15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754" name="Google Shape;1754;p15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755" name="Google Shape;1755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6" name="Google Shape;1756;p15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7" name="Google Shape;1757;p15"/>
          <p:cNvGrpSpPr/>
          <p:nvPr/>
        </p:nvGrpSpPr>
        <p:grpSpPr>
          <a:xfrm>
            <a:off x="5108787" y="6105145"/>
            <a:ext cx="6892924" cy="461665"/>
            <a:chOff x="5108787" y="6105145"/>
            <a:chExt cx="6892924" cy="461665"/>
          </a:xfrm>
        </p:grpSpPr>
        <p:sp>
          <p:nvSpPr>
            <p:cNvPr id="1758" name="Google Shape;1758;p15"/>
            <p:cNvSpPr txBox="1"/>
            <p:nvPr/>
          </p:nvSpPr>
          <p:spPr>
            <a:xfrm>
              <a:off x="5108787" y="6105145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2020, J.F. Kurose, All Rights Reserved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1996-2020, J.F. Kurose, K.W. Ross, All Rights Reserved</a:t>
              </a:r>
              <a:endParaRPr/>
            </a:p>
          </p:txBody>
        </p:sp>
        <p:pic>
          <p:nvPicPr>
            <p:cNvPr id="1759" name="Google Shape;175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28246" y="6178318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56647" y="6354452"/>
              <a:ext cx="125836" cy="16022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