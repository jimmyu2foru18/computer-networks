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320">
          <p15:clr>
            <a:srgbClr val="A4A3A4"/>
          </p15:clr>
        </p15:guide>
        <p15:guide id="2" pos="206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320" orient="horz"/>
        <p:guide pos="2064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" name="Google Shape;31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" name="Google Shape;4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7" name="Google Shape;31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8" name="Google Shape;42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6" name="Google Shape;55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6" name="Google Shape;696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7" name="Google Shape;697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6000"/>
              <a:buFont typeface="Calibri"/>
              <a:buNone/>
              <a:defRPr sz="60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1" name="Google Shape;21;p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/>
          <p:nvPr>
            <p:ph idx="1" type="body"/>
          </p:nvPr>
        </p:nvSpPr>
        <p:spPr>
          <a:xfrm>
            <a:off x="838200" y="172402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000"/>
              <a:buFont typeface="Calibri"/>
              <a:buNone/>
              <a:defRPr b="1" i="0" sz="40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</p:sldLayoutIdLst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8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8.jpg"/><Relationship Id="rId5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546662" y="152400"/>
            <a:ext cx="6551791" cy="16509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6000"/>
              <a:buFont typeface="Calibri"/>
              <a:buNone/>
            </a:pPr>
            <a:r>
              <a:rPr lang="en-US" sz="6000"/>
              <a:t>Introduction</a:t>
            </a:r>
            <a:endParaRPr sz="6000"/>
          </a:p>
        </p:txBody>
      </p:sp>
      <p:sp>
        <p:nvSpPr>
          <p:cNvPr id="35" name="Google Shape;35;p6"/>
          <p:cNvSpPr txBox="1"/>
          <p:nvPr>
            <p:ph idx="2" type="body"/>
          </p:nvPr>
        </p:nvSpPr>
        <p:spPr>
          <a:xfrm>
            <a:off x="455614" y="1574801"/>
            <a:ext cx="8013829" cy="49783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4032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3600"/>
              <a:buChar char="▪"/>
            </a:pPr>
            <a:r>
              <a:rPr lang="en-US" sz="3600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Overview. What </a:t>
            </a:r>
            <a:r>
              <a:rPr i="1" lang="en-US" sz="3600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is</a:t>
            </a:r>
            <a:r>
              <a:rPr lang="en-US" sz="3600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 the Internet? What</a:t>
            </a:r>
            <a:r>
              <a:rPr i="1" lang="en-US" sz="3600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 is </a:t>
            </a:r>
            <a:r>
              <a:rPr lang="en-US" sz="3600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a protocol?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D8D8D8"/>
              </a:buClr>
              <a:buSzPts val="3600"/>
              <a:buChar char="▪"/>
            </a:pPr>
            <a:r>
              <a:rPr lang="en-US" sz="3600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Network edge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D8D8D8"/>
              </a:buClr>
              <a:buSzPts val="3600"/>
              <a:buChar char="▪"/>
            </a:pPr>
            <a:r>
              <a:rPr lang="en-US" sz="3600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Network core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D8D8D8"/>
              </a:buClr>
              <a:buSzPts val="3600"/>
              <a:buChar char="▪"/>
            </a:pPr>
            <a:r>
              <a:rPr lang="en-US" sz="3600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Performance: loss, delay, throughput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3600"/>
              <a:buChar char="▪"/>
            </a:pPr>
            <a:r>
              <a:rPr lang="en-US" sz="3600">
                <a:latin typeface="Calibri"/>
                <a:ea typeface="Calibri"/>
                <a:cs typeface="Calibri"/>
                <a:sym typeface="Calibri"/>
              </a:rPr>
              <a:t>Layering, encapsulation, service models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D8D8D8"/>
              </a:buClr>
              <a:buSzPts val="3600"/>
              <a:buChar char="▪"/>
            </a:pPr>
            <a:r>
              <a:rPr lang="en-US" sz="3600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Security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D8D8D8"/>
              </a:buClr>
              <a:buSzPts val="3600"/>
              <a:buChar char="▪"/>
            </a:pPr>
            <a:r>
              <a:rPr lang="en-US" sz="3600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History</a:t>
            </a:r>
            <a:endParaRPr/>
          </a:p>
        </p:txBody>
      </p:sp>
      <p:grpSp>
        <p:nvGrpSpPr>
          <p:cNvPr id="36" name="Google Shape;36;p6"/>
          <p:cNvGrpSpPr/>
          <p:nvPr/>
        </p:nvGrpSpPr>
        <p:grpSpPr>
          <a:xfrm>
            <a:off x="7421880" y="453820"/>
            <a:ext cx="4399280" cy="3866277"/>
            <a:chOff x="7421880" y="792480"/>
            <a:chExt cx="4399280" cy="3866277"/>
          </a:xfrm>
        </p:grpSpPr>
        <p:pic>
          <p:nvPicPr>
            <p:cNvPr descr="University of Massachusetts Amherst - Wikipedia" id="37" name="Google Shape;37;p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886440" y="2125980"/>
              <a:ext cx="848360" cy="84836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" name="Google Shape;38;p6"/>
            <p:cNvSpPr txBox="1"/>
            <p:nvPr/>
          </p:nvSpPr>
          <p:spPr>
            <a:xfrm>
              <a:off x="7421880" y="792480"/>
              <a:ext cx="4399280" cy="13849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COMPSCI 453 </a:t>
              </a:r>
              <a:r>
                <a:rPr b="0" i="0" lang="en-US" sz="2800" u="none" cap="none" strike="noStrike">
                  <a:solidFill>
                    <a:srgbClr val="0013A3"/>
                  </a:solidFill>
                  <a:latin typeface="Calibri"/>
                  <a:ea typeface="Calibri"/>
                  <a:cs typeface="Calibri"/>
                  <a:sym typeface="Calibri"/>
                </a:rPr>
                <a:t>Computer Networks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Professor Jim Kurose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College of Information and Computer Sciences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University of Massachusetts </a:t>
              </a:r>
              <a:endParaRPr/>
            </a:p>
          </p:txBody>
        </p:sp>
        <p:grpSp>
          <p:nvGrpSpPr>
            <p:cNvPr id="39" name="Google Shape;39;p6"/>
            <p:cNvGrpSpPr/>
            <p:nvPr/>
          </p:nvGrpSpPr>
          <p:grpSpPr>
            <a:xfrm>
              <a:off x="7884160" y="3304540"/>
              <a:ext cx="3857707" cy="1354217"/>
              <a:chOff x="7904480" y="4206240"/>
              <a:chExt cx="3857707" cy="1354217"/>
            </a:xfrm>
          </p:grpSpPr>
          <p:pic>
            <p:nvPicPr>
              <p:cNvPr descr="Kurose_CVR_REV2.jpg" id="40" name="Google Shape;40;p6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0828020" y="4246880"/>
                <a:ext cx="934167" cy="122443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1" name="Google Shape;41;p6"/>
              <p:cNvSpPr txBox="1"/>
              <p:nvPr/>
            </p:nvSpPr>
            <p:spPr>
              <a:xfrm>
                <a:off x="7904480" y="4206240"/>
                <a:ext cx="2885440" cy="13542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Class textbook: </a:t>
                </a:r>
                <a:endParaRPr/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1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Computer Networking: A Top-Down Approach </a:t>
                </a:r>
                <a:r>
                  <a:rPr b="0" i="1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(8</a:t>
                </a:r>
                <a:r>
                  <a:rPr b="0" baseline="30000" i="1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th</a:t>
                </a:r>
                <a:r>
                  <a:rPr b="0" i="1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ed.)</a:t>
                </a:r>
                <a:endParaRPr b="0" i="1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J.F. Kurose, K.W. Ross</a:t>
                </a:r>
                <a:endParaRPr/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Pearson, 2020</a:t>
                </a:r>
                <a:endParaRPr/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Calibri"/>
                  <a:buNone/>
                </a:pPr>
                <a:r>
                  <a:rPr b="0" i="0" lang="en-US" sz="105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http://gaia.cs.umass.edu/kurose_ross</a:t>
                </a:r>
                <a:endParaRPr b="0" i="0" sz="11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825267" y="291947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Protocol </a:t>
            </a:r>
            <a:r>
              <a:rPr lang="en-US"/>
              <a:t>“l</a:t>
            </a:r>
            <a:r>
              <a:rPr lang="en-US" sz="4400"/>
              <a:t>ayers</a:t>
            </a:r>
            <a:r>
              <a:rPr lang="en-US"/>
              <a:t>”</a:t>
            </a:r>
            <a:r>
              <a:rPr lang="en-US" sz="4400"/>
              <a:t> and reference </a:t>
            </a:r>
            <a:r>
              <a:rPr lang="en-US"/>
              <a:t>m</a:t>
            </a:r>
            <a:r>
              <a:rPr lang="en-US" sz="4400"/>
              <a:t>odels</a:t>
            </a:r>
            <a:endParaRPr sz="4400"/>
          </a:p>
        </p:txBody>
      </p:sp>
      <p:sp>
        <p:nvSpPr>
          <p:cNvPr id="48" name="Google Shape;48;p7"/>
          <p:cNvSpPr txBox="1"/>
          <p:nvPr/>
        </p:nvSpPr>
        <p:spPr>
          <a:xfrm>
            <a:off x="800566" y="1575775"/>
            <a:ext cx="5615905" cy="50498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600"/>
              <a:buFont typeface="Noto Sans Symbols"/>
              <a:buNone/>
            </a:pPr>
            <a:r>
              <a:rPr b="0" i="0" lang="en-US" sz="36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Networks are complex,</a:t>
            </a:r>
            <a:endParaRPr/>
          </a:p>
          <a:p>
            <a:pPr indent="-222250" lvl="0" marL="352425" marR="0" rtl="0" algn="l">
              <a:lnSpc>
                <a:spcPct val="75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600"/>
              <a:buFont typeface="Noto Sans Symbols"/>
              <a:buNone/>
            </a:pPr>
            <a:r>
              <a:rPr b="0" i="0" lang="en-US" sz="36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with many “pieces”: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hosts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routers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links of various media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applications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protocols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hardware, software</a:t>
            </a:r>
            <a:endParaRPr/>
          </a:p>
          <a:p>
            <a:pPr indent="-222250" lvl="0" marL="352425" marR="0" rtl="0" algn="l">
              <a:lnSpc>
                <a:spcPct val="75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t/>
            </a:r>
            <a:endParaRPr b="0" i="1" sz="3200" u="none" cap="none" strike="noStrike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7"/>
          <p:cNvSpPr txBox="1"/>
          <p:nvPr/>
        </p:nvSpPr>
        <p:spPr>
          <a:xfrm>
            <a:off x="6584274" y="1539452"/>
            <a:ext cx="4531739" cy="43430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7625" lvl="0" marL="177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1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Question:</a:t>
            </a:r>
            <a:r>
              <a:rPr b="0" i="0" lang="en-US" sz="2400" u="sng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is there any hope of </a:t>
            </a:r>
            <a:r>
              <a:rPr b="0" i="1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organizing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structure of network?</a:t>
            </a:r>
            <a:endParaRPr/>
          </a:p>
          <a:p>
            <a:pPr indent="-223837" lvl="0" marL="5222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and/or our </a:t>
            </a:r>
            <a:r>
              <a:rPr b="0" i="1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discussion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of networks?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/>
          <p:nvPr>
            <p:ph type="title"/>
          </p:nvPr>
        </p:nvSpPr>
        <p:spPr>
          <a:xfrm>
            <a:off x="825267" y="291947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Example: organization of air </a:t>
            </a:r>
            <a:r>
              <a:rPr lang="en-US"/>
              <a:t>t</a:t>
            </a:r>
            <a:r>
              <a:rPr lang="en-US" sz="4400"/>
              <a:t>ravel</a:t>
            </a:r>
            <a:endParaRPr/>
          </a:p>
        </p:txBody>
      </p:sp>
      <p:sp>
        <p:nvSpPr>
          <p:cNvPr id="56" name="Google Shape;56;p8"/>
          <p:cNvSpPr txBox="1"/>
          <p:nvPr/>
        </p:nvSpPr>
        <p:spPr>
          <a:xfrm>
            <a:off x="2345096" y="6081243"/>
            <a:ext cx="9529651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 series of steps, involving many services</a:t>
            </a:r>
            <a:endParaRPr/>
          </a:p>
        </p:txBody>
      </p:sp>
      <p:sp>
        <p:nvSpPr>
          <p:cNvPr id="57" name="Google Shape;57;p8"/>
          <p:cNvSpPr txBox="1"/>
          <p:nvPr/>
        </p:nvSpPr>
        <p:spPr>
          <a:xfrm>
            <a:off x="1110119" y="1935719"/>
            <a:ext cx="3719769" cy="28479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ticket (purchase)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baggage (check)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gates (load)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runway takeoff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airplane routing</a:t>
            </a:r>
            <a:endParaRPr b="0" i="0" sz="2000" u="none" cap="none" strike="noStrike">
              <a:solidFill>
                <a:srgbClr val="0000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8"/>
          <p:cNvSpPr txBox="1"/>
          <p:nvPr/>
        </p:nvSpPr>
        <p:spPr>
          <a:xfrm>
            <a:off x="7623765" y="1942018"/>
            <a:ext cx="2625654" cy="28478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ticket (complain)</a:t>
            </a:r>
            <a:endParaRPr/>
          </a:p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baggage (claim)</a:t>
            </a:r>
            <a:endParaRPr/>
          </a:p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gates (unload)</a:t>
            </a:r>
            <a:endParaRPr/>
          </a:p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runway landing</a:t>
            </a:r>
            <a:endParaRPr/>
          </a:p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airplane routing</a:t>
            </a:r>
            <a:endParaRPr/>
          </a:p>
        </p:txBody>
      </p:sp>
      <p:sp>
        <p:nvSpPr>
          <p:cNvPr id="59" name="Google Shape;59;p8"/>
          <p:cNvSpPr txBox="1"/>
          <p:nvPr/>
        </p:nvSpPr>
        <p:spPr>
          <a:xfrm>
            <a:off x="4389746" y="4831320"/>
            <a:ext cx="3570798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airplane routing</a:t>
            </a:r>
            <a:endParaRPr/>
          </a:p>
        </p:txBody>
      </p:sp>
      <p:sp>
        <p:nvSpPr>
          <p:cNvPr id="60" name="Google Shape;60;p8"/>
          <p:cNvSpPr/>
          <p:nvPr/>
        </p:nvSpPr>
        <p:spPr>
          <a:xfrm>
            <a:off x="879891" y="2080182"/>
            <a:ext cx="7827767" cy="3289301"/>
          </a:xfrm>
          <a:custGeom>
            <a:rect b="b" l="l" r="r" t="t"/>
            <a:pathLst>
              <a:path extrusionOk="0" h="10000" w="8459">
                <a:moveTo>
                  <a:pt x="0" y="0"/>
                </a:moveTo>
                <a:cubicBezTo>
                  <a:pt x="3" y="2793"/>
                  <a:pt x="7" y="5585"/>
                  <a:pt x="10" y="8378"/>
                </a:cubicBezTo>
                <a:lnTo>
                  <a:pt x="1961" y="9961"/>
                </a:lnTo>
                <a:lnTo>
                  <a:pt x="8459" y="10000"/>
                </a:lnTo>
              </a:path>
            </a:pathLst>
          </a:custGeom>
          <a:noFill/>
          <a:ln cap="flat" cmpd="sng" w="4445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 </a:t>
            </a:r>
            <a:endParaRPr/>
          </a:p>
        </p:txBody>
      </p:sp>
      <p:sp>
        <p:nvSpPr>
          <p:cNvPr id="61" name="Google Shape;61;p8"/>
          <p:cNvSpPr/>
          <p:nvPr/>
        </p:nvSpPr>
        <p:spPr>
          <a:xfrm flipH="1">
            <a:off x="8627458" y="2106453"/>
            <a:ext cx="1822537" cy="3263030"/>
          </a:xfrm>
          <a:custGeom>
            <a:rect b="b" l="l" r="r" t="t"/>
            <a:pathLst>
              <a:path extrusionOk="0" h="3263030" w="1822537">
                <a:moveTo>
                  <a:pt x="1822537" y="3263030"/>
                </a:moveTo>
                <a:lnTo>
                  <a:pt x="6263" y="2743200"/>
                </a:lnTo>
                <a:cubicBezTo>
                  <a:pt x="4175" y="1828800"/>
                  <a:pt x="2088" y="914400"/>
                  <a:pt x="0" y="0"/>
                </a:cubicBezTo>
              </a:path>
            </a:pathLst>
          </a:custGeom>
          <a:noFill/>
          <a:ln cap="flat" cmpd="sng" w="4445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                  </a:t>
            </a:r>
            <a:endParaRPr/>
          </a:p>
        </p:txBody>
      </p:sp>
      <p:sp>
        <p:nvSpPr>
          <p:cNvPr id="62" name="Google Shape;62;p8"/>
          <p:cNvSpPr txBox="1"/>
          <p:nvPr/>
        </p:nvSpPr>
        <p:spPr>
          <a:xfrm>
            <a:off x="1882900" y="5634038"/>
            <a:ext cx="9529651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How would you </a:t>
            </a:r>
            <a:r>
              <a:rPr b="0" i="1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define/discuss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b="0" i="1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system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of airline travel?</a:t>
            </a:r>
            <a:endParaRPr/>
          </a:p>
        </p:txBody>
      </p:sp>
      <p:cxnSp>
        <p:nvCxnSpPr>
          <p:cNvPr id="63" name="Google Shape;63;p8"/>
          <p:cNvCxnSpPr/>
          <p:nvPr/>
        </p:nvCxnSpPr>
        <p:spPr>
          <a:xfrm>
            <a:off x="1564598" y="1798817"/>
            <a:ext cx="7600013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64" name="Google Shape;64;p8"/>
          <p:cNvSpPr txBox="1"/>
          <p:nvPr/>
        </p:nvSpPr>
        <p:spPr>
          <a:xfrm>
            <a:off x="2473378" y="1558977"/>
            <a:ext cx="5581913" cy="46166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end-to-end transfer of person plus baggage</a:t>
            </a:r>
            <a:endParaRPr/>
          </a:p>
        </p:txBody>
      </p:sp>
      <p:grpSp>
        <p:nvGrpSpPr>
          <p:cNvPr id="65" name="Google Shape;65;p8"/>
          <p:cNvGrpSpPr/>
          <p:nvPr/>
        </p:nvGrpSpPr>
        <p:grpSpPr>
          <a:xfrm>
            <a:off x="4267725" y="1021517"/>
            <a:ext cx="1528763" cy="620713"/>
            <a:chOff x="-1042195" y="4302698"/>
            <a:chExt cx="1528763" cy="620713"/>
          </a:xfrm>
        </p:grpSpPr>
        <p:pic>
          <p:nvPicPr>
            <p:cNvPr descr="yylgaifm[1]" id="66" name="Google Shape;66;p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1042195" y="4463036"/>
              <a:ext cx="1528763" cy="46037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67" name="Google Shape;67;p8"/>
            <p:cNvCxnSpPr/>
            <p:nvPr/>
          </p:nvCxnSpPr>
          <p:spPr>
            <a:xfrm>
              <a:off x="-561182" y="4302698"/>
              <a:ext cx="450850" cy="158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8" name="Google Shape;68;p8"/>
            <p:cNvCxnSpPr/>
            <p:nvPr/>
          </p:nvCxnSpPr>
          <p:spPr>
            <a:xfrm>
              <a:off x="-408782" y="4455098"/>
              <a:ext cx="450850" cy="158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9" name="Google Shape;69;p8"/>
            <p:cNvCxnSpPr/>
            <p:nvPr/>
          </p:nvCxnSpPr>
          <p:spPr>
            <a:xfrm>
              <a:off x="-256382" y="4607498"/>
              <a:ext cx="450850" cy="158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oogle Shape;75;p9"/>
          <p:cNvGrpSpPr/>
          <p:nvPr/>
        </p:nvGrpSpPr>
        <p:grpSpPr>
          <a:xfrm>
            <a:off x="464981" y="2052861"/>
            <a:ext cx="10432006" cy="2708042"/>
            <a:chOff x="464981" y="1753061"/>
            <a:chExt cx="10432006" cy="2708042"/>
          </a:xfrm>
        </p:grpSpPr>
        <p:sp>
          <p:nvSpPr>
            <p:cNvPr id="76" name="Google Shape;76;p9"/>
            <p:cNvSpPr/>
            <p:nvPr/>
          </p:nvSpPr>
          <p:spPr>
            <a:xfrm>
              <a:off x="464981" y="4061418"/>
              <a:ext cx="10421481" cy="399685"/>
            </a:xfrm>
            <a:prstGeom prst="rect">
              <a:avLst/>
            </a:prstGeom>
            <a:solidFill>
              <a:srgbClr val="8DA9D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" name="Google Shape;77;p9"/>
            <p:cNvSpPr/>
            <p:nvPr/>
          </p:nvSpPr>
          <p:spPr>
            <a:xfrm>
              <a:off x="475506" y="3495132"/>
              <a:ext cx="10421481" cy="399685"/>
            </a:xfrm>
            <a:prstGeom prst="rect">
              <a:avLst/>
            </a:prstGeom>
            <a:solidFill>
              <a:srgbClr val="8DA9D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" name="Google Shape;78;p9"/>
            <p:cNvSpPr/>
            <p:nvPr/>
          </p:nvSpPr>
          <p:spPr>
            <a:xfrm>
              <a:off x="470508" y="2945434"/>
              <a:ext cx="10421481" cy="399685"/>
            </a:xfrm>
            <a:prstGeom prst="rect">
              <a:avLst/>
            </a:prstGeom>
            <a:solidFill>
              <a:srgbClr val="8DA9D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" name="Google Shape;79;p9"/>
            <p:cNvSpPr/>
            <p:nvPr/>
          </p:nvSpPr>
          <p:spPr>
            <a:xfrm>
              <a:off x="471525" y="2357714"/>
              <a:ext cx="10421481" cy="399685"/>
            </a:xfrm>
            <a:prstGeom prst="rect">
              <a:avLst/>
            </a:prstGeom>
            <a:solidFill>
              <a:srgbClr val="8DA9D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" name="Google Shape;80;p9"/>
            <p:cNvSpPr/>
            <p:nvPr/>
          </p:nvSpPr>
          <p:spPr>
            <a:xfrm>
              <a:off x="464982" y="1753061"/>
              <a:ext cx="10421481" cy="399685"/>
            </a:xfrm>
            <a:prstGeom prst="rect">
              <a:avLst/>
            </a:prstGeom>
            <a:solidFill>
              <a:srgbClr val="8DA9D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1" name="Google Shape;81;p9"/>
          <p:cNvGrpSpPr/>
          <p:nvPr/>
        </p:nvGrpSpPr>
        <p:grpSpPr>
          <a:xfrm>
            <a:off x="7572969" y="1945699"/>
            <a:ext cx="2929467" cy="2895601"/>
            <a:chOff x="1574800" y="1788319"/>
            <a:chExt cx="2929467" cy="2895601"/>
          </a:xfrm>
        </p:grpSpPr>
        <p:sp>
          <p:nvSpPr>
            <p:cNvPr id="82" name="Google Shape;82;p9"/>
            <p:cNvSpPr/>
            <p:nvPr/>
          </p:nvSpPr>
          <p:spPr>
            <a:xfrm>
              <a:off x="1591733" y="1788319"/>
              <a:ext cx="2794000" cy="2895601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83" name="Google Shape;83;p9"/>
            <p:cNvCxnSpPr/>
            <p:nvPr/>
          </p:nvCxnSpPr>
          <p:spPr>
            <a:xfrm>
              <a:off x="1574800" y="2421466"/>
              <a:ext cx="2929467" cy="0"/>
            </a:xfrm>
            <a:prstGeom prst="straightConnector1">
              <a:avLst/>
            </a:prstGeom>
            <a:noFill/>
            <a:ln cap="flat" cmpd="sng" w="254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4" name="Google Shape;84;p9"/>
            <p:cNvCxnSpPr/>
            <p:nvPr/>
          </p:nvCxnSpPr>
          <p:spPr>
            <a:xfrm>
              <a:off x="1574800" y="3009694"/>
              <a:ext cx="2929467" cy="0"/>
            </a:xfrm>
            <a:prstGeom prst="straightConnector1">
              <a:avLst/>
            </a:prstGeom>
            <a:noFill/>
            <a:ln cap="flat" cmpd="sng" w="254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5" name="Google Shape;85;p9"/>
            <p:cNvCxnSpPr/>
            <p:nvPr/>
          </p:nvCxnSpPr>
          <p:spPr>
            <a:xfrm>
              <a:off x="1574800" y="3581400"/>
              <a:ext cx="2929467" cy="0"/>
            </a:xfrm>
            <a:prstGeom prst="straightConnector1">
              <a:avLst/>
            </a:prstGeom>
            <a:noFill/>
            <a:ln cap="flat" cmpd="sng" w="254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6" name="Google Shape;86;p9"/>
            <p:cNvCxnSpPr/>
            <p:nvPr/>
          </p:nvCxnSpPr>
          <p:spPr>
            <a:xfrm>
              <a:off x="1574800" y="4115129"/>
              <a:ext cx="2929467" cy="0"/>
            </a:xfrm>
            <a:prstGeom prst="straightConnector1">
              <a:avLst/>
            </a:prstGeom>
            <a:noFill/>
            <a:ln cap="flat" cmpd="sng" w="254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87" name="Google Shape;87;p9"/>
          <p:cNvSpPr/>
          <p:nvPr/>
        </p:nvSpPr>
        <p:spPr>
          <a:xfrm>
            <a:off x="965209" y="1935719"/>
            <a:ext cx="2794000" cy="2895601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9"/>
          <p:cNvSpPr txBox="1"/>
          <p:nvPr>
            <p:ph type="title"/>
          </p:nvPr>
        </p:nvSpPr>
        <p:spPr>
          <a:xfrm>
            <a:off x="825267" y="291947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Example: organization of air </a:t>
            </a:r>
            <a:r>
              <a:rPr lang="en-US"/>
              <a:t>t</a:t>
            </a:r>
            <a:r>
              <a:rPr lang="en-US" sz="4400"/>
              <a:t>ravel</a:t>
            </a:r>
            <a:endParaRPr/>
          </a:p>
        </p:txBody>
      </p:sp>
      <p:sp>
        <p:nvSpPr>
          <p:cNvPr id="89" name="Google Shape;89;p9"/>
          <p:cNvSpPr txBox="1"/>
          <p:nvPr/>
        </p:nvSpPr>
        <p:spPr>
          <a:xfrm>
            <a:off x="1110119" y="1935719"/>
            <a:ext cx="2616935" cy="28478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ticket (purchase)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baggage (check)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gates (load)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runway takeoff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airplane routing</a:t>
            </a:r>
            <a:endParaRPr b="0" i="0" sz="20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9"/>
          <p:cNvSpPr txBox="1"/>
          <p:nvPr/>
        </p:nvSpPr>
        <p:spPr>
          <a:xfrm>
            <a:off x="7623765" y="1942018"/>
            <a:ext cx="2625654" cy="28478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ticket (complain)</a:t>
            </a:r>
            <a:endParaRPr/>
          </a:p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baggage (claim)</a:t>
            </a:r>
            <a:endParaRPr/>
          </a:p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gates (unload)</a:t>
            </a:r>
            <a:endParaRPr/>
          </a:p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runway landing</a:t>
            </a:r>
            <a:endParaRPr/>
          </a:p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airplane routing</a:t>
            </a:r>
            <a:endParaRPr/>
          </a:p>
        </p:txBody>
      </p:sp>
      <p:cxnSp>
        <p:nvCxnSpPr>
          <p:cNvPr id="91" name="Google Shape;91;p9"/>
          <p:cNvCxnSpPr/>
          <p:nvPr/>
        </p:nvCxnSpPr>
        <p:spPr>
          <a:xfrm>
            <a:off x="948276" y="2568866"/>
            <a:ext cx="2929467" cy="0"/>
          </a:xfrm>
          <a:prstGeom prst="straightConnector1">
            <a:avLst/>
          </a:prstGeom>
          <a:noFill/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2" name="Google Shape;92;p9"/>
          <p:cNvCxnSpPr/>
          <p:nvPr/>
        </p:nvCxnSpPr>
        <p:spPr>
          <a:xfrm>
            <a:off x="948276" y="3157094"/>
            <a:ext cx="2929467" cy="0"/>
          </a:xfrm>
          <a:prstGeom prst="straightConnector1">
            <a:avLst/>
          </a:prstGeom>
          <a:noFill/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3" name="Google Shape;93;p9"/>
          <p:cNvCxnSpPr/>
          <p:nvPr/>
        </p:nvCxnSpPr>
        <p:spPr>
          <a:xfrm>
            <a:off x="948276" y="3728800"/>
            <a:ext cx="2929467" cy="0"/>
          </a:xfrm>
          <a:prstGeom prst="straightConnector1">
            <a:avLst/>
          </a:prstGeom>
          <a:noFill/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4" name="Google Shape;94;p9"/>
          <p:cNvCxnSpPr/>
          <p:nvPr/>
        </p:nvCxnSpPr>
        <p:spPr>
          <a:xfrm>
            <a:off x="948276" y="4262529"/>
            <a:ext cx="2929467" cy="0"/>
          </a:xfrm>
          <a:prstGeom prst="straightConnector1">
            <a:avLst/>
          </a:prstGeom>
          <a:noFill/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5" name="Google Shape;95;p9"/>
          <p:cNvSpPr/>
          <p:nvPr/>
        </p:nvSpPr>
        <p:spPr>
          <a:xfrm>
            <a:off x="4260623" y="4272051"/>
            <a:ext cx="2794000" cy="568791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9"/>
          <p:cNvSpPr txBox="1"/>
          <p:nvPr/>
        </p:nvSpPr>
        <p:spPr>
          <a:xfrm>
            <a:off x="4453486" y="4300858"/>
            <a:ext cx="2511265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airplane routing</a:t>
            </a:r>
            <a:endParaRPr/>
          </a:p>
        </p:txBody>
      </p:sp>
      <p:grpSp>
        <p:nvGrpSpPr>
          <p:cNvPr id="97" name="Google Shape;97;p9"/>
          <p:cNvGrpSpPr/>
          <p:nvPr/>
        </p:nvGrpSpPr>
        <p:grpSpPr>
          <a:xfrm>
            <a:off x="3948545" y="1999560"/>
            <a:ext cx="3522823" cy="2811596"/>
            <a:chOff x="3948545" y="1699760"/>
            <a:chExt cx="3522823" cy="2811596"/>
          </a:xfrm>
        </p:grpSpPr>
        <p:sp>
          <p:nvSpPr>
            <p:cNvPr id="98" name="Google Shape;98;p9"/>
            <p:cNvSpPr txBox="1"/>
            <p:nvPr/>
          </p:nvSpPr>
          <p:spPr>
            <a:xfrm>
              <a:off x="4400060" y="1699760"/>
              <a:ext cx="2507418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Calibri"/>
                <a:buNone/>
              </a:pPr>
              <a:r>
                <a:rPr b="0" i="1" lang="en-US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ticketing service</a:t>
              </a:r>
              <a:endParaRPr/>
            </a:p>
          </p:txBody>
        </p:sp>
        <p:sp>
          <p:nvSpPr>
            <p:cNvPr id="99" name="Google Shape;99;p9"/>
            <p:cNvSpPr txBox="1"/>
            <p:nvPr/>
          </p:nvSpPr>
          <p:spPr>
            <a:xfrm>
              <a:off x="4384331" y="2292643"/>
              <a:ext cx="2542106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Calibri"/>
                <a:buNone/>
              </a:pPr>
              <a:r>
                <a:rPr b="0" i="1" lang="en-US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baggage service</a:t>
              </a:r>
              <a:endParaRPr/>
            </a:p>
          </p:txBody>
        </p:sp>
        <p:sp>
          <p:nvSpPr>
            <p:cNvPr id="100" name="Google Shape;100;p9"/>
            <p:cNvSpPr txBox="1"/>
            <p:nvPr/>
          </p:nvSpPr>
          <p:spPr>
            <a:xfrm>
              <a:off x="4686266" y="2872078"/>
              <a:ext cx="1921103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Calibri"/>
                <a:buNone/>
              </a:pPr>
              <a:r>
                <a:rPr b="0" i="1" lang="en-US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gate service</a:t>
              </a:r>
              <a:endParaRPr/>
            </a:p>
          </p:txBody>
        </p:sp>
        <p:sp>
          <p:nvSpPr>
            <p:cNvPr id="101" name="Google Shape;101;p9"/>
            <p:cNvSpPr txBox="1"/>
            <p:nvPr/>
          </p:nvSpPr>
          <p:spPr>
            <a:xfrm>
              <a:off x="4485939" y="3451513"/>
              <a:ext cx="2354234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Calibri"/>
                <a:buNone/>
              </a:pPr>
              <a:r>
                <a:rPr b="0" i="1" lang="en-US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runway service</a:t>
              </a:r>
              <a:endParaRPr/>
            </a:p>
          </p:txBody>
        </p:sp>
        <p:grpSp>
          <p:nvGrpSpPr>
            <p:cNvPr id="102" name="Google Shape;102;p9"/>
            <p:cNvGrpSpPr/>
            <p:nvPr/>
          </p:nvGrpSpPr>
          <p:grpSpPr>
            <a:xfrm>
              <a:off x="3948545" y="3988136"/>
              <a:ext cx="3522823" cy="523220"/>
              <a:chOff x="3976681" y="3974068"/>
              <a:chExt cx="3522823" cy="523220"/>
            </a:xfrm>
          </p:grpSpPr>
          <p:sp>
            <p:nvSpPr>
              <p:cNvPr id="103" name="Google Shape;103;p9"/>
              <p:cNvSpPr/>
              <p:nvPr/>
            </p:nvSpPr>
            <p:spPr>
              <a:xfrm>
                <a:off x="3976681" y="4046279"/>
                <a:ext cx="3522823" cy="402622"/>
              </a:xfrm>
              <a:prstGeom prst="rect">
                <a:avLst/>
              </a:pr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" name="Google Shape;104;p9"/>
              <p:cNvSpPr txBox="1"/>
              <p:nvPr/>
            </p:nvSpPr>
            <p:spPr>
              <a:xfrm>
                <a:off x="4506558" y="3974068"/>
                <a:ext cx="2327304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800"/>
                  <a:buFont typeface="Calibri"/>
                  <a:buNone/>
                </a:pPr>
                <a:r>
                  <a:rPr b="0" i="1" lang="en-US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routing service</a:t>
                </a:r>
                <a:endParaRPr/>
              </a:p>
            </p:txBody>
          </p:sp>
        </p:grpSp>
      </p:grpSp>
      <p:sp>
        <p:nvSpPr>
          <p:cNvPr id="105" name="Google Shape;105;p9"/>
          <p:cNvSpPr txBox="1"/>
          <p:nvPr/>
        </p:nvSpPr>
        <p:spPr>
          <a:xfrm>
            <a:off x="2393447" y="5094287"/>
            <a:ext cx="7613650" cy="1763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1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layers:</a:t>
            </a:r>
            <a:r>
              <a:rPr b="0" i="0" lang="en-US" sz="3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each layer implements a service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via its own internal-layer actions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relying on services provided by layer below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0"/>
          <p:cNvSpPr txBox="1"/>
          <p:nvPr>
            <p:ph type="title"/>
          </p:nvPr>
        </p:nvSpPr>
        <p:spPr>
          <a:xfrm>
            <a:off x="825267" y="291947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Why layering?</a:t>
            </a:r>
            <a:endParaRPr sz="4400"/>
          </a:p>
        </p:txBody>
      </p:sp>
      <p:sp>
        <p:nvSpPr>
          <p:cNvPr id="112" name="Google Shape;112;p10"/>
          <p:cNvSpPr txBox="1"/>
          <p:nvPr/>
        </p:nvSpPr>
        <p:spPr>
          <a:xfrm>
            <a:off x="780297" y="1203575"/>
            <a:ext cx="10162523" cy="49227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600"/>
              <a:buFont typeface="Noto Sans Symbols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Approach to designing/discussing complex systems:</a:t>
            </a:r>
            <a:endParaRPr/>
          </a:p>
        </p:txBody>
      </p:sp>
      <p:sp>
        <p:nvSpPr>
          <p:cNvPr id="113" name="Google Shape;113;p10"/>
          <p:cNvSpPr txBox="1"/>
          <p:nvPr/>
        </p:nvSpPr>
        <p:spPr>
          <a:xfrm>
            <a:off x="722834" y="1935296"/>
            <a:ext cx="7431816" cy="43455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57308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explicit structure allows identification, relationship of system’s pieces</a:t>
            </a:r>
            <a:endParaRPr/>
          </a:p>
          <a:p>
            <a:pPr indent="-355600" lvl="1" marL="98266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layered </a:t>
            </a:r>
            <a:r>
              <a:rPr b="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reference model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for discussion</a:t>
            </a:r>
            <a:endParaRPr/>
          </a:p>
          <a:p>
            <a:pPr indent="-355600" lvl="0" marL="5730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modularization eases maintenance, updating of system</a:t>
            </a:r>
            <a:endParaRPr/>
          </a:p>
          <a:p>
            <a:pPr indent="-355600" lvl="1" marL="98266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change in layer's service </a:t>
            </a: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implementation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transparent to rest of system</a:t>
            </a:r>
            <a:endParaRPr/>
          </a:p>
          <a:p>
            <a:pPr indent="-355600" lvl="1" marL="98266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e.g., change in gate procedure doesn’t affect rest of system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1"/>
          <p:cNvSpPr txBox="1"/>
          <p:nvPr>
            <p:ph type="title"/>
          </p:nvPr>
        </p:nvSpPr>
        <p:spPr>
          <a:xfrm>
            <a:off x="825267" y="291947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Layered Internet protocol </a:t>
            </a:r>
            <a:r>
              <a:rPr lang="en-US"/>
              <a:t>s</a:t>
            </a:r>
            <a:r>
              <a:rPr lang="en-US" sz="4400"/>
              <a:t>tack</a:t>
            </a:r>
            <a:endParaRPr sz="4400"/>
          </a:p>
        </p:txBody>
      </p:sp>
      <p:sp>
        <p:nvSpPr>
          <p:cNvPr id="120" name="Google Shape;120;p11"/>
          <p:cNvSpPr txBox="1"/>
          <p:nvPr/>
        </p:nvSpPr>
        <p:spPr>
          <a:xfrm>
            <a:off x="979383" y="1472008"/>
            <a:ext cx="7368749" cy="49227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7338" lvl="0" marL="287338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1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application: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supporting network applications</a:t>
            </a:r>
            <a:endParaRPr/>
          </a:p>
          <a:p>
            <a:pPr indent="-225425" lvl="1" marL="682625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HTTP, IMAP, SMTP, DNS</a:t>
            </a:r>
            <a:endParaRPr/>
          </a:p>
          <a:p>
            <a:pPr indent="-287338" lvl="0" marL="287338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1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transport: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process-process data transfer</a:t>
            </a:r>
            <a:endParaRPr/>
          </a:p>
          <a:p>
            <a:pPr indent="-225425" lvl="1" marL="682625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TCP, UDP</a:t>
            </a:r>
            <a:endParaRPr/>
          </a:p>
          <a:p>
            <a:pPr indent="-287338" lvl="0" marL="287338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1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network: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routing of datagrams from source to destination</a:t>
            </a:r>
            <a:endParaRPr/>
          </a:p>
          <a:p>
            <a:pPr indent="-225425" lvl="1" marL="682625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IP, routing protocols</a:t>
            </a:r>
            <a:endParaRPr/>
          </a:p>
          <a:p>
            <a:pPr indent="-287338" lvl="0" marL="287338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1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link: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data transfer between neighboring  network elements</a:t>
            </a:r>
            <a:endParaRPr/>
          </a:p>
          <a:p>
            <a:pPr indent="-225425" lvl="1" marL="682625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Ethernet, 802.11 (WiFi), PPP</a:t>
            </a:r>
            <a:endParaRPr/>
          </a:p>
          <a:p>
            <a:pPr indent="-287338" lvl="0" marL="287338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1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physical: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bits “on the wire”</a:t>
            </a:r>
            <a:endParaRPr/>
          </a:p>
        </p:txBody>
      </p:sp>
      <p:sp>
        <p:nvSpPr>
          <p:cNvPr id="121" name="Google Shape;121;p11"/>
          <p:cNvSpPr/>
          <p:nvPr/>
        </p:nvSpPr>
        <p:spPr>
          <a:xfrm>
            <a:off x="8913284" y="1902006"/>
            <a:ext cx="1892300" cy="35306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304800" rotWithShape="0" algn="bl" dir="189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73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1"/>
          <p:cNvSpPr txBox="1"/>
          <p:nvPr/>
        </p:nvSpPr>
        <p:spPr>
          <a:xfrm>
            <a:off x="9503820" y="4217549"/>
            <a:ext cx="700833" cy="4564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8571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link</a:t>
            </a:r>
            <a:endParaRPr/>
          </a:p>
        </p:txBody>
      </p:sp>
      <p:cxnSp>
        <p:nvCxnSpPr>
          <p:cNvPr id="123" name="Google Shape;123;p11"/>
          <p:cNvCxnSpPr/>
          <p:nvPr/>
        </p:nvCxnSpPr>
        <p:spPr>
          <a:xfrm>
            <a:off x="8906934" y="2637698"/>
            <a:ext cx="188595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4" name="Google Shape;124;p11"/>
          <p:cNvCxnSpPr/>
          <p:nvPr/>
        </p:nvCxnSpPr>
        <p:spPr>
          <a:xfrm>
            <a:off x="8906934" y="3342548"/>
            <a:ext cx="188595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5" name="Google Shape;125;p11"/>
          <p:cNvCxnSpPr/>
          <p:nvPr/>
        </p:nvCxnSpPr>
        <p:spPr>
          <a:xfrm>
            <a:off x="8906934" y="4053748"/>
            <a:ext cx="188595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6" name="Google Shape;126;p11"/>
          <p:cNvCxnSpPr/>
          <p:nvPr/>
        </p:nvCxnSpPr>
        <p:spPr>
          <a:xfrm>
            <a:off x="8906934" y="4764948"/>
            <a:ext cx="188595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7" name="Google Shape;127;p11"/>
          <p:cNvSpPr txBox="1"/>
          <p:nvPr/>
        </p:nvSpPr>
        <p:spPr>
          <a:xfrm>
            <a:off x="8942478" y="2070093"/>
            <a:ext cx="1795813" cy="4564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8571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application</a:t>
            </a:r>
            <a:endParaRPr/>
          </a:p>
        </p:txBody>
      </p:sp>
      <p:sp>
        <p:nvSpPr>
          <p:cNvPr id="128" name="Google Shape;128;p11"/>
          <p:cNvSpPr txBox="1"/>
          <p:nvPr/>
        </p:nvSpPr>
        <p:spPr>
          <a:xfrm>
            <a:off x="9139934" y="3510968"/>
            <a:ext cx="1400896" cy="4564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8571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network</a:t>
            </a:r>
            <a:endParaRPr/>
          </a:p>
        </p:txBody>
      </p:sp>
      <p:sp>
        <p:nvSpPr>
          <p:cNvPr id="129" name="Google Shape;129;p11"/>
          <p:cNvSpPr txBox="1"/>
          <p:nvPr/>
        </p:nvSpPr>
        <p:spPr>
          <a:xfrm>
            <a:off x="9024889" y="2776676"/>
            <a:ext cx="1547860" cy="4564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8571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transport</a:t>
            </a:r>
            <a:endParaRPr/>
          </a:p>
        </p:txBody>
      </p:sp>
      <p:sp>
        <p:nvSpPr>
          <p:cNvPr id="130" name="Google Shape;130;p11"/>
          <p:cNvSpPr txBox="1"/>
          <p:nvPr/>
        </p:nvSpPr>
        <p:spPr>
          <a:xfrm>
            <a:off x="9197943" y="4884466"/>
            <a:ext cx="1340302" cy="4564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8571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physical</a:t>
            </a:r>
            <a:endParaRPr/>
          </a:p>
        </p:txBody>
      </p:sp>
      <p:grpSp>
        <p:nvGrpSpPr>
          <p:cNvPr id="131" name="Google Shape;131;p11"/>
          <p:cNvGrpSpPr/>
          <p:nvPr/>
        </p:nvGrpSpPr>
        <p:grpSpPr>
          <a:xfrm>
            <a:off x="8931728" y="1894114"/>
            <a:ext cx="1877786" cy="734786"/>
            <a:chOff x="8980714" y="751114"/>
            <a:chExt cx="1877786" cy="734786"/>
          </a:xfrm>
        </p:grpSpPr>
        <p:sp>
          <p:nvSpPr>
            <p:cNvPr id="132" name="Google Shape;132;p11"/>
            <p:cNvSpPr/>
            <p:nvPr/>
          </p:nvSpPr>
          <p:spPr>
            <a:xfrm>
              <a:off x="8980714" y="751114"/>
              <a:ext cx="1877786" cy="734786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" name="Google Shape;133;p11"/>
            <p:cNvSpPr txBox="1"/>
            <p:nvPr/>
          </p:nvSpPr>
          <p:spPr>
            <a:xfrm>
              <a:off x="9029564" y="899878"/>
              <a:ext cx="1795813" cy="4564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98571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800"/>
                <a:buFont typeface="Calibri"/>
                <a:buNone/>
              </a:pPr>
              <a:r>
                <a:rPr b="0" i="0" lang="en-US" sz="2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application</a:t>
              </a:r>
              <a:endParaRPr/>
            </a:p>
          </p:txBody>
        </p:sp>
      </p:grpSp>
      <p:grpSp>
        <p:nvGrpSpPr>
          <p:cNvPr id="134" name="Google Shape;134;p11"/>
          <p:cNvGrpSpPr/>
          <p:nvPr/>
        </p:nvGrpSpPr>
        <p:grpSpPr>
          <a:xfrm>
            <a:off x="8933979" y="2649498"/>
            <a:ext cx="1861418" cy="688224"/>
            <a:chOff x="8993850" y="766270"/>
            <a:chExt cx="1861418" cy="688224"/>
          </a:xfrm>
        </p:grpSpPr>
        <p:sp>
          <p:nvSpPr>
            <p:cNvPr id="135" name="Google Shape;135;p11"/>
            <p:cNvSpPr/>
            <p:nvPr/>
          </p:nvSpPr>
          <p:spPr>
            <a:xfrm>
              <a:off x="8993850" y="766270"/>
              <a:ext cx="1861418" cy="688224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" name="Google Shape;136;p11"/>
            <p:cNvSpPr txBox="1"/>
            <p:nvPr/>
          </p:nvSpPr>
          <p:spPr>
            <a:xfrm>
              <a:off x="9153542" y="899878"/>
              <a:ext cx="1547860" cy="4564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98571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800"/>
                <a:buFont typeface="Calibri"/>
                <a:buNone/>
              </a:pPr>
              <a:r>
                <a:rPr b="0" i="0" lang="en-US" sz="2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transport</a:t>
              </a:r>
              <a:endParaRPr/>
            </a:p>
          </p:txBody>
        </p:sp>
      </p:grpSp>
      <p:grpSp>
        <p:nvGrpSpPr>
          <p:cNvPr id="137" name="Google Shape;137;p11"/>
          <p:cNvGrpSpPr/>
          <p:nvPr/>
        </p:nvGrpSpPr>
        <p:grpSpPr>
          <a:xfrm>
            <a:off x="8931286" y="3357646"/>
            <a:ext cx="1861418" cy="677992"/>
            <a:chOff x="8993850" y="766270"/>
            <a:chExt cx="1861418" cy="677992"/>
          </a:xfrm>
        </p:grpSpPr>
        <p:sp>
          <p:nvSpPr>
            <p:cNvPr id="138" name="Google Shape;138;p11"/>
            <p:cNvSpPr/>
            <p:nvPr/>
          </p:nvSpPr>
          <p:spPr>
            <a:xfrm>
              <a:off x="8993850" y="766270"/>
              <a:ext cx="1861418" cy="677992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" name="Google Shape;139;p11"/>
            <p:cNvSpPr txBox="1"/>
            <p:nvPr/>
          </p:nvSpPr>
          <p:spPr>
            <a:xfrm>
              <a:off x="9227024" y="899878"/>
              <a:ext cx="1400896" cy="4564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98571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800"/>
                <a:buFont typeface="Calibri"/>
                <a:buNone/>
              </a:pPr>
              <a:r>
                <a:rPr b="0" i="0" lang="en-US" sz="2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network</a:t>
              </a:r>
              <a:endParaRPr/>
            </a:p>
          </p:txBody>
        </p:sp>
      </p:grpSp>
      <p:grpSp>
        <p:nvGrpSpPr>
          <p:cNvPr id="140" name="Google Shape;140;p11"/>
          <p:cNvGrpSpPr/>
          <p:nvPr/>
        </p:nvGrpSpPr>
        <p:grpSpPr>
          <a:xfrm>
            <a:off x="8931824" y="4072257"/>
            <a:ext cx="1861418" cy="677992"/>
            <a:chOff x="8993850" y="766270"/>
            <a:chExt cx="1861418" cy="677992"/>
          </a:xfrm>
        </p:grpSpPr>
        <p:sp>
          <p:nvSpPr>
            <p:cNvPr id="141" name="Google Shape;141;p11"/>
            <p:cNvSpPr/>
            <p:nvPr/>
          </p:nvSpPr>
          <p:spPr>
            <a:xfrm>
              <a:off x="8993850" y="766270"/>
              <a:ext cx="1861418" cy="677992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" name="Google Shape;142;p11"/>
            <p:cNvSpPr txBox="1"/>
            <p:nvPr/>
          </p:nvSpPr>
          <p:spPr>
            <a:xfrm>
              <a:off x="9577056" y="899878"/>
              <a:ext cx="700834" cy="4564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98571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800"/>
                <a:buFont typeface="Calibri"/>
                <a:buNone/>
              </a:pPr>
              <a:r>
                <a:rPr b="0" i="0" lang="en-US" sz="2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link</a:t>
              </a:r>
              <a:endParaRPr/>
            </a:p>
          </p:txBody>
        </p:sp>
      </p:grpSp>
      <p:grpSp>
        <p:nvGrpSpPr>
          <p:cNvPr id="143" name="Google Shape;143;p11"/>
          <p:cNvGrpSpPr/>
          <p:nvPr/>
        </p:nvGrpSpPr>
        <p:grpSpPr>
          <a:xfrm>
            <a:off x="8925900" y="4785252"/>
            <a:ext cx="1861418" cy="639758"/>
            <a:chOff x="8993850" y="784041"/>
            <a:chExt cx="1861418" cy="639758"/>
          </a:xfrm>
        </p:grpSpPr>
        <p:sp>
          <p:nvSpPr>
            <p:cNvPr id="144" name="Google Shape;144;p11"/>
            <p:cNvSpPr/>
            <p:nvPr/>
          </p:nvSpPr>
          <p:spPr>
            <a:xfrm>
              <a:off x="8993850" y="784041"/>
              <a:ext cx="1861418" cy="639758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" name="Google Shape;145;p11"/>
            <p:cNvSpPr txBox="1"/>
            <p:nvPr/>
          </p:nvSpPr>
          <p:spPr>
            <a:xfrm>
              <a:off x="9257324" y="899878"/>
              <a:ext cx="1340303" cy="4564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98571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800"/>
                <a:buFont typeface="Calibri"/>
                <a:buNone/>
              </a:pPr>
              <a:r>
                <a:rPr b="0" i="0" lang="en-US" sz="2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physical</a:t>
              </a:r>
              <a:endParaRPr/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2"/>
          <p:cNvSpPr/>
          <p:nvPr/>
        </p:nvSpPr>
        <p:spPr>
          <a:xfrm flipH="1" rot="10800000">
            <a:off x="10916607" y="1577038"/>
            <a:ext cx="450309" cy="4061761"/>
          </a:xfrm>
          <a:custGeom>
            <a:rect b="b" l="l" r="r" t="t"/>
            <a:pathLst>
              <a:path extrusionOk="0" h="21660" w="12496">
                <a:moveTo>
                  <a:pt x="12425" y="0"/>
                </a:moveTo>
                <a:lnTo>
                  <a:pt x="0" y="1517"/>
                </a:lnTo>
                <a:lnTo>
                  <a:pt x="1248" y="21660"/>
                </a:lnTo>
                <a:cubicBezTo>
                  <a:pt x="4581" y="12959"/>
                  <a:pt x="6667" y="10269"/>
                  <a:pt x="12496" y="4855"/>
                </a:cubicBezTo>
                <a:cubicBezTo>
                  <a:pt x="12472" y="3237"/>
                  <a:pt x="12449" y="1618"/>
                  <a:pt x="12425" y="0"/>
                </a:cubicBezTo>
                <a:close/>
              </a:path>
            </a:pathLst>
          </a:custGeom>
          <a:gradFill>
            <a:gsLst>
              <a:gs pos="0">
                <a:srgbClr val="3C6CDF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2"/>
          <p:cNvSpPr txBox="1"/>
          <p:nvPr>
            <p:ph type="title"/>
          </p:nvPr>
        </p:nvSpPr>
        <p:spPr>
          <a:xfrm>
            <a:off x="825267" y="291947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Services, Layering and Encapsulation</a:t>
            </a:r>
            <a:endParaRPr sz="4400"/>
          </a:p>
        </p:txBody>
      </p:sp>
      <p:sp>
        <p:nvSpPr>
          <p:cNvPr id="153" name="Google Shape;153;p12"/>
          <p:cNvSpPr txBox="1"/>
          <p:nvPr/>
        </p:nvSpPr>
        <p:spPr>
          <a:xfrm>
            <a:off x="449705" y="5724388"/>
            <a:ext cx="110013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None/>
            </a:pPr>
            <a:r>
              <a:rPr b="0" i="1" lang="en-US" sz="2400" u="none" cap="none" strike="noStrik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source</a:t>
            </a:r>
            <a:endParaRPr/>
          </a:p>
        </p:txBody>
      </p:sp>
      <p:sp>
        <p:nvSpPr>
          <p:cNvPr id="154" name="Google Shape;154;p12"/>
          <p:cNvSpPr/>
          <p:nvPr/>
        </p:nvSpPr>
        <p:spPr>
          <a:xfrm rot="10800000">
            <a:off x="975630" y="1559549"/>
            <a:ext cx="450309" cy="4061761"/>
          </a:xfrm>
          <a:custGeom>
            <a:rect b="b" l="l" r="r" t="t"/>
            <a:pathLst>
              <a:path extrusionOk="0" h="21660" w="12496">
                <a:moveTo>
                  <a:pt x="12425" y="0"/>
                </a:moveTo>
                <a:lnTo>
                  <a:pt x="0" y="1517"/>
                </a:lnTo>
                <a:lnTo>
                  <a:pt x="1248" y="21660"/>
                </a:lnTo>
                <a:cubicBezTo>
                  <a:pt x="4581" y="12959"/>
                  <a:pt x="6667" y="10269"/>
                  <a:pt x="12496" y="4855"/>
                </a:cubicBezTo>
                <a:cubicBezTo>
                  <a:pt x="12472" y="3237"/>
                  <a:pt x="12449" y="1618"/>
                  <a:pt x="12425" y="0"/>
                </a:cubicBezTo>
                <a:close/>
              </a:path>
            </a:pathLst>
          </a:custGeom>
          <a:gradFill>
            <a:gsLst>
              <a:gs pos="0">
                <a:srgbClr val="3C6CDF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5" name="Google Shape;155;p12"/>
          <p:cNvGrpSpPr/>
          <p:nvPr/>
        </p:nvGrpSpPr>
        <p:grpSpPr>
          <a:xfrm flipH="1">
            <a:off x="635446" y="5073984"/>
            <a:ext cx="803275" cy="771525"/>
            <a:chOff x="-44" y="1473"/>
            <a:chExt cx="981" cy="1105"/>
          </a:xfrm>
        </p:grpSpPr>
        <p:pic>
          <p:nvPicPr>
            <p:cNvPr descr="desktop_computer_stylized_medium" id="156" name="Google Shape;156;p1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7" name="Google Shape;157;p12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8" name="Google Shape;158;p12"/>
          <p:cNvSpPr txBox="1"/>
          <p:nvPr/>
        </p:nvSpPr>
        <p:spPr>
          <a:xfrm>
            <a:off x="3462727" y="3394795"/>
            <a:ext cx="5831174" cy="2086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95275" lvl="0" marL="2952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transport-layer protocol </a:t>
            </a:r>
            <a:r>
              <a:rPr lang="en-US" sz="2400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encapsulates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application-layer message, M, with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transport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layer-layer header H</a:t>
            </a:r>
            <a:r>
              <a:rPr baseline="-2500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create a transport-layer </a:t>
            </a:r>
            <a:r>
              <a:rPr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segment</a:t>
            </a:r>
            <a:endParaRPr baseline="-25000" sz="24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1775" lvl="1" marL="5746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 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used by transport layer protocol to implement its service</a:t>
            </a:r>
            <a:endParaRPr b="0" baseline="-2500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9" name="Google Shape;159;p12"/>
          <p:cNvGrpSpPr/>
          <p:nvPr/>
        </p:nvGrpSpPr>
        <p:grpSpPr>
          <a:xfrm>
            <a:off x="1334125" y="1421667"/>
            <a:ext cx="1765726" cy="4034752"/>
            <a:chOff x="1484027" y="1706480"/>
            <a:chExt cx="1765726" cy="4034752"/>
          </a:xfrm>
        </p:grpSpPr>
        <p:sp>
          <p:nvSpPr>
            <p:cNvPr id="160" name="Google Shape;160;p12"/>
            <p:cNvSpPr/>
            <p:nvPr/>
          </p:nvSpPr>
          <p:spPr>
            <a:xfrm>
              <a:off x="1528997" y="1870247"/>
              <a:ext cx="1648917" cy="3870985"/>
            </a:xfrm>
            <a:prstGeom prst="rect">
              <a:avLst/>
            </a:prstGeom>
            <a:solidFill>
              <a:schemeClr val="lt1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76200" sx="101000" rotWithShape="0" algn="bl" dir="18900000" dist="38100" sy="1010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" name="Google Shape;161;p12"/>
            <p:cNvSpPr txBox="1"/>
            <p:nvPr/>
          </p:nvSpPr>
          <p:spPr>
            <a:xfrm>
              <a:off x="1484027" y="1706480"/>
              <a:ext cx="1765726" cy="40330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application</a:t>
              </a:r>
              <a:endParaRPr/>
            </a:p>
            <a:p>
              <a:pPr indent="0" lvl="0" marL="0" marR="0" rtl="0" algn="ctr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transport</a:t>
              </a:r>
              <a:endParaRPr/>
            </a:p>
            <a:p>
              <a:pPr indent="0" lvl="0" marL="0" marR="0" rtl="0" algn="ctr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network</a:t>
              </a:r>
              <a:endParaRPr/>
            </a:p>
            <a:p>
              <a:pPr indent="0" lvl="0" marL="0" marR="0" rtl="0" algn="ctr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link</a:t>
              </a:r>
              <a:endParaRPr/>
            </a:p>
            <a:p>
              <a:pPr indent="0" lvl="0" marL="0" marR="0" rtl="0" algn="ctr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physical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62" name="Google Shape;162;p12"/>
            <p:cNvCxnSpPr/>
            <p:nvPr/>
          </p:nvCxnSpPr>
          <p:spPr>
            <a:xfrm>
              <a:off x="1534432" y="2675745"/>
              <a:ext cx="1643483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63" name="Google Shape;163;p12"/>
            <p:cNvCxnSpPr/>
            <p:nvPr/>
          </p:nvCxnSpPr>
          <p:spPr>
            <a:xfrm>
              <a:off x="1506952" y="3472722"/>
              <a:ext cx="1655973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64" name="Google Shape;164;p12"/>
            <p:cNvCxnSpPr/>
            <p:nvPr/>
          </p:nvCxnSpPr>
          <p:spPr>
            <a:xfrm>
              <a:off x="1509450" y="4209737"/>
              <a:ext cx="1668465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65" name="Google Shape;165;p12"/>
            <p:cNvCxnSpPr/>
            <p:nvPr/>
          </p:nvCxnSpPr>
          <p:spPr>
            <a:xfrm>
              <a:off x="1511947" y="4991726"/>
              <a:ext cx="165097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66" name="Google Shape;166;p12"/>
          <p:cNvGrpSpPr/>
          <p:nvPr/>
        </p:nvGrpSpPr>
        <p:grpSpPr>
          <a:xfrm>
            <a:off x="11107713" y="4961744"/>
            <a:ext cx="374754" cy="833726"/>
            <a:chOff x="4140" y="429"/>
            <a:chExt cx="1425" cy="2396"/>
          </a:xfrm>
        </p:grpSpPr>
        <p:sp>
          <p:nvSpPr>
            <p:cNvPr id="167" name="Google Shape;167;p12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" name="Google Shape;168;p12"/>
            <p:cNvSpPr/>
            <p:nvPr/>
          </p:nvSpPr>
          <p:spPr>
            <a:xfrm>
              <a:off x="4210" y="429"/>
              <a:ext cx="1046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" name="Google Shape;169;p12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" name="Google Shape;170;p12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" name="Google Shape;171;p12"/>
            <p:cNvSpPr/>
            <p:nvPr/>
          </p:nvSpPr>
          <p:spPr>
            <a:xfrm>
              <a:off x="4210" y="690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72" name="Google Shape;172;p12"/>
            <p:cNvGrpSpPr/>
            <p:nvPr/>
          </p:nvGrpSpPr>
          <p:grpSpPr>
            <a:xfrm>
              <a:off x="4748" y="666"/>
              <a:ext cx="578" cy="150"/>
              <a:chOff x="613" y="2566"/>
              <a:chExt cx="721" cy="144"/>
            </a:xfrm>
          </p:grpSpPr>
          <p:sp>
            <p:nvSpPr>
              <p:cNvPr id="173" name="Google Shape;173;p12"/>
              <p:cNvSpPr/>
              <p:nvPr/>
            </p:nvSpPr>
            <p:spPr>
              <a:xfrm>
                <a:off x="613" y="2566"/>
                <a:ext cx="721" cy="14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4" name="Google Shape;174;p12"/>
              <p:cNvSpPr/>
              <p:nvPr/>
            </p:nvSpPr>
            <p:spPr>
              <a:xfrm>
                <a:off x="625" y="2581"/>
                <a:ext cx="696" cy="11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5" name="Google Shape;175;p12"/>
            <p:cNvSpPr/>
            <p:nvPr/>
          </p:nvSpPr>
          <p:spPr>
            <a:xfrm>
              <a:off x="4220" y="1022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76" name="Google Shape;176;p12"/>
            <p:cNvGrpSpPr/>
            <p:nvPr/>
          </p:nvGrpSpPr>
          <p:grpSpPr>
            <a:xfrm>
              <a:off x="4748" y="990"/>
              <a:ext cx="578" cy="134"/>
              <a:chOff x="615" y="2564"/>
              <a:chExt cx="721" cy="139"/>
            </a:xfrm>
          </p:grpSpPr>
          <p:sp>
            <p:nvSpPr>
              <p:cNvPr id="177" name="Google Shape;177;p12"/>
              <p:cNvSpPr/>
              <p:nvPr/>
            </p:nvSpPr>
            <p:spPr>
              <a:xfrm>
                <a:off x="615" y="2564"/>
                <a:ext cx="721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8" name="Google Shape;178;p12"/>
              <p:cNvSpPr/>
              <p:nvPr/>
            </p:nvSpPr>
            <p:spPr>
              <a:xfrm>
                <a:off x="628" y="2581"/>
                <a:ext cx="696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9" name="Google Shape;179;p12"/>
            <p:cNvSpPr/>
            <p:nvPr/>
          </p:nvSpPr>
          <p:spPr>
            <a:xfrm>
              <a:off x="4220" y="1354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p12"/>
            <p:cNvSpPr/>
            <p:nvPr/>
          </p:nvSpPr>
          <p:spPr>
            <a:xfrm>
              <a:off x="4230" y="1655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81" name="Google Shape;181;p12"/>
            <p:cNvGrpSpPr/>
            <p:nvPr/>
          </p:nvGrpSpPr>
          <p:grpSpPr>
            <a:xfrm>
              <a:off x="4738" y="1647"/>
              <a:ext cx="578" cy="135"/>
              <a:chOff x="618" y="2586"/>
              <a:chExt cx="720" cy="124"/>
            </a:xfrm>
          </p:grpSpPr>
          <p:sp>
            <p:nvSpPr>
              <p:cNvPr id="182" name="Google Shape;182;p12"/>
              <p:cNvSpPr/>
              <p:nvPr/>
            </p:nvSpPr>
            <p:spPr>
              <a:xfrm>
                <a:off x="618" y="2586"/>
                <a:ext cx="720" cy="12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3" name="Google Shape;183;p12"/>
              <p:cNvSpPr/>
              <p:nvPr/>
            </p:nvSpPr>
            <p:spPr>
              <a:xfrm>
                <a:off x="630" y="2586"/>
                <a:ext cx="695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84" name="Google Shape;184;p12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85" name="Google Shape;185;p12"/>
            <p:cNvGrpSpPr/>
            <p:nvPr/>
          </p:nvGrpSpPr>
          <p:grpSpPr>
            <a:xfrm>
              <a:off x="4738" y="1330"/>
              <a:ext cx="588" cy="134"/>
              <a:chOff x="613" y="2571"/>
              <a:chExt cx="732" cy="134"/>
            </a:xfrm>
          </p:grpSpPr>
          <p:sp>
            <p:nvSpPr>
              <p:cNvPr id="186" name="Google Shape;186;p12"/>
              <p:cNvSpPr/>
              <p:nvPr/>
            </p:nvSpPr>
            <p:spPr>
              <a:xfrm>
                <a:off x="613" y="2571"/>
                <a:ext cx="732" cy="13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7" name="Google Shape;187;p12"/>
              <p:cNvSpPr/>
              <p:nvPr/>
            </p:nvSpPr>
            <p:spPr>
              <a:xfrm>
                <a:off x="625" y="2587"/>
                <a:ext cx="720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88" name="Google Shape;188;p12"/>
            <p:cNvSpPr/>
            <p:nvPr/>
          </p:nvSpPr>
          <p:spPr>
            <a:xfrm>
              <a:off x="5246" y="429"/>
              <a:ext cx="70" cy="2285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12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0" name="Google Shape;190;p12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" name="Google Shape;191;p12"/>
            <p:cNvSpPr/>
            <p:nvPr/>
          </p:nvSpPr>
          <p:spPr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p12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" name="Google Shape;193;p12"/>
            <p:cNvSpPr/>
            <p:nvPr/>
          </p:nvSpPr>
          <p:spPr>
            <a:xfrm>
              <a:off x="4140" y="2675"/>
              <a:ext cx="1196" cy="150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" name="Google Shape;194;p12"/>
            <p:cNvSpPr/>
            <p:nvPr/>
          </p:nvSpPr>
          <p:spPr>
            <a:xfrm>
              <a:off x="4210" y="2714"/>
              <a:ext cx="1066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" name="Google Shape;195;p12"/>
            <p:cNvSpPr/>
            <p:nvPr/>
          </p:nvSpPr>
          <p:spPr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9" name="Google Shape;199;p12"/>
          <p:cNvSpPr txBox="1"/>
          <p:nvPr/>
        </p:nvSpPr>
        <p:spPr>
          <a:xfrm>
            <a:off x="10216734" y="5716780"/>
            <a:ext cx="167545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None/>
            </a:pPr>
            <a:r>
              <a:rPr i="1" lang="en-US" sz="2400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destination</a:t>
            </a:r>
            <a:endParaRPr b="0" i="1" sz="2400" u="none" cap="none" strike="noStrike">
              <a:solidFill>
                <a:srgbClr val="0000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0" name="Google Shape;200;p12"/>
          <p:cNvGrpSpPr/>
          <p:nvPr/>
        </p:nvGrpSpPr>
        <p:grpSpPr>
          <a:xfrm>
            <a:off x="9221450" y="1413548"/>
            <a:ext cx="1765726" cy="4034752"/>
            <a:chOff x="1484027" y="1706480"/>
            <a:chExt cx="1765726" cy="4034752"/>
          </a:xfrm>
        </p:grpSpPr>
        <p:sp>
          <p:nvSpPr>
            <p:cNvPr id="201" name="Google Shape;201;p12"/>
            <p:cNvSpPr/>
            <p:nvPr/>
          </p:nvSpPr>
          <p:spPr>
            <a:xfrm>
              <a:off x="1528997" y="1870247"/>
              <a:ext cx="1648917" cy="3870985"/>
            </a:xfrm>
            <a:prstGeom prst="rect">
              <a:avLst/>
            </a:prstGeom>
            <a:solidFill>
              <a:schemeClr val="lt1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76200" sx="101000" rotWithShape="0" algn="bl" dir="18900000" dist="38100" sy="1010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" name="Google Shape;202;p12"/>
            <p:cNvSpPr txBox="1"/>
            <p:nvPr/>
          </p:nvSpPr>
          <p:spPr>
            <a:xfrm>
              <a:off x="1484027" y="1706480"/>
              <a:ext cx="1765726" cy="40330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application</a:t>
              </a:r>
              <a:endParaRPr/>
            </a:p>
            <a:p>
              <a:pPr indent="0" lvl="0" marL="0" marR="0" rtl="0" algn="ctr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transport</a:t>
              </a:r>
              <a:endParaRPr/>
            </a:p>
            <a:p>
              <a:pPr indent="0" lvl="0" marL="0" marR="0" rtl="0" algn="ctr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network</a:t>
              </a:r>
              <a:endParaRPr/>
            </a:p>
            <a:p>
              <a:pPr indent="0" lvl="0" marL="0" marR="0" rtl="0" algn="ctr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link</a:t>
              </a:r>
              <a:endParaRPr/>
            </a:p>
            <a:p>
              <a:pPr indent="0" lvl="0" marL="0" marR="0" rtl="0" algn="ctr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physical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03" name="Google Shape;203;p12"/>
            <p:cNvCxnSpPr/>
            <p:nvPr/>
          </p:nvCxnSpPr>
          <p:spPr>
            <a:xfrm>
              <a:off x="1534432" y="2675745"/>
              <a:ext cx="1643483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4" name="Google Shape;204;p12"/>
            <p:cNvCxnSpPr/>
            <p:nvPr/>
          </p:nvCxnSpPr>
          <p:spPr>
            <a:xfrm>
              <a:off x="1506952" y="3472722"/>
              <a:ext cx="1655973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5" name="Google Shape;205;p12"/>
            <p:cNvCxnSpPr/>
            <p:nvPr/>
          </p:nvCxnSpPr>
          <p:spPr>
            <a:xfrm>
              <a:off x="1509450" y="4209737"/>
              <a:ext cx="1668465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6" name="Google Shape;206;p12"/>
            <p:cNvCxnSpPr/>
            <p:nvPr/>
          </p:nvCxnSpPr>
          <p:spPr>
            <a:xfrm>
              <a:off x="1511947" y="4991726"/>
              <a:ext cx="165097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207" name="Google Shape;207;p12"/>
          <p:cNvGrpSpPr/>
          <p:nvPr/>
        </p:nvGrpSpPr>
        <p:grpSpPr>
          <a:xfrm>
            <a:off x="3211642" y="2368401"/>
            <a:ext cx="5768716" cy="914472"/>
            <a:chOff x="3211642" y="2368401"/>
            <a:chExt cx="5768716" cy="914472"/>
          </a:xfrm>
        </p:grpSpPr>
        <p:cxnSp>
          <p:nvCxnSpPr>
            <p:cNvPr id="208" name="Google Shape;208;p12"/>
            <p:cNvCxnSpPr/>
            <p:nvPr/>
          </p:nvCxnSpPr>
          <p:spPr>
            <a:xfrm>
              <a:off x="3211642" y="2610788"/>
              <a:ext cx="5651292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sp>
          <p:nvSpPr>
            <p:cNvPr id="209" name="Google Shape;209;p12"/>
            <p:cNvSpPr txBox="1"/>
            <p:nvPr/>
          </p:nvSpPr>
          <p:spPr>
            <a:xfrm>
              <a:off x="3359490" y="2717590"/>
              <a:ext cx="5620868" cy="5652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Transport-layer </a:t>
              </a: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protocol transfers M (e.g., reliably) from one </a:t>
              </a:r>
              <a:r>
                <a:rPr i="1"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process</a:t>
              </a: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to another, using services of network layer</a:t>
              </a:r>
              <a:endParaRPr/>
            </a:p>
          </p:txBody>
        </p:sp>
        <p:sp>
          <p:nvSpPr>
            <p:cNvPr id="210" name="Google Shape;210;p12"/>
            <p:cNvSpPr/>
            <p:nvPr/>
          </p:nvSpPr>
          <p:spPr>
            <a:xfrm>
              <a:off x="5584583" y="2368401"/>
              <a:ext cx="971760" cy="389744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11" name="Google Shape;211;p12"/>
            <p:cNvGrpSpPr/>
            <p:nvPr/>
          </p:nvGrpSpPr>
          <p:grpSpPr>
            <a:xfrm>
              <a:off x="5690803" y="2434313"/>
              <a:ext cx="908050" cy="301625"/>
              <a:chOff x="1848" y="2046"/>
              <a:chExt cx="572" cy="190"/>
            </a:xfrm>
          </p:grpSpPr>
          <p:grpSp>
            <p:nvGrpSpPr>
              <p:cNvPr id="212" name="Google Shape;212;p12"/>
              <p:cNvGrpSpPr/>
              <p:nvPr/>
            </p:nvGrpSpPr>
            <p:grpSpPr>
              <a:xfrm>
                <a:off x="1848" y="2047"/>
                <a:ext cx="187" cy="184"/>
                <a:chOff x="1959" y="2058"/>
                <a:chExt cx="187" cy="184"/>
              </a:xfrm>
            </p:grpSpPr>
            <p:sp>
              <p:nvSpPr>
                <p:cNvPr id="213" name="Google Shape;213;p12"/>
                <p:cNvSpPr/>
                <p:nvPr/>
              </p:nvSpPr>
              <p:spPr>
                <a:xfrm>
                  <a:off x="1964" y="2075"/>
                  <a:ext cx="177" cy="162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4" name="Google Shape;214;p12"/>
                <p:cNvSpPr/>
                <p:nvPr/>
              </p:nvSpPr>
              <p:spPr>
                <a:xfrm>
                  <a:off x="1959" y="2058"/>
                  <a:ext cx="187" cy="18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Noto Sans Symbols"/>
                    <a:buNone/>
                  </a:pPr>
                  <a:r>
                    <a:rPr b="0" i="0" lang="en-US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H</a:t>
                  </a:r>
                  <a:r>
                    <a:rPr b="0" baseline="-2500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t</a:t>
                  </a:r>
                  <a:endParaRPr b="0" baseline="-2500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15" name="Google Shape;215;p12"/>
              <p:cNvGrpSpPr/>
              <p:nvPr/>
            </p:nvGrpSpPr>
            <p:grpSpPr>
              <a:xfrm>
                <a:off x="1992" y="2046"/>
                <a:ext cx="428" cy="190"/>
                <a:chOff x="780" y="1553"/>
                <a:chExt cx="428" cy="190"/>
              </a:xfrm>
            </p:grpSpPr>
            <p:sp>
              <p:nvSpPr>
                <p:cNvPr id="216" name="Google Shape;216;p12"/>
                <p:cNvSpPr/>
                <p:nvPr/>
              </p:nvSpPr>
              <p:spPr>
                <a:xfrm>
                  <a:off x="817" y="1571"/>
                  <a:ext cx="312" cy="162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7" name="Google Shape;217;p12"/>
                <p:cNvSpPr/>
                <p:nvPr/>
              </p:nvSpPr>
              <p:spPr>
                <a:xfrm>
                  <a:off x="780" y="1553"/>
                  <a:ext cx="428" cy="1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Noto Sans Symbols"/>
                    <a:buNone/>
                  </a:pPr>
                  <a:r>
                    <a:rPr b="0" i="0" lang="en-US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M</a:t>
                  </a:r>
                  <a:endParaRPr/>
                </a:p>
              </p:txBody>
            </p:sp>
          </p:grpSp>
        </p:grpSp>
      </p:grpSp>
      <p:sp>
        <p:nvSpPr>
          <p:cNvPr id="218" name="Google Shape;218;p12"/>
          <p:cNvSpPr txBox="1"/>
          <p:nvPr/>
        </p:nvSpPr>
        <p:spPr>
          <a:xfrm>
            <a:off x="3375461" y="1789390"/>
            <a:ext cx="5618811" cy="5652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Application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exchanges </a:t>
            </a:r>
            <a:r>
              <a:rPr lang="en-US" sz="1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messages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 implement some application service using </a:t>
            </a:r>
            <a:r>
              <a:rPr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services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of transport layer</a:t>
            </a:r>
            <a:endParaRPr/>
          </a:p>
        </p:txBody>
      </p:sp>
      <p:grpSp>
        <p:nvGrpSpPr>
          <p:cNvPr id="219" name="Google Shape;219;p12"/>
          <p:cNvGrpSpPr/>
          <p:nvPr/>
        </p:nvGrpSpPr>
        <p:grpSpPr>
          <a:xfrm>
            <a:off x="3254290" y="1489592"/>
            <a:ext cx="5651292" cy="389744"/>
            <a:chOff x="3270354" y="1798823"/>
            <a:chExt cx="5651292" cy="389744"/>
          </a:xfrm>
        </p:grpSpPr>
        <p:cxnSp>
          <p:nvCxnSpPr>
            <p:cNvPr id="220" name="Google Shape;220;p12"/>
            <p:cNvCxnSpPr/>
            <p:nvPr/>
          </p:nvCxnSpPr>
          <p:spPr>
            <a:xfrm>
              <a:off x="3270354" y="1993691"/>
              <a:ext cx="5651292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sp>
          <p:nvSpPr>
            <p:cNvPr id="221" name="Google Shape;221;p12"/>
            <p:cNvSpPr/>
            <p:nvPr/>
          </p:nvSpPr>
          <p:spPr>
            <a:xfrm>
              <a:off x="5878639" y="1798823"/>
              <a:ext cx="674558" cy="389744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22" name="Google Shape;222;p12"/>
            <p:cNvGrpSpPr/>
            <p:nvPr/>
          </p:nvGrpSpPr>
          <p:grpSpPr>
            <a:xfrm>
              <a:off x="5953468" y="1857555"/>
              <a:ext cx="679450" cy="301625"/>
              <a:chOff x="780" y="1553"/>
              <a:chExt cx="428" cy="190"/>
            </a:xfrm>
          </p:grpSpPr>
          <p:sp>
            <p:nvSpPr>
              <p:cNvPr id="223" name="Google Shape;223;p12"/>
              <p:cNvSpPr/>
              <p:nvPr/>
            </p:nvSpPr>
            <p:spPr>
              <a:xfrm>
                <a:off x="817" y="1569"/>
                <a:ext cx="312" cy="162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4" name="Google Shape;224;p12"/>
              <p:cNvSpPr/>
              <p:nvPr/>
            </p:nvSpPr>
            <p:spPr>
              <a:xfrm>
                <a:off x="780" y="1553"/>
                <a:ext cx="428" cy="1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Noto Sans Symbols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M</a:t>
                </a:r>
                <a:endParaRPr/>
              </a:p>
            </p:txBody>
          </p:sp>
        </p:grpSp>
      </p:grpSp>
      <p:sp>
        <p:nvSpPr>
          <p:cNvPr id="225" name="Google Shape;225;p12"/>
          <p:cNvSpPr txBox="1"/>
          <p:nvPr/>
        </p:nvSpPr>
        <p:spPr>
          <a:xfrm>
            <a:off x="6982691" y="-781396"/>
            <a:ext cx="4571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3"/>
          <p:cNvSpPr/>
          <p:nvPr/>
        </p:nvSpPr>
        <p:spPr>
          <a:xfrm flipH="1" rot="10800000">
            <a:off x="10916607" y="1577038"/>
            <a:ext cx="450309" cy="4061761"/>
          </a:xfrm>
          <a:custGeom>
            <a:rect b="b" l="l" r="r" t="t"/>
            <a:pathLst>
              <a:path extrusionOk="0" h="21660" w="12496">
                <a:moveTo>
                  <a:pt x="12425" y="0"/>
                </a:moveTo>
                <a:lnTo>
                  <a:pt x="0" y="1517"/>
                </a:lnTo>
                <a:lnTo>
                  <a:pt x="1248" y="21660"/>
                </a:lnTo>
                <a:cubicBezTo>
                  <a:pt x="4581" y="12959"/>
                  <a:pt x="6667" y="10269"/>
                  <a:pt x="12496" y="4855"/>
                </a:cubicBezTo>
                <a:cubicBezTo>
                  <a:pt x="12472" y="3237"/>
                  <a:pt x="12449" y="1618"/>
                  <a:pt x="12425" y="0"/>
                </a:cubicBezTo>
                <a:close/>
              </a:path>
            </a:pathLst>
          </a:custGeom>
          <a:gradFill>
            <a:gsLst>
              <a:gs pos="0">
                <a:srgbClr val="3C6CDF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3"/>
          <p:cNvSpPr txBox="1"/>
          <p:nvPr>
            <p:ph type="title"/>
          </p:nvPr>
        </p:nvSpPr>
        <p:spPr>
          <a:xfrm>
            <a:off x="825267" y="291947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Services, Layering and Encapsulation</a:t>
            </a:r>
            <a:endParaRPr sz="4400"/>
          </a:p>
        </p:txBody>
      </p:sp>
      <p:sp>
        <p:nvSpPr>
          <p:cNvPr id="233" name="Google Shape;233;p13"/>
          <p:cNvSpPr txBox="1"/>
          <p:nvPr/>
        </p:nvSpPr>
        <p:spPr>
          <a:xfrm>
            <a:off x="449705" y="5724388"/>
            <a:ext cx="110013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None/>
            </a:pPr>
            <a:r>
              <a:rPr b="0" i="1" lang="en-US" sz="2400" u="none" cap="none" strike="noStrik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source</a:t>
            </a:r>
            <a:endParaRPr/>
          </a:p>
        </p:txBody>
      </p:sp>
      <p:sp>
        <p:nvSpPr>
          <p:cNvPr id="234" name="Google Shape;234;p13"/>
          <p:cNvSpPr/>
          <p:nvPr/>
        </p:nvSpPr>
        <p:spPr>
          <a:xfrm rot="10800000">
            <a:off x="975630" y="1559549"/>
            <a:ext cx="450309" cy="4061761"/>
          </a:xfrm>
          <a:custGeom>
            <a:rect b="b" l="l" r="r" t="t"/>
            <a:pathLst>
              <a:path extrusionOk="0" h="21660" w="12496">
                <a:moveTo>
                  <a:pt x="12425" y="0"/>
                </a:moveTo>
                <a:lnTo>
                  <a:pt x="0" y="1517"/>
                </a:lnTo>
                <a:lnTo>
                  <a:pt x="1248" y="21660"/>
                </a:lnTo>
                <a:cubicBezTo>
                  <a:pt x="4581" y="12959"/>
                  <a:pt x="6667" y="10269"/>
                  <a:pt x="12496" y="4855"/>
                </a:cubicBezTo>
                <a:cubicBezTo>
                  <a:pt x="12472" y="3237"/>
                  <a:pt x="12449" y="1618"/>
                  <a:pt x="12425" y="0"/>
                </a:cubicBezTo>
                <a:close/>
              </a:path>
            </a:pathLst>
          </a:custGeom>
          <a:gradFill>
            <a:gsLst>
              <a:gs pos="0">
                <a:srgbClr val="3C6CDF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35" name="Google Shape;235;p13"/>
          <p:cNvGrpSpPr/>
          <p:nvPr/>
        </p:nvGrpSpPr>
        <p:grpSpPr>
          <a:xfrm flipH="1">
            <a:off x="635446" y="5073984"/>
            <a:ext cx="803275" cy="771525"/>
            <a:chOff x="-44" y="1473"/>
            <a:chExt cx="981" cy="1105"/>
          </a:xfrm>
        </p:grpSpPr>
        <p:pic>
          <p:nvPicPr>
            <p:cNvPr descr="desktop_computer_stylized_medium" id="236" name="Google Shape;236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7" name="Google Shape;237;p13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238" name="Google Shape;238;p13"/>
          <p:cNvCxnSpPr/>
          <p:nvPr/>
        </p:nvCxnSpPr>
        <p:spPr>
          <a:xfrm>
            <a:off x="3211642" y="2610788"/>
            <a:ext cx="5651292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sp>
        <p:nvSpPr>
          <p:cNvPr id="239" name="Google Shape;239;p13"/>
          <p:cNvSpPr txBox="1"/>
          <p:nvPr/>
        </p:nvSpPr>
        <p:spPr>
          <a:xfrm>
            <a:off x="3359490" y="2717590"/>
            <a:ext cx="5620868" cy="5652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Transport-layer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protocol transfers M (e.g., reliably) from one </a:t>
            </a:r>
            <a:r>
              <a:rPr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process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 another, using services of network layer</a:t>
            </a:r>
            <a:endParaRPr/>
          </a:p>
        </p:txBody>
      </p:sp>
      <p:sp>
        <p:nvSpPr>
          <p:cNvPr id="240" name="Google Shape;240;p13"/>
          <p:cNvSpPr/>
          <p:nvPr/>
        </p:nvSpPr>
        <p:spPr>
          <a:xfrm>
            <a:off x="5584583" y="2368401"/>
            <a:ext cx="971760" cy="38974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41" name="Google Shape;241;p13"/>
          <p:cNvGrpSpPr/>
          <p:nvPr/>
        </p:nvGrpSpPr>
        <p:grpSpPr>
          <a:xfrm>
            <a:off x="5690803" y="2434313"/>
            <a:ext cx="908050" cy="301625"/>
            <a:chOff x="1848" y="2046"/>
            <a:chExt cx="572" cy="190"/>
          </a:xfrm>
        </p:grpSpPr>
        <p:grpSp>
          <p:nvGrpSpPr>
            <p:cNvPr id="242" name="Google Shape;242;p13"/>
            <p:cNvGrpSpPr/>
            <p:nvPr/>
          </p:nvGrpSpPr>
          <p:grpSpPr>
            <a:xfrm>
              <a:off x="1848" y="2047"/>
              <a:ext cx="187" cy="184"/>
              <a:chOff x="1959" y="2058"/>
              <a:chExt cx="187" cy="184"/>
            </a:xfrm>
          </p:grpSpPr>
          <p:sp>
            <p:nvSpPr>
              <p:cNvPr id="243" name="Google Shape;243;p13"/>
              <p:cNvSpPr/>
              <p:nvPr/>
            </p:nvSpPr>
            <p:spPr>
              <a:xfrm>
                <a:off x="1964" y="2075"/>
                <a:ext cx="177" cy="162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4" name="Google Shape;244;p13"/>
              <p:cNvSpPr/>
              <p:nvPr/>
            </p:nvSpPr>
            <p:spPr>
              <a:xfrm>
                <a:off x="1959" y="2058"/>
                <a:ext cx="187" cy="18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Noto Sans Symbols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H</a:t>
                </a:r>
                <a:r>
                  <a:rPr b="0" baseline="-2500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t</a:t>
                </a:r>
                <a:endParaRPr b="0" baseline="-2500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45" name="Google Shape;245;p13"/>
            <p:cNvGrpSpPr/>
            <p:nvPr/>
          </p:nvGrpSpPr>
          <p:grpSpPr>
            <a:xfrm>
              <a:off x="1992" y="2046"/>
              <a:ext cx="428" cy="190"/>
              <a:chOff x="780" y="1553"/>
              <a:chExt cx="428" cy="190"/>
            </a:xfrm>
          </p:grpSpPr>
          <p:sp>
            <p:nvSpPr>
              <p:cNvPr id="246" name="Google Shape;246;p13"/>
              <p:cNvSpPr/>
              <p:nvPr/>
            </p:nvSpPr>
            <p:spPr>
              <a:xfrm>
                <a:off x="817" y="1571"/>
                <a:ext cx="312" cy="162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7" name="Google Shape;247;p13"/>
              <p:cNvSpPr/>
              <p:nvPr/>
            </p:nvSpPr>
            <p:spPr>
              <a:xfrm>
                <a:off x="780" y="1553"/>
                <a:ext cx="428" cy="1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Noto Sans Symbols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M</a:t>
                </a:r>
                <a:endParaRPr/>
              </a:p>
            </p:txBody>
          </p:sp>
        </p:grpSp>
      </p:grpSp>
      <p:sp>
        <p:nvSpPr>
          <p:cNvPr id="248" name="Google Shape;248;p13"/>
          <p:cNvSpPr txBox="1"/>
          <p:nvPr/>
        </p:nvSpPr>
        <p:spPr>
          <a:xfrm>
            <a:off x="3462727" y="4339175"/>
            <a:ext cx="5831174" cy="2086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95275" lvl="0" marL="2952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network-layer protocol </a:t>
            </a:r>
            <a:r>
              <a:rPr lang="en-US" sz="2400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encapsulates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transport-layer segment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[H</a:t>
            </a:r>
            <a:r>
              <a:rPr baseline="-25000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| M]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with network layer-layer header H</a:t>
            </a:r>
            <a:r>
              <a:rPr baseline="-2500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 create a network-layer </a:t>
            </a:r>
            <a:r>
              <a:rPr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datagram </a:t>
            </a:r>
            <a:endParaRPr/>
          </a:p>
          <a:p>
            <a:pPr indent="-231775" lvl="1" marL="5746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 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used by network layer protocol to implement its service</a:t>
            </a:r>
            <a:endParaRPr b="0" baseline="-2500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49" name="Google Shape;249;p13"/>
          <p:cNvGrpSpPr/>
          <p:nvPr/>
        </p:nvGrpSpPr>
        <p:grpSpPr>
          <a:xfrm>
            <a:off x="1334125" y="1421667"/>
            <a:ext cx="1765726" cy="4034752"/>
            <a:chOff x="1484027" y="1706480"/>
            <a:chExt cx="1765726" cy="4034752"/>
          </a:xfrm>
        </p:grpSpPr>
        <p:sp>
          <p:nvSpPr>
            <p:cNvPr id="250" name="Google Shape;250;p13"/>
            <p:cNvSpPr/>
            <p:nvPr/>
          </p:nvSpPr>
          <p:spPr>
            <a:xfrm>
              <a:off x="1528997" y="1870247"/>
              <a:ext cx="1648917" cy="3870985"/>
            </a:xfrm>
            <a:prstGeom prst="rect">
              <a:avLst/>
            </a:prstGeom>
            <a:solidFill>
              <a:schemeClr val="lt1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76200" sx="101000" rotWithShape="0" algn="bl" dir="18900000" dist="38100" sy="1010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" name="Google Shape;251;p13"/>
            <p:cNvSpPr txBox="1"/>
            <p:nvPr/>
          </p:nvSpPr>
          <p:spPr>
            <a:xfrm>
              <a:off x="1484027" y="1706480"/>
              <a:ext cx="1765726" cy="40330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application</a:t>
              </a:r>
              <a:endParaRPr/>
            </a:p>
            <a:p>
              <a:pPr indent="0" lvl="0" marL="0" marR="0" rtl="0" algn="ctr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transport</a:t>
              </a:r>
              <a:endParaRPr/>
            </a:p>
            <a:p>
              <a:pPr indent="0" lvl="0" marL="0" marR="0" rtl="0" algn="ctr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network</a:t>
              </a:r>
              <a:endParaRPr/>
            </a:p>
            <a:p>
              <a:pPr indent="0" lvl="0" marL="0" marR="0" rtl="0" algn="ctr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link</a:t>
              </a:r>
              <a:endParaRPr/>
            </a:p>
            <a:p>
              <a:pPr indent="0" lvl="0" marL="0" marR="0" rtl="0" algn="ctr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physical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52" name="Google Shape;252;p13"/>
            <p:cNvCxnSpPr/>
            <p:nvPr/>
          </p:nvCxnSpPr>
          <p:spPr>
            <a:xfrm>
              <a:off x="1534432" y="2675745"/>
              <a:ext cx="1643483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53" name="Google Shape;253;p13"/>
            <p:cNvCxnSpPr/>
            <p:nvPr/>
          </p:nvCxnSpPr>
          <p:spPr>
            <a:xfrm>
              <a:off x="1506952" y="3472722"/>
              <a:ext cx="1655973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54" name="Google Shape;254;p13"/>
            <p:cNvCxnSpPr/>
            <p:nvPr/>
          </p:nvCxnSpPr>
          <p:spPr>
            <a:xfrm>
              <a:off x="1509450" y="4209737"/>
              <a:ext cx="1668465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55" name="Google Shape;255;p13"/>
            <p:cNvCxnSpPr/>
            <p:nvPr/>
          </p:nvCxnSpPr>
          <p:spPr>
            <a:xfrm>
              <a:off x="1511947" y="4991726"/>
              <a:ext cx="165097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256" name="Google Shape;256;p13"/>
          <p:cNvGrpSpPr/>
          <p:nvPr/>
        </p:nvGrpSpPr>
        <p:grpSpPr>
          <a:xfrm>
            <a:off x="11107713" y="4961744"/>
            <a:ext cx="374754" cy="833726"/>
            <a:chOff x="4140" y="429"/>
            <a:chExt cx="1425" cy="2396"/>
          </a:xfrm>
        </p:grpSpPr>
        <p:sp>
          <p:nvSpPr>
            <p:cNvPr id="257" name="Google Shape;257;p13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8" name="Google Shape;258;p13"/>
            <p:cNvSpPr/>
            <p:nvPr/>
          </p:nvSpPr>
          <p:spPr>
            <a:xfrm>
              <a:off x="4210" y="429"/>
              <a:ext cx="1046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" name="Google Shape;259;p13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" name="Google Shape;260;p13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" name="Google Shape;261;p13"/>
            <p:cNvSpPr/>
            <p:nvPr/>
          </p:nvSpPr>
          <p:spPr>
            <a:xfrm>
              <a:off x="4210" y="690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62" name="Google Shape;262;p13"/>
            <p:cNvGrpSpPr/>
            <p:nvPr/>
          </p:nvGrpSpPr>
          <p:grpSpPr>
            <a:xfrm>
              <a:off x="4748" y="666"/>
              <a:ext cx="578" cy="150"/>
              <a:chOff x="613" y="2566"/>
              <a:chExt cx="721" cy="144"/>
            </a:xfrm>
          </p:grpSpPr>
          <p:sp>
            <p:nvSpPr>
              <p:cNvPr id="263" name="Google Shape;263;p13"/>
              <p:cNvSpPr/>
              <p:nvPr/>
            </p:nvSpPr>
            <p:spPr>
              <a:xfrm>
                <a:off x="613" y="2566"/>
                <a:ext cx="721" cy="14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4" name="Google Shape;264;p13"/>
              <p:cNvSpPr/>
              <p:nvPr/>
            </p:nvSpPr>
            <p:spPr>
              <a:xfrm>
                <a:off x="625" y="2581"/>
                <a:ext cx="696" cy="11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65" name="Google Shape;265;p13"/>
            <p:cNvSpPr/>
            <p:nvPr/>
          </p:nvSpPr>
          <p:spPr>
            <a:xfrm>
              <a:off x="4220" y="1022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66" name="Google Shape;266;p13"/>
            <p:cNvGrpSpPr/>
            <p:nvPr/>
          </p:nvGrpSpPr>
          <p:grpSpPr>
            <a:xfrm>
              <a:off x="4748" y="990"/>
              <a:ext cx="578" cy="134"/>
              <a:chOff x="615" y="2564"/>
              <a:chExt cx="721" cy="139"/>
            </a:xfrm>
          </p:grpSpPr>
          <p:sp>
            <p:nvSpPr>
              <p:cNvPr id="267" name="Google Shape;267;p13"/>
              <p:cNvSpPr/>
              <p:nvPr/>
            </p:nvSpPr>
            <p:spPr>
              <a:xfrm>
                <a:off x="615" y="2564"/>
                <a:ext cx="721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8" name="Google Shape;268;p13"/>
              <p:cNvSpPr/>
              <p:nvPr/>
            </p:nvSpPr>
            <p:spPr>
              <a:xfrm>
                <a:off x="628" y="2581"/>
                <a:ext cx="696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69" name="Google Shape;269;p13"/>
            <p:cNvSpPr/>
            <p:nvPr/>
          </p:nvSpPr>
          <p:spPr>
            <a:xfrm>
              <a:off x="4220" y="1354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" name="Google Shape;270;p13"/>
            <p:cNvSpPr/>
            <p:nvPr/>
          </p:nvSpPr>
          <p:spPr>
            <a:xfrm>
              <a:off x="4230" y="1655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71" name="Google Shape;271;p13"/>
            <p:cNvGrpSpPr/>
            <p:nvPr/>
          </p:nvGrpSpPr>
          <p:grpSpPr>
            <a:xfrm>
              <a:off x="4738" y="1647"/>
              <a:ext cx="578" cy="135"/>
              <a:chOff x="618" y="2586"/>
              <a:chExt cx="720" cy="124"/>
            </a:xfrm>
          </p:grpSpPr>
          <p:sp>
            <p:nvSpPr>
              <p:cNvPr id="272" name="Google Shape;272;p13"/>
              <p:cNvSpPr/>
              <p:nvPr/>
            </p:nvSpPr>
            <p:spPr>
              <a:xfrm>
                <a:off x="618" y="2586"/>
                <a:ext cx="720" cy="12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3" name="Google Shape;273;p13"/>
              <p:cNvSpPr/>
              <p:nvPr/>
            </p:nvSpPr>
            <p:spPr>
              <a:xfrm>
                <a:off x="630" y="2586"/>
                <a:ext cx="695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74" name="Google Shape;274;p13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75" name="Google Shape;275;p13"/>
            <p:cNvGrpSpPr/>
            <p:nvPr/>
          </p:nvGrpSpPr>
          <p:grpSpPr>
            <a:xfrm>
              <a:off x="4738" y="1330"/>
              <a:ext cx="588" cy="134"/>
              <a:chOff x="613" y="2571"/>
              <a:chExt cx="732" cy="134"/>
            </a:xfrm>
          </p:grpSpPr>
          <p:sp>
            <p:nvSpPr>
              <p:cNvPr id="276" name="Google Shape;276;p13"/>
              <p:cNvSpPr/>
              <p:nvPr/>
            </p:nvSpPr>
            <p:spPr>
              <a:xfrm>
                <a:off x="613" y="2571"/>
                <a:ext cx="732" cy="13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7" name="Google Shape;277;p13"/>
              <p:cNvSpPr/>
              <p:nvPr/>
            </p:nvSpPr>
            <p:spPr>
              <a:xfrm>
                <a:off x="625" y="2587"/>
                <a:ext cx="720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78" name="Google Shape;278;p13"/>
            <p:cNvSpPr/>
            <p:nvPr/>
          </p:nvSpPr>
          <p:spPr>
            <a:xfrm>
              <a:off x="5246" y="429"/>
              <a:ext cx="70" cy="2285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" name="Google Shape;279;p13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0" name="Google Shape;280;p13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1" name="Google Shape;281;p13"/>
            <p:cNvSpPr/>
            <p:nvPr/>
          </p:nvSpPr>
          <p:spPr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" name="Google Shape;282;p13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3" name="Google Shape;283;p13"/>
            <p:cNvSpPr/>
            <p:nvPr/>
          </p:nvSpPr>
          <p:spPr>
            <a:xfrm>
              <a:off x="4140" y="2675"/>
              <a:ext cx="1196" cy="150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" name="Google Shape;284;p13"/>
            <p:cNvSpPr/>
            <p:nvPr/>
          </p:nvSpPr>
          <p:spPr>
            <a:xfrm>
              <a:off x="4210" y="2714"/>
              <a:ext cx="1066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" name="Google Shape;285;p13"/>
            <p:cNvSpPr/>
            <p:nvPr/>
          </p:nvSpPr>
          <p:spPr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" name="Google Shape;286;p13"/>
            <p:cNvSpPr/>
            <p:nvPr/>
          </p:nvSpPr>
          <p:spPr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" name="Google Shape;287;p13"/>
            <p:cNvSpPr/>
            <p:nvPr/>
          </p:nvSpPr>
          <p:spPr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" name="Google Shape;288;p13"/>
            <p:cNvSpPr/>
            <p:nvPr/>
          </p:nvSpPr>
          <p:spPr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89" name="Google Shape;289;p13"/>
          <p:cNvSpPr txBox="1"/>
          <p:nvPr/>
        </p:nvSpPr>
        <p:spPr>
          <a:xfrm>
            <a:off x="10216734" y="5716780"/>
            <a:ext cx="167545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None/>
            </a:pPr>
            <a:r>
              <a:rPr i="1" lang="en-US" sz="2400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destination</a:t>
            </a:r>
            <a:endParaRPr b="0" i="1" sz="2400" u="none" cap="none" strike="noStrike">
              <a:solidFill>
                <a:srgbClr val="0000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90" name="Google Shape;290;p13"/>
          <p:cNvGrpSpPr/>
          <p:nvPr/>
        </p:nvGrpSpPr>
        <p:grpSpPr>
          <a:xfrm>
            <a:off x="3254290" y="1489592"/>
            <a:ext cx="5651292" cy="389744"/>
            <a:chOff x="3270354" y="1798823"/>
            <a:chExt cx="5651292" cy="389744"/>
          </a:xfrm>
        </p:grpSpPr>
        <p:cxnSp>
          <p:nvCxnSpPr>
            <p:cNvPr id="291" name="Google Shape;291;p13"/>
            <p:cNvCxnSpPr/>
            <p:nvPr/>
          </p:nvCxnSpPr>
          <p:spPr>
            <a:xfrm>
              <a:off x="3270354" y="1993691"/>
              <a:ext cx="5651292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sp>
          <p:nvSpPr>
            <p:cNvPr id="292" name="Google Shape;292;p13"/>
            <p:cNvSpPr/>
            <p:nvPr/>
          </p:nvSpPr>
          <p:spPr>
            <a:xfrm>
              <a:off x="5878639" y="1798823"/>
              <a:ext cx="674558" cy="389744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93" name="Google Shape;293;p13"/>
            <p:cNvGrpSpPr/>
            <p:nvPr/>
          </p:nvGrpSpPr>
          <p:grpSpPr>
            <a:xfrm>
              <a:off x="5953468" y="1857555"/>
              <a:ext cx="679450" cy="301625"/>
              <a:chOff x="780" y="1553"/>
              <a:chExt cx="428" cy="190"/>
            </a:xfrm>
          </p:grpSpPr>
          <p:sp>
            <p:nvSpPr>
              <p:cNvPr id="294" name="Google Shape;294;p13"/>
              <p:cNvSpPr/>
              <p:nvPr/>
            </p:nvSpPr>
            <p:spPr>
              <a:xfrm>
                <a:off x="817" y="1569"/>
                <a:ext cx="312" cy="162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5" name="Google Shape;295;p13"/>
              <p:cNvSpPr/>
              <p:nvPr/>
            </p:nvSpPr>
            <p:spPr>
              <a:xfrm>
                <a:off x="780" y="1553"/>
                <a:ext cx="428" cy="1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Noto Sans Symbols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M</a:t>
                </a:r>
                <a:endParaRPr/>
              </a:p>
            </p:txBody>
          </p:sp>
        </p:grpSp>
      </p:grpSp>
      <p:grpSp>
        <p:nvGrpSpPr>
          <p:cNvPr id="296" name="Google Shape;296;p13"/>
          <p:cNvGrpSpPr/>
          <p:nvPr/>
        </p:nvGrpSpPr>
        <p:grpSpPr>
          <a:xfrm>
            <a:off x="9221450" y="1413548"/>
            <a:ext cx="1765726" cy="4034752"/>
            <a:chOff x="1484027" y="1706480"/>
            <a:chExt cx="1765726" cy="4034752"/>
          </a:xfrm>
        </p:grpSpPr>
        <p:sp>
          <p:nvSpPr>
            <p:cNvPr id="297" name="Google Shape;297;p13"/>
            <p:cNvSpPr/>
            <p:nvPr/>
          </p:nvSpPr>
          <p:spPr>
            <a:xfrm>
              <a:off x="1528997" y="1870247"/>
              <a:ext cx="1648917" cy="3870985"/>
            </a:xfrm>
            <a:prstGeom prst="rect">
              <a:avLst/>
            </a:prstGeom>
            <a:solidFill>
              <a:schemeClr val="lt1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76200" sx="101000" rotWithShape="0" algn="bl" dir="18900000" dist="38100" sy="1010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" name="Google Shape;298;p13"/>
            <p:cNvSpPr txBox="1"/>
            <p:nvPr/>
          </p:nvSpPr>
          <p:spPr>
            <a:xfrm>
              <a:off x="1484027" y="1706480"/>
              <a:ext cx="1765726" cy="40330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application</a:t>
              </a:r>
              <a:endParaRPr/>
            </a:p>
            <a:p>
              <a:pPr indent="0" lvl="0" marL="0" marR="0" rtl="0" algn="ctr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transport</a:t>
              </a:r>
              <a:endParaRPr/>
            </a:p>
            <a:p>
              <a:pPr indent="0" lvl="0" marL="0" marR="0" rtl="0" algn="ctr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network</a:t>
              </a:r>
              <a:endParaRPr/>
            </a:p>
            <a:p>
              <a:pPr indent="0" lvl="0" marL="0" marR="0" rtl="0" algn="ctr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link</a:t>
              </a:r>
              <a:endParaRPr/>
            </a:p>
            <a:p>
              <a:pPr indent="0" lvl="0" marL="0" marR="0" rtl="0" algn="ctr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physical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99" name="Google Shape;299;p13"/>
            <p:cNvCxnSpPr/>
            <p:nvPr/>
          </p:nvCxnSpPr>
          <p:spPr>
            <a:xfrm>
              <a:off x="1534432" y="2675745"/>
              <a:ext cx="1643483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00" name="Google Shape;300;p13"/>
            <p:cNvCxnSpPr/>
            <p:nvPr/>
          </p:nvCxnSpPr>
          <p:spPr>
            <a:xfrm>
              <a:off x="1506952" y="3472722"/>
              <a:ext cx="1655973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01" name="Google Shape;301;p13"/>
            <p:cNvCxnSpPr/>
            <p:nvPr/>
          </p:nvCxnSpPr>
          <p:spPr>
            <a:xfrm>
              <a:off x="1509450" y="4209737"/>
              <a:ext cx="1668465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02" name="Google Shape;302;p13"/>
            <p:cNvCxnSpPr/>
            <p:nvPr/>
          </p:nvCxnSpPr>
          <p:spPr>
            <a:xfrm>
              <a:off x="1511947" y="4991726"/>
              <a:ext cx="165097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303" name="Google Shape;303;p13"/>
          <p:cNvGrpSpPr/>
          <p:nvPr/>
        </p:nvGrpSpPr>
        <p:grpSpPr>
          <a:xfrm>
            <a:off x="3211642" y="3319499"/>
            <a:ext cx="5882482" cy="895263"/>
            <a:chOff x="3211642" y="3319499"/>
            <a:chExt cx="5882482" cy="895263"/>
          </a:xfrm>
        </p:grpSpPr>
        <p:cxnSp>
          <p:nvCxnSpPr>
            <p:cNvPr id="304" name="Google Shape;304;p13"/>
            <p:cNvCxnSpPr/>
            <p:nvPr/>
          </p:nvCxnSpPr>
          <p:spPr>
            <a:xfrm>
              <a:off x="3211642" y="3542677"/>
              <a:ext cx="5651292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sp>
          <p:nvSpPr>
            <p:cNvPr id="305" name="Google Shape;305;p13"/>
            <p:cNvSpPr/>
            <p:nvPr/>
          </p:nvSpPr>
          <p:spPr>
            <a:xfrm>
              <a:off x="5356172" y="3319499"/>
              <a:ext cx="1210365" cy="389744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06" name="Google Shape;306;p13"/>
            <p:cNvGrpSpPr/>
            <p:nvPr/>
          </p:nvGrpSpPr>
          <p:grpSpPr>
            <a:xfrm>
              <a:off x="5418625" y="3360607"/>
              <a:ext cx="1058375" cy="307296"/>
              <a:chOff x="5509436" y="3287899"/>
              <a:chExt cx="1058375" cy="307296"/>
            </a:xfrm>
          </p:grpSpPr>
          <p:grpSp>
            <p:nvGrpSpPr>
              <p:cNvPr id="307" name="Google Shape;307;p13"/>
              <p:cNvGrpSpPr/>
              <p:nvPr/>
            </p:nvGrpSpPr>
            <p:grpSpPr>
              <a:xfrm>
                <a:off x="5510535" y="3293570"/>
                <a:ext cx="1057276" cy="301625"/>
                <a:chOff x="469" y="1531"/>
                <a:chExt cx="666" cy="190"/>
              </a:xfrm>
            </p:grpSpPr>
            <p:sp>
              <p:nvSpPr>
                <p:cNvPr id="308" name="Google Shape;308;p13"/>
                <p:cNvSpPr/>
                <p:nvPr/>
              </p:nvSpPr>
              <p:spPr>
                <a:xfrm>
                  <a:off x="469" y="1549"/>
                  <a:ext cx="666" cy="162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9" name="Google Shape;309;p13"/>
                <p:cNvSpPr/>
                <p:nvPr/>
              </p:nvSpPr>
              <p:spPr>
                <a:xfrm>
                  <a:off x="873" y="1531"/>
                  <a:ext cx="239" cy="1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Noto Sans Symbols"/>
                    <a:buNone/>
                  </a:pPr>
                  <a:r>
                    <a:rPr b="0" i="0" lang="en-US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M</a:t>
                  </a:r>
                  <a:endParaRPr/>
                </a:p>
              </p:txBody>
            </p:sp>
          </p:grpSp>
          <p:sp>
            <p:nvSpPr>
              <p:cNvPr id="310" name="Google Shape;310;p13"/>
              <p:cNvSpPr/>
              <p:nvPr/>
            </p:nvSpPr>
            <p:spPr>
              <a:xfrm>
                <a:off x="5771740" y="3305237"/>
                <a:ext cx="296863" cy="2619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Noto Sans Symbols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H</a:t>
                </a:r>
                <a:r>
                  <a:rPr b="0" baseline="-2500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t</a:t>
                </a:r>
                <a:endParaRPr b="0" baseline="-2500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1" name="Google Shape;311;p13"/>
              <p:cNvSpPr/>
              <p:nvPr/>
            </p:nvSpPr>
            <p:spPr>
              <a:xfrm>
                <a:off x="5509436" y="3287899"/>
                <a:ext cx="296863" cy="292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Noto Sans Symbols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H</a:t>
                </a:r>
                <a:r>
                  <a:rPr b="0" baseline="-2500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</a:t>
                </a:r>
                <a:endParaRPr b="0" baseline="-2500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312" name="Google Shape;312;p13"/>
              <p:cNvCxnSpPr/>
              <p:nvPr/>
            </p:nvCxnSpPr>
            <p:spPr>
              <a:xfrm>
                <a:off x="6076877" y="3322145"/>
                <a:ext cx="0" cy="25717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13" name="Google Shape;313;p13"/>
              <p:cNvCxnSpPr/>
              <p:nvPr/>
            </p:nvCxnSpPr>
            <p:spPr>
              <a:xfrm>
                <a:off x="5796378" y="3320433"/>
                <a:ext cx="0" cy="25717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sp>
          <p:nvSpPr>
            <p:cNvPr id="314" name="Google Shape;314;p13"/>
            <p:cNvSpPr txBox="1"/>
            <p:nvPr/>
          </p:nvSpPr>
          <p:spPr>
            <a:xfrm>
              <a:off x="3359490" y="3649479"/>
              <a:ext cx="5734634" cy="5652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Network-layer </a:t>
              </a: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protocol transfers transport-layer segment [H</a:t>
              </a:r>
              <a:r>
                <a:rPr baseline="-25000"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</a:t>
              </a: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| M] from one </a:t>
              </a:r>
              <a:r>
                <a:rPr i="1"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host</a:t>
              </a: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to another, using link layer services</a:t>
              </a:r>
              <a:endParaRPr/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4"/>
          <p:cNvSpPr/>
          <p:nvPr/>
        </p:nvSpPr>
        <p:spPr>
          <a:xfrm flipH="1" rot="10800000">
            <a:off x="10916607" y="1577038"/>
            <a:ext cx="450309" cy="4061761"/>
          </a:xfrm>
          <a:custGeom>
            <a:rect b="b" l="l" r="r" t="t"/>
            <a:pathLst>
              <a:path extrusionOk="0" h="21660" w="12496">
                <a:moveTo>
                  <a:pt x="12425" y="0"/>
                </a:moveTo>
                <a:lnTo>
                  <a:pt x="0" y="1517"/>
                </a:lnTo>
                <a:lnTo>
                  <a:pt x="1248" y="21660"/>
                </a:lnTo>
                <a:cubicBezTo>
                  <a:pt x="4581" y="12959"/>
                  <a:pt x="6667" y="10269"/>
                  <a:pt x="12496" y="4855"/>
                </a:cubicBezTo>
                <a:cubicBezTo>
                  <a:pt x="12472" y="3237"/>
                  <a:pt x="12449" y="1618"/>
                  <a:pt x="12425" y="0"/>
                </a:cubicBezTo>
                <a:close/>
              </a:path>
            </a:pathLst>
          </a:custGeom>
          <a:gradFill>
            <a:gsLst>
              <a:gs pos="0">
                <a:srgbClr val="3C6CDF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4"/>
          <p:cNvSpPr txBox="1"/>
          <p:nvPr>
            <p:ph type="title"/>
          </p:nvPr>
        </p:nvSpPr>
        <p:spPr>
          <a:xfrm>
            <a:off x="825267" y="291947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Services, Layering and Encapsulation</a:t>
            </a:r>
            <a:endParaRPr sz="4400"/>
          </a:p>
        </p:txBody>
      </p:sp>
      <p:sp>
        <p:nvSpPr>
          <p:cNvPr id="322" name="Google Shape;322;p14"/>
          <p:cNvSpPr txBox="1"/>
          <p:nvPr/>
        </p:nvSpPr>
        <p:spPr>
          <a:xfrm>
            <a:off x="449705" y="5724388"/>
            <a:ext cx="110013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None/>
            </a:pPr>
            <a:r>
              <a:rPr b="0" i="1" lang="en-US" sz="2400" u="none" cap="none" strike="noStrik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source</a:t>
            </a:r>
            <a:endParaRPr/>
          </a:p>
        </p:txBody>
      </p:sp>
      <p:sp>
        <p:nvSpPr>
          <p:cNvPr id="323" name="Google Shape;323;p14"/>
          <p:cNvSpPr/>
          <p:nvPr/>
        </p:nvSpPr>
        <p:spPr>
          <a:xfrm rot="10800000">
            <a:off x="975630" y="1559549"/>
            <a:ext cx="450309" cy="4061761"/>
          </a:xfrm>
          <a:custGeom>
            <a:rect b="b" l="l" r="r" t="t"/>
            <a:pathLst>
              <a:path extrusionOk="0" h="21660" w="12496">
                <a:moveTo>
                  <a:pt x="12425" y="0"/>
                </a:moveTo>
                <a:lnTo>
                  <a:pt x="0" y="1517"/>
                </a:lnTo>
                <a:lnTo>
                  <a:pt x="1248" y="21660"/>
                </a:lnTo>
                <a:cubicBezTo>
                  <a:pt x="4581" y="12959"/>
                  <a:pt x="6667" y="10269"/>
                  <a:pt x="12496" y="4855"/>
                </a:cubicBezTo>
                <a:cubicBezTo>
                  <a:pt x="12472" y="3237"/>
                  <a:pt x="12449" y="1618"/>
                  <a:pt x="12425" y="0"/>
                </a:cubicBezTo>
                <a:close/>
              </a:path>
            </a:pathLst>
          </a:custGeom>
          <a:gradFill>
            <a:gsLst>
              <a:gs pos="0">
                <a:srgbClr val="3C6CDF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24" name="Google Shape;324;p14"/>
          <p:cNvGrpSpPr/>
          <p:nvPr/>
        </p:nvGrpSpPr>
        <p:grpSpPr>
          <a:xfrm flipH="1">
            <a:off x="635446" y="5073984"/>
            <a:ext cx="803275" cy="771525"/>
            <a:chOff x="-44" y="1473"/>
            <a:chExt cx="981" cy="1105"/>
          </a:xfrm>
        </p:grpSpPr>
        <p:pic>
          <p:nvPicPr>
            <p:cNvPr descr="desktop_computer_stylized_medium" id="325" name="Google Shape;325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14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327" name="Google Shape;327;p14"/>
          <p:cNvCxnSpPr/>
          <p:nvPr/>
        </p:nvCxnSpPr>
        <p:spPr>
          <a:xfrm>
            <a:off x="3211642" y="2610788"/>
            <a:ext cx="5651292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sp>
        <p:nvSpPr>
          <p:cNvPr id="328" name="Google Shape;328;p14"/>
          <p:cNvSpPr/>
          <p:nvPr/>
        </p:nvSpPr>
        <p:spPr>
          <a:xfrm>
            <a:off x="5584583" y="2368401"/>
            <a:ext cx="971760" cy="38974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29" name="Google Shape;329;p14"/>
          <p:cNvGrpSpPr/>
          <p:nvPr/>
        </p:nvGrpSpPr>
        <p:grpSpPr>
          <a:xfrm>
            <a:off x="5690803" y="2434313"/>
            <a:ext cx="908050" cy="301625"/>
            <a:chOff x="1848" y="2046"/>
            <a:chExt cx="572" cy="190"/>
          </a:xfrm>
        </p:grpSpPr>
        <p:grpSp>
          <p:nvGrpSpPr>
            <p:cNvPr id="330" name="Google Shape;330;p14"/>
            <p:cNvGrpSpPr/>
            <p:nvPr/>
          </p:nvGrpSpPr>
          <p:grpSpPr>
            <a:xfrm>
              <a:off x="1848" y="2047"/>
              <a:ext cx="187" cy="184"/>
              <a:chOff x="1959" y="2058"/>
              <a:chExt cx="187" cy="184"/>
            </a:xfrm>
          </p:grpSpPr>
          <p:sp>
            <p:nvSpPr>
              <p:cNvPr id="331" name="Google Shape;331;p14"/>
              <p:cNvSpPr/>
              <p:nvPr/>
            </p:nvSpPr>
            <p:spPr>
              <a:xfrm>
                <a:off x="1964" y="2075"/>
                <a:ext cx="177" cy="162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2" name="Google Shape;332;p14"/>
              <p:cNvSpPr/>
              <p:nvPr/>
            </p:nvSpPr>
            <p:spPr>
              <a:xfrm>
                <a:off x="1959" y="2058"/>
                <a:ext cx="187" cy="18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Noto Sans Symbols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H</a:t>
                </a:r>
                <a:r>
                  <a:rPr b="0" baseline="-2500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t</a:t>
                </a:r>
                <a:endParaRPr b="0" baseline="-2500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33" name="Google Shape;333;p14"/>
            <p:cNvGrpSpPr/>
            <p:nvPr/>
          </p:nvGrpSpPr>
          <p:grpSpPr>
            <a:xfrm>
              <a:off x="1992" y="2046"/>
              <a:ext cx="428" cy="190"/>
              <a:chOff x="780" y="1553"/>
              <a:chExt cx="428" cy="190"/>
            </a:xfrm>
          </p:grpSpPr>
          <p:sp>
            <p:nvSpPr>
              <p:cNvPr id="334" name="Google Shape;334;p14"/>
              <p:cNvSpPr/>
              <p:nvPr/>
            </p:nvSpPr>
            <p:spPr>
              <a:xfrm>
                <a:off x="817" y="1571"/>
                <a:ext cx="312" cy="162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5" name="Google Shape;335;p14"/>
              <p:cNvSpPr/>
              <p:nvPr/>
            </p:nvSpPr>
            <p:spPr>
              <a:xfrm>
                <a:off x="780" y="1553"/>
                <a:ext cx="428" cy="1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Noto Sans Symbols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M</a:t>
                </a:r>
                <a:endParaRPr/>
              </a:p>
            </p:txBody>
          </p:sp>
        </p:grpSp>
      </p:grpSp>
      <p:sp>
        <p:nvSpPr>
          <p:cNvPr id="336" name="Google Shape;336;p14"/>
          <p:cNvSpPr txBox="1"/>
          <p:nvPr/>
        </p:nvSpPr>
        <p:spPr>
          <a:xfrm>
            <a:off x="3371603" y="5096823"/>
            <a:ext cx="5831174" cy="10895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95275" lvl="0" marL="2952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link-layer protocol </a:t>
            </a:r>
            <a:r>
              <a:rPr lang="en-US" sz="2400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encapsulates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network datagram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[H</a:t>
            </a:r>
            <a:r>
              <a:rPr baseline="-25000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| [H</a:t>
            </a:r>
            <a:r>
              <a:rPr baseline="-25000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|M],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with link-layer header H</a:t>
            </a:r>
            <a:r>
              <a:rPr baseline="-2500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 create a link-layer </a:t>
            </a:r>
            <a:r>
              <a:rPr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frame </a:t>
            </a:r>
            <a:endParaRPr/>
          </a:p>
        </p:txBody>
      </p:sp>
      <p:grpSp>
        <p:nvGrpSpPr>
          <p:cNvPr id="337" name="Google Shape;337;p14"/>
          <p:cNvGrpSpPr/>
          <p:nvPr/>
        </p:nvGrpSpPr>
        <p:grpSpPr>
          <a:xfrm>
            <a:off x="1334125" y="1421667"/>
            <a:ext cx="1765726" cy="4034752"/>
            <a:chOff x="1484027" y="1706480"/>
            <a:chExt cx="1765726" cy="4034752"/>
          </a:xfrm>
        </p:grpSpPr>
        <p:sp>
          <p:nvSpPr>
            <p:cNvPr id="338" name="Google Shape;338;p14"/>
            <p:cNvSpPr/>
            <p:nvPr/>
          </p:nvSpPr>
          <p:spPr>
            <a:xfrm>
              <a:off x="1528997" y="1870247"/>
              <a:ext cx="1648917" cy="3870985"/>
            </a:xfrm>
            <a:prstGeom prst="rect">
              <a:avLst/>
            </a:prstGeom>
            <a:solidFill>
              <a:schemeClr val="lt1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76200" sx="101000" rotWithShape="0" algn="bl" dir="18900000" dist="38100" sy="1010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" name="Google Shape;339;p14"/>
            <p:cNvSpPr txBox="1"/>
            <p:nvPr/>
          </p:nvSpPr>
          <p:spPr>
            <a:xfrm>
              <a:off x="1484027" y="1706480"/>
              <a:ext cx="1765726" cy="40330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application</a:t>
              </a:r>
              <a:endParaRPr/>
            </a:p>
            <a:p>
              <a:pPr indent="0" lvl="0" marL="0" marR="0" rtl="0" algn="ctr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transport</a:t>
              </a:r>
              <a:endParaRPr/>
            </a:p>
            <a:p>
              <a:pPr indent="0" lvl="0" marL="0" marR="0" rtl="0" algn="ctr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network</a:t>
              </a:r>
              <a:endParaRPr/>
            </a:p>
            <a:p>
              <a:pPr indent="0" lvl="0" marL="0" marR="0" rtl="0" algn="ctr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link</a:t>
              </a:r>
              <a:endParaRPr/>
            </a:p>
            <a:p>
              <a:pPr indent="0" lvl="0" marL="0" marR="0" rtl="0" algn="ctr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physical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40" name="Google Shape;340;p14"/>
            <p:cNvCxnSpPr/>
            <p:nvPr/>
          </p:nvCxnSpPr>
          <p:spPr>
            <a:xfrm>
              <a:off x="1534432" y="2675745"/>
              <a:ext cx="1643483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41" name="Google Shape;341;p14"/>
            <p:cNvCxnSpPr/>
            <p:nvPr/>
          </p:nvCxnSpPr>
          <p:spPr>
            <a:xfrm>
              <a:off x="1506952" y="3472722"/>
              <a:ext cx="1655973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42" name="Google Shape;342;p14"/>
            <p:cNvCxnSpPr/>
            <p:nvPr/>
          </p:nvCxnSpPr>
          <p:spPr>
            <a:xfrm>
              <a:off x="1509450" y="4209737"/>
              <a:ext cx="1668465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43" name="Google Shape;343;p14"/>
            <p:cNvCxnSpPr/>
            <p:nvPr/>
          </p:nvCxnSpPr>
          <p:spPr>
            <a:xfrm>
              <a:off x="1511947" y="4991726"/>
              <a:ext cx="165097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344" name="Google Shape;344;p14"/>
          <p:cNvGrpSpPr/>
          <p:nvPr/>
        </p:nvGrpSpPr>
        <p:grpSpPr>
          <a:xfrm>
            <a:off x="11107713" y="4961744"/>
            <a:ext cx="374754" cy="833726"/>
            <a:chOff x="4140" y="429"/>
            <a:chExt cx="1425" cy="2396"/>
          </a:xfrm>
        </p:grpSpPr>
        <p:sp>
          <p:nvSpPr>
            <p:cNvPr id="345" name="Google Shape;345;p14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6" name="Google Shape;346;p14"/>
            <p:cNvSpPr/>
            <p:nvPr/>
          </p:nvSpPr>
          <p:spPr>
            <a:xfrm>
              <a:off x="4210" y="429"/>
              <a:ext cx="1046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" name="Google Shape;347;p14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8" name="Google Shape;348;p14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9" name="Google Shape;349;p14"/>
            <p:cNvSpPr/>
            <p:nvPr/>
          </p:nvSpPr>
          <p:spPr>
            <a:xfrm>
              <a:off x="4210" y="690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50" name="Google Shape;350;p14"/>
            <p:cNvGrpSpPr/>
            <p:nvPr/>
          </p:nvGrpSpPr>
          <p:grpSpPr>
            <a:xfrm>
              <a:off x="4748" y="666"/>
              <a:ext cx="578" cy="150"/>
              <a:chOff x="613" y="2566"/>
              <a:chExt cx="721" cy="144"/>
            </a:xfrm>
          </p:grpSpPr>
          <p:sp>
            <p:nvSpPr>
              <p:cNvPr id="351" name="Google Shape;351;p14"/>
              <p:cNvSpPr/>
              <p:nvPr/>
            </p:nvSpPr>
            <p:spPr>
              <a:xfrm>
                <a:off x="613" y="2566"/>
                <a:ext cx="721" cy="14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2" name="Google Shape;352;p14"/>
              <p:cNvSpPr/>
              <p:nvPr/>
            </p:nvSpPr>
            <p:spPr>
              <a:xfrm>
                <a:off x="625" y="2581"/>
                <a:ext cx="696" cy="11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53" name="Google Shape;353;p14"/>
            <p:cNvSpPr/>
            <p:nvPr/>
          </p:nvSpPr>
          <p:spPr>
            <a:xfrm>
              <a:off x="4220" y="1022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54" name="Google Shape;354;p14"/>
            <p:cNvGrpSpPr/>
            <p:nvPr/>
          </p:nvGrpSpPr>
          <p:grpSpPr>
            <a:xfrm>
              <a:off x="4748" y="990"/>
              <a:ext cx="578" cy="134"/>
              <a:chOff x="615" y="2564"/>
              <a:chExt cx="721" cy="139"/>
            </a:xfrm>
          </p:grpSpPr>
          <p:sp>
            <p:nvSpPr>
              <p:cNvPr id="355" name="Google Shape;355;p14"/>
              <p:cNvSpPr/>
              <p:nvPr/>
            </p:nvSpPr>
            <p:spPr>
              <a:xfrm>
                <a:off x="615" y="2564"/>
                <a:ext cx="721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6" name="Google Shape;356;p14"/>
              <p:cNvSpPr/>
              <p:nvPr/>
            </p:nvSpPr>
            <p:spPr>
              <a:xfrm>
                <a:off x="628" y="2581"/>
                <a:ext cx="696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57" name="Google Shape;357;p14"/>
            <p:cNvSpPr/>
            <p:nvPr/>
          </p:nvSpPr>
          <p:spPr>
            <a:xfrm>
              <a:off x="4220" y="1354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" name="Google Shape;358;p14"/>
            <p:cNvSpPr/>
            <p:nvPr/>
          </p:nvSpPr>
          <p:spPr>
            <a:xfrm>
              <a:off x="4230" y="1655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59" name="Google Shape;359;p14"/>
            <p:cNvGrpSpPr/>
            <p:nvPr/>
          </p:nvGrpSpPr>
          <p:grpSpPr>
            <a:xfrm>
              <a:off x="4738" y="1647"/>
              <a:ext cx="578" cy="135"/>
              <a:chOff x="618" y="2586"/>
              <a:chExt cx="720" cy="124"/>
            </a:xfrm>
          </p:grpSpPr>
          <p:sp>
            <p:nvSpPr>
              <p:cNvPr id="360" name="Google Shape;360;p14"/>
              <p:cNvSpPr/>
              <p:nvPr/>
            </p:nvSpPr>
            <p:spPr>
              <a:xfrm>
                <a:off x="618" y="2586"/>
                <a:ext cx="720" cy="12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1" name="Google Shape;361;p14"/>
              <p:cNvSpPr/>
              <p:nvPr/>
            </p:nvSpPr>
            <p:spPr>
              <a:xfrm>
                <a:off x="630" y="2586"/>
                <a:ext cx="695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62" name="Google Shape;362;p14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63" name="Google Shape;363;p14"/>
            <p:cNvGrpSpPr/>
            <p:nvPr/>
          </p:nvGrpSpPr>
          <p:grpSpPr>
            <a:xfrm>
              <a:off x="4738" y="1330"/>
              <a:ext cx="588" cy="134"/>
              <a:chOff x="613" y="2571"/>
              <a:chExt cx="732" cy="134"/>
            </a:xfrm>
          </p:grpSpPr>
          <p:sp>
            <p:nvSpPr>
              <p:cNvPr id="364" name="Google Shape;364;p14"/>
              <p:cNvSpPr/>
              <p:nvPr/>
            </p:nvSpPr>
            <p:spPr>
              <a:xfrm>
                <a:off x="613" y="2571"/>
                <a:ext cx="732" cy="13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5" name="Google Shape;365;p14"/>
              <p:cNvSpPr/>
              <p:nvPr/>
            </p:nvSpPr>
            <p:spPr>
              <a:xfrm>
                <a:off x="625" y="2587"/>
                <a:ext cx="720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66" name="Google Shape;366;p14"/>
            <p:cNvSpPr/>
            <p:nvPr/>
          </p:nvSpPr>
          <p:spPr>
            <a:xfrm>
              <a:off x="5246" y="429"/>
              <a:ext cx="70" cy="2285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" name="Google Shape;367;p14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8" name="Google Shape;368;p14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9" name="Google Shape;369;p14"/>
            <p:cNvSpPr/>
            <p:nvPr/>
          </p:nvSpPr>
          <p:spPr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" name="Google Shape;370;p14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1" name="Google Shape;371;p14"/>
            <p:cNvSpPr/>
            <p:nvPr/>
          </p:nvSpPr>
          <p:spPr>
            <a:xfrm>
              <a:off x="4140" y="2675"/>
              <a:ext cx="1196" cy="150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2" name="Google Shape;372;p14"/>
            <p:cNvSpPr/>
            <p:nvPr/>
          </p:nvSpPr>
          <p:spPr>
            <a:xfrm>
              <a:off x="4210" y="2714"/>
              <a:ext cx="1066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3" name="Google Shape;373;p14"/>
            <p:cNvSpPr/>
            <p:nvPr/>
          </p:nvSpPr>
          <p:spPr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4" name="Google Shape;374;p14"/>
            <p:cNvSpPr/>
            <p:nvPr/>
          </p:nvSpPr>
          <p:spPr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" name="Google Shape;375;p14"/>
            <p:cNvSpPr/>
            <p:nvPr/>
          </p:nvSpPr>
          <p:spPr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" name="Google Shape;376;p14"/>
            <p:cNvSpPr/>
            <p:nvPr/>
          </p:nvSpPr>
          <p:spPr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77" name="Google Shape;377;p14"/>
          <p:cNvSpPr txBox="1"/>
          <p:nvPr/>
        </p:nvSpPr>
        <p:spPr>
          <a:xfrm>
            <a:off x="10216734" y="5716780"/>
            <a:ext cx="167545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None/>
            </a:pPr>
            <a:r>
              <a:rPr i="1" lang="en-US" sz="2400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destination</a:t>
            </a:r>
            <a:endParaRPr b="0" i="1" sz="2400" u="none" cap="none" strike="noStrike">
              <a:solidFill>
                <a:srgbClr val="0000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78" name="Google Shape;378;p14"/>
          <p:cNvGrpSpPr/>
          <p:nvPr/>
        </p:nvGrpSpPr>
        <p:grpSpPr>
          <a:xfrm>
            <a:off x="3254290" y="1489592"/>
            <a:ext cx="5651292" cy="389744"/>
            <a:chOff x="3270354" y="1798823"/>
            <a:chExt cx="5651292" cy="389744"/>
          </a:xfrm>
        </p:grpSpPr>
        <p:cxnSp>
          <p:nvCxnSpPr>
            <p:cNvPr id="379" name="Google Shape;379;p14"/>
            <p:cNvCxnSpPr/>
            <p:nvPr/>
          </p:nvCxnSpPr>
          <p:spPr>
            <a:xfrm>
              <a:off x="3270354" y="1993691"/>
              <a:ext cx="5651292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sp>
          <p:nvSpPr>
            <p:cNvPr id="380" name="Google Shape;380;p14"/>
            <p:cNvSpPr/>
            <p:nvPr/>
          </p:nvSpPr>
          <p:spPr>
            <a:xfrm>
              <a:off x="5878639" y="1798823"/>
              <a:ext cx="674558" cy="389744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81" name="Google Shape;381;p14"/>
            <p:cNvGrpSpPr/>
            <p:nvPr/>
          </p:nvGrpSpPr>
          <p:grpSpPr>
            <a:xfrm>
              <a:off x="5953468" y="1857555"/>
              <a:ext cx="679450" cy="301625"/>
              <a:chOff x="780" y="1553"/>
              <a:chExt cx="428" cy="190"/>
            </a:xfrm>
          </p:grpSpPr>
          <p:sp>
            <p:nvSpPr>
              <p:cNvPr id="382" name="Google Shape;382;p14"/>
              <p:cNvSpPr/>
              <p:nvPr/>
            </p:nvSpPr>
            <p:spPr>
              <a:xfrm>
                <a:off x="817" y="1569"/>
                <a:ext cx="312" cy="162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3" name="Google Shape;383;p14"/>
              <p:cNvSpPr/>
              <p:nvPr/>
            </p:nvSpPr>
            <p:spPr>
              <a:xfrm>
                <a:off x="780" y="1553"/>
                <a:ext cx="428" cy="1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Noto Sans Symbols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M</a:t>
                </a:r>
                <a:endParaRPr/>
              </a:p>
            </p:txBody>
          </p:sp>
        </p:grpSp>
      </p:grpSp>
      <p:grpSp>
        <p:nvGrpSpPr>
          <p:cNvPr id="384" name="Google Shape;384;p14"/>
          <p:cNvGrpSpPr/>
          <p:nvPr/>
        </p:nvGrpSpPr>
        <p:grpSpPr>
          <a:xfrm>
            <a:off x="9221450" y="1413548"/>
            <a:ext cx="1765726" cy="4034752"/>
            <a:chOff x="1484027" y="1706480"/>
            <a:chExt cx="1765726" cy="4034752"/>
          </a:xfrm>
        </p:grpSpPr>
        <p:sp>
          <p:nvSpPr>
            <p:cNvPr id="385" name="Google Shape;385;p14"/>
            <p:cNvSpPr/>
            <p:nvPr/>
          </p:nvSpPr>
          <p:spPr>
            <a:xfrm>
              <a:off x="1528997" y="1870247"/>
              <a:ext cx="1648917" cy="3870985"/>
            </a:xfrm>
            <a:prstGeom prst="rect">
              <a:avLst/>
            </a:prstGeom>
            <a:solidFill>
              <a:schemeClr val="lt1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76200" sx="101000" rotWithShape="0" algn="bl" dir="18900000" dist="38100" sy="1010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6" name="Google Shape;386;p14"/>
            <p:cNvSpPr txBox="1"/>
            <p:nvPr/>
          </p:nvSpPr>
          <p:spPr>
            <a:xfrm>
              <a:off x="1484027" y="1706480"/>
              <a:ext cx="1765726" cy="40330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application</a:t>
              </a:r>
              <a:endParaRPr/>
            </a:p>
            <a:p>
              <a:pPr indent="0" lvl="0" marL="0" marR="0" rtl="0" algn="ctr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transport</a:t>
              </a:r>
              <a:endParaRPr/>
            </a:p>
            <a:p>
              <a:pPr indent="0" lvl="0" marL="0" marR="0" rtl="0" algn="ctr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network</a:t>
              </a:r>
              <a:endParaRPr/>
            </a:p>
            <a:p>
              <a:pPr indent="0" lvl="0" marL="0" marR="0" rtl="0" algn="ctr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link</a:t>
              </a:r>
              <a:endParaRPr/>
            </a:p>
            <a:p>
              <a:pPr indent="0" lvl="0" marL="0" marR="0" rtl="0" algn="ctr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physical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87" name="Google Shape;387;p14"/>
            <p:cNvCxnSpPr/>
            <p:nvPr/>
          </p:nvCxnSpPr>
          <p:spPr>
            <a:xfrm>
              <a:off x="1534432" y="2675745"/>
              <a:ext cx="1643483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88" name="Google Shape;388;p14"/>
            <p:cNvCxnSpPr/>
            <p:nvPr/>
          </p:nvCxnSpPr>
          <p:spPr>
            <a:xfrm>
              <a:off x="1506952" y="3472722"/>
              <a:ext cx="1655973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89" name="Google Shape;389;p14"/>
            <p:cNvCxnSpPr/>
            <p:nvPr/>
          </p:nvCxnSpPr>
          <p:spPr>
            <a:xfrm>
              <a:off x="1509450" y="4209737"/>
              <a:ext cx="1668465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90" name="Google Shape;390;p14"/>
            <p:cNvCxnSpPr/>
            <p:nvPr/>
          </p:nvCxnSpPr>
          <p:spPr>
            <a:xfrm>
              <a:off x="1511947" y="4991726"/>
              <a:ext cx="165097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cxnSp>
        <p:nvCxnSpPr>
          <p:cNvPr id="391" name="Google Shape;391;p14"/>
          <p:cNvCxnSpPr/>
          <p:nvPr/>
        </p:nvCxnSpPr>
        <p:spPr>
          <a:xfrm>
            <a:off x="3211642" y="3542677"/>
            <a:ext cx="5651292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sp>
        <p:nvSpPr>
          <p:cNvPr id="392" name="Google Shape;392;p14"/>
          <p:cNvSpPr/>
          <p:nvPr/>
        </p:nvSpPr>
        <p:spPr>
          <a:xfrm>
            <a:off x="5356172" y="3319499"/>
            <a:ext cx="1210365" cy="38974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93" name="Google Shape;393;p14"/>
          <p:cNvGrpSpPr/>
          <p:nvPr/>
        </p:nvGrpSpPr>
        <p:grpSpPr>
          <a:xfrm>
            <a:off x="5418625" y="3360607"/>
            <a:ext cx="1058375" cy="307296"/>
            <a:chOff x="5509436" y="3287899"/>
            <a:chExt cx="1058375" cy="307296"/>
          </a:xfrm>
        </p:grpSpPr>
        <p:grpSp>
          <p:nvGrpSpPr>
            <p:cNvPr id="394" name="Google Shape;394;p14"/>
            <p:cNvGrpSpPr/>
            <p:nvPr/>
          </p:nvGrpSpPr>
          <p:grpSpPr>
            <a:xfrm>
              <a:off x="5510535" y="3293570"/>
              <a:ext cx="1057276" cy="301625"/>
              <a:chOff x="469" y="1531"/>
              <a:chExt cx="666" cy="190"/>
            </a:xfrm>
          </p:grpSpPr>
          <p:sp>
            <p:nvSpPr>
              <p:cNvPr id="395" name="Google Shape;395;p14"/>
              <p:cNvSpPr/>
              <p:nvPr/>
            </p:nvSpPr>
            <p:spPr>
              <a:xfrm>
                <a:off x="469" y="1549"/>
                <a:ext cx="666" cy="162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6" name="Google Shape;396;p14"/>
              <p:cNvSpPr/>
              <p:nvPr/>
            </p:nvSpPr>
            <p:spPr>
              <a:xfrm>
                <a:off x="873" y="1531"/>
                <a:ext cx="239" cy="1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Noto Sans Symbols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M</a:t>
                </a:r>
                <a:endParaRPr/>
              </a:p>
            </p:txBody>
          </p:sp>
        </p:grpSp>
        <p:sp>
          <p:nvSpPr>
            <p:cNvPr id="397" name="Google Shape;397;p14"/>
            <p:cNvSpPr/>
            <p:nvPr/>
          </p:nvSpPr>
          <p:spPr>
            <a:xfrm>
              <a:off x="5771740" y="3305237"/>
              <a:ext cx="296863" cy="2619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</a:t>
              </a:r>
              <a:r>
                <a:rPr b="0" baseline="-2500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 b="0" baseline="-2500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8" name="Google Shape;398;p14"/>
            <p:cNvSpPr/>
            <p:nvPr/>
          </p:nvSpPr>
          <p:spPr>
            <a:xfrm>
              <a:off x="5509436" y="3287899"/>
              <a:ext cx="296863" cy="29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</a:t>
              </a:r>
              <a:r>
                <a:rPr b="0" baseline="-2500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</a:t>
              </a:r>
              <a:endParaRPr b="0" baseline="-2500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99" name="Google Shape;399;p14"/>
            <p:cNvCxnSpPr/>
            <p:nvPr/>
          </p:nvCxnSpPr>
          <p:spPr>
            <a:xfrm>
              <a:off x="6076877" y="3322145"/>
              <a:ext cx="0" cy="25717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00" name="Google Shape;400;p14"/>
            <p:cNvCxnSpPr/>
            <p:nvPr/>
          </p:nvCxnSpPr>
          <p:spPr>
            <a:xfrm>
              <a:off x="5796378" y="3320433"/>
              <a:ext cx="0" cy="25717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401" name="Google Shape;401;p14"/>
          <p:cNvSpPr txBox="1"/>
          <p:nvPr/>
        </p:nvSpPr>
        <p:spPr>
          <a:xfrm>
            <a:off x="3374573" y="4483522"/>
            <a:ext cx="5620868" cy="5652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Link-layer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protocol transfers datagram [H</a:t>
            </a:r>
            <a:r>
              <a:rPr baseline="-25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| [H</a:t>
            </a:r>
            <a:r>
              <a:rPr baseline="-25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|M] from </a:t>
            </a:r>
            <a:r>
              <a:rPr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host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neighboring host, using network-layer services</a:t>
            </a:r>
            <a:endParaRPr/>
          </a:p>
        </p:txBody>
      </p:sp>
      <p:grpSp>
        <p:nvGrpSpPr>
          <p:cNvPr id="402" name="Google Shape;402;p14"/>
          <p:cNvGrpSpPr/>
          <p:nvPr/>
        </p:nvGrpSpPr>
        <p:grpSpPr>
          <a:xfrm>
            <a:off x="3226725" y="4169060"/>
            <a:ext cx="5651292" cy="374226"/>
            <a:chOff x="3226725" y="4169060"/>
            <a:chExt cx="5651292" cy="374226"/>
          </a:xfrm>
        </p:grpSpPr>
        <p:cxnSp>
          <p:nvCxnSpPr>
            <p:cNvPr id="403" name="Google Shape;403;p14"/>
            <p:cNvCxnSpPr/>
            <p:nvPr/>
          </p:nvCxnSpPr>
          <p:spPr>
            <a:xfrm>
              <a:off x="3226725" y="4376720"/>
              <a:ext cx="5651292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grpSp>
          <p:nvGrpSpPr>
            <p:cNvPr id="404" name="Google Shape;404;p14"/>
            <p:cNvGrpSpPr/>
            <p:nvPr/>
          </p:nvGrpSpPr>
          <p:grpSpPr>
            <a:xfrm>
              <a:off x="5062983" y="4169060"/>
              <a:ext cx="1518637" cy="374226"/>
              <a:chOff x="5062983" y="4252185"/>
              <a:chExt cx="1518637" cy="374226"/>
            </a:xfrm>
          </p:grpSpPr>
          <p:sp>
            <p:nvSpPr>
              <p:cNvPr id="405" name="Google Shape;405;p14"/>
              <p:cNvSpPr/>
              <p:nvPr/>
            </p:nvSpPr>
            <p:spPr>
              <a:xfrm>
                <a:off x="5062983" y="4252185"/>
                <a:ext cx="1518637" cy="374226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06" name="Google Shape;406;p14"/>
              <p:cNvGrpSpPr/>
              <p:nvPr/>
            </p:nvGrpSpPr>
            <p:grpSpPr>
              <a:xfrm>
                <a:off x="5144294" y="4283446"/>
                <a:ext cx="1347789" cy="301625"/>
                <a:chOff x="286" y="1531"/>
                <a:chExt cx="849" cy="190"/>
              </a:xfrm>
            </p:grpSpPr>
            <p:sp>
              <p:nvSpPr>
                <p:cNvPr id="407" name="Google Shape;407;p14"/>
                <p:cNvSpPr/>
                <p:nvPr/>
              </p:nvSpPr>
              <p:spPr>
                <a:xfrm>
                  <a:off x="286" y="1549"/>
                  <a:ext cx="849" cy="162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8" name="Google Shape;408;p14"/>
                <p:cNvSpPr/>
                <p:nvPr/>
              </p:nvSpPr>
              <p:spPr>
                <a:xfrm>
                  <a:off x="873" y="1531"/>
                  <a:ext cx="239" cy="1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Noto Sans Symbols"/>
                    <a:buNone/>
                  </a:pPr>
                  <a:r>
                    <a:rPr b="0" i="0" lang="en-US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M</a:t>
                  </a:r>
                  <a:endParaRPr/>
                </a:p>
              </p:txBody>
            </p:sp>
          </p:grpSp>
          <p:sp>
            <p:nvSpPr>
              <p:cNvPr id="409" name="Google Shape;409;p14"/>
              <p:cNvSpPr/>
              <p:nvPr/>
            </p:nvSpPr>
            <p:spPr>
              <a:xfrm>
                <a:off x="5696012" y="4295113"/>
                <a:ext cx="296863" cy="2619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Noto Sans Symbols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H</a:t>
                </a:r>
                <a:r>
                  <a:rPr b="0" baseline="-2500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t</a:t>
                </a:r>
                <a:endParaRPr b="0" baseline="-2500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0" name="Google Shape;410;p14"/>
              <p:cNvSpPr/>
              <p:nvPr/>
            </p:nvSpPr>
            <p:spPr>
              <a:xfrm>
                <a:off x="5433708" y="4277775"/>
                <a:ext cx="296863" cy="292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Noto Sans Symbols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H</a:t>
                </a:r>
                <a:r>
                  <a:rPr b="0" baseline="-2500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</a:t>
                </a:r>
                <a:endParaRPr b="0" baseline="-2500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411" name="Google Shape;411;p14"/>
              <p:cNvCxnSpPr/>
              <p:nvPr/>
            </p:nvCxnSpPr>
            <p:spPr>
              <a:xfrm>
                <a:off x="6001149" y="4312021"/>
                <a:ext cx="0" cy="25717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12" name="Google Shape;412;p14"/>
              <p:cNvCxnSpPr/>
              <p:nvPr/>
            </p:nvCxnSpPr>
            <p:spPr>
              <a:xfrm>
                <a:off x="5720650" y="4310309"/>
                <a:ext cx="0" cy="25717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413" name="Google Shape;413;p14"/>
              <p:cNvSpPr/>
              <p:nvPr/>
            </p:nvSpPr>
            <p:spPr>
              <a:xfrm>
                <a:off x="5149178" y="4281528"/>
                <a:ext cx="296863" cy="292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Noto Sans Symbols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H</a:t>
                </a:r>
                <a:r>
                  <a:rPr b="0" baseline="-2500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l</a:t>
                </a:r>
                <a:endParaRPr/>
              </a:p>
            </p:txBody>
          </p:sp>
          <p:cxnSp>
            <p:nvCxnSpPr>
              <p:cNvPr id="414" name="Google Shape;414;p14"/>
              <p:cNvCxnSpPr/>
              <p:nvPr/>
            </p:nvCxnSpPr>
            <p:spPr>
              <a:xfrm>
                <a:off x="5418102" y="4309558"/>
                <a:ext cx="0" cy="25717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  <p:cxnSp>
        <p:nvCxnSpPr>
          <p:cNvPr id="415" name="Google Shape;415;p14"/>
          <p:cNvCxnSpPr/>
          <p:nvPr/>
        </p:nvCxnSpPr>
        <p:spPr>
          <a:xfrm>
            <a:off x="3594027" y="-1079199"/>
            <a:ext cx="5651292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sp>
        <p:nvSpPr>
          <p:cNvPr id="416" name="Google Shape;416;p14"/>
          <p:cNvSpPr/>
          <p:nvPr/>
        </p:nvSpPr>
        <p:spPr>
          <a:xfrm>
            <a:off x="5738557" y="-1302377"/>
            <a:ext cx="1210365" cy="38974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17" name="Google Shape;417;p14"/>
          <p:cNvGrpSpPr/>
          <p:nvPr/>
        </p:nvGrpSpPr>
        <p:grpSpPr>
          <a:xfrm>
            <a:off x="5801010" y="-1261269"/>
            <a:ext cx="1058375" cy="307296"/>
            <a:chOff x="5509436" y="3287899"/>
            <a:chExt cx="1058375" cy="307296"/>
          </a:xfrm>
        </p:grpSpPr>
        <p:grpSp>
          <p:nvGrpSpPr>
            <p:cNvPr id="418" name="Google Shape;418;p14"/>
            <p:cNvGrpSpPr/>
            <p:nvPr/>
          </p:nvGrpSpPr>
          <p:grpSpPr>
            <a:xfrm>
              <a:off x="5510535" y="3293570"/>
              <a:ext cx="1057276" cy="301625"/>
              <a:chOff x="469" y="1531"/>
              <a:chExt cx="666" cy="190"/>
            </a:xfrm>
          </p:grpSpPr>
          <p:sp>
            <p:nvSpPr>
              <p:cNvPr id="419" name="Google Shape;419;p14"/>
              <p:cNvSpPr/>
              <p:nvPr/>
            </p:nvSpPr>
            <p:spPr>
              <a:xfrm>
                <a:off x="469" y="1549"/>
                <a:ext cx="666" cy="162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0" name="Google Shape;420;p14"/>
              <p:cNvSpPr/>
              <p:nvPr/>
            </p:nvSpPr>
            <p:spPr>
              <a:xfrm>
                <a:off x="873" y="1531"/>
                <a:ext cx="239" cy="1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Noto Sans Symbols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M</a:t>
                </a:r>
                <a:endParaRPr/>
              </a:p>
            </p:txBody>
          </p:sp>
        </p:grpSp>
        <p:sp>
          <p:nvSpPr>
            <p:cNvPr id="421" name="Google Shape;421;p14"/>
            <p:cNvSpPr/>
            <p:nvPr/>
          </p:nvSpPr>
          <p:spPr>
            <a:xfrm>
              <a:off x="5771740" y="3305237"/>
              <a:ext cx="296863" cy="2619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</a:t>
              </a:r>
              <a:r>
                <a:rPr b="0" baseline="-2500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 b="0" baseline="-2500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2" name="Google Shape;422;p14"/>
            <p:cNvSpPr/>
            <p:nvPr/>
          </p:nvSpPr>
          <p:spPr>
            <a:xfrm>
              <a:off x="5509436" y="3287899"/>
              <a:ext cx="296863" cy="29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</a:t>
              </a:r>
              <a:r>
                <a:rPr b="0" baseline="-2500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</a:t>
              </a:r>
              <a:endParaRPr b="0" baseline="-2500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23" name="Google Shape;423;p14"/>
            <p:cNvCxnSpPr/>
            <p:nvPr/>
          </p:nvCxnSpPr>
          <p:spPr>
            <a:xfrm>
              <a:off x="6076877" y="3322145"/>
              <a:ext cx="0" cy="25717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24" name="Google Shape;424;p14"/>
            <p:cNvCxnSpPr/>
            <p:nvPr/>
          </p:nvCxnSpPr>
          <p:spPr>
            <a:xfrm>
              <a:off x="5796378" y="3320433"/>
              <a:ext cx="0" cy="25717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425" name="Google Shape;425;p14"/>
          <p:cNvSpPr txBox="1"/>
          <p:nvPr/>
        </p:nvSpPr>
        <p:spPr>
          <a:xfrm>
            <a:off x="3359490" y="3649479"/>
            <a:ext cx="5734634" cy="5652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Network-layer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protocol transfers transport-layer segment [H</a:t>
            </a:r>
            <a:r>
              <a:rPr baseline="-25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| M] from one </a:t>
            </a:r>
            <a:r>
              <a:rPr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host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 another, using link layer services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15"/>
          <p:cNvSpPr/>
          <p:nvPr/>
        </p:nvSpPr>
        <p:spPr>
          <a:xfrm>
            <a:off x="3548141" y="1573968"/>
            <a:ext cx="4992" cy="3104606"/>
          </a:xfrm>
          <a:custGeom>
            <a:rect b="b" l="l" r="r" t="t"/>
            <a:pathLst>
              <a:path extrusionOk="0" h="8411" w="52">
                <a:moveTo>
                  <a:pt x="0" y="0"/>
                </a:moveTo>
                <a:cubicBezTo>
                  <a:pt x="17" y="2804"/>
                  <a:pt x="35" y="5607"/>
                  <a:pt x="52" y="8411"/>
                </a:cubicBezTo>
              </a:path>
            </a:pathLst>
          </a:custGeom>
          <a:noFill/>
          <a:ln cap="flat" cmpd="sng" w="4445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 </a:t>
            </a:r>
            <a:endParaRPr/>
          </a:p>
        </p:txBody>
      </p:sp>
      <p:sp>
        <p:nvSpPr>
          <p:cNvPr id="432" name="Google Shape;432;p15"/>
          <p:cNvSpPr/>
          <p:nvPr/>
        </p:nvSpPr>
        <p:spPr>
          <a:xfrm flipH="1" rot="10800000">
            <a:off x="10916607" y="1577038"/>
            <a:ext cx="450309" cy="4061761"/>
          </a:xfrm>
          <a:custGeom>
            <a:rect b="b" l="l" r="r" t="t"/>
            <a:pathLst>
              <a:path extrusionOk="0" h="21660" w="12496">
                <a:moveTo>
                  <a:pt x="12425" y="0"/>
                </a:moveTo>
                <a:lnTo>
                  <a:pt x="0" y="1517"/>
                </a:lnTo>
                <a:lnTo>
                  <a:pt x="1248" y="21660"/>
                </a:lnTo>
                <a:cubicBezTo>
                  <a:pt x="4581" y="12959"/>
                  <a:pt x="6667" y="10269"/>
                  <a:pt x="12496" y="4855"/>
                </a:cubicBezTo>
                <a:cubicBezTo>
                  <a:pt x="12472" y="3237"/>
                  <a:pt x="12449" y="1618"/>
                  <a:pt x="12425" y="0"/>
                </a:cubicBezTo>
                <a:close/>
              </a:path>
            </a:pathLst>
          </a:custGeom>
          <a:gradFill>
            <a:gsLst>
              <a:gs pos="0">
                <a:srgbClr val="3C6CDF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5"/>
          <p:cNvSpPr txBox="1"/>
          <p:nvPr>
            <p:ph type="title"/>
          </p:nvPr>
        </p:nvSpPr>
        <p:spPr>
          <a:xfrm>
            <a:off x="825267" y="291947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Services, Layering and Encapsulation</a:t>
            </a:r>
            <a:endParaRPr sz="4400"/>
          </a:p>
        </p:txBody>
      </p:sp>
      <p:sp>
        <p:nvSpPr>
          <p:cNvPr id="434" name="Google Shape;434;p15"/>
          <p:cNvSpPr txBox="1"/>
          <p:nvPr/>
        </p:nvSpPr>
        <p:spPr>
          <a:xfrm>
            <a:off x="449705" y="5724388"/>
            <a:ext cx="110013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None/>
            </a:pPr>
            <a:r>
              <a:rPr b="0" i="1" lang="en-US" sz="2400" u="none" cap="none" strike="noStrik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source</a:t>
            </a:r>
            <a:endParaRPr/>
          </a:p>
        </p:txBody>
      </p:sp>
      <p:sp>
        <p:nvSpPr>
          <p:cNvPr id="435" name="Google Shape;435;p15"/>
          <p:cNvSpPr/>
          <p:nvPr/>
        </p:nvSpPr>
        <p:spPr>
          <a:xfrm rot="10800000">
            <a:off x="975630" y="1559549"/>
            <a:ext cx="450309" cy="4061761"/>
          </a:xfrm>
          <a:custGeom>
            <a:rect b="b" l="l" r="r" t="t"/>
            <a:pathLst>
              <a:path extrusionOk="0" h="21660" w="12496">
                <a:moveTo>
                  <a:pt x="12425" y="0"/>
                </a:moveTo>
                <a:lnTo>
                  <a:pt x="0" y="1517"/>
                </a:lnTo>
                <a:lnTo>
                  <a:pt x="1248" y="21660"/>
                </a:lnTo>
                <a:cubicBezTo>
                  <a:pt x="4581" y="12959"/>
                  <a:pt x="6667" y="10269"/>
                  <a:pt x="12496" y="4855"/>
                </a:cubicBezTo>
                <a:cubicBezTo>
                  <a:pt x="12472" y="3237"/>
                  <a:pt x="12449" y="1618"/>
                  <a:pt x="12425" y="0"/>
                </a:cubicBezTo>
                <a:close/>
              </a:path>
            </a:pathLst>
          </a:custGeom>
          <a:gradFill>
            <a:gsLst>
              <a:gs pos="0">
                <a:srgbClr val="3C6CDF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36" name="Google Shape;436;p15"/>
          <p:cNvGrpSpPr/>
          <p:nvPr/>
        </p:nvGrpSpPr>
        <p:grpSpPr>
          <a:xfrm flipH="1">
            <a:off x="635446" y="5073984"/>
            <a:ext cx="803275" cy="771525"/>
            <a:chOff x="-44" y="1473"/>
            <a:chExt cx="981" cy="1105"/>
          </a:xfrm>
        </p:grpSpPr>
        <p:pic>
          <p:nvPicPr>
            <p:cNvPr descr="desktop_computer_stylized_medium" id="437" name="Google Shape;437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8" name="Google Shape;438;p15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39" name="Google Shape;439;p15"/>
          <p:cNvGrpSpPr/>
          <p:nvPr/>
        </p:nvGrpSpPr>
        <p:grpSpPr>
          <a:xfrm>
            <a:off x="1334125" y="1421667"/>
            <a:ext cx="1765726" cy="4034752"/>
            <a:chOff x="1484027" y="1706480"/>
            <a:chExt cx="1765726" cy="4034752"/>
          </a:xfrm>
        </p:grpSpPr>
        <p:sp>
          <p:nvSpPr>
            <p:cNvPr id="440" name="Google Shape;440;p15"/>
            <p:cNvSpPr/>
            <p:nvPr/>
          </p:nvSpPr>
          <p:spPr>
            <a:xfrm>
              <a:off x="1528997" y="1870247"/>
              <a:ext cx="1648917" cy="3870985"/>
            </a:xfrm>
            <a:prstGeom prst="rect">
              <a:avLst/>
            </a:prstGeom>
            <a:solidFill>
              <a:schemeClr val="lt1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76200" sx="101000" rotWithShape="0" algn="bl" dir="18900000" dist="38100" sy="1010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1" name="Google Shape;441;p15"/>
            <p:cNvSpPr txBox="1"/>
            <p:nvPr/>
          </p:nvSpPr>
          <p:spPr>
            <a:xfrm>
              <a:off x="1484027" y="1706480"/>
              <a:ext cx="1765726" cy="40330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application</a:t>
              </a:r>
              <a:endParaRPr/>
            </a:p>
            <a:p>
              <a:pPr indent="0" lvl="0" marL="0" marR="0" rtl="0" algn="ctr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transport</a:t>
              </a:r>
              <a:endParaRPr/>
            </a:p>
            <a:p>
              <a:pPr indent="0" lvl="0" marL="0" marR="0" rtl="0" algn="ctr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network</a:t>
              </a:r>
              <a:endParaRPr/>
            </a:p>
            <a:p>
              <a:pPr indent="0" lvl="0" marL="0" marR="0" rtl="0" algn="ctr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link</a:t>
              </a:r>
              <a:endParaRPr/>
            </a:p>
            <a:p>
              <a:pPr indent="0" lvl="0" marL="0" marR="0" rtl="0" algn="ctr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physical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442" name="Google Shape;442;p15"/>
            <p:cNvCxnSpPr/>
            <p:nvPr/>
          </p:nvCxnSpPr>
          <p:spPr>
            <a:xfrm>
              <a:off x="1534432" y="2675745"/>
              <a:ext cx="1643483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43" name="Google Shape;443;p15"/>
            <p:cNvCxnSpPr/>
            <p:nvPr/>
          </p:nvCxnSpPr>
          <p:spPr>
            <a:xfrm>
              <a:off x="1506952" y="3472722"/>
              <a:ext cx="1655973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44" name="Google Shape;444;p15"/>
            <p:cNvCxnSpPr/>
            <p:nvPr/>
          </p:nvCxnSpPr>
          <p:spPr>
            <a:xfrm>
              <a:off x="1509450" y="4209737"/>
              <a:ext cx="1668465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45" name="Google Shape;445;p15"/>
            <p:cNvCxnSpPr/>
            <p:nvPr/>
          </p:nvCxnSpPr>
          <p:spPr>
            <a:xfrm>
              <a:off x="1511947" y="4991726"/>
              <a:ext cx="165097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446" name="Google Shape;446;p15"/>
          <p:cNvGrpSpPr/>
          <p:nvPr/>
        </p:nvGrpSpPr>
        <p:grpSpPr>
          <a:xfrm>
            <a:off x="11107713" y="4961744"/>
            <a:ext cx="374754" cy="833726"/>
            <a:chOff x="4140" y="429"/>
            <a:chExt cx="1425" cy="2396"/>
          </a:xfrm>
        </p:grpSpPr>
        <p:sp>
          <p:nvSpPr>
            <p:cNvPr id="447" name="Google Shape;447;p15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8" name="Google Shape;448;p15"/>
            <p:cNvSpPr/>
            <p:nvPr/>
          </p:nvSpPr>
          <p:spPr>
            <a:xfrm>
              <a:off x="4210" y="429"/>
              <a:ext cx="1046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9" name="Google Shape;449;p15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0" name="Google Shape;450;p15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1" name="Google Shape;451;p15"/>
            <p:cNvSpPr/>
            <p:nvPr/>
          </p:nvSpPr>
          <p:spPr>
            <a:xfrm>
              <a:off x="4210" y="690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52" name="Google Shape;452;p15"/>
            <p:cNvGrpSpPr/>
            <p:nvPr/>
          </p:nvGrpSpPr>
          <p:grpSpPr>
            <a:xfrm>
              <a:off x="4748" y="666"/>
              <a:ext cx="578" cy="150"/>
              <a:chOff x="613" y="2566"/>
              <a:chExt cx="721" cy="144"/>
            </a:xfrm>
          </p:grpSpPr>
          <p:sp>
            <p:nvSpPr>
              <p:cNvPr id="453" name="Google Shape;453;p15"/>
              <p:cNvSpPr/>
              <p:nvPr/>
            </p:nvSpPr>
            <p:spPr>
              <a:xfrm>
                <a:off x="613" y="2566"/>
                <a:ext cx="721" cy="14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4" name="Google Shape;454;p15"/>
              <p:cNvSpPr/>
              <p:nvPr/>
            </p:nvSpPr>
            <p:spPr>
              <a:xfrm>
                <a:off x="625" y="2581"/>
                <a:ext cx="696" cy="11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55" name="Google Shape;455;p15"/>
            <p:cNvSpPr/>
            <p:nvPr/>
          </p:nvSpPr>
          <p:spPr>
            <a:xfrm>
              <a:off x="4220" y="1022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56" name="Google Shape;456;p15"/>
            <p:cNvGrpSpPr/>
            <p:nvPr/>
          </p:nvGrpSpPr>
          <p:grpSpPr>
            <a:xfrm>
              <a:off x="4748" y="990"/>
              <a:ext cx="578" cy="134"/>
              <a:chOff x="615" y="2564"/>
              <a:chExt cx="721" cy="139"/>
            </a:xfrm>
          </p:grpSpPr>
          <p:sp>
            <p:nvSpPr>
              <p:cNvPr id="457" name="Google Shape;457;p15"/>
              <p:cNvSpPr/>
              <p:nvPr/>
            </p:nvSpPr>
            <p:spPr>
              <a:xfrm>
                <a:off x="615" y="2564"/>
                <a:ext cx="721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8" name="Google Shape;458;p15"/>
              <p:cNvSpPr/>
              <p:nvPr/>
            </p:nvSpPr>
            <p:spPr>
              <a:xfrm>
                <a:off x="628" y="2581"/>
                <a:ext cx="696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59" name="Google Shape;459;p15"/>
            <p:cNvSpPr/>
            <p:nvPr/>
          </p:nvSpPr>
          <p:spPr>
            <a:xfrm>
              <a:off x="4220" y="1354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0" name="Google Shape;460;p15"/>
            <p:cNvSpPr/>
            <p:nvPr/>
          </p:nvSpPr>
          <p:spPr>
            <a:xfrm>
              <a:off x="4230" y="1655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61" name="Google Shape;461;p15"/>
            <p:cNvGrpSpPr/>
            <p:nvPr/>
          </p:nvGrpSpPr>
          <p:grpSpPr>
            <a:xfrm>
              <a:off x="4738" y="1647"/>
              <a:ext cx="578" cy="135"/>
              <a:chOff x="618" y="2586"/>
              <a:chExt cx="720" cy="124"/>
            </a:xfrm>
          </p:grpSpPr>
          <p:sp>
            <p:nvSpPr>
              <p:cNvPr id="462" name="Google Shape;462;p15"/>
              <p:cNvSpPr/>
              <p:nvPr/>
            </p:nvSpPr>
            <p:spPr>
              <a:xfrm>
                <a:off x="618" y="2586"/>
                <a:ext cx="720" cy="12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3" name="Google Shape;463;p15"/>
              <p:cNvSpPr/>
              <p:nvPr/>
            </p:nvSpPr>
            <p:spPr>
              <a:xfrm>
                <a:off x="630" y="2586"/>
                <a:ext cx="695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64" name="Google Shape;464;p15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65" name="Google Shape;465;p15"/>
            <p:cNvGrpSpPr/>
            <p:nvPr/>
          </p:nvGrpSpPr>
          <p:grpSpPr>
            <a:xfrm>
              <a:off x="4738" y="1330"/>
              <a:ext cx="588" cy="134"/>
              <a:chOff x="613" y="2571"/>
              <a:chExt cx="732" cy="134"/>
            </a:xfrm>
          </p:grpSpPr>
          <p:sp>
            <p:nvSpPr>
              <p:cNvPr id="466" name="Google Shape;466;p15"/>
              <p:cNvSpPr/>
              <p:nvPr/>
            </p:nvSpPr>
            <p:spPr>
              <a:xfrm>
                <a:off x="613" y="2571"/>
                <a:ext cx="732" cy="13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7" name="Google Shape;467;p15"/>
              <p:cNvSpPr/>
              <p:nvPr/>
            </p:nvSpPr>
            <p:spPr>
              <a:xfrm>
                <a:off x="625" y="2587"/>
                <a:ext cx="720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68" name="Google Shape;468;p15"/>
            <p:cNvSpPr/>
            <p:nvPr/>
          </p:nvSpPr>
          <p:spPr>
            <a:xfrm>
              <a:off x="5246" y="429"/>
              <a:ext cx="70" cy="2285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9" name="Google Shape;469;p15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0" name="Google Shape;470;p15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1" name="Google Shape;471;p15"/>
            <p:cNvSpPr/>
            <p:nvPr/>
          </p:nvSpPr>
          <p:spPr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2" name="Google Shape;472;p15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3" name="Google Shape;473;p15"/>
            <p:cNvSpPr/>
            <p:nvPr/>
          </p:nvSpPr>
          <p:spPr>
            <a:xfrm>
              <a:off x="4140" y="2675"/>
              <a:ext cx="1196" cy="150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" name="Google Shape;474;p15"/>
            <p:cNvSpPr/>
            <p:nvPr/>
          </p:nvSpPr>
          <p:spPr>
            <a:xfrm>
              <a:off x="4210" y="2714"/>
              <a:ext cx="1066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" name="Google Shape;475;p15"/>
            <p:cNvSpPr/>
            <p:nvPr/>
          </p:nvSpPr>
          <p:spPr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" name="Google Shape;476;p15"/>
            <p:cNvSpPr/>
            <p:nvPr/>
          </p:nvSpPr>
          <p:spPr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7" name="Google Shape;477;p15"/>
            <p:cNvSpPr/>
            <p:nvPr/>
          </p:nvSpPr>
          <p:spPr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8" name="Google Shape;478;p15"/>
            <p:cNvSpPr/>
            <p:nvPr/>
          </p:nvSpPr>
          <p:spPr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79" name="Google Shape;479;p15"/>
          <p:cNvSpPr txBox="1"/>
          <p:nvPr/>
        </p:nvSpPr>
        <p:spPr>
          <a:xfrm>
            <a:off x="10216734" y="5716780"/>
            <a:ext cx="167545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None/>
            </a:pPr>
            <a:r>
              <a:rPr i="1" lang="en-US" sz="2400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destination</a:t>
            </a:r>
            <a:endParaRPr b="0" i="1" sz="2400" u="none" cap="none" strike="noStrike">
              <a:solidFill>
                <a:srgbClr val="0000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80" name="Google Shape;480;p15"/>
          <p:cNvGrpSpPr/>
          <p:nvPr/>
        </p:nvGrpSpPr>
        <p:grpSpPr>
          <a:xfrm>
            <a:off x="9221450" y="1413548"/>
            <a:ext cx="1765726" cy="4034752"/>
            <a:chOff x="1484027" y="1706480"/>
            <a:chExt cx="1765726" cy="4034752"/>
          </a:xfrm>
        </p:grpSpPr>
        <p:sp>
          <p:nvSpPr>
            <p:cNvPr id="481" name="Google Shape;481;p15"/>
            <p:cNvSpPr/>
            <p:nvPr/>
          </p:nvSpPr>
          <p:spPr>
            <a:xfrm>
              <a:off x="1528997" y="1870247"/>
              <a:ext cx="1648917" cy="3870985"/>
            </a:xfrm>
            <a:prstGeom prst="rect">
              <a:avLst/>
            </a:prstGeom>
            <a:solidFill>
              <a:schemeClr val="lt1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76200" sx="101000" rotWithShape="0" algn="bl" dir="18900000" dist="38100" sy="1010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2" name="Google Shape;482;p15"/>
            <p:cNvSpPr txBox="1"/>
            <p:nvPr/>
          </p:nvSpPr>
          <p:spPr>
            <a:xfrm>
              <a:off x="1484027" y="1706480"/>
              <a:ext cx="1765726" cy="40330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application</a:t>
              </a:r>
              <a:endParaRPr/>
            </a:p>
            <a:p>
              <a:pPr indent="0" lvl="0" marL="0" marR="0" rtl="0" algn="ctr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transport</a:t>
              </a:r>
              <a:endParaRPr/>
            </a:p>
            <a:p>
              <a:pPr indent="0" lvl="0" marL="0" marR="0" rtl="0" algn="ctr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network</a:t>
              </a:r>
              <a:endParaRPr/>
            </a:p>
            <a:p>
              <a:pPr indent="0" lvl="0" marL="0" marR="0" rtl="0" algn="ctr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link</a:t>
              </a:r>
              <a:endParaRPr/>
            </a:p>
            <a:p>
              <a:pPr indent="0" lvl="0" marL="0" marR="0" rtl="0" algn="ctr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physical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483" name="Google Shape;483;p15"/>
            <p:cNvCxnSpPr/>
            <p:nvPr/>
          </p:nvCxnSpPr>
          <p:spPr>
            <a:xfrm>
              <a:off x="1534432" y="2675745"/>
              <a:ext cx="1643483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84" name="Google Shape;484;p15"/>
            <p:cNvCxnSpPr/>
            <p:nvPr/>
          </p:nvCxnSpPr>
          <p:spPr>
            <a:xfrm>
              <a:off x="1506952" y="3472722"/>
              <a:ext cx="1655973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85" name="Google Shape;485;p15"/>
            <p:cNvCxnSpPr/>
            <p:nvPr/>
          </p:nvCxnSpPr>
          <p:spPr>
            <a:xfrm>
              <a:off x="1509450" y="4209737"/>
              <a:ext cx="1668465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86" name="Google Shape;486;p15"/>
            <p:cNvCxnSpPr/>
            <p:nvPr/>
          </p:nvCxnSpPr>
          <p:spPr>
            <a:xfrm>
              <a:off x="1511947" y="4991726"/>
              <a:ext cx="165097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487" name="Google Shape;487;p15"/>
          <p:cNvSpPr/>
          <p:nvPr/>
        </p:nvSpPr>
        <p:spPr>
          <a:xfrm>
            <a:off x="5584583" y="2368401"/>
            <a:ext cx="971760" cy="38974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88" name="Google Shape;488;p15"/>
          <p:cNvGrpSpPr/>
          <p:nvPr/>
        </p:nvGrpSpPr>
        <p:grpSpPr>
          <a:xfrm>
            <a:off x="5690803" y="2434313"/>
            <a:ext cx="908050" cy="301625"/>
            <a:chOff x="1848" y="2046"/>
            <a:chExt cx="572" cy="190"/>
          </a:xfrm>
        </p:grpSpPr>
        <p:grpSp>
          <p:nvGrpSpPr>
            <p:cNvPr id="489" name="Google Shape;489;p15"/>
            <p:cNvGrpSpPr/>
            <p:nvPr/>
          </p:nvGrpSpPr>
          <p:grpSpPr>
            <a:xfrm>
              <a:off x="1848" y="2047"/>
              <a:ext cx="187" cy="184"/>
              <a:chOff x="1959" y="2058"/>
              <a:chExt cx="187" cy="184"/>
            </a:xfrm>
          </p:grpSpPr>
          <p:sp>
            <p:nvSpPr>
              <p:cNvPr id="490" name="Google Shape;490;p15"/>
              <p:cNvSpPr/>
              <p:nvPr/>
            </p:nvSpPr>
            <p:spPr>
              <a:xfrm>
                <a:off x="1964" y="2075"/>
                <a:ext cx="177" cy="162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1" name="Google Shape;491;p15"/>
              <p:cNvSpPr/>
              <p:nvPr/>
            </p:nvSpPr>
            <p:spPr>
              <a:xfrm>
                <a:off x="1959" y="2058"/>
                <a:ext cx="187" cy="18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Noto Sans Symbols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H</a:t>
                </a:r>
                <a:r>
                  <a:rPr b="0" baseline="-2500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t</a:t>
                </a:r>
                <a:endParaRPr b="0" baseline="-2500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92" name="Google Shape;492;p15"/>
            <p:cNvGrpSpPr/>
            <p:nvPr/>
          </p:nvGrpSpPr>
          <p:grpSpPr>
            <a:xfrm>
              <a:off x="1992" y="2046"/>
              <a:ext cx="428" cy="190"/>
              <a:chOff x="780" y="1553"/>
              <a:chExt cx="428" cy="190"/>
            </a:xfrm>
          </p:grpSpPr>
          <p:sp>
            <p:nvSpPr>
              <p:cNvPr id="493" name="Google Shape;493;p15"/>
              <p:cNvSpPr/>
              <p:nvPr/>
            </p:nvSpPr>
            <p:spPr>
              <a:xfrm>
                <a:off x="817" y="1571"/>
                <a:ext cx="312" cy="162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4" name="Google Shape;494;p15"/>
              <p:cNvSpPr/>
              <p:nvPr/>
            </p:nvSpPr>
            <p:spPr>
              <a:xfrm>
                <a:off x="780" y="1553"/>
                <a:ext cx="428" cy="1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Noto Sans Symbols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M</a:t>
                </a:r>
                <a:endParaRPr/>
              </a:p>
            </p:txBody>
          </p:sp>
        </p:grpSp>
      </p:grpSp>
      <p:grpSp>
        <p:nvGrpSpPr>
          <p:cNvPr id="495" name="Google Shape;495;p15"/>
          <p:cNvGrpSpPr/>
          <p:nvPr/>
        </p:nvGrpSpPr>
        <p:grpSpPr>
          <a:xfrm>
            <a:off x="5937404" y="1548324"/>
            <a:ext cx="679450" cy="301625"/>
            <a:chOff x="780" y="1553"/>
            <a:chExt cx="428" cy="190"/>
          </a:xfrm>
        </p:grpSpPr>
        <p:sp>
          <p:nvSpPr>
            <p:cNvPr id="496" name="Google Shape;496;p15"/>
            <p:cNvSpPr/>
            <p:nvPr/>
          </p:nvSpPr>
          <p:spPr>
            <a:xfrm>
              <a:off x="817" y="1569"/>
              <a:ext cx="312" cy="162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7" name="Google Shape;497;p15"/>
            <p:cNvSpPr/>
            <p:nvPr/>
          </p:nvSpPr>
          <p:spPr>
            <a:xfrm>
              <a:off x="780" y="1553"/>
              <a:ext cx="428" cy="1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</a:t>
              </a:r>
              <a:endParaRPr/>
            </a:p>
          </p:txBody>
        </p:sp>
      </p:grpSp>
      <p:sp>
        <p:nvSpPr>
          <p:cNvPr id="498" name="Google Shape;498;p15"/>
          <p:cNvSpPr/>
          <p:nvPr/>
        </p:nvSpPr>
        <p:spPr>
          <a:xfrm>
            <a:off x="5356172" y="3319499"/>
            <a:ext cx="1210365" cy="38974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99" name="Google Shape;499;p15"/>
          <p:cNvGrpSpPr/>
          <p:nvPr/>
        </p:nvGrpSpPr>
        <p:grpSpPr>
          <a:xfrm>
            <a:off x="5418625" y="3360607"/>
            <a:ext cx="1058375" cy="307296"/>
            <a:chOff x="5509436" y="3287899"/>
            <a:chExt cx="1058375" cy="307296"/>
          </a:xfrm>
        </p:grpSpPr>
        <p:grpSp>
          <p:nvGrpSpPr>
            <p:cNvPr id="500" name="Google Shape;500;p15"/>
            <p:cNvGrpSpPr/>
            <p:nvPr/>
          </p:nvGrpSpPr>
          <p:grpSpPr>
            <a:xfrm>
              <a:off x="5510535" y="3293570"/>
              <a:ext cx="1057276" cy="301625"/>
              <a:chOff x="469" y="1531"/>
              <a:chExt cx="666" cy="190"/>
            </a:xfrm>
          </p:grpSpPr>
          <p:sp>
            <p:nvSpPr>
              <p:cNvPr id="501" name="Google Shape;501;p15"/>
              <p:cNvSpPr/>
              <p:nvPr/>
            </p:nvSpPr>
            <p:spPr>
              <a:xfrm>
                <a:off x="469" y="1549"/>
                <a:ext cx="666" cy="162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2" name="Google Shape;502;p15"/>
              <p:cNvSpPr/>
              <p:nvPr/>
            </p:nvSpPr>
            <p:spPr>
              <a:xfrm>
                <a:off x="873" y="1531"/>
                <a:ext cx="239" cy="1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Noto Sans Symbols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M</a:t>
                </a:r>
                <a:endParaRPr/>
              </a:p>
            </p:txBody>
          </p:sp>
        </p:grpSp>
        <p:sp>
          <p:nvSpPr>
            <p:cNvPr id="503" name="Google Shape;503;p15"/>
            <p:cNvSpPr/>
            <p:nvPr/>
          </p:nvSpPr>
          <p:spPr>
            <a:xfrm>
              <a:off x="5771740" y="3305237"/>
              <a:ext cx="296863" cy="2619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</a:t>
              </a:r>
              <a:r>
                <a:rPr b="0" baseline="-2500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 b="0" baseline="-2500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4" name="Google Shape;504;p15"/>
            <p:cNvSpPr/>
            <p:nvPr/>
          </p:nvSpPr>
          <p:spPr>
            <a:xfrm>
              <a:off x="5509436" y="3287899"/>
              <a:ext cx="296863" cy="29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</a:t>
              </a:r>
              <a:r>
                <a:rPr b="0" baseline="-2500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</a:t>
              </a:r>
              <a:endParaRPr b="0" baseline="-2500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05" name="Google Shape;505;p15"/>
            <p:cNvCxnSpPr/>
            <p:nvPr/>
          </p:nvCxnSpPr>
          <p:spPr>
            <a:xfrm>
              <a:off x="6076877" y="3322145"/>
              <a:ext cx="0" cy="25717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06" name="Google Shape;506;p15"/>
            <p:cNvCxnSpPr/>
            <p:nvPr/>
          </p:nvCxnSpPr>
          <p:spPr>
            <a:xfrm>
              <a:off x="5796378" y="3320433"/>
              <a:ext cx="0" cy="25717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507" name="Google Shape;507;p15"/>
          <p:cNvGrpSpPr/>
          <p:nvPr/>
        </p:nvGrpSpPr>
        <p:grpSpPr>
          <a:xfrm>
            <a:off x="7629993" y="1484027"/>
            <a:ext cx="1535906" cy="3792511"/>
            <a:chOff x="7629993" y="1484027"/>
            <a:chExt cx="1535906" cy="3792511"/>
          </a:xfrm>
        </p:grpSpPr>
        <p:sp>
          <p:nvSpPr>
            <p:cNvPr id="508" name="Google Shape;508;p15"/>
            <p:cNvSpPr/>
            <p:nvPr/>
          </p:nvSpPr>
          <p:spPr>
            <a:xfrm flipH="1">
              <a:off x="7629993" y="1484027"/>
              <a:ext cx="1201062" cy="3792511"/>
            </a:xfrm>
            <a:custGeom>
              <a:rect b="b" l="l" r="r" t="t"/>
              <a:pathLst>
                <a:path extrusionOk="0" h="3263030" w="1822537">
                  <a:moveTo>
                    <a:pt x="1822537" y="3263030"/>
                  </a:moveTo>
                  <a:lnTo>
                    <a:pt x="6263" y="2743200"/>
                  </a:lnTo>
                  <a:cubicBezTo>
                    <a:pt x="4175" y="1828800"/>
                    <a:pt x="2088" y="914400"/>
                    <a:pt x="0" y="0"/>
                  </a:cubicBezTo>
                </a:path>
              </a:pathLst>
            </a:custGeom>
            <a:noFill/>
            <a:ln cap="flat" cmpd="sng" w="4445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 </a:t>
              </a:r>
              <a:endParaRPr/>
            </a:p>
          </p:txBody>
        </p:sp>
        <p:grpSp>
          <p:nvGrpSpPr>
            <p:cNvPr id="509" name="Google Shape;509;p15"/>
            <p:cNvGrpSpPr/>
            <p:nvPr/>
          </p:nvGrpSpPr>
          <p:grpSpPr>
            <a:xfrm>
              <a:off x="7693325" y="4097936"/>
              <a:ext cx="1470663" cy="389744"/>
              <a:chOff x="6216702" y="5375649"/>
              <a:chExt cx="1470663" cy="389744"/>
            </a:xfrm>
          </p:grpSpPr>
          <p:sp>
            <p:nvSpPr>
              <p:cNvPr id="510" name="Google Shape;510;p15"/>
              <p:cNvSpPr/>
              <p:nvPr/>
            </p:nvSpPr>
            <p:spPr>
              <a:xfrm>
                <a:off x="6477000" y="5375649"/>
                <a:ext cx="1210365" cy="389744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11" name="Google Shape;511;p15"/>
              <p:cNvGrpSpPr/>
              <p:nvPr/>
            </p:nvGrpSpPr>
            <p:grpSpPr>
              <a:xfrm>
                <a:off x="6216702" y="5392448"/>
                <a:ext cx="1381126" cy="301625"/>
                <a:chOff x="265" y="1531"/>
                <a:chExt cx="870" cy="190"/>
              </a:xfrm>
            </p:grpSpPr>
            <p:sp>
              <p:nvSpPr>
                <p:cNvPr id="512" name="Google Shape;512;p15"/>
                <p:cNvSpPr/>
                <p:nvPr/>
              </p:nvSpPr>
              <p:spPr>
                <a:xfrm>
                  <a:off x="265" y="1549"/>
                  <a:ext cx="870" cy="162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13" name="Google Shape;513;p15"/>
                <p:cNvSpPr/>
                <p:nvPr/>
              </p:nvSpPr>
              <p:spPr>
                <a:xfrm>
                  <a:off x="873" y="1531"/>
                  <a:ext cx="239" cy="1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Noto Sans Symbols"/>
                    <a:buNone/>
                  </a:pPr>
                  <a:r>
                    <a:rPr b="0" i="0" lang="en-US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M</a:t>
                  </a:r>
                  <a:endParaRPr/>
                </a:p>
              </p:txBody>
            </p:sp>
          </p:grpSp>
          <p:sp>
            <p:nvSpPr>
              <p:cNvPr id="514" name="Google Shape;514;p15"/>
              <p:cNvSpPr/>
              <p:nvPr/>
            </p:nvSpPr>
            <p:spPr>
              <a:xfrm>
                <a:off x="6801757" y="5404115"/>
                <a:ext cx="296863" cy="2619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Noto Sans Symbols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H</a:t>
                </a:r>
                <a:r>
                  <a:rPr b="0" baseline="-2500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t</a:t>
                </a:r>
                <a:endParaRPr b="0" baseline="-2500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5" name="Google Shape;515;p15"/>
              <p:cNvSpPr/>
              <p:nvPr/>
            </p:nvSpPr>
            <p:spPr>
              <a:xfrm>
                <a:off x="6539453" y="5386777"/>
                <a:ext cx="296863" cy="292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Noto Sans Symbols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H</a:t>
                </a:r>
                <a:r>
                  <a:rPr b="0" baseline="-2500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</a:t>
                </a:r>
                <a:endParaRPr b="0" baseline="-2500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516" name="Google Shape;516;p15"/>
              <p:cNvCxnSpPr/>
              <p:nvPr/>
            </p:nvCxnSpPr>
            <p:spPr>
              <a:xfrm>
                <a:off x="7106894" y="5421023"/>
                <a:ext cx="0" cy="25717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517" name="Google Shape;517;p15"/>
              <p:cNvCxnSpPr/>
              <p:nvPr/>
            </p:nvCxnSpPr>
            <p:spPr>
              <a:xfrm>
                <a:off x="6826395" y="5419311"/>
                <a:ext cx="0" cy="25717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518" name="Google Shape;518;p15"/>
              <p:cNvSpPr/>
              <p:nvPr/>
            </p:nvSpPr>
            <p:spPr>
              <a:xfrm>
                <a:off x="6236418" y="5394426"/>
                <a:ext cx="296863" cy="292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Noto Sans Symbols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H</a:t>
                </a:r>
                <a:r>
                  <a:rPr b="0" baseline="-2500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l</a:t>
                </a:r>
                <a:endParaRPr/>
              </a:p>
            </p:txBody>
          </p:sp>
          <p:cxnSp>
            <p:nvCxnSpPr>
              <p:cNvPr id="519" name="Google Shape;519;p15"/>
              <p:cNvCxnSpPr/>
              <p:nvPr/>
            </p:nvCxnSpPr>
            <p:spPr>
              <a:xfrm>
                <a:off x="6505708" y="5419900"/>
                <a:ext cx="0" cy="25717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520" name="Google Shape;520;p15"/>
            <p:cNvGrpSpPr/>
            <p:nvPr/>
          </p:nvGrpSpPr>
          <p:grpSpPr>
            <a:xfrm>
              <a:off x="8014421" y="3363106"/>
              <a:ext cx="1058375" cy="307296"/>
              <a:chOff x="5509436" y="3287899"/>
              <a:chExt cx="1058375" cy="307296"/>
            </a:xfrm>
          </p:grpSpPr>
          <p:grpSp>
            <p:nvGrpSpPr>
              <p:cNvPr id="521" name="Google Shape;521;p15"/>
              <p:cNvGrpSpPr/>
              <p:nvPr/>
            </p:nvGrpSpPr>
            <p:grpSpPr>
              <a:xfrm>
                <a:off x="5510535" y="3293570"/>
                <a:ext cx="1057276" cy="301625"/>
                <a:chOff x="469" y="1531"/>
                <a:chExt cx="666" cy="190"/>
              </a:xfrm>
            </p:grpSpPr>
            <p:sp>
              <p:nvSpPr>
                <p:cNvPr id="522" name="Google Shape;522;p15"/>
                <p:cNvSpPr/>
                <p:nvPr/>
              </p:nvSpPr>
              <p:spPr>
                <a:xfrm>
                  <a:off x="469" y="1549"/>
                  <a:ext cx="666" cy="162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23" name="Google Shape;523;p15"/>
                <p:cNvSpPr/>
                <p:nvPr/>
              </p:nvSpPr>
              <p:spPr>
                <a:xfrm>
                  <a:off x="873" y="1531"/>
                  <a:ext cx="239" cy="1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Noto Sans Symbols"/>
                    <a:buNone/>
                  </a:pPr>
                  <a:r>
                    <a:rPr b="0" i="0" lang="en-US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M</a:t>
                  </a:r>
                  <a:endParaRPr/>
                </a:p>
              </p:txBody>
            </p:sp>
          </p:grpSp>
          <p:sp>
            <p:nvSpPr>
              <p:cNvPr id="524" name="Google Shape;524;p15"/>
              <p:cNvSpPr/>
              <p:nvPr/>
            </p:nvSpPr>
            <p:spPr>
              <a:xfrm>
                <a:off x="5771740" y="3305237"/>
                <a:ext cx="296863" cy="2619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Noto Sans Symbols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H</a:t>
                </a:r>
                <a:r>
                  <a:rPr b="0" baseline="-2500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t</a:t>
                </a:r>
                <a:endParaRPr b="0" baseline="-2500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5" name="Google Shape;525;p15"/>
              <p:cNvSpPr/>
              <p:nvPr/>
            </p:nvSpPr>
            <p:spPr>
              <a:xfrm>
                <a:off x="5509436" y="3287899"/>
                <a:ext cx="296863" cy="292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Noto Sans Symbols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H</a:t>
                </a:r>
                <a:r>
                  <a:rPr b="0" baseline="-2500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</a:t>
                </a:r>
                <a:endParaRPr b="0" baseline="-2500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526" name="Google Shape;526;p15"/>
              <p:cNvCxnSpPr/>
              <p:nvPr/>
            </p:nvCxnSpPr>
            <p:spPr>
              <a:xfrm>
                <a:off x="6076877" y="3322145"/>
                <a:ext cx="0" cy="25717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527" name="Google Shape;527;p15"/>
              <p:cNvCxnSpPr/>
              <p:nvPr/>
            </p:nvCxnSpPr>
            <p:spPr>
              <a:xfrm>
                <a:off x="5796378" y="3320433"/>
                <a:ext cx="0" cy="25717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528" name="Google Shape;528;p15"/>
            <p:cNvGrpSpPr/>
            <p:nvPr/>
          </p:nvGrpSpPr>
          <p:grpSpPr>
            <a:xfrm>
              <a:off x="8257849" y="2658970"/>
              <a:ext cx="908050" cy="301625"/>
              <a:chOff x="6877524" y="6049441"/>
              <a:chExt cx="908050" cy="301625"/>
            </a:xfrm>
          </p:grpSpPr>
          <p:grpSp>
            <p:nvGrpSpPr>
              <p:cNvPr id="529" name="Google Shape;529;p15"/>
              <p:cNvGrpSpPr/>
              <p:nvPr/>
            </p:nvGrpSpPr>
            <p:grpSpPr>
              <a:xfrm>
                <a:off x="6877524" y="6051029"/>
                <a:ext cx="296863" cy="292100"/>
                <a:chOff x="1959" y="2058"/>
                <a:chExt cx="187" cy="184"/>
              </a:xfrm>
            </p:grpSpPr>
            <p:sp>
              <p:nvSpPr>
                <p:cNvPr id="530" name="Google Shape;530;p15"/>
                <p:cNvSpPr/>
                <p:nvPr/>
              </p:nvSpPr>
              <p:spPr>
                <a:xfrm>
                  <a:off x="1964" y="2075"/>
                  <a:ext cx="177" cy="162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31" name="Google Shape;531;p15"/>
                <p:cNvSpPr/>
                <p:nvPr/>
              </p:nvSpPr>
              <p:spPr>
                <a:xfrm>
                  <a:off x="1959" y="2058"/>
                  <a:ext cx="187" cy="18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Noto Sans Symbols"/>
                    <a:buNone/>
                  </a:pPr>
                  <a:r>
                    <a:rPr b="0" i="0" lang="en-US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H</a:t>
                  </a:r>
                  <a:r>
                    <a:rPr b="0" baseline="-2500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t</a:t>
                  </a:r>
                  <a:endParaRPr b="0" baseline="-2500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532" name="Google Shape;532;p15"/>
              <p:cNvGrpSpPr/>
              <p:nvPr/>
            </p:nvGrpSpPr>
            <p:grpSpPr>
              <a:xfrm>
                <a:off x="7106124" y="6049441"/>
                <a:ext cx="679450" cy="301625"/>
                <a:chOff x="780" y="1553"/>
                <a:chExt cx="428" cy="190"/>
              </a:xfrm>
            </p:grpSpPr>
            <p:sp>
              <p:nvSpPr>
                <p:cNvPr id="533" name="Google Shape;533;p15"/>
                <p:cNvSpPr/>
                <p:nvPr/>
              </p:nvSpPr>
              <p:spPr>
                <a:xfrm>
                  <a:off x="817" y="1571"/>
                  <a:ext cx="312" cy="162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34" name="Google Shape;534;p15"/>
                <p:cNvSpPr/>
                <p:nvPr/>
              </p:nvSpPr>
              <p:spPr>
                <a:xfrm>
                  <a:off x="780" y="1553"/>
                  <a:ext cx="428" cy="1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Noto Sans Symbols"/>
                    <a:buNone/>
                  </a:pPr>
                  <a:r>
                    <a:rPr b="0" i="0" lang="en-US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M</a:t>
                  </a:r>
                  <a:endParaRPr/>
                </a:p>
              </p:txBody>
            </p:sp>
          </p:grpSp>
        </p:grpSp>
        <p:grpSp>
          <p:nvGrpSpPr>
            <p:cNvPr id="535" name="Google Shape;535;p15"/>
            <p:cNvGrpSpPr/>
            <p:nvPr/>
          </p:nvGrpSpPr>
          <p:grpSpPr>
            <a:xfrm>
              <a:off x="8465451" y="1880020"/>
              <a:ext cx="679450" cy="301625"/>
              <a:chOff x="780" y="1553"/>
              <a:chExt cx="428" cy="190"/>
            </a:xfrm>
          </p:grpSpPr>
          <p:sp>
            <p:nvSpPr>
              <p:cNvPr id="536" name="Google Shape;536;p15"/>
              <p:cNvSpPr/>
              <p:nvPr/>
            </p:nvSpPr>
            <p:spPr>
              <a:xfrm>
                <a:off x="817" y="1569"/>
                <a:ext cx="312" cy="162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7" name="Google Shape;537;p15"/>
              <p:cNvSpPr/>
              <p:nvPr/>
            </p:nvSpPr>
            <p:spPr>
              <a:xfrm>
                <a:off x="780" y="1553"/>
                <a:ext cx="428" cy="1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Noto Sans Symbols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M</a:t>
                </a:r>
                <a:endParaRPr/>
              </a:p>
            </p:txBody>
          </p:sp>
        </p:grpSp>
      </p:grpSp>
      <p:sp>
        <p:nvSpPr>
          <p:cNvPr id="538" name="Google Shape;538;p15"/>
          <p:cNvSpPr/>
          <p:nvPr/>
        </p:nvSpPr>
        <p:spPr>
          <a:xfrm>
            <a:off x="3570599" y="4675377"/>
            <a:ext cx="4136844" cy="601045"/>
          </a:xfrm>
          <a:custGeom>
            <a:rect b="b" l="l" r="r" t="t"/>
            <a:pathLst>
              <a:path extrusionOk="0" h="1622" w="9988">
                <a:moveTo>
                  <a:pt x="0" y="0"/>
                </a:moveTo>
                <a:lnTo>
                  <a:pt x="2306" y="1583"/>
                </a:lnTo>
                <a:lnTo>
                  <a:pt x="9988" y="1622"/>
                </a:lnTo>
              </a:path>
            </a:pathLst>
          </a:custGeom>
          <a:noFill/>
          <a:ln cap="flat" cmpd="sng" w="44450">
            <a:solidFill>
              <a:srgbClr val="C00000"/>
            </a:solidFill>
            <a:prstDash val="solid"/>
            <a:round/>
            <a:headEnd len="med" w="med" type="none"/>
            <a:tailEnd len="med" w="med" type="triangl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 </a:t>
            </a:r>
            <a:endParaRPr/>
          </a:p>
        </p:txBody>
      </p:sp>
      <p:grpSp>
        <p:nvGrpSpPr>
          <p:cNvPr id="539" name="Google Shape;539;p15"/>
          <p:cNvGrpSpPr/>
          <p:nvPr/>
        </p:nvGrpSpPr>
        <p:grpSpPr>
          <a:xfrm>
            <a:off x="3186222" y="2137612"/>
            <a:ext cx="1079388" cy="1910319"/>
            <a:chOff x="3186222" y="2137612"/>
            <a:chExt cx="1079388" cy="1910319"/>
          </a:xfrm>
        </p:grpSpPr>
        <p:sp>
          <p:nvSpPr>
            <p:cNvPr id="540" name="Google Shape;540;p15"/>
            <p:cNvSpPr txBox="1"/>
            <p:nvPr/>
          </p:nvSpPr>
          <p:spPr>
            <a:xfrm>
              <a:off x="3186222" y="2137612"/>
              <a:ext cx="997068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message</a:t>
              </a:r>
              <a:endParaRPr/>
            </a:p>
          </p:txBody>
        </p:sp>
        <p:sp>
          <p:nvSpPr>
            <p:cNvPr id="541" name="Google Shape;541;p15"/>
            <p:cNvSpPr txBox="1"/>
            <p:nvPr/>
          </p:nvSpPr>
          <p:spPr>
            <a:xfrm>
              <a:off x="3192100" y="2928436"/>
              <a:ext cx="995272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segment</a:t>
              </a:r>
              <a:endParaRPr/>
            </a:p>
          </p:txBody>
        </p:sp>
        <p:sp>
          <p:nvSpPr>
            <p:cNvPr id="542" name="Google Shape;542;p15"/>
            <p:cNvSpPr txBox="1"/>
            <p:nvPr/>
          </p:nvSpPr>
          <p:spPr>
            <a:xfrm>
              <a:off x="3186532" y="3678599"/>
              <a:ext cx="1079078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datagram</a:t>
              </a:r>
              <a:endParaRPr/>
            </a:p>
          </p:txBody>
        </p:sp>
      </p:grpSp>
      <p:sp>
        <p:nvSpPr>
          <p:cNvPr id="543" name="Google Shape;543;p15"/>
          <p:cNvSpPr txBox="1"/>
          <p:nvPr/>
        </p:nvSpPr>
        <p:spPr>
          <a:xfrm>
            <a:off x="3188967" y="4455188"/>
            <a:ext cx="74097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frame</a:t>
            </a:r>
            <a:endParaRPr/>
          </a:p>
        </p:txBody>
      </p:sp>
      <p:grpSp>
        <p:nvGrpSpPr>
          <p:cNvPr id="544" name="Google Shape;544;p15"/>
          <p:cNvGrpSpPr/>
          <p:nvPr/>
        </p:nvGrpSpPr>
        <p:grpSpPr>
          <a:xfrm>
            <a:off x="5144294" y="4194650"/>
            <a:ext cx="1347789" cy="307296"/>
            <a:chOff x="5144294" y="4194650"/>
            <a:chExt cx="1347789" cy="307296"/>
          </a:xfrm>
        </p:grpSpPr>
        <p:grpSp>
          <p:nvGrpSpPr>
            <p:cNvPr id="545" name="Google Shape;545;p15"/>
            <p:cNvGrpSpPr/>
            <p:nvPr/>
          </p:nvGrpSpPr>
          <p:grpSpPr>
            <a:xfrm>
              <a:off x="5144294" y="4200321"/>
              <a:ext cx="1347789" cy="301625"/>
              <a:chOff x="286" y="1531"/>
              <a:chExt cx="849" cy="190"/>
            </a:xfrm>
          </p:grpSpPr>
          <p:sp>
            <p:nvSpPr>
              <p:cNvPr id="546" name="Google Shape;546;p15"/>
              <p:cNvSpPr/>
              <p:nvPr/>
            </p:nvSpPr>
            <p:spPr>
              <a:xfrm>
                <a:off x="286" y="1549"/>
                <a:ext cx="849" cy="162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7" name="Google Shape;547;p15"/>
              <p:cNvSpPr/>
              <p:nvPr/>
            </p:nvSpPr>
            <p:spPr>
              <a:xfrm>
                <a:off x="873" y="1531"/>
                <a:ext cx="239" cy="1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Noto Sans Symbols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M</a:t>
                </a:r>
                <a:endParaRPr/>
              </a:p>
            </p:txBody>
          </p:sp>
        </p:grpSp>
        <p:sp>
          <p:nvSpPr>
            <p:cNvPr id="548" name="Google Shape;548;p15"/>
            <p:cNvSpPr/>
            <p:nvPr/>
          </p:nvSpPr>
          <p:spPr>
            <a:xfrm>
              <a:off x="5696012" y="4211988"/>
              <a:ext cx="296863" cy="2619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</a:t>
              </a:r>
              <a:r>
                <a:rPr b="0" baseline="-2500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 b="0" baseline="-2500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9" name="Google Shape;549;p15"/>
            <p:cNvSpPr/>
            <p:nvPr/>
          </p:nvSpPr>
          <p:spPr>
            <a:xfrm>
              <a:off x="5433708" y="4194650"/>
              <a:ext cx="296863" cy="29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</a:t>
              </a:r>
              <a:r>
                <a:rPr b="0" baseline="-2500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</a:t>
              </a:r>
              <a:endParaRPr b="0" baseline="-2500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50" name="Google Shape;550;p15"/>
            <p:cNvCxnSpPr/>
            <p:nvPr/>
          </p:nvCxnSpPr>
          <p:spPr>
            <a:xfrm>
              <a:off x="6001149" y="4228896"/>
              <a:ext cx="0" cy="25717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51" name="Google Shape;551;p15"/>
            <p:cNvCxnSpPr/>
            <p:nvPr/>
          </p:nvCxnSpPr>
          <p:spPr>
            <a:xfrm>
              <a:off x="5720650" y="4227184"/>
              <a:ext cx="0" cy="25717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552" name="Google Shape;552;p15"/>
            <p:cNvSpPr/>
            <p:nvPr/>
          </p:nvSpPr>
          <p:spPr>
            <a:xfrm>
              <a:off x="5149178" y="4198403"/>
              <a:ext cx="296863" cy="29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</a:t>
              </a:r>
              <a:r>
                <a:rPr b="0" baseline="-2500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</a:t>
              </a:r>
              <a:endParaRPr/>
            </a:p>
          </p:txBody>
        </p:sp>
        <p:cxnSp>
          <p:nvCxnSpPr>
            <p:cNvPr id="553" name="Google Shape;553;p15"/>
            <p:cNvCxnSpPr/>
            <p:nvPr/>
          </p:nvCxnSpPr>
          <p:spPr>
            <a:xfrm>
              <a:off x="5418102" y="4226433"/>
              <a:ext cx="0" cy="25717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5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5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16"/>
          <p:cNvSpPr/>
          <p:nvPr/>
        </p:nvSpPr>
        <p:spPr>
          <a:xfrm>
            <a:off x="8197855" y="4478480"/>
            <a:ext cx="454072" cy="992421"/>
          </a:xfrm>
          <a:custGeom>
            <a:rect b="b" l="l" r="r" t="t"/>
            <a:pathLst>
              <a:path extrusionOk="0" h="9750" w="9587">
                <a:moveTo>
                  <a:pt x="9553" y="7744"/>
                </a:moveTo>
                <a:lnTo>
                  <a:pt x="302" y="0"/>
                </a:lnTo>
                <a:cubicBezTo>
                  <a:pt x="201" y="3191"/>
                  <a:pt x="101" y="6382"/>
                  <a:pt x="0" y="9573"/>
                </a:cubicBezTo>
                <a:lnTo>
                  <a:pt x="9464" y="9750"/>
                </a:lnTo>
                <a:cubicBezTo>
                  <a:pt x="9314" y="8998"/>
                  <a:pt x="9702" y="8496"/>
                  <a:pt x="9553" y="7744"/>
                </a:cubicBezTo>
                <a:close/>
              </a:path>
            </a:pathLst>
          </a:custGeom>
          <a:gradFill>
            <a:gsLst>
              <a:gs pos="0">
                <a:srgbClr val="3C6CDF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60" name="Google Shape;560;p16"/>
          <p:cNvGrpSpPr/>
          <p:nvPr/>
        </p:nvGrpSpPr>
        <p:grpSpPr>
          <a:xfrm>
            <a:off x="8637066" y="5115960"/>
            <a:ext cx="958850" cy="476251"/>
            <a:chOff x="7493876" y="2774731"/>
            <a:chExt cx="1481958" cy="894622"/>
          </a:xfrm>
        </p:grpSpPr>
        <p:sp>
          <p:nvSpPr>
            <p:cNvPr id="561" name="Google Shape;561;p16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62" name="Google Shape;562;p1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63" name="Google Shape;563;p1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64" name="Google Shape;564;p1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5" name="Google Shape;565;p1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6" name="Google Shape;566;p1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7" name="Google Shape;567;p1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568" name="Google Shape;568;p16"/>
          <p:cNvSpPr/>
          <p:nvPr/>
        </p:nvSpPr>
        <p:spPr>
          <a:xfrm>
            <a:off x="6916745" y="4489446"/>
            <a:ext cx="1273175" cy="94615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127000" sx="103000" rotWithShape="0" algn="bl" dir="18900000" dist="38100" sy="1030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" name="Google Shape;569;p16"/>
          <p:cNvSpPr txBox="1"/>
          <p:nvPr/>
        </p:nvSpPr>
        <p:spPr>
          <a:xfrm>
            <a:off x="6873882" y="4456108"/>
            <a:ext cx="1317625" cy="996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network</a:t>
            </a:r>
            <a:endParaRPr/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link</a:t>
            </a:r>
            <a:endParaRPr/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physical</a:t>
            </a:r>
            <a:endParaRPr/>
          </a:p>
        </p:txBody>
      </p:sp>
      <p:sp>
        <p:nvSpPr>
          <p:cNvPr id="570" name="Google Shape;570;p16"/>
          <p:cNvSpPr/>
          <p:nvPr/>
        </p:nvSpPr>
        <p:spPr>
          <a:xfrm>
            <a:off x="2886137" y="4865756"/>
            <a:ext cx="1273175" cy="15367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76200" sx="101000" rotWithShape="0" algn="bl" dir="18900000" dist="38100" sy="1010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1" name="Google Shape;571;p16"/>
          <p:cNvSpPr txBox="1"/>
          <p:nvPr/>
        </p:nvSpPr>
        <p:spPr>
          <a:xfrm>
            <a:off x="2832765" y="4821907"/>
            <a:ext cx="131762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application</a:t>
            </a:r>
            <a:endParaRPr/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transport</a:t>
            </a:r>
            <a:endParaRPr/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network</a:t>
            </a:r>
            <a:endParaRPr/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link</a:t>
            </a:r>
            <a:endParaRPr/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physical</a:t>
            </a:r>
            <a:endParaRPr/>
          </a:p>
        </p:txBody>
      </p:sp>
      <p:cxnSp>
        <p:nvCxnSpPr>
          <p:cNvPr id="572" name="Google Shape;572;p16"/>
          <p:cNvCxnSpPr/>
          <p:nvPr/>
        </p:nvCxnSpPr>
        <p:spPr>
          <a:xfrm>
            <a:off x="2886136" y="5183257"/>
            <a:ext cx="1263650" cy="3175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3" name="Google Shape;573;p16"/>
          <p:cNvCxnSpPr/>
          <p:nvPr/>
        </p:nvCxnSpPr>
        <p:spPr>
          <a:xfrm>
            <a:off x="2894074" y="5503932"/>
            <a:ext cx="1263650" cy="3175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4" name="Google Shape;574;p16"/>
          <p:cNvCxnSpPr/>
          <p:nvPr/>
        </p:nvCxnSpPr>
        <p:spPr>
          <a:xfrm>
            <a:off x="2898836" y="5784919"/>
            <a:ext cx="1263650" cy="3175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5" name="Google Shape;575;p16"/>
          <p:cNvCxnSpPr/>
          <p:nvPr/>
        </p:nvCxnSpPr>
        <p:spPr>
          <a:xfrm>
            <a:off x="2898836" y="6061144"/>
            <a:ext cx="1263650" cy="3175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6" name="Google Shape;576;p16"/>
          <p:cNvSpPr/>
          <p:nvPr/>
        </p:nvSpPr>
        <p:spPr>
          <a:xfrm>
            <a:off x="3816357" y="985833"/>
            <a:ext cx="1273175" cy="15367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76200" sx="101000" rotWithShape="0" algn="bl" dir="18900000" dist="38100" sy="1010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7" name="Google Shape;577;p16"/>
          <p:cNvSpPr txBox="1"/>
          <p:nvPr/>
        </p:nvSpPr>
        <p:spPr>
          <a:xfrm>
            <a:off x="3762985" y="941984"/>
            <a:ext cx="131762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application</a:t>
            </a:r>
            <a:endParaRPr/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transport</a:t>
            </a:r>
            <a:endParaRPr/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network</a:t>
            </a:r>
            <a:endParaRPr/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link</a:t>
            </a:r>
            <a:endParaRPr/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physical</a:t>
            </a:r>
            <a:endParaRPr/>
          </a:p>
        </p:txBody>
      </p:sp>
      <p:sp>
        <p:nvSpPr>
          <p:cNvPr id="578" name="Google Shape;578;p16"/>
          <p:cNvSpPr/>
          <p:nvPr/>
        </p:nvSpPr>
        <p:spPr>
          <a:xfrm>
            <a:off x="8317497" y="2564096"/>
            <a:ext cx="638175" cy="781777"/>
          </a:xfrm>
          <a:custGeom>
            <a:rect b="b" l="l" r="r" t="t"/>
            <a:pathLst>
              <a:path extrusionOk="0" h="537" w="402">
                <a:moveTo>
                  <a:pt x="402" y="363"/>
                </a:moveTo>
                <a:lnTo>
                  <a:pt x="28" y="0"/>
                </a:lnTo>
                <a:lnTo>
                  <a:pt x="0" y="470"/>
                </a:lnTo>
                <a:lnTo>
                  <a:pt x="242" y="537"/>
                </a:lnTo>
                <a:lnTo>
                  <a:pt x="402" y="363"/>
                </a:lnTo>
                <a:close/>
              </a:path>
            </a:pathLst>
          </a:custGeom>
          <a:gradFill>
            <a:gsLst>
              <a:gs pos="0">
                <a:srgbClr val="3C6CDF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79" name="Google Shape;579;p16"/>
          <p:cNvGrpSpPr/>
          <p:nvPr/>
        </p:nvGrpSpPr>
        <p:grpSpPr>
          <a:xfrm>
            <a:off x="8737109" y="2942202"/>
            <a:ext cx="959348" cy="478062"/>
            <a:chOff x="3668110" y="2448910"/>
            <a:chExt cx="3794234" cy="2165130"/>
          </a:xfrm>
        </p:grpSpPr>
        <p:sp>
          <p:nvSpPr>
            <p:cNvPr id="580" name="Google Shape;580;p16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1" name="Google Shape;581;p16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82" name="Google Shape;582;p16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583" name="Google Shape;583;p16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4" name="Google Shape;584;p16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5" name="Google Shape;585;p16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6" name="Google Shape;586;p16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587" name="Google Shape;587;p16"/>
          <p:cNvSpPr txBox="1"/>
          <p:nvPr>
            <p:ph type="title"/>
          </p:nvPr>
        </p:nvSpPr>
        <p:spPr>
          <a:xfrm>
            <a:off x="6978813" y="264748"/>
            <a:ext cx="4683534" cy="1680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Encapsulation: an end-end view</a:t>
            </a:r>
            <a:endParaRPr sz="4400"/>
          </a:p>
        </p:txBody>
      </p:sp>
      <p:sp>
        <p:nvSpPr>
          <p:cNvPr id="588" name="Google Shape;588;p16"/>
          <p:cNvSpPr/>
          <p:nvPr/>
        </p:nvSpPr>
        <p:spPr>
          <a:xfrm>
            <a:off x="5037145" y="1701796"/>
            <a:ext cx="4048125" cy="3833813"/>
          </a:xfrm>
          <a:custGeom>
            <a:rect b="b" l="l" r="r" t="t"/>
            <a:pathLst>
              <a:path extrusionOk="0" h="2415" w="2550">
                <a:moveTo>
                  <a:pt x="592" y="0"/>
                </a:moveTo>
                <a:lnTo>
                  <a:pt x="2544" y="0"/>
                </a:lnTo>
                <a:lnTo>
                  <a:pt x="2550" y="2415"/>
                </a:lnTo>
                <a:lnTo>
                  <a:pt x="0" y="2415"/>
                </a:lnTo>
              </a:path>
            </a:pathLst>
          </a:cu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16"/>
          <p:cNvSpPr txBox="1"/>
          <p:nvPr/>
        </p:nvSpPr>
        <p:spPr>
          <a:xfrm>
            <a:off x="3935420" y="477833"/>
            <a:ext cx="110013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None/>
            </a:pPr>
            <a:r>
              <a:rPr b="0" i="1" lang="en-US" sz="2400" u="none" cap="none" strike="noStrik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source</a:t>
            </a:r>
            <a:endParaRPr/>
          </a:p>
        </p:txBody>
      </p:sp>
      <p:sp>
        <p:nvSpPr>
          <p:cNvPr id="590" name="Google Shape;590;p16"/>
          <p:cNvSpPr/>
          <p:nvPr/>
        </p:nvSpPr>
        <p:spPr>
          <a:xfrm>
            <a:off x="5087944" y="959945"/>
            <a:ext cx="360362" cy="1596219"/>
          </a:xfrm>
          <a:custGeom>
            <a:rect b="b" l="l" r="r" t="t"/>
            <a:pathLst>
              <a:path extrusionOk="0" h="1186" w="267">
                <a:moveTo>
                  <a:pt x="254" y="466"/>
                </a:moveTo>
                <a:lnTo>
                  <a:pt x="0" y="0"/>
                </a:lnTo>
                <a:lnTo>
                  <a:pt x="0" y="1186"/>
                </a:lnTo>
                <a:lnTo>
                  <a:pt x="267" y="652"/>
                </a:lnTo>
                <a:lnTo>
                  <a:pt x="254" y="466"/>
                </a:lnTo>
                <a:close/>
              </a:path>
            </a:pathLst>
          </a:custGeom>
          <a:gradFill>
            <a:gsLst>
              <a:gs pos="0">
                <a:srgbClr val="3C6CDF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91" name="Google Shape;591;p16"/>
          <p:cNvCxnSpPr/>
          <p:nvPr/>
        </p:nvCxnSpPr>
        <p:spPr>
          <a:xfrm>
            <a:off x="3816356" y="1303334"/>
            <a:ext cx="1263650" cy="3175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2" name="Google Shape;592;p16"/>
          <p:cNvCxnSpPr/>
          <p:nvPr/>
        </p:nvCxnSpPr>
        <p:spPr>
          <a:xfrm>
            <a:off x="3824294" y="1624009"/>
            <a:ext cx="1263650" cy="3175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3" name="Google Shape;593;p16"/>
          <p:cNvCxnSpPr/>
          <p:nvPr/>
        </p:nvCxnSpPr>
        <p:spPr>
          <a:xfrm>
            <a:off x="3829056" y="1904996"/>
            <a:ext cx="1263650" cy="3175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4" name="Google Shape;594;p16"/>
          <p:cNvCxnSpPr/>
          <p:nvPr/>
        </p:nvCxnSpPr>
        <p:spPr>
          <a:xfrm>
            <a:off x="3829056" y="2181221"/>
            <a:ext cx="1263650" cy="3175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595" name="Google Shape;595;p16"/>
          <p:cNvGrpSpPr/>
          <p:nvPr/>
        </p:nvGrpSpPr>
        <p:grpSpPr>
          <a:xfrm>
            <a:off x="2438406" y="1622421"/>
            <a:ext cx="1208088" cy="303213"/>
            <a:chOff x="501" y="1990"/>
            <a:chExt cx="761" cy="191"/>
          </a:xfrm>
        </p:grpSpPr>
        <p:sp>
          <p:nvSpPr>
            <p:cNvPr id="596" name="Google Shape;596;p16"/>
            <p:cNvSpPr/>
            <p:nvPr/>
          </p:nvSpPr>
          <p:spPr>
            <a:xfrm>
              <a:off x="501" y="2007"/>
              <a:ext cx="682" cy="162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7" name="Google Shape;597;p16"/>
            <p:cNvSpPr/>
            <p:nvPr/>
          </p:nvSpPr>
          <p:spPr>
            <a:xfrm>
              <a:off x="704" y="1990"/>
              <a:ext cx="187" cy="1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</a:t>
              </a:r>
              <a:r>
                <a:rPr b="0" baseline="-2500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/>
            </a:p>
          </p:txBody>
        </p:sp>
        <p:sp>
          <p:nvSpPr>
            <p:cNvPr id="598" name="Google Shape;598;p16"/>
            <p:cNvSpPr/>
            <p:nvPr/>
          </p:nvSpPr>
          <p:spPr>
            <a:xfrm>
              <a:off x="518" y="1990"/>
              <a:ext cx="187" cy="1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</a:t>
              </a:r>
              <a:r>
                <a:rPr b="0" baseline="-2500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</a:t>
              </a:r>
              <a:endParaRPr/>
            </a:p>
          </p:txBody>
        </p:sp>
        <p:sp>
          <p:nvSpPr>
            <p:cNvPr id="599" name="Google Shape;599;p16"/>
            <p:cNvSpPr/>
            <p:nvPr/>
          </p:nvSpPr>
          <p:spPr>
            <a:xfrm>
              <a:off x="834" y="1991"/>
              <a:ext cx="428" cy="1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</a:t>
              </a:r>
              <a:endParaRPr/>
            </a:p>
          </p:txBody>
        </p:sp>
        <p:cxnSp>
          <p:nvCxnSpPr>
            <p:cNvPr id="600" name="Google Shape;600;p16"/>
            <p:cNvCxnSpPr/>
            <p:nvPr/>
          </p:nvCxnSpPr>
          <p:spPr>
            <a:xfrm>
              <a:off x="688" y="2013"/>
              <a:ext cx="0" cy="15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01" name="Google Shape;601;p16"/>
            <p:cNvCxnSpPr/>
            <p:nvPr/>
          </p:nvCxnSpPr>
          <p:spPr>
            <a:xfrm>
              <a:off x="880" y="2010"/>
              <a:ext cx="0" cy="15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602" name="Google Shape;602;p16"/>
          <p:cNvSpPr txBox="1"/>
          <p:nvPr/>
        </p:nvSpPr>
        <p:spPr>
          <a:xfrm>
            <a:off x="1614494" y="1250945"/>
            <a:ext cx="963612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segment</a:t>
            </a:r>
            <a:endParaRPr/>
          </a:p>
        </p:txBody>
      </p:sp>
      <p:grpSp>
        <p:nvGrpSpPr>
          <p:cNvPr id="603" name="Google Shape;603;p16"/>
          <p:cNvGrpSpPr/>
          <p:nvPr/>
        </p:nvGrpSpPr>
        <p:grpSpPr>
          <a:xfrm>
            <a:off x="2755907" y="1290633"/>
            <a:ext cx="301625" cy="292100"/>
            <a:chOff x="1962" y="2058"/>
            <a:chExt cx="190" cy="184"/>
          </a:xfrm>
        </p:grpSpPr>
        <p:sp>
          <p:nvSpPr>
            <p:cNvPr id="604" name="Google Shape;604;p16"/>
            <p:cNvSpPr/>
            <p:nvPr/>
          </p:nvSpPr>
          <p:spPr>
            <a:xfrm>
              <a:off x="1962" y="2075"/>
              <a:ext cx="177" cy="162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5" name="Google Shape;605;p16"/>
            <p:cNvSpPr/>
            <p:nvPr/>
          </p:nvSpPr>
          <p:spPr>
            <a:xfrm>
              <a:off x="1965" y="2058"/>
              <a:ext cx="187" cy="1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</a:t>
              </a:r>
              <a:r>
                <a:rPr b="0" baseline="-2500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/>
            </a:p>
          </p:txBody>
        </p:sp>
      </p:grpSp>
      <p:sp>
        <p:nvSpPr>
          <p:cNvPr id="606" name="Google Shape;606;p16"/>
          <p:cNvSpPr txBox="1"/>
          <p:nvPr/>
        </p:nvSpPr>
        <p:spPr>
          <a:xfrm>
            <a:off x="1414470" y="1590670"/>
            <a:ext cx="1042987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datagram</a:t>
            </a:r>
            <a:endParaRPr/>
          </a:p>
        </p:txBody>
      </p:sp>
      <p:sp>
        <p:nvSpPr>
          <p:cNvPr id="607" name="Google Shape;607;p16"/>
          <p:cNvSpPr txBox="1"/>
          <p:nvPr/>
        </p:nvSpPr>
        <p:spPr>
          <a:xfrm>
            <a:off x="2767020" y="4411659"/>
            <a:ext cx="1412875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Noto Sans Symbols"/>
              <a:buNone/>
            </a:pPr>
            <a:r>
              <a:rPr b="0" i="1" lang="en-US" sz="2000" u="none" cap="none" strike="noStrik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destination</a:t>
            </a:r>
            <a:endParaRPr/>
          </a:p>
        </p:txBody>
      </p:sp>
      <p:grpSp>
        <p:nvGrpSpPr>
          <p:cNvPr id="608" name="Google Shape;608;p16"/>
          <p:cNvGrpSpPr/>
          <p:nvPr/>
        </p:nvGrpSpPr>
        <p:grpSpPr>
          <a:xfrm>
            <a:off x="1371606" y="5781671"/>
            <a:ext cx="1479550" cy="303213"/>
            <a:chOff x="332" y="2224"/>
            <a:chExt cx="932" cy="191"/>
          </a:xfrm>
        </p:grpSpPr>
        <p:sp>
          <p:nvSpPr>
            <p:cNvPr id="609" name="Google Shape;609;p16"/>
            <p:cNvSpPr/>
            <p:nvPr/>
          </p:nvSpPr>
          <p:spPr>
            <a:xfrm>
              <a:off x="345" y="2241"/>
              <a:ext cx="840" cy="162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0" name="Google Shape;610;p16"/>
            <p:cNvSpPr/>
            <p:nvPr/>
          </p:nvSpPr>
          <p:spPr>
            <a:xfrm>
              <a:off x="706" y="2224"/>
              <a:ext cx="187" cy="1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</a:t>
              </a:r>
              <a:r>
                <a:rPr b="0" baseline="-2500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/>
            </a:p>
          </p:txBody>
        </p:sp>
        <p:sp>
          <p:nvSpPr>
            <p:cNvPr id="611" name="Google Shape;611;p16"/>
            <p:cNvSpPr/>
            <p:nvPr/>
          </p:nvSpPr>
          <p:spPr>
            <a:xfrm>
              <a:off x="520" y="2224"/>
              <a:ext cx="187" cy="1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</a:t>
              </a:r>
              <a:r>
                <a:rPr b="0" baseline="-2500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</a:t>
              </a:r>
              <a:endParaRPr/>
            </a:p>
          </p:txBody>
        </p:sp>
        <p:sp>
          <p:nvSpPr>
            <p:cNvPr id="612" name="Google Shape;612;p16"/>
            <p:cNvSpPr/>
            <p:nvPr/>
          </p:nvSpPr>
          <p:spPr>
            <a:xfrm>
              <a:off x="332" y="2224"/>
              <a:ext cx="187" cy="1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</a:t>
              </a:r>
              <a:r>
                <a:rPr b="0" baseline="-2500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</a:t>
              </a:r>
              <a:endParaRPr/>
            </a:p>
          </p:txBody>
        </p:sp>
        <p:sp>
          <p:nvSpPr>
            <p:cNvPr id="613" name="Google Shape;613;p16"/>
            <p:cNvSpPr/>
            <p:nvPr/>
          </p:nvSpPr>
          <p:spPr>
            <a:xfrm>
              <a:off x="836" y="2225"/>
              <a:ext cx="428" cy="1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</a:t>
              </a:r>
              <a:endParaRPr/>
            </a:p>
          </p:txBody>
        </p:sp>
        <p:cxnSp>
          <p:nvCxnSpPr>
            <p:cNvPr id="614" name="Google Shape;614;p16"/>
            <p:cNvCxnSpPr/>
            <p:nvPr/>
          </p:nvCxnSpPr>
          <p:spPr>
            <a:xfrm>
              <a:off x="510" y="2241"/>
              <a:ext cx="0" cy="16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15" name="Google Shape;615;p16"/>
            <p:cNvCxnSpPr/>
            <p:nvPr/>
          </p:nvCxnSpPr>
          <p:spPr>
            <a:xfrm>
              <a:off x="690" y="2247"/>
              <a:ext cx="0" cy="15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16" name="Google Shape;616;p16"/>
            <p:cNvCxnSpPr/>
            <p:nvPr/>
          </p:nvCxnSpPr>
          <p:spPr>
            <a:xfrm>
              <a:off x="882" y="2244"/>
              <a:ext cx="0" cy="15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617" name="Google Shape;617;p16"/>
          <p:cNvGrpSpPr/>
          <p:nvPr/>
        </p:nvGrpSpPr>
        <p:grpSpPr>
          <a:xfrm>
            <a:off x="1639895" y="5483221"/>
            <a:ext cx="1208087" cy="303213"/>
            <a:chOff x="501" y="1990"/>
            <a:chExt cx="761" cy="191"/>
          </a:xfrm>
        </p:grpSpPr>
        <p:sp>
          <p:nvSpPr>
            <p:cNvPr id="618" name="Google Shape;618;p16"/>
            <p:cNvSpPr/>
            <p:nvPr/>
          </p:nvSpPr>
          <p:spPr>
            <a:xfrm>
              <a:off x="501" y="2007"/>
              <a:ext cx="682" cy="162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9" name="Google Shape;619;p16"/>
            <p:cNvSpPr/>
            <p:nvPr/>
          </p:nvSpPr>
          <p:spPr>
            <a:xfrm>
              <a:off x="704" y="1990"/>
              <a:ext cx="187" cy="1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</a:t>
              </a:r>
              <a:r>
                <a:rPr b="0" baseline="-2500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/>
            </a:p>
          </p:txBody>
        </p:sp>
        <p:sp>
          <p:nvSpPr>
            <p:cNvPr id="620" name="Google Shape;620;p16"/>
            <p:cNvSpPr/>
            <p:nvPr/>
          </p:nvSpPr>
          <p:spPr>
            <a:xfrm>
              <a:off x="518" y="1990"/>
              <a:ext cx="187" cy="1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</a:t>
              </a:r>
              <a:r>
                <a:rPr b="0" baseline="-2500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</a:t>
              </a:r>
              <a:endParaRPr/>
            </a:p>
          </p:txBody>
        </p:sp>
        <p:sp>
          <p:nvSpPr>
            <p:cNvPr id="621" name="Google Shape;621;p16"/>
            <p:cNvSpPr/>
            <p:nvPr/>
          </p:nvSpPr>
          <p:spPr>
            <a:xfrm>
              <a:off x="834" y="1991"/>
              <a:ext cx="428" cy="1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</a:t>
              </a:r>
              <a:endParaRPr/>
            </a:p>
          </p:txBody>
        </p:sp>
        <p:cxnSp>
          <p:nvCxnSpPr>
            <p:cNvPr id="622" name="Google Shape;622;p16"/>
            <p:cNvCxnSpPr/>
            <p:nvPr/>
          </p:nvCxnSpPr>
          <p:spPr>
            <a:xfrm>
              <a:off x="688" y="2013"/>
              <a:ext cx="0" cy="15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23" name="Google Shape;623;p16"/>
            <p:cNvCxnSpPr/>
            <p:nvPr/>
          </p:nvCxnSpPr>
          <p:spPr>
            <a:xfrm>
              <a:off x="880" y="2010"/>
              <a:ext cx="0" cy="15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624" name="Google Shape;624;p16"/>
          <p:cNvGrpSpPr/>
          <p:nvPr/>
        </p:nvGrpSpPr>
        <p:grpSpPr>
          <a:xfrm>
            <a:off x="1943106" y="5175246"/>
            <a:ext cx="890588" cy="303213"/>
            <a:chOff x="645" y="1734"/>
            <a:chExt cx="561" cy="191"/>
          </a:xfrm>
        </p:grpSpPr>
        <p:sp>
          <p:nvSpPr>
            <p:cNvPr id="625" name="Google Shape;625;p16"/>
            <p:cNvSpPr/>
            <p:nvPr/>
          </p:nvSpPr>
          <p:spPr>
            <a:xfrm>
              <a:off x="645" y="1751"/>
              <a:ext cx="482" cy="162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6" name="Google Shape;626;p16"/>
            <p:cNvSpPr/>
            <p:nvPr/>
          </p:nvSpPr>
          <p:spPr>
            <a:xfrm>
              <a:off x="648" y="1734"/>
              <a:ext cx="187" cy="1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</a:t>
              </a:r>
              <a:r>
                <a:rPr b="0" baseline="-2500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/>
            </a:p>
          </p:txBody>
        </p:sp>
        <p:sp>
          <p:nvSpPr>
            <p:cNvPr id="627" name="Google Shape;627;p16"/>
            <p:cNvSpPr/>
            <p:nvPr/>
          </p:nvSpPr>
          <p:spPr>
            <a:xfrm>
              <a:off x="778" y="1735"/>
              <a:ext cx="428" cy="1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</a:t>
              </a:r>
              <a:endParaRPr/>
            </a:p>
          </p:txBody>
        </p:sp>
        <p:cxnSp>
          <p:nvCxnSpPr>
            <p:cNvPr id="628" name="Google Shape;628;p16"/>
            <p:cNvCxnSpPr/>
            <p:nvPr/>
          </p:nvCxnSpPr>
          <p:spPr>
            <a:xfrm>
              <a:off x="824" y="1754"/>
              <a:ext cx="0" cy="15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629" name="Google Shape;629;p16"/>
          <p:cNvGrpSpPr/>
          <p:nvPr/>
        </p:nvGrpSpPr>
        <p:grpSpPr>
          <a:xfrm>
            <a:off x="2149481" y="4864096"/>
            <a:ext cx="679450" cy="301625"/>
            <a:chOff x="780" y="1553"/>
            <a:chExt cx="428" cy="190"/>
          </a:xfrm>
        </p:grpSpPr>
        <p:sp>
          <p:nvSpPr>
            <p:cNvPr id="630" name="Google Shape;630;p16"/>
            <p:cNvSpPr/>
            <p:nvPr/>
          </p:nvSpPr>
          <p:spPr>
            <a:xfrm>
              <a:off x="817" y="1569"/>
              <a:ext cx="312" cy="162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1" name="Google Shape;631;p16"/>
            <p:cNvSpPr/>
            <p:nvPr/>
          </p:nvSpPr>
          <p:spPr>
            <a:xfrm>
              <a:off x="780" y="1553"/>
              <a:ext cx="428" cy="1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</a:t>
              </a:r>
              <a:endParaRPr/>
            </a:p>
          </p:txBody>
        </p:sp>
      </p:grpSp>
      <p:cxnSp>
        <p:nvCxnSpPr>
          <p:cNvPr id="632" name="Google Shape;632;p16"/>
          <p:cNvCxnSpPr/>
          <p:nvPr/>
        </p:nvCxnSpPr>
        <p:spPr>
          <a:xfrm>
            <a:off x="6916745" y="4806946"/>
            <a:ext cx="1263650" cy="3175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3" name="Google Shape;633;p16"/>
          <p:cNvCxnSpPr/>
          <p:nvPr/>
        </p:nvCxnSpPr>
        <p:spPr>
          <a:xfrm>
            <a:off x="6924682" y="5127621"/>
            <a:ext cx="1263650" cy="3175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34" name="Google Shape;634;p16"/>
          <p:cNvSpPr/>
          <p:nvPr/>
        </p:nvSpPr>
        <p:spPr>
          <a:xfrm>
            <a:off x="7083433" y="2597147"/>
            <a:ext cx="1273175" cy="655638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sx="102000" rotWithShape="0" algn="bl" dir="18900000" dist="38100" sy="1020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35" name="Google Shape;635;p16"/>
          <p:cNvCxnSpPr/>
          <p:nvPr/>
        </p:nvCxnSpPr>
        <p:spPr>
          <a:xfrm>
            <a:off x="7083433" y="2914647"/>
            <a:ext cx="1263650" cy="3175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36" name="Google Shape;636;p16"/>
          <p:cNvSpPr/>
          <p:nvPr/>
        </p:nvSpPr>
        <p:spPr>
          <a:xfrm>
            <a:off x="3048006" y="787395"/>
            <a:ext cx="5264150" cy="5494338"/>
          </a:xfrm>
          <a:custGeom>
            <a:rect b="b" l="l" r="r" t="t"/>
            <a:pathLst>
              <a:path extrusionOk="0" h="3461" w="3316">
                <a:moveTo>
                  <a:pt x="872" y="0"/>
                </a:moveTo>
                <a:lnTo>
                  <a:pt x="878" y="1481"/>
                </a:lnTo>
                <a:lnTo>
                  <a:pt x="2612" y="1481"/>
                </a:lnTo>
                <a:lnTo>
                  <a:pt x="2612" y="1179"/>
                </a:lnTo>
                <a:lnTo>
                  <a:pt x="3294" y="1179"/>
                </a:lnTo>
                <a:lnTo>
                  <a:pt x="3316" y="3131"/>
                </a:lnTo>
                <a:lnTo>
                  <a:pt x="3148" y="2986"/>
                </a:lnTo>
                <a:lnTo>
                  <a:pt x="3143" y="2387"/>
                </a:lnTo>
                <a:lnTo>
                  <a:pt x="2505" y="2387"/>
                </a:lnTo>
                <a:lnTo>
                  <a:pt x="2505" y="3070"/>
                </a:lnTo>
                <a:lnTo>
                  <a:pt x="1057" y="3461"/>
                </a:lnTo>
                <a:lnTo>
                  <a:pt x="0" y="3461"/>
                </a:lnTo>
                <a:lnTo>
                  <a:pt x="0" y="2505"/>
                </a:lnTo>
              </a:path>
            </a:pathLst>
          </a:custGeom>
          <a:noFill/>
          <a:ln cap="flat" cmpd="sng" w="28575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37" name="Google Shape;637;p16"/>
          <p:cNvGrpSpPr/>
          <p:nvPr/>
        </p:nvGrpSpPr>
        <p:grpSpPr>
          <a:xfrm>
            <a:off x="5457831" y="4800596"/>
            <a:ext cx="1479550" cy="303213"/>
            <a:chOff x="332" y="2224"/>
            <a:chExt cx="932" cy="191"/>
          </a:xfrm>
        </p:grpSpPr>
        <p:sp>
          <p:nvSpPr>
            <p:cNvPr id="638" name="Google Shape;638;p16"/>
            <p:cNvSpPr/>
            <p:nvPr/>
          </p:nvSpPr>
          <p:spPr>
            <a:xfrm>
              <a:off x="345" y="2241"/>
              <a:ext cx="840" cy="162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9" name="Google Shape;639;p16"/>
            <p:cNvSpPr/>
            <p:nvPr/>
          </p:nvSpPr>
          <p:spPr>
            <a:xfrm>
              <a:off x="706" y="2224"/>
              <a:ext cx="187" cy="1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</a:t>
              </a:r>
              <a:r>
                <a:rPr b="0" baseline="-2500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/>
            </a:p>
          </p:txBody>
        </p:sp>
        <p:sp>
          <p:nvSpPr>
            <p:cNvPr id="640" name="Google Shape;640;p16"/>
            <p:cNvSpPr/>
            <p:nvPr/>
          </p:nvSpPr>
          <p:spPr>
            <a:xfrm>
              <a:off x="520" y="2224"/>
              <a:ext cx="187" cy="1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</a:t>
              </a:r>
              <a:r>
                <a:rPr b="0" baseline="-2500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</a:t>
              </a:r>
              <a:endParaRPr/>
            </a:p>
          </p:txBody>
        </p:sp>
        <p:sp>
          <p:nvSpPr>
            <p:cNvPr id="641" name="Google Shape;641;p16"/>
            <p:cNvSpPr/>
            <p:nvPr/>
          </p:nvSpPr>
          <p:spPr>
            <a:xfrm>
              <a:off x="332" y="2224"/>
              <a:ext cx="187" cy="1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</a:t>
              </a:r>
              <a:r>
                <a:rPr b="0" baseline="-2500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</a:t>
              </a:r>
              <a:endParaRPr/>
            </a:p>
          </p:txBody>
        </p:sp>
        <p:sp>
          <p:nvSpPr>
            <p:cNvPr id="642" name="Google Shape;642;p16"/>
            <p:cNvSpPr/>
            <p:nvPr/>
          </p:nvSpPr>
          <p:spPr>
            <a:xfrm>
              <a:off x="836" y="2225"/>
              <a:ext cx="428" cy="1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</a:t>
              </a:r>
              <a:endParaRPr/>
            </a:p>
          </p:txBody>
        </p:sp>
        <p:cxnSp>
          <p:nvCxnSpPr>
            <p:cNvPr id="643" name="Google Shape;643;p16"/>
            <p:cNvCxnSpPr/>
            <p:nvPr/>
          </p:nvCxnSpPr>
          <p:spPr>
            <a:xfrm>
              <a:off x="510" y="2241"/>
              <a:ext cx="0" cy="16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44" name="Google Shape;644;p16"/>
            <p:cNvCxnSpPr/>
            <p:nvPr/>
          </p:nvCxnSpPr>
          <p:spPr>
            <a:xfrm>
              <a:off x="690" y="2247"/>
              <a:ext cx="0" cy="15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45" name="Google Shape;645;p16"/>
            <p:cNvCxnSpPr/>
            <p:nvPr/>
          </p:nvCxnSpPr>
          <p:spPr>
            <a:xfrm>
              <a:off x="882" y="2244"/>
              <a:ext cx="0" cy="15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646" name="Google Shape;646;p16"/>
          <p:cNvGrpSpPr/>
          <p:nvPr/>
        </p:nvGrpSpPr>
        <p:grpSpPr>
          <a:xfrm>
            <a:off x="5716595" y="4494208"/>
            <a:ext cx="1208087" cy="303212"/>
            <a:chOff x="501" y="1990"/>
            <a:chExt cx="761" cy="191"/>
          </a:xfrm>
        </p:grpSpPr>
        <p:sp>
          <p:nvSpPr>
            <p:cNvPr id="647" name="Google Shape;647;p16"/>
            <p:cNvSpPr/>
            <p:nvPr/>
          </p:nvSpPr>
          <p:spPr>
            <a:xfrm>
              <a:off x="501" y="2007"/>
              <a:ext cx="682" cy="162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8" name="Google Shape;648;p16"/>
            <p:cNvSpPr/>
            <p:nvPr/>
          </p:nvSpPr>
          <p:spPr>
            <a:xfrm>
              <a:off x="704" y="1990"/>
              <a:ext cx="187" cy="1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</a:t>
              </a:r>
              <a:r>
                <a:rPr b="0" baseline="-2500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/>
            </a:p>
          </p:txBody>
        </p:sp>
        <p:sp>
          <p:nvSpPr>
            <p:cNvPr id="649" name="Google Shape;649;p16"/>
            <p:cNvSpPr/>
            <p:nvPr/>
          </p:nvSpPr>
          <p:spPr>
            <a:xfrm>
              <a:off x="518" y="1990"/>
              <a:ext cx="187" cy="1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</a:t>
              </a:r>
              <a:r>
                <a:rPr b="0" baseline="-2500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</a:t>
              </a:r>
              <a:endParaRPr/>
            </a:p>
          </p:txBody>
        </p:sp>
        <p:sp>
          <p:nvSpPr>
            <p:cNvPr id="650" name="Google Shape;650;p16"/>
            <p:cNvSpPr/>
            <p:nvPr/>
          </p:nvSpPr>
          <p:spPr>
            <a:xfrm>
              <a:off x="834" y="1991"/>
              <a:ext cx="428" cy="1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</a:t>
              </a:r>
              <a:endParaRPr/>
            </a:p>
          </p:txBody>
        </p:sp>
        <p:cxnSp>
          <p:nvCxnSpPr>
            <p:cNvPr id="651" name="Google Shape;651;p16"/>
            <p:cNvCxnSpPr/>
            <p:nvPr/>
          </p:nvCxnSpPr>
          <p:spPr>
            <a:xfrm>
              <a:off x="688" y="2013"/>
              <a:ext cx="0" cy="15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52" name="Google Shape;652;p16"/>
            <p:cNvCxnSpPr/>
            <p:nvPr/>
          </p:nvCxnSpPr>
          <p:spPr>
            <a:xfrm>
              <a:off x="880" y="2010"/>
              <a:ext cx="0" cy="15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653" name="Google Shape;653;p16"/>
          <p:cNvGrpSpPr/>
          <p:nvPr/>
        </p:nvGrpSpPr>
        <p:grpSpPr>
          <a:xfrm>
            <a:off x="8488370" y="4860921"/>
            <a:ext cx="1208087" cy="303213"/>
            <a:chOff x="501" y="1990"/>
            <a:chExt cx="761" cy="191"/>
          </a:xfrm>
        </p:grpSpPr>
        <p:sp>
          <p:nvSpPr>
            <p:cNvPr id="654" name="Google Shape;654;p16"/>
            <p:cNvSpPr/>
            <p:nvPr/>
          </p:nvSpPr>
          <p:spPr>
            <a:xfrm>
              <a:off x="501" y="2007"/>
              <a:ext cx="682" cy="162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5" name="Google Shape;655;p16"/>
            <p:cNvSpPr/>
            <p:nvPr/>
          </p:nvSpPr>
          <p:spPr>
            <a:xfrm>
              <a:off x="704" y="1990"/>
              <a:ext cx="187" cy="1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</a:t>
              </a:r>
              <a:r>
                <a:rPr b="0" baseline="-2500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/>
            </a:p>
          </p:txBody>
        </p:sp>
        <p:sp>
          <p:nvSpPr>
            <p:cNvPr id="656" name="Google Shape;656;p16"/>
            <p:cNvSpPr/>
            <p:nvPr/>
          </p:nvSpPr>
          <p:spPr>
            <a:xfrm>
              <a:off x="518" y="1990"/>
              <a:ext cx="187" cy="1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</a:t>
              </a:r>
              <a:r>
                <a:rPr b="0" baseline="-2500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</a:t>
              </a:r>
              <a:endParaRPr/>
            </a:p>
          </p:txBody>
        </p:sp>
        <p:sp>
          <p:nvSpPr>
            <p:cNvPr id="657" name="Google Shape;657;p16"/>
            <p:cNvSpPr/>
            <p:nvPr/>
          </p:nvSpPr>
          <p:spPr>
            <a:xfrm>
              <a:off x="834" y="1991"/>
              <a:ext cx="428" cy="1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</a:t>
              </a:r>
              <a:endParaRPr/>
            </a:p>
          </p:txBody>
        </p:sp>
        <p:cxnSp>
          <p:nvCxnSpPr>
            <p:cNvPr id="658" name="Google Shape;658;p16"/>
            <p:cNvCxnSpPr/>
            <p:nvPr/>
          </p:nvCxnSpPr>
          <p:spPr>
            <a:xfrm>
              <a:off x="688" y="2013"/>
              <a:ext cx="0" cy="15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59" name="Google Shape;659;p16"/>
            <p:cNvCxnSpPr/>
            <p:nvPr/>
          </p:nvCxnSpPr>
          <p:spPr>
            <a:xfrm>
              <a:off x="880" y="2010"/>
              <a:ext cx="0" cy="15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660" name="Google Shape;660;p16"/>
          <p:cNvGrpSpPr/>
          <p:nvPr/>
        </p:nvGrpSpPr>
        <p:grpSpPr>
          <a:xfrm>
            <a:off x="2157419" y="1919283"/>
            <a:ext cx="1479550" cy="303212"/>
            <a:chOff x="332" y="2224"/>
            <a:chExt cx="932" cy="191"/>
          </a:xfrm>
        </p:grpSpPr>
        <p:sp>
          <p:nvSpPr>
            <p:cNvPr id="661" name="Google Shape;661;p16"/>
            <p:cNvSpPr/>
            <p:nvPr/>
          </p:nvSpPr>
          <p:spPr>
            <a:xfrm>
              <a:off x="345" y="2241"/>
              <a:ext cx="840" cy="162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2" name="Google Shape;662;p16"/>
            <p:cNvSpPr/>
            <p:nvPr/>
          </p:nvSpPr>
          <p:spPr>
            <a:xfrm>
              <a:off x="706" y="2224"/>
              <a:ext cx="187" cy="1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</a:t>
              </a:r>
              <a:r>
                <a:rPr b="0" baseline="-2500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/>
            </a:p>
          </p:txBody>
        </p:sp>
        <p:sp>
          <p:nvSpPr>
            <p:cNvPr id="663" name="Google Shape;663;p16"/>
            <p:cNvSpPr/>
            <p:nvPr/>
          </p:nvSpPr>
          <p:spPr>
            <a:xfrm>
              <a:off x="520" y="2224"/>
              <a:ext cx="187" cy="1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</a:t>
              </a:r>
              <a:r>
                <a:rPr b="0" baseline="-2500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</a:t>
              </a:r>
              <a:endParaRPr/>
            </a:p>
          </p:txBody>
        </p:sp>
        <p:sp>
          <p:nvSpPr>
            <p:cNvPr id="664" name="Google Shape;664;p16"/>
            <p:cNvSpPr/>
            <p:nvPr/>
          </p:nvSpPr>
          <p:spPr>
            <a:xfrm>
              <a:off x="332" y="2224"/>
              <a:ext cx="187" cy="1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</a:t>
              </a:r>
              <a:r>
                <a:rPr b="0" baseline="-2500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</a:t>
              </a:r>
              <a:endParaRPr/>
            </a:p>
          </p:txBody>
        </p:sp>
        <p:sp>
          <p:nvSpPr>
            <p:cNvPr id="665" name="Google Shape;665;p16"/>
            <p:cNvSpPr/>
            <p:nvPr/>
          </p:nvSpPr>
          <p:spPr>
            <a:xfrm>
              <a:off x="836" y="2225"/>
              <a:ext cx="428" cy="1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</a:t>
              </a:r>
              <a:endParaRPr/>
            </a:p>
          </p:txBody>
        </p:sp>
        <p:cxnSp>
          <p:nvCxnSpPr>
            <p:cNvPr id="666" name="Google Shape;666;p16"/>
            <p:cNvCxnSpPr/>
            <p:nvPr/>
          </p:nvCxnSpPr>
          <p:spPr>
            <a:xfrm>
              <a:off x="510" y="2241"/>
              <a:ext cx="0" cy="16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7" name="Google Shape;667;p16"/>
            <p:cNvCxnSpPr/>
            <p:nvPr/>
          </p:nvCxnSpPr>
          <p:spPr>
            <a:xfrm>
              <a:off x="690" y="2247"/>
              <a:ext cx="0" cy="15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8" name="Google Shape;668;p16"/>
            <p:cNvCxnSpPr/>
            <p:nvPr/>
          </p:nvCxnSpPr>
          <p:spPr>
            <a:xfrm>
              <a:off x="882" y="2244"/>
              <a:ext cx="0" cy="15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669" name="Google Shape;669;p16"/>
          <p:cNvSpPr txBox="1"/>
          <p:nvPr/>
        </p:nvSpPr>
        <p:spPr>
          <a:xfrm>
            <a:off x="9140831" y="5665783"/>
            <a:ext cx="841449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router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16"/>
          <p:cNvSpPr txBox="1"/>
          <p:nvPr/>
        </p:nvSpPr>
        <p:spPr>
          <a:xfrm>
            <a:off x="9155119" y="3386662"/>
            <a:ext cx="869277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switch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16"/>
          <p:cNvSpPr txBox="1"/>
          <p:nvPr/>
        </p:nvSpPr>
        <p:spPr>
          <a:xfrm>
            <a:off x="1922469" y="946145"/>
            <a:ext cx="1008062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message</a:t>
            </a:r>
            <a:endParaRPr/>
          </a:p>
        </p:txBody>
      </p:sp>
      <p:grpSp>
        <p:nvGrpSpPr>
          <p:cNvPr id="672" name="Google Shape;672;p16"/>
          <p:cNvGrpSpPr/>
          <p:nvPr/>
        </p:nvGrpSpPr>
        <p:grpSpPr>
          <a:xfrm>
            <a:off x="2982919" y="973134"/>
            <a:ext cx="679450" cy="301625"/>
            <a:chOff x="780" y="1553"/>
            <a:chExt cx="428" cy="190"/>
          </a:xfrm>
        </p:grpSpPr>
        <p:sp>
          <p:nvSpPr>
            <p:cNvPr id="673" name="Google Shape;673;p16"/>
            <p:cNvSpPr/>
            <p:nvPr/>
          </p:nvSpPr>
          <p:spPr>
            <a:xfrm>
              <a:off x="817" y="1569"/>
              <a:ext cx="312" cy="162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4" name="Google Shape;674;p16"/>
            <p:cNvSpPr/>
            <p:nvPr/>
          </p:nvSpPr>
          <p:spPr>
            <a:xfrm>
              <a:off x="780" y="1553"/>
              <a:ext cx="428" cy="1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</a:t>
              </a:r>
              <a:endParaRPr/>
            </a:p>
          </p:txBody>
        </p:sp>
      </p:grpSp>
      <p:grpSp>
        <p:nvGrpSpPr>
          <p:cNvPr id="675" name="Google Shape;675;p16"/>
          <p:cNvGrpSpPr/>
          <p:nvPr/>
        </p:nvGrpSpPr>
        <p:grpSpPr>
          <a:xfrm>
            <a:off x="2746384" y="1290634"/>
            <a:ext cx="908050" cy="301625"/>
            <a:chOff x="1848" y="2046"/>
            <a:chExt cx="572" cy="190"/>
          </a:xfrm>
        </p:grpSpPr>
        <p:grpSp>
          <p:nvGrpSpPr>
            <p:cNvPr id="676" name="Google Shape;676;p16"/>
            <p:cNvGrpSpPr/>
            <p:nvPr/>
          </p:nvGrpSpPr>
          <p:grpSpPr>
            <a:xfrm>
              <a:off x="1848" y="2047"/>
              <a:ext cx="187" cy="184"/>
              <a:chOff x="1959" y="2058"/>
              <a:chExt cx="187" cy="184"/>
            </a:xfrm>
          </p:grpSpPr>
          <p:sp>
            <p:nvSpPr>
              <p:cNvPr id="677" name="Google Shape;677;p16"/>
              <p:cNvSpPr/>
              <p:nvPr/>
            </p:nvSpPr>
            <p:spPr>
              <a:xfrm>
                <a:off x="1964" y="2075"/>
                <a:ext cx="177" cy="162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8" name="Google Shape;678;p16"/>
              <p:cNvSpPr/>
              <p:nvPr/>
            </p:nvSpPr>
            <p:spPr>
              <a:xfrm>
                <a:off x="1959" y="2058"/>
                <a:ext cx="187" cy="18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Noto Sans Symbols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H</a:t>
                </a:r>
                <a:r>
                  <a:rPr b="0" baseline="-2500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t</a:t>
                </a:r>
                <a:endParaRPr b="0" baseline="-2500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79" name="Google Shape;679;p16"/>
            <p:cNvGrpSpPr/>
            <p:nvPr/>
          </p:nvGrpSpPr>
          <p:grpSpPr>
            <a:xfrm>
              <a:off x="1992" y="2046"/>
              <a:ext cx="428" cy="190"/>
              <a:chOff x="780" y="1553"/>
              <a:chExt cx="428" cy="190"/>
            </a:xfrm>
          </p:grpSpPr>
          <p:sp>
            <p:nvSpPr>
              <p:cNvPr id="680" name="Google Shape;680;p16"/>
              <p:cNvSpPr/>
              <p:nvPr/>
            </p:nvSpPr>
            <p:spPr>
              <a:xfrm>
                <a:off x="817" y="1571"/>
                <a:ext cx="312" cy="162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1" name="Google Shape;681;p16"/>
              <p:cNvSpPr/>
              <p:nvPr/>
            </p:nvSpPr>
            <p:spPr>
              <a:xfrm>
                <a:off x="780" y="1553"/>
                <a:ext cx="428" cy="1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Noto Sans Symbols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M</a:t>
                </a:r>
                <a:endParaRPr/>
              </a:p>
            </p:txBody>
          </p:sp>
        </p:grpSp>
      </p:grpSp>
      <p:grpSp>
        <p:nvGrpSpPr>
          <p:cNvPr id="682" name="Google Shape;682;p16"/>
          <p:cNvGrpSpPr/>
          <p:nvPr/>
        </p:nvGrpSpPr>
        <p:grpSpPr>
          <a:xfrm>
            <a:off x="2438407" y="1622425"/>
            <a:ext cx="323850" cy="295274"/>
            <a:chOff x="1948" y="2058"/>
            <a:chExt cx="204" cy="184"/>
          </a:xfrm>
        </p:grpSpPr>
        <p:sp>
          <p:nvSpPr>
            <p:cNvPr id="683" name="Google Shape;683;p16"/>
            <p:cNvSpPr/>
            <p:nvPr/>
          </p:nvSpPr>
          <p:spPr>
            <a:xfrm>
              <a:off x="1948" y="2075"/>
              <a:ext cx="191" cy="162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4" name="Google Shape;684;p16"/>
            <p:cNvSpPr/>
            <p:nvPr/>
          </p:nvSpPr>
          <p:spPr>
            <a:xfrm>
              <a:off x="1965" y="2058"/>
              <a:ext cx="187" cy="1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</a:t>
              </a:r>
              <a:r>
                <a:rPr b="0" baseline="-2500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</a:t>
              </a:r>
              <a:endParaRPr b="0" baseline="-2500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85" name="Google Shape;685;p16"/>
          <p:cNvSpPr txBox="1"/>
          <p:nvPr/>
        </p:nvSpPr>
        <p:spPr>
          <a:xfrm>
            <a:off x="1376369" y="1897058"/>
            <a:ext cx="704850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frame</a:t>
            </a:r>
            <a:endParaRPr/>
          </a:p>
        </p:txBody>
      </p:sp>
      <p:grpSp>
        <p:nvGrpSpPr>
          <p:cNvPr id="686" name="Google Shape;686;p16"/>
          <p:cNvGrpSpPr/>
          <p:nvPr/>
        </p:nvGrpSpPr>
        <p:grpSpPr>
          <a:xfrm flipH="1">
            <a:off x="5359407" y="1341434"/>
            <a:ext cx="803275" cy="771525"/>
            <a:chOff x="-44" y="1473"/>
            <a:chExt cx="981" cy="1105"/>
          </a:xfrm>
        </p:grpSpPr>
        <p:pic>
          <p:nvPicPr>
            <p:cNvPr descr="desktop_computer_stylized_medium" id="687" name="Google Shape;687;p1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88" name="Google Shape;688;p16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89" name="Google Shape;689;p16"/>
          <p:cNvSpPr/>
          <p:nvPr/>
        </p:nvSpPr>
        <p:spPr>
          <a:xfrm>
            <a:off x="4178506" y="4871041"/>
            <a:ext cx="360362" cy="1522901"/>
          </a:xfrm>
          <a:custGeom>
            <a:rect b="b" l="l" r="r" t="t"/>
            <a:pathLst>
              <a:path extrusionOk="0" h="1186" w="267">
                <a:moveTo>
                  <a:pt x="254" y="466"/>
                </a:moveTo>
                <a:lnTo>
                  <a:pt x="0" y="0"/>
                </a:lnTo>
                <a:lnTo>
                  <a:pt x="0" y="1186"/>
                </a:lnTo>
                <a:lnTo>
                  <a:pt x="267" y="652"/>
                </a:lnTo>
                <a:lnTo>
                  <a:pt x="254" y="466"/>
                </a:lnTo>
                <a:close/>
              </a:path>
            </a:pathLst>
          </a:custGeom>
          <a:gradFill>
            <a:gsLst>
              <a:gs pos="0">
                <a:srgbClr val="3C6CDF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90" name="Google Shape;690;p16"/>
          <p:cNvGrpSpPr/>
          <p:nvPr/>
        </p:nvGrpSpPr>
        <p:grpSpPr>
          <a:xfrm flipH="1">
            <a:off x="4397382" y="5224459"/>
            <a:ext cx="803275" cy="771525"/>
            <a:chOff x="-44" y="1473"/>
            <a:chExt cx="981" cy="1105"/>
          </a:xfrm>
        </p:grpSpPr>
        <p:pic>
          <p:nvPicPr>
            <p:cNvPr descr="desktop_computer_stylized_medium" id="691" name="Google Shape;691;p1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92" name="Google Shape;692;p16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93" name="Google Shape;693;p16"/>
          <p:cNvSpPr txBox="1"/>
          <p:nvPr/>
        </p:nvSpPr>
        <p:spPr>
          <a:xfrm>
            <a:off x="7030180" y="2584590"/>
            <a:ext cx="1317625" cy="695325"/>
          </a:xfrm>
          <a:prstGeom prst="rect">
            <a:avLst/>
          </a:prstGeom>
          <a:noFill/>
          <a:ln>
            <a:noFill/>
          </a:ln>
          <a:effectLst>
            <a:outerShdw blurRad="114300" sx="123000" rotWithShape="0" algn="bl" dir="18900000" dist="38100" sy="1230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link</a:t>
            </a:r>
            <a:endParaRPr/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physical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2000"/>
                                        <p:tgtEl>
                                          <p:spTgt spid="6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2000"/>
                                          </p:stCondLst>
                                        </p:cTn>
                                        <p:tgtEl>
                                          <p:spTgt spid="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17"/>
          <p:cNvSpPr txBox="1"/>
          <p:nvPr>
            <p:ph type="title"/>
          </p:nvPr>
        </p:nvSpPr>
        <p:spPr>
          <a:xfrm>
            <a:off x="546662" y="152400"/>
            <a:ext cx="6551791" cy="16509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6000"/>
              <a:buFont typeface="Calibri"/>
              <a:buNone/>
            </a:pPr>
            <a:r>
              <a:rPr lang="en-US" sz="6000"/>
              <a:t>Introduction</a:t>
            </a:r>
            <a:endParaRPr sz="6000"/>
          </a:p>
        </p:txBody>
      </p:sp>
      <p:grpSp>
        <p:nvGrpSpPr>
          <p:cNvPr id="700" name="Google Shape;700;p17"/>
          <p:cNvGrpSpPr/>
          <p:nvPr/>
        </p:nvGrpSpPr>
        <p:grpSpPr>
          <a:xfrm>
            <a:off x="7421880" y="453820"/>
            <a:ext cx="4399280" cy="3866277"/>
            <a:chOff x="7421880" y="792480"/>
            <a:chExt cx="4399280" cy="3866277"/>
          </a:xfrm>
        </p:grpSpPr>
        <p:pic>
          <p:nvPicPr>
            <p:cNvPr descr="University of Massachusetts Amherst - Wikipedia" id="701" name="Google Shape;701;p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886440" y="2125980"/>
              <a:ext cx="848360" cy="84836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02" name="Google Shape;702;p17"/>
            <p:cNvSpPr txBox="1"/>
            <p:nvPr/>
          </p:nvSpPr>
          <p:spPr>
            <a:xfrm>
              <a:off x="7421880" y="792480"/>
              <a:ext cx="4399280" cy="13849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COMPSCI 453 </a:t>
              </a:r>
              <a:r>
                <a:rPr b="0" i="0" lang="en-US" sz="2800" u="none" cap="none" strike="noStrike">
                  <a:solidFill>
                    <a:srgbClr val="0013A3"/>
                  </a:solidFill>
                  <a:latin typeface="Calibri"/>
                  <a:ea typeface="Calibri"/>
                  <a:cs typeface="Calibri"/>
                  <a:sym typeface="Calibri"/>
                </a:rPr>
                <a:t>Computer Networks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Professor Jim Kurose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College of Information and Computer Sciences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University of Massachusetts </a:t>
              </a:r>
              <a:endParaRPr/>
            </a:p>
          </p:txBody>
        </p:sp>
        <p:grpSp>
          <p:nvGrpSpPr>
            <p:cNvPr id="703" name="Google Shape;703;p17"/>
            <p:cNvGrpSpPr/>
            <p:nvPr/>
          </p:nvGrpSpPr>
          <p:grpSpPr>
            <a:xfrm>
              <a:off x="7884160" y="3304540"/>
              <a:ext cx="3857707" cy="1354217"/>
              <a:chOff x="7904480" y="4206240"/>
              <a:chExt cx="3857707" cy="1354217"/>
            </a:xfrm>
          </p:grpSpPr>
          <p:pic>
            <p:nvPicPr>
              <p:cNvPr descr="Kurose_CVR_REV2.jpg" id="704" name="Google Shape;704;p17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0828020" y="4246880"/>
                <a:ext cx="934167" cy="122443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05" name="Google Shape;705;p17"/>
              <p:cNvSpPr txBox="1"/>
              <p:nvPr/>
            </p:nvSpPr>
            <p:spPr>
              <a:xfrm>
                <a:off x="7904480" y="4206240"/>
                <a:ext cx="2885440" cy="13542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Class textbook: </a:t>
                </a:r>
                <a:endParaRPr/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1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Computer Networking: A Top-Down Approach </a:t>
                </a:r>
                <a:r>
                  <a:rPr b="0" i="1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(8</a:t>
                </a:r>
                <a:r>
                  <a:rPr b="0" baseline="30000" i="1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th</a:t>
                </a:r>
                <a:r>
                  <a:rPr b="0" i="1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ed.)</a:t>
                </a:r>
                <a:endParaRPr b="0" i="1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J.F. Kurose, K.W. Ross</a:t>
                </a:r>
                <a:endParaRPr/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Pearson, 2020</a:t>
                </a:r>
                <a:endParaRPr/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Calibri"/>
                  <a:buNone/>
                </a:pPr>
                <a:r>
                  <a:rPr b="0" i="0" lang="en-US" sz="105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http://gaia.cs.umass.edu/kurose_ross</a:t>
                </a:r>
                <a:endParaRPr b="0" i="0" sz="11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06" name="Google Shape;706;p17"/>
          <p:cNvGrpSpPr/>
          <p:nvPr/>
        </p:nvGrpSpPr>
        <p:grpSpPr>
          <a:xfrm>
            <a:off x="5108787" y="6105145"/>
            <a:ext cx="6892924" cy="461665"/>
            <a:chOff x="5108787" y="6105145"/>
            <a:chExt cx="6892924" cy="461665"/>
          </a:xfrm>
        </p:grpSpPr>
        <p:sp>
          <p:nvSpPr>
            <p:cNvPr id="707" name="Google Shape;707;p17"/>
            <p:cNvSpPr txBox="1"/>
            <p:nvPr/>
          </p:nvSpPr>
          <p:spPr>
            <a:xfrm>
              <a:off x="5108787" y="6105145"/>
              <a:ext cx="6892924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Video: 2020, J.F. Kurose, All Rights Reserved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Powerpoint: 1996-2020, J.F. Kurose, K.W. Ross, All Rights Reserved</a:t>
              </a:r>
              <a:endParaRPr/>
            </a:p>
          </p:txBody>
        </p:sp>
        <p:pic>
          <p:nvPicPr>
            <p:cNvPr id="708" name="Google Shape;708;p1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9028246" y="6178318"/>
              <a:ext cx="125836" cy="1602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09" name="Google Shape;709;p1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656647" y="6354452"/>
              <a:ext cx="125836" cy="16022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10" name="Google Shape;710;p17"/>
          <p:cNvSpPr txBox="1"/>
          <p:nvPr/>
        </p:nvSpPr>
        <p:spPr>
          <a:xfrm>
            <a:off x="455614" y="1574801"/>
            <a:ext cx="7677223" cy="49783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4032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3600"/>
              <a:buFont typeface="Noto Sans Symbols"/>
              <a:buChar char="▪"/>
            </a:pPr>
            <a:r>
              <a:rPr lang="en-US" sz="3600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Overview. What </a:t>
            </a:r>
            <a:r>
              <a:rPr i="1" lang="en-US" sz="3600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is</a:t>
            </a:r>
            <a:r>
              <a:rPr lang="en-US" sz="3600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 the Internet? What</a:t>
            </a:r>
            <a:r>
              <a:rPr i="1" lang="en-US" sz="3600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 is </a:t>
            </a:r>
            <a:r>
              <a:rPr lang="en-US" sz="3600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a protocol?</a:t>
            </a:r>
            <a:endParaRPr/>
          </a:p>
          <a:p>
            <a:pPr indent="-285750" lvl="0" marL="40322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D8D8D8"/>
              </a:buClr>
              <a:buSzPts val="3600"/>
              <a:buFont typeface="Noto Sans Symbols"/>
              <a:buChar char="▪"/>
            </a:pPr>
            <a:r>
              <a:rPr lang="en-US" sz="3600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Network edge</a:t>
            </a:r>
            <a:endParaRPr/>
          </a:p>
          <a:p>
            <a:pPr indent="-285750" lvl="0" marL="40322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D8D8D8"/>
              </a:buClr>
              <a:buSzPts val="3600"/>
              <a:buFont typeface="Noto Sans Symbols"/>
              <a:buChar char="▪"/>
            </a:pPr>
            <a:r>
              <a:rPr lang="en-US" sz="3600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Network core</a:t>
            </a:r>
            <a:endParaRPr/>
          </a:p>
          <a:p>
            <a:pPr indent="-285750" lvl="0" marL="40322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D8D8D8"/>
              </a:buClr>
              <a:buSzPts val="3600"/>
              <a:buFont typeface="Noto Sans Symbols"/>
              <a:buChar char="▪"/>
            </a:pPr>
            <a:r>
              <a:rPr lang="en-US" sz="3600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Performance: loss, delay, throughput</a:t>
            </a:r>
            <a:endParaRPr/>
          </a:p>
          <a:p>
            <a:pPr indent="-285750" lvl="0" marL="40322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A3"/>
              </a:buClr>
              <a:buSzPts val="3600"/>
              <a:buFont typeface="Noto Sans Symbols"/>
              <a:buChar char="▪"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Protocol layers, service models</a:t>
            </a:r>
            <a:endParaRPr/>
          </a:p>
          <a:p>
            <a:pPr indent="-285750" lvl="0" marL="40322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D8D8D8"/>
              </a:buClr>
              <a:buSzPts val="3600"/>
              <a:buFont typeface="Noto Sans Symbols"/>
              <a:buChar char="▪"/>
            </a:pPr>
            <a:r>
              <a:rPr lang="en-US" sz="3600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Security</a:t>
            </a:r>
            <a:endParaRPr/>
          </a:p>
          <a:p>
            <a:pPr indent="-285750" lvl="0" marL="40322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D8D8D8"/>
              </a:buClr>
              <a:buSzPts val="3600"/>
              <a:buFont typeface="Noto Sans Symbols"/>
              <a:buChar char="▪"/>
            </a:pPr>
            <a:r>
              <a:rPr lang="en-US" sz="3600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History</a:t>
            </a:r>
            <a:endParaRPr sz="3600">
              <a:solidFill>
                <a:srgbClr val="D8D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