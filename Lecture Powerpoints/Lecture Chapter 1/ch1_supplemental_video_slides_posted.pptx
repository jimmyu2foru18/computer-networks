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96">
          <p15:clr>
            <a:srgbClr val="A4A3A4"/>
          </p15:clr>
        </p15:guide>
        <p15:guide id="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96" orient="horz"/>
        <p:guide/>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quod.lib.umich.edu/j/jep/3336451.0014?rgn=main;view=fulltext" TargetMode="External"/><Relationship Id="rId3" Type="http://schemas.openxmlformats.org/officeDocument/2006/relationships/hyperlink" Target="https://quod.lib.umich.edu/j/jep/3336451.0014.1*?rgn=main;view=fulltext" TargetMode="External"/><Relationship Id="rId4" Type="http://schemas.openxmlformats.org/officeDocument/2006/relationships/hyperlink" Target="https://doi.org/10.3998/3336451.0014.103" TargetMode="External"/><Relationship Id="rId5" Type="http://schemas.openxmlformats.org/officeDocument/2006/relationships/hyperlink" Target="https://quod.lib.umich.edu/j/jep/3336451.0014.103?view=text;rgn=main"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quod.lib.umich.edu/j/jep/3336451.0014?rgn=main;view=fulltext" TargetMode="External"/><Relationship Id="rId3" Type="http://schemas.openxmlformats.org/officeDocument/2006/relationships/hyperlink" Target="https://quod.lib.umich.edu/j/jep/3336451.0014.1*?rgn=main;view=fulltext" TargetMode="External"/><Relationship Id="rId4" Type="http://schemas.openxmlformats.org/officeDocument/2006/relationships/hyperlink" Target="https://doi.org/10.3998/3336451.0014.103" TargetMode="External"/><Relationship Id="rId5" Type="http://schemas.openxmlformats.org/officeDocument/2006/relationships/hyperlink" Target="https://quod.lib.umich.edu/j/jep/3336451.0014.103?view=text;rgn=main"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Version History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January 2022</a:t>
            </a:r>
            <a:endParaRPr/>
          </a:p>
          <a:p>
            <a:pPr indent="-95250" lvl="0" marL="171450" rtl="0" algn="l">
              <a:spcBef>
                <a:spcPts val="0"/>
              </a:spcBef>
              <a:spcAft>
                <a:spcPts val="0"/>
              </a:spcAft>
              <a:buClr>
                <a:schemeClr val="dk1"/>
              </a:buClr>
              <a:buSzPts val="1200"/>
              <a:buFont typeface="Arial"/>
              <a:buNone/>
            </a:pPr>
            <a:r>
              <a:t/>
            </a:r>
            <a:endParaRPr/>
          </a:p>
        </p:txBody>
      </p:sp>
      <p:sp>
        <p:nvSpPr>
          <p:cNvPr id="32" name="Google Shape;3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 name="Google Shape;4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 name="Google Shape;4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https://www.pewresearch.org/internet/2021/06/03/mobile-technology-and-home-broadband-2021/</a:t>
            </a:r>
            <a:endParaRPr/>
          </a:p>
        </p:txBody>
      </p:sp>
      <p:sp>
        <p:nvSpPr>
          <p:cNvPr id="115" name="Google Shape;11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https://www.census.gov/programs-surveys/geography/guidance/geo-areas/urban-rural.html defines rural/urban</a:t>
            </a:r>
            <a:endParaRPr/>
          </a:p>
          <a:p>
            <a:pPr indent="0" lvl="0" marL="0" marR="0" rtl="0" algn="l">
              <a:lnSpc>
                <a:spcPct val="100000"/>
              </a:lnSpc>
              <a:spcBef>
                <a:spcPts val="0"/>
              </a:spcBef>
              <a:spcAft>
                <a:spcPts val="0"/>
              </a:spcAft>
              <a:buClr>
                <a:schemeClr val="dk1"/>
              </a:buClr>
              <a:buSzPts val="1200"/>
              <a:buFont typeface="Calibri"/>
              <a:buNone/>
            </a:pPr>
            <a:r>
              <a:rPr lang="en-US"/>
              <a:t>Graph is from: https://www.pewresearch.org/fact-tank/2021/08/19/some-digital-divides-persist-between-rural-urban-and-suburban-america/</a:t>
            </a:r>
            <a:endParaRPr/>
          </a:p>
          <a:p>
            <a:pPr indent="0" lvl="0" marL="0" rtl="0" algn="l">
              <a:spcBef>
                <a:spcPts val="0"/>
              </a:spcBef>
              <a:spcAft>
                <a:spcPts val="0"/>
              </a:spcAft>
              <a:buNone/>
            </a:pPr>
            <a:r>
              <a:t/>
            </a:r>
            <a:endParaRPr/>
          </a:p>
        </p:txBody>
      </p:sp>
      <p:sp>
        <p:nvSpPr>
          <p:cNvPr id="127" name="Google Shape;12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Graph is from:</a:t>
            </a:r>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https://www.dbresearch.com/PROD/RPS_DE-PROD/PROD0000000000511664/America%27s_Racial_Gap_%26_Big_Tech%27s_Closing_Window.PDF</a:t>
            </a:r>
            <a:endParaRPr/>
          </a:p>
        </p:txBody>
      </p:sp>
      <p:sp>
        <p:nvSpPr>
          <p:cNvPr id="138" name="Google Shape;13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 https://www.aei.org/research-products/report/broadband-provisions-in-the-infrastructure-investment-and-jobs-act-a-primer/</a:t>
            </a:r>
            <a:endParaRPr/>
          </a:p>
        </p:txBody>
      </p:sp>
      <p:sp>
        <p:nvSpPr>
          <p:cNvPr id="145" name="Google Shape;14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 name="Google Shape;36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 name="Google Shape;45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 name="Google Shape;45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2" name="Google Shape;48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3" name="Google Shape;48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9" name="Google Shape;52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0" name="Google Shape;53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5" name="Google Shape;575;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3" name="Google Shape;58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4" name="Google Shape;584;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9" name="Google Shape;599;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0" name="Google Shape;600;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1" name="Google Shape;621;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2" name="Google Shape;622;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3" name="Google Shape;653;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4" name="Google Shape;654;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7" name="Google Shape;687;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Quote from </a:t>
            </a:r>
            <a:endParaRPr/>
          </a:p>
          <a:p>
            <a:pPr indent="0" lvl="0" marL="0" rtl="0" algn="l">
              <a:spcBef>
                <a:spcPts val="0"/>
              </a:spcBef>
              <a:spcAft>
                <a:spcPts val="0"/>
              </a:spcAft>
              <a:buNone/>
            </a:pPr>
            <a:r>
              <a:rPr lang="en-US"/>
              <a:t>Anthony Ralston and Edwin C. Reilly, ed. Encyclopedia of Computer Science, Third Edition (New York: Van Nostrand Reinhold USA, 1993) s.v. “Standards”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As quoted in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Why Standardization Efforts Fail</a:t>
            </a:r>
            <a:br>
              <a:rPr b="1" lang="en-US"/>
            </a:br>
            <a:endParaRPr b="1"/>
          </a:p>
          <a:p>
            <a:pPr indent="0" lvl="0" marL="0" rtl="0" algn="l">
              <a:spcBef>
                <a:spcPts val="0"/>
              </a:spcBef>
              <a:spcAft>
                <a:spcPts val="0"/>
              </a:spcAft>
              <a:buNone/>
            </a:pPr>
            <a:r>
              <a:rPr lang="en-US"/>
              <a:t>Carl F. Cargill</a:t>
            </a:r>
            <a:endParaRPr/>
          </a:p>
          <a:p>
            <a:pPr indent="0" lvl="0" marL="0" rtl="0" algn="l">
              <a:spcBef>
                <a:spcPts val="0"/>
              </a:spcBef>
              <a:spcAft>
                <a:spcPts val="0"/>
              </a:spcAft>
              <a:buNone/>
            </a:pPr>
            <a:r>
              <a:rPr lang="en-US" u="sng">
                <a:solidFill>
                  <a:schemeClr val="hlink"/>
                </a:solidFill>
                <a:hlinkClick r:id="rId2"/>
              </a:rPr>
              <a:t>Volume 14</a:t>
            </a:r>
            <a:r>
              <a:rPr lang="en-US"/>
              <a:t>, </a:t>
            </a:r>
            <a:r>
              <a:rPr lang="en-US" u="sng">
                <a:solidFill>
                  <a:schemeClr val="hlink"/>
                </a:solidFill>
                <a:hlinkClick r:id="rId3"/>
              </a:rPr>
              <a:t>Issue 1</a:t>
            </a:r>
            <a:r>
              <a:rPr lang="en-US"/>
              <a:t>: </a:t>
            </a:r>
            <a:r>
              <a:rPr i="1" lang="en-US"/>
              <a:t>Standards</a:t>
            </a:r>
            <a:r>
              <a:rPr lang="en-US"/>
              <a:t>, Summer 2011</a:t>
            </a:r>
            <a:endParaRPr/>
          </a:p>
          <a:p>
            <a:pPr indent="0" lvl="0" marL="0" rtl="0" algn="l">
              <a:spcBef>
                <a:spcPts val="0"/>
              </a:spcBef>
              <a:spcAft>
                <a:spcPts val="0"/>
              </a:spcAft>
              <a:buNone/>
            </a:pPr>
            <a:r>
              <a:rPr lang="en-US"/>
              <a:t>DOI: </a:t>
            </a:r>
            <a:r>
              <a:rPr lang="en-US" u="sng">
                <a:solidFill>
                  <a:schemeClr val="hlink"/>
                </a:solidFill>
                <a:hlinkClick r:id="rId4"/>
              </a:rPr>
              <a:t>https://doi.org/10.3998/3336451.0014.103</a:t>
            </a:r>
            <a:endParaRPr/>
          </a:p>
          <a:p>
            <a:pPr indent="0" lvl="0" marL="0" rtl="0" algn="l">
              <a:spcBef>
                <a:spcPts val="0"/>
              </a:spcBef>
              <a:spcAft>
                <a:spcPts val="0"/>
              </a:spcAft>
              <a:buNone/>
            </a:pPr>
            <a:r>
              <a:rPr lang="en-US" u="sng">
                <a:solidFill>
                  <a:schemeClr val="hlink"/>
                </a:solidFill>
                <a:hlinkClick r:id="rId5"/>
              </a:rPr>
              <a:t>Permissions</a:t>
            </a:r>
            <a:r>
              <a:rPr lang="en-US"/>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88" name="Google Shape;688;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0" name="Google Shape;700;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Quote from </a:t>
            </a:r>
            <a:endParaRPr/>
          </a:p>
          <a:p>
            <a:pPr indent="0" lvl="0" marL="0" rtl="0" algn="l">
              <a:spcBef>
                <a:spcPts val="0"/>
              </a:spcBef>
              <a:spcAft>
                <a:spcPts val="0"/>
              </a:spcAft>
              <a:buNone/>
            </a:pPr>
            <a:r>
              <a:rPr lang="en-US"/>
              <a:t>Anthony Ralston and Edwin C. Reilly, ed. Encyclopedia of Computer Science, Third Edition (New York: Van Nostrand Reinhold USA, 1993) s.v. “Standards”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As quoted in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Why Standardization Efforts Fail</a:t>
            </a:r>
            <a:br>
              <a:rPr b="1" lang="en-US"/>
            </a:br>
            <a:endParaRPr b="1"/>
          </a:p>
          <a:p>
            <a:pPr indent="0" lvl="0" marL="0" rtl="0" algn="l">
              <a:spcBef>
                <a:spcPts val="0"/>
              </a:spcBef>
              <a:spcAft>
                <a:spcPts val="0"/>
              </a:spcAft>
              <a:buNone/>
            </a:pPr>
            <a:r>
              <a:rPr lang="en-US"/>
              <a:t>Carl F. Cargill</a:t>
            </a:r>
            <a:endParaRPr/>
          </a:p>
          <a:p>
            <a:pPr indent="0" lvl="0" marL="0" rtl="0" algn="l">
              <a:spcBef>
                <a:spcPts val="0"/>
              </a:spcBef>
              <a:spcAft>
                <a:spcPts val="0"/>
              </a:spcAft>
              <a:buNone/>
            </a:pPr>
            <a:r>
              <a:rPr lang="en-US" u="sng">
                <a:solidFill>
                  <a:schemeClr val="hlink"/>
                </a:solidFill>
                <a:hlinkClick r:id="rId2"/>
              </a:rPr>
              <a:t>Volume 14</a:t>
            </a:r>
            <a:r>
              <a:rPr lang="en-US"/>
              <a:t>, </a:t>
            </a:r>
            <a:r>
              <a:rPr lang="en-US" u="sng">
                <a:solidFill>
                  <a:schemeClr val="hlink"/>
                </a:solidFill>
                <a:hlinkClick r:id="rId3"/>
              </a:rPr>
              <a:t>Issue 1</a:t>
            </a:r>
            <a:r>
              <a:rPr lang="en-US"/>
              <a:t>: </a:t>
            </a:r>
            <a:r>
              <a:rPr i="1" lang="en-US"/>
              <a:t>Standards</a:t>
            </a:r>
            <a:r>
              <a:rPr lang="en-US"/>
              <a:t>, Summer 2011</a:t>
            </a:r>
            <a:endParaRPr/>
          </a:p>
          <a:p>
            <a:pPr indent="0" lvl="0" marL="0" rtl="0" algn="l">
              <a:spcBef>
                <a:spcPts val="0"/>
              </a:spcBef>
              <a:spcAft>
                <a:spcPts val="0"/>
              </a:spcAft>
              <a:buNone/>
            </a:pPr>
            <a:r>
              <a:rPr lang="en-US"/>
              <a:t>DOI: </a:t>
            </a:r>
            <a:r>
              <a:rPr lang="en-US" u="sng">
                <a:solidFill>
                  <a:schemeClr val="hlink"/>
                </a:solidFill>
                <a:hlinkClick r:id="rId4"/>
              </a:rPr>
              <a:t>https://doi.org/10.3998/3336451.0014.103</a:t>
            </a:r>
            <a:endParaRPr/>
          </a:p>
          <a:p>
            <a:pPr indent="0" lvl="0" marL="0" rtl="0" algn="l">
              <a:spcBef>
                <a:spcPts val="0"/>
              </a:spcBef>
              <a:spcAft>
                <a:spcPts val="0"/>
              </a:spcAft>
              <a:buNone/>
            </a:pPr>
            <a:r>
              <a:rPr lang="en-US" u="sng">
                <a:solidFill>
                  <a:schemeClr val="hlink"/>
                </a:solidFill>
                <a:hlinkClick r:id="rId5"/>
              </a:rPr>
              <a:t>Permissions</a:t>
            </a:r>
            <a:r>
              <a:rPr lang="en-US"/>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701" name="Google Shape;701;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7" name="Google Shape;737;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8" name="Google Shape;738;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3" name="Google Shape;763;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5" name="Google Shape;775;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https://www.qualcomm.com/news/onq/2017/08/02/understanding-3gpp-starting-basics</a:t>
            </a:r>
            <a:endParaRPr/>
          </a:p>
          <a:p>
            <a:pPr indent="0" lvl="0" marL="0" rtl="0" algn="l">
              <a:spcBef>
                <a:spcPts val="0"/>
              </a:spcBef>
              <a:spcAft>
                <a:spcPts val="0"/>
              </a:spcAft>
              <a:buNone/>
            </a:pPr>
            <a:r>
              <a:rPr lang="en-US"/>
              <a:t>https://webapp.etsi.org/3gppmembership/QueryForm.asp</a:t>
            </a:r>
            <a:endParaRPr/>
          </a:p>
          <a:p>
            <a:pPr indent="0" lvl="0" marL="0" rtl="0" algn="l">
              <a:spcBef>
                <a:spcPts val="0"/>
              </a:spcBef>
              <a:spcAft>
                <a:spcPts val="0"/>
              </a:spcAft>
              <a:buNone/>
            </a:pPr>
            <a:r>
              <a:t/>
            </a:r>
            <a:endParaRPr/>
          </a:p>
        </p:txBody>
      </p:sp>
      <p:sp>
        <p:nvSpPr>
          <p:cNvPr id="776" name="Google Shape;776;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5" name="Google Shape;785;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https://www.qualcomm.com/news/onq/2017/08/02/understanding-3gpp-starting-basics</a:t>
            </a:r>
            <a:endParaRPr/>
          </a:p>
          <a:p>
            <a:pPr indent="0" lvl="0" marL="0" rtl="0" algn="l">
              <a:spcBef>
                <a:spcPts val="0"/>
              </a:spcBef>
              <a:spcAft>
                <a:spcPts val="0"/>
              </a:spcAft>
              <a:buNone/>
            </a:pPr>
            <a:r>
              <a:rPr lang="en-US"/>
              <a:t>https://webapp.etsi.org/3gppmembership/QueryForm.asp</a:t>
            </a:r>
            <a:endParaRPr/>
          </a:p>
          <a:p>
            <a:pPr indent="0" lvl="0" marL="0" rtl="0" algn="l">
              <a:spcBef>
                <a:spcPts val="0"/>
              </a:spcBef>
              <a:spcAft>
                <a:spcPts val="0"/>
              </a:spcAft>
              <a:buNone/>
            </a:pPr>
            <a:r>
              <a:t/>
            </a:r>
            <a:endParaRPr/>
          </a:p>
        </p:txBody>
      </p:sp>
      <p:sp>
        <p:nvSpPr>
          <p:cNvPr id="786" name="Google Shape;786;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7" name="Google Shape;797;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8" name="Google Shape;798;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4" name="Google Shape;834;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https://www.qualcomm.com/news/onq/2017/08/02/understanding-3gpp-starting-basics</a:t>
            </a:r>
            <a:endParaRPr/>
          </a:p>
          <a:p>
            <a:pPr indent="0" lvl="0" marL="0" rtl="0" algn="l">
              <a:spcBef>
                <a:spcPts val="0"/>
              </a:spcBef>
              <a:spcAft>
                <a:spcPts val="0"/>
              </a:spcAft>
              <a:buNone/>
            </a:pPr>
            <a:r>
              <a:rPr lang="en-US"/>
              <a:t>https://webapp.etsi.org/3gppmembership/QueryForm.asp</a:t>
            </a:r>
            <a:endParaRPr/>
          </a:p>
          <a:p>
            <a:pPr indent="0" lvl="0" marL="0" rtl="0" algn="l">
              <a:spcBef>
                <a:spcPts val="0"/>
              </a:spcBef>
              <a:spcAft>
                <a:spcPts val="0"/>
              </a:spcAft>
              <a:buNone/>
            </a:pPr>
            <a:r>
              <a:t/>
            </a:r>
            <a:endParaRPr/>
          </a:p>
        </p:txBody>
      </p:sp>
      <p:sp>
        <p:nvSpPr>
          <p:cNvPr id="835" name="Google Shape;835;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5" name="Google Shape;845;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https://www.qualcomm.com/news/onq/2017/08/02/understanding-3gpp-starting-basics</a:t>
            </a:r>
            <a:endParaRPr/>
          </a:p>
          <a:p>
            <a:pPr indent="0" lvl="0" marL="0" rtl="0" algn="l">
              <a:spcBef>
                <a:spcPts val="0"/>
              </a:spcBef>
              <a:spcAft>
                <a:spcPts val="0"/>
              </a:spcAft>
              <a:buNone/>
            </a:pPr>
            <a:r>
              <a:rPr lang="en-US"/>
              <a:t>https://webapp.etsi.org/3gppmembership/QueryForm.asp</a:t>
            </a:r>
            <a:endParaRPr/>
          </a:p>
          <a:p>
            <a:pPr indent="0" lvl="0" marL="0" rtl="0" algn="l">
              <a:spcBef>
                <a:spcPts val="0"/>
              </a:spcBef>
              <a:spcAft>
                <a:spcPts val="0"/>
              </a:spcAft>
              <a:buNone/>
            </a:pPr>
            <a:r>
              <a:t/>
            </a:r>
            <a:endParaRPr/>
          </a:p>
        </p:txBody>
      </p:sp>
      <p:sp>
        <p:nvSpPr>
          <p:cNvPr id="846" name="Google Shape;846;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9" name="Google Shape;859;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0" name="Google Shape;860;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2" name="Google Shape;892;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https://www.qualcomm.com/news/onq/2017/08/02/understanding-3gpp-starting-basics</a:t>
            </a:r>
            <a:endParaRPr/>
          </a:p>
          <a:p>
            <a:pPr indent="0" lvl="0" marL="0" rtl="0" algn="l">
              <a:spcBef>
                <a:spcPts val="0"/>
              </a:spcBef>
              <a:spcAft>
                <a:spcPts val="0"/>
              </a:spcAft>
              <a:buNone/>
            </a:pPr>
            <a:r>
              <a:rPr lang="en-US"/>
              <a:t>https://webapp.etsi.org/3gppmembership/QueryForm.asp</a:t>
            </a:r>
            <a:endParaRPr/>
          </a:p>
          <a:p>
            <a:pPr indent="0" lvl="0" marL="0" rtl="0" algn="l">
              <a:spcBef>
                <a:spcPts val="0"/>
              </a:spcBef>
              <a:spcAft>
                <a:spcPts val="0"/>
              </a:spcAft>
              <a:buNone/>
            </a:pPr>
            <a:r>
              <a:t/>
            </a:r>
            <a:endParaRPr/>
          </a:p>
        </p:txBody>
      </p:sp>
      <p:sp>
        <p:nvSpPr>
          <p:cNvPr id="893" name="Google Shape;893;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3" name="Google Shape;903;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https://www.qualcomm.com/news/onq/2017/08/02/understanding-3gpp-starting-basics</a:t>
            </a:r>
            <a:endParaRPr/>
          </a:p>
          <a:p>
            <a:pPr indent="0" lvl="0" marL="0" rtl="0" algn="l">
              <a:spcBef>
                <a:spcPts val="0"/>
              </a:spcBef>
              <a:spcAft>
                <a:spcPts val="0"/>
              </a:spcAft>
              <a:buNone/>
            </a:pPr>
            <a:r>
              <a:rPr lang="en-US"/>
              <a:t>https://webapp.etsi.org/3gppmembership/QueryForm.asp</a:t>
            </a:r>
            <a:endParaRPr/>
          </a:p>
          <a:p>
            <a:pPr indent="0" lvl="0" marL="0" rtl="0" algn="l">
              <a:spcBef>
                <a:spcPts val="0"/>
              </a:spcBef>
              <a:spcAft>
                <a:spcPts val="0"/>
              </a:spcAft>
              <a:buNone/>
            </a:pPr>
            <a:r>
              <a:t/>
            </a:r>
            <a:endParaRPr/>
          </a:p>
        </p:txBody>
      </p:sp>
      <p:sp>
        <p:nvSpPr>
          <p:cNvPr id="904" name="Google Shape;904;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9" name="Google Shape;919;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https://www.qualcomm.com/news/onq/2017/08/02/understanding-3gpp-starting-basics</a:t>
            </a:r>
            <a:endParaRPr/>
          </a:p>
          <a:p>
            <a:pPr indent="0" lvl="0" marL="0" rtl="0" algn="l">
              <a:spcBef>
                <a:spcPts val="0"/>
              </a:spcBef>
              <a:spcAft>
                <a:spcPts val="0"/>
              </a:spcAft>
              <a:buNone/>
            </a:pPr>
            <a:r>
              <a:rPr lang="en-US"/>
              <a:t>https://webapp.etsi.org/3gppmembership/QueryForm.asp</a:t>
            </a:r>
            <a:endParaRPr/>
          </a:p>
          <a:p>
            <a:pPr indent="0" lvl="0" marL="0" rtl="0" algn="l">
              <a:spcBef>
                <a:spcPts val="0"/>
              </a:spcBef>
              <a:spcAft>
                <a:spcPts val="0"/>
              </a:spcAft>
              <a:buNone/>
            </a:pPr>
            <a:r>
              <a:t/>
            </a:r>
            <a:endParaRPr/>
          </a:p>
        </p:txBody>
      </p:sp>
      <p:sp>
        <p:nvSpPr>
          <p:cNvPr id="920" name="Google Shape;920;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9" name="Google Shape;939;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https://www.qualcomm.com/news/onq/2017/08/02/understanding-3gpp-starting-basics</a:t>
            </a:r>
            <a:endParaRPr/>
          </a:p>
          <a:p>
            <a:pPr indent="0" lvl="0" marL="0" rtl="0" algn="l">
              <a:spcBef>
                <a:spcPts val="0"/>
              </a:spcBef>
              <a:spcAft>
                <a:spcPts val="0"/>
              </a:spcAft>
              <a:buNone/>
            </a:pPr>
            <a:r>
              <a:rPr lang="en-US"/>
              <a:t>https://webapp.etsi.org/3gppmembership/QueryForm.asp</a:t>
            </a:r>
            <a:endParaRPr/>
          </a:p>
          <a:p>
            <a:pPr indent="0" lvl="0" marL="0" rtl="0" algn="l">
              <a:spcBef>
                <a:spcPts val="0"/>
              </a:spcBef>
              <a:spcAft>
                <a:spcPts val="0"/>
              </a:spcAft>
              <a:buNone/>
            </a:pPr>
            <a:r>
              <a:t/>
            </a:r>
            <a:endParaRPr/>
          </a:p>
        </p:txBody>
      </p:sp>
      <p:sp>
        <p:nvSpPr>
          <p:cNvPr id="940" name="Google Shape;940;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3" name="Shape 1403"/>
        <p:cNvGrpSpPr/>
        <p:nvPr/>
      </p:nvGrpSpPr>
      <p:grpSpPr>
        <a:xfrm>
          <a:off x="0" y="0"/>
          <a:ext cx="0" cy="0"/>
          <a:chOff x="0" y="0"/>
          <a:chExt cx="0" cy="0"/>
        </a:xfrm>
      </p:grpSpPr>
      <p:sp>
        <p:nvSpPr>
          <p:cNvPr id="1404" name="Google Shape;1404;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5" name="Google Shape;1405;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6" name="Google Shape;1406;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3" name="Shape 13"/>
        <p:cNvGrpSpPr/>
        <p:nvPr/>
      </p:nvGrpSpPr>
      <p:grpSpPr>
        <a:xfrm>
          <a:off x="0" y="0"/>
          <a:ext cx="0" cy="0"/>
          <a:chOff x="0" y="0"/>
          <a:chExt cx="0" cy="0"/>
        </a:xfrm>
      </p:grpSpPr>
      <p:sp>
        <p:nvSpPr>
          <p:cNvPr id="14" name="Google Shape;14;p2"/>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 name="Google Shape;15;p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 name="Shape 17"/>
        <p:cNvGrpSpPr/>
        <p:nvPr/>
      </p:nvGrpSpPr>
      <p:grpSpPr>
        <a:xfrm>
          <a:off x="0" y="0"/>
          <a:ext cx="0" cy="0"/>
          <a:chOff x="0" y="0"/>
          <a:chExt cx="0" cy="0"/>
        </a:xfrm>
      </p:grpSpPr>
      <p:sp>
        <p:nvSpPr>
          <p:cNvPr id="18" name="Google Shape;18;p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 name="Google Shape;21;p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 name="Shape 22"/>
        <p:cNvGrpSpPr/>
        <p:nvPr/>
      </p:nvGrpSpPr>
      <p:grpSpPr>
        <a:xfrm>
          <a:off x="0" y="0"/>
          <a:ext cx="0" cy="0"/>
          <a:chOff x="0" y="0"/>
          <a:chExt cx="0" cy="0"/>
        </a:xfrm>
      </p:grpSpPr>
      <p:sp>
        <p:nvSpPr>
          <p:cNvPr id="23" name="Google Shape;23;p4"/>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00A3"/>
              </a:buClr>
              <a:buSzPts val="6000"/>
              <a:buFont typeface="Calibri"/>
              <a:buNone/>
              <a:defRPr sz="60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8" name="Google Shape;28;p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00A3"/>
              </a:buClr>
              <a:buSzPts val="4000"/>
              <a:buFont typeface="Calibri"/>
              <a:buNone/>
              <a:defRPr b="1" i="0" sz="4000" u="none" cap="none" strike="noStrike">
                <a:solidFill>
                  <a:srgbClr val="0000A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0000A3"/>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rgbClr val="0000A8"/>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7F7F7F"/>
                </a:solidFill>
                <a:latin typeface="Calibri"/>
                <a:ea typeface="Calibri"/>
                <a:cs typeface="Calibri"/>
                <a:sym typeface="Calibri"/>
              </a:defRPr>
            </a:lvl1pPr>
            <a:lvl2pPr indent="0" lvl="1" marL="0" marR="0" rtl="0" algn="r">
              <a:spcBef>
                <a:spcPts val="0"/>
              </a:spcBef>
              <a:buNone/>
              <a:defRPr b="0" i="0" sz="1100" u="none" cap="none" strike="noStrike">
                <a:solidFill>
                  <a:srgbClr val="7F7F7F"/>
                </a:solidFill>
                <a:latin typeface="Calibri"/>
                <a:ea typeface="Calibri"/>
                <a:cs typeface="Calibri"/>
                <a:sym typeface="Calibri"/>
              </a:defRPr>
            </a:lvl2pPr>
            <a:lvl3pPr indent="0" lvl="2" marL="0" marR="0" rtl="0" algn="r">
              <a:spcBef>
                <a:spcPts val="0"/>
              </a:spcBef>
              <a:buNone/>
              <a:defRPr b="0" i="0" sz="1100" u="none" cap="none" strike="noStrike">
                <a:solidFill>
                  <a:srgbClr val="7F7F7F"/>
                </a:solidFill>
                <a:latin typeface="Calibri"/>
                <a:ea typeface="Calibri"/>
                <a:cs typeface="Calibri"/>
                <a:sym typeface="Calibri"/>
              </a:defRPr>
            </a:lvl3pPr>
            <a:lvl4pPr indent="0" lvl="3" marL="0" marR="0" rtl="0" algn="r">
              <a:spcBef>
                <a:spcPts val="0"/>
              </a:spcBef>
              <a:buNone/>
              <a:defRPr b="0" i="0" sz="1100" u="none" cap="none" strike="noStrike">
                <a:solidFill>
                  <a:srgbClr val="7F7F7F"/>
                </a:solidFill>
                <a:latin typeface="Calibri"/>
                <a:ea typeface="Calibri"/>
                <a:cs typeface="Calibri"/>
                <a:sym typeface="Calibri"/>
              </a:defRPr>
            </a:lvl4pPr>
            <a:lvl5pPr indent="0" lvl="4" marL="0" marR="0" rtl="0" algn="r">
              <a:spcBef>
                <a:spcPts val="0"/>
              </a:spcBef>
              <a:buNone/>
              <a:defRPr b="0" i="0" sz="1100" u="none" cap="none" strike="noStrike">
                <a:solidFill>
                  <a:srgbClr val="7F7F7F"/>
                </a:solidFill>
                <a:latin typeface="Calibri"/>
                <a:ea typeface="Calibri"/>
                <a:cs typeface="Calibri"/>
                <a:sym typeface="Calibri"/>
              </a:defRPr>
            </a:lvl5pPr>
            <a:lvl6pPr indent="0" lvl="5" marL="0" marR="0" rtl="0" algn="r">
              <a:spcBef>
                <a:spcPts val="0"/>
              </a:spcBef>
              <a:buNone/>
              <a:defRPr b="0" i="0" sz="1100" u="none" cap="none" strike="noStrike">
                <a:solidFill>
                  <a:srgbClr val="7F7F7F"/>
                </a:solidFill>
                <a:latin typeface="Calibri"/>
                <a:ea typeface="Calibri"/>
                <a:cs typeface="Calibri"/>
                <a:sym typeface="Calibri"/>
              </a:defRPr>
            </a:lvl6pPr>
            <a:lvl7pPr indent="0" lvl="6" marL="0" marR="0" rtl="0" algn="r">
              <a:spcBef>
                <a:spcPts val="0"/>
              </a:spcBef>
              <a:buNone/>
              <a:defRPr b="0" i="0" sz="1100" u="none" cap="none" strike="noStrike">
                <a:solidFill>
                  <a:srgbClr val="7F7F7F"/>
                </a:solidFill>
                <a:latin typeface="Calibri"/>
                <a:ea typeface="Calibri"/>
                <a:cs typeface="Calibri"/>
                <a:sym typeface="Calibri"/>
              </a:defRPr>
            </a:lvl7pPr>
            <a:lvl8pPr indent="0" lvl="7" marL="0" marR="0" rtl="0" algn="r">
              <a:spcBef>
                <a:spcPts val="0"/>
              </a:spcBef>
              <a:buNone/>
              <a:defRPr b="0" i="0" sz="1100" u="none" cap="none" strike="noStrike">
                <a:solidFill>
                  <a:srgbClr val="7F7F7F"/>
                </a:solidFill>
                <a:latin typeface="Calibri"/>
                <a:ea typeface="Calibri"/>
                <a:cs typeface="Calibri"/>
                <a:sym typeface="Calibri"/>
              </a:defRPr>
            </a:lvl8pPr>
            <a:lvl9pPr indent="0" lvl="8" marL="0" marR="0" rt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www.speedtest.net/" TargetMode="Externa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9.jpg"/><Relationship Id="rId4" Type="http://schemas.openxmlformats.org/officeDocument/2006/relationships/image" Target="../media/image5.png"/><Relationship Id="rId11" Type="http://schemas.openxmlformats.org/officeDocument/2006/relationships/image" Target="../media/image25.png"/><Relationship Id="rId10" Type="http://schemas.openxmlformats.org/officeDocument/2006/relationships/image" Target="../media/image12.png"/><Relationship Id="rId12" Type="http://schemas.openxmlformats.org/officeDocument/2006/relationships/image" Target="../media/image22.png"/><Relationship Id="rId9"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2.png"/><Relationship Id="rId7" Type="http://schemas.openxmlformats.org/officeDocument/2006/relationships/image" Target="../media/image1.png"/><Relationship Id="rId8"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9.jpg"/><Relationship Id="rId4" Type="http://schemas.openxmlformats.org/officeDocument/2006/relationships/image" Target="../media/image30.png"/><Relationship Id="rId5" Type="http://schemas.openxmlformats.org/officeDocument/2006/relationships/image" Target="../media/image33.png"/><Relationship Id="rId6"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7.png"/><Relationship Id="rId4" Type="http://schemas.openxmlformats.org/officeDocument/2006/relationships/image" Target="../media/image37.jpg"/></Relationships>
</file>

<file path=ppt/slides/_rels/slide25.xml.rels><?xml version="1.0" encoding="UTF-8" standalone="yes"?><Relationships xmlns="http://schemas.openxmlformats.org/package/2006/relationships"><Relationship Id="rId11" Type="http://schemas.openxmlformats.org/officeDocument/2006/relationships/image" Target="../media/image46.png"/><Relationship Id="rId10" Type="http://schemas.openxmlformats.org/officeDocument/2006/relationships/image" Target="../media/image44.png"/><Relationship Id="rId13" Type="http://schemas.openxmlformats.org/officeDocument/2006/relationships/image" Target="../media/image60.png"/><Relationship Id="rId12" Type="http://schemas.openxmlformats.org/officeDocument/2006/relationships/image" Target="../media/image49.png"/><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7.png"/><Relationship Id="rId4" Type="http://schemas.openxmlformats.org/officeDocument/2006/relationships/image" Target="../media/image37.jpg"/><Relationship Id="rId9" Type="http://schemas.openxmlformats.org/officeDocument/2006/relationships/image" Target="../media/image50.png"/><Relationship Id="rId15" Type="http://schemas.openxmlformats.org/officeDocument/2006/relationships/image" Target="../media/image56.png"/><Relationship Id="rId14" Type="http://schemas.openxmlformats.org/officeDocument/2006/relationships/image" Target="../media/image57.png"/><Relationship Id="rId17" Type="http://schemas.openxmlformats.org/officeDocument/2006/relationships/image" Target="../media/image52.png"/><Relationship Id="rId16" Type="http://schemas.openxmlformats.org/officeDocument/2006/relationships/image" Target="../media/image51.png"/><Relationship Id="rId5" Type="http://schemas.openxmlformats.org/officeDocument/2006/relationships/image" Target="../media/image54.png"/><Relationship Id="rId6" Type="http://schemas.openxmlformats.org/officeDocument/2006/relationships/image" Target="../media/image39.png"/><Relationship Id="rId18" Type="http://schemas.openxmlformats.org/officeDocument/2006/relationships/image" Target="../media/image71.png"/><Relationship Id="rId7" Type="http://schemas.openxmlformats.org/officeDocument/2006/relationships/image" Target="../media/image40.png"/><Relationship Id="rId8" Type="http://schemas.openxmlformats.org/officeDocument/2006/relationships/image" Target="../media/image3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53.jpg"/><Relationship Id="rId4" Type="http://schemas.openxmlformats.org/officeDocument/2006/relationships/image" Target="../media/image101.png"/><Relationship Id="rId5" Type="http://schemas.openxmlformats.org/officeDocument/2006/relationships/image" Target="../media/image58.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63.png"/><Relationship Id="rId4" Type="http://schemas.openxmlformats.org/officeDocument/2006/relationships/image" Target="../media/image6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69.png"/><Relationship Id="rId4" Type="http://schemas.openxmlformats.org/officeDocument/2006/relationships/image" Target="../media/image5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62.png"/><Relationship Id="rId4" Type="http://schemas.openxmlformats.org/officeDocument/2006/relationships/image" Target="../media/image6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hyperlink" Target="http://www.apple.com/"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8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64.png"/><Relationship Id="rId4" Type="http://schemas.openxmlformats.org/officeDocument/2006/relationships/image" Target="../media/image83.png"/><Relationship Id="rId9" Type="http://schemas.openxmlformats.org/officeDocument/2006/relationships/hyperlink" Target="https://en.wikipedia.org/wiki/Communications_Decency_Act" TargetMode="External"/><Relationship Id="rId5" Type="http://schemas.openxmlformats.org/officeDocument/2006/relationships/image" Target="../media/image70.png"/><Relationship Id="rId6" Type="http://schemas.openxmlformats.org/officeDocument/2006/relationships/image" Target="../media/image109.png"/><Relationship Id="rId7" Type="http://schemas.openxmlformats.org/officeDocument/2006/relationships/image" Target="../media/image76.png"/><Relationship Id="rId8" Type="http://schemas.openxmlformats.org/officeDocument/2006/relationships/image" Target="../media/image1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67.png"/><Relationship Id="rId4" Type="http://schemas.openxmlformats.org/officeDocument/2006/relationships/image" Target="../media/image90.png"/><Relationship Id="rId9" Type="http://schemas.openxmlformats.org/officeDocument/2006/relationships/image" Target="../media/image88.png"/><Relationship Id="rId5" Type="http://schemas.openxmlformats.org/officeDocument/2006/relationships/image" Target="../media/image86.png"/><Relationship Id="rId6" Type="http://schemas.openxmlformats.org/officeDocument/2006/relationships/image" Target="../media/image112.png"/><Relationship Id="rId7" Type="http://schemas.openxmlformats.org/officeDocument/2006/relationships/image" Target="../media/image65.png"/><Relationship Id="rId8" Type="http://schemas.openxmlformats.org/officeDocument/2006/relationships/image" Target="../media/image106.png"/></Relationships>
</file>

<file path=ppt/slides/_rels/slide37.xml.rels><?xml version="1.0" encoding="UTF-8" standalone="yes"?><Relationships xmlns="http://schemas.openxmlformats.org/package/2006/relationships"><Relationship Id="rId20" Type="http://schemas.openxmlformats.org/officeDocument/2006/relationships/image" Target="../media/image103.png"/><Relationship Id="rId11" Type="http://schemas.openxmlformats.org/officeDocument/2006/relationships/image" Target="../media/image78.png"/><Relationship Id="rId22" Type="http://schemas.openxmlformats.org/officeDocument/2006/relationships/image" Target="../media/image12.png"/><Relationship Id="rId10" Type="http://schemas.openxmlformats.org/officeDocument/2006/relationships/image" Target="../media/image79.png"/><Relationship Id="rId21" Type="http://schemas.openxmlformats.org/officeDocument/2006/relationships/image" Target="../media/image97.png"/><Relationship Id="rId13" Type="http://schemas.openxmlformats.org/officeDocument/2006/relationships/image" Target="../media/image4.png"/><Relationship Id="rId24" Type="http://schemas.openxmlformats.org/officeDocument/2006/relationships/image" Target="../media/image111.png"/><Relationship Id="rId12" Type="http://schemas.openxmlformats.org/officeDocument/2006/relationships/image" Target="../media/image89.png"/><Relationship Id="rId23" Type="http://schemas.openxmlformats.org/officeDocument/2006/relationships/image" Target="../media/image107.png"/><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5.png"/><Relationship Id="rId4" Type="http://schemas.openxmlformats.org/officeDocument/2006/relationships/image" Target="../media/image73.png"/><Relationship Id="rId9" Type="http://schemas.openxmlformats.org/officeDocument/2006/relationships/image" Target="../media/image82.png"/><Relationship Id="rId15" Type="http://schemas.openxmlformats.org/officeDocument/2006/relationships/image" Target="../media/image1.png"/><Relationship Id="rId14" Type="http://schemas.openxmlformats.org/officeDocument/2006/relationships/image" Target="../media/image2.png"/><Relationship Id="rId17" Type="http://schemas.openxmlformats.org/officeDocument/2006/relationships/image" Target="../media/image9.png"/><Relationship Id="rId16" Type="http://schemas.openxmlformats.org/officeDocument/2006/relationships/image" Target="../media/image3.png"/><Relationship Id="rId5" Type="http://schemas.openxmlformats.org/officeDocument/2006/relationships/image" Target="../media/image24.png"/><Relationship Id="rId19" Type="http://schemas.openxmlformats.org/officeDocument/2006/relationships/image" Target="../media/image102.png"/><Relationship Id="rId6" Type="http://schemas.openxmlformats.org/officeDocument/2006/relationships/image" Target="../media/image84.png"/><Relationship Id="rId18" Type="http://schemas.openxmlformats.org/officeDocument/2006/relationships/image" Target="../media/image96.png"/><Relationship Id="rId7" Type="http://schemas.openxmlformats.org/officeDocument/2006/relationships/image" Target="../media/image81.png"/><Relationship Id="rId8" Type="http://schemas.openxmlformats.org/officeDocument/2006/relationships/image" Target="../media/image7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grpSp>
        <p:nvGrpSpPr>
          <p:cNvPr id="34" name="Google Shape;34;p6"/>
          <p:cNvGrpSpPr/>
          <p:nvPr/>
        </p:nvGrpSpPr>
        <p:grpSpPr>
          <a:xfrm>
            <a:off x="7981312" y="887185"/>
            <a:ext cx="3981504" cy="6263398"/>
            <a:chOff x="7981312" y="887185"/>
            <a:chExt cx="3981504" cy="6263398"/>
          </a:xfrm>
        </p:grpSpPr>
        <p:sp>
          <p:nvSpPr>
            <p:cNvPr id="35" name="Google Shape;35;p6"/>
            <p:cNvSpPr/>
            <p:nvPr/>
          </p:nvSpPr>
          <p:spPr>
            <a:xfrm>
              <a:off x="7981312" y="4289908"/>
              <a:ext cx="3981504" cy="2860675"/>
            </a:xfrm>
            <a:prstGeom prst="rect">
              <a:avLst/>
            </a:prstGeom>
            <a:no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0" i="1" lang="en-US" sz="2800" u="none" cap="none" strike="noStrike">
                  <a:solidFill>
                    <a:srgbClr val="0000A3"/>
                  </a:solidFill>
                  <a:latin typeface="Calibri"/>
                  <a:ea typeface="Calibri"/>
                  <a:cs typeface="Calibri"/>
                  <a:sym typeface="Calibri"/>
                </a:rPr>
                <a:t>Computer Networking: A Top-Down Approach </a:t>
              </a:r>
              <a:br>
                <a:rPr b="0" i="0" lang="en-US" sz="2800" u="none" cap="none" strike="noStrike">
                  <a:solidFill>
                    <a:srgbClr val="008000"/>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8</a:t>
              </a:r>
              <a:r>
                <a:rPr b="0" baseline="30000" i="0" lang="en-US" sz="1800" u="none" cap="none" strike="noStrike">
                  <a:solidFill>
                    <a:schemeClr val="dk1"/>
                  </a:solidFill>
                  <a:latin typeface="Calibri"/>
                  <a:ea typeface="Calibri"/>
                  <a:cs typeface="Calibri"/>
                  <a:sym typeface="Calibri"/>
                </a:rPr>
                <a:t>th</a:t>
              </a:r>
              <a:r>
                <a:rPr b="0" i="0" lang="en-US" sz="1800" u="none" cap="none" strike="noStrike">
                  <a:solidFill>
                    <a:schemeClr val="dk1"/>
                  </a:solidFill>
                  <a:latin typeface="Calibri"/>
                  <a:ea typeface="Calibri"/>
                  <a:cs typeface="Calibri"/>
                  <a:sym typeface="Calibri"/>
                </a:rPr>
                <a:t> edition </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Jim Kurose, Keith Ross</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Pearson, 2020</a:t>
              </a:r>
              <a:endParaRPr b="0" i="0" sz="2000" u="none" cap="none" strike="noStrike">
                <a:solidFill>
                  <a:schemeClr val="dk1"/>
                </a:solidFill>
                <a:latin typeface="Calibri"/>
                <a:ea typeface="Calibri"/>
                <a:cs typeface="Calibri"/>
                <a:sym typeface="Calibri"/>
              </a:endParaRPr>
            </a:p>
          </p:txBody>
        </p:sp>
        <p:pic>
          <p:nvPicPr>
            <p:cNvPr descr="A picture containing outdoor, water, bridge, building&#10;&#10;Description automatically generated" id="36" name="Google Shape;36;p6"/>
            <p:cNvPicPr preferRelativeResize="0"/>
            <p:nvPr/>
          </p:nvPicPr>
          <p:blipFill rotWithShape="1">
            <a:blip r:embed="rId3">
              <a:alphaModFix/>
            </a:blip>
            <a:srcRect b="0" l="0" r="0" t="0"/>
            <a:stretch/>
          </p:blipFill>
          <p:spPr>
            <a:xfrm>
              <a:off x="8135257" y="887185"/>
              <a:ext cx="3040743" cy="3800929"/>
            </a:xfrm>
            <a:prstGeom prst="rect">
              <a:avLst/>
            </a:prstGeom>
            <a:noFill/>
            <a:ln>
              <a:noFill/>
            </a:ln>
          </p:spPr>
        </p:pic>
      </p:grpSp>
      <p:sp>
        <p:nvSpPr>
          <p:cNvPr id="37" name="Google Shape;37;p6"/>
          <p:cNvSpPr txBox="1"/>
          <p:nvPr>
            <p:ph type="title"/>
          </p:nvPr>
        </p:nvSpPr>
        <p:spPr>
          <a:xfrm>
            <a:off x="482867" y="152400"/>
            <a:ext cx="6551791" cy="16509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6000"/>
              <a:buFont typeface="Calibri"/>
              <a:buNone/>
            </a:pPr>
            <a:r>
              <a:rPr lang="en-US" sz="6000"/>
              <a:t>Introduction</a:t>
            </a:r>
            <a:endParaRPr sz="6000"/>
          </a:p>
        </p:txBody>
      </p:sp>
      <p:sp>
        <p:nvSpPr>
          <p:cNvPr id="38" name="Google Shape;38;p6"/>
          <p:cNvSpPr txBox="1"/>
          <p:nvPr/>
        </p:nvSpPr>
        <p:spPr>
          <a:xfrm>
            <a:off x="397989" y="1582421"/>
            <a:ext cx="7321250" cy="4978399"/>
          </a:xfrm>
          <a:prstGeom prst="rect">
            <a:avLst/>
          </a:prstGeom>
          <a:noFill/>
          <a:ln>
            <a:noFill/>
          </a:ln>
        </p:spPr>
        <p:txBody>
          <a:bodyPr anchorCtr="0" anchor="t" bIns="45700" lIns="91425" spcFirstLastPara="1" rIns="91425" wrap="square" tIns="45700">
            <a:normAutofit/>
          </a:bodyPr>
          <a:lstStyle/>
          <a:p>
            <a:pPr indent="-285750" lvl="0" marL="403225" marR="0" rtl="0" algn="l">
              <a:lnSpc>
                <a:spcPct val="90000"/>
              </a:lnSpc>
              <a:spcBef>
                <a:spcPts val="0"/>
              </a:spcBef>
              <a:spcAft>
                <a:spcPts val="0"/>
              </a:spcAft>
              <a:buClr>
                <a:srgbClr val="D8D8D8"/>
              </a:buClr>
              <a:buSzPts val="3200"/>
              <a:buFont typeface="Noto Sans Symbols"/>
              <a:buChar char="▪"/>
            </a:pPr>
            <a:r>
              <a:rPr b="0" i="0" lang="en-US" sz="3200" u="none" cap="none" strike="noStrike">
                <a:solidFill>
                  <a:srgbClr val="D8D8D8"/>
                </a:solidFill>
                <a:latin typeface="Calibri"/>
                <a:ea typeface="Calibri"/>
                <a:cs typeface="Calibri"/>
                <a:sym typeface="Calibri"/>
              </a:rPr>
              <a:t>Overview. the Internet, protocols</a:t>
            </a:r>
            <a:endParaRPr/>
          </a:p>
          <a:p>
            <a:pPr indent="-285750" lvl="0" marL="403225" marR="0" rtl="0" algn="l">
              <a:lnSpc>
                <a:spcPct val="90000"/>
              </a:lnSpc>
              <a:spcBef>
                <a:spcPts val="800"/>
              </a:spcBef>
              <a:spcAft>
                <a:spcPts val="0"/>
              </a:spcAft>
              <a:buClr>
                <a:srgbClr val="D8D8D8"/>
              </a:buClr>
              <a:buSzPts val="3200"/>
              <a:buFont typeface="Noto Sans Symbols"/>
              <a:buChar char="▪"/>
            </a:pPr>
            <a:r>
              <a:rPr b="0" i="0" lang="en-US" sz="3200" u="none" cap="none" strike="noStrike">
                <a:solidFill>
                  <a:srgbClr val="D8D8D8"/>
                </a:solidFill>
                <a:latin typeface="Calibri"/>
                <a:ea typeface="Calibri"/>
                <a:cs typeface="Calibri"/>
                <a:sym typeface="Calibri"/>
              </a:rPr>
              <a:t>Network edge</a:t>
            </a:r>
            <a:endParaRPr/>
          </a:p>
          <a:p>
            <a:pPr indent="-285750" lvl="0" marL="403225" marR="0" rtl="0" algn="l">
              <a:lnSpc>
                <a:spcPct val="90000"/>
              </a:lnSpc>
              <a:spcBef>
                <a:spcPts val="800"/>
              </a:spcBef>
              <a:spcAft>
                <a:spcPts val="0"/>
              </a:spcAft>
              <a:buClr>
                <a:srgbClr val="D8D8D8"/>
              </a:buClr>
              <a:buSzPts val="3200"/>
              <a:buFont typeface="Noto Sans Symbols"/>
              <a:buChar char="▪"/>
            </a:pPr>
            <a:r>
              <a:rPr b="0" i="0" lang="en-US" sz="3200" u="none" cap="none" strike="noStrike">
                <a:solidFill>
                  <a:srgbClr val="D8D8D8"/>
                </a:solidFill>
                <a:latin typeface="Calibri"/>
                <a:ea typeface="Calibri"/>
                <a:cs typeface="Calibri"/>
                <a:sym typeface="Calibri"/>
              </a:rPr>
              <a:t>Network core: packet/circuit switching</a:t>
            </a:r>
            <a:endParaRPr/>
          </a:p>
          <a:p>
            <a:pPr indent="-285750" lvl="0" marL="403225" marR="0" rtl="0" algn="l">
              <a:lnSpc>
                <a:spcPct val="90000"/>
              </a:lnSpc>
              <a:spcBef>
                <a:spcPts val="800"/>
              </a:spcBef>
              <a:spcAft>
                <a:spcPts val="0"/>
              </a:spcAft>
              <a:buClr>
                <a:srgbClr val="D8D8D8"/>
              </a:buClr>
              <a:buSzPts val="3200"/>
              <a:buFont typeface="Noto Sans Symbols"/>
              <a:buChar char="▪"/>
            </a:pPr>
            <a:r>
              <a:rPr b="0" i="0" lang="en-US" sz="3200" u="none" cap="none" strike="noStrike">
                <a:solidFill>
                  <a:srgbClr val="D8D8D8"/>
                </a:solidFill>
                <a:latin typeface="Calibri"/>
                <a:ea typeface="Calibri"/>
                <a:cs typeface="Calibri"/>
                <a:sym typeface="Calibri"/>
              </a:rPr>
              <a:t>Performance: loss, delay, throughput</a:t>
            </a:r>
            <a:endParaRPr/>
          </a:p>
          <a:p>
            <a:pPr indent="-285750" lvl="0" marL="403225" marR="0" rtl="0" algn="l">
              <a:lnSpc>
                <a:spcPct val="90000"/>
              </a:lnSpc>
              <a:spcBef>
                <a:spcPts val="800"/>
              </a:spcBef>
              <a:spcAft>
                <a:spcPts val="0"/>
              </a:spcAft>
              <a:buClr>
                <a:srgbClr val="D8D8D8"/>
              </a:buClr>
              <a:buSzPts val="3200"/>
              <a:buFont typeface="Noto Sans Symbols"/>
              <a:buChar char="▪"/>
            </a:pPr>
            <a:r>
              <a:rPr b="0" i="0" lang="en-US" sz="3200" u="none" cap="none" strike="noStrike">
                <a:solidFill>
                  <a:srgbClr val="D8D8D8"/>
                </a:solidFill>
                <a:latin typeface="Calibri"/>
                <a:ea typeface="Calibri"/>
                <a:cs typeface="Calibri"/>
                <a:sym typeface="Calibri"/>
              </a:rPr>
              <a:t>Protocol layers, service models</a:t>
            </a:r>
            <a:endParaRPr/>
          </a:p>
          <a:p>
            <a:pPr indent="-285750" lvl="0" marL="403225" marR="0" rtl="0" algn="l">
              <a:lnSpc>
                <a:spcPct val="90000"/>
              </a:lnSpc>
              <a:spcBef>
                <a:spcPts val="800"/>
              </a:spcBef>
              <a:spcAft>
                <a:spcPts val="0"/>
              </a:spcAft>
              <a:buClr>
                <a:srgbClr val="D8D8D8"/>
              </a:buClr>
              <a:buSzPts val="3200"/>
              <a:buFont typeface="Noto Sans Symbols"/>
              <a:buChar char="▪"/>
            </a:pPr>
            <a:r>
              <a:rPr b="0" i="0" lang="en-US" sz="3200" u="none" cap="none" strike="noStrike">
                <a:solidFill>
                  <a:srgbClr val="D8D8D8"/>
                </a:solidFill>
                <a:latin typeface="Calibri"/>
                <a:ea typeface="Calibri"/>
                <a:cs typeface="Calibri"/>
                <a:sym typeface="Calibri"/>
              </a:rPr>
              <a:t>Security</a:t>
            </a:r>
            <a:endParaRPr/>
          </a:p>
          <a:p>
            <a:pPr indent="-285750" lvl="0" marL="403225" marR="0" rtl="0" algn="l">
              <a:lnSpc>
                <a:spcPct val="90000"/>
              </a:lnSpc>
              <a:spcBef>
                <a:spcPts val="800"/>
              </a:spcBef>
              <a:spcAft>
                <a:spcPts val="0"/>
              </a:spcAft>
              <a:buClr>
                <a:srgbClr val="D8D8D8"/>
              </a:buClr>
              <a:buSzPts val="3200"/>
              <a:buFont typeface="Noto Sans Symbols"/>
              <a:buChar char="▪"/>
            </a:pPr>
            <a:r>
              <a:rPr b="0" i="0" lang="en-US" sz="3200" u="none" cap="none" strike="noStrike">
                <a:solidFill>
                  <a:srgbClr val="D8D8D8"/>
                </a:solidFill>
                <a:latin typeface="Calibri"/>
                <a:ea typeface="Calibri"/>
                <a:cs typeface="Calibri"/>
                <a:sym typeface="Calibri"/>
              </a:rPr>
              <a:t>History</a:t>
            </a:r>
            <a:endParaRPr/>
          </a:p>
          <a:p>
            <a:pPr indent="-285750" lvl="0" marL="403225" marR="0" rtl="0" algn="l">
              <a:lnSpc>
                <a:spcPct val="90000"/>
              </a:lnSpc>
              <a:spcBef>
                <a:spcPts val="800"/>
              </a:spcBef>
              <a:spcAft>
                <a:spcPts val="0"/>
              </a:spcAft>
              <a:buClr>
                <a:srgbClr val="D8D8D8"/>
              </a:buClr>
              <a:buSzPts val="3600"/>
              <a:buFont typeface="Noto Sans Symbols"/>
              <a:buChar char="▪"/>
            </a:pPr>
            <a:r>
              <a:rPr b="0" i="0" lang="en-US" sz="3600" u="none" cap="none" strike="noStrike">
                <a:solidFill>
                  <a:schemeClr val="dk1"/>
                </a:solidFill>
                <a:latin typeface="Calibri"/>
                <a:ea typeface="Calibri"/>
                <a:cs typeface="Calibri"/>
                <a:sym typeface="Calibri"/>
              </a:rPr>
              <a:t>Supplemental: who </a:t>
            </a:r>
            <a:r>
              <a:rPr b="0" i="1" lang="en-US" sz="3600" u="none" cap="none" strike="noStrike">
                <a:solidFill>
                  <a:schemeClr val="dk1"/>
                </a:solidFill>
                <a:latin typeface="Calibri"/>
                <a:ea typeface="Calibri"/>
                <a:cs typeface="Calibri"/>
                <a:sym typeface="Calibri"/>
              </a:rPr>
              <a:t>uses</a:t>
            </a:r>
            <a:r>
              <a:rPr b="0" i="0" lang="en-US" sz="3600" u="none" cap="none" strike="noStrike">
                <a:solidFill>
                  <a:schemeClr val="dk1"/>
                </a:solidFill>
                <a:latin typeface="Calibri"/>
                <a:ea typeface="Calibri"/>
                <a:cs typeface="Calibri"/>
                <a:sym typeface="Calibri"/>
              </a:rPr>
              <a:t> the Internet?</a:t>
            </a:r>
            <a:endParaRPr/>
          </a:p>
        </p:txBody>
      </p:sp>
      <p:sp>
        <p:nvSpPr>
          <p:cNvPr id="39" name="Google Shape;39;p6"/>
          <p:cNvSpPr/>
          <p:nvPr/>
        </p:nvSpPr>
        <p:spPr>
          <a:xfrm>
            <a:off x="532237" y="1515291"/>
            <a:ext cx="7236823" cy="502373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2000"/>
                                        <p:tgtEl>
                                          <p:spTgt spid="39"/>
                                        </p:tgtEl>
                                      </p:cBhvr>
                                    </p:animEffect>
                                    <p:set>
                                      <p:cBhvr>
                                        <p:cTn dur="1" fill="hold">
                                          <p:stCondLst>
                                            <p:cond delay="2000"/>
                                          </p:stCondLst>
                                        </p:cTn>
                                        <p:tgtEl>
                                          <p:spTgt spid="39"/>
                                        </p:tgtEl>
                                        <p:attrNameLst>
                                          <p:attrName>style.visibility</p:attrName>
                                        </p:attrNameLst>
                                      </p:cBhvr>
                                      <p:to>
                                        <p:strVal val="hidden"/>
                                      </p:to>
                                    </p:se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4"/>
                                        </p:tgtEl>
                                        <p:attrNameLst>
                                          <p:attrName>style.visibility</p:attrName>
                                        </p:attrNameLst>
                                      </p:cBhvr>
                                      <p:to>
                                        <p:strVal val="visible"/>
                                      </p:to>
                                    </p:set>
                                    <p:animEffect filter="fade" transition="in">
                                      <p:cBhvr>
                                        <p:cTn dur="2000"/>
                                        <p:tgtEl>
                                          <p:spTgt spid="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7"/>
          <p:cNvSpPr txBox="1"/>
          <p:nvPr>
            <p:ph type="title"/>
          </p:nvPr>
        </p:nvSpPr>
        <p:spPr>
          <a:xfrm>
            <a:off x="517336" y="306910"/>
            <a:ext cx="11088509" cy="89462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4400"/>
              <a:buFont typeface="Calibri"/>
              <a:buNone/>
            </a:pPr>
            <a:r>
              <a:rPr lang="en-US">
                <a:latin typeface="Calibri"/>
                <a:ea typeface="Calibri"/>
                <a:cs typeface="Calibri"/>
                <a:sym typeface="Calibri"/>
              </a:rPr>
              <a:t>“Who uses the Internet?”</a:t>
            </a:r>
            <a:endParaRPr>
              <a:latin typeface="Calibri"/>
              <a:ea typeface="Calibri"/>
              <a:cs typeface="Calibri"/>
              <a:sym typeface="Calibri"/>
            </a:endParaRPr>
          </a:p>
        </p:txBody>
      </p:sp>
      <p:sp>
        <p:nvSpPr>
          <p:cNvPr id="46" name="Google Shape;46;p7"/>
          <p:cNvSpPr txBox="1"/>
          <p:nvPr/>
        </p:nvSpPr>
        <p:spPr>
          <a:xfrm>
            <a:off x="767862" y="1108720"/>
            <a:ext cx="8981050" cy="894622"/>
          </a:xfrm>
          <a:prstGeom prst="rect">
            <a:avLst/>
          </a:prstGeom>
          <a:noFill/>
          <a:ln>
            <a:noFill/>
          </a:ln>
        </p:spPr>
        <p:txBody>
          <a:bodyPr anchorCtr="0" anchor="ctr" bIns="45700" lIns="91425" spcFirstLastPara="1" rIns="91425" wrap="square" tIns="45700">
            <a:normAutofit fontScale="97500"/>
          </a:bodyPr>
          <a:lstStyle/>
          <a:p>
            <a:pPr indent="0" lvl="0" marL="0" marR="0" rtl="0" algn="l">
              <a:lnSpc>
                <a:spcPct val="90000"/>
              </a:lnSpc>
              <a:spcBef>
                <a:spcPts val="0"/>
              </a:spcBef>
              <a:spcAft>
                <a:spcPts val="0"/>
              </a:spcAft>
              <a:buClr>
                <a:schemeClr val="dk1"/>
              </a:buClr>
              <a:buSzPct val="100000"/>
              <a:buFont typeface="Calibri"/>
              <a:buNone/>
            </a:pPr>
            <a:r>
              <a:rPr b="1" i="0" lang="en-US" sz="3200" u="none" cap="none" strike="noStrike">
                <a:solidFill>
                  <a:schemeClr val="dk1"/>
                </a:solidFill>
                <a:latin typeface="Calibri"/>
                <a:ea typeface="Calibri"/>
                <a:cs typeface="Calibri"/>
                <a:sym typeface="Calibri"/>
              </a:rPr>
              <a:t>2021 snapshot: global Internet/mobile connectivity:</a:t>
            </a:r>
            <a:endParaRPr/>
          </a:p>
        </p:txBody>
      </p:sp>
      <p:sp>
        <p:nvSpPr>
          <p:cNvPr id="47" name="Google Shape;47;p7"/>
          <p:cNvSpPr txBox="1"/>
          <p:nvPr/>
        </p:nvSpPr>
        <p:spPr>
          <a:xfrm>
            <a:off x="512333" y="6366669"/>
            <a:ext cx="539404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chemeClr val="dk1"/>
                </a:solidFill>
                <a:latin typeface="Calibri"/>
                <a:ea typeface="Calibri"/>
                <a:cs typeface="Calibri"/>
                <a:sym typeface="Calibri"/>
              </a:rPr>
              <a:t>Oct. 2021,  Source: http://datareportal.com/reports/a-decade-in-digital</a:t>
            </a:r>
            <a:endParaRPr/>
          </a:p>
        </p:txBody>
      </p:sp>
      <p:grpSp>
        <p:nvGrpSpPr>
          <p:cNvPr id="48" name="Google Shape;48;p7"/>
          <p:cNvGrpSpPr/>
          <p:nvPr/>
        </p:nvGrpSpPr>
        <p:grpSpPr>
          <a:xfrm>
            <a:off x="815927" y="2005341"/>
            <a:ext cx="8259062" cy="3899139"/>
            <a:chOff x="815927" y="1863306"/>
            <a:chExt cx="8259062" cy="3899139"/>
          </a:xfrm>
        </p:grpSpPr>
        <p:pic>
          <p:nvPicPr>
            <p:cNvPr id="49" name="Google Shape;49;p7"/>
            <p:cNvPicPr preferRelativeResize="0"/>
            <p:nvPr/>
          </p:nvPicPr>
          <p:blipFill rotWithShape="1">
            <a:blip r:embed="rId3">
              <a:alphaModFix/>
            </a:blip>
            <a:srcRect b="0" l="0" r="0" t="0"/>
            <a:stretch/>
          </p:blipFill>
          <p:spPr>
            <a:xfrm>
              <a:off x="815927" y="1926742"/>
              <a:ext cx="8219084" cy="3782522"/>
            </a:xfrm>
            <a:prstGeom prst="rect">
              <a:avLst/>
            </a:prstGeom>
            <a:noFill/>
            <a:ln>
              <a:noFill/>
            </a:ln>
          </p:spPr>
        </p:pic>
        <p:sp>
          <p:nvSpPr>
            <p:cNvPr id="50" name="Google Shape;50;p7"/>
            <p:cNvSpPr/>
            <p:nvPr/>
          </p:nvSpPr>
          <p:spPr>
            <a:xfrm>
              <a:off x="7332453" y="1863306"/>
              <a:ext cx="1742536" cy="389913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8"/>
          <p:cNvSpPr txBox="1"/>
          <p:nvPr/>
        </p:nvSpPr>
        <p:spPr>
          <a:xfrm>
            <a:off x="461547" y="6405626"/>
            <a:ext cx="460106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Sources: https://www.itu.int/en/ITU-D/Statistics/Pages/stat/</a:t>
            </a:r>
            <a:endParaRPr/>
          </a:p>
        </p:txBody>
      </p:sp>
      <p:grpSp>
        <p:nvGrpSpPr>
          <p:cNvPr id="57" name="Google Shape;57;p8"/>
          <p:cNvGrpSpPr/>
          <p:nvPr/>
        </p:nvGrpSpPr>
        <p:grpSpPr>
          <a:xfrm>
            <a:off x="952571" y="341905"/>
            <a:ext cx="10987974" cy="5625515"/>
            <a:chOff x="952571" y="775855"/>
            <a:chExt cx="10987974" cy="5625515"/>
          </a:xfrm>
        </p:grpSpPr>
        <p:sp>
          <p:nvSpPr>
            <p:cNvPr id="58" name="Google Shape;58;p8"/>
            <p:cNvSpPr txBox="1"/>
            <p:nvPr/>
          </p:nvSpPr>
          <p:spPr>
            <a:xfrm>
              <a:off x="7155138" y="4790660"/>
              <a:ext cx="4135714" cy="707886"/>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chemeClr val="lt1"/>
                  </a:solidFill>
                  <a:latin typeface="Calibri"/>
                  <a:ea typeface="Calibri"/>
                  <a:cs typeface="Calibri"/>
                  <a:sym typeface="Calibri"/>
                </a:rPr>
                <a:t>Primary reasons why global Internet users aged 16 to 64 use the Internet</a:t>
              </a:r>
              <a:endParaRPr/>
            </a:p>
          </p:txBody>
        </p:sp>
        <p:pic>
          <p:nvPicPr>
            <p:cNvPr id="59" name="Google Shape;59;p8"/>
            <p:cNvPicPr preferRelativeResize="0"/>
            <p:nvPr/>
          </p:nvPicPr>
          <p:blipFill rotWithShape="1">
            <a:blip r:embed="rId3">
              <a:alphaModFix/>
            </a:blip>
            <a:srcRect b="0" l="0" r="0" t="0"/>
            <a:stretch/>
          </p:blipFill>
          <p:spPr>
            <a:xfrm>
              <a:off x="1205345" y="775855"/>
              <a:ext cx="10377055" cy="5430982"/>
            </a:xfrm>
            <a:prstGeom prst="rect">
              <a:avLst/>
            </a:prstGeom>
            <a:noFill/>
            <a:ln>
              <a:noFill/>
            </a:ln>
          </p:spPr>
        </p:pic>
        <p:sp>
          <p:nvSpPr>
            <p:cNvPr id="60" name="Google Shape;60;p8"/>
            <p:cNvSpPr/>
            <p:nvPr/>
          </p:nvSpPr>
          <p:spPr>
            <a:xfrm>
              <a:off x="1286358" y="1828800"/>
              <a:ext cx="10284809" cy="24797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 name="Google Shape;61;p8"/>
            <p:cNvSpPr txBox="1"/>
            <p:nvPr/>
          </p:nvSpPr>
          <p:spPr>
            <a:xfrm>
              <a:off x="959920" y="5038813"/>
              <a:ext cx="50687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1B</a:t>
              </a:r>
              <a:endParaRPr/>
            </a:p>
          </p:txBody>
        </p:sp>
        <p:sp>
          <p:nvSpPr>
            <p:cNvPr id="62" name="Google Shape;62;p8"/>
            <p:cNvSpPr txBox="1"/>
            <p:nvPr/>
          </p:nvSpPr>
          <p:spPr>
            <a:xfrm>
              <a:off x="963000" y="4237746"/>
              <a:ext cx="50687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2B</a:t>
              </a:r>
              <a:endParaRPr/>
            </a:p>
          </p:txBody>
        </p:sp>
        <p:sp>
          <p:nvSpPr>
            <p:cNvPr id="63" name="Google Shape;63;p8"/>
            <p:cNvSpPr txBox="1"/>
            <p:nvPr/>
          </p:nvSpPr>
          <p:spPr>
            <a:xfrm>
              <a:off x="959595" y="3438865"/>
              <a:ext cx="50687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3B</a:t>
              </a:r>
              <a:endParaRPr/>
            </a:p>
          </p:txBody>
        </p:sp>
        <p:sp>
          <p:nvSpPr>
            <p:cNvPr id="64" name="Google Shape;64;p8"/>
            <p:cNvSpPr txBox="1"/>
            <p:nvPr/>
          </p:nvSpPr>
          <p:spPr>
            <a:xfrm>
              <a:off x="952571" y="2631313"/>
              <a:ext cx="50687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4B</a:t>
              </a:r>
              <a:endParaRPr/>
            </a:p>
          </p:txBody>
        </p:sp>
        <p:sp>
          <p:nvSpPr>
            <p:cNvPr id="65" name="Google Shape;65;p8"/>
            <p:cNvSpPr txBox="1"/>
            <p:nvPr/>
          </p:nvSpPr>
          <p:spPr>
            <a:xfrm>
              <a:off x="10972800" y="6062816"/>
              <a:ext cx="60144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chemeClr val="dk1"/>
                  </a:solidFill>
                  <a:latin typeface="Calibri"/>
                  <a:ea typeface="Calibri"/>
                  <a:cs typeface="Calibri"/>
                  <a:sym typeface="Calibri"/>
                </a:rPr>
                <a:t>2021</a:t>
              </a:r>
              <a:endParaRPr i="1" sz="1800">
                <a:solidFill>
                  <a:schemeClr val="dk1"/>
                </a:solidFill>
                <a:latin typeface="Calibri"/>
                <a:ea typeface="Calibri"/>
                <a:cs typeface="Calibri"/>
                <a:sym typeface="Calibri"/>
              </a:endParaRPr>
            </a:p>
          </p:txBody>
        </p:sp>
        <p:sp>
          <p:nvSpPr>
            <p:cNvPr id="66" name="Google Shape;66;p8"/>
            <p:cNvSpPr txBox="1"/>
            <p:nvPr/>
          </p:nvSpPr>
          <p:spPr>
            <a:xfrm>
              <a:off x="8715894" y="6058793"/>
              <a:ext cx="60144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chemeClr val="dk1"/>
                  </a:solidFill>
                  <a:latin typeface="Calibri"/>
                  <a:ea typeface="Calibri"/>
                  <a:cs typeface="Calibri"/>
                  <a:sym typeface="Calibri"/>
                </a:rPr>
                <a:t>2015</a:t>
              </a:r>
              <a:endParaRPr i="1" sz="1800">
                <a:solidFill>
                  <a:schemeClr val="dk1"/>
                </a:solidFill>
                <a:latin typeface="Calibri"/>
                <a:ea typeface="Calibri"/>
                <a:cs typeface="Calibri"/>
                <a:sym typeface="Calibri"/>
              </a:endParaRPr>
            </a:p>
          </p:txBody>
        </p:sp>
        <p:sp>
          <p:nvSpPr>
            <p:cNvPr id="67" name="Google Shape;67;p8"/>
            <p:cNvSpPr txBox="1"/>
            <p:nvPr/>
          </p:nvSpPr>
          <p:spPr>
            <a:xfrm>
              <a:off x="6855429" y="6058793"/>
              <a:ext cx="60144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chemeClr val="dk1"/>
                  </a:solidFill>
                  <a:latin typeface="Calibri"/>
                  <a:ea typeface="Calibri"/>
                  <a:cs typeface="Calibri"/>
                  <a:sym typeface="Calibri"/>
                </a:rPr>
                <a:t>2010</a:t>
              </a:r>
              <a:endParaRPr i="1" sz="1800">
                <a:solidFill>
                  <a:schemeClr val="dk1"/>
                </a:solidFill>
                <a:latin typeface="Calibri"/>
                <a:ea typeface="Calibri"/>
                <a:cs typeface="Calibri"/>
                <a:sym typeface="Calibri"/>
              </a:endParaRPr>
            </a:p>
          </p:txBody>
        </p:sp>
        <p:sp>
          <p:nvSpPr>
            <p:cNvPr id="68" name="Google Shape;68;p8"/>
            <p:cNvSpPr txBox="1"/>
            <p:nvPr/>
          </p:nvSpPr>
          <p:spPr>
            <a:xfrm>
              <a:off x="4972329" y="6058793"/>
              <a:ext cx="60144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chemeClr val="dk1"/>
                  </a:solidFill>
                  <a:latin typeface="Calibri"/>
                  <a:ea typeface="Calibri"/>
                  <a:cs typeface="Calibri"/>
                  <a:sym typeface="Calibri"/>
                </a:rPr>
                <a:t>2005</a:t>
              </a:r>
              <a:endParaRPr i="1" sz="1800">
                <a:solidFill>
                  <a:schemeClr val="dk1"/>
                </a:solidFill>
                <a:latin typeface="Calibri"/>
                <a:ea typeface="Calibri"/>
                <a:cs typeface="Calibri"/>
                <a:sym typeface="Calibri"/>
              </a:endParaRPr>
            </a:p>
          </p:txBody>
        </p:sp>
        <p:sp>
          <p:nvSpPr>
            <p:cNvPr id="69" name="Google Shape;69;p8"/>
            <p:cNvSpPr txBox="1"/>
            <p:nvPr/>
          </p:nvSpPr>
          <p:spPr>
            <a:xfrm>
              <a:off x="3107574" y="6058793"/>
              <a:ext cx="60144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chemeClr val="dk1"/>
                  </a:solidFill>
                  <a:latin typeface="Calibri"/>
                  <a:ea typeface="Calibri"/>
                  <a:cs typeface="Calibri"/>
                  <a:sym typeface="Calibri"/>
                </a:rPr>
                <a:t>2000</a:t>
              </a:r>
              <a:endParaRPr i="1" sz="1800">
                <a:solidFill>
                  <a:schemeClr val="dk1"/>
                </a:solidFill>
                <a:latin typeface="Calibri"/>
                <a:ea typeface="Calibri"/>
                <a:cs typeface="Calibri"/>
                <a:sym typeface="Calibri"/>
              </a:endParaRPr>
            </a:p>
          </p:txBody>
        </p:sp>
        <p:sp>
          <p:nvSpPr>
            <p:cNvPr id="70" name="Google Shape;70;p8"/>
            <p:cNvSpPr txBox="1"/>
            <p:nvPr/>
          </p:nvSpPr>
          <p:spPr>
            <a:xfrm>
              <a:off x="1217814" y="6057608"/>
              <a:ext cx="60144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chemeClr val="dk1"/>
                  </a:solidFill>
                  <a:latin typeface="Calibri"/>
                  <a:ea typeface="Calibri"/>
                  <a:cs typeface="Calibri"/>
                  <a:sym typeface="Calibri"/>
                </a:rPr>
                <a:t>1995</a:t>
              </a:r>
              <a:endParaRPr i="1" sz="1800">
                <a:solidFill>
                  <a:schemeClr val="dk1"/>
                </a:solidFill>
                <a:latin typeface="Calibri"/>
                <a:ea typeface="Calibri"/>
                <a:cs typeface="Calibri"/>
                <a:sym typeface="Calibri"/>
              </a:endParaRPr>
            </a:p>
          </p:txBody>
        </p:sp>
        <p:sp>
          <p:nvSpPr>
            <p:cNvPr id="71" name="Google Shape;71;p8"/>
            <p:cNvSpPr txBox="1"/>
            <p:nvPr/>
          </p:nvSpPr>
          <p:spPr>
            <a:xfrm>
              <a:off x="1205114" y="5702008"/>
              <a:ext cx="65274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10080"/>
                  </a:solidFill>
                  <a:latin typeface="Calibri"/>
                  <a:ea typeface="Calibri"/>
                  <a:cs typeface="Calibri"/>
                  <a:sym typeface="Calibri"/>
                </a:rPr>
                <a:t>0.016</a:t>
              </a:r>
              <a:endParaRPr sz="1800">
                <a:solidFill>
                  <a:srgbClr val="010080"/>
                </a:solidFill>
                <a:latin typeface="Calibri"/>
                <a:ea typeface="Calibri"/>
                <a:cs typeface="Calibri"/>
                <a:sym typeface="Calibri"/>
              </a:endParaRPr>
            </a:p>
          </p:txBody>
        </p:sp>
        <p:sp>
          <p:nvSpPr>
            <p:cNvPr id="72" name="Google Shape;72;p8"/>
            <p:cNvSpPr txBox="1"/>
            <p:nvPr/>
          </p:nvSpPr>
          <p:spPr>
            <a:xfrm>
              <a:off x="3122814" y="5435308"/>
              <a:ext cx="548548"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10080"/>
                  </a:solidFill>
                  <a:latin typeface="Calibri"/>
                  <a:ea typeface="Calibri"/>
                  <a:cs typeface="Calibri"/>
                  <a:sym typeface="Calibri"/>
                </a:rPr>
                <a:t>0.36</a:t>
              </a:r>
              <a:endParaRPr sz="1800">
                <a:solidFill>
                  <a:srgbClr val="010080"/>
                </a:solidFill>
                <a:latin typeface="Calibri"/>
                <a:ea typeface="Calibri"/>
                <a:cs typeface="Calibri"/>
                <a:sym typeface="Calibri"/>
              </a:endParaRPr>
            </a:p>
          </p:txBody>
        </p:sp>
        <p:sp>
          <p:nvSpPr>
            <p:cNvPr id="73" name="Google Shape;73;p8"/>
            <p:cNvSpPr txBox="1"/>
            <p:nvPr/>
          </p:nvSpPr>
          <p:spPr>
            <a:xfrm>
              <a:off x="4989714" y="4901908"/>
              <a:ext cx="548548"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10080"/>
                  </a:solidFill>
                  <a:latin typeface="Calibri"/>
                  <a:ea typeface="Calibri"/>
                  <a:cs typeface="Calibri"/>
                  <a:sym typeface="Calibri"/>
                </a:rPr>
                <a:t>1.02</a:t>
              </a:r>
              <a:endParaRPr sz="1800">
                <a:solidFill>
                  <a:srgbClr val="010080"/>
                </a:solidFill>
                <a:latin typeface="Calibri"/>
                <a:ea typeface="Calibri"/>
                <a:cs typeface="Calibri"/>
                <a:sym typeface="Calibri"/>
              </a:endParaRPr>
            </a:p>
          </p:txBody>
        </p:sp>
        <p:sp>
          <p:nvSpPr>
            <p:cNvPr id="74" name="Google Shape;74;p8"/>
            <p:cNvSpPr txBox="1"/>
            <p:nvPr/>
          </p:nvSpPr>
          <p:spPr>
            <a:xfrm>
              <a:off x="6856614" y="4139908"/>
              <a:ext cx="548548"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10080"/>
                  </a:solidFill>
                  <a:latin typeface="Calibri"/>
                  <a:ea typeface="Calibri"/>
                  <a:cs typeface="Calibri"/>
                  <a:sym typeface="Calibri"/>
                </a:rPr>
                <a:t>1.98</a:t>
              </a:r>
              <a:endParaRPr sz="1800">
                <a:solidFill>
                  <a:srgbClr val="010080"/>
                </a:solidFill>
                <a:latin typeface="Calibri"/>
                <a:ea typeface="Calibri"/>
                <a:cs typeface="Calibri"/>
                <a:sym typeface="Calibri"/>
              </a:endParaRPr>
            </a:p>
          </p:txBody>
        </p:sp>
        <p:sp>
          <p:nvSpPr>
            <p:cNvPr id="75" name="Google Shape;75;p8"/>
            <p:cNvSpPr txBox="1"/>
            <p:nvPr/>
          </p:nvSpPr>
          <p:spPr>
            <a:xfrm>
              <a:off x="8685414" y="3352508"/>
              <a:ext cx="548548"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10080"/>
                  </a:solidFill>
                  <a:latin typeface="Calibri"/>
                  <a:ea typeface="Calibri"/>
                  <a:cs typeface="Calibri"/>
                  <a:sym typeface="Calibri"/>
                </a:rPr>
                <a:t>1.98</a:t>
              </a:r>
              <a:endParaRPr sz="1800">
                <a:solidFill>
                  <a:srgbClr val="010080"/>
                </a:solidFill>
                <a:latin typeface="Calibri"/>
                <a:ea typeface="Calibri"/>
                <a:cs typeface="Calibri"/>
                <a:sym typeface="Calibri"/>
              </a:endParaRPr>
            </a:p>
          </p:txBody>
        </p:sp>
        <p:sp>
          <p:nvSpPr>
            <p:cNvPr id="76" name="Google Shape;76;p8"/>
            <p:cNvSpPr txBox="1"/>
            <p:nvPr/>
          </p:nvSpPr>
          <p:spPr>
            <a:xfrm>
              <a:off x="10590414" y="2069808"/>
              <a:ext cx="548548"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10080"/>
                  </a:solidFill>
                  <a:latin typeface="Calibri"/>
                  <a:ea typeface="Calibri"/>
                  <a:cs typeface="Calibri"/>
                  <a:sym typeface="Calibri"/>
                </a:rPr>
                <a:t>4.58</a:t>
              </a:r>
              <a:endParaRPr sz="1800">
                <a:solidFill>
                  <a:srgbClr val="010080"/>
                </a:solidFill>
                <a:latin typeface="Calibri"/>
                <a:ea typeface="Calibri"/>
                <a:cs typeface="Calibri"/>
                <a:sym typeface="Calibri"/>
              </a:endParaRPr>
            </a:p>
          </p:txBody>
        </p:sp>
        <p:sp>
          <p:nvSpPr>
            <p:cNvPr id="77" name="Google Shape;77;p8"/>
            <p:cNvSpPr/>
            <p:nvPr/>
          </p:nvSpPr>
          <p:spPr>
            <a:xfrm>
              <a:off x="1069382" y="867904"/>
              <a:ext cx="10871163" cy="96089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 name="Google Shape;78;p8"/>
            <p:cNvSpPr txBox="1"/>
            <p:nvPr/>
          </p:nvSpPr>
          <p:spPr>
            <a:xfrm>
              <a:off x="10984114" y="1815808"/>
              <a:ext cx="548548"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10080"/>
                  </a:solidFill>
                  <a:latin typeface="Calibri"/>
                  <a:ea typeface="Calibri"/>
                  <a:cs typeface="Calibri"/>
                  <a:sym typeface="Calibri"/>
                </a:rPr>
                <a:t>4.90</a:t>
              </a:r>
              <a:endParaRPr sz="1800">
                <a:solidFill>
                  <a:srgbClr val="010080"/>
                </a:solidFill>
                <a:latin typeface="Calibri"/>
                <a:ea typeface="Calibri"/>
                <a:cs typeface="Calibri"/>
                <a:sym typeface="Calibri"/>
              </a:endParaRPr>
            </a:p>
          </p:txBody>
        </p:sp>
      </p:grpSp>
      <p:sp>
        <p:nvSpPr>
          <p:cNvPr id="79" name="Google Shape;79;p8"/>
          <p:cNvSpPr txBox="1"/>
          <p:nvPr>
            <p:ph type="title"/>
          </p:nvPr>
        </p:nvSpPr>
        <p:spPr>
          <a:xfrm>
            <a:off x="896150" y="35646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Number of global Internet users </a:t>
            </a:r>
            <a:r>
              <a:rPr lang="en-US" sz="3600"/>
              <a:t>(over time)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9"/>
          <p:cNvSpPr txBox="1"/>
          <p:nvPr>
            <p:ph type="title"/>
          </p:nvPr>
        </p:nvSpPr>
        <p:spPr>
          <a:xfrm>
            <a:off x="838200" y="29279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Internet/mobile adoption, by region</a:t>
            </a:r>
            <a:endParaRPr/>
          </a:p>
        </p:txBody>
      </p:sp>
      <p:sp>
        <p:nvSpPr>
          <p:cNvPr id="86" name="Google Shape;86;p9"/>
          <p:cNvSpPr txBox="1"/>
          <p:nvPr/>
        </p:nvSpPr>
        <p:spPr>
          <a:xfrm>
            <a:off x="426069" y="6418428"/>
            <a:ext cx="819974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April 2021,  Source: https://datareportal.com/reports/6-in-10-people-around-the-world-now-use-the-internet</a:t>
            </a:r>
            <a:endParaRPr/>
          </a:p>
        </p:txBody>
      </p:sp>
      <p:pic>
        <p:nvPicPr>
          <p:cNvPr id="87" name="Google Shape;87;p9"/>
          <p:cNvPicPr preferRelativeResize="0"/>
          <p:nvPr/>
        </p:nvPicPr>
        <p:blipFill rotWithShape="1">
          <a:blip r:embed="rId3">
            <a:alphaModFix/>
          </a:blip>
          <a:srcRect b="0" l="0" r="0" t="0"/>
          <a:stretch/>
        </p:blipFill>
        <p:spPr>
          <a:xfrm>
            <a:off x="1018209" y="1281319"/>
            <a:ext cx="9042400" cy="4533900"/>
          </a:xfrm>
          <a:prstGeom prst="rect">
            <a:avLst/>
          </a:prstGeom>
          <a:noFill/>
          <a:ln>
            <a:noFill/>
          </a:ln>
        </p:spPr>
      </p:pic>
      <p:sp>
        <p:nvSpPr>
          <p:cNvPr id="88" name="Google Shape;88;p9"/>
          <p:cNvSpPr txBox="1"/>
          <p:nvPr/>
        </p:nvSpPr>
        <p:spPr>
          <a:xfrm>
            <a:off x="1113182" y="5227983"/>
            <a:ext cx="721806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lt1"/>
                </a:solidFill>
                <a:latin typeface="Calibri"/>
                <a:ea typeface="Calibri"/>
                <a:cs typeface="Calibri"/>
                <a:sym typeface="Calibri"/>
              </a:rPr>
              <a:t>Internet adoption as a percentage of region’s population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0"/>
          <p:cNvSpPr txBox="1"/>
          <p:nvPr>
            <p:ph type="title"/>
          </p:nvPr>
        </p:nvSpPr>
        <p:spPr>
          <a:xfrm>
            <a:off x="838200" y="29279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Internet/mobile adoption: the missing 3B</a:t>
            </a:r>
            <a:endParaRPr/>
          </a:p>
        </p:txBody>
      </p:sp>
      <p:sp>
        <p:nvSpPr>
          <p:cNvPr id="95" name="Google Shape;95;p10"/>
          <p:cNvSpPr txBox="1"/>
          <p:nvPr/>
        </p:nvSpPr>
        <p:spPr>
          <a:xfrm>
            <a:off x="650356" y="6341541"/>
            <a:ext cx="541539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Nov. 2021,  Source: http://datareportal.com/reports/a-decade-in-digital</a:t>
            </a:r>
            <a:endParaRPr/>
          </a:p>
        </p:txBody>
      </p:sp>
      <p:pic>
        <p:nvPicPr>
          <p:cNvPr id="96" name="Google Shape;96;p10"/>
          <p:cNvPicPr preferRelativeResize="0"/>
          <p:nvPr/>
        </p:nvPicPr>
        <p:blipFill rotWithShape="1">
          <a:blip r:embed="rId3">
            <a:alphaModFix/>
          </a:blip>
          <a:srcRect b="0" l="0" r="0" t="0"/>
          <a:stretch/>
        </p:blipFill>
        <p:spPr>
          <a:xfrm>
            <a:off x="963819" y="1292086"/>
            <a:ext cx="8875919" cy="4526997"/>
          </a:xfrm>
          <a:prstGeom prst="rect">
            <a:avLst/>
          </a:prstGeom>
          <a:noFill/>
          <a:ln>
            <a:noFill/>
          </a:ln>
        </p:spPr>
      </p:pic>
      <p:sp>
        <p:nvSpPr>
          <p:cNvPr id="97" name="Google Shape;97;p10"/>
          <p:cNvSpPr txBox="1"/>
          <p:nvPr/>
        </p:nvSpPr>
        <p:spPr>
          <a:xfrm>
            <a:off x="1113182" y="5296995"/>
            <a:ext cx="745037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lt1"/>
                </a:solidFill>
                <a:latin typeface="Calibri"/>
                <a:ea typeface="Calibri"/>
                <a:cs typeface="Calibri"/>
                <a:sym typeface="Calibri"/>
              </a:rPr>
              <a:t>Number of people (in M) in region </a:t>
            </a:r>
            <a:r>
              <a:rPr i="1" lang="en-US" sz="2400">
                <a:solidFill>
                  <a:schemeClr val="lt1"/>
                </a:solidFill>
                <a:latin typeface="Calibri"/>
                <a:ea typeface="Calibri"/>
                <a:cs typeface="Calibri"/>
                <a:sym typeface="Calibri"/>
              </a:rPr>
              <a:t>without </a:t>
            </a:r>
            <a:r>
              <a:rPr lang="en-US" sz="2400">
                <a:solidFill>
                  <a:schemeClr val="lt1"/>
                </a:solidFill>
                <a:latin typeface="Calibri"/>
                <a:ea typeface="Calibri"/>
                <a:cs typeface="Calibri"/>
                <a:sym typeface="Calibri"/>
              </a:rPr>
              <a:t>Internet access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1"/>
          <p:cNvSpPr txBox="1"/>
          <p:nvPr>
            <p:ph type="title"/>
          </p:nvPr>
        </p:nvSpPr>
        <p:spPr>
          <a:xfrm>
            <a:off x="631166" y="34830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Beyond “Connectivity”</a:t>
            </a:r>
            <a:endParaRPr/>
          </a:p>
        </p:txBody>
      </p:sp>
      <p:pic>
        <p:nvPicPr>
          <p:cNvPr id="104" name="Google Shape;104;p11"/>
          <p:cNvPicPr preferRelativeResize="0"/>
          <p:nvPr/>
        </p:nvPicPr>
        <p:blipFill rotWithShape="1">
          <a:blip r:embed="rId3">
            <a:alphaModFix/>
          </a:blip>
          <a:srcRect b="0" l="0" r="0" t="0"/>
          <a:stretch/>
        </p:blipFill>
        <p:spPr>
          <a:xfrm>
            <a:off x="755343" y="2760450"/>
            <a:ext cx="4943003" cy="2370891"/>
          </a:xfrm>
          <a:prstGeom prst="rect">
            <a:avLst/>
          </a:prstGeom>
          <a:noFill/>
          <a:ln>
            <a:noFill/>
          </a:ln>
        </p:spPr>
      </p:pic>
      <p:grpSp>
        <p:nvGrpSpPr>
          <p:cNvPr id="105" name="Google Shape;105;p11"/>
          <p:cNvGrpSpPr/>
          <p:nvPr/>
        </p:nvGrpSpPr>
        <p:grpSpPr>
          <a:xfrm>
            <a:off x="7177177" y="1052421"/>
            <a:ext cx="4554748" cy="5020574"/>
            <a:chOff x="7177177" y="1052421"/>
            <a:chExt cx="4554748" cy="5020574"/>
          </a:xfrm>
        </p:grpSpPr>
        <p:sp>
          <p:nvSpPr>
            <p:cNvPr id="106" name="Google Shape;106;p11"/>
            <p:cNvSpPr/>
            <p:nvPr/>
          </p:nvSpPr>
          <p:spPr>
            <a:xfrm>
              <a:off x="7177177" y="1052421"/>
              <a:ext cx="4554748" cy="5020574"/>
            </a:xfrm>
            <a:prstGeom prst="rect">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07" name="Google Shape;107;p11"/>
            <p:cNvPicPr preferRelativeResize="0"/>
            <p:nvPr/>
          </p:nvPicPr>
          <p:blipFill rotWithShape="1">
            <a:blip r:embed="rId4">
              <a:alphaModFix/>
            </a:blip>
            <a:srcRect b="0" l="0" r="0" t="0"/>
            <a:stretch/>
          </p:blipFill>
          <p:spPr>
            <a:xfrm>
              <a:off x="7236094" y="1104179"/>
              <a:ext cx="1847042" cy="4853197"/>
            </a:xfrm>
            <a:prstGeom prst="rect">
              <a:avLst/>
            </a:prstGeom>
            <a:noFill/>
            <a:ln>
              <a:noFill/>
            </a:ln>
          </p:spPr>
        </p:pic>
        <p:sp>
          <p:nvSpPr>
            <p:cNvPr id="108" name="Google Shape;108;p11"/>
            <p:cNvSpPr/>
            <p:nvPr/>
          </p:nvSpPr>
          <p:spPr>
            <a:xfrm>
              <a:off x="9287772" y="1154357"/>
              <a:ext cx="2392393" cy="255454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000">
                  <a:solidFill>
                    <a:srgbClr val="C00000"/>
                  </a:solidFill>
                  <a:latin typeface="Calibri"/>
                  <a:ea typeface="Calibri"/>
                  <a:cs typeface="Calibri"/>
                  <a:sym typeface="Calibri"/>
                </a:rPr>
                <a:t>Meaningful Connectivity</a:t>
              </a:r>
              <a:r>
                <a:rPr lang="en-US" sz="2000">
                  <a:solidFill>
                    <a:schemeClr val="dk1"/>
                  </a:solidFill>
                  <a:latin typeface="Calibri"/>
                  <a:ea typeface="Calibri"/>
                  <a:cs typeface="Calibri"/>
                  <a:sym typeface="Calibri"/>
                </a:rPr>
                <a:t>: the ability to use the internet every day using an appropriate device with enough data and a fast connection</a:t>
              </a:r>
              <a:r>
                <a:rPr lang="en-US" sz="1800">
                  <a:solidFill>
                    <a:schemeClr val="dk1"/>
                  </a:solidFill>
                  <a:latin typeface="Calibri"/>
                  <a:ea typeface="Calibri"/>
                  <a:cs typeface="Calibri"/>
                  <a:sym typeface="Calibri"/>
                </a:rPr>
                <a:t>.</a:t>
              </a:r>
              <a:endParaRPr/>
            </a:p>
          </p:txBody>
        </p:sp>
      </p:grpSp>
      <p:sp>
        <p:nvSpPr>
          <p:cNvPr id="109" name="Google Shape;109;p11"/>
          <p:cNvSpPr txBox="1"/>
          <p:nvPr/>
        </p:nvSpPr>
        <p:spPr>
          <a:xfrm flipH="1">
            <a:off x="586595" y="1328467"/>
            <a:ext cx="5451895"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Looking beyond “connectivity” to meaningful connectivity, affordability, gender disparities, and more...</a:t>
            </a:r>
            <a:endParaRPr/>
          </a:p>
        </p:txBody>
      </p:sp>
      <p:sp>
        <p:nvSpPr>
          <p:cNvPr id="110" name="Google Shape;110;p11"/>
          <p:cNvSpPr txBox="1"/>
          <p:nvPr/>
        </p:nvSpPr>
        <p:spPr>
          <a:xfrm>
            <a:off x="638355" y="5555411"/>
            <a:ext cx="6262777"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43 out of 95 countries met “1 for 2” affordability target: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1GB for 2% or less of average monthly income.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11"/>
          <p:cNvSpPr txBox="1"/>
          <p:nvPr/>
        </p:nvSpPr>
        <p:spPr>
          <a:xfrm>
            <a:off x="672860" y="6366294"/>
            <a:ext cx="137704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Source: A4ai.org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gtEl>
                                        <p:attrNameLst>
                                          <p:attrName>style.visibility</p:attrName>
                                        </p:attrNameLst>
                                      </p:cBhvr>
                                      <p:to>
                                        <p:strVal val="visible"/>
                                      </p:to>
                                    </p:set>
                                    <p:animEffect filter="fade" transition="in">
                                      <p:cBhvr>
                                        <p:cTn dur="500"/>
                                        <p:tgtEl>
                                          <p:spTgt spid="1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grpSp>
        <p:nvGrpSpPr>
          <p:cNvPr id="117" name="Google Shape;117;p12"/>
          <p:cNvGrpSpPr/>
          <p:nvPr/>
        </p:nvGrpSpPr>
        <p:grpSpPr>
          <a:xfrm>
            <a:off x="6021239" y="0"/>
            <a:ext cx="5037825" cy="6858000"/>
            <a:chOff x="6952891" y="0"/>
            <a:chExt cx="5037825" cy="6858000"/>
          </a:xfrm>
        </p:grpSpPr>
        <p:pic>
          <p:nvPicPr>
            <p:cNvPr descr="Chart showing broadband adoption varies substantially by education, household income; some differences less pronounced for smartphone ownership" id="118" name="Google Shape;118;p12"/>
            <p:cNvPicPr preferRelativeResize="0"/>
            <p:nvPr/>
          </p:nvPicPr>
          <p:blipFill rotWithShape="1">
            <a:blip r:embed="rId3">
              <a:alphaModFix/>
            </a:blip>
            <a:srcRect b="0" l="0" r="0" t="0"/>
            <a:stretch/>
          </p:blipFill>
          <p:spPr>
            <a:xfrm>
              <a:off x="7058415" y="0"/>
              <a:ext cx="4840287" cy="6858000"/>
            </a:xfrm>
            <a:prstGeom prst="rect">
              <a:avLst/>
            </a:prstGeom>
            <a:noFill/>
            <a:ln>
              <a:noFill/>
            </a:ln>
          </p:spPr>
        </p:pic>
        <p:sp>
          <p:nvSpPr>
            <p:cNvPr id="119" name="Google Shape;119;p12"/>
            <p:cNvSpPr/>
            <p:nvPr/>
          </p:nvSpPr>
          <p:spPr>
            <a:xfrm>
              <a:off x="7073660" y="5762445"/>
              <a:ext cx="4917056" cy="109555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0" name="Google Shape;120;p12"/>
            <p:cNvSpPr/>
            <p:nvPr/>
          </p:nvSpPr>
          <p:spPr>
            <a:xfrm>
              <a:off x="6952891" y="0"/>
              <a:ext cx="5003320" cy="85114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21" name="Google Shape;121;p12"/>
          <p:cNvSpPr txBox="1"/>
          <p:nvPr>
            <p:ph idx="1" type="body"/>
          </p:nvPr>
        </p:nvSpPr>
        <p:spPr>
          <a:xfrm>
            <a:off x="475891" y="3162270"/>
            <a:ext cx="4527430" cy="2617429"/>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Age, race, education level, income, urban/rural differences</a:t>
            </a:r>
            <a:endParaRPr/>
          </a:p>
          <a:p>
            <a:pPr indent="-222250" lvl="0" marL="352425" rtl="0" algn="l">
              <a:lnSpc>
                <a:spcPct val="90000"/>
              </a:lnSpc>
              <a:spcBef>
                <a:spcPts val="1000"/>
              </a:spcBef>
              <a:spcAft>
                <a:spcPts val="0"/>
              </a:spcAft>
              <a:buSzPts val="2800"/>
              <a:buChar char="▪"/>
            </a:pPr>
            <a:r>
              <a:rPr lang="en-US"/>
              <a:t>Broadband differences greater than smartphone</a:t>
            </a:r>
            <a:endParaRPr/>
          </a:p>
        </p:txBody>
      </p:sp>
      <p:sp>
        <p:nvSpPr>
          <p:cNvPr id="122" name="Google Shape;122;p12"/>
          <p:cNvSpPr txBox="1"/>
          <p:nvPr>
            <p:ph type="title"/>
          </p:nvPr>
        </p:nvSpPr>
        <p:spPr>
          <a:xfrm>
            <a:off x="596661" y="1297210"/>
            <a:ext cx="5096774"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a:t>US broadband, smartphone ownership variation and inequities: 2021 snapshot</a:t>
            </a:r>
            <a:endParaRPr/>
          </a:p>
        </p:txBody>
      </p:sp>
      <p:sp>
        <p:nvSpPr>
          <p:cNvPr id="123" name="Google Shape;123;p12"/>
          <p:cNvSpPr txBox="1"/>
          <p:nvPr/>
        </p:nvSpPr>
        <p:spPr>
          <a:xfrm>
            <a:off x="293298" y="6400800"/>
            <a:ext cx="894943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Feb. 2021, source: https://www.pewresearch.org/internet/2021/06/03/mobile-technology-and-home-broadband-2021/</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grpSp>
        <p:nvGrpSpPr>
          <p:cNvPr id="129" name="Google Shape;129;p13"/>
          <p:cNvGrpSpPr/>
          <p:nvPr/>
        </p:nvGrpSpPr>
        <p:grpSpPr>
          <a:xfrm>
            <a:off x="1153064" y="379563"/>
            <a:ext cx="9284898" cy="6642340"/>
            <a:chOff x="1774166" y="1579418"/>
            <a:chExt cx="6886755" cy="4665658"/>
          </a:xfrm>
        </p:grpSpPr>
        <p:pic>
          <p:nvPicPr>
            <p:cNvPr id="130" name="Google Shape;130;p13"/>
            <p:cNvPicPr preferRelativeResize="0"/>
            <p:nvPr/>
          </p:nvPicPr>
          <p:blipFill rotWithShape="1">
            <a:blip r:embed="rId3">
              <a:alphaModFix/>
            </a:blip>
            <a:srcRect b="0" l="0" r="0" t="0"/>
            <a:stretch/>
          </p:blipFill>
          <p:spPr>
            <a:xfrm>
              <a:off x="1816925" y="1579418"/>
              <a:ext cx="6782130" cy="4577938"/>
            </a:xfrm>
            <a:prstGeom prst="rect">
              <a:avLst/>
            </a:prstGeom>
            <a:noFill/>
            <a:ln>
              <a:noFill/>
            </a:ln>
          </p:spPr>
        </p:pic>
        <p:sp>
          <p:nvSpPr>
            <p:cNvPr id="131" name="Google Shape;131;p13"/>
            <p:cNvSpPr/>
            <p:nvPr/>
          </p:nvSpPr>
          <p:spPr>
            <a:xfrm>
              <a:off x="1828800" y="1604513"/>
              <a:ext cx="6832121" cy="60384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2" name="Google Shape;132;p13"/>
            <p:cNvSpPr/>
            <p:nvPr/>
          </p:nvSpPr>
          <p:spPr>
            <a:xfrm>
              <a:off x="1774166" y="5500777"/>
              <a:ext cx="6872231" cy="74429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33" name="Google Shape;133;p13"/>
          <p:cNvSpPr txBox="1"/>
          <p:nvPr>
            <p:ph type="title"/>
          </p:nvPr>
        </p:nvSpPr>
        <p:spPr>
          <a:xfrm>
            <a:off x="613913" y="382810"/>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Changing US rural/urban “digital divide”</a:t>
            </a:r>
            <a:endParaRPr/>
          </a:p>
        </p:txBody>
      </p:sp>
      <p:sp>
        <p:nvSpPr>
          <p:cNvPr id="134" name="Google Shape;134;p13"/>
          <p:cNvSpPr txBox="1"/>
          <p:nvPr/>
        </p:nvSpPr>
        <p:spPr>
          <a:xfrm>
            <a:off x="396814" y="6193766"/>
            <a:ext cx="712541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Feb. 2021, Source: https://www.pewresearch.org/fact-tank/2021/08/19/some-digital-divides-persist-between-rural-urban-and-suburban-america/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Changing US racial “digital divide” over time</a:t>
            </a:r>
            <a:endParaRPr/>
          </a:p>
        </p:txBody>
      </p:sp>
      <p:pic>
        <p:nvPicPr>
          <p:cNvPr id="141" name="Google Shape;141;p14"/>
          <p:cNvPicPr preferRelativeResize="0"/>
          <p:nvPr/>
        </p:nvPicPr>
        <p:blipFill rotWithShape="1">
          <a:blip r:embed="rId3">
            <a:alphaModFix/>
          </a:blip>
          <a:srcRect b="0" l="0" r="0" t="0"/>
          <a:stretch/>
        </p:blipFill>
        <p:spPr>
          <a:xfrm>
            <a:off x="1228305" y="1562579"/>
            <a:ext cx="8295257" cy="488904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5"/>
          <p:cNvSpPr txBox="1"/>
          <p:nvPr>
            <p:ph idx="1" type="body"/>
          </p:nvPr>
        </p:nvSpPr>
        <p:spPr>
          <a:xfrm>
            <a:off x="4880437" y="1433897"/>
            <a:ext cx="7147249" cy="5022006"/>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b="1" lang="en-US">
                <a:solidFill>
                  <a:srgbClr val="C00000"/>
                </a:solidFill>
              </a:rPr>
              <a:t>Broadband Equity, Access, and Deployment</a:t>
            </a:r>
            <a:r>
              <a:rPr lang="en-US">
                <a:solidFill>
                  <a:srgbClr val="C00000"/>
                </a:solidFill>
              </a:rPr>
              <a:t>.  </a:t>
            </a:r>
            <a:r>
              <a:rPr lang="en-US" sz="2400"/>
              <a:t>$42.5B in grants to states to expand broadband deployment in underserved areas</a:t>
            </a:r>
            <a:endParaRPr/>
          </a:p>
          <a:p>
            <a:pPr indent="-222250" lvl="0" marL="352425" rtl="0" algn="l">
              <a:lnSpc>
                <a:spcPct val="90000"/>
              </a:lnSpc>
              <a:spcBef>
                <a:spcPts val="1000"/>
              </a:spcBef>
              <a:spcAft>
                <a:spcPts val="0"/>
              </a:spcAft>
              <a:buSzPts val="2800"/>
              <a:buChar char="▪"/>
            </a:pPr>
            <a:r>
              <a:rPr b="1" lang="en-US">
                <a:solidFill>
                  <a:srgbClr val="C00000"/>
                </a:solidFill>
              </a:rPr>
              <a:t>Affordable Connectivity Fund</a:t>
            </a:r>
            <a:r>
              <a:rPr lang="en-US">
                <a:solidFill>
                  <a:srgbClr val="C00000"/>
                </a:solidFill>
              </a:rPr>
              <a:t>. </a:t>
            </a:r>
            <a:r>
              <a:rPr lang="en-US" sz="2400"/>
              <a:t>$14.2B. Up to $30/month reimbursement per household for broadband access cost</a:t>
            </a:r>
            <a:endParaRPr/>
          </a:p>
          <a:p>
            <a:pPr indent="-222250" lvl="0" marL="352425" rtl="0" algn="l">
              <a:lnSpc>
                <a:spcPct val="90000"/>
              </a:lnSpc>
              <a:spcBef>
                <a:spcPts val="1000"/>
              </a:spcBef>
              <a:spcAft>
                <a:spcPts val="0"/>
              </a:spcAft>
              <a:buSzPts val="2800"/>
              <a:buChar char="▪"/>
            </a:pPr>
            <a:r>
              <a:rPr b="1" lang="en-US">
                <a:solidFill>
                  <a:srgbClr val="C00000"/>
                </a:solidFill>
              </a:rPr>
              <a:t>Digital Equity. </a:t>
            </a:r>
            <a:r>
              <a:rPr lang="en-US" sz="2400"/>
              <a:t>$2.75B to ensure “individuals and communities have the IT capacity that is needed for full participations in the society and economy of the US.”</a:t>
            </a:r>
            <a:endParaRPr/>
          </a:p>
          <a:p>
            <a:pPr indent="-222250" lvl="0" marL="352425" rtl="0" algn="l">
              <a:lnSpc>
                <a:spcPct val="90000"/>
              </a:lnSpc>
              <a:spcBef>
                <a:spcPts val="1000"/>
              </a:spcBef>
              <a:spcAft>
                <a:spcPts val="0"/>
              </a:spcAft>
              <a:buSzPts val="2800"/>
              <a:buChar char="▪"/>
            </a:pPr>
            <a:r>
              <a:rPr b="1" lang="en-US">
                <a:solidFill>
                  <a:srgbClr val="C00000"/>
                </a:solidFill>
              </a:rPr>
              <a:t>Tribal Broadband </a:t>
            </a:r>
            <a:r>
              <a:rPr lang="en-US"/>
              <a:t>Connectivity Program. $2B</a:t>
            </a:r>
            <a:endParaRPr/>
          </a:p>
          <a:p>
            <a:pPr indent="-222250" lvl="0" marL="352425" rtl="0" algn="l">
              <a:lnSpc>
                <a:spcPct val="90000"/>
              </a:lnSpc>
              <a:spcBef>
                <a:spcPts val="1000"/>
              </a:spcBef>
              <a:spcAft>
                <a:spcPts val="0"/>
              </a:spcAft>
              <a:buSzPts val="2800"/>
              <a:buChar char="▪"/>
            </a:pPr>
            <a:r>
              <a:rPr b="1" lang="en-US">
                <a:solidFill>
                  <a:srgbClr val="C00000"/>
                </a:solidFill>
              </a:rPr>
              <a:t>Rural Utilities </a:t>
            </a:r>
            <a:r>
              <a:rPr lang="en-US"/>
              <a:t>ServiceReConnect.</a:t>
            </a:r>
            <a:r>
              <a:rPr b="1" lang="en-US">
                <a:solidFill>
                  <a:srgbClr val="C00000"/>
                </a:solidFill>
              </a:rPr>
              <a:t>  </a:t>
            </a:r>
            <a:r>
              <a:rPr lang="en-US"/>
              <a:t>$2B</a:t>
            </a:r>
            <a:endParaRPr/>
          </a:p>
        </p:txBody>
      </p:sp>
      <p:sp>
        <p:nvSpPr>
          <p:cNvPr id="148" name="Google Shape;148;p15"/>
          <p:cNvSpPr txBox="1"/>
          <p:nvPr>
            <p:ph type="title"/>
          </p:nvPr>
        </p:nvSpPr>
        <p:spPr>
          <a:xfrm>
            <a:off x="505113" y="223308"/>
            <a:ext cx="11216951" cy="119036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2021 US Infrastructure Investment and Jobs Act</a:t>
            </a:r>
            <a:endParaRPr b="0"/>
          </a:p>
        </p:txBody>
      </p:sp>
      <p:pic>
        <p:nvPicPr>
          <p:cNvPr id="149" name="Google Shape;149;p15"/>
          <p:cNvPicPr preferRelativeResize="0"/>
          <p:nvPr/>
        </p:nvPicPr>
        <p:blipFill rotWithShape="1">
          <a:blip r:embed="rId3">
            <a:alphaModFix/>
          </a:blip>
          <a:srcRect b="0" l="0" r="0" t="0"/>
          <a:stretch/>
        </p:blipFill>
        <p:spPr>
          <a:xfrm>
            <a:off x="360222" y="1665745"/>
            <a:ext cx="4627487" cy="3337575"/>
          </a:xfrm>
          <a:prstGeom prst="rect">
            <a:avLst/>
          </a:prstGeom>
          <a:noFill/>
          <a:ln>
            <a:noFill/>
          </a:ln>
        </p:spPr>
      </p:pic>
      <p:sp>
        <p:nvSpPr>
          <p:cNvPr id="150" name="Google Shape;150;p15"/>
          <p:cNvSpPr txBox="1"/>
          <p:nvPr/>
        </p:nvSpPr>
        <p:spPr>
          <a:xfrm>
            <a:off x="500331" y="5055078"/>
            <a:ext cx="3674853"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000">
                <a:solidFill>
                  <a:srgbClr val="C00000"/>
                </a:solidFill>
                <a:latin typeface="Calibri"/>
                <a:ea typeface="Calibri"/>
                <a:cs typeface="Calibri"/>
                <a:sym typeface="Calibri"/>
              </a:rPr>
              <a:t>$65B investment in broadband </a:t>
            </a:r>
            <a:r>
              <a:rPr lang="en-US" sz="2000">
                <a:solidFill>
                  <a:schemeClr val="dk1"/>
                </a:solidFill>
                <a:latin typeface="Calibri"/>
                <a:ea typeface="Calibri"/>
                <a:cs typeface="Calibri"/>
                <a:sym typeface="Calibri"/>
              </a:rPr>
              <a:t>(of  $550B in total infrastructure investments, over 10 years)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500"/>
                                        <p:tgtEl>
                                          <p:spTgt spid="1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6"/>
          <p:cNvSpPr txBox="1"/>
          <p:nvPr>
            <p:ph type="title"/>
          </p:nvPr>
        </p:nvSpPr>
        <p:spPr>
          <a:xfrm>
            <a:off x="679174" y="29279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Using the Internet</a:t>
            </a:r>
            <a:endParaRPr/>
          </a:p>
        </p:txBody>
      </p:sp>
      <p:sp>
        <p:nvSpPr>
          <p:cNvPr id="157" name="Google Shape;157;p16"/>
          <p:cNvSpPr txBox="1"/>
          <p:nvPr/>
        </p:nvSpPr>
        <p:spPr>
          <a:xfrm>
            <a:off x="636104" y="6142383"/>
            <a:ext cx="85409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Jan. 2021,  Source: https://datareportal.com/reports/digital-2021-global-overview-report</a:t>
            </a:r>
            <a:endParaRPr/>
          </a:p>
        </p:txBody>
      </p:sp>
      <p:pic>
        <p:nvPicPr>
          <p:cNvPr id="158" name="Google Shape;158;p16"/>
          <p:cNvPicPr preferRelativeResize="0"/>
          <p:nvPr/>
        </p:nvPicPr>
        <p:blipFill rotWithShape="1">
          <a:blip r:embed="rId3">
            <a:alphaModFix/>
          </a:blip>
          <a:srcRect b="0" l="0" r="0" t="0"/>
          <a:stretch/>
        </p:blipFill>
        <p:spPr>
          <a:xfrm>
            <a:off x="723072" y="1368563"/>
            <a:ext cx="10706100" cy="4279900"/>
          </a:xfrm>
          <a:prstGeom prst="rect">
            <a:avLst/>
          </a:prstGeom>
          <a:noFill/>
          <a:ln>
            <a:noFill/>
          </a:ln>
        </p:spPr>
      </p:pic>
      <p:sp>
        <p:nvSpPr>
          <p:cNvPr id="159" name="Google Shape;159;p16"/>
          <p:cNvSpPr txBox="1"/>
          <p:nvPr/>
        </p:nvSpPr>
        <p:spPr>
          <a:xfrm>
            <a:off x="7155138" y="4790660"/>
            <a:ext cx="4135714" cy="707886"/>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000">
                <a:solidFill>
                  <a:schemeClr val="lt1"/>
                </a:solidFill>
                <a:latin typeface="Calibri"/>
                <a:ea typeface="Calibri"/>
                <a:cs typeface="Calibri"/>
                <a:sym typeface="Calibri"/>
              </a:rPr>
              <a:t>Primary reasons why global Internet users aged 16 to 64 use the Internet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17"/>
          <p:cNvPicPr preferRelativeResize="0"/>
          <p:nvPr/>
        </p:nvPicPr>
        <p:blipFill rotWithShape="1">
          <a:blip r:embed="rId3">
            <a:alphaModFix/>
          </a:blip>
          <a:srcRect b="0" l="0" r="0" t="0"/>
          <a:stretch/>
        </p:blipFill>
        <p:spPr>
          <a:xfrm>
            <a:off x="730250" y="1257300"/>
            <a:ext cx="10731500" cy="4343400"/>
          </a:xfrm>
          <a:prstGeom prst="rect">
            <a:avLst/>
          </a:prstGeom>
          <a:noFill/>
          <a:ln>
            <a:noFill/>
          </a:ln>
        </p:spPr>
      </p:pic>
      <p:sp>
        <p:nvSpPr>
          <p:cNvPr id="166" name="Google Shape;166;p17"/>
          <p:cNvSpPr txBox="1"/>
          <p:nvPr>
            <p:ph type="title"/>
          </p:nvPr>
        </p:nvSpPr>
        <p:spPr>
          <a:xfrm>
            <a:off x="679174" y="29279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Average mobile download access rates</a:t>
            </a:r>
            <a:endParaRPr/>
          </a:p>
        </p:txBody>
      </p:sp>
      <p:sp>
        <p:nvSpPr>
          <p:cNvPr id="167" name="Google Shape;167;p17"/>
          <p:cNvSpPr txBox="1"/>
          <p:nvPr/>
        </p:nvSpPr>
        <p:spPr>
          <a:xfrm>
            <a:off x="636104" y="6142383"/>
            <a:ext cx="85409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Jan. 2021,  Source: https://datareportal.com/reports/digital-2021-global-overview-report</a:t>
            </a:r>
            <a:endParaRPr/>
          </a:p>
        </p:txBody>
      </p:sp>
      <p:sp>
        <p:nvSpPr>
          <p:cNvPr id="168" name="Google Shape;168;p17"/>
          <p:cNvSpPr txBox="1"/>
          <p:nvPr/>
        </p:nvSpPr>
        <p:spPr>
          <a:xfrm>
            <a:off x="6241775" y="1490870"/>
            <a:ext cx="4799604" cy="83099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400">
                <a:solidFill>
                  <a:schemeClr val="lt1"/>
                </a:solidFill>
                <a:latin typeface="Calibri"/>
                <a:ea typeface="Calibri"/>
                <a:cs typeface="Calibri"/>
                <a:sym typeface="Calibri"/>
              </a:rPr>
              <a:t>Average mobile Internet download speed (in Mbps), by country</a:t>
            </a:r>
            <a:endParaRPr/>
          </a:p>
        </p:txBody>
      </p:sp>
      <p:sp>
        <p:nvSpPr>
          <p:cNvPr id="169" name="Google Shape;169;p17"/>
          <p:cNvSpPr txBox="1"/>
          <p:nvPr/>
        </p:nvSpPr>
        <p:spPr>
          <a:xfrm>
            <a:off x="3955774" y="2623931"/>
            <a:ext cx="169501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lt1"/>
                </a:solidFill>
                <a:latin typeface="Calibri"/>
                <a:ea typeface="Calibri"/>
                <a:cs typeface="Calibri"/>
                <a:sym typeface="Calibri"/>
              </a:rPr>
              <a:t>US: 67.3 Mbps</a:t>
            </a:r>
            <a:endParaRPr/>
          </a:p>
        </p:txBody>
      </p:sp>
      <p:sp>
        <p:nvSpPr>
          <p:cNvPr id="170" name="Google Shape;170;p17"/>
          <p:cNvSpPr txBox="1"/>
          <p:nvPr/>
        </p:nvSpPr>
        <p:spPr>
          <a:xfrm>
            <a:off x="1842053" y="1325217"/>
            <a:ext cx="197470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lt1"/>
                </a:solidFill>
                <a:latin typeface="Calibri"/>
                <a:ea typeface="Calibri"/>
                <a:cs typeface="Calibri"/>
                <a:sym typeface="Calibri"/>
              </a:rPr>
              <a:t>UAE: 177.5 Mbps</a:t>
            </a:r>
            <a:endParaRPr/>
          </a:p>
        </p:txBody>
      </p:sp>
      <p:cxnSp>
        <p:nvCxnSpPr>
          <p:cNvPr id="171" name="Google Shape;171;p17"/>
          <p:cNvCxnSpPr/>
          <p:nvPr/>
        </p:nvCxnSpPr>
        <p:spPr>
          <a:xfrm>
            <a:off x="3975652" y="2743201"/>
            <a:ext cx="0" cy="516834"/>
          </a:xfrm>
          <a:prstGeom prst="straightConnector1">
            <a:avLst/>
          </a:prstGeom>
          <a:noFill/>
          <a:ln cap="flat" cmpd="sng" w="12700">
            <a:solidFill>
              <a:schemeClr val="lt1"/>
            </a:solidFill>
            <a:prstDash val="solid"/>
            <a:miter lim="800000"/>
            <a:headEnd len="sm" w="sm" type="none"/>
            <a:tailEnd len="med" w="med" type="triangle"/>
          </a:ln>
        </p:spPr>
      </p:cxnSp>
      <p:cxnSp>
        <p:nvCxnSpPr>
          <p:cNvPr id="172" name="Google Shape;172;p17"/>
          <p:cNvCxnSpPr/>
          <p:nvPr/>
        </p:nvCxnSpPr>
        <p:spPr>
          <a:xfrm rot="10800000">
            <a:off x="1232452" y="1504123"/>
            <a:ext cx="589722" cy="0"/>
          </a:xfrm>
          <a:prstGeom prst="straightConnector1">
            <a:avLst/>
          </a:prstGeom>
          <a:noFill/>
          <a:ln cap="flat" cmpd="sng" w="12700">
            <a:solidFill>
              <a:schemeClr val="lt1"/>
            </a:solidFill>
            <a:prstDash val="solid"/>
            <a:miter lim="800000"/>
            <a:headEnd len="sm" w="sm"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8"/>
          <p:cNvSpPr txBox="1"/>
          <p:nvPr>
            <p:ph type="title"/>
          </p:nvPr>
        </p:nvSpPr>
        <p:spPr>
          <a:xfrm>
            <a:off x="455730" y="337222"/>
            <a:ext cx="6410405" cy="894622"/>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00A3"/>
              </a:buClr>
              <a:buSzPts val="4400"/>
              <a:buFont typeface="Calibri"/>
              <a:buNone/>
            </a:pPr>
            <a:r>
              <a:rPr lang="en-US">
                <a:latin typeface="Calibri"/>
                <a:ea typeface="Calibri"/>
                <a:cs typeface="Calibri"/>
                <a:sym typeface="Calibri"/>
              </a:rPr>
              <a:t>“Who </a:t>
            </a:r>
            <a:r>
              <a:rPr i="1" lang="en-US">
                <a:latin typeface="Calibri"/>
                <a:ea typeface="Calibri"/>
                <a:cs typeface="Calibri"/>
                <a:sym typeface="Calibri"/>
              </a:rPr>
              <a:t>uses </a:t>
            </a:r>
            <a:r>
              <a:rPr lang="en-US">
                <a:latin typeface="Calibri"/>
                <a:ea typeface="Calibri"/>
                <a:cs typeface="Calibri"/>
                <a:sym typeface="Calibri"/>
              </a:rPr>
              <a:t>the Internet?”</a:t>
            </a:r>
            <a:endParaRPr>
              <a:latin typeface="Calibri"/>
              <a:ea typeface="Calibri"/>
              <a:cs typeface="Calibri"/>
              <a:sym typeface="Calibri"/>
            </a:endParaRPr>
          </a:p>
        </p:txBody>
      </p:sp>
      <p:sp>
        <p:nvSpPr>
          <p:cNvPr id="179" name="Google Shape;179;p18"/>
          <p:cNvSpPr txBox="1"/>
          <p:nvPr/>
        </p:nvSpPr>
        <p:spPr>
          <a:xfrm>
            <a:off x="939193" y="1315927"/>
            <a:ext cx="7393924" cy="489364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rgbClr val="C00000"/>
                </a:solidFill>
                <a:latin typeface="Calibri"/>
                <a:ea typeface="Calibri"/>
                <a:cs typeface="Calibri"/>
                <a:sym typeface="Calibri"/>
              </a:rPr>
              <a:t>Questions to consider:</a:t>
            </a:r>
            <a:endParaRPr/>
          </a:p>
          <a:p>
            <a:pPr indent="-276225" lvl="0" marL="412750" marR="0" rtl="0" algn="l">
              <a:spcBef>
                <a:spcPts val="0"/>
              </a:spcBef>
              <a:spcAft>
                <a:spcPts val="0"/>
              </a:spcAft>
              <a:buClr>
                <a:srgbClr val="010080"/>
              </a:buClr>
              <a:buSzPts val="2800"/>
              <a:buFont typeface="Noto Sans Symbols"/>
              <a:buChar char="▪"/>
            </a:pPr>
            <a:r>
              <a:rPr lang="en-US" sz="2800">
                <a:solidFill>
                  <a:schemeClr val="dk1"/>
                </a:solidFill>
                <a:latin typeface="Calibri"/>
                <a:ea typeface="Calibri"/>
                <a:cs typeface="Calibri"/>
                <a:sym typeface="Calibri"/>
              </a:rPr>
              <a:t>Go to </a:t>
            </a:r>
            <a:r>
              <a:rPr lang="en-US" sz="2800" u="sng">
                <a:solidFill>
                  <a:schemeClr val="hlink"/>
                </a:solidFill>
                <a:latin typeface="Calibri"/>
                <a:ea typeface="Calibri"/>
                <a:cs typeface="Calibri"/>
                <a:sym typeface="Calibri"/>
                <a:hlinkClick r:id="rId3"/>
              </a:rPr>
              <a:t>https://www.speedtest.net/</a:t>
            </a:r>
            <a:r>
              <a:rPr lang="en-US" sz="2800">
                <a:solidFill>
                  <a:schemeClr val="dk1"/>
                </a:solidFill>
                <a:latin typeface="Calibri"/>
                <a:ea typeface="Calibri"/>
                <a:cs typeface="Calibri"/>
                <a:sym typeface="Calibri"/>
              </a:rPr>
              <a:t> to measure your Internet access download speed.  Try it from different places/devices if you can.</a:t>
            </a:r>
            <a:endParaRPr/>
          </a:p>
          <a:p>
            <a:pPr indent="-276225" lvl="0" marL="412750" marR="0" rtl="0" algn="l">
              <a:spcBef>
                <a:spcPts val="0"/>
              </a:spcBef>
              <a:spcAft>
                <a:spcPts val="0"/>
              </a:spcAft>
              <a:buClr>
                <a:srgbClr val="010080"/>
              </a:buClr>
              <a:buSzPts val="2800"/>
              <a:buFont typeface="Noto Sans Symbols"/>
              <a:buChar char="▪"/>
            </a:pPr>
            <a:r>
              <a:rPr lang="en-US" sz="2800">
                <a:solidFill>
                  <a:schemeClr val="dk1"/>
                </a:solidFill>
                <a:latin typeface="Calibri"/>
                <a:ea typeface="Calibri"/>
                <a:cs typeface="Calibri"/>
                <a:sym typeface="Calibri"/>
              </a:rPr>
              <a:t>If somebody were to turn off the internet, what would you miss most?</a:t>
            </a:r>
            <a:endParaRPr/>
          </a:p>
          <a:p>
            <a:pPr indent="-276225" lvl="0" marL="412750" marR="0" rtl="0" algn="l">
              <a:spcBef>
                <a:spcPts val="0"/>
              </a:spcBef>
              <a:spcAft>
                <a:spcPts val="0"/>
              </a:spcAft>
              <a:buClr>
                <a:srgbClr val="010080"/>
              </a:buClr>
              <a:buSzPts val="2800"/>
              <a:buFont typeface="Noto Sans Symbols"/>
              <a:buChar char="▪"/>
            </a:pPr>
            <a:r>
              <a:rPr lang="en-US" sz="2800">
                <a:solidFill>
                  <a:schemeClr val="dk1"/>
                </a:solidFill>
                <a:latin typeface="Calibri"/>
                <a:ea typeface="Calibri"/>
                <a:cs typeface="Calibri"/>
                <a:sym typeface="Calibri"/>
              </a:rPr>
              <a:t>How does Internet use change around the world?</a:t>
            </a:r>
            <a:endParaRPr/>
          </a:p>
          <a:p>
            <a:pPr indent="-276225" lvl="0" marL="412750" marR="0" rtl="0" algn="l">
              <a:spcBef>
                <a:spcPts val="0"/>
              </a:spcBef>
              <a:spcAft>
                <a:spcPts val="0"/>
              </a:spcAft>
              <a:buClr>
                <a:srgbClr val="010080"/>
              </a:buClr>
              <a:buSzPts val="2800"/>
              <a:buFont typeface="Noto Sans Symbols"/>
              <a:buChar char="▪"/>
            </a:pPr>
            <a:r>
              <a:rPr lang="en-US" sz="2800">
                <a:solidFill>
                  <a:schemeClr val="dk1"/>
                </a:solidFill>
                <a:latin typeface="Calibri"/>
                <a:ea typeface="Calibri"/>
                <a:cs typeface="Calibri"/>
                <a:sym typeface="Calibri"/>
              </a:rPr>
              <a:t>How much choice do you/your family have for home connectivity, among ISPs?  How does the amount of choice vary by country?  </a:t>
            </a:r>
            <a:endParaRPr/>
          </a:p>
        </p:txBody>
      </p:sp>
      <p:pic>
        <p:nvPicPr>
          <p:cNvPr id="180" name="Google Shape;180;p18"/>
          <p:cNvPicPr preferRelativeResize="0"/>
          <p:nvPr/>
        </p:nvPicPr>
        <p:blipFill rotWithShape="1">
          <a:blip r:embed="rId4">
            <a:alphaModFix/>
          </a:blip>
          <a:srcRect b="0" l="0" r="0" t="0"/>
          <a:stretch/>
        </p:blipFill>
        <p:spPr>
          <a:xfrm>
            <a:off x="8985739" y="778901"/>
            <a:ext cx="2226212" cy="524509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9"/>
          <p:cNvSpPr/>
          <p:nvPr/>
        </p:nvSpPr>
        <p:spPr>
          <a:xfrm>
            <a:off x="0" y="0"/>
            <a:ext cx="12192000" cy="849086"/>
          </a:xfrm>
          <a:prstGeom prst="rect">
            <a:avLst/>
          </a:prstGeom>
          <a:solidFill>
            <a:srgbClr val="F7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7" name="Google Shape;187;p19"/>
          <p:cNvSpPr/>
          <p:nvPr/>
        </p:nvSpPr>
        <p:spPr>
          <a:xfrm>
            <a:off x="6927" y="-4763"/>
            <a:ext cx="2507673" cy="6816436"/>
          </a:xfrm>
          <a:prstGeom prst="rect">
            <a:avLst/>
          </a:prstGeom>
          <a:solidFill>
            <a:srgbClr val="F7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8" name="Google Shape;188;p19"/>
          <p:cNvSpPr/>
          <p:nvPr/>
        </p:nvSpPr>
        <p:spPr>
          <a:xfrm>
            <a:off x="9684327" y="0"/>
            <a:ext cx="2507673" cy="6816436"/>
          </a:xfrm>
          <a:prstGeom prst="rect">
            <a:avLst/>
          </a:prstGeom>
          <a:solidFill>
            <a:srgbClr val="F7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9" name="Google Shape;189;p19"/>
          <p:cNvSpPr/>
          <p:nvPr/>
        </p:nvSpPr>
        <p:spPr>
          <a:xfrm>
            <a:off x="0" y="6008914"/>
            <a:ext cx="12192000" cy="849086"/>
          </a:xfrm>
          <a:prstGeom prst="rect">
            <a:avLst/>
          </a:prstGeom>
          <a:solidFill>
            <a:srgbClr val="F7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Icon&#10;&#10;Description automatically generated" id="190" name="Google Shape;190;p19"/>
          <p:cNvPicPr preferRelativeResize="0"/>
          <p:nvPr/>
        </p:nvPicPr>
        <p:blipFill rotWithShape="1">
          <a:blip r:embed="rId3">
            <a:alphaModFix/>
          </a:blip>
          <a:srcRect b="0" l="0" r="0" t="0"/>
          <a:stretch/>
        </p:blipFill>
        <p:spPr>
          <a:xfrm>
            <a:off x="814387" y="753664"/>
            <a:ext cx="10384971" cy="6104336"/>
          </a:xfrm>
          <a:prstGeom prst="rect">
            <a:avLst/>
          </a:prstGeom>
          <a:noFill/>
          <a:ln>
            <a:noFill/>
          </a:ln>
        </p:spPr>
      </p:pic>
      <p:sp>
        <p:nvSpPr>
          <p:cNvPr id="191" name="Google Shape;191;p19"/>
          <p:cNvSpPr/>
          <p:nvPr/>
        </p:nvSpPr>
        <p:spPr>
          <a:xfrm>
            <a:off x="2054065" y="569620"/>
            <a:ext cx="6488667" cy="2770617"/>
          </a:xfrm>
          <a:custGeom>
            <a:rect b="b" l="l" r="r" t="t"/>
            <a:pathLst>
              <a:path extrusionOk="0" h="11674" w="10163">
                <a:moveTo>
                  <a:pt x="5139" y="181"/>
                </a:moveTo>
                <a:cubicBezTo>
                  <a:pt x="4701" y="362"/>
                  <a:pt x="4521" y="1058"/>
                  <a:pt x="4124" y="1125"/>
                </a:cubicBezTo>
                <a:cubicBezTo>
                  <a:pt x="3727" y="1191"/>
                  <a:pt x="3258" y="619"/>
                  <a:pt x="2747" y="581"/>
                </a:cubicBezTo>
                <a:cubicBezTo>
                  <a:pt x="2237" y="543"/>
                  <a:pt x="1454" y="391"/>
                  <a:pt x="1046" y="896"/>
                </a:cubicBezTo>
                <a:cubicBezTo>
                  <a:pt x="639" y="1401"/>
                  <a:pt x="376" y="2774"/>
                  <a:pt x="304" y="3641"/>
                </a:cubicBezTo>
                <a:cubicBezTo>
                  <a:pt x="232" y="4509"/>
                  <a:pt x="631" y="4848"/>
                  <a:pt x="598" y="6110"/>
                </a:cubicBezTo>
                <a:cubicBezTo>
                  <a:pt x="565" y="7372"/>
                  <a:pt x="-294" y="10420"/>
                  <a:pt x="106" y="11211"/>
                </a:cubicBezTo>
                <a:cubicBezTo>
                  <a:pt x="506" y="12002"/>
                  <a:pt x="2522" y="11712"/>
                  <a:pt x="3001" y="10854"/>
                </a:cubicBezTo>
                <a:cubicBezTo>
                  <a:pt x="3480" y="9996"/>
                  <a:pt x="4596" y="9781"/>
                  <a:pt x="5366" y="9599"/>
                </a:cubicBezTo>
                <a:cubicBezTo>
                  <a:pt x="6136" y="9417"/>
                  <a:pt x="6979" y="9933"/>
                  <a:pt x="7619" y="9761"/>
                </a:cubicBezTo>
                <a:cubicBezTo>
                  <a:pt x="8258" y="9580"/>
                  <a:pt x="8773" y="9085"/>
                  <a:pt x="9196" y="8579"/>
                </a:cubicBezTo>
                <a:cubicBezTo>
                  <a:pt x="9619" y="8084"/>
                  <a:pt x="10057" y="7788"/>
                  <a:pt x="10144" y="6739"/>
                </a:cubicBezTo>
                <a:cubicBezTo>
                  <a:pt x="10232" y="5691"/>
                  <a:pt x="10016" y="3270"/>
                  <a:pt x="9711" y="2326"/>
                </a:cubicBezTo>
                <a:cubicBezTo>
                  <a:pt x="9407" y="1372"/>
                  <a:pt x="8799" y="1392"/>
                  <a:pt x="8304" y="1020"/>
                </a:cubicBezTo>
                <a:cubicBezTo>
                  <a:pt x="7809" y="657"/>
                  <a:pt x="7268" y="219"/>
                  <a:pt x="6742" y="76"/>
                </a:cubicBezTo>
                <a:cubicBezTo>
                  <a:pt x="6217" y="-67"/>
                  <a:pt x="5577" y="9"/>
                  <a:pt x="5139" y="18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 name="Google Shape;192;p19"/>
          <p:cNvSpPr txBox="1"/>
          <p:nvPr/>
        </p:nvSpPr>
        <p:spPr>
          <a:xfrm>
            <a:off x="2620722" y="4323286"/>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lt1"/>
              </a:buClr>
              <a:buSzPts val="1400"/>
              <a:buFont typeface="Noto Sans Symbols"/>
              <a:buNone/>
            </a:pPr>
            <a:r>
              <a:rPr lang="en-US" sz="1400">
                <a:solidFill>
                  <a:schemeClr val="lt1"/>
                </a:solidFill>
                <a:latin typeface="Calibri"/>
                <a:ea typeface="Calibri"/>
                <a:cs typeface="Calibri"/>
                <a:sym typeface="Calibri"/>
              </a:rPr>
              <a:t>home network</a:t>
            </a:r>
            <a:endParaRPr/>
          </a:p>
        </p:txBody>
      </p:sp>
      <p:grpSp>
        <p:nvGrpSpPr>
          <p:cNvPr id="193" name="Google Shape;193;p19"/>
          <p:cNvGrpSpPr/>
          <p:nvPr/>
        </p:nvGrpSpPr>
        <p:grpSpPr>
          <a:xfrm>
            <a:off x="2437248" y="3365981"/>
            <a:ext cx="1458912" cy="933450"/>
            <a:chOff x="2889" y="1631"/>
            <a:chExt cx="980" cy="743"/>
          </a:xfrm>
        </p:grpSpPr>
        <p:sp>
          <p:nvSpPr>
            <p:cNvPr id="194" name="Google Shape;194;p19"/>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95" name="Google Shape;195;p19"/>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sz="2400">
                <a:solidFill>
                  <a:srgbClr val="00CCFF"/>
                </a:solidFill>
                <a:latin typeface="Arial"/>
                <a:ea typeface="Arial"/>
                <a:cs typeface="Arial"/>
                <a:sym typeface="Arial"/>
              </a:endParaRPr>
            </a:p>
          </p:txBody>
        </p:sp>
      </p:grpSp>
      <p:cxnSp>
        <p:nvCxnSpPr>
          <p:cNvPr id="196" name="Google Shape;196;p19"/>
          <p:cNvCxnSpPr/>
          <p:nvPr/>
        </p:nvCxnSpPr>
        <p:spPr>
          <a:xfrm>
            <a:off x="3479676" y="3906700"/>
            <a:ext cx="0" cy="131762"/>
          </a:xfrm>
          <a:prstGeom prst="straightConnector1">
            <a:avLst/>
          </a:prstGeom>
          <a:noFill/>
          <a:ln cap="flat" cmpd="sng" w="9525">
            <a:solidFill>
              <a:schemeClr val="dk1"/>
            </a:solidFill>
            <a:prstDash val="solid"/>
            <a:round/>
            <a:headEnd len="med" w="med" type="none"/>
            <a:tailEnd len="med" w="med" type="none"/>
          </a:ln>
        </p:spPr>
      </p:cxnSp>
      <p:cxnSp>
        <p:nvCxnSpPr>
          <p:cNvPr id="197" name="Google Shape;197;p19"/>
          <p:cNvCxnSpPr/>
          <p:nvPr/>
        </p:nvCxnSpPr>
        <p:spPr>
          <a:xfrm flipH="1" rot="10800000">
            <a:off x="3089151" y="4117837"/>
            <a:ext cx="168275" cy="3175"/>
          </a:xfrm>
          <a:prstGeom prst="straightConnector1">
            <a:avLst/>
          </a:prstGeom>
          <a:noFill/>
          <a:ln cap="flat" cmpd="sng" w="9525">
            <a:solidFill>
              <a:schemeClr val="dk1"/>
            </a:solidFill>
            <a:prstDash val="solid"/>
            <a:round/>
            <a:headEnd len="med" w="med" type="none"/>
            <a:tailEnd len="med" w="med" type="none"/>
          </a:ln>
        </p:spPr>
      </p:cxnSp>
      <p:pic>
        <p:nvPicPr>
          <p:cNvPr descr="antenna_radiation_stylized" id="198" name="Google Shape;198;p19"/>
          <p:cNvPicPr preferRelativeResize="0"/>
          <p:nvPr/>
        </p:nvPicPr>
        <p:blipFill rotWithShape="1">
          <a:blip r:embed="rId4">
            <a:alphaModFix/>
          </a:blip>
          <a:srcRect b="0" l="0" r="0" t="0"/>
          <a:stretch/>
        </p:blipFill>
        <p:spPr>
          <a:xfrm>
            <a:off x="2794136" y="3890660"/>
            <a:ext cx="506412" cy="106009"/>
          </a:xfrm>
          <a:prstGeom prst="rect">
            <a:avLst/>
          </a:prstGeom>
          <a:noFill/>
          <a:ln>
            <a:noFill/>
          </a:ln>
        </p:spPr>
      </p:pic>
      <p:pic>
        <p:nvPicPr>
          <p:cNvPr descr="antenna_stylized" id="199" name="Google Shape;199;p19"/>
          <p:cNvPicPr preferRelativeResize="0"/>
          <p:nvPr/>
        </p:nvPicPr>
        <p:blipFill rotWithShape="1">
          <a:blip r:embed="rId5">
            <a:alphaModFix/>
          </a:blip>
          <a:srcRect b="0" l="0" r="0" t="0"/>
          <a:stretch/>
        </p:blipFill>
        <p:spPr>
          <a:xfrm>
            <a:off x="2700414" y="3528057"/>
            <a:ext cx="347997" cy="167557"/>
          </a:xfrm>
          <a:prstGeom prst="rect">
            <a:avLst/>
          </a:prstGeom>
          <a:noFill/>
          <a:ln>
            <a:noFill/>
          </a:ln>
        </p:spPr>
      </p:pic>
      <p:pic>
        <p:nvPicPr>
          <p:cNvPr descr="laptop_keyboard" id="200" name="Google Shape;200;p19"/>
          <p:cNvPicPr preferRelativeResize="0"/>
          <p:nvPr/>
        </p:nvPicPr>
        <p:blipFill rotWithShape="1">
          <a:blip r:embed="rId6">
            <a:alphaModFix/>
          </a:blip>
          <a:srcRect b="0" l="0" r="0" t="0"/>
          <a:stretch/>
        </p:blipFill>
        <p:spPr>
          <a:xfrm flipH="1" rot="109064">
            <a:off x="2717271" y="3714126"/>
            <a:ext cx="286699" cy="119448"/>
          </a:xfrm>
          <a:prstGeom prst="rect">
            <a:avLst/>
          </a:prstGeom>
          <a:noFill/>
          <a:ln>
            <a:noFill/>
          </a:ln>
        </p:spPr>
      </p:pic>
      <p:sp>
        <p:nvSpPr>
          <p:cNvPr id="201" name="Google Shape;201;p19"/>
          <p:cNvSpPr/>
          <p:nvPr/>
        </p:nvSpPr>
        <p:spPr>
          <a:xfrm>
            <a:off x="2812284" y="3598216"/>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202" name="Google Shape;202;p19"/>
          <p:cNvPicPr preferRelativeResize="0"/>
          <p:nvPr/>
        </p:nvPicPr>
        <p:blipFill rotWithShape="1">
          <a:blip r:embed="rId7">
            <a:alphaModFix/>
          </a:blip>
          <a:srcRect b="0" l="0" r="0" t="0"/>
          <a:stretch/>
        </p:blipFill>
        <p:spPr>
          <a:xfrm>
            <a:off x="2823650" y="3602225"/>
            <a:ext cx="209692" cy="141851"/>
          </a:xfrm>
          <a:prstGeom prst="rect">
            <a:avLst/>
          </a:prstGeom>
          <a:noFill/>
          <a:ln>
            <a:noFill/>
          </a:ln>
        </p:spPr>
      </p:pic>
      <p:sp>
        <p:nvSpPr>
          <p:cNvPr id="203" name="Google Shape;203;p19"/>
          <p:cNvSpPr/>
          <p:nvPr/>
        </p:nvSpPr>
        <p:spPr>
          <a:xfrm>
            <a:off x="2854299" y="3593618"/>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19"/>
          <p:cNvSpPr/>
          <p:nvPr/>
        </p:nvSpPr>
        <p:spPr>
          <a:xfrm>
            <a:off x="2810241" y="3593382"/>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 name="Google Shape;205;p19"/>
          <p:cNvSpPr/>
          <p:nvPr/>
        </p:nvSpPr>
        <p:spPr>
          <a:xfrm>
            <a:off x="2989922" y="3614960"/>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6" name="Google Shape;206;p19"/>
          <p:cNvSpPr/>
          <p:nvPr/>
        </p:nvSpPr>
        <p:spPr>
          <a:xfrm>
            <a:off x="2809602" y="3707995"/>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 name="Google Shape;207;p19"/>
          <p:cNvSpPr/>
          <p:nvPr/>
        </p:nvSpPr>
        <p:spPr>
          <a:xfrm>
            <a:off x="2996435" y="3616139"/>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 name="Google Shape;208;p19"/>
          <p:cNvSpPr/>
          <p:nvPr/>
        </p:nvSpPr>
        <p:spPr>
          <a:xfrm>
            <a:off x="2809858" y="3714244"/>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09" name="Google Shape;209;p19"/>
          <p:cNvGrpSpPr/>
          <p:nvPr/>
        </p:nvGrpSpPr>
        <p:grpSpPr>
          <a:xfrm>
            <a:off x="2806665" y="3763886"/>
            <a:ext cx="64747" cy="27592"/>
            <a:chOff x="1740" y="2642"/>
            <a:chExt cx="752" cy="327"/>
          </a:xfrm>
        </p:grpSpPr>
        <p:sp>
          <p:nvSpPr>
            <p:cNvPr id="210" name="Google Shape;210;p1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1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 name="Google Shape;212;p1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1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1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1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6" name="Google Shape;216;p19"/>
          <p:cNvSpPr/>
          <p:nvPr/>
        </p:nvSpPr>
        <p:spPr>
          <a:xfrm>
            <a:off x="2917513" y="3768013"/>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19"/>
          <p:cNvSpPr/>
          <p:nvPr/>
        </p:nvSpPr>
        <p:spPr>
          <a:xfrm>
            <a:off x="2717399" y="3772848"/>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19"/>
          <p:cNvSpPr/>
          <p:nvPr/>
        </p:nvSpPr>
        <p:spPr>
          <a:xfrm>
            <a:off x="2717527" y="3762707"/>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19"/>
          <p:cNvSpPr/>
          <p:nvPr/>
        </p:nvSpPr>
        <p:spPr>
          <a:xfrm>
            <a:off x="2717654" y="3717074"/>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 name="Google Shape;220;p19"/>
          <p:cNvSpPr/>
          <p:nvPr/>
        </p:nvSpPr>
        <p:spPr>
          <a:xfrm>
            <a:off x="2723912" y="3765066"/>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19"/>
          <p:cNvSpPr/>
          <p:nvPr/>
        </p:nvSpPr>
        <p:spPr>
          <a:xfrm flipH="1" rot="10800000">
            <a:off x="2913938" y="3761292"/>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22" name="Google Shape;222;p19"/>
          <p:cNvGrpSpPr/>
          <p:nvPr/>
        </p:nvGrpSpPr>
        <p:grpSpPr>
          <a:xfrm flipH="1">
            <a:off x="3306277" y="3640265"/>
            <a:ext cx="359261" cy="342045"/>
            <a:chOff x="2839" y="3501"/>
            <a:chExt cx="755" cy="803"/>
          </a:xfrm>
        </p:grpSpPr>
        <p:pic>
          <p:nvPicPr>
            <p:cNvPr descr="desktop_computer_stylized_medium" id="223" name="Google Shape;223;p19"/>
            <p:cNvPicPr preferRelativeResize="0"/>
            <p:nvPr/>
          </p:nvPicPr>
          <p:blipFill rotWithShape="1">
            <a:blip r:embed="rId8">
              <a:alphaModFix/>
            </a:blip>
            <a:srcRect b="0" l="0" r="0" t="0"/>
            <a:stretch/>
          </p:blipFill>
          <p:spPr>
            <a:xfrm>
              <a:off x="2839" y="3501"/>
              <a:ext cx="755" cy="803"/>
            </a:xfrm>
            <a:prstGeom prst="rect">
              <a:avLst/>
            </a:prstGeom>
            <a:noFill/>
            <a:ln>
              <a:noFill/>
            </a:ln>
          </p:spPr>
        </p:pic>
        <p:sp>
          <p:nvSpPr>
            <p:cNvPr id="224" name="Google Shape;224;p1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fridge2.png" id="225" name="Google Shape;225;p19"/>
          <p:cNvPicPr preferRelativeResize="0"/>
          <p:nvPr/>
        </p:nvPicPr>
        <p:blipFill rotWithShape="1">
          <a:blip r:embed="rId9">
            <a:alphaModFix/>
          </a:blip>
          <a:srcRect b="0" l="0" r="0" t="0"/>
          <a:stretch/>
        </p:blipFill>
        <p:spPr>
          <a:xfrm>
            <a:off x="3110095" y="3493934"/>
            <a:ext cx="189578" cy="337027"/>
          </a:xfrm>
          <a:prstGeom prst="rect">
            <a:avLst/>
          </a:prstGeom>
          <a:noFill/>
          <a:ln>
            <a:noFill/>
          </a:ln>
        </p:spPr>
      </p:pic>
      <p:pic>
        <p:nvPicPr>
          <p:cNvPr descr="antenna_stylized" id="226" name="Google Shape;226;p19"/>
          <p:cNvPicPr preferRelativeResize="0"/>
          <p:nvPr/>
        </p:nvPicPr>
        <p:blipFill rotWithShape="1">
          <a:blip r:embed="rId5">
            <a:alphaModFix/>
          </a:blip>
          <a:srcRect b="0" l="0" r="0" t="0"/>
          <a:stretch/>
        </p:blipFill>
        <p:spPr>
          <a:xfrm>
            <a:off x="3010331" y="3434341"/>
            <a:ext cx="347997" cy="167557"/>
          </a:xfrm>
          <a:prstGeom prst="rect">
            <a:avLst/>
          </a:prstGeom>
          <a:noFill/>
          <a:ln>
            <a:noFill/>
          </a:ln>
        </p:spPr>
      </p:pic>
      <p:pic>
        <p:nvPicPr>
          <p:cNvPr descr="access_point_stylized_small" id="227" name="Google Shape;227;p19"/>
          <p:cNvPicPr preferRelativeResize="0"/>
          <p:nvPr/>
        </p:nvPicPr>
        <p:blipFill rotWithShape="1">
          <a:blip r:embed="rId10">
            <a:alphaModFix/>
          </a:blip>
          <a:srcRect b="0" l="0" r="0" t="0"/>
          <a:stretch/>
        </p:blipFill>
        <p:spPr>
          <a:xfrm>
            <a:off x="2845780" y="3938629"/>
            <a:ext cx="370169" cy="306751"/>
          </a:xfrm>
          <a:prstGeom prst="rect">
            <a:avLst/>
          </a:prstGeom>
          <a:noFill/>
          <a:ln>
            <a:noFill/>
          </a:ln>
        </p:spPr>
      </p:pic>
      <p:sp>
        <p:nvSpPr>
          <p:cNvPr id="228" name="Google Shape;228;p19"/>
          <p:cNvSpPr txBox="1"/>
          <p:nvPr/>
        </p:nvSpPr>
        <p:spPr>
          <a:xfrm>
            <a:off x="2841625" y="907652"/>
            <a:ext cx="272760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Comcast network</a:t>
            </a:r>
            <a:endParaRPr/>
          </a:p>
        </p:txBody>
      </p:sp>
      <p:sp>
        <p:nvSpPr>
          <p:cNvPr id="229" name="Google Shape;229;p19"/>
          <p:cNvSpPr/>
          <p:nvPr/>
        </p:nvSpPr>
        <p:spPr>
          <a:xfrm>
            <a:off x="3278557" y="2667070"/>
            <a:ext cx="88549" cy="1441563"/>
          </a:xfrm>
          <a:custGeom>
            <a:rect b="b" l="l" r="r" t="t"/>
            <a:pathLst>
              <a:path extrusionOk="0" h="300" w="80">
                <a:moveTo>
                  <a:pt x="0" y="300"/>
                </a:moveTo>
                <a:lnTo>
                  <a:pt x="80" y="300"/>
                </a:lnTo>
                <a:lnTo>
                  <a:pt x="8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230" name="Google Shape;230;p19"/>
          <p:cNvGrpSpPr/>
          <p:nvPr/>
        </p:nvGrpSpPr>
        <p:grpSpPr>
          <a:xfrm>
            <a:off x="3281968" y="4042724"/>
            <a:ext cx="354986" cy="175668"/>
            <a:chOff x="7493876" y="2774731"/>
            <a:chExt cx="1481958" cy="894622"/>
          </a:xfrm>
        </p:grpSpPr>
        <p:sp>
          <p:nvSpPr>
            <p:cNvPr id="231" name="Google Shape;231;p1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32" name="Google Shape;232;p1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33" name="Google Shape;233;p19"/>
            <p:cNvGrpSpPr/>
            <p:nvPr/>
          </p:nvGrpSpPr>
          <p:grpSpPr>
            <a:xfrm>
              <a:off x="7713663" y="2848339"/>
              <a:ext cx="1042107" cy="425543"/>
              <a:chOff x="7786941" y="2884917"/>
              <a:chExt cx="897649" cy="353919"/>
            </a:xfrm>
          </p:grpSpPr>
          <p:sp>
            <p:nvSpPr>
              <p:cNvPr id="234" name="Google Shape;234;p1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5" name="Google Shape;235;p1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6" name="Google Shape;236;p1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7" name="Google Shape;237;p1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38" name="Google Shape;238;p19"/>
          <p:cNvGrpSpPr/>
          <p:nvPr/>
        </p:nvGrpSpPr>
        <p:grpSpPr>
          <a:xfrm>
            <a:off x="7986712" y="1220389"/>
            <a:ext cx="676274" cy="823219"/>
            <a:chOff x="7986712" y="1220389"/>
            <a:chExt cx="676274" cy="823219"/>
          </a:xfrm>
        </p:grpSpPr>
        <p:grpSp>
          <p:nvGrpSpPr>
            <p:cNvPr id="239" name="Google Shape;239;p19"/>
            <p:cNvGrpSpPr/>
            <p:nvPr/>
          </p:nvGrpSpPr>
          <p:grpSpPr>
            <a:xfrm>
              <a:off x="8267261" y="1220389"/>
              <a:ext cx="395725" cy="823219"/>
              <a:chOff x="4140" y="429"/>
              <a:chExt cx="1425" cy="2396"/>
            </a:xfrm>
          </p:grpSpPr>
          <p:sp>
            <p:nvSpPr>
              <p:cNvPr id="240" name="Google Shape;240;p1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 name="Google Shape;241;p19"/>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42" name="Google Shape;242;p1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 name="Google Shape;243;p1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 name="Google Shape;244;p19"/>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45" name="Google Shape;245;p19"/>
              <p:cNvGrpSpPr/>
              <p:nvPr/>
            </p:nvGrpSpPr>
            <p:grpSpPr>
              <a:xfrm>
                <a:off x="4748" y="666"/>
                <a:ext cx="578" cy="150"/>
                <a:chOff x="613" y="2566"/>
                <a:chExt cx="721" cy="144"/>
              </a:xfrm>
            </p:grpSpPr>
            <p:sp>
              <p:nvSpPr>
                <p:cNvPr id="246" name="Google Shape;246;p1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47" name="Google Shape;247;p1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48" name="Google Shape;248;p19"/>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49" name="Google Shape;249;p19"/>
              <p:cNvGrpSpPr/>
              <p:nvPr/>
            </p:nvGrpSpPr>
            <p:grpSpPr>
              <a:xfrm>
                <a:off x="4748" y="990"/>
                <a:ext cx="578" cy="134"/>
                <a:chOff x="615" y="2564"/>
                <a:chExt cx="721" cy="139"/>
              </a:xfrm>
            </p:grpSpPr>
            <p:sp>
              <p:nvSpPr>
                <p:cNvPr id="250" name="Google Shape;250;p1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51" name="Google Shape;251;p1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52" name="Google Shape;252;p19"/>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53" name="Google Shape;253;p19"/>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54" name="Google Shape;254;p19"/>
              <p:cNvGrpSpPr/>
              <p:nvPr/>
            </p:nvGrpSpPr>
            <p:grpSpPr>
              <a:xfrm>
                <a:off x="4738" y="1647"/>
                <a:ext cx="578" cy="135"/>
                <a:chOff x="618" y="2586"/>
                <a:chExt cx="720" cy="124"/>
              </a:xfrm>
            </p:grpSpPr>
            <p:sp>
              <p:nvSpPr>
                <p:cNvPr id="255" name="Google Shape;255;p1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56" name="Google Shape;256;p1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57" name="Google Shape;257;p1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58" name="Google Shape;258;p19"/>
              <p:cNvGrpSpPr/>
              <p:nvPr/>
            </p:nvGrpSpPr>
            <p:grpSpPr>
              <a:xfrm>
                <a:off x="4738" y="1330"/>
                <a:ext cx="588" cy="134"/>
                <a:chOff x="613" y="2571"/>
                <a:chExt cx="732" cy="134"/>
              </a:xfrm>
            </p:grpSpPr>
            <p:sp>
              <p:nvSpPr>
                <p:cNvPr id="259" name="Google Shape;259;p1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60" name="Google Shape;260;p1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61" name="Google Shape;261;p19"/>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62" name="Google Shape;262;p1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3" name="Google Shape;263;p1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4" name="Google Shape;264;p19"/>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65" name="Google Shape;265;p1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6" name="Google Shape;266;p19"/>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67" name="Google Shape;267;p19"/>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68" name="Google Shape;268;p19"/>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69" name="Google Shape;269;p19"/>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270" name="Google Shape;270;p19"/>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71" name="Google Shape;271;p19"/>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cxnSp>
          <p:nvCxnSpPr>
            <p:cNvPr id="272" name="Google Shape;272;p19"/>
            <p:cNvCxnSpPr/>
            <p:nvPr/>
          </p:nvCxnSpPr>
          <p:spPr>
            <a:xfrm>
              <a:off x="7986712" y="1771650"/>
              <a:ext cx="304923" cy="1084"/>
            </a:xfrm>
            <a:prstGeom prst="straightConnector1">
              <a:avLst/>
            </a:prstGeom>
            <a:noFill/>
            <a:ln cap="flat" cmpd="sng" w="19050">
              <a:solidFill>
                <a:schemeClr val="dk1"/>
              </a:solidFill>
              <a:prstDash val="solid"/>
              <a:round/>
              <a:headEnd len="med" w="med" type="none"/>
              <a:tailEnd len="med" w="med" type="none"/>
            </a:ln>
          </p:spPr>
        </p:cxnSp>
      </p:grpSp>
      <p:grpSp>
        <p:nvGrpSpPr>
          <p:cNvPr id="273" name="Google Shape;273;p19"/>
          <p:cNvGrpSpPr/>
          <p:nvPr/>
        </p:nvGrpSpPr>
        <p:grpSpPr>
          <a:xfrm>
            <a:off x="2785271" y="1769663"/>
            <a:ext cx="3085358" cy="1256286"/>
            <a:chOff x="2785271" y="1769663"/>
            <a:chExt cx="3085358" cy="1256286"/>
          </a:xfrm>
        </p:grpSpPr>
        <p:grpSp>
          <p:nvGrpSpPr>
            <p:cNvPr id="274" name="Google Shape;274;p19"/>
            <p:cNvGrpSpPr/>
            <p:nvPr/>
          </p:nvGrpSpPr>
          <p:grpSpPr>
            <a:xfrm>
              <a:off x="2785271" y="2237983"/>
              <a:ext cx="593280" cy="301735"/>
              <a:chOff x="-490" y="1664"/>
              <a:chExt cx="1429" cy="842"/>
            </a:xfrm>
          </p:grpSpPr>
          <p:sp>
            <p:nvSpPr>
              <p:cNvPr id="275" name="Google Shape;275;p19"/>
              <p:cNvSpPr/>
              <p:nvPr/>
            </p:nvSpPr>
            <p:spPr>
              <a:xfrm>
                <a:off x="-490" y="1664"/>
                <a:ext cx="1429" cy="294"/>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276" name="Google Shape;276;p19"/>
              <p:cNvGrpSpPr/>
              <p:nvPr/>
            </p:nvGrpSpPr>
            <p:grpSpPr>
              <a:xfrm>
                <a:off x="-427" y="1737"/>
                <a:ext cx="1217" cy="769"/>
                <a:chOff x="-427" y="1737"/>
                <a:chExt cx="1217" cy="769"/>
              </a:xfrm>
            </p:grpSpPr>
            <p:sp>
              <p:nvSpPr>
                <p:cNvPr id="277" name="Google Shape;277;p19"/>
                <p:cNvSpPr/>
                <p:nvPr/>
              </p:nvSpPr>
              <p:spPr>
                <a:xfrm>
                  <a:off x="-338" y="1923"/>
                  <a:ext cx="1128" cy="58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278" name="Google Shape;278;p19"/>
                <p:cNvCxnSpPr/>
                <p:nvPr/>
              </p:nvCxnSpPr>
              <p:spPr>
                <a:xfrm flipH="1" rot="10800000">
                  <a:off x="-150" y="2270"/>
                  <a:ext cx="230" cy="1"/>
                </a:xfrm>
                <a:prstGeom prst="straightConnector1">
                  <a:avLst/>
                </a:prstGeom>
                <a:noFill/>
                <a:ln cap="flat" cmpd="sng" w="9525">
                  <a:solidFill>
                    <a:schemeClr val="dk1"/>
                  </a:solidFill>
                  <a:prstDash val="solid"/>
                  <a:round/>
                  <a:headEnd len="med" w="med" type="none"/>
                  <a:tailEnd len="med" w="med" type="none"/>
                </a:ln>
              </p:spPr>
            </p:cxnSp>
            <p:grpSp>
              <p:nvGrpSpPr>
                <p:cNvPr id="279" name="Google Shape;279;p19"/>
                <p:cNvGrpSpPr/>
                <p:nvPr/>
              </p:nvGrpSpPr>
              <p:grpSpPr>
                <a:xfrm>
                  <a:off x="67" y="2192"/>
                  <a:ext cx="387" cy="139"/>
                  <a:chOff x="320" y="890"/>
                  <a:chExt cx="871" cy="339"/>
                </a:xfrm>
              </p:grpSpPr>
              <p:sp>
                <p:nvSpPr>
                  <p:cNvPr id="280" name="Google Shape;280;p19"/>
                  <p:cNvSpPr/>
                  <p:nvPr/>
                </p:nvSpPr>
                <p:spPr>
                  <a:xfrm>
                    <a:off x="320" y="1000"/>
                    <a:ext cx="871" cy="229"/>
                  </a:xfrm>
                  <a:prstGeom prst="rect">
                    <a:avLst/>
                  </a:prstGeom>
                  <a:solidFill>
                    <a:srgbClr val="D8D8D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81" name="Google Shape;281;p19"/>
                  <p:cNvSpPr/>
                  <p:nvPr/>
                </p:nvSpPr>
                <p:spPr>
                  <a:xfrm>
                    <a:off x="392" y="1074"/>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82" name="Google Shape;282;p19"/>
                  <p:cNvSpPr/>
                  <p:nvPr/>
                </p:nvSpPr>
                <p:spPr>
                  <a:xfrm>
                    <a:off x="464" y="1074"/>
                    <a:ext cx="54"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83" name="Google Shape;283;p19"/>
                  <p:cNvSpPr/>
                  <p:nvPr/>
                </p:nvSpPr>
                <p:spPr>
                  <a:xfrm>
                    <a:off x="536" y="1068"/>
                    <a:ext cx="60"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84" name="Google Shape;284;p19"/>
                  <p:cNvSpPr/>
                  <p:nvPr/>
                </p:nvSpPr>
                <p:spPr>
                  <a:xfrm>
                    <a:off x="615" y="1068"/>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85" name="Google Shape;285;p19"/>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BFBFB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286" name="Google Shape;286;p19"/>
                <p:cNvPicPr preferRelativeResize="0"/>
                <p:nvPr/>
              </p:nvPicPr>
              <p:blipFill rotWithShape="1">
                <a:blip r:embed="rId11">
                  <a:alphaModFix/>
                </a:blip>
                <a:srcRect b="0" l="0" r="0" t="0"/>
                <a:stretch/>
              </p:blipFill>
              <p:spPr>
                <a:xfrm>
                  <a:off x="-427" y="2049"/>
                  <a:ext cx="447" cy="411"/>
                </a:xfrm>
                <a:prstGeom prst="rect">
                  <a:avLst/>
                </a:prstGeom>
                <a:noFill/>
                <a:ln>
                  <a:noFill/>
                </a:ln>
              </p:spPr>
            </p:pic>
            <p:sp>
              <p:nvSpPr>
                <p:cNvPr id="287" name="Google Shape;287;p19"/>
                <p:cNvSpPr/>
                <p:nvPr/>
              </p:nvSpPr>
              <p:spPr>
                <a:xfrm>
                  <a:off x="528" y="2232"/>
                  <a:ext cx="104" cy="91"/>
                </a:xfrm>
                <a:prstGeom prst="rect">
                  <a:avLst/>
                </a:prstGeom>
                <a:solidFill>
                  <a:srgbClr val="00009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88" name="Google Shape;288;p19"/>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289" name="Google Shape;289;p19"/>
                <p:cNvCxnSpPr/>
                <p:nvPr/>
              </p:nvCxnSpPr>
              <p:spPr>
                <a:xfrm rot="10800000">
                  <a:off x="470" y="2270"/>
                  <a:ext cx="152" cy="0"/>
                </a:xfrm>
                <a:prstGeom prst="straightConnector1">
                  <a:avLst/>
                </a:prstGeom>
                <a:noFill/>
                <a:ln cap="flat" cmpd="sng" w="9525">
                  <a:solidFill>
                    <a:schemeClr val="dk1"/>
                  </a:solidFill>
                  <a:prstDash val="solid"/>
                  <a:round/>
                  <a:headEnd len="med" w="med" type="none"/>
                  <a:tailEnd len="med" w="med" type="none"/>
                </a:ln>
              </p:spPr>
            </p:cxnSp>
            <p:pic>
              <p:nvPicPr>
                <p:cNvPr descr="tv" id="290" name="Google Shape;290;p19"/>
                <p:cNvPicPr preferRelativeResize="0"/>
                <p:nvPr/>
              </p:nvPicPr>
              <p:blipFill rotWithShape="1">
                <a:blip r:embed="rId12">
                  <a:alphaModFix/>
                </a:blip>
                <a:srcRect b="0" l="0" r="0" t="0"/>
                <a:stretch/>
              </p:blipFill>
              <p:spPr>
                <a:xfrm>
                  <a:off x="2" y="1737"/>
                  <a:ext cx="476" cy="425"/>
                </a:xfrm>
                <a:prstGeom prst="rect">
                  <a:avLst/>
                </a:prstGeom>
                <a:noFill/>
                <a:ln>
                  <a:noFill/>
                </a:ln>
              </p:spPr>
            </p:pic>
          </p:grpSp>
        </p:grpSp>
        <p:grpSp>
          <p:nvGrpSpPr>
            <p:cNvPr id="291" name="Google Shape;291;p19"/>
            <p:cNvGrpSpPr/>
            <p:nvPr/>
          </p:nvGrpSpPr>
          <p:grpSpPr>
            <a:xfrm>
              <a:off x="3413970" y="2234348"/>
              <a:ext cx="593280" cy="301735"/>
              <a:chOff x="-490" y="1664"/>
              <a:chExt cx="1429" cy="842"/>
            </a:xfrm>
          </p:grpSpPr>
          <p:sp>
            <p:nvSpPr>
              <p:cNvPr id="292" name="Google Shape;292;p19"/>
              <p:cNvSpPr/>
              <p:nvPr/>
            </p:nvSpPr>
            <p:spPr>
              <a:xfrm>
                <a:off x="-490" y="1664"/>
                <a:ext cx="1429" cy="294"/>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293" name="Google Shape;293;p19"/>
              <p:cNvGrpSpPr/>
              <p:nvPr/>
            </p:nvGrpSpPr>
            <p:grpSpPr>
              <a:xfrm>
                <a:off x="-427" y="1737"/>
                <a:ext cx="1217" cy="769"/>
                <a:chOff x="-427" y="1737"/>
                <a:chExt cx="1217" cy="769"/>
              </a:xfrm>
            </p:grpSpPr>
            <p:sp>
              <p:nvSpPr>
                <p:cNvPr id="294" name="Google Shape;294;p19"/>
                <p:cNvSpPr/>
                <p:nvPr/>
              </p:nvSpPr>
              <p:spPr>
                <a:xfrm>
                  <a:off x="-338" y="1923"/>
                  <a:ext cx="1128" cy="58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295" name="Google Shape;295;p19"/>
                <p:cNvCxnSpPr/>
                <p:nvPr/>
              </p:nvCxnSpPr>
              <p:spPr>
                <a:xfrm flipH="1" rot="10800000">
                  <a:off x="-150" y="2270"/>
                  <a:ext cx="230" cy="1"/>
                </a:xfrm>
                <a:prstGeom prst="straightConnector1">
                  <a:avLst/>
                </a:prstGeom>
                <a:noFill/>
                <a:ln cap="flat" cmpd="sng" w="9525">
                  <a:solidFill>
                    <a:schemeClr val="dk1"/>
                  </a:solidFill>
                  <a:prstDash val="solid"/>
                  <a:round/>
                  <a:headEnd len="med" w="med" type="none"/>
                  <a:tailEnd len="med" w="med" type="none"/>
                </a:ln>
              </p:spPr>
            </p:cxnSp>
            <p:grpSp>
              <p:nvGrpSpPr>
                <p:cNvPr id="296" name="Google Shape;296;p19"/>
                <p:cNvGrpSpPr/>
                <p:nvPr/>
              </p:nvGrpSpPr>
              <p:grpSpPr>
                <a:xfrm>
                  <a:off x="67" y="2192"/>
                  <a:ext cx="387" cy="139"/>
                  <a:chOff x="320" y="890"/>
                  <a:chExt cx="871" cy="339"/>
                </a:xfrm>
              </p:grpSpPr>
              <p:sp>
                <p:nvSpPr>
                  <p:cNvPr id="297" name="Google Shape;297;p19"/>
                  <p:cNvSpPr/>
                  <p:nvPr/>
                </p:nvSpPr>
                <p:spPr>
                  <a:xfrm>
                    <a:off x="320" y="1000"/>
                    <a:ext cx="871" cy="229"/>
                  </a:xfrm>
                  <a:prstGeom prst="rect">
                    <a:avLst/>
                  </a:prstGeom>
                  <a:solidFill>
                    <a:srgbClr val="D8D8D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98" name="Google Shape;298;p19"/>
                  <p:cNvSpPr/>
                  <p:nvPr/>
                </p:nvSpPr>
                <p:spPr>
                  <a:xfrm>
                    <a:off x="392" y="1074"/>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99" name="Google Shape;299;p19"/>
                  <p:cNvSpPr/>
                  <p:nvPr/>
                </p:nvSpPr>
                <p:spPr>
                  <a:xfrm>
                    <a:off x="464" y="1074"/>
                    <a:ext cx="54"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00" name="Google Shape;300;p19"/>
                  <p:cNvSpPr/>
                  <p:nvPr/>
                </p:nvSpPr>
                <p:spPr>
                  <a:xfrm>
                    <a:off x="536" y="1068"/>
                    <a:ext cx="60"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01" name="Google Shape;301;p19"/>
                  <p:cNvSpPr/>
                  <p:nvPr/>
                </p:nvSpPr>
                <p:spPr>
                  <a:xfrm>
                    <a:off x="615" y="1068"/>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02" name="Google Shape;302;p19"/>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BFBFB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303" name="Google Shape;303;p19"/>
                <p:cNvPicPr preferRelativeResize="0"/>
                <p:nvPr/>
              </p:nvPicPr>
              <p:blipFill rotWithShape="1">
                <a:blip r:embed="rId11">
                  <a:alphaModFix/>
                </a:blip>
                <a:srcRect b="0" l="0" r="0" t="0"/>
                <a:stretch/>
              </p:blipFill>
              <p:spPr>
                <a:xfrm>
                  <a:off x="-427" y="2049"/>
                  <a:ext cx="447" cy="411"/>
                </a:xfrm>
                <a:prstGeom prst="rect">
                  <a:avLst/>
                </a:prstGeom>
                <a:noFill/>
                <a:ln>
                  <a:noFill/>
                </a:ln>
              </p:spPr>
            </p:pic>
            <p:sp>
              <p:nvSpPr>
                <p:cNvPr id="304" name="Google Shape;304;p19"/>
                <p:cNvSpPr/>
                <p:nvPr/>
              </p:nvSpPr>
              <p:spPr>
                <a:xfrm>
                  <a:off x="528" y="2232"/>
                  <a:ext cx="104" cy="91"/>
                </a:xfrm>
                <a:prstGeom prst="rect">
                  <a:avLst/>
                </a:prstGeom>
                <a:solidFill>
                  <a:srgbClr val="00009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05" name="Google Shape;305;p19"/>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06" name="Google Shape;306;p19"/>
                <p:cNvCxnSpPr/>
                <p:nvPr/>
              </p:nvCxnSpPr>
              <p:spPr>
                <a:xfrm rot="10800000">
                  <a:off x="470" y="2270"/>
                  <a:ext cx="152" cy="0"/>
                </a:xfrm>
                <a:prstGeom prst="straightConnector1">
                  <a:avLst/>
                </a:prstGeom>
                <a:noFill/>
                <a:ln cap="flat" cmpd="sng" w="9525">
                  <a:solidFill>
                    <a:schemeClr val="dk1"/>
                  </a:solidFill>
                  <a:prstDash val="solid"/>
                  <a:round/>
                  <a:headEnd len="med" w="med" type="none"/>
                  <a:tailEnd len="med" w="med" type="none"/>
                </a:ln>
              </p:spPr>
            </p:cxnSp>
            <p:pic>
              <p:nvPicPr>
                <p:cNvPr descr="tv" id="307" name="Google Shape;307;p19"/>
                <p:cNvPicPr preferRelativeResize="0"/>
                <p:nvPr/>
              </p:nvPicPr>
              <p:blipFill rotWithShape="1">
                <a:blip r:embed="rId12">
                  <a:alphaModFix/>
                </a:blip>
                <a:srcRect b="0" l="0" r="0" t="0"/>
                <a:stretch/>
              </p:blipFill>
              <p:spPr>
                <a:xfrm>
                  <a:off x="2" y="1737"/>
                  <a:ext cx="476" cy="425"/>
                </a:xfrm>
                <a:prstGeom prst="rect">
                  <a:avLst/>
                </a:prstGeom>
                <a:noFill/>
                <a:ln>
                  <a:noFill/>
                </a:ln>
              </p:spPr>
            </p:pic>
          </p:grpSp>
        </p:grpSp>
        <p:grpSp>
          <p:nvGrpSpPr>
            <p:cNvPr id="308" name="Google Shape;308;p19"/>
            <p:cNvGrpSpPr/>
            <p:nvPr/>
          </p:nvGrpSpPr>
          <p:grpSpPr>
            <a:xfrm>
              <a:off x="3450497" y="2724214"/>
              <a:ext cx="593280" cy="301735"/>
              <a:chOff x="-490" y="1664"/>
              <a:chExt cx="1429" cy="842"/>
            </a:xfrm>
          </p:grpSpPr>
          <p:sp>
            <p:nvSpPr>
              <p:cNvPr id="309" name="Google Shape;309;p19"/>
              <p:cNvSpPr/>
              <p:nvPr/>
            </p:nvSpPr>
            <p:spPr>
              <a:xfrm>
                <a:off x="-490" y="1664"/>
                <a:ext cx="1429" cy="294"/>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310" name="Google Shape;310;p19"/>
              <p:cNvGrpSpPr/>
              <p:nvPr/>
            </p:nvGrpSpPr>
            <p:grpSpPr>
              <a:xfrm>
                <a:off x="-427" y="1737"/>
                <a:ext cx="1217" cy="769"/>
                <a:chOff x="-427" y="1737"/>
                <a:chExt cx="1217" cy="769"/>
              </a:xfrm>
            </p:grpSpPr>
            <p:sp>
              <p:nvSpPr>
                <p:cNvPr id="311" name="Google Shape;311;p19"/>
                <p:cNvSpPr/>
                <p:nvPr/>
              </p:nvSpPr>
              <p:spPr>
                <a:xfrm>
                  <a:off x="-338" y="1923"/>
                  <a:ext cx="1128" cy="58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312" name="Google Shape;312;p19"/>
                <p:cNvCxnSpPr/>
                <p:nvPr/>
              </p:nvCxnSpPr>
              <p:spPr>
                <a:xfrm flipH="1" rot="10800000">
                  <a:off x="-150" y="2270"/>
                  <a:ext cx="230" cy="1"/>
                </a:xfrm>
                <a:prstGeom prst="straightConnector1">
                  <a:avLst/>
                </a:prstGeom>
                <a:noFill/>
                <a:ln cap="flat" cmpd="sng" w="9525">
                  <a:solidFill>
                    <a:schemeClr val="dk1"/>
                  </a:solidFill>
                  <a:prstDash val="solid"/>
                  <a:round/>
                  <a:headEnd len="med" w="med" type="none"/>
                  <a:tailEnd len="med" w="med" type="none"/>
                </a:ln>
              </p:spPr>
            </p:cxnSp>
            <p:grpSp>
              <p:nvGrpSpPr>
                <p:cNvPr id="313" name="Google Shape;313;p19"/>
                <p:cNvGrpSpPr/>
                <p:nvPr/>
              </p:nvGrpSpPr>
              <p:grpSpPr>
                <a:xfrm>
                  <a:off x="67" y="2192"/>
                  <a:ext cx="387" cy="139"/>
                  <a:chOff x="320" y="890"/>
                  <a:chExt cx="871" cy="339"/>
                </a:xfrm>
              </p:grpSpPr>
              <p:sp>
                <p:nvSpPr>
                  <p:cNvPr id="314" name="Google Shape;314;p19"/>
                  <p:cNvSpPr/>
                  <p:nvPr/>
                </p:nvSpPr>
                <p:spPr>
                  <a:xfrm>
                    <a:off x="320" y="1000"/>
                    <a:ext cx="871" cy="229"/>
                  </a:xfrm>
                  <a:prstGeom prst="rect">
                    <a:avLst/>
                  </a:prstGeom>
                  <a:solidFill>
                    <a:srgbClr val="D8D8D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15" name="Google Shape;315;p19"/>
                  <p:cNvSpPr/>
                  <p:nvPr/>
                </p:nvSpPr>
                <p:spPr>
                  <a:xfrm>
                    <a:off x="392" y="1074"/>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16" name="Google Shape;316;p19"/>
                  <p:cNvSpPr/>
                  <p:nvPr/>
                </p:nvSpPr>
                <p:spPr>
                  <a:xfrm>
                    <a:off x="464" y="1074"/>
                    <a:ext cx="54"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17" name="Google Shape;317;p19"/>
                  <p:cNvSpPr/>
                  <p:nvPr/>
                </p:nvSpPr>
                <p:spPr>
                  <a:xfrm>
                    <a:off x="536" y="1068"/>
                    <a:ext cx="60"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18" name="Google Shape;318;p19"/>
                  <p:cNvSpPr/>
                  <p:nvPr/>
                </p:nvSpPr>
                <p:spPr>
                  <a:xfrm>
                    <a:off x="615" y="1068"/>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19" name="Google Shape;319;p19"/>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BFBFB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320" name="Google Shape;320;p19"/>
                <p:cNvPicPr preferRelativeResize="0"/>
                <p:nvPr/>
              </p:nvPicPr>
              <p:blipFill rotWithShape="1">
                <a:blip r:embed="rId11">
                  <a:alphaModFix/>
                </a:blip>
                <a:srcRect b="0" l="0" r="0" t="0"/>
                <a:stretch/>
              </p:blipFill>
              <p:spPr>
                <a:xfrm>
                  <a:off x="-427" y="2049"/>
                  <a:ext cx="447" cy="411"/>
                </a:xfrm>
                <a:prstGeom prst="rect">
                  <a:avLst/>
                </a:prstGeom>
                <a:noFill/>
                <a:ln>
                  <a:noFill/>
                </a:ln>
              </p:spPr>
            </p:pic>
            <p:sp>
              <p:nvSpPr>
                <p:cNvPr id="321" name="Google Shape;321;p19"/>
                <p:cNvSpPr/>
                <p:nvPr/>
              </p:nvSpPr>
              <p:spPr>
                <a:xfrm>
                  <a:off x="528" y="2232"/>
                  <a:ext cx="104" cy="91"/>
                </a:xfrm>
                <a:prstGeom prst="rect">
                  <a:avLst/>
                </a:prstGeom>
                <a:solidFill>
                  <a:srgbClr val="00009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22" name="Google Shape;322;p19"/>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23" name="Google Shape;323;p19"/>
                <p:cNvCxnSpPr/>
                <p:nvPr/>
              </p:nvCxnSpPr>
              <p:spPr>
                <a:xfrm rot="10800000">
                  <a:off x="470" y="2270"/>
                  <a:ext cx="152" cy="0"/>
                </a:xfrm>
                <a:prstGeom prst="straightConnector1">
                  <a:avLst/>
                </a:prstGeom>
                <a:noFill/>
                <a:ln cap="flat" cmpd="sng" w="9525">
                  <a:solidFill>
                    <a:schemeClr val="dk1"/>
                  </a:solidFill>
                  <a:prstDash val="solid"/>
                  <a:round/>
                  <a:headEnd len="med" w="med" type="none"/>
                  <a:tailEnd len="med" w="med" type="none"/>
                </a:ln>
              </p:spPr>
            </p:cxnSp>
            <p:pic>
              <p:nvPicPr>
                <p:cNvPr descr="tv" id="324" name="Google Shape;324;p19"/>
                <p:cNvPicPr preferRelativeResize="0"/>
                <p:nvPr/>
              </p:nvPicPr>
              <p:blipFill rotWithShape="1">
                <a:blip r:embed="rId12">
                  <a:alphaModFix/>
                </a:blip>
                <a:srcRect b="0" l="0" r="0" t="0"/>
                <a:stretch/>
              </p:blipFill>
              <p:spPr>
                <a:xfrm>
                  <a:off x="2" y="1737"/>
                  <a:ext cx="476" cy="425"/>
                </a:xfrm>
                <a:prstGeom prst="rect">
                  <a:avLst/>
                </a:prstGeom>
                <a:noFill/>
                <a:ln>
                  <a:noFill/>
                </a:ln>
              </p:spPr>
            </p:pic>
          </p:grpSp>
        </p:grpSp>
        <p:cxnSp>
          <p:nvCxnSpPr>
            <p:cNvPr id="325" name="Google Shape;325;p19"/>
            <p:cNvCxnSpPr/>
            <p:nvPr/>
          </p:nvCxnSpPr>
          <p:spPr>
            <a:xfrm>
              <a:off x="3228924" y="2657308"/>
              <a:ext cx="1809924" cy="6013"/>
            </a:xfrm>
            <a:prstGeom prst="straightConnector1">
              <a:avLst/>
            </a:prstGeom>
            <a:noFill/>
            <a:ln cap="flat" cmpd="sng" w="19050">
              <a:solidFill>
                <a:schemeClr val="dk1"/>
              </a:solidFill>
              <a:prstDash val="solid"/>
              <a:round/>
              <a:headEnd len="med" w="med" type="none"/>
              <a:tailEnd len="med" w="med" type="none"/>
            </a:ln>
          </p:spPr>
        </p:cxnSp>
        <p:grpSp>
          <p:nvGrpSpPr>
            <p:cNvPr id="326" name="Google Shape;326;p19"/>
            <p:cNvGrpSpPr/>
            <p:nvPr/>
          </p:nvGrpSpPr>
          <p:grpSpPr>
            <a:xfrm>
              <a:off x="4209807" y="2238892"/>
              <a:ext cx="593280" cy="301735"/>
              <a:chOff x="-490" y="1664"/>
              <a:chExt cx="1429" cy="842"/>
            </a:xfrm>
          </p:grpSpPr>
          <p:sp>
            <p:nvSpPr>
              <p:cNvPr id="327" name="Google Shape;327;p19"/>
              <p:cNvSpPr/>
              <p:nvPr/>
            </p:nvSpPr>
            <p:spPr>
              <a:xfrm>
                <a:off x="-490" y="1664"/>
                <a:ext cx="1429" cy="294"/>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328" name="Google Shape;328;p19"/>
              <p:cNvGrpSpPr/>
              <p:nvPr/>
            </p:nvGrpSpPr>
            <p:grpSpPr>
              <a:xfrm>
                <a:off x="-427" y="1737"/>
                <a:ext cx="1217" cy="769"/>
                <a:chOff x="-427" y="1737"/>
                <a:chExt cx="1217" cy="769"/>
              </a:xfrm>
            </p:grpSpPr>
            <p:sp>
              <p:nvSpPr>
                <p:cNvPr id="329" name="Google Shape;329;p19"/>
                <p:cNvSpPr/>
                <p:nvPr/>
              </p:nvSpPr>
              <p:spPr>
                <a:xfrm>
                  <a:off x="-338" y="1923"/>
                  <a:ext cx="1128" cy="58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330" name="Google Shape;330;p19"/>
                <p:cNvCxnSpPr/>
                <p:nvPr/>
              </p:nvCxnSpPr>
              <p:spPr>
                <a:xfrm flipH="1" rot="10800000">
                  <a:off x="-150" y="2270"/>
                  <a:ext cx="230" cy="1"/>
                </a:xfrm>
                <a:prstGeom prst="straightConnector1">
                  <a:avLst/>
                </a:prstGeom>
                <a:noFill/>
                <a:ln cap="flat" cmpd="sng" w="9525">
                  <a:solidFill>
                    <a:schemeClr val="dk1"/>
                  </a:solidFill>
                  <a:prstDash val="solid"/>
                  <a:round/>
                  <a:headEnd len="med" w="med" type="none"/>
                  <a:tailEnd len="med" w="med" type="none"/>
                </a:ln>
              </p:spPr>
            </p:cxnSp>
            <p:grpSp>
              <p:nvGrpSpPr>
                <p:cNvPr id="331" name="Google Shape;331;p19"/>
                <p:cNvGrpSpPr/>
                <p:nvPr/>
              </p:nvGrpSpPr>
              <p:grpSpPr>
                <a:xfrm>
                  <a:off x="67" y="2192"/>
                  <a:ext cx="387" cy="139"/>
                  <a:chOff x="320" y="890"/>
                  <a:chExt cx="871" cy="339"/>
                </a:xfrm>
              </p:grpSpPr>
              <p:sp>
                <p:nvSpPr>
                  <p:cNvPr id="332" name="Google Shape;332;p19"/>
                  <p:cNvSpPr/>
                  <p:nvPr/>
                </p:nvSpPr>
                <p:spPr>
                  <a:xfrm>
                    <a:off x="320" y="1000"/>
                    <a:ext cx="871" cy="229"/>
                  </a:xfrm>
                  <a:prstGeom prst="rect">
                    <a:avLst/>
                  </a:prstGeom>
                  <a:solidFill>
                    <a:srgbClr val="D8D8D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33" name="Google Shape;333;p19"/>
                  <p:cNvSpPr/>
                  <p:nvPr/>
                </p:nvSpPr>
                <p:spPr>
                  <a:xfrm>
                    <a:off x="392" y="1074"/>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34" name="Google Shape;334;p19"/>
                  <p:cNvSpPr/>
                  <p:nvPr/>
                </p:nvSpPr>
                <p:spPr>
                  <a:xfrm>
                    <a:off x="464" y="1074"/>
                    <a:ext cx="54"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35" name="Google Shape;335;p19"/>
                  <p:cNvSpPr/>
                  <p:nvPr/>
                </p:nvSpPr>
                <p:spPr>
                  <a:xfrm>
                    <a:off x="536" y="1068"/>
                    <a:ext cx="60"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36" name="Google Shape;336;p19"/>
                  <p:cNvSpPr/>
                  <p:nvPr/>
                </p:nvSpPr>
                <p:spPr>
                  <a:xfrm>
                    <a:off x="615" y="1068"/>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37" name="Google Shape;337;p19"/>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BFBFB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338" name="Google Shape;338;p19"/>
                <p:cNvPicPr preferRelativeResize="0"/>
                <p:nvPr/>
              </p:nvPicPr>
              <p:blipFill rotWithShape="1">
                <a:blip r:embed="rId11">
                  <a:alphaModFix/>
                </a:blip>
                <a:srcRect b="0" l="0" r="0" t="0"/>
                <a:stretch/>
              </p:blipFill>
              <p:spPr>
                <a:xfrm>
                  <a:off x="-427" y="2049"/>
                  <a:ext cx="447" cy="411"/>
                </a:xfrm>
                <a:prstGeom prst="rect">
                  <a:avLst/>
                </a:prstGeom>
                <a:noFill/>
                <a:ln>
                  <a:noFill/>
                </a:ln>
              </p:spPr>
            </p:pic>
            <p:sp>
              <p:nvSpPr>
                <p:cNvPr id="339" name="Google Shape;339;p19"/>
                <p:cNvSpPr/>
                <p:nvPr/>
              </p:nvSpPr>
              <p:spPr>
                <a:xfrm>
                  <a:off x="528" y="2232"/>
                  <a:ext cx="104" cy="91"/>
                </a:xfrm>
                <a:prstGeom prst="rect">
                  <a:avLst/>
                </a:prstGeom>
                <a:solidFill>
                  <a:srgbClr val="00009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40" name="Google Shape;340;p19"/>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41" name="Google Shape;341;p19"/>
                <p:cNvCxnSpPr/>
                <p:nvPr/>
              </p:nvCxnSpPr>
              <p:spPr>
                <a:xfrm rot="10800000">
                  <a:off x="470" y="2270"/>
                  <a:ext cx="152" cy="0"/>
                </a:xfrm>
                <a:prstGeom prst="straightConnector1">
                  <a:avLst/>
                </a:prstGeom>
                <a:noFill/>
                <a:ln cap="flat" cmpd="sng" w="9525">
                  <a:solidFill>
                    <a:schemeClr val="dk1"/>
                  </a:solidFill>
                  <a:prstDash val="solid"/>
                  <a:round/>
                  <a:headEnd len="med" w="med" type="none"/>
                  <a:tailEnd len="med" w="med" type="none"/>
                </a:ln>
              </p:spPr>
            </p:cxnSp>
            <p:pic>
              <p:nvPicPr>
                <p:cNvPr descr="tv" id="342" name="Google Shape;342;p19"/>
                <p:cNvPicPr preferRelativeResize="0"/>
                <p:nvPr/>
              </p:nvPicPr>
              <p:blipFill rotWithShape="1">
                <a:blip r:embed="rId12">
                  <a:alphaModFix/>
                </a:blip>
                <a:srcRect b="0" l="0" r="0" t="0"/>
                <a:stretch/>
              </p:blipFill>
              <p:spPr>
                <a:xfrm>
                  <a:off x="2" y="1737"/>
                  <a:ext cx="476" cy="425"/>
                </a:xfrm>
                <a:prstGeom prst="rect">
                  <a:avLst/>
                </a:prstGeom>
                <a:noFill/>
                <a:ln>
                  <a:noFill/>
                </a:ln>
              </p:spPr>
            </p:pic>
          </p:grpSp>
        </p:grpSp>
        <p:sp>
          <p:nvSpPr>
            <p:cNvPr id="343" name="Google Shape;343;p19"/>
            <p:cNvSpPr txBox="1"/>
            <p:nvPr/>
          </p:nvSpPr>
          <p:spPr>
            <a:xfrm>
              <a:off x="3938624" y="2278881"/>
              <a:ext cx="340915" cy="2617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69696"/>
                </a:buClr>
                <a:buSzPts val="2400"/>
                <a:buFont typeface="Times New Roman"/>
                <a:buNone/>
              </a:pPr>
              <a:r>
                <a:rPr b="0" i="0" lang="en-US" sz="2400" u="none" cap="none" strike="noStrike">
                  <a:solidFill>
                    <a:srgbClr val="969696"/>
                  </a:solidFill>
                  <a:latin typeface="Times New Roman"/>
                  <a:ea typeface="Times New Roman"/>
                  <a:cs typeface="Times New Roman"/>
                  <a:sym typeface="Times New Roman"/>
                </a:rPr>
                <a:t>…</a:t>
              </a:r>
              <a:endParaRPr/>
            </a:p>
          </p:txBody>
        </p:sp>
        <p:cxnSp>
          <p:nvCxnSpPr>
            <p:cNvPr id="344" name="Google Shape;344;p19"/>
            <p:cNvCxnSpPr/>
            <p:nvPr/>
          </p:nvCxnSpPr>
          <p:spPr>
            <a:xfrm flipH="1">
              <a:off x="3228017" y="2474282"/>
              <a:ext cx="2214" cy="190857"/>
            </a:xfrm>
            <a:prstGeom prst="straightConnector1">
              <a:avLst/>
            </a:prstGeom>
            <a:noFill/>
            <a:ln cap="flat" cmpd="sng" w="9525">
              <a:solidFill>
                <a:schemeClr val="dk1"/>
              </a:solidFill>
              <a:prstDash val="solid"/>
              <a:round/>
              <a:headEnd len="med" w="med" type="none"/>
              <a:tailEnd len="med" w="med" type="none"/>
            </a:ln>
          </p:spPr>
        </p:cxnSp>
        <p:cxnSp>
          <p:nvCxnSpPr>
            <p:cNvPr id="345" name="Google Shape;345;p19"/>
            <p:cNvCxnSpPr/>
            <p:nvPr/>
          </p:nvCxnSpPr>
          <p:spPr>
            <a:xfrm flipH="1">
              <a:off x="3858930" y="2474282"/>
              <a:ext cx="2214" cy="190857"/>
            </a:xfrm>
            <a:prstGeom prst="straightConnector1">
              <a:avLst/>
            </a:prstGeom>
            <a:noFill/>
            <a:ln cap="flat" cmpd="sng" w="9525">
              <a:solidFill>
                <a:schemeClr val="dk1"/>
              </a:solidFill>
              <a:prstDash val="solid"/>
              <a:round/>
              <a:headEnd len="med" w="med" type="none"/>
              <a:tailEnd len="med" w="med" type="none"/>
            </a:ln>
          </p:spPr>
        </p:cxnSp>
        <p:cxnSp>
          <p:nvCxnSpPr>
            <p:cNvPr id="346" name="Google Shape;346;p19"/>
            <p:cNvCxnSpPr/>
            <p:nvPr/>
          </p:nvCxnSpPr>
          <p:spPr>
            <a:xfrm flipH="1">
              <a:off x="4651446" y="2474282"/>
              <a:ext cx="2214" cy="190857"/>
            </a:xfrm>
            <a:prstGeom prst="straightConnector1">
              <a:avLst/>
            </a:prstGeom>
            <a:noFill/>
            <a:ln cap="flat" cmpd="sng" w="9525">
              <a:solidFill>
                <a:schemeClr val="dk1"/>
              </a:solidFill>
              <a:prstDash val="solid"/>
              <a:round/>
              <a:headEnd len="med" w="med" type="none"/>
              <a:tailEnd len="med" w="med" type="none"/>
            </a:ln>
          </p:spPr>
        </p:cxnSp>
        <p:sp>
          <p:nvSpPr>
            <p:cNvPr id="347" name="Google Shape;347;p19"/>
            <p:cNvSpPr/>
            <p:nvPr/>
          </p:nvSpPr>
          <p:spPr>
            <a:xfrm>
              <a:off x="3918701" y="2666956"/>
              <a:ext cx="88549" cy="272652"/>
            </a:xfrm>
            <a:custGeom>
              <a:rect b="b" l="l" r="r" t="t"/>
              <a:pathLst>
                <a:path extrusionOk="0" h="300" w="80">
                  <a:moveTo>
                    <a:pt x="0" y="300"/>
                  </a:moveTo>
                  <a:lnTo>
                    <a:pt x="80" y="300"/>
                  </a:lnTo>
                  <a:lnTo>
                    <a:pt x="8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8" name="Google Shape;348;p19"/>
            <p:cNvSpPr/>
            <p:nvPr/>
          </p:nvSpPr>
          <p:spPr>
            <a:xfrm>
              <a:off x="4856216" y="2419752"/>
              <a:ext cx="666333" cy="400799"/>
            </a:xfrm>
            <a:prstGeom prst="rect">
              <a:avLst/>
            </a:prstGeom>
            <a:noFill/>
            <a:ln cap="flat" cmpd="sng" w="9525">
              <a:solidFill>
                <a:schemeClr val="dk1"/>
              </a:solidFill>
              <a:prstDash val="dashDot"/>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349" name="Google Shape;349;p19"/>
            <p:cNvSpPr txBox="1"/>
            <p:nvPr/>
          </p:nvSpPr>
          <p:spPr>
            <a:xfrm>
              <a:off x="4528002" y="1769663"/>
              <a:ext cx="1342627" cy="169954"/>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cable headend</a:t>
              </a:r>
              <a:endParaRPr/>
            </a:p>
          </p:txBody>
        </p:sp>
        <p:sp>
          <p:nvSpPr>
            <p:cNvPr id="350" name="Google Shape;350;p19"/>
            <p:cNvSpPr/>
            <p:nvPr/>
          </p:nvSpPr>
          <p:spPr>
            <a:xfrm>
              <a:off x="5035528" y="2524269"/>
              <a:ext cx="230228" cy="259929"/>
            </a:xfrm>
            <a:custGeom>
              <a:rect b="b" l="l" r="r" t="t"/>
              <a:pathLst>
                <a:path extrusionOk="0" h="412" w="318">
                  <a:moveTo>
                    <a:pt x="0" y="412"/>
                  </a:moveTo>
                  <a:lnTo>
                    <a:pt x="3" y="1"/>
                  </a:lnTo>
                  <a:lnTo>
                    <a:pt x="74" y="0"/>
                  </a:lnTo>
                  <a:lnTo>
                    <a:pt x="254" y="111"/>
                  </a:lnTo>
                  <a:lnTo>
                    <a:pt x="318" y="115"/>
                  </a:lnTo>
                  <a:lnTo>
                    <a:pt x="318" y="308"/>
                  </a:lnTo>
                  <a:lnTo>
                    <a:pt x="246" y="308"/>
                  </a:lnTo>
                  <a:lnTo>
                    <a:pt x="74" y="412"/>
                  </a:lnTo>
                  <a:lnTo>
                    <a:pt x="0" y="412"/>
                  </a:lnTo>
                  <a:close/>
                </a:path>
              </a:pathLst>
            </a:custGeom>
            <a:gradFill>
              <a:gsLst>
                <a:gs pos="0">
                  <a:schemeClr val="lt1"/>
                </a:gs>
                <a:gs pos="100000">
                  <a:srgbClr val="8DA9DB"/>
                </a:gs>
              </a:gsLst>
              <a:lin ang="0" scaled="0"/>
            </a:gra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1" name="Google Shape;351;p19"/>
            <p:cNvSpPr/>
            <p:nvPr/>
          </p:nvSpPr>
          <p:spPr>
            <a:xfrm>
              <a:off x="5036635" y="2487006"/>
              <a:ext cx="255686" cy="232663"/>
            </a:xfrm>
            <a:custGeom>
              <a:rect b="b" l="l" r="r" t="t"/>
              <a:pathLst>
                <a:path extrusionOk="0" h="369" w="353">
                  <a:moveTo>
                    <a:pt x="0" y="59"/>
                  </a:moveTo>
                  <a:lnTo>
                    <a:pt x="32" y="0"/>
                  </a:lnTo>
                  <a:lnTo>
                    <a:pt x="105" y="0"/>
                  </a:lnTo>
                  <a:lnTo>
                    <a:pt x="276" y="113"/>
                  </a:lnTo>
                  <a:lnTo>
                    <a:pt x="353" y="113"/>
                  </a:lnTo>
                  <a:lnTo>
                    <a:pt x="353" y="315"/>
                  </a:lnTo>
                  <a:lnTo>
                    <a:pt x="318" y="369"/>
                  </a:lnTo>
                  <a:lnTo>
                    <a:pt x="315" y="173"/>
                  </a:lnTo>
                  <a:lnTo>
                    <a:pt x="254" y="173"/>
                  </a:lnTo>
                  <a:lnTo>
                    <a:pt x="75" y="60"/>
                  </a:lnTo>
                  <a:lnTo>
                    <a:pt x="0" y="59"/>
                  </a:lnTo>
                  <a:close/>
                </a:path>
              </a:pathLst>
            </a:custGeom>
            <a:solidFill>
              <a:srgbClr val="2F5496"/>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52" name="Google Shape;352;p19"/>
            <p:cNvCxnSpPr/>
            <p:nvPr/>
          </p:nvCxnSpPr>
          <p:spPr>
            <a:xfrm flipH="1">
              <a:off x="5263542" y="2557895"/>
              <a:ext cx="24351" cy="39080"/>
            </a:xfrm>
            <a:prstGeom prst="straightConnector1">
              <a:avLst/>
            </a:prstGeom>
            <a:noFill/>
            <a:ln cap="flat" cmpd="sng" w="9525">
              <a:solidFill>
                <a:schemeClr val="dk1"/>
              </a:solidFill>
              <a:prstDash val="solid"/>
              <a:round/>
              <a:headEnd len="med" w="med" type="none"/>
              <a:tailEnd len="med" w="med" type="none"/>
            </a:ln>
          </p:spPr>
        </p:cxnSp>
        <p:cxnSp>
          <p:nvCxnSpPr>
            <p:cNvPr id="353" name="Google Shape;353;p19"/>
            <p:cNvCxnSpPr/>
            <p:nvPr/>
          </p:nvCxnSpPr>
          <p:spPr>
            <a:xfrm>
              <a:off x="5055452" y="2656050"/>
              <a:ext cx="187060" cy="0"/>
            </a:xfrm>
            <a:prstGeom prst="straightConnector1">
              <a:avLst/>
            </a:prstGeom>
            <a:noFill/>
            <a:ln cap="flat" cmpd="sng" w="9525">
              <a:solidFill>
                <a:schemeClr val="dk1"/>
              </a:solidFill>
              <a:prstDash val="solid"/>
              <a:round/>
              <a:headEnd len="med" w="med" type="none"/>
              <a:tailEnd len="med" w="med" type="triangle"/>
            </a:ln>
          </p:spPr>
        </p:cxnSp>
        <p:sp>
          <p:nvSpPr>
            <p:cNvPr id="354" name="Google Shape;354;p19"/>
            <p:cNvSpPr/>
            <p:nvPr/>
          </p:nvSpPr>
          <p:spPr>
            <a:xfrm>
              <a:off x="5051024" y="2555169"/>
              <a:ext cx="191487" cy="66345"/>
            </a:xfrm>
            <a:custGeom>
              <a:rect b="b" l="l" r="r" t="t"/>
              <a:pathLst>
                <a:path extrusionOk="0" h="105" w="264">
                  <a:moveTo>
                    <a:pt x="0" y="0"/>
                  </a:moveTo>
                  <a:lnTo>
                    <a:pt x="52" y="0"/>
                  </a:lnTo>
                  <a:lnTo>
                    <a:pt x="207" y="105"/>
                  </a:lnTo>
                  <a:lnTo>
                    <a:pt x="264" y="105"/>
                  </a:lnTo>
                </a:path>
              </a:pathLst>
            </a:custGeom>
            <a:noFill/>
            <a:ln cap="flat" cmpd="sng" w="9525">
              <a:solidFill>
                <a:schemeClr val="dk1"/>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 name="Google Shape;355;p19"/>
            <p:cNvSpPr/>
            <p:nvPr/>
          </p:nvSpPr>
          <p:spPr>
            <a:xfrm flipH="1" rot="10800000">
              <a:off x="5051024" y="2690586"/>
              <a:ext cx="191487" cy="65437"/>
            </a:xfrm>
            <a:custGeom>
              <a:rect b="b" l="l" r="r" t="t"/>
              <a:pathLst>
                <a:path extrusionOk="0" h="105" w="264">
                  <a:moveTo>
                    <a:pt x="0" y="0"/>
                  </a:moveTo>
                  <a:lnTo>
                    <a:pt x="52" y="0"/>
                  </a:lnTo>
                  <a:lnTo>
                    <a:pt x="207" y="105"/>
                  </a:lnTo>
                  <a:lnTo>
                    <a:pt x="264" y="105"/>
                  </a:lnTo>
                </a:path>
              </a:pathLst>
            </a:custGeom>
            <a:noFill/>
            <a:ln cap="flat" cmpd="sng" w="9525">
              <a:solidFill>
                <a:schemeClr val="dk1"/>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6" name="Google Shape;356;p19"/>
            <p:cNvSpPr/>
            <p:nvPr/>
          </p:nvSpPr>
          <p:spPr>
            <a:xfrm>
              <a:off x="4758812" y="2268884"/>
              <a:ext cx="841218" cy="149959"/>
            </a:xfrm>
            <a:prstGeom prst="triangle">
              <a:avLst>
                <a:gd fmla="val 50000" name="adj"/>
              </a:avLst>
            </a:prstGeom>
            <a:noFill/>
            <a:ln cap="flat" cmpd="sng" w="9525">
              <a:solidFill>
                <a:schemeClr val="dk1"/>
              </a:solidFill>
              <a:prstDash val="dashDot"/>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357" name="Google Shape;357;p19"/>
            <p:cNvGrpSpPr/>
            <p:nvPr/>
          </p:nvGrpSpPr>
          <p:grpSpPr>
            <a:xfrm>
              <a:off x="5386741" y="2513863"/>
              <a:ext cx="367224" cy="240304"/>
              <a:chOff x="7493876" y="2774731"/>
              <a:chExt cx="1481958" cy="894622"/>
            </a:xfrm>
          </p:grpSpPr>
          <p:sp>
            <p:nvSpPr>
              <p:cNvPr id="358" name="Google Shape;358;p1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359" name="Google Shape;359;p1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360" name="Google Shape;360;p19"/>
              <p:cNvGrpSpPr/>
              <p:nvPr/>
            </p:nvGrpSpPr>
            <p:grpSpPr>
              <a:xfrm>
                <a:off x="7713663" y="2848339"/>
                <a:ext cx="1042107" cy="425543"/>
                <a:chOff x="7786941" y="2884917"/>
                <a:chExt cx="897649" cy="353919"/>
              </a:xfrm>
            </p:grpSpPr>
            <p:sp>
              <p:nvSpPr>
                <p:cNvPr id="361" name="Google Shape;361;p1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2" name="Google Shape;362;p1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3" name="Google Shape;363;p1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4" name="Google Shape;364;p1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sp>
        <p:nvSpPr>
          <p:cNvPr id="365" name="Google Shape;365;p19"/>
          <p:cNvSpPr/>
          <p:nvPr/>
        </p:nvSpPr>
        <p:spPr>
          <a:xfrm>
            <a:off x="3314700" y="1800225"/>
            <a:ext cx="4957763" cy="2171700"/>
          </a:xfrm>
          <a:custGeom>
            <a:rect b="b" l="l" r="r" t="t"/>
            <a:pathLst>
              <a:path extrusionOk="0" h="2171700" w="4957763">
                <a:moveTo>
                  <a:pt x="14288" y="2171700"/>
                </a:moveTo>
                <a:lnTo>
                  <a:pt x="0" y="871538"/>
                </a:lnTo>
                <a:lnTo>
                  <a:pt x="4029075" y="885825"/>
                </a:lnTo>
                <a:lnTo>
                  <a:pt x="4957763" y="0"/>
                </a:lnTo>
              </a:path>
            </a:pathLst>
          </a:custGeom>
          <a:noFill/>
          <a:ln cap="flat" cmpd="sng" w="79375">
            <a:solidFill>
              <a:srgbClr val="C00000">
                <a:alpha val="93725"/>
              </a:srgbClr>
            </a:solidFill>
            <a:prstDash val="solid"/>
            <a:miter lim="800000"/>
            <a:headEnd len="med" w="med" type="triangl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6" name="Google Shape;366;p19"/>
          <p:cNvSpPr txBox="1"/>
          <p:nvPr/>
        </p:nvSpPr>
        <p:spPr>
          <a:xfrm>
            <a:off x="328612" y="5457826"/>
            <a:ext cx="6829425"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3200">
                <a:solidFill>
                  <a:schemeClr val="dk1"/>
                </a:solidFill>
                <a:latin typeface="Calibri"/>
                <a:ea typeface="Calibri"/>
                <a:cs typeface="Calibri"/>
                <a:sym typeface="Calibri"/>
              </a:rPr>
              <a:t>Speedtest</a:t>
            </a:r>
            <a:r>
              <a:rPr lang="en-US" sz="3200">
                <a:solidFill>
                  <a:schemeClr val="dk1"/>
                </a:solidFill>
                <a:latin typeface="Calibri"/>
                <a:ea typeface="Calibri"/>
                <a:cs typeface="Calibri"/>
                <a:sym typeface="Calibri"/>
              </a:rPr>
              <a:t> from house (via home  </a:t>
            </a:r>
            <a:r>
              <a:rPr lang="en-US" sz="3200">
                <a:solidFill>
                  <a:srgbClr val="C00000"/>
                </a:solidFill>
                <a:latin typeface="Calibri"/>
                <a:ea typeface="Calibri"/>
                <a:cs typeface="Calibri"/>
                <a:sym typeface="Calibri"/>
              </a:rPr>
              <a:t>cable access net</a:t>
            </a:r>
            <a:r>
              <a:rPr lang="en-US" sz="3200">
                <a:solidFill>
                  <a:schemeClr val="dk1"/>
                </a:solidFill>
                <a:latin typeface="Calibri"/>
                <a:ea typeface="Calibri"/>
                <a:cs typeface="Calibri"/>
                <a:sym typeface="Calibri"/>
              </a:rPr>
              <a:t>) to Boston Comcast server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500"/>
                                        <p:tgtEl>
                                          <p:spTgt spid="191"/>
                                        </p:tgtEl>
                                      </p:cBhvr>
                                    </p:animEffect>
                                  </p:childTnLst>
                                </p:cTn>
                              </p:par>
                              <p:par>
                                <p:cTn fill="hold" nodeType="with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500"/>
                                        <p:tgtEl>
                                          <p:spTgt spid="273"/>
                                        </p:tgtEl>
                                      </p:cBhvr>
                                    </p:animEffect>
                                  </p:childTnLst>
                                </p:cTn>
                              </p:par>
                              <p:par>
                                <p:cTn fill="hold" nodeType="with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500"/>
                                        <p:tgtEl>
                                          <p:spTgt spid="229"/>
                                        </p:tgtEl>
                                      </p:cBhvr>
                                    </p:animEffect>
                                  </p:childTnLst>
                                </p:cTn>
                              </p:par>
                              <p:par>
                                <p:cTn fill="hold" nodeType="withEffect" presetClass="entr" presetID="10" presetSubtype="0">
                                  <p:stCondLst>
                                    <p:cond delay="0"/>
                                  </p:stCondLst>
                                  <p:childTnLst>
                                    <p:set>
                                      <p:cBhvr>
                                        <p:cTn dur="1" fill="hold">
                                          <p:stCondLst>
                                            <p:cond delay="0"/>
                                          </p:stCondLst>
                                        </p:cTn>
                                        <p:tgtEl>
                                          <p:spTgt spid="228"/>
                                        </p:tgtEl>
                                        <p:attrNameLst>
                                          <p:attrName>style.visibility</p:attrName>
                                        </p:attrNameLst>
                                      </p:cBhvr>
                                      <p:to>
                                        <p:strVal val="visible"/>
                                      </p:to>
                                    </p:set>
                                    <p:animEffect filter="fade" transition="in">
                                      <p:cBhvr>
                                        <p:cTn dur="500"/>
                                        <p:tgtEl>
                                          <p:spTgt spid="2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500"/>
                                        <p:tgtEl>
                                          <p:spTgt spid="3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0"/>
          <p:cNvSpPr/>
          <p:nvPr/>
        </p:nvSpPr>
        <p:spPr>
          <a:xfrm>
            <a:off x="0" y="0"/>
            <a:ext cx="12192000" cy="849086"/>
          </a:xfrm>
          <a:prstGeom prst="rect">
            <a:avLst/>
          </a:prstGeom>
          <a:solidFill>
            <a:srgbClr val="F7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3" name="Google Shape;373;p20"/>
          <p:cNvSpPr/>
          <p:nvPr/>
        </p:nvSpPr>
        <p:spPr>
          <a:xfrm>
            <a:off x="0" y="0"/>
            <a:ext cx="2507673" cy="6816436"/>
          </a:xfrm>
          <a:prstGeom prst="rect">
            <a:avLst/>
          </a:prstGeom>
          <a:solidFill>
            <a:srgbClr val="F7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4" name="Google Shape;374;p20"/>
          <p:cNvSpPr/>
          <p:nvPr/>
        </p:nvSpPr>
        <p:spPr>
          <a:xfrm>
            <a:off x="9684327" y="0"/>
            <a:ext cx="2507673" cy="6816436"/>
          </a:xfrm>
          <a:prstGeom prst="rect">
            <a:avLst/>
          </a:prstGeom>
          <a:solidFill>
            <a:srgbClr val="F7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5" name="Google Shape;375;p20"/>
          <p:cNvSpPr/>
          <p:nvPr/>
        </p:nvSpPr>
        <p:spPr>
          <a:xfrm>
            <a:off x="0" y="6008914"/>
            <a:ext cx="12192000" cy="849086"/>
          </a:xfrm>
          <a:prstGeom prst="rect">
            <a:avLst/>
          </a:prstGeom>
          <a:solidFill>
            <a:srgbClr val="F7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Icon&#10;&#10;Description automatically generated" id="376" name="Google Shape;376;p20"/>
          <p:cNvPicPr preferRelativeResize="0"/>
          <p:nvPr/>
        </p:nvPicPr>
        <p:blipFill rotWithShape="1">
          <a:blip r:embed="rId3">
            <a:alphaModFix/>
          </a:blip>
          <a:srcRect b="0" l="0" r="0" t="0"/>
          <a:stretch/>
        </p:blipFill>
        <p:spPr>
          <a:xfrm>
            <a:off x="814387" y="753664"/>
            <a:ext cx="10384971" cy="6104336"/>
          </a:xfrm>
          <a:prstGeom prst="rect">
            <a:avLst/>
          </a:prstGeom>
          <a:noFill/>
          <a:ln>
            <a:noFill/>
          </a:ln>
        </p:spPr>
      </p:pic>
      <p:sp>
        <p:nvSpPr>
          <p:cNvPr id="377" name="Google Shape;377;p20"/>
          <p:cNvSpPr/>
          <p:nvPr/>
        </p:nvSpPr>
        <p:spPr>
          <a:xfrm>
            <a:off x="2539840" y="655346"/>
            <a:ext cx="6488667" cy="1659230"/>
          </a:xfrm>
          <a:custGeom>
            <a:rect b="b" l="l" r="r" t="t"/>
            <a:pathLst>
              <a:path extrusionOk="0" h="11674" w="10163">
                <a:moveTo>
                  <a:pt x="5139" y="181"/>
                </a:moveTo>
                <a:cubicBezTo>
                  <a:pt x="4701" y="362"/>
                  <a:pt x="4521" y="1058"/>
                  <a:pt x="4124" y="1125"/>
                </a:cubicBezTo>
                <a:cubicBezTo>
                  <a:pt x="3727" y="1191"/>
                  <a:pt x="3258" y="619"/>
                  <a:pt x="2747" y="581"/>
                </a:cubicBezTo>
                <a:cubicBezTo>
                  <a:pt x="2237" y="543"/>
                  <a:pt x="1454" y="391"/>
                  <a:pt x="1046" y="896"/>
                </a:cubicBezTo>
                <a:cubicBezTo>
                  <a:pt x="639" y="1401"/>
                  <a:pt x="376" y="2774"/>
                  <a:pt x="304" y="3641"/>
                </a:cubicBezTo>
                <a:cubicBezTo>
                  <a:pt x="232" y="4509"/>
                  <a:pt x="631" y="4848"/>
                  <a:pt x="598" y="6110"/>
                </a:cubicBezTo>
                <a:cubicBezTo>
                  <a:pt x="565" y="7372"/>
                  <a:pt x="-294" y="10420"/>
                  <a:pt x="106" y="11211"/>
                </a:cubicBezTo>
                <a:cubicBezTo>
                  <a:pt x="506" y="12002"/>
                  <a:pt x="2522" y="11712"/>
                  <a:pt x="3001" y="10854"/>
                </a:cubicBezTo>
                <a:cubicBezTo>
                  <a:pt x="3480" y="9996"/>
                  <a:pt x="4596" y="9781"/>
                  <a:pt x="5366" y="9599"/>
                </a:cubicBezTo>
                <a:cubicBezTo>
                  <a:pt x="6136" y="9417"/>
                  <a:pt x="6979" y="9933"/>
                  <a:pt x="7619" y="9761"/>
                </a:cubicBezTo>
                <a:cubicBezTo>
                  <a:pt x="8258" y="9580"/>
                  <a:pt x="8773" y="9085"/>
                  <a:pt x="9196" y="8579"/>
                </a:cubicBezTo>
                <a:cubicBezTo>
                  <a:pt x="9619" y="8084"/>
                  <a:pt x="10057" y="7788"/>
                  <a:pt x="10144" y="6739"/>
                </a:cubicBezTo>
                <a:cubicBezTo>
                  <a:pt x="10232" y="5691"/>
                  <a:pt x="10016" y="3270"/>
                  <a:pt x="9711" y="2326"/>
                </a:cubicBezTo>
                <a:cubicBezTo>
                  <a:pt x="9407" y="1372"/>
                  <a:pt x="8799" y="1392"/>
                  <a:pt x="8304" y="1020"/>
                </a:cubicBezTo>
                <a:cubicBezTo>
                  <a:pt x="7809" y="657"/>
                  <a:pt x="7268" y="219"/>
                  <a:pt x="6742" y="76"/>
                </a:cubicBezTo>
                <a:cubicBezTo>
                  <a:pt x="6217" y="-67"/>
                  <a:pt x="5577" y="9"/>
                  <a:pt x="5139" y="18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78" name="Google Shape;378;p20"/>
          <p:cNvGrpSpPr/>
          <p:nvPr/>
        </p:nvGrpSpPr>
        <p:grpSpPr>
          <a:xfrm>
            <a:off x="8267261" y="1220389"/>
            <a:ext cx="395725" cy="823219"/>
            <a:chOff x="4140" y="429"/>
            <a:chExt cx="1425" cy="2396"/>
          </a:xfrm>
        </p:grpSpPr>
        <p:sp>
          <p:nvSpPr>
            <p:cNvPr id="379" name="Google Shape;379;p2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0" name="Google Shape;380;p20"/>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81" name="Google Shape;381;p2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2" name="Google Shape;382;p2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3" name="Google Shape;383;p20"/>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384" name="Google Shape;384;p20"/>
            <p:cNvGrpSpPr/>
            <p:nvPr/>
          </p:nvGrpSpPr>
          <p:grpSpPr>
            <a:xfrm>
              <a:off x="4748" y="666"/>
              <a:ext cx="578" cy="150"/>
              <a:chOff x="613" y="2566"/>
              <a:chExt cx="721" cy="144"/>
            </a:xfrm>
          </p:grpSpPr>
          <p:sp>
            <p:nvSpPr>
              <p:cNvPr id="385" name="Google Shape;385;p20"/>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86" name="Google Shape;386;p20"/>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387" name="Google Shape;387;p20"/>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388" name="Google Shape;388;p20"/>
            <p:cNvGrpSpPr/>
            <p:nvPr/>
          </p:nvGrpSpPr>
          <p:grpSpPr>
            <a:xfrm>
              <a:off x="4748" y="990"/>
              <a:ext cx="578" cy="134"/>
              <a:chOff x="615" y="2564"/>
              <a:chExt cx="721" cy="139"/>
            </a:xfrm>
          </p:grpSpPr>
          <p:sp>
            <p:nvSpPr>
              <p:cNvPr id="389" name="Google Shape;389;p20"/>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90" name="Google Shape;390;p20"/>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391" name="Google Shape;391;p20"/>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92" name="Google Shape;392;p20"/>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393" name="Google Shape;393;p20"/>
            <p:cNvGrpSpPr/>
            <p:nvPr/>
          </p:nvGrpSpPr>
          <p:grpSpPr>
            <a:xfrm>
              <a:off x="4738" y="1647"/>
              <a:ext cx="578" cy="135"/>
              <a:chOff x="618" y="2586"/>
              <a:chExt cx="720" cy="124"/>
            </a:xfrm>
          </p:grpSpPr>
          <p:sp>
            <p:nvSpPr>
              <p:cNvPr id="394" name="Google Shape;394;p20"/>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95" name="Google Shape;395;p20"/>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396" name="Google Shape;396;p2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97" name="Google Shape;397;p20"/>
            <p:cNvGrpSpPr/>
            <p:nvPr/>
          </p:nvGrpSpPr>
          <p:grpSpPr>
            <a:xfrm>
              <a:off x="4738" y="1330"/>
              <a:ext cx="588" cy="134"/>
              <a:chOff x="613" y="2571"/>
              <a:chExt cx="732" cy="134"/>
            </a:xfrm>
          </p:grpSpPr>
          <p:sp>
            <p:nvSpPr>
              <p:cNvPr id="398" name="Google Shape;398;p20"/>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99" name="Google Shape;399;p20"/>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400" name="Google Shape;400;p20"/>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401" name="Google Shape;401;p2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2" name="Google Shape;402;p2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3" name="Google Shape;403;p20"/>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404" name="Google Shape;404;p2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5" name="Google Shape;405;p20"/>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406" name="Google Shape;406;p20"/>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407" name="Google Shape;407;p20"/>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408" name="Google Shape;408;p20"/>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409" name="Google Shape;409;p20"/>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410" name="Google Shape;410;p20"/>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411" name="Google Shape;411;p20"/>
          <p:cNvSpPr txBox="1"/>
          <p:nvPr/>
        </p:nvSpPr>
        <p:spPr>
          <a:xfrm>
            <a:off x="2841625" y="907652"/>
            <a:ext cx="272760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Comcast network</a:t>
            </a:r>
            <a:endParaRPr/>
          </a:p>
        </p:txBody>
      </p:sp>
      <p:cxnSp>
        <p:nvCxnSpPr>
          <p:cNvPr id="412" name="Google Shape;412;p20"/>
          <p:cNvCxnSpPr/>
          <p:nvPr/>
        </p:nvCxnSpPr>
        <p:spPr>
          <a:xfrm>
            <a:off x="7986712" y="1771650"/>
            <a:ext cx="304923" cy="1084"/>
          </a:xfrm>
          <a:prstGeom prst="straightConnector1">
            <a:avLst/>
          </a:prstGeom>
          <a:noFill/>
          <a:ln cap="flat" cmpd="sng" w="19050">
            <a:solidFill>
              <a:schemeClr val="dk1"/>
            </a:solidFill>
            <a:prstDash val="solid"/>
            <a:round/>
            <a:headEnd len="med" w="med" type="none"/>
            <a:tailEnd len="med" w="med" type="none"/>
          </a:ln>
        </p:spPr>
      </p:cxnSp>
      <p:sp>
        <p:nvSpPr>
          <p:cNvPr id="413" name="Google Shape;413;p20"/>
          <p:cNvSpPr txBox="1"/>
          <p:nvPr/>
        </p:nvSpPr>
        <p:spPr>
          <a:xfrm>
            <a:off x="328612" y="5457826"/>
            <a:ext cx="6829425"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3200">
                <a:solidFill>
                  <a:schemeClr val="dk1"/>
                </a:solidFill>
                <a:latin typeface="Calibri"/>
                <a:ea typeface="Calibri"/>
                <a:cs typeface="Calibri"/>
                <a:sym typeface="Calibri"/>
              </a:rPr>
              <a:t>Speedtest</a:t>
            </a:r>
            <a:r>
              <a:rPr lang="en-US" sz="3200">
                <a:solidFill>
                  <a:schemeClr val="dk1"/>
                </a:solidFill>
                <a:latin typeface="Calibri"/>
                <a:ea typeface="Calibri"/>
                <a:cs typeface="Calibri"/>
                <a:sym typeface="Calibri"/>
              </a:rPr>
              <a:t> from Verizon mobile phone in western MA to Boston Comcast server</a:t>
            </a:r>
            <a:endParaRPr/>
          </a:p>
        </p:txBody>
      </p:sp>
      <p:grpSp>
        <p:nvGrpSpPr>
          <p:cNvPr id="414" name="Google Shape;414;p20"/>
          <p:cNvGrpSpPr/>
          <p:nvPr/>
        </p:nvGrpSpPr>
        <p:grpSpPr>
          <a:xfrm>
            <a:off x="2843213" y="3814763"/>
            <a:ext cx="986531" cy="986462"/>
            <a:chOff x="2751" y="1851"/>
            <a:chExt cx="462" cy="478"/>
          </a:xfrm>
        </p:grpSpPr>
        <p:pic>
          <p:nvPicPr>
            <p:cNvPr descr="iphone_stylized_small" id="415" name="Google Shape;415;p20"/>
            <p:cNvPicPr preferRelativeResize="0"/>
            <p:nvPr/>
          </p:nvPicPr>
          <p:blipFill rotWithShape="1">
            <a:blip r:embed="rId4">
              <a:alphaModFix/>
            </a:blip>
            <a:srcRect b="0" l="0" r="0" t="0"/>
            <a:stretch/>
          </p:blipFill>
          <p:spPr>
            <a:xfrm>
              <a:off x="2928" y="1922"/>
              <a:ext cx="152" cy="407"/>
            </a:xfrm>
            <a:prstGeom prst="rect">
              <a:avLst/>
            </a:prstGeom>
            <a:noFill/>
            <a:ln>
              <a:noFill/>
            </a:ln>
          </p:spPr>
        </p:pic>
        <p:pic>
          <p:nvPicPr>
            <p:cNvPr descr="antenna_radiation_stylized" id="416" name="Google Shape;416;p20"/>
            <p:cNvPicPr preferRelativeResize="0"/>
            <p:nvPr/>
          </p:nvPicPr>
          <p:blipFill rotWithShape="1">
            <a:blip r:embed="rId5">
              <a:alphaModFix/>
            </a:blip>
            <a:srcRect b="0" l="0" r="0" t="0"/>
            <a:stretch/>
          </p:blipFill>
          <p:spPr>
            <a:xfrm>
              <a:off x="2751" y="1851"/>
              <a:ext cx="462" cy="110"/>
            </a:xfrm>
            <a:prstGeom prst="rect">
              <a:avLst/>
            </a:prstGeom>
            <a:noFill/>
            <a:ln>
              <a:noFill/>
            </a:ln>
          </p:spPr>
        </p:pic>
      </p:grpSp>
      <p:grpSp>
        <p:nvGrpSpPr>
          <p:cNvPr id="417" name="Google Shape;417;p20"/>
          <p:cNvGrpSpPr/>
          <p:nvPr/>
        </p:nvGrpSpPr>
        <p:grpSpPr>
          <a:xfrm>
            <a:off x="242887" y="2360228"/>
            <a:ext cx="4060331" cy="1467085"/>
            <a:chOff x="242887" y="2360228"/>
            <a:chExt cx="4060331" cy="1467085"/>
          </a:xfrm>
        </p:grpSpPr>
        <p:sp>
          <p:nvSpPr>
            <p:cNvPr id="418" name="Google Shape;418;p20"/>
            <p:cNvSpPr/>
            <p:nvPr/>
          </p:nvSpPr>
          <p:spPr>
            <a:xfrm rot="10800000">
              <a:off x="242887" y="2360228"/>
              <a:ext cx="4060331" cy="1467085"/>
            </a:xfrm>
            <a:custGeom>
              <a:rect b="b" l="l" r="r" t="t"/>
              <a:pathLst>
                <a:path extrusionOk="0" h="12917" w="10000">
                  <a:moveTo>
                    <a:pt x="4121" y="153"/>
                  </a:moveTo>
                  <a:cubicBezTo>
                    <a:pt x="3131" y="300"/>
                    <a:pt x="620" y="-540"/>
                    <a:pt x="131" y="925"/>
                  </a:cubicBezTo>
                  <a:cubicBezTo>
                    <a:pt x="-358" y="2390"/>
                    <a:pt x="632" y="7280"/>
                    <a:pt x="1183" y="8944"/>
                  </a:cubicBezTo>
                  <a:cubicBezTo>
                    <a:pt x="1734" y="10609"/>
                    <a:pt x="2627" y="10271"/>
                    <a:pt x="3435" y="10912"/>
                  </a:cubicBezTo>
                  <a:cubicBezTo>
                    <a:pt x="4243" y="11553"/>
                    <a:pt x="5123" y="12571"/>
                    <a:pt x="6034" y="12791"/>
                  </a:cubicBezTo>
                  <a:cubicBezTo>
                    <a:pt x="6945" y="13011"/>
                    <a:pt x="8333" y="13011"/>
                    <a:pt x="8901" y="12235"/>
                  </a:cubicBezTo>
                  <a:cubicBezTo>
                    <a:pt x="9469" y="11459"/>
                    <a:pt x="9282" y="9293"/>
                    <a:pt x="9439" y="8138"/>
                  </a:cubicBezTo>
                  <a:cubicBezTo>
                    <a:pt x="9596" y="6983"/>
                    <a:pt x="9764" y="6333"/>
                    <a:pt x="9842" y="5304"/>
                  </a:cubicBezTo>
                  <a:cubicBezTo>
                    <a:pt x="9919" y="4274"/>
                    <a:pt x="10120" y="2766"/>
                    <a:pt x="9903" y="1918"/>
                  </a:cubicBezTo>
                  <a:cubicBezTo>
                    <a:pt x="9688" y="1073"/>
                    <a:pt x="9177" y="577"/>
                    <a:pt x="8542" y="263"/>
                  </a:cubicBezTo>
                  <a:cubicBezTo>
                    <a:pt x="7910" y="-49"/>
                    <a:pt x="6843" y="25"/>
                    <a:pt x="6099" y="5"/>
                  </a:cubicBezTo>
                  <a:cubicBezTo>
                    <a:pt x="5357" y="-11"/>
                    <a:pt x="5110" y="5"/>
                    <a:pt x="4121" y="15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19" name="Google Shape;419;p20"/>
            <p:cNvGrpSpPr/>
            <p:nvPr/>
          </p:nvGrpSpPr>
          <p:grpSpPr>
            <a:xfrm>
              <a:off x="2600325" y="2843213"/>
              <a:ext cx="623945" cy="902856"/>
              <a:chOff x="742" y="2409"/>
              <a:chExt cx="576" cy="881"/>
            </a:xfrm>
          </p:grpSpPr>
          <p:grpSp>
            <p:nvGrpSpPr>
              <p:cNvPr id="420" name="Google Shape;420;p20"/>
              <p:cNvGrpSpPr/>
              <p:nvPr/>
            </p:nvGrpSpPr>
            <p:grpSpPr>
              <a:xfrm>
                <a:off x="832" y="2643"/>
                <a:ext cx="376" cy="647"/>
                <a:chOff x="3130" y="3288"/>
                <a:chExt cx="410" cy="742"/>
              </a:xfrm>
            </p:grpSpPr>
            <p:cxnSp>
              <p:nvCxnSpPr>
                <p:cNvPr id="421" name="Google Shape;421;p20"/>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422" name="Google Shape;422;p20"/>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423" name="Google Shape;423;p20"/>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424" name="Google Shape;424;p20"/>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425" name="Google Shape;425;p20"/>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426" name="Google Shape;426;p20"/>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427" name="Google Shape;427;p20"/>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428" name="Google Shape;428;p20"/>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429" name="Google Shape;429;p20"/>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430" name="Google Shape;430;p20"/>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431" name="Google Shape;431;p20"/>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432" name="Google Shape;432;p20"/>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433" name="Google Shape;433;p20"/>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434" name="Google Shape;434;p20"/>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435" name="Google Shape;435;p20"/>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pic>
            <p:nvPicPr>
              <p:cNvPr descr="cell_tower_radiation copy" id="436" name="Google Shape;436;p20"/>
              <p:cNvPicPr preferRelativeResize="0"/>
              <p:nvPr/>
            </p:nvPicPr>
            <p:blipFill rotWithShape="1">
              <a:blip r:embed="rId6">
                <a:alphaModFix/>
              </a:blip>
              <a:srcRect b="0" l="0" r="0" t="0"/>
              <a:stretch/>
            </p:blipFill>
            <p:spPr>
              <a:xfrm>
                <a:off x="742" y="2409"/>
                <a:ext cx="576" cy="464"/>
              </a:xfrm>
              <a:prstGeom prst="rect">
                <a:avLst/>
              </a:prstGeom>
              <a:noFill/>
              <a:ln>
                <a:noFill/>
              </a:ln>
            </p:spPr>
          </p:pic>
          <p:sp>
            <p:nvSpPr>
              <p:cNvPr id="437" name="Google Shape;437;p20"/>
              <p:cNvSpPr/>
              <p:nvPr/>
            </p:nvSpPr>
            <p:spPr>
              <a:xfrm>
                <a:off x="986" y="2597"/>
                <a:ext cx="65" cy="67"/>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grpSp>
          <p:nvGrpSpPr>
            <p:cNvPr id="438" name="Google Shape;438;p20"/>
            <p:cNvGrpSpPr/>
            <p:nvPr/>
          </p:nvGrpSpPr>
          <p:grpSpPr>
            <a:xfrm>
              <a:off x="2244943" y="3212371"/>
              <a:ext cx="499292" cy="246225"/>
              <a:chOff x="7493876" y="2774731"/>
              <a:chExt cx="1481958" cy="894622"/>
            </a:xfrm>
          </p:grpSpPr>
          <p:sp>
            <p:nvSpPr>
              <p:cNvPr id="439" name="Google Shape;439;p2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0" name="Google Shape;440;p2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41" name="Google Shape;441;p20"/>
              <p:cNvGrpSpPr/>
              <p:nvPr/>
            </p:nvGrpSpPr>
            <p:grpSpPr>
              <a:xfrm>
                <a:off x="7713663" y="2848339"/>
                <a:ext cx="1042107" cy="425543"/>
                <a:chOff x="7786941" y="2884917"/>
                <a:chExt cx="897649" cy="353919"/>
              </a:xfrm>
            </p:grpSpPr>
            <p:sp>
              <p:nvSpPr>
                <p:cNvPr id="442" name="Google Shape;442;p2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3" name="Google Shape;443;p2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4" name="Google Shape;444;p2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5" name="Google Shape;445;p2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446" name="Google Shape;446;p20"/>
            <p:cNvSpPr txBox="1"/>
            <p:nvPr/>
          </p:nvSpPr>
          <p:spPr>
            <a:xfrm>
              <a:off x="550863" y="2503090"/>
              <a:ext cx="2608343" cy="79034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None/>
              </a:pPr>
              <a:r>
                <a:rPr lang="en-US" sz="2800">
                  <a:solidFill>
                    <a:schemeClr val="dk1"/>
                  </a:solidFill>
                  <a:latin typeface="Calibri"/>
                  <a:ea typeface="Calibri"/>
                  <a:cs typeface="Calibri"/>
                  <a:sym typeface="Calibri"/>
                </a:rPr>
                <a:t>Verizon wireless </a:t>
              </a:r>
              <a:endParaRPr/>
            </a:p>
            <a:p>
              <a:pPr indent="0" lvl="0" marL="0" marR="0" rtl="0" algn="l">
                <a:lnSpc>
                  <a:spcPct val="80000"/>
                </a:lnSpc>
                <a:spcBef>
                  <a:spcPts val="0"/>
                </a:spcBef>
                <a:spcAft>
                  <a:spcPts val="0"/>
                </a:spcAft>
                <a:buNone/>
              </a:pPr>
              <a:r>
                <a:rPr lang="en-US" sz="2800">
                  <a:solidFill>
                    <a:schemeClr val="dk1"/>
                  </a:solidFill>
                  <a:latin typeface="Calibri"/>
                  <a:ea typeface="Calibri"/>
                  <a:cs typeface="Calibri"/>
                  <a:sym typeface="Calibri"/>
                </a:rPr>
                <a:t>network</a:t>
              </a:r>
              <a:endParaRPr/>
            </a:p>
          </p:txBody>
        </p:sp>
      </p:grpSp>
      <p:grpSp>
        <p:nvGrpSpPr>
          <p:cNvPr id="447" name="Google Shape;447;p20"/>
          <p:cNvGrpSpPr/>
          <p:nvPr/>
        </p:nvGrpSpPr>
        <p:grpSpPr>
          <a:xfrm>
            <a:off x="4393898" y="2197214"/>
            <a:ext cx="2636286" cy="1008231"/>
            <a:chOff x="4393898" y="2197214"/>
            <a:chExt cx="2636286" cy="1008231"/>
          </a:xfrm>
        </p:grpSpPr>
        <p:sp>
          <p:nvSpPr>
            <p:cNvPr id="448" name="Google Shape;448;p20"/>
            <p:cNvSpPr/>
            <p:nvPr/>
          </p:nvSpPr>
          <p:spPr>
            <a:xfrm rot="-222337">
              <a:off x="4418428" y="2279939"/>
              <a:ext cx="2587226" cy="842780"/>
            </a:xfrm>
            <a:custGeom>
              <a:rect b="b" l="l" r="r" t="t"/>
              <a:pathLst>
                <a:path extrusionOk="0" h="12917" w="10000">
                  <a:moveTo>
                    <a:pt x="4121" y="153"/>
                  </a:moveTo>
                  <a:cubicBezTo>
                    <a:pt x="3131" y="300"/>
                    <a:pt x="620" y="-540"/>
                    <a:pt x="131" y="925"/>
                  </a:cubicBezTo>
                  <a:cubicBezTo>
                    <a:pt x="-358" y="2390"/>
                    <a:pt x="632" y="7280"/>
                    <a:pt x="1183" y="8944"/>
                  </a:cubicBezTo>
                  <a:cubicBezTo>
                    <a:pt x="1734" y="10609"/>
                    <a:pt x="2627" y="10271"/>
                    <a:pt x="3435" y="10912"/>
                  </a:cubicBezTo>
                  <a:cubicBezTo>
                    <a:pt x="4243" y="11553"/>
                    <a:pt x="5123" y="12571"/>
                    <a:pt x="6034" y="12791"/>
                  </a:cubicBezTo>
                  <a:cubicBezTo>
                    <a:pt x="6945" y="13011"/>
                    <a:pt x="8333" y="13011"/>
                    <a:pt x="8901" y="12235"/>
                  </a:cubicBezTo>
                  <a:cubicBezTo>
                    <a:pt x="9469" y="11459"/>
                    <a:pt x="9282" y="9293"/>
                    <a:pt x="9439" y="8138"/>
                  </a:cubicBezTo>
                  <a:cubicBezTo>
                    <a:pt x="9596" y="6983"/>
                    <a:pt x="9764" y="6333"/>
                    <a:pt x="9842" y="5304"/>
                  </a:cubicBezTo>
                  <a:cubicBezTo>
                    <a:pt x="9919" y="4274"/>
                    <a:pt x="10120" y="2766"/>
                    <a:pt x="9903" y="1918"/>
                  </a:cubicBezTo>
                  <a:cubicBezTo>
                    <a:pt x="9688" y="1073"/>
                    <a:pt x="9177" y="577"/>
                    <a:pt x="8542" y="263"/>
                  </a:cubicBezTo>
                  <a:cubicBezTo>
                    <a:pt x="7910" y="-49"/>
                    <a:pt x="6843" y="25"/>
                    <a:pt x="6099" y="5"/>
                  </a:cubicBezTo>
                  <a:cubicBezTo>
                    <a:pt x="5357" y="-11"/>
                    <a:pt x="5110" y="5"/>
                    <a:pt x="4121" y="15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49" name="Google Shape;449;p20"/>
            <p:cNvSpPr txBox="1"/>
            <p:nvPr/>
          </p:nvSpPr>
          <p:spPr>
            <a:xfrm>
              <a:off x="5022849" y="2484198"/>
              <a:ext cx="143481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alter.net</a:t>
              </a:r>
              <a:endParaRPr sz="2800">
                <a:solidFill>
                  <a:schemeClr val="dk1"/>
                </a:solidFill>
                <a:latin typeface="Calibri"/>
                <a:ea typeface="Calibri"/>
                <a:cs typeface="Calibri"/>
                <a:sym typeface="Calibri"/>
              </a:endParaRPr>
            </a:p>
          </p:txBody>
        </p:sp>
      </p:grpSp>
      <p:sp>
        <p:nvSpPr>
          <p:cNvPr id="450" name="Google Shape;450;p20"/>
          <p:cNvSpPr/>
          <p:nvPr/>
        </p:nvSpPr>
        <p:spPr>
          <a:xfrm>
            <a:off x="3328988" y="1800225"/>
            <a:ext cx="4943475" cy="2171700"/>
          </a:xfrm>
          <a:custGeom>
            <a:rect b="b" l="l" r="r" t="t"/>
            <a:pathLst>
              <a:path extrusionOk="0" h="2171700" w="4943475">
                <a:moveTo>
                  <a:pt x="0" y="2171700"/>
                </a:moveTo>
                <a:lnTo>
                  <a:pt x="0" y="742950"/>
                </a:lnTo>
                <a:lnTo>
                  <a:pt x="3943350" y="700088"/>
                </a:lnTo>
                <a:lnTo>
                  <a:pt x="3957637" y="14288"/>
                </a:lnTo>
                <a:lnTo>
                  <a:pt x="4943475" y="0"/>
                </a:lnTo>
              </a:path>
            </a:pathLst>
          </a:custGeom>
          <a:noFill/>
          <a:ln cap="flat" cmpd="sng" w="79375">
            <a:solidFill>
              <a:srgbClr val="C00000">
                <a:alpha val="93725"/>
              </a:srgbClr>
            </a:solidFill>
            <a:prstDash val="solid"/>
            <a:miter lim="800000"/>
            <a:headEnd len="med" w="med" type="triangl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
                                        </p:tgtEl>
                                        <p:attrNameLst>
                                          <p:attrName>style.visibility</p:attrName>
                                        </p:attrNameLst>
                                      </p:cBhvr>
                                      <p:to>
                                        <p:strVal val="visible"/>
                                      </p:to>
                                    </p:set>
                                    <p:animEffect filter="fade" transition="in">
                                      <p:cBhvr>
                                        <p:cTn dur="500"/>
                                        <p:tgtEl>
                                          <p:spTgt spid="4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500"/>
                                        <p:tgtEl>
                                          <p:spTgt spid="4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
                                        </p:tgtEl>
                                        <p:attrNameLst>
                                          <p:attrName>style.visibility</p:attrName>
                                        </p:attrNameLst>
                                      </p:cBhvr>
                                      <p:to>
                                        <p:strVal val="visible"/>
                                      </p:to>
                                    </p:set>
                                    <p:animEffect filter="fade" transition="in">
                                      <p:cBhvr>
                                        <p:cTn dur="500"/>
                                        <p:tgtEl>
                                          <p:spTgt spid="447"/>
                                        </p:tgtEl>
                                      </p:cBhvr>
                                    </p:animEffect>
                                  </p:childTnLst>
                                </p:cTn>
                              </p:par>
                              <p:par>
                                <p:cTn fill="hold" nodeType="withEffect" presetClass="entr" presetID="10" presetSubtype="0">
                                  <p:stCondLst>
                                    <p:cond delay="0"/>
                                  </p:stCondLst>
                                  <p:childTnLst>
                                    <p:set>
                                      <p:cBhvr>
                                        <p:cTn dur="1" fill="hold">
                                          <p:stCondLst>
                                            <p:cond delay="0"/>
                                          </p:stCondLst>
                                        </p:cTn>
                                        <p:tgtEl>
                                          <p:spTgt spid="450"/>
                                        </p:tgtEl>
                                        <p:attrNameLst>
                                          <p:attrName>style.visibility</p:attrName>
                                        </p:attrNameLst>
                                      </p:cBhvr>
                                      <p:to>
                                        <p:strVal val="visible"/>
                                      </p:to>
                                    </p:set>
                                    <p:animEffect filter="fade" transition="in">
                                      <p:cBhvr>
                                        <p:cTn dur="500"/>
                                        <p:tgtEl>
                                          <p:spTgt spid="4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21"/>
          <p:cNvSpPr txBox="1"/>
          <p:nvPr>
            <p:ph type="title"/>
          </p:nvPr>
        </p:nvSpPr>
        <p:spPr>
          <a:xfrm>
            <a:off x="875146" y="757879"/>
            <a:ext cx="5375530" cy="1630478"/>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00A3"/>
              </a:buClr>
              <a:buSzPts val="6600"/>
              <a:buFont typeface="Calibri"/>
              <a:buNone/>
            </a:pPr>
            <a:r>
              <a:rPr lang="en-US" sz="6600">
                <a:latin typeface="Calibri"/>
                <a:ea typeface="Calibri"/>
                <a:cs typeface="Calibri"/>
                <a:sym typeface="Calibri"/>
              </a:rPr>
              <a:t>Who “controls” the Internet?</a:t>
            </a:r>
            <a:endParaRPr sz="6600">
              <a:latin typeface="Calibri"/>
              <a:ea typeface="Calibri"/>
              <a:cs typeface="Calibri"/>
              <a:sym typeface="Calibri"/>
            </a:endParaRPr>
          </a:p>
        </p:txBody>
      </p:sp>
      <p:grpSp>
        <p:nvGrpSpPr>
          <p:cNvPr id="457" name="Google Shape;457;p21"/>
          <p:cNvGrpSpPr/>
          <p:nvPr/>
        </p:nvGrpSpPr>
        <p:grpSpPr>
          <a:xfrm>
            <a:off x="7877910" y="685797"/>
            <a:ext cx="3886199" cy="5451233"/>
            <a:chOff x="8229602" y="1107828"/>
            <a:chExt cx="3886199" cy="5451233"/>
          </a:xfrm>
        </p:grpSpPr>
        <p:sp>
          <p:nvSpPr>
            <p:cNvPr id="458" name="Google Shape;458;p21"/>
            <p:cNvSpPr/>
            <p:nvPr/>
          </p:nvSpPr>
          <p:spPr>
            <a:xfrm>
              <a:off x="8229602" y="1107828"/>
              <a:ext cx="3886199" cy="5451233"/>
            </a:xfrm>
            <a:prstGeom prst="rect">
              <a:avLst/>
            </a:prstGeom>
            <a:solidFill>
              <a:srgbClr val="B3C6E7"/>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9" name="Google Shape;459;p21"/>
            <p:cNvSpPr/>
            <p:nvPr/>
          </p:nvSpPr>
          <p:spPr>
            <a:xfrm>
              <a:off x="8458201" y="1389184"/>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0" name="Google Shape;460;p21"/>
            <p:cNvSpPr/>
            <p:nvPr/>
          </p:nvSpPr>
          <p:spPr>
            <a:xfrm>
              <a:off x="8464574" y="1898630"/>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1" name="Google Shape;461;p21"/>
            <p:cNvSpPr/>
            <p:nvPr/>
          </p:nvSpPr>
          <p:spPr>
            <a:xfrm>
              <a:off x="8451612" y="2397375"/>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2" name="Google Shape;462;p21"/>
            <p:cNvSpPr/>
            <p:nvPr/>
          </p:nvSpPr>
          <p:spPr>
            <a:xfrm>
              <a:off x="8460460" y="2850255"/>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3" name="Google Shape;463;p21"/>
            <p:cNvSpPr txBox="1"/>
            <p:nvPr/>
          </p:nvSpPr>
          <p:spPr>
            <a:xfrm>
              <a:off x="8861670" y="2354330"/>
              <a:ext cx="23749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IT’S COMPLICATED</a:t>
              </a:r>
              <a:endParaRPr/>
            </a:p>
          </p:txBody>
        </p:sp>
        <p:sp>
          <p:nvSpPr>
            <p:cNvPr id="464" name="Google Shape;464;p21"/>
            <p:cNvSpPr txBox="1"/>
            <p:nvPr/>
          </p:nvSpPr>
          <p:spPr>
            <a:xfrm>
              <a:off x="8798170" y="1349075"/>
              <a:ext cx="23749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INTERNET USERS</a:t>
              </a:r>
              <a:endParaRPr/>
            </a:p>
          </p:txBody>
        </p:sp>
        <p:sp>
          <p:nvSpPr>
            <p:cNvPr id="465" name="Google Shape;465;p21"/>
            <p:cNvSpPr txBox="1"/>
            <p:nvPr/>
          </p:nvSpPr>
          <p:spPr>
            <a:xfrm>
              <a:off x="8810870" y="1874660"/>
              <a:ext cx="30988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INTERNET SERVICE PROVIDERS</a:t>
              </a:r>
              <a:endParaRPr/>
            </a:p>
          </p:txBody>
        </p:sp>
        <p:sp>
          <p:nvSpPr>
            <p:cNvPr id="466" name="Google Shape;466;p21"/>
            <p:cNvSpPr txBox="1"/>
            <p:nvPr/>
          </p:nvSpPr>
          <p:spPr>
            <a:xfrm>
              <a:off x="8893909" y="3314644"/>
              <a:ext cx="30988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NATION STATES (COUNTRIES)</a:t>
              </a:r>
              <a:endParaRPr/>
            </a:p>
          </p:txBody>
        </p:sp>
        <p:sp>
          <p:nvSpPr>
            <p:cNvPr id="467" name="Google Shape;467;p21"/>
            <p:cNvSpPr/>
            <p:nvPr/>
          </p:nvSpPr>
          <p:spPr>
            <a:xfrm>
              <a:off x="8453688" y="3361956"/>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8" name="Google Shape;468;p21"/>
            <p:cNvSpPr txBox="1"/>
            <p:nvPr/>
          </p:nvSpPr>
          <p:spPr>
            <a:xfrm>
              <a:off x="8876324" y="2823251"/>
              <a:ext cx="30988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IT’S </a:t>
              </a:r>
              <a:r>
                <a:rPr b="0" i="1" lang="en-US" sz="1800" u="none" cap="none" strike="noStrike">
                  <a:solidFill>
                    <a:srgbClr val="000000"/>
                  </a:solidFill>
                  <a:latin typeface="Calibri"/>
                  <a:ea typeface="Calibri"/>
                  <a:cs typeface="Calibri"/>
                  <a:sym typeface="Calibri"/>
                </a:rPr>
                <a:t>REALLY</a:t>
              </a:r>
              <a:r>
                <a:rPr b="0" i="0" lang="en-US" sz="1800" u="none" cap="none" strike="noStrike">
                  <a:solidFill>
                    <a:srgbClr val="000000"/>
                  </a:solidFill>
                  <a:latin typeface="Calibri"/>
                  <a:ea typeface="Calibri"/>
                  <a:cs typeface="Calibri"/>
                  <a:sym typeface="Calibri"/>
                </a:rPr>
                <a:t> COMPLICATED</a:t>
              </a:r>
              <a:endParaRPr/>
            </a:p>
          </p:txBody>
        </p:sp>
        <p:sp>
          <p:nvSpPr>
            <p:cNvPr id="469" name="Google Shape;469;p21"/>
            <p:cNvSpPr/>
            <p:nvPr/>
          </p:nvSpPr>
          <p:spPr>
            <a:xfrm>
              <a:off x="8458101" y="3866048"/>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0" name="Google Shape;470;p21"/>
            <p:cNvSpPr/>
            <p:nvPr/>
          </p:nvSpPr>
          <p:spPr>
            <a:xfrm>
              <a:off x="8457377" y="4370140"/>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1" name="Google Shape;471;p21"/>
            <p:cNvSpPr/>
            <p:nvPr/>
          </p:nvSpPr>
          <p:spPr>
            <a:xfrm>
              <a:off x="8451516" y="4874232"/>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2" name="Google Shape;472;p21"/>
            <p:cNvSpPr txBox="1"/>
            <p:nvPr/>
          </p:nvSpPr>
          <p:spPr>
            <a:xfrm>
              <a:off x="8888047" y="3837297"/>
              <a:ext cx="30988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UNITED NATIONS</a:t>
              </a:r>
              <a:endParaRPr/>
            </a:p>
          </p:txBody>
        </p:sp>
        <p:sp>
          <p:nvSpPr>
            <p:cNvPr id="473" name="Google Shape;473;p21"/>
            <p:cNvSpPr txBox="1"/>
            <p:nvPr/>
          </p:nvSpPr>
          <p:spPr>
            <a:xfrm>
              <a:off x="8847016" y="4358975"/>
              <a:ext cx="30988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STANDARDS BODIES (e.g., IETF)</a:t>
              </a:r>
              <a:endParaRPr/>
            </a:p>
          </p:txBody>
        </p:sp>
        <p:sp>
          <p:nvSpPr>
            <p:cNvPr id="474" name="Google Shape;474;p21"/>
            <p:cNvSpPr txBox="1"/>
            <p:nvPr/>
          </p:nvSpPr>
          <p:spPr>
            <a:xfrm>
              <a:off x="8858739" y="4863067"/>
              <a:ext cx="30988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INTERNET EQUIPMENT MANUFACTURES</a:t>
              </a:r>
              <a:endParaRPr/>
            </a:p>
          </p:txBody>
        </p:sp>
        <p:sp>
          <p:nvSpPr>
            <p:cNvPr id="475" name="Google Shape;475;p21"/>
            <p:cNvSpPr/>
            <p:nvPr/>
          </p:nvSpPr>
          <p:spPr>
            <a:xfrm>
              <a:off x="8458101" y="5589340"/>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6" name="Google Shape;476;p21"/>
            <p:cNvSpPr txBox="1"/>
            <p:nvPr/>
          </p:nvSpPr>
          <p:spPr>
            <a:xfrm>
              <a:off x="8817709" y="5560589"/>
              <a:ext cx="30988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SKYNET INC.</a:t>
              </a:r>
              <a:endParaRPr/>
            </a:p>
          </p:txBody>
        </p:sp>
        <p:sp>
          <p:nvSpPr>
            <p:cNvPr id="477" name="Google Shape;477;p21"/>
            <p:cNvSpPr/>
            <p:nvPr/>
          </p:nvSpPr>
          <p:spPr>
            <a:xfrm>
              <a:off x="8454413" y="6075848"/>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8" name="Google Shape;478;p21"/>
            <p:cNvSpPr txBox="1"/>
            <p:nvPr/>
          </p:nvSpPr>
          <p:spPr>
            <a:xfrm>
              <a:off x="8829432" y="6047097"/>
              <a:ext cx="321603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NON-PROFIT ORGANIZATION(S)</a:t>
              </a:r>
              <a:endParaRPr/>
            </a:p>
          </p:txBody>
        </p:sp>
      </p:grpSp>
      <p:sp>
        <p:nvSpPr>
          <p:cNvPr id="479" name="Google Shape;479;p21"/>
          <p:cNvSpPr txBox="1"/>
          <p:nvPr/>
        </p:nvSpPr>
        <p:spPr>
          <a:xfrm>
            <a:off x="715107" y="-1589942"/>
            <a:ext cx="9465801" cy="602274"/>
          </a:xfrm>
          <a:prstGeom prst="rect">
            <a:avLst/>
          </a:prstGeom>
          <a:noFill/>
          <a:ln>
            <a:noFill/>
          </a:ln>
        </p:spPr>
        <p:txBody>
          <a:bodyPr anchorCtr="0" anchor="t" bIns="45700" lIns="91425" spcFirstLastPara="1" rIns="91425" wrap="square" tIns="45700">
            <a:normAutofit/>
          </a:bodyPr>
          <a:lstStyle/>
          <a:p>
            <a:pPr indent="-227013" lvl="0" marL="242888"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 great question, but ...</a:t>
            </a:r>
            <a:endParaRPr b="0" i="0" sz="2400" u="none" cap="none" strike="noStrike">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22"/>
          <p:cNvSpPr txBox="1"/>
          <p:nvPr/>
        </p:nvSpPr>
        <p:spPr>
          <a:xfrm>
            <a:off x="583418" y="1219402"/>
            <a:ext cx="6650894" cy="3788692"/>
          </a:xfrm>
          <a:prstGeom prst="rect">
            <a:avLst/>
          </a:prstGeom>
          <a:noFill/>
          <a:ln>
            <a:noFill/>
          </a:ln>
        </p:spPr>
        <p:txBody>
          <a:bodyPr anchorCtr="0" anchor="t" bIns="45700" lIns="91425" spcFirstLastPara="1" rIns="91425" wrap="square" tIns="45700">
            <a:normAutofit/>
          </a:bodyPr>
          <a:lstStyle/>
          <a:p>
            <a:pPr indent="-49213" lvl="0" marL="242888" marR="0" rtl="0" algn="l">
              <a:lnSpc>
                <a:spcPct val="90000"/>
              </a:lnSpc>
              <a:spcBef>
                <a:spcPts val="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227013" lvl="0" marL="242888"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analogies to other infrastructure: roads, railroads, water systems</a:t>
            </a:r>
            <a:endParaRPr/>
          </a:p>
          <a:p>
            <a:pPr indent="-165100" lvl="1" marL="628650"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regional, state, national, international governance </a:t>
            </a:r>
            <a:endParaRPr/>
          </a:p>
          <a:p>
            <a:pPr indent="-165100" lvl="1" marL="628650"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standards</a:t>
            </a:r>
            <a:endParaRPr/>
          </a:p>
          <a:p>
            <a:pPr indent="-165100" lvl="1" marL="628650"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role of industry, user groups, non-profits</a:t>
            </a:r>
            <a:endParaRPr/>
          </a:p>
          <a:p>
            <a:pPr indent="-49213" lvl="0" marL="242888"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486" name="Google Shape;486;p22"/>
          <p:cNvSpPr txBox="1"/>
          <p:nvPr>
            <p:ph type="title"/>
          </p:nvPr>
        </p:nvSpPr>
        <p:spPr>
          <a:xfrm>
            <a:off x="517336" y="306910"/>
            <a:ext cx="11088509" cy="89462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4400"/>
              <a:buFont typeface="Calibri"/>
              <a:buNone/>
            </a:pPr>
            <a:r>
              <a:rPr lang="en-US">
                <a:latin typeface="Calibri"/>
                <a:ea typeface="Calibri"/>
                <a:cs typeface="Calibri"/>
                <a:sym typeface="Calibri"/>
              </a:rPr>
              <a:t>“Who controls the Internet?”</a:t>
            </a:r>
            <a:endParaRPr>
              <a:latin typeface="Calibri"/>
              <a:ea typeface="Calibri"/>
              <a:cs typeface="Calibri"/>
              <a:sym typeface="Calibri"/>
            </a:endParaRPr>
          </a:p>
        </p:txBody>
      </p:sp>
      <p:grpSp>
        <p:nvGrpSpPr>
          <p:cNvPr id="487" name="Google Shape;487;p22"/>
          <p:cNvGrpSpPr/>
          <p:nvPr/>
        </p:nvGrpSpPr>
        <p:grpSpPr>
          <a:xfrm>
            <a:off x="7877910" y="685797"/>
            <a:ext cx="3886199" cy="5451233"/>
            <a:chOff x="8229602" y="1107828"/>
            <a:chExt cx="3886199" cy="5451233"/>
          </a:xfrm>
        </p:grpSpPr>
        <p:sp>
          <p:nvSpPr>
            <p:cNvPr id="488" name="Google Shape;488;p22"/>
            <p:cNvSpPr/>
            <p:nvPr/>
          </p:nvSpPr>
          <p:spPr>
            <a:xfrm>
              <a:off x="8229602" y="1107828"/>
              <a:ext cx="3886199" cy="5451233"/>
            </a:xfrm>
            <a:prstGeom prst="rect">
              <a:avLst/>
            </a:prstGeom>
            <a:solidFill>
              <a:srgbClr val="B3C6E7"/>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9" name="Google Shape;489;p22"/>
            <p:cNvSpPr/>
            <p:nvPr/>
          </p:nvSpPr>
          <p:spPr>
            <a:xfrm>
              <a:off x="8458201" y="1389184"/>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0" name="Google Shape;490;p22"/>
            <p:cNvSpPr/>
            <p:nvPr/>
          </p:nvSpPr>
          <p:spPr>
            <a:xfrm>
              <a:off x="8464574" y="1898630"/>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1" name="Google Shape;491;p22"/>
            <p:cNvSpPr/>
            <p:nvPr/>
          </p:nvSpPr>
          <p:spPr>
            <a:xfrm>
              <a:off x="8451612" y="2397375"/>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2" name="Google Shape;492;p22"/>
            <p:cNvSpPr/>
            <p:nvPr/>
          </p:nvSpPr>
          <p:spPr>
            <a:xfrm>
              <a:off x="8460460" y="2850255"/>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3" name="Google Shape;493;p22"/>
            <p:cNvSpPr txBox="1"/>
            <p:nvPr/>
          </p:nvSpPr>
          <p:spPr>
            <a:xfrm>
              <a:off x="8861670" y="2354330"/>
              <a:ext cx="23749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IT’S COMPLICATED</a:t>
              </a:r>
              <a:endParaRPr/>
            </a:p>
          </p:txBody>
        </p:sp>
        <p:sp>
          <p:nvSpPr>
            <p:cNvPr id="494" name="Google Shape;494;p22"/>
            <p:cNvSpPr txBox="1"/>
            <p:nvPr/>
          </p:nvSpPr>
          <p:spPr>
            <a:xfrm>
              <a:off x="8798170" y="1349075"/>
              <a:ext cx="23749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INTERNET USERS</a:t>
              </a:r>
              <a:endParaRPr/>
            </a:p>
          </p:txBody>
        </p:sp>
        <p:sp>
          <p:nvSpPr>
            <p:cNvPr id="495" name="Google Shape;495;p22"/>
            <p:cNvSpPr txBox="1"/>
            <p:nvPr/>
          </p:nvSpPr>
          <p:spPr>
            <a:xfrm>
              <a:off x="8810870" y="1874660"/>
              <a:ext cx="30988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INTERNET SERVICE PROVIDERS</a:t>
              </a:r>
              <a:endParaRPr/>
            </a:p>
          </p:txBody>
        </p:sp>
        <p:sp>
          <p:nvSpPr>
            <p:cNvPr id="496" name="Google Shape;496;p22"/>
            <p:cNvSpPr txBox="1"/>
            <p:nvPr/>
          </p:nvSpPr>
          <p:spPr>
            <a:xfrm>
              <a:off x="8893909" y="3314644"/>
              <a:ext cx="30988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NATION STATES (COUNTRIES)</a:t>
              </a:r>
              <a:endParaRPr/>
            </a:p>
          </p:txBody>
        </p:sp>
        <p:sp>
          <p:nvSpPr>
            <p:cNvPr id="497" name="Google Shape;497;p22"/>
            <p:cNvSpPr/>
            <p:nvPr/>
          </p:nvSpPr>
          <p:spPr>
            <a:xfrm>
              <a:off x="8453688" y="3361956"/>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8" name="Google Shape;498;p22"/>
            <p:cNvSpPr txBox="1"/>
            <p:nvPr/>
          </p:nvSpPr>
          <p:spPr>
            <a:xfrm>
              <a:off x="8876324" y="2823251"/>
              <a:ext cx="30988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IT’S </a:t>
              </a:r>
              <a:r>
                <a:rPr b="0" i="1" lang="en-US" sz="1800" u="none" cap="none" strike="noStrike">
                  <a:solidFill>
                    <a:srgbClr val="000000"/>
                  </a:solidFill>
                  <a:latin typeface="Calibri"/>
                  <a:ea typeface="Calibri"/>
                  <a:cs typeface="Calibri"/>
                  <a:sym typeface="Calibri"/>
                </a:rPr>
                <a:t>REALLY</a:t>
              </a:r>
              <a:r>
                <a:rPr b="0" i="0" lang="en-US" sz="1800" u="none" cap="none" strike="noStrike">
                  <a:solidFill>
                    <a:srgbClr val="000000"/>
                  </a:solidFill>
                  <a:latin typeface="Calibri"/>
                  <a:ea typeface="Calibri"/>
                  <a:cs typeface="Calibri"/>
                  <a:sym typeface="Calibri"/>
                </a:rPr>
                <a:t> COMPLICATED</a:t>
              </a:r>
              <a:endParaRPr/>
            </a:p>
          </p:txBody>
        </p:sp>
        <p:sp>
          <p:nvSpPr>
            <p:cNvPr id="499" name="Google Shape;499;p22"/>
            <p:cNvSpPr/>
            <p:nvPr/>
          </p:nvSpPr>
          <p:spPr>
            <a:xfrm>
              <a:off x="8458101" y="3866048"/>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0" name="Google Shape;500;p22"/>
            <p:cNvSpPr/>
            <p:nvPr/>
          </p:nvSpPr>
          <p:spPr>
            <a:xfrm>
              <a:off x="8457377" y="4370140"/>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1" name="Google Shape;501;p22"/>
            <p:cNvSpPr/>
            <p:nvPr/>
          </p:nvSpPr>
          <p:spPr>
            <a:xfrm>
              <a:off x="8451516" y="4874232"/>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2" name="Google Shape;502;p22"/>
            <p:cNvSpPr txBox="1"/>
            <p:nvPr/>
          </p:nvSpPr>
          <p:spPr>
            <a:xfrm>
              <a:off x="8888047" y="3837297"/>
              <a:ext cx="30988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UNITED NATIONS</a:t>
              </a:r>
              <a:endParaRPr/>
            </a:p>
          </p:txBody>
        </p:sp>
        <p:sp>
          <p:nvSpPr>
            <p:cNvPr id="503" name="Google Shape;503;p22"/>
            <p:cNvSpPr txBox="1"/>
            <p:nvPr/>
          </p:nvSpPr>
          <p:spPr>
            <a:xfrm>
              <a:off x="8847016" y="4358975"/>
              <a:ext cx="30988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STANDARDS BODIES (e.g., IETF)</a:t>
              </a:r>
              <a:endParaRPr/>
            </a:p>
          </p:txBody>
        </p:sp>
        <p:sp>
          <p:nvSpPr>
            <p:cNvPr id="504" name="Google Shape;504;p22"/>
            <p:cNvSpPr txBox="1"/>
            <p:nvPr/>
          </p:nvSpPr>
          <p:spPr>
            <a:xfrm>
              <a:off x="8858739" y="4863067"/>
              <a:ext cx="30988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INTERNET EQUIPMENT MANUFACTURES</a:t>
              </a:r>
              <a:endParaRPr/>
            </a:p>
          </p:txBody>
        </p:sp>
        <p:sp>
          <p:nvSpPr>
            <p:cNvPr id="505" name="Google Shape;505;p22"/>
            <p:cNvSpPr/>
            <p:nvPr/>
          </p:nvSpPr>
          <p:spPr>
            <a:xfrm>
              <a:off x="8458101" y="5589340"/>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6" name="Google Shape;506;p22"/>
            <p:cNvSpPr txBox="1"/>
            <p:nvPr/>
          </p:nvSpPr>
          <p:spPr>
            <a:xfrm>
              <a:off x="8817709" y="5560589"/>
              <a:ext cx="30988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SKYNET INC.</a:t>
              </a:r>
              <a:endParaRPr/>
            </a:p>
          </p:txBody>
        </p:sp>
        <p:sp>
          <p:nvSpPr>
            <p:cNvPr id="507" name="Google Shape;507;p22"/>
            <p:cNvSpPr/>
            <p:nvPr/>
          </p:nvSpPr>
          <p:spPr>
            <a:xfrm>
              <a:off x="8454413" y="6075848"/>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8" name="Google Shape;508;p22"/>
            <p:cNvSpPr txBox="1"/>
            <p:nvPr/>
          </p:nvSpPr>
          <p:spPr>
            <a:xfrm>
              <a:off x="8829432" y="6047097"/>
              <a:ext cx="321603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NON-PROFIT ORGANIZATION(S)</a:t>
              </a:r>
              <a:endParaRPr/>
            </a:p>
          </p:txBody>
        </p:sp>
      </p:grpSp>
      <p:sp>
        <p:nvSpPr>
          <p:cNvPr id="509" name="Google Shape;509;p22"/>
          <p:cNvSpPr txBox="1"/>
          <p:nvPr/>
        </p:nvSpPr>
        <p:spPr>
          <a:xfrm>
            <a:off x="715107" y="-1589942"/>
            <a:ext cx="9465801" cy="602274"/>
          </a:xfrm>
          <a:prstGeom prst="rect">
            <a:avLst/>
          </a:prstGeom>
          <a:noFill/>
          <a:ln>
            <a:noFill/>
          </a:ln>
        </p:spPr>
        <p:txBody>
          <a:bodyPr anchorCtr="0" anchor="t" bIns="45700" lIns="91425" spcFirstLastPara="1" rIns="91425" wrap="square" tIns="45700">
            <a:normAutofit/>
          </a:bodyPr>
          <a:lstStyle/>
          <a:p>
            <a:pPr indent="-227013" lvl="0" marL="242888"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 great question, but ...</a:t>
            </a:r>
            <a:endParaRPr b="0" i="0" sz="2400" u="none" cap="none" strike="noStrike">
              <a:solidFill>
                <a:srgbClr val="000000"/>
              </a:solidFill>
              <a:latin typeface="Calibri"/>
              <a:ea typeface="Calibri"/>
              <a:cs typeface="Calibri"/>
              <a:sym typeface="Calibri"/>
            </a:endParaRPr>
          </a:p>
        </p:txBody>
      </p:sp>
      <p:grpSp>
        <p:nvGrpSpPr>
          <p:cNvPr id="510" name="Google Shape;510;p22"/>
          <p:cNvGrpSpPr/>
          <p:nvPr/>
        </p:nvGrpSpPr>
        <p:grpSpPr>
          <a:xfrm>
            <a:off x="583809" y="1222420"/>
            <a:ext cx="8011023" cy="1463220"/>
            <a:chOff x="583809" y="1222420"/>
            <a:chExt cx="8011023" cy="1463220"/>
          </a:xfrm>
        </p:grpSpPr>
        <p:pic>
          <p:nvPicPr>
            <p:cNvPr descr="Icon&#10;&#10;Description automatically generated" id="511" name="Google Shape;511;p22"/>
            <p:cNvPicPr preferRelativeResize="0"/>
            <p:nvPr/>
          </p:nvPicPr>
          <p:blipFill rotWithShape="1">
            <a:blip r:embed="rId3">
              <a:alphaModFix/>
            </a:blip>
            <a:srcRect b="0" l="0" r="0" t="0"/>
            <a:stretch/>
          </p:blipFill>
          <p:spPr>
            <a:xfrm>
              <a:off x="8093239" y="1838370"/>
              <a:ext cx="500859" cy="403470"/>
            </a:xfrm>
            <a:prstGeom prst="rect">
              <a:avLst/>
            </a:prstGeom>
            <a:noFill/>
            <a:ln>
              <a:noFill/>
            </a:ln>
          </p:spPr>
        </p:pic>
        <p:sp>
          <p:nvSpPr>
            <p:cNvPr id="512" name="Google Shape;512;p22"/>
            <p:cNvSpPr txBox="1"/>
            <p:nvPr/>
          </p:nvSpPr>
          <p:spPr>
            <a:xfrm>
              <a:off x="583809" y="1222420"/>
              <a:ext cx="6267158" cy="602274"/>
            </a:xfrm>
            <a:prstGeom prst="rect">
              <a:avLst/>
            </a:prstGeom>
            <a:noFill/>
            <a:ln>
              <a:noFill/>
            </a:ln>
          </p:spPr>
          <p:txBody>
            <a:bodyPr anchorCtr="0" anchor="t" bIns="45700" lIns="91425" spcFirstLastPara="1" rIns="91425" wrap="square" tIns="45700">
              <a:normAutofit/>
            </a:bodyPr>
            <a:lstStyle/>
            <a:p>
              <a:pPr indent="-227013" lvl="0" marL="242888"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 great question, but ...</a:t>
              </a:r>
              <a:endParaRPr b="0" i="0" sz="2400" u="none" cap="none" strike="noStrike">
                <a:solidFill>
                  <a:srgbClr val="000000"/>
                </a:solidFill>
                <a:latin typeface="Calibri"/>
                <a:ea typeface="Calibri"/>
                <a:cs typeface="Calibri"/>
                <a:sym typeface="Calibri"/>
              </a:endParaRPr>
            </a:p>
          </p:txBody>
        </p:sp>
        <p:pic>
          <p:nvPicPr>
            <p:cNvPr descr="Icon&#10;&#10;Description automatically generated" id="513" name="Google Shape;513;p22"/>
            <p:cNvPicPr preferRelativeResize="0"/>
            <p:nvPr/>
          </p:nvPicPr>
          <p:blipFill rotWithShape="1">
            <a:blip r:embed="rId3">
              <a:alphaModFix/>
            </a:blip>
            <a:srcRect b="0" l="0" r="0" t="0"/>
            <a:stretch/>
          </p:blipFill>
          <p:spPr>
            <a:xfrm>
              <a:off x="8093973" y="2282170"/>
              <a:ext cx="500859" cy="403470"/>
            </a:xfrm>
            <a:prstGeom prst="rect">
              <a:avLst/>
            </a:prstGeom>
            <a:noFill/>
            <a:ln>
              <a:noFill/>
            </a:ln>
          </p:spPr>
        </p:pic>
      </p:grpSp>
      <p:sp>
        <p:nvSpPr>
          <p:cNvPr id="514" name="Google Shape;514;p2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Supplemental: 1-</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515" name="Google Shape;515;p22"/>
          <p:cNvSpPr/>
          <p:nvPr/>
        </p:nvSpPr>
        <p:spPr>
          <a:xfrm>
            <a:off x="106018" y="2491409"/>
            <a:ext cx="978408" cy="484632"/>
          </a:xfrm>
          <a:prstGeom prst="rightArrow">
            <a:avLst>
              <a:gd fmla="val 50000" name="adj1"/>
              <a:gd fmla="val 50000" name="adj2"/>
            </a:avLst>
          </a:prstGeom>
          <a:solidFill>
            <a:srgbClr val="96010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6" name="Google Shape;516;p22"/>
          <p:cNvSpPr/>
          <p:nvPr/>
        </p:nvSpPr>
        <p:spPr>
          <a:xfrm>
            <a:off x="125896" y="3226904"/>
            <a:ext cx="978408" cy="484632"/>
          </a:xfrm>
          <a:prstGeom prst="rightArrow">
            <a:avLst>
              <a:gd fmla="val 50000" name="adj1"/>
              <a:gd fmla="val 50000" name="adj2"/>
            </a:avLst>
          </a:prstGeom>
          <a:solidFill>
            <a:srgbClr val="96010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17" name="Google Shape;517;p22"/>
          <p:cNvSpPr/>
          <p:nvPr/>
        </p:nvSpPr>
        <p:spPr>
          <a:xfrm>
            <a:off x="145774" y="3631096"/>
            <a:ext cx="978408" cy="484632"/>
          </a:xfrm>
          <a:prstGeom prst="rightArrow">
            <a:avLst>
              <a:gd fmla="val 50000" name="adj1"/>
              <a:gd fmla="val 50000" name="adj2"/>
            </a:avLst>
          </a:prstGeom>
          <a:solidFill>
            <a:srgbClr val="96010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18" name="Google Shape;518;p22"/>
          <p:cNvGrpSpPr/>
          <p:nvPr/>
        </p:nvGrpSpPr>
        <p:grpSpPr>
          <a:xfrm>
            <a:off x="8101683" y="2805477"/>
            <a:ext cx="501470" cy="902434"/>
            <a:chOff x="8101683" y="2805477"/>
            <a:chExt cx="501470" cy="902434"/>
          </a:xfrm>
        </p:grpSpPr>
        <p:pic>
          <p:nvPicPr>
            <p:cNvPr descr="Icon&#10;&#10;Description automatically generated" id="519" name="Google Shape;519;p22"/>
            <p:cNvPicPr preferRelativeResize="0"/>
            <p:nvPr/>
          </p:nvPicPr>
          <p:blipFill rotWithShape="1">
            <a:blip r:embed="rId3">
              <a:alphaModFix/>
            </a:blip>
            <a:srcRect b="0" l="0" r="0" t="0"/>
            <a:stretch/>
          </p:blipFill>
          <p:spPr>
            <a:xfrm>
              <a:off x="8102294" y="2805477"/>
              <a:ext cx="500859" cy="403470"/>
            </a:xfrm>
            <a:prstGeom prst="rect">
              <a:avLst/>
            </a:prstGeom>
            <a:noFill/>
            <a:ln>
              <a:noFill/>
            </a:ln>
          </p:spPr>
        </p:pic>
        <p:pic>
          <p:nvPicPr>
            <p:cNvPr descr="Icon&#10;&#10;Description automatically generated" id="520" name="Google Shape;520;p22"/>
            <p:cNvPicPr preferRelativeResize="0"/>
            <p:nvPr/>
          </p:nvPicPr>
          <p:blipFill rotWithShape="1">
            <a:blip r:embed="rId3">
              <a:alphaModFix/>
            </a:blip>
            <a:srcRect b="0" l="0" r="0" t="0"/>
            <a:stretch/>
          </p:blipFill>
          <p:spPr>
            <a:xfrm>
              <a:off x="8101683" y="3304441"/>
              <a:ext cx="500859" cy="403470"/>
            </a:xfrm>
            <a:prstGeom prst="rect">
              <a:avLst/>
            </a:prstGeom>
            <a:noFill/>
            <a:ln>
              <a:noFill/>
            </a:ln>
          </p:spPr>
        </p:pic>
      </p:grpSp>
      <p:pic>
        <p:nvPicPr>
          <p:cNvPr descr="Icon&#10;&#10;Description automatically generated" id="521" name="Google Shape;521;p22"/>
          <p:cNvPicPr preferRelativeResize="0"/>
          <p:nvPr/>
        </p:nvPicPr>
        <p:blipFill rotWithShape="1">
          <a:blip r:embed="rId3">
            <a:alphaModFix/>
          </a:blip>
          <a:srcRect b="0" l="0" r="0" t="0"/>
          <a:stretch/>
        </p:blipFill>
        <p:spPr>
          <a:xfrm>
            <a:off x="8101073" y="3813680"/>
            <a:ext cx="500859" cy="403470"/>
          </a:xfrm>
          <a:prstGeom prst="rect">
            <a:avLst/>
          </a:prstGeom>
          <a:noFill/>
          <a:ln>
            <a:noFill/>
          </a:ln>
        </p:spPr>
      </p:pic>
      <p:grpSp>
        <p:nvGrpSpPr>
          <p:cNvPr id="522" name="Google Shape;522;p22"/>
          <p:cNvGrpSpPr/>
          <p:nvPr/>
        </p:nvGrpSpPr>
        <p:grpSpPr>
          <a:xfrm>
            <a:off x="8095326" y="830166"/>
            <a:ext cx="510267" cy="5094500"/>
            <a:chOff x="8095326" y="830166"/>
            <a:chExt cx="510267" cy="5094500"/>
          </a:xfrm>
        </p:grpSpPr>
        <p:pic>
          <p:nvPicPr>
            <p:cNvPr descr="Icon&#10;&#10;Description automatically generated" id="523" name="Google Shape;523;p22"/>
            <p:cNvPicPr preferRelativeResize="0"/>
            <p:nvPr/>
          </p:nvPicPr>
          <p:blipFill rotWithShape="1">
            <a:blip r:embed="rId3">
              <a:alphaModFix/>
            </a:blip>
            <a:srcRect b="0" l="0" r="0" t="0"/>
            <a:stretch/>
          </p:blipFill>
          <p:spPr>
            <a:xfrm>
              <a:off x="8104734" y="830166"/>
              <a:ext cx="500859" cy="403470"/>
            </a:xfrm>
            <a:prstGeom prst="rect">
              <a:avLst/>
            </a:prstGeom>
            <a:noFill/>
            <a:ln>
              <a:noFill/>
            </a:ln>
          </p:spPr>
        </p:pic>
        <p:pic>
          <p:nvPicPr>
            <p:cNvPr descr="Icon&#10;&#10;Description automatically generated" id="524" name="Google Shape;524;p22"/>
            <p:cNvPicPr preferRelativeResize="0"/>
            <p:nvPr/>
          </p:nvPicPr>
          <p:blipFill rotWithShape="1">
            <a:blip r:embed="rId3">
              <a:alphaModFix/>
            </a:blip>
            <a:srcRect b="0" l="0" r="0" t="0"/>
            <a:stretch/>
          </p:blipFill>
          <p:spPr>
            <a:xfrm>
              <a:off x="8104124" y="1339405"/>
              <a:ext cx="500859" cy="403470"/>
            </a:xfrm>
            <a:prstGeom prst="rect">
              <a:avLst/>
            </a:prstGeom>
            <a:noFill/>
            <a:ln>
              <a:noFill/>
            </a:ln>
          </p:spPr>
        </p:pic>
        <p:pic>
          <p:nvPicPr>
            <p:cNvPr descr="Icon&#10;&#10;Description automatically generated" id="525" name="Google Shape;525;p22"/>
            <p:cNvPicPr preferRelativeResize="0"/>
            <p:nvPr/>
          </p:nvPicPr>
          <p:blipFill rotWithShape="1">
            <a:blip r:embed="rId3">
              <a:alphaModFix/>
            </a:blip>
            <a:srcRect b="0" l="0" r="0" t="0"/>
            <a:stretch/>
          </p:blipFill>
          <p:spPr>
            <a:xfrm>
              <a:off x="8095326" y="4322920"/>
              <a:ext cx="500859" cy="403470"/>
            </a:xfrm>
            <a:prstGeom prst="rect">
              <a:avLst/>
            </a:prstGeom>
            <a:noFill/>
            <a:ln>
              <a:noFill/>
            </a:ln>
          </p:spPr>
        </p:pic>
        <p:pic>
          <p:nvPicPr>
            <p:cNvPr descr="Icon&#10;&#10;Description automatically generated" id="526" name="Google Shape;526;p22"/>
            <p:cNvPicPr preferRelativeResize="0"/>
            <p:nvPr/>
          </p:nvPicPr>
          <p:blipFill rotWithShape="1">
            <a:blip r:embed="rId3">
              <a:alphaModFix/>
            </a:blip>
            <a:srcRect b="0" l="0" r="0" t="0"/>
            <a:stretch/>
          </p:blipFill>
          <p:spPr>
            <a:xfrm>
              <a:off x="8099243" y="5521196"/>
              <a:ext cx="500859" cy="40347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5"/>
                                        </p:tgtEl>
                                        <p:attrNameLst>
                                          <p:attrName>style.visibility</p:attrName>
                                        </p:attrNameLst>
                                      </p:cBhvr>
                                      <p:to>
                                        <p:strVal val="visible"/>
                                      </p:to>
                                    </p:set>
                                    <p:animEffect filter="fade" transition="in">
                                      <p:cBhvr>
                                        <p:cTn dur="500"/>
                                        <p:tgtEl>
                                          <p:spTgt spid="515"/>
                                        </p:tgtEl>
                                      </p:cBhvr>
                                    </p:animEffect>
                                  </p:childTnLst>
                                </p:cTn>
                              </p:par>
                              <p:par>
                                <p:cTn fill="hold" nodeType="withEffect" presetClass="entr" presetID="10" presetSubtype="0">
                                  <p:stCondLst>
                                    <p:cond delay="0"/>
                                  </p:stCondLst>
                                  <p:childTnLst>
                                    <p:set>
                                      <p:cBhvr>
                                        <p:cTn dur="1" fill="hold">
                                          <p:stCondLst>
                                            <p:cond delay="0"/>
                                          </p:stCondLst>
                                        </p:cTn>
                                        <p:tgtEl>
                                          <p:spTgt spid="518"/>
                                        </p:tgtEl>
                                        <p:attrNameLst>
                                          <p:attrName>style.visibility</p:attrName>
                                        </p:attrNameLst>
                                      </p:cBhvr>
                                      <p:to>
                                        <p:strVal val="visible"/>
                                      </p:to>
                                    </p:set>
                                    <p:animEffect filter="fade" transition="in">
                                      <p:cBhvr>
                                        <p:cTn dur="500"/>
                                        <p:tgtEl>
                                          <p:spTgt spid="5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15"/>
                                        </p:tgtEl>
                                      </p:cBhvr>
                                    </p:animEffect>
                                    <p:set>
                                      <p:cBhvr>
                                        <p:cTn dur="1" fill="hold">
                                          <p:stCondLst>
                                            <p:cond delay="500"/>
                                          </p:stCondLst>
                                        </p:cTn>
                                        <p:tgtEl>
                                          <p:spTgt spid="51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516"/>
                                        </p:tgtEl>
                                        <p:attrNameLst>
                                          <p:attrName>style.visibility</p:attrName>
                                        </p:attrNameLst>
                                      </p:cBhvr>
                                      <p:to>
                                        <p:strVal val="visible"/>
                                      </p:to>
                                    </p:set>
                                    <p:animEffect filter="fade" transition="in">
                                      <p:cBhvr>
                                        <p:cTn dur="500"/>
                                        <p:tgtEl>
                                          <p:spTgt spid="516"/>
                                        </p:tgtEl>
                                      </p:cBhvr>
                                    </p:animEffect>
                                  </p:childTnLst>
                                </p:cTn>
                              </p:par>
                              <p:par>
                                <p:cTn fill="hold" nodeType="withEffect" presetClass="entr" presetID="10" presetSubtype="0">
                                  <p:stCondLst>
                                    <p:cond delay="0"/>
                                  </p:stCondLst>
                                  <p:childTnLst>
                                    <p:set>
                                      <p:cBhvr>
                                        <p:cTn dur="1" fill="hold">
                                          <p:stCondLst>
                                            <p:cond delay="0"/>
                                          </p:stCondLst>
                                        </p:cTn>
                                        <p:tgtEl>
                                          <p:spTgt spid="521"/>
                                        </p:tgtEl>
                                        <p:attrNameLst>
                                          <p:attrName>style.visibility</p:attrName>
                                        </p:attrNameLst>
                                      </p:cBhvr>
                                      <p:to>
                                        <p:strVal val="visible"/>
                                      </p:to>
                                    </p:set>
                                    <p:animEffect filter="fade" transition="in">
                                      <p:cBhvr>
                                        <p:cTn dur="500"/>
                                        <p:tgtEl>
                                          <p:spTgt spid="5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16"/>
                                        </p:tgtEl>
                                      </p:cBhvr>
                                    </p:animEffect>
                                    <p:set>
                                      <p:cBhvr>
                                        <p:cTn dur="1" fill="hold">
                                          <p:stCondLst>
                                            <p:cond delay="500"/>
                                          </p:stCondLst>
                                        </p:cTn>
                                        <p:tgtEl>
                                          <p:spTgt spid="51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517"/>
                                        </p:tgtEl>
                                        <p:attrNameLst>
                                          <p:attrName>style.visibility</p:attrName>
                                        </p:attrNameLst>
                                      </p:cBhvr>
                                      <p:to>
                                        <p:strVal val="visible"/>
                                      </p:to>
                                    </p:set>
                                    <p:animEffect filter="fade" transition="in">
                                      <p:cBhvr>
                                        <p:cTn dur="500"/>
                                        <p:tgtEl>
                                          <p:spTgt spid="517"/>
                                        </p:tgtEl>
                                      </p:cBhvr>
                                    </p:animEffect>
                                  </p:childTnLst>
                                </p:cTn>
                              </p:par>
                              <p:par>
                                <p:cTn fill="hold" nodeType="withEffect" presetClass="entr" presetID="10" presetSubtype="0">
                                  <p:stCondLst>
                                    <p:cond delay="0"/>
                                  </p:stCondLst>
                                  <p:childTnLst>
                                    <p:set>
                                      <p:cBhvr>
                                        <p:cTn dur="1" fill="hold">
                                          <p:stCondLst>
                                            <p:cond delay="0"/>
                                          </p:stCondLst>
                                        </p:cTn>
                                        <p:tgtEl>
                                          <p:spTgt spid="522"/>
                                        </p:tgtEl>
                                        <p:attrNameLst>
                                          <p:attrName>style.visibility</p:attrName>
                                        </p:attrNameLst>
                                      </p:cBhvr>
                                      <p:to>
                                        <p:strVal val="visible"/>
                                      </p:to>
                                    </p:set>
                                    <p:animEffect filter="fade" transition="in">
                                      <p:cBhvr>
                                        <p:cTn dur="500"/>
                                        <p:tgtEl>
                                          <p:spTgt spid="5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23"/>
          <p:cNvSpPr txBox="1"/>
          <p:nvPr/>
        </p:nvSpPr>
        <p:spPr>
          <a:xfrm>
            <a:off x="583418" y="1219402"/>
            <a:ext cx="6650894" cy="3788692"/>
          </a:xfrm>
          <a:prstGeom prst="rect">
            <a:avLst/>
          </a:prstGeom>
          <a:noFill/>
          <a:ln>
            <a:noFill/>
          </a:ln>
        </p:spPr>
        <p:txBody>
          <a:bodyPr anchorCtr="0" anchor="t" bIns="45700" lIns="91425" spcFirstLastPara="1" rIns="91425" wrap="square" tIns="45700">
            <a:normAutofit/>
          </a:bodyPr>
          <a:lstStyle/>
          <a:p>
            <a:pPr indent="-49213" lvl="0" marL="242888" marR="0" rtl="0" algn="l">
              <a:lnSpc>
                <a:spcPct val="90000"/>
              </a:lnSpc>
              <a:spcBef>
                <a:spcPts val="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227013" lvl="0" marL="242888"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analogies to other infrastructure: roads, railroads, water systems</a:t>
            </a:r>
            <a:endParaRPr/>
          </a:p>
          <a:p>
            <a:pPr indent="-165100" lvl="1" marL="628650"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regional, state, national, international governance </a:t>
            </a:r>
            <a:endParaRPr/>
          </a:p>
          <a:p>
            <a:pPr indent="-165100" lvl="1" marL="628650"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standards</a:t>
            </a:r>
            <a:endParaRPr/>
          </a:p>
          <a:p>
            <a:pPr indent="-165100" lvl="1" marL="628650"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role of industry, user groups, non-profits</a:t>
            </a:r>
            <a:endParaRPr/>
          </a:p>
        </p:txBody>
      </p:sp>
      <p:sp>
        <p:nvSpPr>
          <p:cNvPr id="533" name="Google Shape;533;p23"/>
          <p:cNvSpPr txBox="1"/>
          <p:nvPr>
            <p:ph type="title"/>
          </p:nvPr>
        </p:nvSpPr>
        <p:spPr>
          <a:xfrm>
            <a:off x="517336" y="306910"/>
            <a:ext cx="11088509" cy="89462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4400"/>
              <a:buFont typeface="Calibri"/>
              <a:buNone/>
            </a:pPr>
            <a:r>
              <a:rPr lang="en-US">
                <a:latin typeface="Calibri"/>
                <a:ea typeface="Calibri"/>
                <a:cs typeface="Calibri"/>
                <a:sym typeface="Calibri"/>
              </a:rPr>
              <a:t>“Who controls the Internet?”</a:t>
            </a:r>
            <a:endParaRPr>
              <a:latin typeface="Calibri"/>
              <a:ea typeface="Calibri"/>
              <a:cs typeface="Calibri"/>
              <a:sym typeface="Calibri"/>
            </a:endParaRPr>
          </a:p>
        </p:txBody>
      </p:sp>
      <p:grpSp>
        <p:nvGrpSpPr>
          <p:cNvPr id="534" name="Google Shape;534;p23"/>
          <p:cNvGrpSpPr/>
          <p:nvPr/>
        </p:nvGrpSpPr>
        <p:grpSpPr>
          <a:xfrm>
            <a:off x="7877910" y="685797"/>
            <a:ext cx="3886199" cy="5451233"/>
            <a:chOff x="8229602" y="1107828"/>
            <a:chExt cx="3886199" cy="5451233"/>
          </a:xfrm>
        </p:grpSpPr>
        <p:sp>
          <p:nvSpPr>
            <p:cNvPr id="535" name="Google Shape;535;p23"/>
            <p:cNvSpPr/>
            <p:nvPr/>
          </p:nvSpPr>
          <p:spPr>
            <a:xfrm>
              <a:off x="8229602" y="1107828"/>
              <a:ext cx="3886199" cy="5451233"/>
            </a:xfrm>
            <a:prstGeom prst="rect">
              <a:avLst/>
            </a:prstGeom>
            <a:solidFill>
              <a:srgbClr val="B3C6E7"/>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6" name="Google Shape;536;p23"/>
            <p:cNvSpPr/>
            <p:nvPr/>
          </p:nvSpPr>
          <p:spPr>
            <a:xfrm>
              <a:off x="8458201" y="1389184"/>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7" name="Google Shape;537;p23"/>
            <p:cNvSpPr/>
            <p:nvPr/>
          </p:nvSpPr>
          <p:spPr>
            <a:xfrm>
              <a:off x="8464574" y="1898630"/>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8" name="Google Shape;538;p23"/>
            <p:cNvSpPr/>
            <p:nvPr/>
          </p:nvSpPr>
          <p:spPr>
            <a:xfrm>
              <a:off x="8451612" y="2397375"/>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9" name="Google Shape;539;p23"/>
            <p:cNvSpPr/>
            <p:nvPr/>
          </p:nvSpPr>
          <p:spPr>
            <a:xfrm>
              <a:off x="8460460" y="2850255"/>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0" name="Google Shape;540;p23"/>
            <p:cNvSpPr txBox="1"/>
            <p:nvPr/>
          </p:nvSpPr>
          <p:spPr>
            <a:xfrm>
              <a:off x="8861670" y="2354330"/>
              <a:ext cx="23749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IT’S COMPLICATED</a:t>
              </a:r>
              <a:endParaRPr/>
            </a:p>
          </p:txBody>
        </p:sp>
        <p:sp>
          <p:nvSpPr>
            <p:cNvPr id="541" name="Google Shape;541;p23"/>
            <p:cNvSpPr txBox="1"/>
            <p:nvPr/>
          </p:nvSpPr>
          <p:spPr>
            <a:xfrm>
              <a:off x="8798170" y="1349075"/>
              <a:ext cx="23749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INTERNET USERS</a:t>
              </a:r>
              <a:endParaRPr/>
            </a:p>
          </p:txBody>
        </p:sp>
        <p:sp>
          <p:nvSpPr>
            <p:cNvPr id="542" name="Google Shape;542;p23"/>
            <p:cNvSpPr txBox="1"/>
            <p:nvPr/>
          </p:nvSpPr>
          <p:spPr>
            <a:xfrm>
              <a:off x="8810870" y="1874660"/>
              <a:ext cx="30988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INTERNET SERVICE PROVIDERS</a:t>
              </a:r>
              <a:endParaRPr/>
            </a:p>
          </p:txBody>
        </p:sp>
        <p:sp>
          <p:nvSpPr>
            <p:cNvPr id="543" name="Google Shape;543;p23"/>
            <p:cNvSpPr txBox="1"/>
            <p:nvPr/>
          </p:nvSpPr>
          <p:spPr>
            <a:xfrm>
              <a:off x="8893909" y="3314644"/>
              <a:ext cx="30988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NATION STATES (COUNTRIES)</a:t>
              </a:r>
              <a:endParaRPr/>
            </a:p>
          </p:txBody>
        </p:sp>
        <p:sp>
          <p:nvSpPr>
            <p:cNvPr id="544" name="Google Shape;544;p23"/>
            <p:cNvSpPr/>
            <p:nvPr/>
          </p:nvSpPr>
          <p:spPr>
            <a:xfrm>
              <a:off x="8453688" y="3361956"/>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5" name="Google Shape;545;p23"/>
            <p:cNvSpPr txBox="1"/>
            <p:nvPr/>
          </p:nvSpPr>
          <p:spPr>
            <a:xfrm>
              <a:off x="8876324" y="2823251"/>
              <a:ext cx="30988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IT’S </a:t>
              </a:r>
              <a:r>
                <a:rPr b="0" i="1" lang="en-US" sz="1800" u="none" cap="none" strike="noStrike">
                  <a:solidFill>
                    <a:srgbClr val="000000"/>
                  </a:solidFill>
                  <a:latin typeface="Calibri"/>
                  <a:ea typeface="Calibri"/>
                  <a:cs typeface="Calibri"/>
                  <a:sym typeface="Calibri"/>
                </a:rPr>
                <a:t>REALLY</a:t>
              </a:r>
              <a:r>
                <a:rPr b="0" i="0" lang="en-US" sz="1800" u="none" cap="none" strike="noStrike">
                  <a:solidFill>
                    <a:srgbClr val="000000"/>
                  </a:solidFill>
                  <a:latin typeface="Calibri"/>
                  <a:ea typeface="Calibri"/>
                  <a:cs typeface="Calibri"/>
                  <a:sym typeface="Calibri"/>
                </a:rPr>
                <a:t> COMPLICATED</a:t>
              </a:r>
              <a:endParaRPr/>
            </a:p>
          </p:txBody>
        </p:sp>
        <p:sp>
          <p:nvSpPr>
            <p:cNvPr id="546" name="Google Shape;546;p23"/>
            <p:cNvSpPr/>
            <p:nvPr/>
          </p:nvSpPr>
          <p:spPr>
            <a:xfrm>
              <a:off x="8458101" y="3866048"/>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7" name="Google Shape;547;p23"/>
            <p:cNvSpPr/>
            <p:nvPr/>
          </p:nvSpPr>
          <p:spPr>
            <a:xfrm>
              <a:off x="8457377" y="4370140"/>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8" name="Google Shape;548;p23"/>
            <p:cNvSpPr/>
            <p:nvPr/>
          </p:nvSpPr>
          <p:spPr>
            <a:xfrm>
              <a:off x="8451516" y="4874232"/>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9" name="Google Shape;549;p23"/>
            <p:cNvSpPr txBox="1"/>
            <p:nvPr/>
          </p:nvSpPr>
          <p:spPr>
            <a:xfrm>
              <a:off x="8888047" y="3837297"/>
              <a:ext cx="30988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UNITED NATIONS</a:t>
              </a:r>
              <a:endParaRPr/>
            </a:p>
          </p:txBody>
        </p:sp>
        <p:sp>
          <p:nvSpPr>
            <p:cNvPr id="550" name="Google Shape;550;p23"/>
            <p:cNvSpPr txBox="1"/>
            <p:nvPr/>
          </p:nvSpPr>
          <p:spPr>
            <a:xfrm>
              <a:off x="8847016" y="4358975"/>
              <a:ext cx="30988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STANDARDS BODIES (e.g., IETF)</a:t>
              </a:r>
              <a:endParaRPr/>
            </a:p>
          </p:txBody>
        </p:sp>
        <p:sp>
          <p:nvSpPr>
            <p:cNvPr id="551" name="Google Shape;551;p23"/>
            <p:cNvSpPr txBox="1"/>
            <p:nvPr/>
          </p:nvSpPr>
          <p:spPr>
            <a:xfrm>
              <a:off x="8858739" y="4863067"/>
              <a:ext cx="30988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INTERNET EQUIPMENT MANUFACTURES</a:t>
              </a:r>
              <a:endParaRPr/>
            </a:p>
          </p:txBody>
        </p:sp>
        <p:sp>
          <p:nvSpPr>
            <p:cNvPr id="552" name="Google Shape;552;p23"/>
            <p:cNvSpPr/>
            <p:nvPr/>
          </p:nvSpPr>
          <p:spPr>
            <a:xfrm>
              <a:off x="8458101" y="5589340"/>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53" name="Google Shape;553;p23"/>
            <p:cNvSpPr txBox="1"/>
            <p:nvPr/>
          </p:nvSpPr>
          <p:spPr>
            <a:xfrm>
              <a:off x="8817709" y="5560589"/>
              <a:ext cx="30988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SKYNET INC.</a:t>
              </a:r>
              <a:endParaRPr/>
            </a:p>
          </p:txBody>
        </p:sp>
        <p:sp>
          <p:nvSpPr>
            <p:cNvPr id="554" name="Google Shape;554;p23"/>
            <p:cNvSpPr/>
            <p:nvPr/>
          </p:nvSpPr>
          <p:spPr>
            <a:xfrm>
              <a:off x="8454413" y="6075848"/>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55" name="Google Shape;555;p23"/>
            <p:cNvSpPr txBox="1"/>
            <p:nvPr/>
          </p:nvSpPr>
          <p:spPr>
            <a:xfrm>
              <a:off x="8829432" y="6047097"/>
              <a:ext cx="321603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NON-PROFIT ORGANIZATION(S)</a:t>
              </a:r>
              <a:endParaRPr/>
            </a:p>
          </p:txBody>
        </p:sp>
      </p:grpSp>
      <p:sp>
        <p:nvSpPr>
          <p:cNvPr id="556" name="Google Shape;556;p23"/>
          <p:cNvSpPr txBox="1"/>
          <p:nvPr/>
        </p:nvSpPr>
        <p:spPr>
          <a:xfrm>
            <a:off x="715107" y="-1589942"/>
            <a:ext cx="9465801" cy="602274"/>
          </a:xfrm>
          <a:prstGeom prst="rect">
            <a:avLst/>
          </a:prstGeom>
          <a:noFill/>
          <a:ln>
            <a:noFill/>
          </a:ln>
        </p:spPr>
        <p:txBody>
          <a:bodyPr anchorCtr="0" anchor="t" bIns="45700" lIns="91425" spcFirstLastPara="1" rIns="91425" wrap="square" tIns="45700">
            <a:normAutofit/>
          </a:bodyPr>
          <a:lstStyle/>
          <a:p>
            <a:pPr indent="-227013" lvl="0" marL="242888"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 great question, but ...</a:t>
            </a:r>
            <a:endParaRPr b="0" i="0" sz="2400" u="none" cap="none" strike="noStrike">
              <a:solidFill>
                <a:srgbClr val="000000"/>
              </a:solidFill>
              <a:latin typeface="Calibri"/>
              <a:ea typeface="Calibri"/>
              <a:cs typeface="Calibri"/>
              <a:sym typeface="Calibri"/>
            </a:endParaRPr>
          </a:p>
        </p:txBody>
      </p:sp>
      <p:grpSp>
        <p:nvGrpSpPr>
          <p:cNvPr id="557" name="Google Shape;557;p23"/>
          <p:cNvGrpSpPr/>
          <p:nvPr/>
        </p:nvGrpSpPr>
        <p:grpSpPr>
          <a:xfrm>
            <a:off x="583809" y="1222420"/>
            <a:ext cx="8011023" cy="1463220"/>
            <a:chOff x="583809" y="1222420"/>
            <a:chExt cx="8011023" cy="1463220"/>
          </a:xfrm>
        </p:grpSpPr>
        <p:pic>
          <p:nvPicPr>
            <p:cNvPr descr="Icon&#10;&#10;Description automatically generated" id="558" name="Google Shape;558;p23"/>
            <p:cNvPicPr preferRelativeResize="0"/>
            <p:nvPr/>
          </p:nvPicPr>
          <p:blipFill rotWithShape="1">
            <a:blip r:embed="rId3">
              <a:alphaModFix/>
            </a:blip>
            <a:srcRect b="0" l="0" r="0" t="0"/>
            <a:stretch/>
          </p:blipFill>
          <p:spPr>
            <a:xfrm>
              <a:off x="8093239" y="1838370"/>
              <a:ext cx="500859" cy="403470"/>
            </a:xfrm>
            <a:prstGeom prst="rect">
              <a:avLst/>
            </a:prstGeom>
            <a:noFill/>
            <a:ln>
              <a:noFill/>
            </a:ln>
          </p:spPr>
        </p:pic>
        <p:sp>
          <p:nvSpPr>
            <p:cNvPr id="559" name="Google Shape;559;p23"/>
            <p:cNvSpPr txBox="1"/>
            <p:nvPr/>
          </p:nvSpPr>
          <p:spPr>
            <a:xfrm>
              <a:off x="583809" y="1222420"/>
              <a:ext cx="6267158" cy="602274"/>
            </a:xfrm>
            <a:prstGeom prst="rect">
              <a:avLst/>
            </a:prstGeom>
            <a:noFill/>
            <a:ln>
              <a:noFill/>
            </a:ln>
          </p:spPr>
          <p:txBody>
            <a:bodyPr anchorCtr="0" anchor="t" bIns="45700" lIns="91425" spcFirstLastPara="1" rIns="91425" wrap="square" tIns="45700">
              <a:normAutofit/>
            </a:bodyPr>
            <a:lstStyle/>
            <a:p>
              <a:pPr indent="-227013" lvl="0" marL="242888"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 great question, but ...</a:t>
              </a:r>
              <a:endParaRPr b="0" i="0" sz="2400" u="none" cap="none" strike="noStrike">
                <a:solidFill>
                  <a:srgbClr val="000000"/>
                </a:solidFill>
                <a:latin typeface="Calibri"/>
                <a:ea typeface="Calibri"/>
                <a:cs typeface="Calibri"/>
                <a:sym typeface="Calibri"/>
              </a:endParaRPr>
            </a:p>
          </p:txBody>
        </p:sp>
        <p:pic>
          <p:nvPicPr>
            <p:cNvPr descr="Icon&#10;&#10;Description automatically generated" id="560" name="Google Shape;560;p23"/>
            <p:cNvPicPr preferRelativeResize="0"/>
            <p:nvPr/>
          </p:nvPicPr>
          <p:blipFill rotWithShape="1">
            <a:blip r:embed="rId3">
              <a:alphaModFix/>
            </a:blip>
            <a:srcRect b="0" l="0" r="0" t="0"/>
            <a:stretch/>
          </p:blipFill>
          <p:spPr>
            <a:xfrm>
              <a:off x="8093973" y="2282170"/>
              <a:ext cx="500859" cy="403470"/>
            </a:xfrm>
            <a:prstGeom prst="rect">
              <a:avLst/>
            </a:prstGeom>
            <a:noFill/>
            <a:ln>
              <a:noFill/>
            </a:ln>
          </p:spPr>
        </p:pic>
      </p:grpSp>
      <p:grpSp>
        <p:nvGrpSpPr>
          <p:cNvPr id="561" name="Google Shape;561;p23"/>
          <p:cNvGrpSpPr/>
          <p:nvPr/>
        </p:nvGrpSpPr>
        <p:grpSpPr>
          <a:xfrm>
            <a:off x="608394" y="830166"/>
            <a:ext cx="7997199" cy="5205889"/>
            <a:chOff x="608394" y="830166"/>
            <a:chExt cx="7997199" cy="5205889"/>
          </a:xfrm>
        </p:grpSpPr>
        <p:grpSp>
          <p:nvGrpSpPr>
            <p:cNvPr id="562" name="Google Shape;562;p23"/>
            <p:cNvGrpSpPr/>
            <p:nvPr/>
          </p:nvGrpSpPr>
          <p:grpSpPr>
            <a:xfrm>
              <a:off x="8095326" y="830166"/>
              <a:ext cx="510267" cy="5094500"/>
              <a:chOff x="8095326" y="830166"/>
              <a:chExt cx="510267" cy="5094500"/>
            </a:xfrm>
          </p:grpSpPr>
          <p:pic>
            <p:nvPicPr>
              <p:cNvPr descr="Icon&#10;&#10;Description automatically generated" id="563" name="Google Shape;563;p23"/>
              <p:cNvPicPr preferRelativeResize="0"/>
              <p:nvPr/>
            </p:nvPicPr>
            <p:blipFill rotWithShape="1">
              <a:blip r:embed="rId3">
                <a:alphaModFix/>
              </a:blip>
              <a:srcRect b="0" l="0" r="0" t="0"/>
              <a:stretch/>
            </p:blipFill>
            <p:spPr>
              <a:xfrm>
                <a:off x="8104734" y="830166"/>
                <a:ext cx="500859" cy="403470"/>
              </a:xfrm>
              <a:prstGeom prst="rect">
                <a:avLst/>
              </a:prstGeom>
              <a:noFill/>
              <a:ln>
                <a:noFill/>
              </a:ln>
            </p:spPr>
          </p:pic>
          <p:pic>
            <p:nvPicPr>
              <p:cNvPr descr="Icon&#10;&#10;Description automatically generated" id="564" name="Google Shape;564;p23"/>
              <p:cNvPicPr preferRelativeResize="0"/>
              <p:nvPr/>
            </p:nvPicPr>
            <p:blipFill rotWithShape="1">
              <a:blip r:embed="rId3">
                <a:alphaModFix/>
              </a:blip>
              <a:srcRect b="0" l="0" r="0" t="0"/>
              <a:stretch/>
            </p:blipFill>
            <p:spPr>
              <a:xfrm>
                <a:off x="8104124" y="1339405"/>
                <a:ext cx="500859" cy="403470"/>
              </a:xfrm>
              <a:prstGeom prst="rect">
                <a:avLst/>
              </a:prstGeom>
              <a:noFill/>
              <a:ln>
                <a:noFill/>
              </a:ln>
            </p:spPr>
          </p:pic>
          <p:pic>
            <p:nvPicPr>
              <p:cNvPr descr="Icon&#10;&#10;Description automatically generated" id="565" name="Google Shape;565;p23"/>
              <p:cNvPicPr preferRelativeResize="0"/>
              <p:nvPr/>
            </p:nvPicPr>
            <p:blipFill rotWithShape="1">
              <a:blip r:embed="rId3">
                <a:alphaModFix/>
              </a:blip>
              <a:srcRect b="0" l="0" r="0" t="0"/>
              <a:stretch/>
            </p:blipFill>
            <p:spPr>
              <a:xfrm>
                <a:off x="8102294" y="2805477"/>
                <a:ext cx="500859" cy="403470"/>
              </a:xfrm>
              <a:prstGeom prst="rect">
                <a:avLst/>
              </a:prstGeom>
              <a:noFill/>
              <a:ln>
                <a:noFill/>
              </a:ln>
            </p:spPr>
          </p:pic>
          <p:pic>
            <p:nvPicPr>
              <p:cNvPr descr="Icon&#10;&#10;Description automatically generated" id="566" name="Google Shape;566;p23"/>
              <p:cNvPicPr preferRelativeResize="0"/>
              <p:nvPr/>
            </p:nvPicPr>
            <p:blipFill rotWithShape="1">
              <a:blip r:embed="rId3">
                <a:alphaModFix/>
              </a:blip>
              <a:srcRect b="0" l="0" r="0" t="0"/>
              <a:stretch/>
            </p:blipFill>
            <p:spPr>
              <a:xfrm>
                <a:off x="8101683" y="3304441"/>
                <a:ext cx="500859" cy="403470"/>
              </a:xfrm>
              <a:prstGeom prst="rect">
                <a:avLst/>
              </a:prstGeom>
              <a:noFill/>
              <a:ln>
                <a:noFill/>
              </a:ln>
            </p:spPr>
          </p:pic>
          <p:pic>
            <p:nvPicPr>
              <p:cNvPr descr="Icon&#10;&#10;Description automatically generated" id="567" name="Google Shape;567;p23"/>
              <p:cNvPicPr preferRelativeResize="0"/>
              <p:nvPr/>
            </p:nvPicPr>
            <p:blipFill rotWithShape="1">
              <a:blip r:embed="rId3">
                <a:alphaModFix/>
              </a:blip>
              <a:srcRect b="0" l="0" r="0" t="0"/>
              <a:stretch/>
            </p:blipFill>
            <p:spPr>
              <a:xfrm>
                <a:off x="8101073" y="3813680"/>
                <a:ext cx="500859" cy="403470"/>
              </a:xfrm>
              <a:prstGeom prst="rect">
                <a:avLst/>
              </a:prstGeom>
              <a:noFill/>
              <a:ln>
                <a:noFill/>
              </a:ln>
            </p:spPr>
          </p:pic>
          <p:pic>
            <p:nvPicPr>
              <p:cNvPr descr="Icon&#10;&#10;Description automatically generated" id="568" name="Google Shape;568;p23"/>
              <p:cNvPicPr preferRelativeResize="0"/>
              <p:nvPr/>
            </p:nvPicPr>
            <p:blipFill rotWithShape="1">
              <a:blip r:embed="rId3">
                <a:alphaModFix/>
              </a:blip>
              <a:srcRect b="0" l="0" r="0" t="0"/>
              <a:stretch/>
            </p:blipFill>
            <p:spPr>
              <a:xfrm>
                <a:off x="8095326" y="4322920"/>
                <a:ext cx="500859" cy="403470"/>
              </a:xfrm>
              <a:prstGeom prst="rect">
                <a:avLst/>
              </a:prstGeom>
              <a:noFill/>
              <a:ln>
                <a:noFill/>
              </a:ln>
            </p:spPr>
          </p:pic>
          <p:pic>
            <p:nvPicPr>
              <p:cNvPr descr="Icon&#10;&#10;Description automatically generated" id="569" name="Google Shape;569;p23"/>
              <p:cNvPicPr preferRelativeResize="0"/>
              <p:nvPr/>
            </p:nvPicPr>
            <p:blipFill rotWithShape="1">
              <a:blip r:embed="rId3">
                <a:alphaModFix/>
              </a:blip>
              <a:srcRect b="0" l="0" r="0" t="0"/>
              <a:stretch/>
            </p:blipFill>
            <p:spPr>
              <a:xfrm>
                <a:off x="8099243" y="5521196"/>
                <a:ext cx="500859" cy="403470"/>
              </a:xfrm>
              <a:prstGeom prst="rect">
                <a:avLst/>
              </a:prstGeom>
              <a:noFill/>
              <a:ln>
                <a:noFill/>
              </a:ln>
            </p:spPr>
          </p:pic>
        </p:grpSp>
        <p:sp>
          <p:nvSpPr>
            <p:cNvPr id="570" name="Google Shape;570;p23"/>
            <p:cNvSpPr txBox="1"/>
            <p:nvPr/>
          </p:nvSpPr>
          <p:spPr>
            <a:xfrm>
              <a:off x="608394" y="4270766"/>
              <a:ext cx="6650894" cy="1765289"/>
            </a:xfrm>
            <a:prstGeom prst="rect">
              <a:avLst/>
            </a:prstGeom>
            <a:noFill/>
            <a:ln>
              <a:noFill/>
            </a:ln>
          </p:spPr>
          <p:txBody>
            <a:bodyPr anchorCtr="0" anchor="t" bIns="45700" lIns="91425" spcFirstLastPara="1" rIns="91425" wrap="square" tIns="45700">
              <a:normAutofit/>
            </a:bodyPr>
            <a:lstStyle/>
            <a:p>
              <a:pPr indent="-227013" lvl="0" marL="242888"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who are the “actors”, who cares, and who makes decisions?</a:t>
              </a:r>
              <a:endParaRPr/>
            </a:p>
            <a:p>
              <a:pPr indent="-227012" lvl="1" marL="585788"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multistakeholder governance model</a:t>
              </a:r>
              <a:endParaRPr/>
            </a:p>
            <a:p>
              <a:pPr indent="-227012" lvl="1" marL="585788"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“tussle”/conflicts among actors “who care”</a:t>
              </a:r>
              <a:endParaRPr/>
            </a:p>
          </p:txBody>
        </p:sp>
      </p:grpSp>
      <p:sp>
        <p:nvSpPr>
          <p:cNvPr id="571" name="Google Shape;571;p2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Supplemental: 1-</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24"/>
          <p:cNvSpPr txBox="1"/>
          <p:nvPr>
            <p:ph type="title"/>
          </p:nvPr>
        </p:nvSpPr>
        <p:spPr>
          <a:xfrm>
            <a:off x="517336" y="306910"/>
            <a:ext cx="11088509" cy="89462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3600"/>
              <a:buFont typeface="Calibri"/>
              <a:buNone/>
            </a:pPr>
            <a:r>
              <a:rPr lang="en-US" sz="3600">
                <a:latin typeface="Calibri"/>
                <a:ea typeface="Calibri"/>
                <a:cs typeface="Calibri"/>
                <a:sym typeface="Calibri"/>
              </a:rPr>
              <a:t>Who “controls” the Internet: breaking the problem down</a:t>
            </a:r>
            <a:endParaRPr sz="3600">
              <a:latin typeface="Calibri"/>
              <a:ea typeface="Calibri"/>
              <a:cs typeface="Calibri"/>
              <a:sym typeface="Calibri"/>
            </a:endParaRPr>
          </a:p>
        </p:txBody>
      </p:sp>
      <p:sp>
        <p:nvSpPr>
          <p:cNvPr id="578" name="Google Shape;578;p24"/>
          <p:cNvSpPr txBox="1"/>
          <p:nvPr/>
        </p:nvSpPr>
        <p:spPr>
          <a:xfrm>
            <a:off x="599397" y="1057187"/>
            <a:ext cx="11088509" cy="89462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Reference model for discussing governance </a:t>
            </a:r>
            <a:r>
              <a:rPr b="0" i="0" lang="en-US" sz="2000" u="none" cap="none" strike="noStrike">
                <a:solidFill>
                  <a:srgbClr val="000000"/>
                </a:solidFill>
                <a:latin typeface="Calibri"/>
                <a:ea typeface="Calibri"/>
                <a:cs typeface="Calibri"/>
                <a:sym typeface="Calibri"/>
              </a:rPr>
              <a:t>(different from Internet/OSI protocol stack)</a:t>
            </a:r>
            <a:r>
              <a:rPr b="0" i="0" lang="en-US" sz="28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p:txBody>
      </p:sp>
      <p:sp>
        <p:nvSpPr>
          <p:cNvPr id="579" name="Google Shape;579;p2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Supplemental: 1-</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580" name="Google Shape;580;p24"/>
          <p:cNvSpPr/>
          <p:nvPr/>
        </p:nvSpPr>
        <p:spPr>
          <a:xfrm>
            <a:off x="696684" y="5957277"/>
            <a:ext cx="9361716" cy="6463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V. Cerf, P. Ryan, M. Senges, “</a:t>
            </a:r>
            <a:r>
              <a:rPr b="1" i="0" lang="en-US" sz="1800" u="none" cap="none" strike="noStrike">
                <a:solidFill>
                  <a:srgbClr val="000000"/>
                </a:solidFill>
                <a:latin typeface="Calibri"/>
                <a:ea typeface="Calibri"/>
                <a:cs typeface="Calibri"/>
                <a:sym typeface="Calibri"/>
              </a:rPr>
              <a:t>Internet Governance Is Our Shared Responsibility”</a:t>
            </a:r>
            <a:endParaRPr/>
          </a:p>
          <a:p>
            <a:pPr indent="0" lvl="0" marL="0" marR="0" rtl="0" algn="l">
              <a:lnSpc>
                <a:spcPct val="100000"/>
              </a:lnSpc>
              <a:spcBef>
                <a:spcPts val="0"/>
              </a:spcBef>
              <a:spcAft>
                <a:spcPts val="0"/>
              </a:spcAft>
              <a:buClr>
                <a:srgbClr val="000000"/>
              </a:buClr>
              <a:buSzPts val="1800"/>
              <a:buFont typeface="Calibri"/>
              <a:buNone/>
            </a:pPr>
            <a:r>
              <a:rPr b="0" i="1" lang="en-US" sz="1800" u="none" cap="none" strike="noStrike">
                <a:solidFill>
                  <a:srgbClr val="000000"/>
                </a:solidFill>
                <a:latin typeface="Calibri"/>
                <a:ea typeface="Calibri"/>
                <a:cs typeface="Calibri"/>
                <a:sym typeface="Calibri"/>
              </a:rPr>
              <a:t>I/S: A Journal of Law and Policy for the Information Society, </a:t>
            </a:r>
            <a:r>
              <a:rPr b="0" i="0" lang="en-US" sz="1800" u="none" cap="none" strike="noStrike">
                <a:solidFill>
                  <a:srgbClr val="000000"/>
                </a:solidFill>
                <a:latin typeface="Calibri"/>
                <a:ea typeface="Calibri"/>
                <a:cs typeface="Calibri"/>
                <a:sym typeface="Calibri"/>
              </a:rPr>
              <a:t>10 ISJLP 1 (2014).</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25"/>
          <p:cNvSpPr txBox="1"/>
          <p:nvPr>
            <p:ph type="title"/>
          </p:nvPr>
        </p:nvSpPr>
        <p:spPr>
          <a:xfrm>
            <a:off x="517336" y="306910"/>
            <a:ext cx="11088509" cy="89462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3600"/>
              <a:buFont typeface="Calibri"/>
              <a:buNone/>
            </a:pPr>
            <a:r>
              <a:rPr lang="en-US" sz="3600">
                <a:latin typeface="Calibri"/>
                <a:ea typeface="Calibri"/>
                <a:cs typeface="Calibri"/>
                <a:sym typeface="Calibri"/>
              </a:rPr>
              <a:t>Who “controls” the Internet: breaking the problem down</a:t>
            </a:r>
            <a:endParaRPr sz="3600">
              <a:latin typeface="Calibri"/>
              <a:ea typeface="Calibri"/>
              <a:cs typeface="Calibri"/>
              <a:sym typeface="Calibri"/>
            </a:endParaRPr>
          </a:p>
        </p:txBody>
      </p:sp>
      <p:grpSp>
        <p:nvGrpSpPr>
          <p:cNvPr id="587" name="Google Shape;587;p25"/>
          <p:cNvGrpSpPr/>
          <p:nvPr/>
        </p:nvGrpSpPr>
        <p:grpSpPr>
          <a:xfrm>
            <a:off x="2338754" y="2200895"/>
            <a:ext cx="8892112" cy="3870985"/>
            <a:chOff x="2338754" y="2200895"/>
            <a:chExt cx="8892112" cy="3870985"/>
          </a:xfrm>
        </p:grpSpPr>
        <p:sp>
          <p:nvSpPr>
            <p:cNvPr id="588" name="Google Shape;588;p25"/>
            <p:cNvSpPr/>
            <p:nvPr/>
          </p:nvSpPr>
          <p:spPr>
            <a:xfrm>
              <a:off x="2338754" y="2200895"/>
              <a:ext cx="8892112" cy="3870985"/>
            </a:xfrm>
            <a:prstGeom prst="rect">
              <a:avLst/>
            </a:prstGeom>
            <a:solidFill>
              <a:schemeClr val="lt1"/>
            </a:solidFill>
            <a:ln cap="flat" cmpd="sng" w="28575">
              <a:solidFill>
                <a:schemeClr val="dk1"/>
              </a:solidFill>
              <a:prstDash val="solid"/>
              <a:miter lim="800000"/>
              <a:headEnd len="sm" w="sm" type="none"/>
              <a:tailEnd len="sm" w="sm" type="none"/>
            </a:ln>
            <a:effectLst>
              <a:outerShdw blurRad="76200" sx="101000" rotWithShape="0" algn="bl" dir="18900000" dist="38100" sy="1010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cxnSp>
          <p:nvCxnSpPr>
            <p:cNvPr id="589" name="Google Shape;589;p25"/>
            <p:cNvCxnSpPr/>
            <p:nvPr/>
          </p:nvCxnSpPr>
          <p:spPr>
            <a:xfrm>
              <a:off x="2338754" y="3550090"/>
              <a:ext cx="8879755" cy="0"/>
            </a:xfrm>
            <a:prstGeom prst="straightConnector1">
              <a:avLst/>
            </a:prstGeom>
            <a:noFill/>
            <a:ln cap="flat" cmpd="sng" w="25400">
              <a:solidFill>
                <a:schemeClr val="dk1"/>
              </a:solidFill>
              <a:prstDash val="solid"/>
              <a:miter lim="800000"/>
              <a:headEnd len="sm" w="sm" type="none"/>
              <a:tailEnd len="sm" w="sm" type="none"/>
            </a:ln>
          </p:spPr>
        </p:cxnSp>
        <p:cxnSp>
          <p:nvCxnSpPr>
            <p:cNvPr id="590" name="Google Shape;590;p25"/>
            <p:cNvCxnSpPr/>
            <p:nvPr/>
          </p:nvCxnSpPr>
          <p:spPr>
            <a:xfrm>
              <a:off x="2338754" y="4812234"/>
              <a:ext cx="8879755" cy="0"/>
            </a:xfrm>
            <a:prstGeom prst="straightConnector1">
              <a:avLst/>
            </a:prstGeom>
            <a:noFill/>
            <a:ln cap="flat" cmpd="sng" w="25400">
              <a:solidFill>
                <a:schemeClr val="dk1"/>
              </a:solidFill>
              <a:prstDash val="solid"/>
              <a:miter lim="800000"/>
              <a:headEnd len="sm" w="sm" type="none"/>
              <a:tailEnd len="sm" w="sm" type="none"/>
            </a:ln>
          </p:spPr>
        </p:cxnSp>
      </p:grpSp>
      <p:sp>
        <p:nvSpPr>
          <p:cNvPr id="591" name="Google Shape;591;p25"/>
          <p:cNvSpPr txBox="1"/>
          <p:nvPr/>
        </p:nvSpPr>
        <p:spPr>
          <a:xfrm>
            <a:off x="599397" y="1057187"/>
            <a:ext cx="11088509" cy="89462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Reference model for discussing governance </a:t>
            </a:r>
            <a:r>
              <a:rPr b="0" i="0" lang="en-US" sz="2000" u="none" cap="none" strike="noStrike">
                <a:solidFill>
                  <a:srgbClr val="000000"/>
                </a:solidFill>
                <a:latin typeface="Calibri"/>
                <a:ea typeface="Calibri"/>
                <a:cs typeface="Calibri"/>
                <a:sym typeface="Calibri"/>
              </a:rPr>
              <a:t>(different from Internet/OSI protocol stack)</a:t>
            </a:r>
            <a:r>
              <a:rPr b="0" i="0" lang="en-US" sz="28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p:txBody>
      </p:sp>
      <p:sp>
        <p:nvSpPr>
          <p:cNvPr id="592" name="Google Shape;592;p2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Supplemental: 1-</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grpSp>
        <p:nvGrpSpPr>
          <p:cNvPr id="593" name="Google Shape;593;p25"/>
          <p:cNvGrpSpPr/>
          <p:nvPr/>
        </p:nvGrpSpPr>
        <p:grpSpPr>
          <a:xfrm>
            <a:off x="2555790" y="2596986"/>
            <a:ext cx="3393671" cy="3128683"/>
            <a:chOff x="2555790" y="2596986"/>
            <a:chExt cx="3393671" cy="3128683"/>
          </a:xfrm>
        </p:grpSpPr>
        <p:sp>
          <p:nvSpPr>
            <p:cNvPr id="594" name="Google Shape;594;p25"/>
            <p:cNvSpPr txBox="1"/>
            <p:nvPr/>
          </p:nvSpPr>
          <p:spPr>
            <a:xfrm>
              <a:off x="2555790" y="5140894"/>
              <a:ext cx="3393671"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200"/>
                <a:buFont typeface="Noto Sans Symbols"/>
                <a:buNone/>
              </a:pPr>
              <a:r>
                <a:rPr b="0" i="0" lang="en-US" sz="3200" u="none" cap="none" strike="noStrike">
                  <a:solidFill>
                    <a:srgbClr val="C00000"/>
                  </a:solidFill>
                  <a:latin typeface="Calibri"/>
                  <a:ea typeface="Calibri"/>
                  <a:cs typeface="Calibri"/>
                  <a:sym typeface="Calibri"/>
                </a:rPr>
                <a:t>infrastructure layer</a:t>
              </a:r>
              <a:endParaRPr/>
            </a:p>
          </p:txBody>
        </p:sp>
        <p:sp>
          <p:nvSpPr>
            <p:cNvPr id="595" name="Google Shape;595;p25"/>
            <p:cNvSpPr txBox="1"/>
            <p:nvPr/>
          </p:nvSpPr>
          <p:spPr>
            <a:xfrm>
              <a:off x="2620267" y="3868940"/>
              <a:ext cx="3083847"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200"/>
                <a:buFont typeface="Noto Sans Symbols"/>
                <a:buNone/>
              </a:pPr>
              <a:r>
                <a:rPr b="0" i="0" lang="en-US" sz="3200" u="none" cap="none" strike="noStrike">
                  <a:solidFill>
                    <a:srgbClr val="C00000"/>
                  </a:solidFill>
                  <a:latin typeface="Calibri"/>
                  <a:ea typeface="Calibri"/>
                  <a:cs typeface="Calibri"/>
                  <a:sym typeface="Calibri"/>
                </a:rPr>
                <a:t>names, numbers</a:t>
              </a:r>
              <a:endParaRPr/>
            </a:p>
          </p:txBody>
        </p:sp>
        <p:sp>
          <p:nvSpPr>
            <p:cNvPr id="596" name="Google Shape;596;p25"/>
            <p:cNvSpPr txBox="1"/>
            <p:nvPr/>
          </p:nvSpPr>
          <p:spPr>
            <a:xfrm>
              <a:off x="2596822" y="2596986"/>
              <a:ext cx="256404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200"/>
                <a:buFont typeface="Noto Sans Symbols"/>
                <a:buNone/>
              </a:pPr>
              <a:r>
                <a:rPr b="0" i="0" lang="en-US" sz="3200" u="none" cap="none" strike="noStrike">
                  <a:solidFill>
                    <a:srgbClr val="C00000"/>
                  </a:solidFill>
                  <a:latin typeface="Calibri"/>
                  <a:ea typeface="Calibri"/>
                  <a:cs typeface="Calibri"/>
                  <a:sym typeface="Calibri"/>
                </a:rPr>
                <a:t>content layer</a:t>
              </a: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26"/>
          <p:cNvSpPr txBox="1"/>
          <p:nvPr>
            <p:ph type="title"/>
          </p:nvPr>
        </p:nvSpPr>
        <p:spPr>
          <a:xfrm>
            <a:off x="517336" y="306910"/>
            <a:ext cx="11088509" cy="89462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3600"/>
              <a:buFont typeface="Calibri"/>
              <a:buNone/>
            </a:pPr>
            <a:r>
              <a:rPr lang="en-US" sz="3600">
                <a:latin typeface="Calibri"/>
                <a:ea typeface="Calibri"/>
                <a:cs typeface="Calibri"/>
                <a:sym typeface="Calibri"/>
              </a:rPr>
              <a:t>Who “controls” the Internet: breaking the problem down</a:t>
            </a:r>
            <a:endParaRPr sz="3600">
              <a:latin typeface="Calibri"/>
              <a:ea typeface="Calibri"/>
              <a:cs typeface="Calibri"/>
              <a:sym typeface="Calibri"/>
            </a:endParaRPr>
          </a:p>
        </p:txBody>
      </p:sp>
      <p:grpSp>
        <p:nvGrpSpPr>
          <p:cNvPr id="603" name="Google Shape;603;p26"/>
          <p:cNvGrpSpPr/>
          <p:nvPr/>
        </p:nvGrpSpPr>
        <p:grpSpPr>
          <a:xfrm>
            <a:off x="2338754" y="2200895"/>
            <a:ext cx="8892112" cy="3870985"/>
            <a:chOff x="2338754" y="2200895"/>
            <a:chExt cx="8892112" cy="3870985"/>
          </a:xfrm>
        </p:grpSpPr>
        <p:sp>
          <p:nvSpPr>
            <p:cNvPr id="604" name="Google Shape;604;p26"/>
            <p:cNvSpPr/>
            <p:nvPr/>
          </p:nvSpPr>
          <p:spPr>
            <a:xfrm>
              <a:off x="2338754" y="2200895"/>
              <a:ext cx="8892112" cy="3870985"/>
            </a:xfrm>
            <a:prstGeom prst="rect">
              <a:avLst/>
            </a:prstGeom>
            <a:solidFill>
              <a:schemeClr val="lt1"/>
            </a:solidFill>
            <a:ln cap="flat" cmpd="sng" w="28575">
              <a:solidFill>
                <a:schemeClr val="dk1"/>
              </a:solidFill>
              <a:prstDash val="solid"/>
              <a:miter lim="800000"/>
              <a:headEnd len="sm" w="sm" type="none"/>
              <a:tailEnd len="sm" w="sm" type="none"/>
            </a:ln>
            <a:effectLst>
              <a:outerShdw blurRad="76200" sx="101000" rotWithShape="0" algn="bl" dir="18900000" dist="38100" sy="1010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cxnSp>
          <p:nvCxnSpPr>
            <p:cNvPr id="605" name="Google Shape;605;p26"/>
            <p:cNvCxnSpPr/>
            <p:nvPr/>
          </p:nvCxnSpPr>
          <p:spPr>
            <a:xfrm>
              <a:off x="2338754" y="3550090"/>
              <a:ext cx="8879755" cy="0"/>
            </a:xfrm>
            <a:prstGeom prst="straightConnector1">
              <a:avLst/>
            </a:prstGeom>
            <a:noFill/>
            <a:ln cap="flat" cmpd="sng" w="25400">
              <a:solidFill>
                <a:schemeClr val="dk1"/>
              </a:solidFill>
              <a:prstDash val="solid"/>
              <a:miter lim="800000"/>
              <a:headEnd len="sm" w="sm" type="none"/>
              <a:tailEnd len="sm" w="sm" type="none"/>
            </a:ln>
          </p:spPr>
        </p:cxnSp>
        <p:cxnSp>
          <p:nvCxnSpPr>
            <p:cNvPr id="606" name="Google Shape;606;p26"/>
            <p:cNvCxnSpPr/>
            <p:nvPr/>
          </p:nvCxnSpPr>
          <p:spPr>
            <a:xfrm>
              <a:off x="2338754" y="4812234"/>
              <a:ext cx="8879755" cy="0"/>
            </a:xfrm>
            <a:prstGeom prst="straightConnector1">
              <a:avLst/>
            </a:prstGeom>
            <a:noFill/>
            <a:ln cap="flat" cmpd="sng" w="25400">
              <a:solidFill>
                <a:schemeClr val="dk1"/>
              </a:solidFill>
              <a:prstDash val="solid"/>
              <a:miter lim="800000"/>
              <a:headEnd len="sm" w="sm" type="none"/>
              <a:tailEnd len="sm" w="sm" type="none"/>
            </a:ln>
          </p:spPr>
        </p:cxnSp>
      </p:grpSp>
      <p:sp>
        <p:nvSpPr>
          <p:cNvPr id="607" name="Google Shape;607;p26"/>
          <p:cNvSpPr txBox="1"/>
          <p:nvPr/>
        </p:nvSpPr>
        <p:spPr>
          <a:xfrm>
            <a:off x="599397" y="1057187"/>
            <a:ext cx="11088509" cy="89462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Reference model for discussing governance </a:t>
            </a:r>
            <a:r>
              <a:rPr b="0" i="0" lang="en-US" sz="2000" u="none" cap="none" strike="noStrike">
                <a:solidFill>
                  <a:srgbClr val="000000"/>
                </a:solidFill>
                <a:latin typeface="Calibri"/>
                <a:ea typeface="Calibri"/>
                <a:cs typeface="Calibri"/>
                <a:sym typeface="Calibri"/>
              </a:rPr>
              <a:t>(different from Internet/OSI protocol stack)</a:t>
            </a:r>
            <a:r>
              <a:rPr b="0" i="0" lang="en-US" sz="28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p:txBody>
      </p:sp>
      <p:sp>
        <p:nvSpPr>
          <p:cNvPr id="608" name="Google Shape;608;p26"/>
          <p:cNvSpPr txBox="1"/>
          <p:nvPr/>
        </p:nvSpPr>
        <p:spPr>
          <a:xfrm>
            <a:off x="2555790" y="5140894"/>
            <a:ext cx="3393671"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200"/>
              <a:buFont typeface="Noto Sans Symbols"/>
              <a:buNone/>
            </a:pPr>
            <a:r>
              <a:rPr b="0" i="0" lang="en-US" sz="3200" u="none" cap="none" strike="noStrike">
                <a:solidFill>
                  <a:srgbClr val="C00000"/>
                </a:solidFill>
                <a:latin typeface="Calibri"/>
                <a:ea typeface="Calibri"/>
                <a:cs typeface="Calibri"/>
                <a:sym typeface="Calibri"/>
              </a:rPr>
              <a:t>infrastructure layer</a:t>
            </a:r>
            <a:endParaRPr/>
          </a:p>
        </p:txBody>
      </p:sp>
      <p:sp>
        <p:nvSpPr>
          <p:cNvPr id="609" name="Google Shape;609;p26"/>
          <p:cNvSpPr txBox="1"/>
          <p:nvPr/>
        </p:nvSpPr>
        <p:spPr>
          <a:xfrm>
            <a:off x="6260123" y="4835769"/>
            <a:ext cx="3960764" cy="11872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Technical </a:t>
            </a:r>
            <a:r>
              <a:rPr b="0" i="1" lang="en-US" sz="2000" u="none" cap="none" strike="noStrike">
                <a:solidFill>
                  <a:srgbClr val="0000A8"/>
                </a:solidFill>
                <a:latin typeface="Calibri"/>
                <a:ea typeface="Calibri"/>
                <a:cs typeface="Calibri"/>
                <a:sym typeface="Calibri"/>
              </a:rPr>
              <a:t>standards</a:t>
            </a:r>
            <a:r>
              <a:rPr b="0" i="0" lang="en-US" sz="2000" u="none" cap="none" strike="noStrike">
                <a:solidFill>
                  <a:srgbClr val="000000"/>
                </a:solidFill>
                <a:latin typeface="Calibri"/>
                <a:ea typeface="Calibri"/>
                <a:cs typeface="Calibri"/>
                <a:sym typeface="Calibri"/>
              </a:rPr>
              <a:t> for</a:t>
            </a:r>
            <a:endParaRPr/>
          </a:p>
          <a:p>
            <a:pPr indent="-217488" lvl="0" marL="285750" marR="0" rtl="0" algn="l">
              <a:lnSpc>
                <a:spcPct val="85000"/>
              </a:lnSpc>
              <a:spcBef>
                <a:spcPts val="0"/>
              </a:spcBef>
              <a:spcAft>
                <a:spcPts val="0"/>
              </a:spcAft>
              <a:buClr>
                <a:srgbClr val="0000A8"/>
              </a:buClr>
              <a:buSzPts val="2000"/>
              <a:buFont typeface="Noto Sans Symbols"/>
              <a:buChar char="▪"/>
            </a:pPr>
            <a:r>
              <a:rPr b="0" i="0" lang="en-US" sz="2000" u="none" cap="none" strike="noStrike">
                <a:solidFill>
                  <a:srgbClr val="000000"/>
                </a:solidFill>
                <a:latin typeface="Calibri"/>
                <a:ea typeface="Calibri"/>
                <a:cs typeface="Calibri"/>
                <a:sym typeface="Calibri"/>
              </a:rPr>
              <a:t>hardware: links, switches, routers</a:t>
            </a:r>
            <a:endParaRPr/>
          </a:p>
          <a:p>
            <a:pPr indent="-217488" lvl="0" marL="285750" marR="0" rtl="0" algn="l">
              <a:lnSpc>
                <a:spcPct val="85000"/>
              </a:lnSpc>
              <a:spcBef>
                <a:spcPts val="0"/>
              </a:spcBef>
              <a:spcAft>
                <a:spcPts val="0"/>
              </a:spcAft>
              <a:buClr>
                <a:srgbClr val="0000A8"/>
              </a:buClr>
              <a:buSzPts val="2000"/>
              <a:buFont typeface="Noto Sans Symbols"/>
              <a:buChar char="▪"/>
            </a:pPr>
            <a:r>
              <a:rPr b="0" i="0" lang="en-US" sz="2000" u="none" cap="none" strike="noStrike">
                <a:solidFill>
                  <a:srgbClr val="000000"/>
                </a:solidFill>
                <a:latin typeface="Calibri"/>
                <a:ea typeface="Calibri"/>
                <a:cs typeface="Calibri"/>
                <a:sym typeface="Calibri"/>
              </a:rPr>
              <a:t>protocols, message formats</a:t>
            </a:r>
            <a:endParaRPr/>
          </a:p>
          <a:p>
            <a:pPr indent="-217488" lvl="0" marL="285750" marR="0" rtl="0" algn="l">
              <a:lnSpc>
                <a:spcPct val="85000"/>
              </a:lnSpc>
              <a:spcBef>
                <a:spcPts val="0"/>
              </a:spcBef>
              <a:spcAft>
                <a:spcPts val="0"/>
              </a:spcAft>
              <a:buClr>
                <a:srgbClr val="0000A8"/>
              </a:buClr>
              <a:buSzPts val="2000"/>
              <a:buFont typeface="Noto Sans Symbols"/>
              <a:buChar char="▪"/>
            </a:pPr>
            <a:r>
              <a:rPr b="0" i="0" lang="en-US" sz="2000" u="none" cap="none" strike="noStrike">
                <a:solidFill>
                  <a:srgbClr val="000000"/>
                </a:solidFill>
                <a:latin typeface="Calibri"/>
                <a:ea typeface="Calibri"/>
                <a:cs typeface="Calibri"/>
                <a:sym typeface="Calibri"/>
              </a:rPr>
              <a:t>data formats</a:t>
            </a:r>
            <a:r>
              <a:rPr b="0" i="0" lang="en-US" sz="1800" u="none" cap="none" strike="noStrike">
                <a:solidFill>
                  <a:srgbClr val="000000"/>
                </a:solidFill>
                <a:latin typeface="Calibri"/>
                <a:ea typeface="Calibri"/>
                <a:cs typeface="Calibri"/>
                <a:sym typeface="Calibri"/>
              </a:rPr>
              <a:t> (e.g., mp4)</a:t>
            </a:r>
            <a:endParaRPr b="0" i="0" sz="2000" u="none" cap="none" strike="noStrike">
              <a:solidFill>
                <a:srgbClr val="000000"/>
              </a:solidFill>
              <a:latin typeface="Calibri"/>
              <a:ea typeface="Calibri"/>
              <a:cs typeface="Calibri"/>
              <a:sym typeface="Calibri"/>
            </a:endParaRPr>
          </a:p>
        </p:txBody>
      </p:sp>
      <p:sp>
        <p:nvSpPr>
          <p:cNvPr id="610" name="Google Shape;610;p26"/>
          <p:cNvSpPr txBox="1"/>
          <p:nvPr/>
        </p:nvSpPr>
        <p:spPr>
          <a:xfrm>
            <a:off x="2620267" y="3868940"/>
            <a:ext cx="3083847"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200"/>
              <a:buFont typeface="Noto Sans Symbols"/>
              <a:buNone/>
            </a:pPr>
            <a:r>
              <a:rPr b="0" i="0" lang="en-US" sz="3200" u="none" cap="none" strike="noStrike">
                <a:solidFill>
                  <a:srgbClr val="C00000"/>
                </a:solidFill>
                <a:latin typeface="Calibri"/>
                <a:ea typeface="Calibri"/>
                <a:cs typeface="Calibri"/>
                <a:sym typeface="Calibri"/>
              </a:rPr>
              <a:t>names, numbers</a:t>
            </a:r>
            <a:endParaRPr/>
          </a:p>
        </p:txBody>
      </p:sp>
      <p:sp>
        <p:nvSpPr>
          <p:cNvPr id="611" name="Google Shape;611;p26"/>
          <p:cNvSpPr txBox="1"/>
          <p:nvPr/>
        </p:nvSpPr>
        <p:spPr>
          <a:xfrm>
            <a:off x="6254262" y="3669324"/>
            <a:ext cx="4815101"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Technical standards, and social processes for</a:t>
            </a:r>
            <a:endParaRPr/>
          </a:p>
          <a:p>
            <a:pPr indent="-217488" lvl="0" marL="285750" marR="0" rtl="0" algn="l">
              <a:lnSpc>
                <a:spcPct val="100000"/>
              </a:lnSpc>
              <a:spcBef>
                <a:spcPts val="0"/>
              </a:spcBef>
              <a:spcAft>
                <a:spcPts val="0"/>
              </a:spcAft>
              <a:buClr>
                <a:srgbClr val="0000A8"/>
              </a:buClr>
              <a:buSzPts val="2000"/>
              <a:buFont typeface="Noto Sans Symbols"/>
              <a:buChar char="▪"/>
            </a:pPr>
            <a:r>
              <a:rPr b="0" i="0" lang="en-US" sz="2000" u="none" cap="none" strike="noStrike">
                <a:solidFill>
                  <a:srgbClr val="000000"/>
                </a:solidFill>
                <a:latin typeface="Calibri"/>
                <a:ea typeface="Calibri"/>
                <a:cs typeface="Calibri"/>
                <a:sym typeface="Calibri"/>
              </a:rPr>
              <a:t>Internet names </a:t>
            </a:r>
            <a:r>
              <a:rPr b="0" i="0" lang="en-US" sz="1800" u="none" cap="none" strike="noStrike">
                <a:solidFill>
                  <a:srgbClr val="000000"/>
                </a:solidFill>
                <a:latin typeface="Calibri"/>
                <a:ea typeface="Calibri"/>
                <a:cs typeface="Calibri"/>
                <a:sym typeface="Calibri"/>
              </a:rPr>
              <a:t>(e.g., www.umass.edu</a:t>
            </a:r>
            <a:r>
              <a:rPr b="0" i="0" lang="en-US" sz="2000" u="none" cap="none" strike="noStrike">
                <a:solidFill>
                  <a:srgbClr val="000000"/>
                </a:solidFill>
                <a:latin typeface="Calibri"/>
                <a:ea typeface="Calibri"/>
                <a:cs typeface="Calibri"/>
                <a:sym typeface="Calibri"/>
              </a:rPr>
              <a:t>)</a:t>
            </a:r>
            <a:endParaRPr/>
          </a:p>
          <a:p>
            <a:pPr indent="-217488" lvl="0" marL="285750" marR="0" rtl="0" algn="l">
              <a:lnSpc>
                <a:spcPct val="100000"/>
              </a:lnSpc>
              <a:spcBef>
                <a:spcPts val="0"/>
              </a:spcBef>
              <a:spcAft>
                <a:spcPts val="0"/>
              </a:spcAft>
              <a:buClr>
                <a:srgbClr val="0000A8"/>
              </a:buClr>
              <a:buSzPts val="2000"/>
              <a:buFont typeface="Noto Sans Symbols"/>
              <a:buChar char="▪"/>
            </a:pPr>
            <a:r>
              <a:rPr b="0" i="0" lang="en-US" sz="2000" u="none" cap="none" strike="noStrike">
                <a:solidFill>
                  <a:srgbClr val="000000"/>
                </a:solidFill>
                <a:latin typeface="Calibri"/>
                <a:ea typeface="Calibri"/>
                <a:cs typeface="Calibri"/>
                <a:sym typeface="Calibri"/>
              </a:rPr>
              <a:t>Internet addresses </a:t>
            </a:r>
            <a:r>
              <a:rPr b="0" i="0" lang="en-US" sz="1800" u="none" cap="none" strike="noStrike">
                <a:solidFill>
                  <a:srgbClr val="000000"/>
                </a:solidFill>
                <a:latin typeface="Calibri"/>
                <a:ea typeface="Calibri"/>
                <a:cs typeface="Calibri"/>
                <a:sym typeface="Calibri"/>
              </a:rPr>
              <a:t>(e.g., 128.119.40.186)</a:t>
            </a:r>
            <a:endParaRPr b="0" i="0" sz="2000" u="none" cap="none" strike="noStrike">
              <a:solidFill>
                <a:srgbClr val="000000"/>
              </a:solidFill>
              <a:latin typeface="Calibri"/>
              <a:ea typeface="Calibri"/>
              <a:cs typeface="Calibri"/>
              <a:sym typeface="Calibri"/>
            </a:endParaRPr>
          </a:p>
        </p:txBody>
      </p:sp>
      <p:sp>
        <p:nvSpPr>
          <p:cNvPr id="612" name="Google Shape;612;p26"/>
          <p:cNvSpPr txBox="1"/>
          <p:nvPr/>
        </p:nvSpPr>
        <p:spPr>
          <a:xfrm>
            <a:off x="2596822" y="2596986"/>
            <a:ext cx="256404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200"/>
              <a:buFont typeface="Noto Sans Symbols"/>
              <a:buNone/>
            </a:pPr>
            <a:r>
              <a:rPr b="0" i="0" lang="en-US" sz="3200" u="none" cap="none" strike="noStrike">
                <a:solidFill>
                  <a:srgbClr val="C00000"/>
                </a:solidFill>
                <a:latin typeface="Calibri"/>
                <a:ea typeface="Calibri"/>
                <a:cs typeface="Calibri"/>
                <a:sym typeface="Calibri"/>
              </a:rPr>
              <a:t>content layer</a:t>
            </a:r>
            <a:endParaRPr/>
          </a:p>
        </p:txBody>
      </p:sp>
      <p:sp>
        <p:nvSpPr>
          <p:cNvPr id="613" name="Google Shape;613;p26"/>
          <p:cNvSpPr txBox="1"/>
          <p:nvPr/>
        </p:nvSpPr>
        <p:spPr>
          <a:xfrm>
            <a:off x="6230816" y="2414955"/>
            <a:ext cx="4468018"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Policy and social processes</a:t>
            </a:r>
            <a:endParaRPr/>
          </a:p>
          <a:p>
            <a:pPr indent="-217488" lvl="0" marL="285750" marR="0" rtl="0" algn="l">
              <a:lnSpc>
                <a:spcPct val="100000"/>
              </a:lnSpc>
              <a:spcBef>
                <a:spcPts val="0"/>
              </a:spcBef>
              <a:spcAft>
                <a:spcPts val="0"/>
              </a:spcAft>
              <a:buClr>
                <a:srgbClr val="0000A8"/>
              </a:buClr>
              <a:buSzPts val="2000"/>
              <a:buFont typeface="Noto Sans Symbols"/>
              <a:buChar char="▪"/>
            </a:pPr>
            <a:r>
              <a:rPr b="0" i="0" lang="en-US" sz="2000" u="none" cap="none" strike="noStrike">
                <a:solidFill>
                  <a:srgbClr val="000000"/>
                </a:solidFill>
                <a:latin typeface="Calibri"/>
                <a:ea typeface="Calibri"/>
                <a:cs typeface="Calibri"/>
                <a:sym typeface="Calibri"/>
              </a:rPr>
              <a:t>intellectual property</a:t>
            </a:r>
            <a:endParaRPr/>
          </a:p>
          <a:p>
            <a:pPr indent="-217488" lvl="0" marL="285750" marR="0" rtl="0" algn="l">
              <a:lnSpc>
                <a:spcPct val="100000"/>
              </a:lnSpc>
              <a:spcBef>
                <a:spcPts val="0"/>
              </a:spcBef>
              <a:spcAft>
                <a:spcPts val="0"/>
              </a:spcAft>
              <a:buClr>
                <a:srgbClr val="0000A8"/>
              </a:buClr>
              <a:buSzPts val="2000"/>
              <a:buFont typeface="Noto Sans Symbols"/>
              <a:buChar char="▪"/>
            </a:pPr>
            <a:r>
              <a:rPr b="0" i="0" lang="en-US" sz="2000" u="none" cap="none" strike="noStrike">
                <a:solidFill>
                  <a:srgbClr val="000000"/>
                </a:solidFill>
                <a:latin typeface="Calibri"/>
                <a:ea typeface="Calibri"/>
                <a:cs typeface="Calibri"/>
                <a:sym typeface="Calibri"/>
              </a:rPr>
              <a:t>content definition, filtering, regulation</a:t>
            </a:r>
            <a:endParaRPr/>
          </a:p>
        </p:txBody>
      </p:sp>
      <p:grpSp>
        <p:nvGrpSpPr>
          <p:cNvPr id="614" name="Google Shape;614;p26"/>
          <p:cNvGrpSpPr/>
          <p:nvPr/>
        </p:nvGrpSpPr>
        <p:grpSpPr>
          <a:xfrm>
            <a:off x="791307" y="2104293"/>
            <a:ext cx="1123962" cy="4063571"/>
            <a:chOff x="791307" y="2104293"/>
            <a:chExt cx="1123962" cy="4063571"/>
          </a:xfrm>
        </p:grpSpPr>
        <p:sp>
          <p:nvSpPr>
            <p:cNvPr id="615" name="Google Shape;615;p26"/>
            <p:cNvSpPr txBox="1"/>
            <p:nvPr/>
          </p:nvSpPr>
          <p:spPr>
            <a:xfrm>
              <a:off x="791307" y="5767754"/>
              <a:ext cx="112396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Calibri"/>
                <a:buNone/>
              </a:pPr>
              <a:r>
                <a:rPr b="0" i="0" lang="en-US" sz="2000" u="none" cap="none" strike="noStrike">
                  <a:solidFill>
                    <a:srgbClr val="C00000"/>
                  </a:solidFill>
                  <a:latin typeface="Calibri"/>
                  <a:ea typeface="Calibri"/>
                  <a:cs typeface="Calibri"/>
                  <a:sym typeface="Calibri"/>
                </a:rPr>
                <a:t>technical</a:t>
              </a:r>
              <a:endParaRPr b="0" i="0" sz="1800" u="none" cap="none" strike="noStrike">
                <a:solidFill>
                  <a:srgbClr val="C00000"/>
                </a:solidFill>
                <a:latin typeface="Calibri"/>
                <a:ea typeface="Calibri"/>
                <a:cs typeface="Calibri"/>
                <a:sym typeface="Calibri"/>
              </a:endParaRPr>
            </a:p>
          </p:txBody>
        </p:sp>
        <p:sp>
          <p:nvSpPr>
            <p:cNvPr id="616" name="Google Shape;616;p26"/>
            <p:cNvSpPr txBox="1"/>
            <p:nvPr/>
          </p:nvSpPr>
          <p:spPr>
            <a:xfrm>
              <a:off x="908538" y="2104293"/>
              <a:ext cx="88517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social</a:t>
              </a:r>
              <a:endParaRPr b="0" i="0" sz="1800" u="none" cap="none" strike="noStrike">
                <a:solidFill>
                  <a:srgbClr val="C00000"/>
                </a:solidFill>
                <a:latin typeface="Calibri"/>
                <a:ea typeface="Calibri"/>
                <a:cs typeface="Calibri"/>
                <a:sym typeface="Calibri"/>
              </a:endParaRPr>
            </a:p>
          </p:txBody>
        </p:sp>
        <p:sp>
          <p:nvSpPr>
            <p:cNvPr id="617" name="Google Shape;617;p26"/>
            <p:cNvSpPr/>
            <p:nvPr/>
          </p:nvSpPr>
          <p:spPr>
            <a:xfrm rot="10800000">
              <a:off x="1213338" y="2514600"/>
              <a:ext cx="246185" cy="3182815"/>
            </a:xfrm>
            <a:prstGeom prst="downArrow">
              <a:avLst>
                <a:gd fmla="val 50000" name="adj1"/>
                <a:gd fmla="val 50000" name="adj2"/>
              </a:avLst>
            </a:prstGeom>
            <a:gradFill>
              <a:gsLst>
                <a:gs pos="0">
                  <a:schemeClr val="lt1"/>
                </a:gs>
                <a:gs pos="100000">
                  <a:srgbClr val="C00000"/>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618" name="Google Shape;618;p2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Supplemental: 1-</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1"/>
                                        </p:tgtEl>
                                        <p:attrNameLst>
                                          <p:attrName>style.visibility</p:attrName>
                                        </p:attrNameLst>
                                      </p:cBhvr>
                                      <p:to>
                                        <p:strVal val="visible"/>
                                      </p:to>
                                    </p:set>
                                    <p:animEffect filter="fade" transition="in">
                                      <p:cBhvr>
                                        <p:cTn dur="500"/>
                                        <p:tgtEl>
                                          <p:spTgt spid="6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3"/>
                                        </p:tgtEl>
                                        <p:attrNameLst>
                                          <p:attrName>style.visibility</p:attrName>
                                        </p:attrNameLst>
                                      </p:cBhvr>
                                      <p:to>
                                        <p:strVal val="visible"/>
                                      </p:to>
                                    </p:set>
                                    <p:animEffect filter="fade" transition="in">
                                      <p:cBhvr>
                                        <p:cTn dur="500"/>
                                        <p:tgtEl>
                                          <p:spTgt spid="6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4"/>
                                        </p:tgtEl>
                                        <p:attrNameLst>
                                          <p:attrName>style.visibility</p:attrName>
                                        </p:attrNameLst>
                                      </p:cBhvr>
                                      <p:to>
                                        <p:strVal val="visible"/>
                                      </p:to>
                                    </p:set>
                                    <p:animEffect filter="fade" transition="in">
                                      <p:cBhvr>
                                        <p:cTn dur="500"/>
                                        <p:tgtEl>
                                          <p:spTgt spid="6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27"/>
          <p:cNvSpPr txBox="1"/>
          <p:nvPr>
            <p:ph type="title"/>
          </p:nvPr>
        </p:nvSpPr>
        <p:spPr>
          <a:xfrm>
            <a:off x="517336" y="306910"/>
            <a:ext cx="11088509" cy="89462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3600"/>
              <a:buFont typeface="Calibri"/>
              <a:buNone/>
            </a:pPr>
            <a:r>
              <a:rPr lang="en-US" sz="3600">
                <a:latin typeface="Calibri"/>
                <a:ea typeface="Calibri"/>
                <a:cs typeface="Calibri"/>
                <a:sym typeface="Calibri"/>
              </a:rPr>
              <a:t>Who “controls” the Internet: </a:t>
            </a:r>
            <a:r>
              <a:rPr lang="en-US" sz="3600"/>
              <a:t>some of the players</a:t>
            </a:r>
            <a:endParaRPr sz="3600">
              <a:latin typeface="Calibri"/>
              <a:ea typeface="Calibri"/>
              <a:cs typeface="Calibri"/>
              <a:sym typeface="Calibri"/>
            </a:endParaRPr>
          </a:p>
        </p:txBody>
      </p:sp>
      <p:grpSp>
        <p:nvGrpSpPr>
          <p:cNvPr id="625" name="Google Shape;625;p27"/>
          <p:cNvGrpSpPr/>
          <p:nvPr/>
        </p:nvGrpSpPr>
        <p:grpSpPr>
          <a:xfrm>
            <a:off x="2338754" y="2200895"/>
            <a:ext cx="8892112" cy="3870985"/>
            <a:chOff x="2338754" y="2200895"/>
            <a:chExt cx="8892112" cy="3870985"/>
          </a:xfrm>
        </p:grpSpPr>
        <p:sp>
          <p:nvSpPr>
            <p:cNvPr id="626" name="Google Shape;626;p27"/>
            <p:cNvSpPr/>
            <p:nvPr/>
          </p:nvSpPr>
          <p:spPr>
            <a:xfrm>
              <a:off x="2338754" y="2200895"/>
              <a:ext cx="8892112" cy="3870985"/>
            </a:xfrm>
            <a:prstGeom prst="rect">
              <a:avLst/>
            </a:prstGeom>
            <a:solidFill>
              <a:schemeClr val="lt1"/>
            </a:solidFill>
            <a:ln cap="flat" cmpd="sng" w="28575">
              <a:solidFill>
                <a:schemeClr val="dk1"/>
              </a:solidFill>
              <a:prstDash val="solid"/>
              <a:miter lim="800000"/>
              <a:headEnd len="sm" w="sm" type="none"/>
              <a:tailEnd len="sm" w="sm" type="none"/>
            </a:ln>
            <a:effectLst>
              <a:outerShdw blurRad="76200" sx="101000" rotWithShape="0" algn="bl" dir="18900000" dist="38100" sy="1010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cxnSp>
          <p:nvCxnSpPr>
            <p:cNvPr id="627" name="Google Shape;627;p27"/>
            <p:cNvCxnSpPr/>
            <p:nvPr/>
          </p:nvCxnSpPr>
          <p:spPr>
            <a:xfrm>
              <a:off x="2338754" y="3550090"/>
              <a:ext cx="8879755" cy="0"/>
            </a:xfrm>
            <a:prstGeom prst="straightConnector1">
              <a:avLst/>
            </a:prstGeom>
            <a:noFill/>
            <a:ln cap="flat" cmpd="sng" w="25400">
              <a:solidFill>
                <a:schemeClr val="dk1"/>
              </a:solidFill>
              <a:prstDash val="solid"/>
              <a:miter lim="800000"/>
              <a:headEnd len="sm" w="sm" type="none"/>
              <a:tailEnd len="sm" w="sm" type="none"/>
            </a:ln>
          </p:spPr>
        </p:cxnSp>
        <p:cxnSp>
          <p:nvCxnSpPr>
            <p:cNvPr id="628" name="Google Shape;628;p27"/>
            <p:cNvCxnSpPr/>
            <p:nvPr/>
          </p:nvCxnSpPr>
          <p:spPr>
            <a:xfrm>
              <a:off x="2338754" y="4812234"/>
              <a:ext cx="8879755" cy="0"/>
            </a:xfrm>
            <a:prstGeom prst="straightConnector1">
              <a:avLst/>
            </a:prstGeom>
            <a:noFill/>
            <a:ln cap="flat" cmpd="sng" w="25400">
              <a:solidFill>
                <a:schemeClr val="dk1"/>
              </a:solidFill>
              <a:prstDash val="solid"/>
              <a:miter lim="800000"/>
              <a:headEnd len="sm" w="sm" type="none"/>
              <a:tailEnd len="sm" w="sm" type="none"/>
            </a:ln>
          </p:spPr>
        </p:cxnSp>
      </p:grpSp>
      <p:sp>
        <p:nvSpPr>
          <p:cNvPr id="629" name="Google Shape;629;p27"/>
          <p:cNvSpPr txBox="1"/>
          <p:nvPr/>
        </p:nvSpPr>
        <p:spPr>
          <a:xfrm>
            <a:off x="599397" y="1057187"/>
            <a:ext cx="11088509" cy="89462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Reference model </a:t>
            </a:r>
            <a:r>
              <a:rPr b="0" i="0" lang="en-US" sz="2400" u="none" cap="none" strike="noStrike">
                <a:solidFill>
                  <a:srgbClr val="000000"/>
                </a:solidFill>
                <a:latin typeface="Calibri"/>
                <a:ea typeface="Calibri"/>
                <a:cs typeface="Calibri"/>
                <a:sym typeface="Calibri"/>
              </a:rPr>
              <a:t>(different than Internet/OSI protocol stack) </a:t>
            </a:r>
            <a:r>
              <a:rPr b="0" i="0" lang="en-US" sz="2800" u="none" cap="none" strike="noStrike">
                <a:solidFill>
                  <a:srgbClr val="000000"/>
                </a:solidFill>
                <a:latin typeface="Calibri"/>
                <a:ea typeface="Calibri"/>
                <a:cs typeface="Calibri"/>
                <a:sym typeface="Calibri"/>
              </a:rPr>
              <a:t>for discussing issues:</a:t>
            </a:r>
            <a:endParaRPr b="0" i="0" sz="2800" u="none" cap="none" strike="noStrike">
              <a:solidFill>
                <a:srgbClr val="000000"/>
              </a:solidFill>
              <a:latin typeface="Calibri"/>
              <a:ea typeface="Calibri"/>
              <a:cs typeface="Calibri"/>
              <a:sym typeface="Calibri"/>
            </a:endParaRPr>
          </a:p>
        </p:txBody>
      </p:sp>
      <p:sp>
        <p:nvSpPr>
          <p:cNvPr id="630" name="Google Shape;630;p27"/>
          <p:cNvSpPr txBox="1"/>
          <p:nvPr/>
        </p:nvSpPr>
        <p:spPr>
          <a:xfrm>
            <a:off x="2555790" y="5140894"/>
            <a:ext cx="3393671"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Noto Sans Symbols"/>
              <a:buNone/>
            </a:pPr>
            <a:r>
              <a:rPr b="0" i="0" lang="en-US" sz="3200" u="none" cap="none" strike="noStrike">
                <a:solidFill>
                  <a:srgbClr val="000000"/>
                </a:solidFill>
                <a:latin typeface="Calibri"/>
                <a:ea typeface="Calibri"/>
                <a:cs typeface="Calibri"/>
                <a:sym typeface="Calibri"/>
              </a:rPr>
              <a:t>infrastructure layer</a:t>
            </a:r>
            <a:endParaRPr/>
          </a:p>
        </p:txBody>
      </p:sp>
      <p:sp>
        <p:nvSpPr>
          <p:cNvPr id="631" name="Google Shape;631;p27"/>
          <p:cNvSpPr txBox="1"/>
          <p:nvPr/>
        </p:nvSpPr>
        <p:spPr>
          <a:xfrm>
            <a:off x="2596822" y="2596986"/>
            <a:ext cx="256404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Noto Sans Symbols"/>
              <a:buNone/>
            </a:pPr>
            <a:r>
              <a:rPr b="0" i="0" lang="en-US" sz="3200" u="none" cap="none" strike="noStrike">
                <a:solidFill>
                  <a:srgbClr val="000000"/>
                </a:solidFill>
                <a:latin typeface="Calibri"/>
                <a:ea typeface="Calibri"/>
                <a:cs typeface="Calibri"/>
                <a:sym typeface="Calibri"/>
              </a:rPr>
              <a:t>content layer</a:t>
            </a:r>
            <a:endParaRPr/>
          </a:p>
        </p:txBody>
      </p:sp>
      <p:grpSp>
        <p:nvGrpSpPr>
          <p:cNvPr id="632" name="Google Shape;632;p27"/>
          <p:cNvGrpSpPr/>
          <p:nvPr/>
        </p:nvGrpSpPr>
        <p:grpSpPr>
          <a:xfrm>
            <a:off x="791307" y="2104293"/>
            <a:ext cx="1123962" cy="4063571"/>
            <a:chOff x="791307" y="2104293"/>
            <a:chExt cx="1123962" cy="4063571"/>
          </a:xfrm>
        </p:grpSpPr>
        <p:sp>
          <p:nvSpPr>
            <p:cNvPr id="633" name="Google Shape;633;p27"/>
            <p:cNvSpPr txBox="1"/>
            <p:nvPr/>
          </p:nvSpPr>
          <p:spPr>
            <a:xfrm>
              <a:off x="791307" y="5767754"/>
              <a:ext cx="112396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Calibri"/>
                <a:buNone/>
              </a:pPr>
              <a:r>
                <a:rPr b="0" i="0" lang="en-US" sz="2000" u="none" cap="none" strike="noStrike">
                  <a:solidFill>
                    <a:srgbClr val="C00000"/>
                  </a:solidFill>
                  <a:latin typeface="Calibri"/>
                  <a:ea typeface="Calibri"/>
                  <a:cs typeface="Calibri"/>
                  <a:sym typeface="Calibri"/>
                </a:rPr>
                <a:t>technical</a:t>
              </a:r>
              <a:endParaRPr b="0" i="0" sz="1800" u="none" cap="none" strike="noStrike">
                <a:solidFill>
                  <a:srgbClr val="C00000"/>
                </a:solidFill>
                <a:latin typeface="Calibri"/>
                <a:ea typeface="Calibri"/>
                <a:cs typeface="Calibri"/>
                <a:sym typeface="Calibri"/>
              </a:endParaRPr>
            </a:p>
          </p:txBody>
        </p:sp>
        <p:sp>
          <p:nvSpPr>
            <p:cNvPr id="634" name="Google Shape;634;p27"/>
            <p:cNvSpPr txBox="1"/>
            <p:nvPr/>
          </p:nvSpPr>
          <p:spPr>
            <a:xfrm>
              <a:off x="908538" y="2104293"/>
              <a:ext cx="88517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social</a:t>
              </a:r>
              <a:endParaRPr b="0" i="0" sz="1800" u="none" cap="none" strike="noStrike">
                <a:solidFill>
                  <a:srgbClr val="C00000"/>
                </a:solidFill>
                <a:latin typeface="Calibri"/>
                <a:ea typeface="Calibri"/>
                <a:cs typeface="Calibri"/>
                <a:sym typeface="Calibri"/>
              </a:endParaRPr>
            </a:p>
          </p:txBody>
        </p:sp>
        <p:sp>
          <p:nvSpPr>
            <p:cNvPr id="635" name="Google Shape;635;p27"/>
            <p:cNvSpPr/>
            <p:nvPr/>
          </p:nvSpPr>
          <p:spPr>
            <a:xfrm rot="10800000">
              <a:off x="1213338" y="2514600"/>
              <a:ext cx="246185" cy="3182815"/>
            </a:xfrm>
            <a:prstGeom prst="downArrow">
              <a:avLst>
                <a:gd fmla="val 50000" name="adj1"/>
                <a:gd fmla="val 50000" name="adj2"/>
              </a:avLst>
            </a:prstGeom>
            <a:gradFill>
              <a:gsLst>
                <a:gs pos="0">
                  <a:schemeClr val="lt1"/>
                </a:gs>
                <a:gs pos="100000">
                  <a:srgbClr val="C00000"/>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636" name="Google Shape;636;p27"/>
          <p:cNvSpPr/>
          <p:nvPr/>
        </p:nvSpPr>
        <p:spPr>
          <a:xfrm>
            <a:off x="5829300" y="2495760"/>
            <a:ext cx="5359400" cy="3481754"/>
          </a:xfrm>
          <a:prstGeom prst="rect">
            <a:avLst/>
          </a:prstGeom>
          <a:solidFill>
            <a:schemeClr val="lt1">
              <a:alpha val="91764"/>
            </a:schemeClr>
          </a:soli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7" name="Google Shape;637;p27"/>
          <p:cNvSpPr txBox="1"/>
          <p:nvPr/>
        </p:nvSpPr>
        <p:spPr>
          <a:xfrm>
            <a:off x="5644662" y="4311999"/>
            <a:ext cx="1582615" cy="103618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Internet Engineering Task Force (IETF)</a:t>
            </a:r>
            <a:endParaRPr/>
          </a:p>
        </p:txBody>
      </p:sp>
      <p:grpSp>
        <p:nvGrpSpPr>
          <p:cNvPr id="638" name="Google Shape;638;p27"/>
          <p:cNvGrpSpPr/>
          <p:nvPr/>
        </p:nvGrpSpPr>
        <p:grpSpPr>
          <a:xfrm>
            <a:off x="9385169" y="2919046"/>
            <a:ext cx="1758457" cy="2866292"/>
            <a:chOff x="8548636" y="2919046"/>
            <a:chExt cx="1758457" cy="2866292"/>
          </a:xfrm>
        </p:grpSpPr>
        <p:cxnSp>
          <p:nvCxnSpPr>
            <p:cNvPr id="639" name="Google Shape;639;p27"/>
            <p:cNvCxnSpPr/>
            <p:nvPr/>
          </p:nvCxnSpPr>
          <p:spPr>
            <a:xfrm>
              <a:off x="9905167" y="2919046"/>
              <a:ext cx="0" cy="2866292"/>
            </a:xfrm>
            <a:prstGeom prst="straightConnector1">
              <a:avLst/>
            </a:prstGeom>
            <a:noFill/>
            <a:ln cap="flat" cmpd="sng" w="12700">
              <a:solidFill>
                <a:srgbClr val="C00000"/>
              </a:solidFill>
              <a:prstDash val="solid"/>
              <a:miter lim="800000"/>
              <a:headEnd len="sm" w="sm" type="none"/>
              <a:tailEnd len="sm" w="sm" type="none"/>
            </a:ln>
          </p:spPr>
        </p:cxnSp>
        <p:sp>
          <p:nvSpPr>
            <p:cNvPr id="640" name="Google Shape;640;p27"/>
            <p:cNvSpPr txBox="1"/>
            <p:nvPr/>
          </p:nvSpPr>
          <p:spPr>
            <a:xfrm>
              <a:off x="8548636" y="3662206"/>
              <a:ext cx="1758457" cy="8007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International Telecomm. Union (ITU)</a:t>
              </a:r>
              <a:endParaRPr/>
            </a:p>
          </p:txBody>
        </p:sp>
      </p:grpSp>
      <p:sp>
        <p:nvSpPr>
          <p:cNvPr id="641" name="Google Shape;641;p27"/>
          <p:cNvSpPr txBox="1"/>
          <p:nvPr/>
        </p:nvSpPr>
        <p:spPr>
          <a:xfrm>
            <a:off x="8666283" y="4872250"/>
            <a:ext cx="1693565" cy="103618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Inst. For Electrical and Electronics Engineers (IEEE)</a:t>
            </a:r>
            <a:endParaRPr/>
          </a:p>
        </p:txBody>
      </p:sp>
      <p:grpSp>
        <p:nvGrpSpPr>
          <p:cNvPr id="642" name="Google Shape;642;p27"/>
          <p:cNvGrpSpPr/>
          <p:nvPr/>
        </p:nvGrpSpPr>
        <p:grpSpPr>
          <a:xfrm>
            <a:off x="5589564" y="2466758"/>
            <a:ext cx="4993471" cy="1036181"/>
            <a:chOff x="5589564" y="2466758"/>
            <a:chExt cx="4993471" cy="1036181"/>
          </a:xfrm>
        </p:grpSpPr>
        <p:sp>
          <p:nvSpPr>
            <p:cNvPr id="643" name="Google Shape;643;p27"/>
            <p:cNvSpPr txBox="1"/>
            <p:nvPr/>
          </p:nvSpPr>
          <p:spPr>
            <a:xfrm>
              <a:off x="5589564" y="2600178"/>
              <a:ext cx="1582615" cy="800732"/>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Internet Governance Forum (IGF)</a:t>
              </a:r>
              <a:endParaRPr/>
            </a:p>
          </p:txBody>
        </p:sp>
        <p:sp>
          <p:nvSpPr>
            <p:cNvPr id="644" name="Google Shape;644;p27"/>
            <p:cNvSpPr txBox="1"/>
            <p:nvPr/>
          </p:nvSpPr>
          <p:spPr>
            <a:xfrm>
              <a:off x="7091121" y="2466758"/>
              <a:ext cx="1980308" cy="103618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companies,</a:t>
              </a:r>
              <a:endParaRPr/>
            </a:p>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organizations (platforms, content producers )</a:t>
              </a:r>
              <a:endParaRPr/>
            </a:p>
          </p:txBody>
        </p:sp>
        <p:sp>
          <p:nvSpPr>
            <p:cNvPr id="645" name="Google Shape;645;p27"/>
            <p:cNvSpPr txBox="1"/>
            <p:nvPr/>
          </p:nvSpPr>
          <p:spPr>
            <a:xfrm>
              <a:off x="9000420" y="2721652"/>
              <a:ext cx="1582615" cy="565283"/>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national</a:t>
              </a:r>
              <a:endParaRPr/>
            </a:p>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governments</a:t>
              </a:r>
              <a:endParaRPr/>
            </a:p>
          </p:txBody>
        </p:sp>
      </p:grpSp>
      <p:sp>
        <p:nvSpPr>
          <p:cNvPr id="646" name="Google Shape;646;p27"/>
          <p:cNvSpPr txBox="1"/>
          <p:nvPr/>
        </p:nvSpPr>
        <p:spPr>
          <a:xfrm>
            <a:off x="6895680" y="4882241"/>
            <a:ext cx="1949800" cy="103618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3GPP</a:t>
            </a:r>
            <a:endParaRPr/>
          </a:p>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3</a:t>
            </a:r>
            <a:r>
              <a:rPr b="0" baseline="30000" i="0" lang="en-US" sz="1800" u="none" cap="none" strike="noStrike">
                <a:solidFill>
                  <a:srgbClr val="C00000"/>
                </a:solidFill>
                <a:latin typeface="Calibri"/>
                <a:ea typeface="Calibri"/>
                <a:cs typeface="Calibri"/>
                <a:sym typeface="Calibri"/>
              </a:rPr>
              <a:t>rd</a:t>
            </a:r>
            <a:r>
              <a:rPr b="0" i="0" lang="en-US" sz="1800" u="none" cap="none" strike="noStrike">
                <a:solidFill>
                  <a:srgbClr val="C00000"/>
                </a:solidFill>
                <a:latin typeface="Calibri"/>
                <a:ea typeface="Calibri"/>
                <a:cs typeface="Calibri"/>
                <a:sym typeface="Calibri"/>
              </a:rPr>
              <a:t> Generation Partnership Project</a:t>
            </a:r>
            <a:endParaRPr/>
          </a:p>
        </p:txBody>
      </p:sp>
      <p:sp>
        <p:nvSpPr>
          <p:cNvPr id="647" name="Google Shape;647;p27"/>
          <p:cNvSpPr txBox="1"/>
          <p:nvPr/>
        </p:nvSpPr>
        <p:spPr>
          <a:xfrm>
            <a:off x="5719184" y="3686906"/>
            <a:ext cx="3112477" cy="565283"/>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Internet Corp. for Assigned Names and Numbers (ICANN)</a:t>
            </a:r>
            <a:endParaRPr/>
          </a:p>
        </p:txBody>
      </p:sp>
      <p:sp>
        <p:nvSpPr>
          <p:cNvPr id="648" name="Google Shape;648;p27"/>
          <p:cNvSpPr/>
          <p:nvPr/>
        </p:nvSpPr>
        <p:spPr>
          <a:xfrm>
            <a:off x="7780387" y="4229072"/>
            <a:ext cx="2084583" cy="565283"/>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World Wide Web Consortium (W3C)</a:t>
            </a:r>
            <a:endParaRPr/>
          </a:p>
        </p:txBody>
      </p:sp>
      <p:sp>
        <p:nvSpPr>
          <p:cNvPr id="649" name="Google Shape;649;p2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Supplemental: 1-</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650" name="Google Shape;650;p27"/>
          <p:cNvSpPr txBox="1"/>
          <p:nvPr/>
        </p:nvSpPr>
        <p:spPr>
          <a:xfrm>
            <a:off x="2620267" y="3868940"/>
            <a:ext cx="3083847"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Noto Sans Symbols"/>
              <a:buNone/>
            </a:pPr>
            <a:r>
              <a:rPr b="0" i="0" lang="en-US" sz="3200" u="none" cap="none" strike="noStrike">
                <a:solidFill>
                  <a:srgbClr val="000000"/>
                </a:solidFill>
                <a:latin typeface="Calibri"/>
                <a:ea typeface="Calibri"/>
                <a:cs typeface="Calibri"/>
                <a:sym typeface="Calibri"/>
              </a:rPr>
              <a:t>names, numbers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28"/>
          <p:cNvSpPr txBox="1"/>
          <p:nvPr>
            <p:ph type="title"/>
          </p:nvPr>
        </p:nvSpPr>
        <p:spPr>
          <a:xfrm>
            <a:off x="517336" y="306910"/>
            <a:ext cx="11088509" cy="89462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3600"/>
              <a:buFont typeface="Calibri"/>
              <a:buNone/>
            </a:pPr>
            <a:r>
              <a:rPr lang="en-US" sz="3600">
                <a:latin typeface="Calibri"/>
                <a:ea typeface="Calibri"/>
                <a:cs typeface="Calibri"/>
                <a:sym typeface="Calibri"/>
              </a:rPr>
              <a:t>Who “controls” the Internet: </a:t>
            </a:r>
            <a:r>
              <a:rPr lang="en-US" sz="3600"/>
              <a:t>some of the players</a:t>
            </a:r>
            <a:endParaRPr sz="3600">
              <a:latin typeface="Calibri"/>
              <a:ea typeface="Calibri"/>
              <a:cs typeface="Calibri"/>
              <a:sym typeface="Calibri"/>
            </a:endParaRPr>
          </a:p>
        </p:txBody>
      </p:sp>
      <p:grpSp>
        <p:nvGrpSpPr>
          <p:cNvPr id="657" name="Google Shape;657;p28"/>
          <p:cNvGrpSpPr/>
          <p:nvPr/>
        </p:nvGrpSpPr>
        <p:grpSpPr>
          <a:xfrm>
            <a:off x="2338754" y="2200895"/>
            <a:ext cx="8892112" cy="3870985"/>
            <a:chOff x="2338754" y="2200895"/>
            <a:chExt cx="8892112" cy="3870985"/>
          </a:xfrm>
        </p:grpSpPr>
        <p:sp>
          <p:nvSpPr>
            <p:cNvPr id="658" name="Google Shape;658;p28"/>
            <p:cNvSpPr/>
            <p:nvPr/>
          </p:nvSpPr>
          <p:spPr>
            <a:xfrm>
              <a:off x="2338754" y="2200895"/>
              <a:ext cx="8892112" cy="3870985"/>
            </a:xfrm>
            <a:prstGeom prst="rect">
              <a:avLst/>
            </a:prstGeom>
            <a:solidFill>
              <a:schemeClr val="lt1"/>
            </a:solidFill>
            <a:ln cap="flat" cmpd="sng" w="28575">
              <a:solidFill>
                <a:schemeClr val="dk1"/>
              </a:solidFill>
              <a:prstDash val="solid"/>
              <a:miter lim="800000"/>
              <a:headEnd len="sm" w="sm" type="none"/>
              <a:tailEnd len="sm" w="sm" type="none"/>
            </a:ln>
            <a:effectLst>
              <a:outerShdw blurRad="76200" sx="101000" rotWithShape="0" algn="bl" dir="18900000" dist="38100" sy="1010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cxnSp>
          <p:nvCxnSpPr>
            <p:cNvPr id="659" name="Google Shape;659;p28"/>
            <p:cNvCxnSpPr/>
            <p:nvPr/>
          </p:nvCxnSpPr>
          <p:spPr>
            <a:xfrm>
              <a:off x="2338754" y="3550090"/>
              <a:ext cx="8879755" cy="0"/>
            </a:xfrm>
            <a:prstGeom prst="straightConnector1">
              <a:avLst/>
            </a:prstGeom>
            <a:noFill/>
            <a:ln cap="flat" cmpd="sng" w="25400">
              <a:solidFill>
                <a:schemeClr val="dk1"/>
              </a:solidFill>
              <a:prstDash val="solid"/>
              <a:miter lim="800000"/>
              <a:headEnd len="sm" w="sm" type="none"/>
              <a:tailEnd len="sm" w="sm" type="none"/>
            </a:ln>
          </p:spPr>
        </p:cxnSp>
        <p:cxnSp>
          <p:nvCxnSpPr>
            <p:cNvPr id="660" name="Google Shape;660;p28"/>
            <p:cNvCxnSpPr/>
            <p:nvPr/>
          </p:nvCxnSpPr>
          <p:spPr>
            <a:xfrm>
              <a:off x="2338754" y="4812234"/>
              <a:ext cx="8879755" cy="0"/>
            </a:xfrm>
            <a:prstGeom prst="straightConnector1">
              <a:avLst/>
            </a:prstGeom>
            <a:noFill/>
            <a:ln cap="flat" cmpd="sng" w="25400">
              <a:solidFill>
                <a:schemeClr val="dk1"/>
              </a:solidFill>
              <a:prstDash val="solid"/>
              <a:miter lim="800000"/>
              <a:headEnd len="sm" w="sm" type="none"/>
              <a:tailEnd len="sm" w="sm" type="none"/>
            </a:ln>
          </p:spPr>
        </p:cxnSp>
      </p:grpSp>
      <p:sp>
        <p:nvSpPr>
          <p:cNvPr id="661" name="Google Shape;661;p28"/>
          <p:cNvSpPr txBox="1"/>
          <p:nvPr/>
        </p:nvSpPr>
        <p:spPr>
          <a:xfrm>
            <a:off x="599397" y="1057187"/>
            <a:ext cx="11088509" cy="89462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Reference model </a:t>
            </a:r>
            <a:r>
              <a:rPr b="0" i="0" lang="en-US" sz="2400" u="none" cap="none" strike="noStrike">
                <a:solidFill>
                  <a:srgbClr val="000000"/>
                </a:solidFill>
                <a:latin typeface="Calibri"/>
                <a:ea typeface="Calibri"/>
                <a:cs typeface="Calibri"/>
                <a:sym typeface="Calibri"/>
              </a:rPr>
              <a:t>(different than Internet/OSI protocol stack) </a:t>
            </a:r>
            <a:r>
              <a:rPr b="0" i="0" lang="en-US" sz="2800" u="none" cap="none" strike="noStrike">
                <a:solidFill>
                  <a:srgbClr val="000000"/>
                </a:solidFill>
                <a:latin typeface="Calibri"/>
                <a:ea typeface="Calibri"/>
                <a:cs typeface="Calibri"/>
                <a:sym typeface="Calibri"/>
              </a:rPr>
              <a:t>for discussing issues:</a:t>
            </a:r>
            <a:endParaRPr b="0" i="0" sz="2800" u="none" cap="none" strike="noStrike">
              <a:solidFill>
                <a:srgbClr val="000000"/>
              </a:solidFill>
              <a:latin typeface="Calibri"/>
              <a:ea typeface="Calibri"/>
              <a:cs typeface="Calibri"/>
              <a:sym typeface="Calibri"/>
            </a:endParaRPr>
          </a:p>
        </p:txBody>
      </p:sp>
      <p:sp>
        <p:nvSpPr>
          <p:cNvPr id="662" name="Google Shape;662;p28"/>
          <p:cNvSpPr txBox="1"/>
          <p:nvPr/>
        </p:nvSpPr>
        <p:spPr>
          <a:xfrm>
            <a:off x="2555790" y="5140894"/>
            <a:ext cx="3393671"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Noto Sans Symbols"/>
              <a:buNone/>
            </a:pPr>
            <a:r>
              <a:rPr b="0" i="0" lang="en-US" sz="3200" u="none" cap="none" strike="noStrike">
                <a:solidFill>
                  <a:srgbClr val="000000"/>
                </a:solidFill>
                <a:latin typeface="Calibri"/>
                <a:ea typeface="Calibri"/>
                <a:cs typeface="Calibri"/>
                <a:sym typeface="Calibri"/>
              </a:rPr>
              <a:t>infrastructure layer</a:t>
            </a:r>
            <a:endParaRPr/>
          </a:p>
        </p:txBody>
      </p:sp>
      <p:sp>
        <p:nvSpPr>
          <p:cNvPr id="663" name="Google Shape;663;p28"/>
          <p:cNvSpPr txBox="1"/>
          <p:nvPr/>
        </p:nvSpPr>
        <p:spPr>
          <a:xfrm>
            <a:off x="2620267" y="3868940"/>
            <a:ext cx="2567195"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Noto Sans Symbols"/>
              <a:buNone/>
            </a:pPr>
            <a:r>
              <a:rPr b="0" i="0" lang="en-US" sz="3200" u="none" cap="none" strike="noStrike">
                <a:solidFill>
                  <a:srgbClr val="000000"/>
                </a:solidFill>
                <a:latin typeface="Calibri"/>
                <a:ea typeface="Calibri"/>
                <a:cs typeface="Calibri"/>
                <a:sym typeface="Calibri"/>
              </a:rPr>
              <a:t>logical layer</a:t>
            </a:r>
            <a:endParaRPr/>
          </a:p>
        </p:txBody>
      </p:sp>
      <p:sp>
        <p:nvSpPr>
          <p:cNvPr id="664" name="Google Shape;664;p28"/>
          <p:cNvSpPr txBox="1"/>
          <p:nvPr/>
        </p:nvSpPr>
        <p:spPr>
          <a:xfrm>
            <a:off x="2596822" y="2596986"/>
            <a:ext cx="256404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Noto Sans Symbols"/>
              <a:buNone/>
            </a:pPr>
            <a:r>
              <a:rPr b="0" i="0" lang="en-US" sz="3200" u="none" cap="none" strike="noStrike">
                <a:solidFill>
                  <a:srgbClr val="000000"/>
                </a:solidFill>
                <a:latin typeface="Calibri"/>
                <a:ea typeface="Calibri"/>
                <a:cs typeface="Calibri"/>
                <a:sym typeface="Calibri"/>
              </a:rPr>
              <a:t>content layer</a:t>
            </a:r>
            <a:endParaRPr/>
          </a:p>
        </p:txBody>
      </p:sp>
      <p:grpSp>
        <p:nvGrpSpPr>
          <p:cNvPr id="665" name="Google Shape;665;p28"/>
          <p:cNvGrpSpPr/>
          <p:nvPr/>
        </p:nvGrpSpPr>
        <p:grpSpPr>
          <a:xfrm>
            <a:off x="791307" y="2104293"/>
            <a:ext cx="1123962" cy="4063571"/>
            <a:chOff x="791307" y="2104293"/>
            <a:chExt cx="1123962" cy="4063571"/>
          </a:xfrm>
        </p:grpSpPr>
        <p:sp>
          <p:nvSpPr>
            <p:cNvPr id="666" name="Google Shape;666;p28"/>
            <p:cNvSpPr txBox="1"/>
            <p:nvPr/>
          </p:nvSpPr>
          <p:spPr>
            <a:xfrm>
              <a:off x="791307" y="5767754"/>
              <a:ext cx="112396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Calibri"/>
                <a:buNone/>
              </a:pPr>
              <a:r>
                <a:rPr b="0" i="0" lang="en-US" sz="2000" u="none" cap="none" strike="noStrike">
                  <a:solidFill>
                    <a:srgbClr val="C00000"/>
                  </a:solidFill>
                  <a:latin typeface="Calibri"/>
                  <a:ea typeface="Calibri"/>
                  <a:cs typeface="Calibri"/>
                  <a:sym typeface="Calibri"/>
                </a:rPr>
                <a:t>technical</a:t>
              </a:r>
              <a:endParaRPr b="0" i="0" sz="1800" u="none" cap="none" strike="noStrike">
                <a:solidFill>
                  <a:srgbClr val="C00000"/>
                </a:solidFill>
                <a:latin typeface="Calibri"/>
                <a:ea typeface="Calibri"/>
                <a:cs typeface="Calibri"/>
                <a:sym typeface="Calibri"/>
              </a:endParaRPr>
            </a:p>
          </p:txBody>
        </p:sp>
        <p:sp>
          <p:nvSpPr>
            <p:cNvPr id="667" name="Google Shape;667;p28"/>
            <p:cNvSpPr txBox="1"/>
            <p:nvPr/>
          </p:nvSpPr>
          <p:spPr>
            <a:xfrm>
              <a:off x="908538" y="2104293"/>
              <a:ext cx="88517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social</a:t>
              </a:r>
              <a:endParaRPr b="0" i="0" sz="1800" u="none" cap="none" strike="noStrike">
                <a:solidFill>
                  <a:srgbClr val="C00000"/>
                </a:solidFill>
                <a:latin typeface="Calibri"/>
                <a:ea typeface="Calibri"/>
                <a:cs typeface="Calibri"/>
                <a:sym typeface="Calibri"/>
              </a:endParaRPr>
            </a:p>
          </p:txBody>
        </p:sp>
        <p:sp>
          <p:nvSpPr>
            <p:cNvPr id="668" name="Google Shape;668;p28"/>
            <p:cNvSpPr/>
            <p:nvPr/>
          </p:nvSpPr>
          <p:spPr>
            <a:xfrm rot="10800000">
              <a:off x="1213338" y="2514600"/>
              <a:ext cx="246185" cy="3182815"/>
            </a:xfrm>
            <a:prstGeom prst="downArrow">
              <a:avLst>
                <a:gd fmla="val 50000" name="adj1"/>
                <a:gd fmla="val 50000" name="adj2"/>
              </a:avLst>
            </a:prstGeom>
            <a:gradFill>
              <a:gsLst>
                <a:gs pos="0">
                  <a:schemeClr val="lt1"/>
                </a:gs>
                <a:gs pos="100000">
                  <a:srgbClr val="C00000"/>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669" name="Google Shape;669;p28"/>
          <p:cNvSpPr/>
          <p:nvPr/>
        </p:nvSpPr>
        <p:spPr>
          <a:xfrm>
            <a:off x="5829300" y="2495760"/>
            <a:ext cx="5359400" cy="3481754"/>
          </a:xfrm>
          <a:prstGeom prst="rect">
            <a:avLst/>
          </a:prstGeom>
          <a:solidFill>
            <a:schemeClr val="lt1">
              <a:alpha val="91764"/>
            </a:schemeClr>
          </a:soli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0" name="Google Shape;670;p28"/>
          <p:cNvSpPr txBox="1"/>
          <p:nvPr/>
        </p:nvSpPr>
        <p:spPr>
          <a:xfrm>
            <a:off x="5589564" y="2600178"/>
            <a:ext cx="1582615" cy="800732"/>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Internet Governance Forum (IGF)</a:t>
            </a:r>
            <a:endParaRPr/>
          </a:p>
        </p:txBody>
      </p:sp>
      <p:sp>
        <p:nvSpPr>
          <p:cNvPr id="671" name="Google Shape;671;p28"/>
          <p:cNvSpPr txBox="1"/>
          <p:nvPr/>
        </p:nvSpPr>
        <p:spPr>
          <a:xfrm>
            <a:off x="5240215" y="3722076"/>
            <a:ext cx="3112477" cy="565283"/>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Internet Corp. for Assigned Names and Numbers (ICANN)</a:t>
            </a:r>
            <a:endParaRPr/>
          </a:p>
        </p:txBody>
      </p:sp>
      <p:sp>
        <p:nvSpPr>
          <p:cNvPr id="672" name="Google Shape;672;p28"/>
          <p:cNvSpPr txBox="1"/>
          <p:nvPr/>
        </p:nvSpPr>
        <p:spPr>
          <a:xfrm>
            <a:off x="7134665" y="2611901"/>
            <a:ext cx="1582615" cy="800732"/>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companies (e.g., Google, facebook)</a:t>
            </a:r>
            <a:endParaRPr/>
          </a:p>
        </p:txBody>
      </p:sp>
      <p:sp>
        <p:nvSpPr>
          <p:cNvPr id="673" name="Google Shape;673;p28"/>
          <p:cNvSpPr txBox="1"/>
          <p:nvPr/>
        </p:nvSpPr>
        <p:spPr>
          <a:xfrm>
            <a:off x="8637563" y="2736166"/>
            <a:ext cx="1582615" cy="565283"/>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national</a:t>
            </a:r>
            <a:endParaRPr/>
          </a:p>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governments</a:t>
            </a:r>
            <a:endParaRPr/>
          </a:p>
        </p:txBody>
      </p:sp>
      <p:sp>
        <p:nvSpPr>
          <p:cNvPr id="674" name="Google Shape;674;p28"/>
          <p:cNvSpPr/>
          <p:nvPr/>
        </p:nvSpPr>
        <p:spPr>
          <a:xfrm>
            <a:off x="2413000" y="2273300"/>
            <a:ext cx="2971800" cy="2616200"/>
          </a:xfrm>
          <a:prstGeom prst="rect">
            <a:avLst/>
          </a:prstGeom>
          <a:solidFill>
            <a:schemeClr val="lt1">
              <a:alpha val="99607"/>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5" name="Google Shape;675;p28"/>
          <p:cNvSpPr/>
          <p:nvPr/>
        </p:nvSpPr>
        <p:spPr>
          <a:xfrm>
            <a:off x="4813300" y="4762500"/>
            <a:ext cx="6362700" cy="101600"/>
          </a:xfrm>
          <a:prstGeom prst="rect">
            <a:avLst/>
          </a:prstGeom>
          <a:solidFill>
            <a:schemeClr val="lt1">
              <a:alpha val="99607"/>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76" name="Google Shape;676;p28"/>
          <p:cNvGrpSpPr/>
          <p:nvPr/>
        </p:nvGrpSpPr>
        <p:grpSpPr>
          <a:xfrm>
            <a:off x="9385169" y="2919046"/>
            <a:ext cx="1758457" cy="2866292"/>
            <a:chOff x="8548636" y="2919046"/>
            <a:chExt cx="1758457" cy="2866292"/>
          </a:xfrm>
        </p:grpSpPr>
        <p:cxnSp>
          <p:nvCxnSpPr>
            <p:cNvPr id="677" name="Google Shape;677;p28"/>
            <p:cNvCxnSpPr/>
            <p:nvPr/>
          </p:nvCxnSpPr>
          <p:spPr>
            <a:xfrm>
              <a:off x="9905167" y="2919046"/>
              <a:ext cx="0" cy="2866292"/>
            </a:xfrm>
            <a:prstGeom prst="straightConnector1">
              <a:avLst/>
            </a:prstGeom>
            <a:noFill/>
            <a:ln cap="flat" cmpd="sng" w="12700">
              <a:solidFill>
                <a:srgbClr val="C00000"/>
              </a:solidFill>
              <a:prstDash val="solid"/>
              <a:miter lim="800000"/>
              <a:headEnd len="sm" w="sm" type="none"/>
              <a:tailEnd len="sm" w="sm" type="none"/>
            </a:ln>
          </p:spPr>
        </p:cxnSp>
        <p:sp>
          <p:nvSpPr>
            <p:cNvPr id="678" name="Google Shape;678;p28"/>
            <p:cNvSpPr txBox="1"/>
            <p:nvPr/>
          </p:nvSpPr>
          <p:spPr>
            <a:xfrm>
              <a:off x="8548636" y="3662206"/>
              <a:ext cx="1758457" cy="8007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International Telecomm. Union (ITU)</a:t>
              </a:r>
              <a:endParaRPr/>
            </a:p>
          </p:txBody>
        </p:sp>
      </p:grpSp>
      <p:sp>
        <p:nvSpPr>
          <p:cNvPr id="679" name="Google Shape;679;p28"/>
          <p:cNvSpPr txBox="1"/>
          <p:nvPr/>
        </p:nvSpPr>
        <p:spPr>
          <a:xfrm>
            <a:off x="5644662" y="4311999"/>
            <a:ext cx="1582615" cy="103618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Internet Engineering Task Force (IETF)</a:t>
            </a:r>
            <a:endParaRPr/>
          </a:p>
        </p:txBody>
      </p:sp>
      <p:sp>
        <p:nvSpPr>
          <p:cNvPr id="680" name="Google Shape;680;p28"/>
          <p:cNvSpPr/>
          <p:nvPr/>
        </p:nvSpPr>
        <p:spPr>
          <a:xfrm>
            <a:off x="4800600" y="2463800"/>
            <a:ext cx="6362700" cy="1219200"/>
          </a:xfrm>
          <a:prstGeom prst="rect">
            <a:avLst/>
          </a:prstGeom>
          <a:solidFill>
            <a:schemeClr val="lt1">
              <a:alpha val="99607"/>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1" name="Google Shape;681;p28"/>
          <p:cNvSpPr/>
          <p:nvPr/>
        </p:nvSpPr>
        <p:spPr>
          <a:xfrm>
            <a:off x="5257800" y="3162300"/>
            <a:ext cx="3200400" cy="1219200"/>
          </a:xfrm>
          <a:prstGeom prst="rect">
            <a:avLst/>
          </a:prstGeom>
          <a:solidFill>
            <a:schemeClr val="lt1">
              <a:alpha val="99607"/>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2" name="Google Shape;682;p28"/>
          <p:cNvSpPr txBox="1"/>
          <p:nvPr/>
        </p:nvSpPr>
        <p:spPr>
          <a:xfrm>
            <a:off x="8666283" y="4872250"/>
            <a:ext cx="1693565" cy="103618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Inst. For Electrical and Electronics Engineers (IEEE)</a:t>
            </a:r>
            <a:endParaRPr/>
          </a:p>
        </p:txBody>
      </p:sp>
      <p:sp>
        <p:nvSpPr>
          <p:cNvPr id="683" name="Google Shape;683;p28"/>
          <p:cNvSpPr txBox="1"/>
          <p:nvPr/>
        </p:nvSpPr>
        <p:spPr>
          <a:xfrm>
            <a:off x="6895680" y="4882241"/>
            <a:ext cx="1949800" cy="103618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3GPP</a:t>
            </a:r>
            <a:endParaRPr/>
          </a:p>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3</a:t>
            </a:r>
            <a:r>
              <a:rPr b="0" baseline="30000" i="0" lang="en-US" sz="1800" u="none" cap="none" strike="noStrike">
                <a:solidFill>
                  <a:srgbClr val="C00000"/>
                </a:solidFill>
                <a:latin typeface="Calibri"/>
                <a:ea typeface="Calibri"/>
                <a:cs typeface="Calibri"/>
                <a:sym typeface="Calibri"/>
              </a:rPr>
              <a:t>rd</a:t>
            </a:r>
            <a:r>
              <a:rPr b="0" i="0" lang="en-US" sz="1800" u="none" cap="none" strike="noStrike">
                <a:solidFill>
                  <a:srgbClr val="C00000"/>
                </a:solidFill>
                <a:latin typeface="Calibri"/>
                <a:ea typeface="Calibri"/>
                <a:cs typeface="Calibri"/>
                <a:sym typeface="Calibri"/>
              </a:rPr>
              <a:t> Generation Partnership Project</a:t>
            </a:r>
            <a:endParaRPr/>
          </a:p>
        </p:txBody>
      </p:sp>
      <p:sp>
        <p:nvSpPr>
          <p:cNvPr id="684" name="Google Shape;684;p2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Supplemental: 1-</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xit" presetID="10" presetSubtype="0">
                                  <p:stCondLst>
                                    <p:cond delay="0"/>
                                  </p:stCondLst>
                                  <p:childTnLst>
                                    <p:animEffect filter="fade" transition="out">
                                      <p:cBhvr>
                                        <p:cTn dur="500"/>
                                        <p:tgtEl>
                                          <p:spTgt spid="661"/>
                                        </p:tgtEl>
                                      </p:cBhvr>
                                    </p:animEffect>
                                    <p:set>
                                      <p:cBhvr>
                                        <p:cTn dur="1" fill="hold">
                                          <p:stCondLst>
                                            <p:cond delay="500"/>
                                          </p:stCondLst>
                                        </p:cTn>
                                        <p:tgtEl>
                                          <p:spTgt spid="66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65"/>
                                        </p:tgtEl>
                                      </p:cBhvr>
                                    </p:animEffect>
                                    <p:set>
                                      <p:cBhvr>
                                        <p:cTn dur="1" fill="hold">
                                          <p:stCondLst>
                                            <p:cond delay="500"/>
                                          </p:stCondLst>
                                        </p:cTn>
                                        <p:tgtEl>
                                          <p:spTgt spid="66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74"/>
                                        </p:tgtEl>
                                        <p:attrNameLst>
                                          <p:attrName>style.visibility</p:attrName>
                                        </p:attrNameLst>
                                      </p:cBhvr>
                                      <p:to>
                                        <p:strVal val="visible"/>
                                      </p:to>
                                    </p:set>
                                    <p:animEffect filter="fade" transition="in">
                                      <p:cBhvr>
                                        <p:cTn dur="500"/>
                                        <p:tgtEl>
                                          <p:spTgt spid="674"/>
                                        </p:tgtEl>
                                      </p:cBhvr>
                                    </p:animEffect>
                                  </p:childTnLst>
                                </p:cTn>
                              </p:par>
                              <p:par>
                                <p:cTn fill="hold" nodeType="withEffect" presetClass="entr" presetID="10" presetSubtype="0">
                                  <p:stCondLst>
                                    <p:cond delay="0"/>
                                  </p:stCondLst>
                                  <p:childTnLst>
                                    <p:set>
                                      <p:cBhvr>
                                        <p:cTn dur="1" fill="hold">
                                          <p:stCondLst>
                                            <p:cond delay="0"/>
                                          </p:stCondLst>
                                        </p:cTn>
                                        <p:tgtEl>
                                          <p:spTgt spid="680"/>
                                        </p:tgtEl>
                                        <p:attrNameLst>
                                          <p:attrName>style.visibility</p:attrName>
                                        </p:attrNameLst>
                                      </p:cBhvr>
                                      <p:to>
                                        <p:strVal val="visible"/>
                                      </p:to>
                                    </p:set>
                                    <p:animEffect filter="fade" transition="in">
                                      <p:cBhvr>
                                        <p:cTn dur="500"/>
                                        <p:tgtEl>
                                          <p:spTgt spid="680"/>
                                        </p:tgtEl>
                                      </p:cBhvr>
                                    </p:animEffect>
                                  </p:childTnLst>
                                </p:cTn>
                              </p:par>
                              <p:par>
                                <p:cTn fill="hold" nodeType="withEffect" presetClass="entr" presetID="10" presetSubtype="0">
                                  <p:stCondLst>
                                    <p:cond delay="0"/>
                                  </p:stCondLst>
                                  <p:childTnLst>
                                    <p:set>
                                      <p:cBhvr>
                                        <p:cTn dur="1" fill="hold">
                                          <p:stCondLst>
                                            <p:cond delay="0"/>
                                          </p:stCondLst>
                                        </p:cTn>
                                        <p:tgtEl>
                                          <p:spTgt spid="675"/>
                                        </p:tgtEl>
                                        <p:attrNameLst>
                                          <p:attrName>style.visibility</p:attrName>
                                        </p:attrNameLst>
                                      </p:cBhvr>
                                      <p:to>
                                        <p:strVal val="visible"/>
                                      </p:to>
                                    </p:set>
                                    <p:animEffect filter="fade" transition="in">
                                      <p:cBhvr>
                                        <p:cTn dur="500"/>
                                        <p:tgtEl>
                                          <p:spTgt spid="675"/>
                                        </p:tgtEl>
                                      </p:cBhvr>
                                    </p:animEffect>
                                  </p:childTnLst>
                                </p:cTn>
                              </p:par>
                              <p:par>
                                <p:cTn fill="hold" nodeType="withEffect" presetClass="entr" presetID="10" presetSubtype="0">
                                  <p:stCondLst>
                                    <p:cond delay="0"/>
                                  </p:stCondLst>
                                  <p:childTnLst>
                                    <p:set>
                                      <p:cBhvr>
                                        <p:cTn dur="1" fill="hold">
                                          <p:stCondLst>
                                            <p:cond delay="0"/>
                                          </p:stCondLst>
                                        </p:cTn>
                                        <p:tgtEl>
                                          <p:spTgt spid="681"/>
                                        </p:tgtEl>
                                        <p:attrNameLst>
                                          <p:attrName>style.visibility</p:attrName>
                                        </p:attrNameLst>
                                      </p:cBhvr>
                                      <p:to>
                                        <p:strVal val="visible"/>
                                      </p:to>
                                    </p:set>
                                    <p:animEffect filter="fade" transition="in">
                                      <p:cBhvr>
                                        <p:cTn dur="500"/>
                                        <p:tgtEl>
                                          <p:spTgt spid="6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29"/>
          <p:cNvSpPr txBox="1"/>
          <p:nvPr>
            <p:ph type="title"/>
          </p:nvPr>
        </p:nvSpPr>
        <p:spPr>
          <a:xfrm>
            <a:off x="517336" y="306910"/>
            <a:ext cx="11088509" cy="89462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3600"/>
              <a:buFont typeface="Calibri"/>
              <a:buNone/>
            </a:pPr>
            <a:r>
              <a:rPr lang="en-US" sz="3600">
                <a:latin typeface="Calibri"/>
                <a:ea typeface="Calibri"/>
                <a:cs typeface="Calibri"/>
                <a:sym typeface="Calibri"/>
              </a:rPr>
              <a:t>Technical Standards: why standards?</a:t>
            </a:r>
            <a:endParaRPr sz="3600">
              <a:latin typeface="Calibri"/>
              <a:ea typeface="Calibri"/>
              <a:cs typeface="Calibri"/>
              <a:sym typeface="Calibri"/>
            </a:endParaRPr>
          </a:p>
        </p:txBody>
      </p:sp>
      <p:grpSp>
        <p:nvGrpSpPr>
          <p:cNvPr id="691" name="Google Shape;691;p29"/>
          <p:cNvGrpSpPr/>
          <p:nvPr/>
        </p:nvGrpSpPr>
        <p:grpSpPr>
          <a:xfrm>
            <a:off x="1103349" y="1675439"/>
            <a:ext cx="3840769" cy="2763738"/>
            <a:chOff x="1182862" y="2192274"/>
            <a:chExt cx="3840769" cy="2763738"/>
          </a:xfrm>
        </p:grpSpPr>
        <p:pic>
          <p:nvPicPr>
            <p:cNvPr id="692" name="Google Shape;692;p29"/>
            <p:cNvPicPr preferRelativeResize="0"/>
            <p:nvPr/>
          </p:nvPicPr>
          <p:blipFill rotWithShape="1">
            <a:blip r:embed="rId3">
              <a:alphaModFix/>
            </a:blip>
            <a:srcRect b="0" l="0" r="0" t="0"/>
            <a:stretch/>
          </p:blipFill>
          <p:spPr>
            <a:xfrm>
              <a:off x="1391478" y="2192274"/>
              <a:ext cx="3632153" cy="2179292"/>
            </a:xfrm>
            <a:prstGeom prst="rect">
              <a:avLst/>
            </a:prstGeom>
            <a:noFill/>
            <a:ln>
              <a:noFill/>
            </a:ln>
          </p:spPr>
        </p:pic>
        <p:pic>
          <p:nvPicPr>
            <p:cNvPr descr="A picture containing electronics, jack, electronic&#10;&#10;Description automatically generated" id="693" name="Google Shape;693;p29"/>
            <p:cNvPicPr preferRelativeResize="0"/>
            <p:nvPr/>
          </p:nvPicPr>
          <p:blipFill rotWithShape="1">
            <a:blip r:embed="rId4">
              <a:alphaModFix/>
            </a:blip>
            <a:srcRect b="0" l="0" r="0" t="0"/>
            <a:stretch/>
          </p:blipFill>
          <p:spPr>
            <a:xfrm>
              <a:off x="4253948" y="2228211"/>
              <a:ext cx="547883" cy="823884"/>
            </a:xfrm>
            <a:prstGeom prst="rect">
              <a:avLst/>
            </a:prstGeom>
            <a:noFill/>
            <a:ln>
              <a:noFill/>
            </a:ln>
          </p:spPr>
        </p:pic>
        <p:pic>
          <p:nvPicPr>
            <p:cNvPr descr="A picture containing electronics, jack, electronic&#10;&#10;Description automatically generated" id="694" name="Google Shape;694;p29"/>
            <p:cNvPicPr preferRelativeResize="0"/>
            <p:nvPr/>
          </p:nvPicPr>
          <p:blipFill rotWithShape="1">
            <a:blip r:embed="rId4">
              <a:alphaModFix/>
            </a:blip>
            <a:srcRect b="0" l="0" r="0" t="0"/>
            <a:stretch/>
          </p:blipFill>
          <p:spPr>
            <a:xfrm>
              <a:off x="2539047" y="3584918"/>
              <a:ext cx="542083" cy="815162"/>
            </a:xfrm>
            <a:prstGeom prst="rect">
              <a:avLst/>
            </a:prstGeom>
            <a:noFill/>
            <a:ln>
              <a:noFill/>
            </a:ln>
          </p:spPr>
        </p:pic>
        <p:pic>
          <p:nvPicPr>
            <p:cNvPr descr="A picture containing electronics, jack, electronic&#10;&#10;Description automatically generated" id="695" name="Google Shape;695;p29"/>
            <p:cNvPicPr preferRelativeResize="0"/>
            <p:nvPr/>
          </p:nvPicPr>
          <p:blipFill rotWithShape="1">
            <a:blip r:embed="rId4">
              <a:alphaModFix/>
            </a:blip>
            <a:srcRect b="0" l="0" r="0" t="0"/>
            <a:stretch/>
          </p:blipFill>
          <p:spPr>
            <a:xfrm>
              <a:off x="1182862" y="2266121"/>
              <a:ext cx="545382" cy="820123"/>
            </a:xfrm>
            <a:prstGeom prst="rect">
              <a:avLst/>
            </a:prstGeom>
            <a:noFill/>
            <a:ln>
              <a:noFill/>
            </a:ln>
          </p:spPr>
        </p:pic>
        <p:sp>
          <p:nvSpPr>
            <p:cNvPr id="696" name="Google Shape;696;p29"/>
            <p:cNvSpPr txBox="1"/>
            <p:nvPr/>
          </p:nvSpPr>
          <p:spPr>
            <a:xfrm>
              <a:off x="1347440" y="4586680"/>
              <a:ext cx="344421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110V, standard US electrical socket</a:t>
              </a:r>
              <a:endParaRPr/>
            </a:p>
          </p:txBody>
        </p:sp>
      </p:grpSp>
      <p:sp>
        <p:nvSpPr>
          <p:cNvPr id="697" name="Google Shape;697;p2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Supplemental: 1-</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30"/>
          <p:cNvSpPr txBox="1"/>
          <p:nvPr>
            <p:ph type="title"/>
          </p:nvPr>
        </p:nvSpPr>
        <p:spPr>
          <a:xfrm>
            <a:off x="517336" y="306910"/>
            <a:ext cx="11088509" cy="89462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3600"/>
              <a:buFont typeface="Calibri"/>
              <a:buNone/>
            </a:pPr>
            <a:r>
              <a:rPr lang="en-US" sz="3600">
                <a:latin typeface="Calibri"/>
                <a:ea typeface="Calibri"/>
                <a:cs typeface="Calibri"/>
                <a:sym typeface="Calibri"/>
              </a:rPr>
              <a:t>Technical Standards: why standards?</a:t>
            </a:r>
            <a:endParaRPr sz="3600">
              <a:latin typeface="Calibri"/>
              <a:ea typeface="Calibri"/>
              <a:cs typeface="Calibri"/>
              <a:sym typeface="Calibri"/>
            </a:endParaRPr>
          </a:p>
        </p:txBody>
      </p:sp>
      <p:grpSp>
        <p:nvGrpSpPr>
          <p:cNvPr id="704" name="Google Shape;704;p30"/>
          <p:cNvGrpSpPr/>
          <p:nvPr/>
        </p:nvGrpSpPr>
        <p:grpSpPr>
          <a:xfrm>
            <a:off x="1103349" y="1675439"/>
            <a:ext cx="3840769" cy="2763738"/>
            <a:chOff x="1182862" y="2192274"/>
            <a:chExt cx="3840769" cy="2763738"/>
          </a:xfrm>
        </p:grpSpPr>
        <p:pic>
          <p:nvPicPr>
            <p:cNvPr id="705" name="Google Shape;705;p30"/>
            <p:cNvPicPr preferRelativeResize="0"/>
            <p:nvPr/>
          </p:nvPicPr>
          <p:blipFill rotWithShape="1">
            <a:blip r:embed="rId3">
              <a:alphaModFix/>
            </a:blip>
            <a:srcRect b="0" l="0" r="0" t="0"/>
            <a:stretch/>
          </p:blipFill>
          <p:spPr>
            <a:xfrm>
              <a:off x="1391478" y="2192274"/>
              <a:ext cx="3632153" cy="2179292"/>
            </a:xfrm>
            <a:prstGeom prst="rect">
              <a:avLst/>
            </a:prstGeom>
            <a:noFill/>
            <a:ln>
              <a:noFill/>
            </a:ln>
          </p:spPr>
        </p:pic>
        <p:pic>
          <p:nvPicPr>
            <p:cNvPr descr="A picture containing electronics, jack, electronic&#10;&#10;Description automatically generated" id="706" name="Google Shape;706;p30"/>
            <p:cNvPicPr preferRelativeResize="0"/>
            <p:nvPr/>
          </p:nvPicPr>
          <p:blipFill rotWithShape="1">
            <a:blip r:embed="rId4">
              <a:alphaModFix/>
            </a:blip>
            <a:srcRect b="0" l="0" r="0" t="0"/>
            <a:stretch/>
          </p:blipFill>
          <p:spPr>
            <a:xfrm>
              <a:off x="4253948" y="2228211"/>
              <a:ext cx="547883" cy="823884"/>
            </a:xfrm>
            <a:prstGeom prst="rect">
              <a:avLst/>
            </a:prstGeom>
            <a:noFill/>
            <a:ln>
              <a:noFill/>
            </a:ln>
          </p:spPr>
        </p:pic>
        <p:pic>
          <p:nvPicPr>
            <p:cNvPr descr="A picture containing electronics, jack, electronic&#10;&#10;Description automatically generated" id="707" name="Google Shape;707;p30"/>
            <p:cNvPicPr preferRelativeResize="0"/>
            <p:nvPr/>
          </p:nvPicPr>
          <p:blipFill rotWithShape="1">
            <a:blip r:embed="rId4">
              <a:alphaModFix/>
            </a:blip>
            <a:srcRect b="0" l="0" r="0" t="0"/>
            <a:stretch/>
          </p:blipFill>
          <p:spPr>
            <a:xfrm>
              <a:off x="2539047" y="3584918"/>
              <a:ext cx="542083" cy="815162"/>
            </a:xfrm>
            <a:prstGeom prst="rect">
              <a:avLst/>
            </a:prstGeom>
            <a:noFill/>
            <a:ln>
              <a:noFill/>
            </a:ln>
          </p:spPr>
        </p:pic>
        <p:pic>
          <p:nvPicPr>
            <p:cNvPr descr="A picture containing electronics, jack, electronic&#10;&#10;Description automatically generated" id="708" name="Google Shape;708;p30"/>
            <p:cNvPicPr preferRelativeResize="0"/>
            <p:nvPr/>
          </p:nvPicPr>
          <p:blipFill rotWithShape="1">
            <a:blip r:embed="rId4">
              <a:alphaModFix/>
            </a:blip>
            <a:srcRect b="0" l="0" r="0" t="0"/>
            <a:stretch/>
          </p:blipFill>
          <p:spPr>
            <a:xfrm>
              <a:off x="1182862" y="2266121"/>
              <a:ext cx="545382" cy="820123"/>
            </a:xfrm>
            <a:prstGeom prst="rect">
              <a:avLst/>
            </a:prstGeom>
            <a:noFill/>
            <a:ln>
              <a:noFill/>
            </a:ln>
          </p:spPr>
        </p:pic>
        <p:sp>
          <p:nvSpPr>
            <p:cNvPr id="709" name="Google Shape;709;p30"/>
            <p:cNvSpPr txBox="1"/>
            <p:nvPr/>
          </p:nvSpPr>
          <p:spPr>
            <a:xfrm>
              <a:off x="1347440" y="4586680"/>
              <a:ext cx="344421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110V, standard US electrical socket</a:t>
              </a:r>
              <a:endParaRPr/>
            </a:p>
          </p:txBody>
        </p:sp>
      </p:grpSp>
      <p:sp>
        <p:nvSpPr>
          <p:cNvPr id="710" name="Google Shape;710;p30"/>
          <p:cNvSpPr txBox="1"/>
          <p:nvPr/>
        </p:nvSpPr>
        <p:spPr>
          <a:xfrm>
            <a:off x="2272899" y="4888247"/>
            <a:ext cx="850745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Standards are needed for</a:t>
            </a:r>
            <a:r>
              <a:rPr b="0" i="1" lang="en-US" sz="2400" u="none" cap="none" strike="noStrike">
                <a:solidFill>
                  <a:srgbClr val="C00000"/>
                </a:solidFill>
                <a:latin typeface="Calibri"/>
                <a:ea typeface="Calibri"/>
                <a:cs typeface="Calibri"/>
                <a:sym typeface="Calibri"/>
              </a:rPr>
              <a:t> interoperability </a:t>
            </a:r>
            <a:r>
              <a:rPr b="0" i="0" lang="en-US" sz="2400" u="none" cap="none" strike="noStrike">
                <a:solidFill>
                  <a:srgbClr val="C00000"/>
                </a:solidFill>
                <a:latin typeface="Calibri"/>
                <a:ea typeface="Calibri"/>
                <a:cs typeface="Calibri"/>
                <a:sym typeface="Calibri"/>
              </a:rPr>
              <a:t>and </a:t>
            </a:r>
            <a:r>
              <a:rPr b="0" i="1" lang="en-US" sz="2400" u="none" cap="none" strike="noStrike">
                <a:solidFill>
                  <a:srgbClr val="C00000"/>
                </a:solidFill>
                <a:latin typeface="Calibri"/>
                <a:ea typeface="Calibri"/>
                <a:cs typeface="Calibri"/>
                <a:sym typeface="Calibri"/>
              </a:rPr>
              <a:t>interconnectability</a:t>
            </a:r>
            <a:endParaRPr b="0" i="1" sz="2400" u="none" cap="none" strike="noStrike">
              <a:solidFill>
                <a:srgbClr val="C00000"/>
              </a:solidFill>
              <a:latin typeface="Calibri"/>
              <a:ea typeface="Calibri"/>
              <a:cs typeface="Calibri"/>
              <a:sym typeface="Calibri"/>
            </a:endParaRPr>
          </a:p>
        </p:txBody>
      </p:sp>
      <p:sp>
        <p:nvSpPr>
          <p:cNvPr id="711" name="Google Shape;711;p30"/>
          <p:cNvSpPr txBox="1"/>
          <p:nvPr/>
        </p:nvSpPr>
        <p:spPr>
          <a:xfrm>
            <a:off x="715618" y="5450509"/>
            <a:ext cx="11476382"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“…(s)tandards are one of the hallmarks of an industrial society. As the society becomes increasingly complex and its industrial base begins to emerge, it becomes necessary for the products, processes, and procedures of the society to fit together and to interoperate. This interoperation provides the basis for greater integration of the elements of society, which in turn causes increased social interdependency and complexity.”</a:t>
            </a:r>
            <a:endParaRPr/>
          </a:p>
        </p:txBody>
      </p:sp>
      <p:grpSp>
        <p:nvGrpSpPr>
          <p:cNvPr id="712" name="Google Shape;712;p30"/>
          <p:cNvGrpSpPr/>
          <p:nvPr/>
        </p:nvGrpSpPr>
        <p:grpSpPr>
          <a:xfrm>
            <a:off x="5716087" y="1382524"/>
            <a:ext cx="6200970" cy="3187999"/>
            <a:chOff x="5716087" y="1382524"/>
            <a:chExt cx="6200970" cy="3187999"/>
          </a:xfrm>
        </p:grpSpPr>
        <p:pic>
          <p:nvPicPr>
            <p:cNvPr id="713" name="Google Shape;713;p30"/>
            <p:cNvPicPr preferRelativeResize="0"/>
            <p:nvPr/>
          </p:nvPicPr>
          <p:blipFill rotWithShape="1">
            <a:blip r:embed="rId5">
              <a:alphaModFix/>
            </a:blip>
            <a:srcRect b="0" l="0" r="0" t="0"/>
            <a:stretch/>
          </p:blipFill>
          <p:spPr>
            <a:xfrm>
              <a:off x="5716087" y="1382524"/>
              <a:ext cx="6200970" cy="3187999"/>
            </a:xfrm>
            <a:prstGeom prst="rect">
              <a:avLst/>
            </a:prstGeom>
            <a:noFill/>
            <a:ln>
              <a:noFill/>
            </a:ln>
          </p:spPr>
        </p:pic>
        <p:pic>
          <p:nvPicPr>
            <p:cNvPr id="714" name="Google Shape;714;p30"/>
            <p:cNvPicPr preferRelativeResize="0"/>
            <p:nvPr/>
          </p:nvPicPr>
          <p:blipFill rotWithShape="1">
            <a:blip r:embed="rId6">
              <a:alphaModFix/>
            </a:blip>
            <a:srcRect b="0" l="0" r="0" t="0"/>
            <a:stretch/>
          </p:blipFill>
          <p:spPr>
            <a:xfrm>
              <a:off x="6971244" y="2205050"/>
              <a:ext cx="305385" cy="323414"/>
            </a:xfrm>
            <a:prstGeom prst="rect">
              <a:avLst/>
            </a:prstGeom>
            <a:noFill/>
            <a:ln>
              <a:noFill/>
            </a:ln>
          </p:spPr>
        </p:pic>
        <p:pic>
          <p:nvPicPr>
            <p:cNvPr id="715" name="Google Shape;715;p30"/>
            <p:cNvPicPr preferRelativeResize="0"/>
            <p:nvPr/>
          </p:nvPicPr>
          <p:blipFill rotWithShape="1">
            <a:blip r:embed="rId7">
              <a:alphaModFix/>
            </a:blip>
            <a:srcRect b="0" l="0" r="0" t="0"/>
            <a:stretch/>
          </p:blipFill>
          <p:spPr>
            <a:xfrm>
              <a:off x="6735818" y="2532596"/>
              <a:ext cx="315388" cy="331110"/>
            </a:xfrm>
            <a:prstGeom prst="rect">
              <a:avLst/>
            </a:prstGeom>
            <a:noFill/>
            <a:ln>
              <a:noFill/>
            </a:ln>
          </p:spPr>
        </p:pic>
        <p:pic>
          <p:nvPicPr>
            <p:cNvPr id="716" name="Google Shape;716;p30"/>
            <p:cNvPicPr preferRelativeResize="0"/>
            <p:nvPr/>
          </p:nvPicPr>
          <p:blipFill rotWithShape="1">
            <a:blip r:embed="rId6">
              <a:alphaModFix/>
            </a:blip>
            <a:srcRect b="0" l="0" r="0" t="0"/>
            <a:stretch/>
          </p:blipFill>
          <p:spPr>
            <a:xfrm>
              <a:off x="10858287" y="2534057"/>
              <a:ext cx="293525" cy="310853"/>
            </a:xfrm>
            <a:prstGeom prst="rect">
              <a:avLst/>
            </a:prstGeom>
            <a:noFill/>
            <a:ln>
              <a:noFill/>
            </a:ln>
          </p:spPr>
        </p:pic>
        <p:pic>
          <p:nvPicPr>
            <p:cNvPr id="717" name="Google Shape;717;p30"/>
            <p:cNvPicPr preferRelativeResize="0"/>
            <p:nvPr/>
          </p:nvPicPr>
          <p:blipFill rotWithShape="1">
            <a:blip r:embed="rId8">
              <a:alphaModFix/>
            </a:blip>
            <a:srcRect b="0" l="0" r="0" t="0"/>
            <a:stretch/>
          </p:blipFill>
          <p:spPr>
            <a:xfrm>
              <a:off x="10314416" y="2564882"/>
              <a:ext cx="305012" cy="323002"/>
            </a:xfrm>
            <a:prstGeom prst="rect">
              <a:avLst/>
            </a:prstGeom>
            <a:noFill/>
            <a:ln>
              <a:noFill/>
            </a:ln>
          </p:spPr>
        </p:pic>
        <p:pic>
          <p:nvPicPr>
            <p:cNvPr id="718" name="Google Shape;718;p30"/>
            <p:cNvPicPr preferRelativeResize="0"/>
            <p:nvPr/>
          </p:nvPicPr>
          <p:blipFill rotWithShape="1">
            <a:blip r:embed="rId8">
              <a:alphaModFix/>
            </a:blip>
            <a:srcRect b="0" l="0" r="0" t="0"/>
            <a:stretch/>
          </p:blipFill>
          <p:spPr>
            <a:xfrm>
              <a:off x="7592950" y="3407466"/>
              <a:ext cx="305012" cy="323002"/>
            </a:xfrm>
            <a:prstGeom prst="rect">
              <a:avLst/>
            </a:prstGeom>
            <a:noFill/>
            <a:ln>
              <a:noFill/>
            </a:ln>
          </p:spPr>
        </p:pic>
        <p:pic>
          <p:nvPicPr>
            <p:cNvPr id="719" name="Google Shape;719;p30"/>
            <p:cNvPicPr preferRelativeResize="0"/>
            <p:nvPr/>
          </p:nvPicPr>
          <p:blipFill rotWithShape="1">
            <a:blip r:embed="rId9">
              <a:alphaModFix/>
            </a:blip>
            <a:srcRect b="0" l="0" r="0" t="0"/>
            <a:stretch/>
          </p:blipFill>
          <p:spPr>
            <a:xfrm>
              <a:off x="8691417" y="2314214"/>
              <a:ext cx="297438" cy="315908"/>
            </a:xfrm>
            <a:prstGeom prst="rect">
              <a:avLst/>
            </a:prstGeom>
            <a:noFill/>
            <a:ln>
              <a:noFill/>
            </a:ln>
          </p:spPr>
        </p:pic>
        <p:pic>
          <p:nvPicPr>
            <p:cNvPr id="720" name="Google Shape;720;p30"/>
            <p:cNvPicPr preferRelativeResize="0"/>
            <p:nvPr/>
          </p:nvPicPr>
          <p:blipFill rotWithShape="1">
            <a:blip r:embed="rId10">
              <a:alphaModFix/>
            </a:blip>
            <a:srcRect b="0" l="0" r="0" t="0"/>
            <a:stretch/>
          </p:blipFill>
          <p:spPr>
            <a:xfrm>
              <a:off x="9852841" y="2881422"/>
              <a:ext cx="309509" cy="325879"/>
            </a:xfrm>
            <a:prstGeom prst="rect">
              <a:avLst/>
            </a:prstGeom>
            <a:noFill/>
            <a:ln>
              <a:noFill/>
            </a:ln>
          </p:spPr>
        </p:pic>
        <p:pic>
          <p:nvPicPr>
            <p:cNvPr id="721" name="Google Shape;721;p30"/>
            <p:cNvPicPr preferRelativeResize="0"/>
            <p:nvPr/>
          </p:nvPicPr>
          <p:blipFill rotWithShape="1">
            <a:blip r:embed="rId11">
              <a:alphaModFix/>
            </a:blip>
            <a:srcRect b="0" l="0" r="0" t="0"/>
            <a:stretch/>
          </p:blipFill>
          <p:spPr>
            <a:xfrm>
              <a:off x="8395685" y="2048083"/>
              <a:ext cx="292856" cy="309237"/>
            </a:xfrm>
            <a:prstGeom prst="rect">
              <a:avLst/>
            </a:prstGeom>
            <a:noFill/>
            <a:ln>
              <a:noFill/>
            </a:ln>
          </p:spPr>
        </p:pic>
        <p:pic>
          <p:nvPicPr>
            <p:cNvPr id="722" name="Google Shape;722;p30"/>
            <p:cNvPicPr preferRelativeResize="0"/>
            <p:nvPr/>
          </p:nvPicPr>
          <p:blipFill rotWithShape="1">
            <a:blip r:embed="rId11">
              <a:alphaModFix/>
            </a:blip>
            <a:srcRect b="0" l="0" r="0" t="0"/>
            <a:stretch/>
          </p:blipFill>
          <p:spPr>
            <a:xfrm>
              <a:off x="10644241" y="3167711"/>
              <a:ext cx="292856" cy="309237"/>
            </a:xfrm>
            <a:prstGeom prst="rect">
              <a:avLst/>
            </a:prstGeom>
            <a:noFill/>
            <a:ln>
              <a:noFill/>
            </a:ln>
          </p:spPr>
        </p:pic>
        <p:pic>
          <p:nvPicPr>
            <p:cNvPr id="723" name="Google Shape;723;p30"/>
            <p:cNvPicPr preferRelativeResize="0"/>
            <p:nvPr/>
          </p:nvPicPr>
          <p:blipFill rotWithShape="1">
            <a:blip r:embed="rId12">
              <a:alphaModFix/>
            </a:blip>
            <a:srcRect b="0" l="0" r="0" t="0"/>
            <a:stretch/>
          </p:blipFill>
          <p:spPr>
            <a:xfrm>
              <a:off x="10886344" y="3709749"/>
              <a:ext cx="286855" cy="302900"/>
            </a:xfrm>
            <a:prstGeom prst="rect">
              <a:avLst/>
            </a:prstGeom>
            <a:noFill/>
            <a:ln>
              <a:noFill/>
            </a:ln>
          </p:spPr>
        </p:pic>
        <p:pic>
          <p:nvPicPr>
            <p:cNvPr id="724" name="Google Shape;724;p30"/>
            <p:cNvPicPr preferRelativeResize="0"/>
            <p:nvPr/>
          </p:nvPicPr>
          <p:blipFill rotWithShape="1">
            <a:blip r:embed="rId12">
              <a:alphaModFix/>
            </a:blip>
            <a:srcRect b="0" l="0" r="0" t="0"/>
            <a:stretch/>
          </p:blipFill>
          <p:spPr>
            <a:xfrm>
              <a:off x="10116406" y="2427716"/>
              <a:ext cx="286855" cy="302900"/>
            </a:xfrm>
            <a:prstGeom prst="rect">
              <a:avLst/>
            </a:prstGeom>
            <a:noFill/>
            <a:ln>
              <a:noFill/>
            </a:ln>
          </p:spPr>
        </p:pic>
        <p:pic>
          <p:nvPicPr>
            <p:cNvPr id="725" name="Google Shape;725;p30"/>
            <p:cNvPicPr preferRelativeResize="0"/>
            <p:nvPr/>
          </p:nvPicPr>
          <p:blipFill rotWithShape="1">
            <a:blip r:embed="rId13">
              <a:alphaModFix/>
            </a:blip>
            <a:srcRect b="0" l="0" r="0" t="0"/>
            <a:stretch/>
          </p:blipFill>
          <p:spPr>
            <a:xfrm>
              <a:off x="9151124" y="2642619"/>
              <a:ext cx="308913" cy="325252"/>
            </a:xfrm>
            <a:prstGeom prst="rect">
              <a:avLst/>
            </a:prstGeom>
            <a:noFill/>
            <a:ln>
              <a:noFill/>
            </a:ln>
          </p:spPr>
        </p:pic>
        <p:pic>
          <p:nvPicPr>
            <p:cNvPr id="726" name="Google Shape;726;p30"/>
            <p:cNvPicPr preferRelativeResize="0"/>
            <p:nvPr/>
          </p:nvPicPr>
          <p:blipFill rotWithShape="1">
            <a:blip r:embed="rId14">
              <a:alphaModFix/>
            </a:blip>
            <a:srcRect b="0" l="0" r="0" t="0"/>
            <a:stretch/>
          </p:blipFill>
          <p:spPr>
            <a:xfrm>
              <a:off x="9119331" y="2337033"/>
              <a:ext cx="243295" cy="259147"/>
            </a:xfrm>
            <a:prstGeom prst="rect">
              <a:avLst/>
            </a:prstGeom>
            <a:noFill/>
            <a:ln>
              <a:noFill/>
            </a:ln>
          </p:spPr>
        </p:pic>
        <p:pic>
          <p:nvPicPr>
            <p:cNvPr id="727" name="Google Shape;727;p30"/>
            <p:cNvPicPr preferRelativeResize="0"/>
            <p:nvPr/>
          </p:nvPicPr>
          <p:blipFill rotWithShape="1">
            <a:blip r:embed="rId8">
              <a:alphaModFix/>
            </a:blip>
            <a:srcRect b="0" l="0" r="0" t="0"/>
            <a:stretch/>
          </p:blipFill>
          <p:spPr>
            <a:xfrm>
              <a:off x="8870447" y="2070769"/>
              <a:ext cx="305012" cy="323002"/>
            </a:xfrm>
            <a:prstGeom prst="rect">
              <a:avLst/>
            </a:prstGeom>
            <a:noFill/>
            <a:ln>
              <a:noFill/>
            </a:ln>
          </p:spPr>
        </p:pic>
        <p:pic>
          <p:nvPicPr>
            <p:cNvPr id="728" name="Google Shape;728;p30"/>
            <p:cNvPicPr preferRelativeResize="0"/>
            <p:nvPr/>
          </p:nvPicPr>
          <p:blipFill rotWithShape="1">
            <a:blip r:embed="rId15">
              <a:alphaModFix/>
            </a:blip>
            <a:srcRect b="0" l="0" r="0" t="0"/>
            <a:stretch/>
          </p:blipFill>
          <p:spPr>
            <a:xfrm>
              <a:off x="8775623" y="3243227"/>
              <a:ext cx="305266" cy="320483"/>
            </a:xfrm>
            <a:prstGeom prst="rect">
              <a:avLst/>
            </a:prstGeom>
            <a:noFill/>
            <a:ln>
              <a:noFill/>
            </a:ln>
          </p:spPr>
        </p:pic>
        <p:pic>
          <p:nvPicPr>
            <p:cNvPr id="729" name="Google Shape;729;p30"/>
            <p:cNvPicPr preferRelativeResize="0"/>
            <p:nvPr/>
          </p:nvPicPr>
          <p:blipFill rotWithShape="1">
            <a:blip r:embed="rId16">
              <a:alphaModFix/>
            </a:blip>
            <a:srcRect b="0" l="0" r="0" t="0"/>
            <a:stretch/>
          </p:blipFill>
          <p:spPr>
            <a:xfrm>
              <a:off x="9113056" y="3241445"/>
              <a:ext cx="310259" cy="328550"/>
            </a:xfrm>
            <a:prstGeom prst="rect">
              <a:avLst/>
            </a:prstGeom>
            <a:noFill/>
            <a:ln>
              <a:noFill/>
            </a:ln>
          </p:spPr>
        </p:pic>
        <p:pic>
          <p:nvPicPr>
            <p:cNvPr id="730" name="Google Shape;730;p30"/>
            <p:cNvPicPr preferRelativeResize="0"/>
            <p:nvPr/>
          </p:nvPicPr>
          <p:blipFill rotWithShape="1">
            <a:blip r:embed="rId17">
              <a:alphaModFix/>
            </a:blip>
            <a:srcRect b="0" l="0" r="0" t="0"/>
            <a:stretch/>
          </p:blipFill>
          <p:spPr>
            <a:xfrm>
              <a:off x="10239730" y="2989080"/>
              <a:ext cx="302835" cy="318848"/>
            </a:xfrm>
            <a:prstGeom prst="rect">
              <a:avLst/>
            </a:prstGeom>
            <a:noFill/>
            <a:ln>
              <a:noFill/>
            </a:ln>
          </p:spPr>
        </p:pic>
        <p:pic>
          <p:nvPicPr>
            <p:cNvPr id="731" name="Google Shape;731;p30"/>
            <p:cNvPicPr preferRelativeResize="0"/>
            <p:nvPr/>
          </p:nvPicPr>
          <p:blipFill rotWithShape="1">
            <a:blip r:embed="rId18">
              <a:alphaModFix/>
            </a:blip>
            <a:srcRect b="0" l="0" r="0" t="0"/>
            <a:stretch/>
          </p:blipFill>
          <p:spPr>
            <a:xfrm>
              <a:off x="10399951" y="1857046"/>
              <a:ext cx="298349" cy="314124"/>
            </a:xfrm>
            <a:prstGeom prst="rect">
              <a:avLst/>
            </a:prstGeom>
            <a:noFill/>
            <a:ln>
              <a:noFill/>
            </a:ln>
          </p:spPr>
        </p:pic>
        <p:sp>
          <p:nvSpPr>
            <p:cNvPr id="732" name="Google Shape;732;p30"/>
            <p:cNvSpPr/>
            <p:nvPr/>
          </p:nvSpPr>
          <p:spPr>
            <a:xfrm>
              <a:off x="7226300" y="4241800"/>
              <a:ext cx="406400" cy="241300"/>
            </a:xfrm>
            <a:prstGeom prst="rect">
              <a:avLst/>
            </a:prstGeom>
            <a:solidFill>
              <a:schemeClr val="lt1">
                <a:alpha val="8274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3" name="Google Shape;733;p30"/>
            <p:cNvSpPr txBox="1"/>
            <p:nvPr/>
          </p:nvSpPr>
          <p:spPr>
            <a:xfrm>
              <a:off x="6120623" y="4174281"/>
              <a:ext cx="540090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15 plug standards worldwide; 110V and 220V standards</a:t>
              </a:r>
              <a:endParaRPr/>
            </a:p>
          </p:txBody>
        </p:sp>
      </p:grpSp>
      <p:sp>
        <p:nvSpPr>
          <p:cNvPr id="734" name="Google Shape;734;p3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Supplemental: 1-</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2"/>
                                        </p:tgtEl>
                                        <p:attrNameLst>
                                          <p:attrName>style.visibility</p:attrName>
                                        </p:attrNameLst>
                                      </p:cBhvr>
                                      <p:to>
                                        <p:strVal val="visible"/>
                                      </p:to>
                                    </p:set>
                                    <p:animEffect filter="fade" transition="in">
                                      <p:cBhvr>
                                        <p:cTn dur="500"/>
                                        <p:tgtEl>
                                          <p:spTgt spid="7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0"/>
                                        </p:tgtEl>
                                        <p:attrNameLst>
                                          <p:attrName>style.visibility</p:attrName>
                                        </p:attrNameLst>
                                      </p:cBhvr>
                                      <p:to>
                                        <p:strVal val="visible"/>
                                      </p:to>
                                    </p:set>
                                    <p:animEffect filter="fade" transition="in">
                                      <p:cBhvr>
                                        <p:cTn dur="500"/>
                                        <p:tgtEl>
                                          <p:spTgt spid="710"/>
                                        </p:tgtEl>
                                      </p:cBhvr>
                                    </p:animEffect>
                                  </p:childTnLst>
                                </p:cTn>
                              </p:par>
                              <p:par>
                                <p:cTn fill="hold" nodeType="withEffect" presetClass="entr" presetID="10" presetSubtype="0">
                                  <p:stCondLst>
                                    <p:cond delay="0"/>
                                  </p:stCondLst>
                                  <p:childTnLst>
                                    <p:set>
                                      <p:cBhvr>
                                        <p:cTn dur="1" fill="hold">
                                          <p:stCondLst>
                                            <p:cond delay="0"/>
                                          </p:stCondLst>
                                        </p:cTn>
                                        <p:tgtEl>
                                          <p:spTgt spid="711"/>
                                        </p:tgtEl>
                                        <p:attrNameLst>
                                          <p:attrName>style.visibility</p:attrName>
                                        </p:attrNameLst>
                                      </p:cBhvr>
                                      <p:to>
                                        <p:strVal val="visible"/>
                                      </p:to>
                                    </p:set>
                                    <p:animEffect filter="fade" transition="in">
                                      <p:cBhvr>
                                        <p:cTn dur="500"/>
                                        <p:tgtEl>
                                          <p:spTgt spid="7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31"/>
          <p:cNvSpPr txBox="1"/>
          <p:nvPr>
            <p:ph type="title"/>
          </p:nvPr>
        </p:nvSpPr>
        <p:spPr>
          <a:xfrm>
            <a:off x="517336" y="306910"/>
            <a:ext cx="11088509" cy="89462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3600"/>
              <a:buFont typeface="Calibri"/>
              <a:buNone/>
            </a:pPr>
            <a:r>
              <a:rPr lang="en-US" sz="3600">
                <a:latin typeface="Calibri"/>
                <a:ea typeface="Calibri"/>
                <a:cs typeface="Calibri"/>
                <a:sym typeface="Calibri"/>
              </a:rPr>
              <a:t>Technical Standards: why standards?</a:t>
            </a:r>
            <a:endParaRPr sz="3600">
              <a:latin typeface="Calibri"/>
              <a:ea typeface="Calibri"/>
              <a:cs typeface="Calibri"/>
              <a:sym typeface="Calibri"/>
            </a:endParaRPr>
          </a:p>
        </p:txBody>
      </p:sp>
      <p:grpSp>
        <p:nvGrpSpPr>
          <p:cNvPr id="741" name="Google Shape;741;p31"/>
          <p:cNvGrpSpPr/>
          <p:nvPr/>
        </p:nvGrpSpPr>
        <p:grpSpPr>
          <a:xfrm>
            <a:off x="828676" y="2951526"/>
            <a:ext cx="3087640" cy="3475705"/>
            <a:chOff x="685801" y="2265726"/>
            <a:chExt cx="3087640" cy="3475705"/>
          </a:xfrm>
        </p:grpSpPr>
        <p:grpSp>
          <p:nvGrpSpPr>
            <p:cNvPr id="742" name="Google Shape;742;p31"/>
            <p:cNvGrpSpPr/>
            <p:nvPr/>
          </p:nvGrpSpPr>
          <p:grpSpPr>
            <a:xfrm>
              <a:off x="1181694" y="2265726"/>
              <a:ext cx="2482357" cy="3114365"/>
              <a:chOff x="3810594" y="2508614"/>
              <a:chExt cx="2482357" cy="3114365"/>
            </a:xfrm>
          </p:grpSpPr>
          <p:pic>
            <p:nvPicPr>
              <p:cNvPr descr="Map&#10;&#10;Description automatically generated" id="743" name="Google Shape;743;p31"/>
              <p:cNvPicPr preferRelativeResize="0"/>
              <p:nvPr/>
            </p:nvPicPr>
            <p:blipFill rotWithShape="1">
              <a:blip r:embed="rId3">
                <a:alphaModFix/>
              </a:blip>
              <a:srcRect b="0" l="0" r="0" t="0"/>
              <a:stretch/>
            </p:blipFill>
            <p:spPr>
              <a:xfrm>
                <a:off x="3810594" y="2538108"/>
                <a:ext cx="2482357" cy="3084871"/>
              </a:xfrm>
              <a:prstGeom prst="rect">
                <a:avLst/>
              </a:prstGeom>
              <a:noFill/>
              <a:ln>
                <a:noFill/>
              </a:ln>
            </p:spPr>
          </p:pic>
          <p:sp>
            <p:nvSpPr>
              <p:cNvPr id="744" name="Google Shape;744;p31"/>
              <p:cNvSpPr txBox="1"/>
              <p:nvPr/>
            </p:nvSpPr>
            <p:spPr>
              <a:xfrm>
                <a:off x="5441849" y="3088716"/>
                <a:ext cx="744114" cy="369332"/>
              </a:xfrm>
              <a:prstGeom prst="rect">
                <a:avLst/>
              </a:prstGeom>
              <a:solidFill>
                <a:schemeClr val="lt1">
                  <a:alpha val="45098"/>
                </a:schemeClr>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1800"/>
                  <a:buFont typeface="Calibri"/>
                  <a:buNone/>
                </a:pPr>
                <a:r>
                  <a:rPr b="0" i="0" lang="en-US" sz="1800" u="none" cap="none" strike="noStrike">
                    <a:solidFill>
                      <a:srgbClr val="0000A8"/>
                    </a:solidFill>
                    <a:latin typeface="Calibri"/>
                    <a:ea typeface="Calibri"/>
                    <a:cs typeface="Calibri"/>
                    <a:sym typeface="Calibri"/>
                  </a:rPr>
                  <a:t>4’8.5”</a:t>
                </a:r>
                <a:endParaRPr/>
              </a:p>
            </p:txBody>
          </p:sp>
          <p:sp>
            <p:nvSpPr>
              <p:cNvPr id="745" name="Google Shape;745;p31"/>
              <p:cNvSpPr txBox="1"/>
              <p:nvPr/>
            </p:nvSpPr>
            <p:spPr>
              <a:xfrm>
                <a:off x="5112468" y="3418097"/>
                <a:ext cx="572593" cy="369332"/>
              </a:xfrm>
              <a:prstGeom prst="rect">
                <a:avLst/>
              </a:prstGeom>
              <a:solidFill>
                <a:schemeClr val="lt1">
                  <a:alpha val="45098"/>
                </a:schemeClr>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1800"/>
                  <a:buFont typeface="Calibri"/>
                  <a:buNone/>
                </a:pPr>
                <a:r>
                  <a:rPr b="0" i="0" lang="en-US" sz="1800" u="none" cap="none" strike="noStrike">
                    <a:solidFill>
                      <a:srgbClr val="0000A8"/>
                    </a:solidFill>
                    <a:latin typeface="Calibri"/>
                    <a:ea typeface="Calibri"/>
                    <a:cs typeface="Calibri"/>
                    <a:sym typeface="Calibri"/>
                  </a:rPr>
                  <a:t>4’9”</a:t>
                </a:r>
                <a:endParaRPr/>
              </a:p>
            </p:txBody>
          </p:sp>
          <p:sp>
            <p:nvSpPr>
              <p:cNvPr id="746" name="Google Shape;746;p31"/>
              <p:cNvSpPr txBox="1"/>
              <p:nvPr/>
            </p:nvSpPr>
            <p:spPr>
              <a:xfrm>
                <a:off x="4379965" y="2508614"/>
                <a:ext cx="1181734" cy="369332"/>
              </a:xfrm>
              <a:prstGeom prst="rect">
                <a:avLst/>
              </a:prstGeom>
              <a:solidFill>
                <a:schemeClr val="lt1">
                  <a:alpha val="45098"/>
                </a:schemeClr>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1800"/>
                  <a:buFont typeface="Calibri"/>
                  <a:buNone/>
                </a:pPr>
                <a:r>
                  <a:rPr b="0" i="0" lang="en-US" sz="1800" u="none" cap="none" strike="noStrike">
                    <a:solidFill>
                      <a:srgbClr val="0000A8"/>
                    </a:solidFill>
                    <a:latin typeface="Calibri"/>
                    <a:ea typeface="Calibri"/>
                    <a:cs typeface="Calibri"/>
                    <a:sym typeface="Calibri"/>
                  </a:rPr>
                  <a:t>5’6” </a:t>
                </a:r>
                <a:r>
                  <a:rPr b="0" i="0" lang="en-US" sz="1100" u="none" cap="none" strike="noStrike">
                    <a:solidFill>
                      <a:srgbClr val="0000A8"/>
                    </a:solidFill>
                    <a:latin typeface="Calibri"/>
                    <a:ea typeface="Calibri"/>
                    <a:cs typeface="Calibri"/>
                    <a:sym typeface="Calibri"/>
                  </a:rPr>
                  <a:t>(Canada)</a:t>
                </a:r>
                <a:endParaRPr b="0" i="0" sz="1800" u="none" cap="none" strike="noStrike">
                  <a:solidFill>
                    <a:srgbClr val="0000A8"/>
                  </a:solidFill>
                  <a:latin typeface="Calibri"/>
                  <a:ea typeface="Calibri"/>
                  <a:cs typeface="Calibri"/>
                  <a:sym typeface="Calibri"/>
                </a:endParaRPr>
              </a:p>
            </p:txBody>
          </p:sp>
          <p:sp>
            <p:nvSpPr>
              <p:cNvPr id="747" name="Google Shape;747;p31"/>
              <p:cNvSpPr txBox="1"/>
              <p:nvPr/>
            </p:nvSpPr>
            <p:spPr>
              <a:xfrm>
                <a:off x="4532366" y="3290279"/>
                <a:ext cx="572593" cy="369332"/>
              </a:xfrm>
              <a:prstGeom prst="rect">
                <a:avLst/>
              </a:prstGeom>
              <a:solidFill>
                <a:schemeClr val="lt1">
                  <a:alpha val="45098"/>
                </a:schemeClr>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1800"/>
                  <a:buFont typeface="Calibri"/>
                  <a:buNone/>
                </a:pPr>
                <a:r>
                  <a:rPr b="0" i="0" lang="en-US" sz="1800" u="none" cap="none" strike="noStrike">
                    <a:solidFill>
                      <a:srgbClr val="0000A8"/>
                    </a:solidFill>
                    <a:latin typeface="Calibri"/>
                    <a:ea typeface="Calibri"/>
                    <a:cs typeface="Calibri"/>
                    <a:sym typeface="Calibri"/>
                  </a:rPr>
                  <a:t>6’0”</a:t>
                </a:r>
                <a:endParaRPr/>
              </a:p>
            </p:txBody>
          </p:sp>
          <p:sp>
            <p:nvSpPr>
              <p:cNvPr id="748" name="Google Shape;748;p31"/>
              <p:cNvSpPr txBox="1"/>
              <p:nvPr/>
            </p:nvSpPr>
            <p:spPr>
              <a:xfrm>
                <a:off x="4556945" y="4062110"/>
                <a:ext cx="572593" cy="369332"/>
              </a:xfrm>
              <a:prstGeom prst="rect">
                <a:avLst/>
              </a:prstGeom>
              <a:solidFill>
                <a:schemeClr val="lt1">
                  <a:alpha val="45098"/>
                </a:schemeClr>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1800"/>
                  <a:buFont typeface="Calibri"/>
                  <a:buNone/>
                </a:pPr>
                <a:r>
                  <a:rPr b="0" i="0" lang="en-US" sz="1800" u="none" cap="none" strike="noStrike">
                    <a:solidFill>
                      <a:srgbClr val="0000A8"/>
                    </a:solidFill>
                    <a:latin typeface="Calibri"/>
                    <a:ea typeface="Calibri"/>
                    <a:cs typeface="Calibri"/>
                    <a:sym typeface="Calibri"/>
                  </a:rPr>
                  <a:t>5’0”</a:t>
                </a:r>
                <a:endParaRPr/>
              </a:p>
            </p:txBody>
          </p:sp>
        </p:grpSp>
        <p:sp>
          <p:nvSpPr>
            <p:cNvPr id="749" name="Google Shape;749;p31"/>
            <p:cNvSpPr txBox="1"/>
            <p:nvPr/>
          </p:nvSpPr>
          <p:spPr>
            <a:xfrm>
              <a:off x="685801" y="5372099"/>
              <a:ext cx="308764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1860: 20 different track gauges</a:t>
              </a:r>
              <a:endParaRPr/>
            </a:p>
          </p:txBody>
        </p:sp>
      </p:grpSp>
      <p:sp>
        <p:nvSpPr>
          <p:cNvPr id="750" name="Google Shape;750;p31"/>
          <p:cNvSpPr txBox="1"/>
          <p:nvPr/>
        </p:nvSpPr>
        <p:spPr>
          <a:xfrm>
            <a:off x="4214813" y="4743450"/>
            <a:ext cx="7848599" cy="169277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Fun with railroad standards:</a:t>
            </a:r>
            <a:endParaRPr/>
          </a:p>
          <a:p>
            <a:pPr indent="-215900" lvl="0" marL="342900" marR="0" rtl="0" algn="l">
              <a:lnSpc>
                <a:spcPct val="100000"/>
              </a:lnSpc>
              <a:spcBef>
                <a:spcPts val="0"/>
              </a:spcBef>
              <a:spcAft>
                <a:spcPts val="0"/>
              </a:spcAft>
              <a:buClr>
                <a:srgbClr val="0000A8"/>
              </a:buClr>
              <a:buSzPts val="2000"/>
              <a:buFont typeface="Noto Sans Symbols"/>
              <a:buChar char="▪"/>
            </a:pPr>
            <a:r>
              <a:rPr b="0" i="0" lang="en-US" sz="2000" u="none" cap="none" strike="noStrike">
                <a:solidFill>
                  <a:srgbClr val="000000"/>
                </a:solidFill>
                <a:latin typeface="Calibri"/>
                <a:ea typeface="Calibri"/>
                <a:cs typeface="Calibri"/>
                <a:sym typeface="Calibri"/>
              </a:rPr>
              <a:t>1862: US gov’t convenes major railroad owners, standards discussed</a:t>
            </a:r>
            <a:endParaRPr/>
          </a:p>
          <a:p>
            <a:pPr indent="-215900" lvl="0" marL="342900" marR="0" rtl="0" algn="l">
              <a:lnSpc>
                <a:spcPct val="100000"/>
              </a:lnSpc>
              <a:spcBef>
                <a:spcPts val="0"/>
              </a:spcBef>
              <a:spcAft>
                <a:spcPts val="0"/>
              </a:spcAft>
              <a:buClr>
                <a:srgbClr val="0000A8"/>
              </a:buClr>
              <a:buSzPts val="2000"/>
              <a:buFont typeface="Noto Sans Symbols"/>
              <a:buChar char="▪"/>
            </a:pPr>
            <a:r>
              <a:rPr b="0" i="0" lang="en-US" sz="2000" u="none" cap="none" strike="noStrike">
                <a:solidFill>
                  <a:srgbClr val="000000"/>
                </a:solidFill>
                <a:latin typeface="Calibri"/>
                <a:ea typeface="Calibri"/>
                <a:cs typeface="Calibri"/>
                <a:sym typeface="Calibri"/>
              </a:rPr>
              <a:t>1867: 29 railroad companies form Master Car Builders Association </a:t>
            </a:r>
            <a:endParaRPr/>
          </a:p>
          <a:p>
            <a:pPr indent="-215900" lvl="0" marL="342900" marR="0" rtl="0" algn="l">
              <a:lnSpc>
                <a:spcPct val="100000"/>
              </a:lnSpc>
              <a:spcBef>
                <a:spcPts val="0"/>
              </a:spcBef>
              <a:spcAft>
                <a:spcPts val="0"/>
              </a:spcAft>
              <a:buClr>
                <a:srgbClr val="0000A8"/>
              </a:buClr>
              <a:buSzPts val="2000"/>
              <a:buFont typeface="Noto Sans Symbols"/>
              <a:buChar char="▪"/>
            </a:pPr>
            <a:r>
              <a:rPr b="0" i="0" lang="en-US" sz="2000" u="none" cap="none" strike="noStrike">
                <a:solidFill>
                  <a:srgbClr val="000000"/>
                </a:solidFill>
                <a:latin typeface="Calibri"/>
                <a:ea typeface="Calibri"/>
                <a:cs typeface="Calibri"/>
                <a:sym typeface="Calibri"/>
              </a:rPr>
              <a:t>1886: 4’ 8.5” standard gauge adopted</a:t>
            </a:r>
            <a:endParaRPr/>
          </a:p>
          <a:p>
            <a:pPr indent="-215900" lvl="0" marL="342900" marR="0" rtl="0" algn="l">
              <a:lnSpc>
                <a:spcPct val="100000"/>
              </a:lnSpc>
              <a:spcBef>
                <a:spcPts val="0"/>
              </a:spcBef>
              <a:spcAft>
                <a:spcPts val="0"/>
              </a:spcAft>
              <a:buClr>
                <a:srgbClr val="0000A8"/>
              </a:buClr>
              <a:buSzPts val="2000"/>
              <a:buFont typeface="Noto Sans Symbols"/>
              <a:buChar char="▪"/>
            </a:pPr>
            <a:r>
              <a:rPr b="0" i="0" lang="en-US" sz="2000" u="none" cap="none" strike="noStrike">
                <a:solidFill>
                  <a:srgbClr val="000000"/>
                </a:solidFill>
                <a:latin typeface="Calibri"/>
                <a:ea typeface="Calibri"/>
                <a:cs typeface="Calibri"/>
                <a:sym typeface="Calibri"/>
              </a:rPr>
              <a:t>Ties between 4’ 8.5” gauge, and ancient roman roads </a:t>
            </a:r>
            <a:r>
              <a:rPr b="0" i="0" lang="en-US" sz="1400" u="none" cap="none" strike="noStrike">
                <a:solidFill>
                  <a:srgbClr val="000000"/>
                </a:solidFill>
                <a:latin typeface="Calibri"/>
                <a:ea typeface="Calibri"/>
                <a:cs typeface="Calibri"/>
                <a:sym typeface="Calibri"/>
              </a:rPr>
              <a:t>(e.g., Pompei)</a:t>
            </a:r>
            <a:endParaRPr b="0" i="0" sz="2000" u="none" cap="none" strike="noStrike">
              <a:solidFill>
                <a:srgbClr val="000000"/>
              </a:solidFill>
              <a:latin typeface="Calibri"/>
              <a:ea typeface="Calibri"/>
              <a:cs typeface="Calibri"/>
              <a:sym typeface="Calibri"/>
            </a:endParaRPr>
          </a:p>
        </p:txBody>
      </p:sp>
      <p:grpSp>
        <p:nvGrpSpPr>
          <p:cNvPr id="751" name="Google Shape;751;p31"/>
          <p:cNvGrpSpPr/>
          <p:nvPr/>
        </p:nvGrpSpPr>
        <p:grpSpPr>
          <a:xfrm>
            <a:off x="5826401" y="1237129"/>
            <a:ext cx="5178799" cy="3263921"/>
            <a:chOff x="5221287" y="1214438"/>
            <a:chExt cx="4368540" cy="2797856"/>
          </a:xfrm>
        </p:grpSpPr>
        <p:sp>
          <p:nvSpPr>
            <p:cNvPr id="752" name="Google Shape;752;p31"/>
            <p:cNvSpPr txBox="1"/>
            <p:nvPr/>
          </p:nvSpPr>
          <p:spPr>
            <a:xfrm>
              <a:off x="5397027" y="3695700"/>
              <a:ext cx="4192800" cy="3165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1886: a single 4’ 8.5” national track gauge standard</a:t>
              </a:r>
              <a:endParaRPr/>
            </a:p>
          </p:txBody>
        </p:sp>
        <p:pic>
          <p:nvPicPr>
            <p:cNvPr descr="A map of the world&#10;&#10;Description automatically generated with low confidence" id="753" name="Google Shape;753;p31"/>
            <p:cNvPicPr preferRelativeResize="0"/>
            <p:nvPr/>
          </p:nvPicPr>
          <p:blipFill rotWithShape="1">
            <a:blip r:embed="rId4">
              <a:alphaModFix/>
            </a:blip>
            <a:srcRect b="0" l="0" r="0" t="0"/>
            <a:stretch/>
          </p:blipFill>
          <p:spPr>
            <a:xfrm>
              <a:off x="5221287" y="1214438"/>
              <a:ext cx="4137025" cy="2659516"/>
            </a:xfrm>
            <a:prstGeom prst="rect">
              <a:avLst/>
            </a:prstGeom>
            <a:noFill/>
            <a:ln>
              <a:noFill/>
            </a:ln>
          </p:spPr>
        </p:pic>
        <p:sp>
          <p:nvSpPr>
            <p:cNvPr id="754" name="Google Shape;754;p31"/>
            <p:cNvSpPr txBox="1"/>
            <p:nvPr/>
          </p:nvSpPr>
          <p:spPr>
            <a:xfrm>
              <a:off x="7519988" y="2262188"/>
              <a:ext cx="797013" cy="369332"/>
            </a:xfrm>
            <a:prstGeom prst="rect">
              <a:avLst/>
            </a:prstGeom>
            <a:solidFill>
              <a:schemeClr val="lt1">
                <a:alpha val="64705"/>
              </a:schemeClr>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1800"/>
                <a:buFont typeface="Calibri"/>
                <a:buNone/>
              </a:pPr>
              <a:r>
                <a:rPr b="0" i="0" lang="en-US" sz="1800" u="none" cap="none" strike="noStrike">
                  <a:solidFill>
                    <a:srgbClr val="0000A8"/>
                  </a:solidFill>
                  <a:latin typeface="Calibri"/>
                  <a:ea typeface="Calibri"/>
                  <a:cs typeface="Calibri"/>
                  <a:sym typeface="Calibri"/>
                </a:rPr>
                <a:t>4’ 8.5”</a:t>
              </a:r>
              <a:endParaRPr/>
            </a:p>
          </p:txBody>
        </p:sp>
      </p:grpSp>
      <p:grpSp>
        <p:nvGrpSpPr>
          <p:cNvPr id="755" name="Google Shape;755;p31"/>
          <p:cNvGrpSpPr/>
          <p:nvPr/>
        </p:nvGrpSpPr>
        <p:grpSpPr>
          <a:xfrm>
            <a:off x="1134594" y="1286999"/>
            <a:ext cx="2820987" cy="1289237"/>
            <a:chOff x="771524" y="1139082"/>
            <a:chExt cx="2820987" cy="1289237"/>
          </a:xfrm>
        </p:grpSpPr>
        <p:pic>
          <p:nvPicPr>
            <p:cNvPr descr="A picture containing ground, outdoor, stone, tool&#10;&#10;Description automatically generated" id="756" name="Google Shape;756;p31"/>
            <p:cNvPicPr preferRelativeResize="0"/>
            <p:nvPr/>
          </p:nvPicPr>
          <p:blipFill rotWithShape="1">
            <a:blip r:embed="rId5">
              <a:alphaModFix/>
            </a:blip>
            <a:srcRect b="0" l="0" r="0" t="0"/>
            <a:stretch/>
          </p:blipFill>
          <p:spPr>
            <a:xfrm>
              <a:off x="771524" y="1139082"/>
              <a:ext cx="2820987" cy="1246930"/>
            </a:xfrm>
            <a:prstGeom prst="rect">
              <a:avLst/>
            </a:prstGeom>
            <a:noFill/>
            <a:ln>
              <a:noFill/>
            </a:ln>
          </p:spPr>
        </p:pic>
        <p:sp>
          <p:nvSpPr>
            <p:cNvPr id="757" name="Google Shape;757;p31"/>
            <p:cNvSpPr/>
            <p:nvPr/>
          </p:nvSpPr>
          <p:spPr>
            <a:xfrm>
              <a:off x="775722" y="2037493"/>
              <a:ext cx="2808205" cy="342900"/>
            </a:xfrm>
            <a:prstGeom prst="rect">
              <a:avLst/>
            </a:prstGeom>
            <a:solidFill>
              <a:srgbClr val="7F7F7F">
                <a:alpha val="6352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8" name="Google Shape;758;p31"/>
            <p:cNvSpPr txBox="1"/>
            <p:nvPr/>
          </p:nvSpPr>
          <p:spPr>
            <a:xfrm>
              <a:off x="775382" y="1966654"/>
              <a:ext cx="264995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0" i="0" lang="en-US" sz="2400" u="none" cap="none" strike="noStrike">
                  <a:solidFill>
                    <a:srgbClr val="FFFFFF"/>
                  </a:solidFill>
                  <a:latin typeface="Calibri"/>
                  <a:ea typeface="Calibri"/>
                  <a:cs typeface="Calibri"/>
                  <a:sym typeface="Calibri"/>
                </a:rPr>
                <a:t>railroad track gauge</a:t>
              </a:r>
              <a:endParaRPr/>
            </a:p>
          </p:txBody>
        </p:sp>
      </p:grpSp>
      <p:sp>
        <p:nvSpPr>
          <p:cNvPr id="759" name="Google Shape;759;p3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Supplemental: 1-</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1"/>
                                        </p:tgtEl>
                                        <p:attrNameLst>
                                          <p:attrName>style.visibility</p:attrName>
                                        </p:attrNameLst>
                                      </p:cBhvr>
                                      <p:to>
                                        <p:strVal val="visible"/>
                                      </p:to>
                                    </p:set>
                                    <p:animEffect filter="fade" transition="in">
                                      <p:cBhvr>
                                        <p:cTn dur="500"/>
                                        <p:tgtEl>
                                          <p:spTgt spid="7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1"/>
                                        </p:tgtEl>
                                        <p:attrNameLst>
                                          <p:attrName>style.visibility</p:attrName>
                                        </p:attrNameLst>
                                      </p:cBhvr>
                                      <p:to>
                                        <p:strVal val="visible"/>
                                      </p:to>
                                    </p:set>
                                    <p:animEffect filter="fade" transition="in">
                                      <p:cBhvr>
                                        <p:cTn dur="500"/>
                                        <p:tgtEl>
                                          <p:spTgt spid="7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0"/>
                                        </p:tgtEl>
                                        <p:attrNameLst>
                                          <p:attrName>style.visibility</p:attrName>
                                        </p:attrNameLst>
                                      </p:cBhvr>
                                      <p:to>
                                        <p:strVal val="visible"/>
                                      </p:to>
                                    </p:set>
                                    <p:animEffect filter="fade" transition="in">
                                      <p:cBhvr>
                                        <p:cTn dur="500"/>
                                        <p:tgtEl>
                                          <p:spTgt spid="7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32"/>
          <p:cNvSpPr txBox="1"/>
          <p:nvPr>
            <p:ph type="title"/>
          </p:nvPr>
        </p:nvSpPr>
        <p:spPr>
          <a:xfrm>
            <a:off x="517336" y="306910"/>
            <a:ext cx="11088509" cy="89462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3600"/>
              <a:buFont typeface="Calibri"/>
              <a:buNone/>
            </a:pPr>
            <a:r>
              <a:rPr lang="en-US" sz="3600">
                <a:latin typeface="Calibri"/>
                <a:ea typeface="Calibri"/>
                <a:cs typeface="Calibri"/>
                <a:sym typeface="Calibri"/>
              </a:rPr>
              <a:t>Internet Engineering Task Force </a:t>
            </a:r>
            <a:r>
              <a:rPr lang="en-US" sz="3600">
                <a:solidFill>
                  <a:schemeClr val="dk1"/>
                </a:solidFill>
                <a:latin typeface="Calibri"/>
                <a:ea typeface="Calibri"/>
                <a:cs typeface="Calibri"/>
                <a:sym typeface="Calibri"/>
              </a:rPr>
              <a:t>(IETF, </a:t>
            </a:r>
            <a:r>
              <a:rPr lang="en-US" sz="2400">
                <a:solidFill>
                  <a:schemeClr val="dk1"/>
                </a:solidFill>
                <a:latin typeface="Calibri"/>
                <a:ea typeface="Calibri"/>
                <a:cs typeface="Calibri"/>
                <a:sym typeface="Calibri"/>
              </a:rPr>
              <a:t>www.ietf.org</a:t>
            </a:r>
            <a:r>
              <a:rPr lang="en-US" sz="3600">
                <a:solidFill>
                  <a:schemeClr val="dk1"/>
                </a:solidFill>
                <a:latin typeface="Calibri"/>
                <a:ea typeface="Calibri"/>
                <a:cs typeface="Calibri"/>
                <a:sym typeface="Calibri"/>
              </a:rPr>
              <a:t>)</a:t>
            </a:r>
            <a:endParaRPr sz="3600">
              <a:solidFill>
                <a:schemeClr val="dk1"/>
              </a:solidFill>
              <a:latin typeface="Calibri"/>
              <a:ea typeface="Calibri"/>
              <a:cs typeface="Calibri"/>
              <a:sym typeface="Calibri"/>
            </a:endParaRPr>
          </a:p>
        </p:txBody>
      </p:sp>
      <p:sp>
        <p:nvSpPr>
          <p:cNvPr id="766" name="Google Shape;766;p32"/>
          <p:cNvSpPr txBox="1"/>
          <p:nvPr/>
        </p:nvSpPr>
        <p:spPr>
          <a:xfrm>
            <a:off x="507217" y="1270202"/>
            <a:ext cx="7036583" cy="5244898"/>
          </a:xfrm>
          <a:prstGeom prst="rect">
            <a:avLst/>
          </a:prstGeom>
          <a:noFill/>
          <a:ln>
            <a:noFill/>
          </a:ln>
        </p:spPr>
        <p:txBody>
          <a:bodyPr anchorCtr="0" anchor="t" bIns="45700" lIns="91425" spcFirstLastPara="1" rIns="91425" wrap="square" tIns="45700">
            <a:normAutofit/>
          </a:bodyPr>
          <a:lstStyle/>
          <a:p>
            <a:pPr indent="-227013" lvl="0" marL="242888" marR="0" rtl="0" algn="l">
              <a:lnSpc>
                <a:spcPct val="90000"/>
              </a:lnSpc>
              <a:spcBef>
                <a:spcPts val="0"/>
              </a:spcBef>
              <a:spcAft>
                <a:spcPts val="0"/>
              </a:spcAft>
              <a:buClr>
                <a:srgbClr val="0000A3"/>
              </a:buClr>
              <a:buSzPts val="2800"/>
              <a:buFont typeface="Noto Sans Symbols"/>
              <a:buChar char="▪"/>
            </a:pPr>
            <a:r>
              <a:rPr b="0" i="1" lang="en-US" sz="2800" u="none" cap="none" strike="noStrike">
                <a:solidFill>
                  <a:srgbClr val="C00000"/>
                </a:solidFill>
                <a:latin typeface="Calibri"/>
                <a:ea typeface="Calibri"/>
                <a:cs typeface="Calibri"/>
                <a:sym typeface="Calibri"/>
              </a:rPr>
              <a:t>multiple stakeholders: </a:t>
            </a:r>
            <a:r>
              <a:rPr b="0" i="0" lang="en-US" sz="2800" u="none" cap="none" strike="noStrike">
                <a:solidFill>
                  <a:srgbClr val="000000"/>
                </a:solidFill>
                <a:latin typeface="Calibri"/>
                <a:ea typeface="Calibri"/>
                <a:cs typeface="Calibri"/>
                <a:sym typeface="Calibri"/>
              </a:rPr>
              <a:t>“ ... a large open international community of network designers, operators, vendors, and researchers concerned with the evolution of the Internet architecture and the smooth operation of the Internet.”</a:t>
            </a:r>
            <a:endParaRPr/>
          </a:p>
          <a:p>
            <a:pPr indent="-227013" lvl="0" marL="242888" marR="0" rtl="0" algn="l">
              <a:lnSpc>
                <a:spcPct val="90000"/>
              </a:lnSpc>
              <a:spcBef>
                <a:spcPts val="1000"/>
              </a:spcBef>
              <a:spcAft>
                <a:spcPts val="0"/>
              </a:spcAft>
              <a:buClr>
                <a:srgbClr val="0000A3"/>
              </a:buClr>
              <a:buSzPts val="2800"/>
              <a:buFont typeface="Noto Sans Symbols"/>
              <a:buChar char="▪"/>
            </a:pPr>
            <a:r>
              <a:rPr b="0" i="1" lang="en-US" sz="2800" u="none" cap="none" strike="noStrike">
                <a:solidFill>
                  <a:srgbClr val="C00000"/>
                </a:solidFill>
                <a:latin typeface="Calibri"/>
                <a:ea typeface="Calibri"/>
                <a:cs typeface="Calibri"/>
                <a:sym typeface="Calibri"/>
              </a:rPr>
              <a:t>process: </a:t>
            </a:r>
            <a:r>
              <a:rPr b="0" i="0" lang="en-US" sz="2800" u="none" cap="none" strike="noStrike">
                <a:solidFill>
                  <a:srgbClr val="000000"/>
                </a:solidFill>
                <a:latin typeface="Calibri"/>
                <a:ea typeface="Calibri"/>
                <a:cs typeface="Calibri"/>
                <a:sym typeface="Calibri"/>
              </a:rPr>
              <a:t>working groups, twice a year open IETF meetings</a:t>
            </a:r>
            <a:endParaRPr/>
          </a:p>
          <a:p>
            <a:pPr indent="-227012" lvl="1" marL="585788"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“rough consensus and running code”</a:t>
            </a:r>
            <a:endParaRPr/>
          </a:p>
        </p:txBody>
      </p:sp>
      <p:pic>
        <p:nvPicPr>
          <p:cNvPr id="767" name="Google Shape;767;p32"/>
          <p:cNvPicPr preferRelativeResize="0"/>
          <p:nvPr/>
        </p:nvPicPr>
        <p:blipFill rotWithShape="1">
          <a:blip r:embed="rId3">
            <a:alphaModFix/>
          </a:blip>
          <a:srcRect b="0" l="0" r="0" t="0"/>
          <a:stretch/>
        </p:blipFill>
        <p:spPr>
          <a:xfrm>
            <a:off x="8816121" y="1104900"/>
            <a:ext cx="2405235" cy="1377043"/>
          </a:xfrm>
          <a:prstGeom prst="rect">
            <a:avLst/>
          </a:prstGeom>
          <a:noFill/>
          <a:ln>
            <a:noFill/>
          </a:ln>
        </p:spPr>
      </p:pic>
      <p:grpSp>
        <p:nvGrpSpPr>
          <p:cNvPr id="768" name="Google Shape;768;p32"/>
          <p:cNvGrpSpPr/>
          <p:nvPr/>
        </p:nvGrpSpPr>
        <p:grpSpPr>
          <a:xfrm>
            <a:off x="483772" y="2959100"/>
            <a:ext cx="10970968" cy="3599962"/>
            <a:chOff x="483772" y="2959100"/>
            <a:chExt cx="10970968" cy="3599962"/>
          </a:xfrm>
        </p:grpSpPr>
        <p:pic>
          <p:nvPicPr>
            <p:cNvPr id="769" name="Google Shape;769;p32"/>
            <p:cNvPicPr preferRelativeResize="0"/>
            <p:nvPr/>
          </p:nvPicPr>
          <p:blipFill rotWithShape="1">
            <a:blip r:embed="rId4">
              <a:alphaModFix/>
            </a:blip>
            <a:srcRect b="0" l="0" r="0" t="0"/>
            <a:stretch/>
          </p:blipFill>
          <p:spPr>
            <a:xfrm>
              <a:off x="9124243" y="2959100"/>
              <a:ext cx="2242256" cy="2882900"/>
            </a:xfrm>
            <a:prstGeom prst="rect">
              <a:avLst/>
            </a:prstGeom>
            <a:noFill/>
            <a:ln>
              <a:noFill/>
            </a:ln>
          </p:spPr>
        </p:pic>
        <p:sp>
          <p:nvSpPr>
            <p:cNvPr id="770" name="Google Shape;770;p32"/>
            <p:cNvSpPr txBox="1"/>
            <p:nvPr/>
          </p:nvSpPr>
          <p:spPr>
            <a:xfrm>
              <a:off x="9080500" y="5854700"/>
              <a:ext cx="237424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400"/>
                <a:buFont typeface="Calibri"/>
                <a:buNone/>
              </a:pPr>
              <a:r>
                <a:rPr b="0" i="0" lang="en-US" sz="1400" u="none" cap="none" strike="noStrike">
                  <a:solidFill>
                    <a:srgbClr val="C00000"/>
                  </a:solidFill>
                  <a:latin typeface="Calibri"/>
                  <a:ea typeface="Calibri"/>
                  <a:cs typeface="Calibri"/>
                  <a:sym typeface="Calibri"/>
                </a:rPr>
                <a:t>IP datagram format (RFC 791) </a:t>
              </a:r>
              <a:endParaRPr/>
            </a:p>
          </p:txBody>
        </p:sp>
        <p:sp>
          <p:nvSpPr>
            <p:cNvPr id="771" name="Google Shape;771;p32"/>
            <p:cNvSpPr txBox="1"/>
            <p:nvPr/>
          </p:nvSpPr>
          <p:spPr>
            <a:xfrm>
              <a:off x="483772" y="5009864"/>
              <a:ext cx="7036583" cy="1549198"/>
            </a:xfrm>
            <a:prstGeom prst="rect">
              <a:avLst/>
            </a:prstGeom>
            <a:noFill/>
            <a:ln>
              <a:noFill/>
            </a:ln>
          </p:spPr>
          <p:txBody>
            <a:bodyPr anchorCtr="0" anchor="t" bIns="45700" lIns="91425" spcFirstLastPara="1" rIns="91425" wrap="square" tIns="45700">
              <a:normAutofit lnSpcReduction="10000"/>
            </a:bodyPr>
            <a:lstStyle/>
            <a:p>
              <a:pPr indent="-227013" lvl="0" marL="242888"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Requests for Comments (RFCs)</a:t>
              </a:r>
              <a:endParaRPr/>
            </a:p>
            <a:p>
              <a:pPr indent="-227012" lvl="1" marL="585788"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“technical standards” defining Internet protocols (e.g., IP, TCP, UDP, HTTP)</a:t>
              </a:r>
              <a:endParaRPr/>
            </a:p>
            <a:p>
              <a:pPr indent="-227012" lvl="1" marL="585788"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&gt; 9000 RFCs to date</a:t>
              </a:r>
              <a:endParaRPr/>
            </a:p>
          </p:txBody>
        </p:sp>
      </p:grpSp>
      <p:sp>
        <p:nvSpPr>
          <p:cNvPr id="772" name="Google Shape;772;p3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Supplemental: 1-</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8"/>
                                        </p:tgtEl>
                                        <p:attrNameLst>
                                          <p:attrName>style.visibility</p:attrName>
                                        </p:attrNameLst>
                                      </p:cBhvr>
                                      <p:to>
                                        <p:strVal val="visible"/>
                                      </p:to>
                                    </p:set>
                                    <p:animEffect filter="fade" transition="in">
                                      <p:cBhvr>
                                        <p:cTn dur="500"/>
                                        <p:tgtEl>
                                          <p:spTgt spid="7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pic>
        <p:nvPicPr>
          <p:cNvPr descr="A picture containing text&#10;&#10;Description automatically generated" id="778" name="Google Shape;778;p33"/>
          <p:cNvPicPr preferRelativeResize="0"/>
          <p:nvPr/>
        </p:nvPicPr>
        <p:blipFill rotWithShape="1">
          <a:blip r:embed="rId3">
            <a:alphaModFix/>
          </a:blip>
          <a:srcRect b="0" l="0" r="0" t="0"/>
          <a:stretch/>
        </p:blipFill>
        <p:spPr>
          <a:xfrm>
            <a:off x="8386884" y="1682748"/>
            <a:ext cx="2410070" cy="2035864"/>
          </a:xfrm>
          <a:prstGeom prst="rect">
            <a:avLst/>
          </a:prstGeom>
          <a:noFill/>
          <a:ln>
            <a:noFill/>
          </a:ln>
        </p:spPr>
      </p:pic>
      <p:sp>
        <p:nvSpPr>
          <p:cNvPr id="779" name="Google Shape;779;p33"/>
          <p:cNvSpPr txBox="1"/>
          <p:nvPr>
            <p:ph type="title"/>
          </p:nvPr>
        </p:nvSpPr>
        <p:spPr>
          <a:xfrm>
            <a:off x="517336" y="306910"/>
            <a:ext cx="11088509" cy="89462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3600"/>
              <a:buFont typeface="Calibri"/>
              <a:buNone/>
            </a:pPr>
            <a:r>
              <a:rPr lang="en-US" sz="3600"/>
              <a:t>3rd Generation Partnership Project </a:t>
            </a:r>
            <a:r>
              <a:rPr lang="en-US" sz="3600">
                <a:solidFill>
                  <a:schemeClr val="dk1"/>
                </a:solidFill>
                <a:latin typeface="Calibri"/>
                <a:ea typeface="Calibri"/>
                <a:cs typeface="Calibri"/>
                <a:sym typeface="Calibri"/>
              </a:rPr>
              <a:t>(3GPP, </a:t>
            </a:r>
            <a:r>
              <a:rPr lang="en-US" sz="2400">
                <a:solidFill>
                  <a:schemeClr val="dk1"/>
                </a:solidFill>
                <a:latin typeface="Calibri"/>
                <a:ea typeface="Calibri"/>
                <a:cs typeface="Calibri"/>
                <a:sym typeface="Calibri"/>
              </a:rPr>
              <a:t>www.</a:t>
            </a:r>
            <a:r>
              <a:rPr lang="en-US" sz="2400">
                <a:solidFill>
                  <a:schemeClr val="dk1"/>
                </a:solidFill>
              </a:rPr>
              <a:t>3gpp</a:t>
            </a:r>
            <a:r>
              <a:rPr lang="en-US" sz="2400">
                <a:solidFill>
                  <a:schemeClr val="dk1"/>
                </a:solidFill>
                <a:latin typeface="Calibri"/>
                <a:ea typeface="Calibri"/>
                <a:cs typeface="Calibri"/>
                <a:sym typeface="Calibri"/>
              </a:rPr>
              <a:t>.org</a:t>
            </a:r>
            <a:r>
              <a:rPr lang="en-US" sz="3600">
                <a:solidFill>
                  <a:schemeClr val="dk1"/>
                </a:solidFill>
                <a:latin typeface="Calibri"/>
                <a:ea typeface="Calibri"/>
                <a:cs typeface="Calibri"/>
                <a:sym typeface="Calibri"/>
              </a:rPr>
              <a:t>)</a:t>
            </a:r>
            <a:endParaRPr sz="3600">
              <a:solidFill>
                <a:schemeClr val="dk1"/>
              </a:solidFill>
              <a:latin typeface="Calibri"/>
              <a:ea typeface="Calibri"/>
              <a:cs typeface="Calibri"/>
              <a:sym typeface="Calibri"/>
            </a:endParaRPr>
          </a:p>
        </p:txBody>
      </p:sp>
      <p:sp>
        <p:nvSpPr>
          <p:cNvPr id="780" name="Google Shape;780;p33"/>
          <p:cNvSpPr txBox="1"/>
          <p:nvPr/>
        </p:nvSpPr>
        <p:spPr>
          <a:xfrm>
            <a:off x="507217" y="1270202"/>
            <a:ext cx="7317937" cy="5244898"/>
          </a:xfrm>
          <a:prstGeom prst="rect">
            <a:avLst/>
          </a:prstGeom>
          <a:noFill/>
          <a:ln>
            <a:noFill/>
          </a:ln>
        </p:spPr>
        <p:txBody>
          <a:bodyPr anchorCtr="0" anchor="t" bIns="45700" lIns="91425" spcFirstLastPara="1" rIns="91425" wrap="square" tIns="45700">
            <a:normAutofit/>
          </a:bodyPr>
          <a:lstStyle/>
          <a:p>
            <a:pPr indent="-227013" lvl="0" marL="242888"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alliance of 7 global telecommunications standards groups</a:t>
            </a:r>
            <a:endParaRPr/>
          </a:p>
          <a:p>
            <a:pPr indent="-227012" lvl="1" marL="585788"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745 member companies</a:t>
            </a:r>
            <a:endParaRPr/>
          </a:p>
          <a:p>
            <a:pPr indent="-227013" lvl="0" marL="242888"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16 working groups, in three technical areas:</a:t>
            </a:r>
            <a:endParaRPr/>
          </a:p>
          <a:p>
            <a:pPr indent="-227012" lvl="1" marL="585788"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radio access network</a:t>
            </a:r>
            <a:endParaRPr/>
          </a:p>
          <a:p>
            <a:pPr indent="-227012" lvl="1" marL="585788"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service/systems aspects</a:t>
            </a:r>
            <a:endParaRPr/>
          </a:p>
          <a:p>
            <a:pPr indent="-227012" lvl="1" marL="585788"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core network, terminals</a:t>
            </a:r>
            <a:endParaRPr/>
          </a:p>
          <a:p>
            <a:pPr indent="-227013" lvl="0" marL="242888"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technical specifications:3G, 4G (LTE), 5G </a:t>
            </a:r>
            <a:endParaRPr/>
          </a:p>
          <a:p>
            <a:pPr indent="0" lvl="0" marL="295275" marR="0" rtl="0" algn="l">
              <a:lnSpc>
                <a:spcPct val="90000"/>
              </a:lnSpc>
              <a:spcBef>
                <a:spcPts val="100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cellular networks</a:t>
            </a:r>
            <a:endParaRPr/>
          </a:p>
          <a:p>
            <a:pPr indent="-227013" lvl="0" marL="242888"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18 “releases” </a:t>
            </a:r>
            <a:r>
              <a:rPr b="0" i="0" lang="en-US" sz="2000" u="none" cap="none" strike="noStrike">
                <a:solidFill>
                  <a:srgbClr val="000000"/>
                </a:solidFill>
                <a:latin typeface="Calibri"/>
                <a:ea typeface="Calibri"/>
                <a:cs typeface="Calibri"/>
                <a:sym typeface="Calibri"/>
              </a:rPr>
              <a:t>(like OS “release”), </a:t>
            </a:r>
            <a:r>
              <a:rPr b="0" i="0" lang="en-US" sz="2800" u="none" cap="none" strike="noStrike">
                <a:solidFill>
                  <a:srgbClr val="000000"/>
                </a:solidFill>
                <a:latin typeface="Calibri"/>
                <a:ea typeface="Calibri"/>
                <a:cs typeface="Calibri"/>
                <a:sym typeface="Calibri"/>
              </a:rPr>
              <a:t>over three “generations”: </a:t>
            </a:r>
            <a:r>
              <a:rPr b="0" i="0" lang="en-US" sz="2800" u="none" cap="none" strike="noStrike">
                <a:solidFill>
                  <a:srgbClr val="385623"/>
                </a:solidFill>
                <a:latin typeface="Calibri"/>
                <a:ea typeface="Calibri"/>
                <a:cs typeface="Calibri"/>
                <a:sym typeface="Calibri"/>
              </a:rPr>
              <a:t>3G</a:t>
            </a:r>
            <a:r>
              <a:rPr b="0" i="0" lang="en-US" sz="2800" u="none" cap="none" strike="noStrike">
                <a:solidFill>
                  <a:srgbClr val="000000"/>
                </a:solidFill>
                <a:latin typeface="Calibri"/>
                <a:ea typeface="Calibri"/>
                <a:cs typeface="Calibri"/>
                <a:sym typeface="Calibri"/>
              </a:rPr>
              <a:t>, </a:t>
            </a:r>
            <a:r>
              <a:rPr b="0" i="0" lang="en-US" sz="2800" u="none" cap="none" strike="noStrike">
                <a:solidFill>
                  <a:srgbClr val="C00000"/>
                </a:solidFill>
                <a:latin typeface="Calibri"/>
                <a:ea typeface="Calibri"/>
                <a:cs typeface="Calibri"/>
                <a:sym typeface="Calibri"/>
              </a:rPr>
              <a:t>4G</a:t>
            </a:r>
            <a:r>
              <a:rPr b="0" i="0" lang="en-US" sz="2800" u="none" cap="none" strike="noStrike">
                <a:solidFill>
                  <a:srgbClr val="000000"/>
                </a:solidFill>
                <a:latin typeface="Calibri"/>
                <a:ea typeface="Calibri"/>
                <a:cs typeface="Calibri"/>
                <a:sym typeface="Calibri"/>
              </a:rPr>
              <a:t>, </a:t>
            </a:r>
            <a:r>
              <a:rPr b="0" i="0" lang="en-US" sz="2800" u="none" cap="none" strike="noStrike">
                <a:solidFill>
                  <a:srgbClr val="010080"/>
                </a:solidFill>
                <a:latin typeface="Calibri"/>
                <a:ea typeface="Calibri"/>
                <a:cs typeface="Calibri"/>
                <a:sym typeface="Calibri"/>
              </a:rPr>
              <a:t>5G</a:t>
            </a:r>
            <a:endParaRPr/>
          </a:p>
        </p:txBody>
      </p:sp>
      <p:pic>
        <p:nvPicPr>
          <p:cNvPr id="781" name="Google Shape;781;p33"/>
          <p:cNvPicPr preferRelativeResize="0"/>
          <p:nvPr/>
        </p:nvPicPr>
        <p:blipFill rotWithShape="1">
          <a:blip r:embed="rId4">
            <a:alphaModFix/>
          </a:blip>
          <a:srcRect b="0" l="0" r="0" t="0"/>
          <a:stretch/>
        </p:blipFill>
        <p:spPr>
          <a:xfrm>
            <a:off x="6950499" y="4018909"/>
            <a:ext cx="4977732" cy="1854353"/>
          </a:xfrm>
          <a:prstGeom prst="rect">
            <a:avLst/>
          </a:prstGeom>
          <a:noFill/>
          <a:ln>
            <a:noFill/>
          </a:ln>
        </p:spPr>
      </p:pic>
      <p:sp>
        <p:nvSpPr>
          <p:cNvPr id="782" name="Google Shape;782;p3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Supplemental: 1-</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1"/>
                                        </p:tgtEl>
                                        <p:attrNameLst>
                                          <p:attrName>style.visibility</p:attrName>
                                        </p:attrNameLst>
                                      </p:cBhvr>
                                      <p:to>
                                        <p:strVal val="visible"/>
                                      </p:to>
                                    </p:set>
                                    <p:animEffect filter="fade" transition="in">
                                      <p:cBhvr>
                                        <p:cTn dur="500"/>
                                        <p:tgtEl>
                                          <p:spTgt spid="7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34"/>
          <p:cNvSpPr txBox="1"/>
          <p:nvPr>
            <p:ph type="title"/>
          </p:nvPr>
        </p:nvSpPr>
        <p:spPr>
          <a:xfrm>
            <a:off x="517337" y="306910"/>
            <a:ext cx="4334064" cy="89462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3600"/>
              <a:buFont typeface="Calibri"/>
              <a:buNone/>
            </a:pPr>
            <a:r>
              <a:rPr lang="en-US" sz="3600"/>
              <a:t>IEEE standards</a:t>
            </a:r>
            <a:endParaRPr sz="3600">
              <a:solidFill>
                <a:schemeClr val="dk1"/>
              </a:solidFill>
              <a:latin typeface="Calibri"/>
              <a:ea typeface="Calibri"/>
              <a:cs typeface="Calibri"/>
              <a:sym typeface="Calibri"/>
            </a:endParaRPr>
          </a:p>
        </p:txBody>
      </p:sp>
      <p:sp>
        <p:nvSpPr>
          <p:cNvPr id="789" name="Google Shape;789;p34"/>
          <p:cNvSpPr txBox="1"/>
          <p:nvPr/>
        </p:nvSpPr>
        <p:spPr>
          <a:xfrm>
            <a:off x="507217" y="1270202"/>
            <a:ext cx="4902983" cy="5244898"/>
          </a:xfrm>
          <a:prstGeom prst="rect">
            <a:avLst/>
          </a:prstGeom>
          <a:noFill/>
          <a:ln>
            <a:noFill/>
          </a:ln>
        </p:spPr>
        <p:txBody>
          <a:bodyPr anchorCtr="0" anchor="t" bIns="45700" lIns="91425" spcFirstLastPara="1" rIns="91425" wrap="square" tIns="45700">
            <a:normAutofit/>
          </a:bodyPr>
          <a:lstStyle/>
          <a:p>
            <a:pPr indent="-227013" lvl="0" marL="242888"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IEEE: professional organization for electrical engineers</a:t>
            </a:r>
            <a:endParaRPr/>
          </a:p>
          <a:p>
            <a:pPr indent="-227012" lvl="1" marL="585788"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standards subgroup manages standards process, industry typically participates</a:t>
            </a:r>
            <a:endParaRPr/>
          </a:p>
          <a:p>
            <a:pPr indent="-227013" lvl="0" marL="242888"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wired Ethernet standard (802.3)</a:t>
            </a:r>
            <a:endParaRPr/>
          </a:p>
          <a:p>
            <a:pPr indent="-227013" lvl="0" marL="242888"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wireless WiFi standard (802.11) </a:t>
            </a:r>
            <a:endParaRPr/>
          </a:p>
        </p:txBody>
      </p:sp>
      <p:pic>
        <p:nvPicPr>
          <p:cNvPr id="790" name="Google Shape;790;p34"/>
          <p:cNvPicPr preferRelativeResize="0"/>
          <p:nvPr/>
        </p:nvPicPr>
        <p:blipFill rotWithShape="1">
          <a:blip r:embed="rId3">
            <a:alphaModFix/>
          </a:blip>
          <a:srcRect b="0" l="0" r="0" t="0"/>
          <a:stretch/>
        </p:blipFill>
        <p:spPr>
          <a:xfrm>
            <a:off x="3009900" y="5200660"/>
            <a:ext cx="1231900" cy="920740"/>
          </a:xfrm>
          <a:prstGeom prst="rect">
            <a:avLst/>
          </a:prstGeom>
          <a:noFill/>
          <a:ln>
            <a:noFill/>
          </a:ln>
        </p:spPr>
      </p:pic>
      <p:pic>
        <p:nvPicPr>
          <p:cNvPr descr="A picture containing cable, blue, connector, rack&#10;&#10;Description automatically generated" id="791" name="Google Shape;791;p34"/>
          <p:cNvPicPr preferRelativeResize="0"/>
          <p:nvPr/>
        </p:nvPicPr>
        <p:blipFill rotWithShape="1">
          <a:blip r:embed="rId4">
            <a:alphaModFix/>
          </a:blip>
          <a:srcRect b="0" l="0" r="0" t="0"/>
          <a:stretch/>
        </p:blipFill>
        <p:spPr>
          <a:xfrm>
            <a:off x="787400" y="5189740"/>
            <a:ext cx="1841500" cy="944359"/>
          </a:xfrm>
          <a:prstGeom prst="rect">
            <a:avLst/>
          </a:prstGeom>
          <a:noFill/>
          <a:ln>
            <a:noFill/>
          </a:ln>
        </p:spPr>
      </p:pic>
      <p:sp>
        <p:nvSpPr>
          <p:cNvPr id="792" name="Google Shape;792;p34"/>
          <p:cNvSpPr txBox="1"/>
          <p:nvPr/>
        </p:nvSpPr>
        <p:spPr>
          <a:xfrm>
            <a:off x="5857199" y="318633"/>
            <a:ext cx="6018278" cy="89462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A3"/>
              </a:buClr>
              <a:buSzPts val="3200"/>
              <a:buFont typeface="Calibri"/>
              <a:buNone/>
            </a:pPr>
            <a:r>
              <a:rPr b="1" i="0" lang="en-US" sz="3200" u="none" cap="none" strike="noStrike">
                <a:solidFill>
                  <a:srgbClr val="0000A3"/>
                </a:solidFill>
                <a:latin typeface="Calibri"/>
                <a:ea typeface="Calibri"/>
                <a:cs typeface="Calibri"/>
                <a:sym typeface="Calibri"/>
              </a:rPr>
              <a:t>Int. Telecommunication Union (ITU)</a:t>
            </a:r>
            <a:endParaRPr/>
          </a:p>
        </p:txBody>
      </p:sp>
      <p:sp>
        <p:nvSpPr>
          <p:cNvPr id="793" name="Google Shape;793;p34"/>
          <p:cNvSpPr txBox="1"/>
          <p:nvPr/>
        </p:nvSpPr>
        <p:spPr>
          <a:xfrm>
            <a:off x="6005340" y="1334679"/>
            <a:ext cx="5442245" cy="5244898"/>
          </a:xfrm>
          <a:prstGeom prst="rect">
            <a:avLst/>
          </a:prstGeom>
          <a:noFill/>
          <a:ln>
            <a:noFill/>
          </a:ln>
        </p:spPr>
        <p:txBody>
          <a:bodyPr anchorCtr="0" anchor="t" bIns="45700" lIns="91425" spcFirstLastPara="1" rIns="91425" wrap="square" tIns="45700">
            <a:normAutofit/>
          </a:bodyPr>
          <a:lstStyle/>
          <a:p>
            <a:pPr indent="-227013" lvl="0" marL="242888"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formed 1865 (not a typo!)</a:t>
            </a:r>
            <a:endParaRPr/>
          </a:p>
          <a:p>
            <a:pPr indent="-227013" lvl="0" marL="242888"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telegraph, landline phone network standards</a:t>
            </a:r>
            <a:endParaRPr/>
          </a:p>
          <a:p>
            <a:pPr indent="-227013" lvl="0" marL="242888"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United Nations agency since 1949</a:t>
            </a:r>
            <a:endParaRPr/>
          </a:p>
          <a:p>
            <a:pPr indent="-227013" lvl="0" marL="242888"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193 member countries, !900 companies</a:t>
            </a:r>
            <a:endParaRPr/>
          </a:p>
          <a:p>
            <a:pPr indent="-227013" lvl="0" marL="242888"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not in the lead for Internet, mobile cellular networking</a:t>
            </a:r>
            <a:endParaRPr/>
          </a:p>
          <a:p>
            <a:pPr indent="-49213" lvl="0" marL="242888"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794" name="Google Shape;794;p3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Supplemental: 1-</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35"/>
          <p:cNvSpPr txBox="1"/>
          <p:nvPr>
            <p:ph type="title"/>
          </p:nvPr>
        </p:nvSpPr>
        <p:spPr>
          <a:xfrm>
            <a:off x="517336" y="306910"/>
            <a:ext cx="11088509" cy="89462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3600"/>
              <a:buFont typeface="Calibri"/>
              <a:buNone/>
            </a:pPr>
            <a:r>
              <a:rPr lang="en-US" sz="3600">
                <a:latin typeface="Calibri"/>
                <a:ea typeface="Calibri"/>
                <a:cs typeface="Calibri"/>
                <a:sym typeface="Calibri"/>
              </a:rPr>
              <a:t>Who “controls” the Internet: </a:t>
            </a:r>
            <a:r>
              <a:rPr lang="en-US" sz="3600"/>
              <a:t>some of the players</a:t>
            </a:r>
            <a:endParaRPr sz="3600">
              <a:latin typeface="Calibri"/>
              <a:ea typeface="Calibri"/>
              <a:cs typeface="Calibri"/>
              <a:sym typeface="Calibri"/>
            </a:endParaRPr>
          </a:p>
        </p:txBody>
      </p:sp>
      <p:grpSp>
        <p:nvGrpSpPr>
          <p:cNvPr id="801" name="Google Shape;801;p35"/>
          <p:cNvGrpSpPr/>
          <p:nvPr/>
        </p:nvGrpSpPr>
        <p:grpSpPr>
          <a:xfrm>
            <a:off x="2338754" y="2200895"/>
            <a:ext cx="8892112" cy="3870985"/>
            <a:chOff x="2338754" y="2200895"/>
            <a:chExt cx="8892112" cy="3870985"/>
          </a:xfrm>
        </p:grpSpPr>
        <p:sp>
          <p:nvSpPr>
            <p:cNvPr id="802" name="Google Shape;802;p35"/>
            <p:cNvSpPr/>
            <p:nvPr/>
          </p:nvSpPr>
          <p:spPr>
            <a:xfrm>
              <a:off x="2338754" y="2200895"/>
              <a:ext cx="8892112" cy="3870985"/>
            </a:xfrm>
            <a:prstGeom prst="rect">
              <a:avLst/>
            </a:prstGeom>
            <a:solidFill>
              <a:schemeClr val="lt1"/>
            </a:solidFill>
            <a:ln cap="flat" cmpd="sng" w="28575">
              <a:solidFill>
                <a:schemeClr val="dk1"/>
              </a:solidFill>
              <a:prstDash val="solid"/>
              <a:miter lim="800000"/>
              <a:headEnd len="sm" w="sm" type="none"/>
              <a:tailEnd len="sm" w="sm" type="none"/>
            </a:ln>
            <a:effectLst>
              <a:outerShdw blurRad="76200" sx="101000" rotWithShape="0" algn="bl" dir="18900000" dist="38100" sy="1010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cxnSp>
          <p:nvCxnSpPr>
            <p:cNvPr id="803" name="Google Shape;803;p35"/>
            <p:cNvCxnSpPr/>
            <p:nvPr/>
          </p:nvCxnSpPr>
          <p:spPr>
            <a:xfrm>
              <a:off x="2338754" y="3550090"/>
              <a:ext cx="8879755" cy="0"/>
            </a:xfrm>
            <a:prstGeom prst="straightConnector1">
              <a:avLst/>
            </a:prstGeom>
            <a:noFill/>
            <a:ln cap="flat" cmpd="sng" w="25400">
              <a:solidFill>
                <a:schemeClr val="dk1"/>
              </a:solidFill>
              <a:prstDash val="solid"/>
              <a:miter lim="800000"/>
              <a:headEnd len="sm" w="sm" type="none"/>
              <a:tailEnd len="sm" w="sm" type="none"/>
            </a:ln>
          </p:spPr>
        </p:cxnSp>
        <p:cxnSp>
          <p:nvCxnSpPr>
            <p:cNvPr id="804" name="Google Shape;804;p35"/>
            <p:cNvCxnSpPr/>
            <p:nvPr/>
          </p:nvCxnSpPr>
          <p:spPr>
            <a:xfrm>
              <a:off x="2338754" y="4812234"/>
              <a:ext cx="8879755" cy="0"/>
            </a:xfrm>
            <a:prstGeom prst="straightConnector1">
              <a:avLst/>
            </a:prstGeom>
            <a:noFill/>
            <a:ln cap="flat" cmpd="sng" w="25400">
              <a:solidFill>
                <a:schemeClr val="dk1"/>
              </a:solidFill>
              <a:prstDash val="solid"/>
              <a:miter lim="800000"/>
              <a:headEnd len="sm" w="sm" type="none"/>
              <a:tailEnd len="sm" w="sm" type="none"/>
            </a:ln>
          </p:spPr>
        </p:cxnSp>
      </p:grpSp>
      <p:sp>
        <p:nvSpPr>
          <p:cNvPr id="805" name="Google Shape;805;p35"/>
          <p:cNvSpPr txBox="1"/>
          <p:nvPr/>
        </p:nvSpPr>
        <p:spPr>
          <a:xfrm>
            <a:off x="2555790" y="5140894"/>
            <a:ext cx="3393671"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Noto Sans Symbols"/>
              <a:buNone/>
            </a:pPr>
            <a:r>
              <a:rPr b="0" i="0" lang="en-US" sz="3200" u="none" cap="none" strike="noStrike">
                <a:solidFill>
                  <a:srgbClr val="000000"/>
                </a:solidFill>
                <a:latin typeface="Calibri"/>
                <a:ea typeface="Calibri"/>
                <a:cs typeface="Calibri"/>
                <a:sym typeface="Calibri"/>
              </a:rPr>
              <a:t>infrastructure layer</a:t>
            </a:r>
            <a:endParaRPr/>
          </a:p>
        </p:txBody>
      </p:sp>
      <p:sp>
        <p:nvSpPr>
          <p:cNvPr id="806" name="Google Shape;806;p35"/>
          <p:cNvSpPr txBox="1"/>
          <p:nvPr/>
        </p:nvSpPr>
        <p:spPr>
          <a:xfrm>
            <a:off x="2620267" y="3868940"/>
            <a:ext cx="2567195"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Noto Sans Symbols"/>
              <a:buNone/>
            </a:pPr>
            <a:r>
              <a:rPr b="0" i="0" lang="en-US" sz="3200" u="none" cap="none" strike="noStrike">
                <a:solidFill>
                  <a:srgbClr val="000000"/>
                </a:solidFill>
                <a:latin typeface="Calibri"/>
                <a:ea typeface="Calibri"/>
                <a:cs typeface="Calibri"/>
                <a:sym typeface="Calibri"/>
              </a:rPr>
              <a:t> </a:t>
            </a:r>
            <a:endParaRPr/>
          </a:p>
        </p:txBody>
      </p:sp>
      <p:sp>
        <p:nvSpPr>
          <p:cNvPr id="807" name="Google Shape;807;p35"/>
          <p:cNvSpPr txBox="1"/>
          <p:nvPr/>
        </p:nvSpPr>
        <p:spPr>
          <a:xfrm>
            <a:off x="2596822" y="2596986"/>
            <a:ext cx="256404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Noto Sans Symbols"/>
              <a:buNone/>
            </a:pPr>
            <a:r>
              <a:rPr b="0" i="0" lang="en-US" sz="3200" u="none" cap="none" strike="noStrike">
                <a:solidFill>
                  <a:srgbClr val="000000"/>
                </a:solidFill>
                <a:latin typeface="Calibri"/>
                <a:ea typeface="Calibri"/>
                <a:cs typeface="Calibri"/>
                <a:sym typeface="Calibri"/>
              </a:rPr>
              <a:t>content layer</a:t>
            </a:r>
            <a:endParaRPr/>
          </a:p>
        </p:txBody>
      </p:sp>
      <p:grpSp>
        <p:nvGrpSpPr>
          <p:cNvPr id="808" name="Google Shape;808;p35"/>
          <p:cNvGrpSpPr/>
          <p:nvPr/>
        </p:nvGrpSpPr>
        <p:grpSpPr>
          <a:xfrm>
            <a:off x="791307" y="2104293"/>
            <a:ext cx="1123962" cy="4063571"/>
            <a:chOff x="791307" y="2104293"/>
            <a:chExt cx="1123962" cy="4063571"/>
          </a:xfrm>
        </p:grpSpPr>
        <p:sp>
          <p:nvSpPr>
            <p:cNvPr id="809" name="Google Shape;809;p35"/>
            <p:cNvSpPr txBox="1"/>
            <p:nvPr/>
          </p:nvSpPr>
          <p:spPr>
            <a:xfrm>
              <a:off x="791307" y="5767754"/>
              <a:ext cx="112396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Calibri"/>
                <a:buNone/>
              </a:pPr>
              <a:r>
                <a:rPr b="0" i="0" lang="en-US" sz="2000" u="none" cap="none" strike="noStrike">
                  <a:solidFill>
                    <a:srgbClr val="C00000"/>
                  </a:solidFill>
                  <a:latin typeface="Calibri"/>
                  <a:ea typeface="Calibri"/>
                  <a:cs typeface="Calibri"/>
                  <a:sym typeface="Calibri"/>
                </a:rPr>
                <a:t>technical</a:t>
              </a:r>
              <a:endParaRPr b="0" i="0" sz="1800" u="none" cap="none" strike="noStrike">
                <a:solidFill>
                  <a:srgbClr val="C00000"/>
                </a:solidFill>
                <a:latin typeface="Calibri"/>
                <a:ea typeface="Calibri"/>
                <a:cs typeface="Calibri"/>
                <a:sym typeface="Calibri"/>
              </a:endParaRPr>
            </a:p>
          </p:txBody>
        </p:sp>
        <p:sp>
          <p:nvSpPr>
            <p:cNvPr id="810" name="Google Shape;810;p35"/>
            <p:cNvSpPr txBox="1"/>
            <p:nvPr/>
          </p:nvSpPr>
          <p:spPr>
            <a:xfrm>
              <a:off x="908538" y="2104293"/>
              <a:ext cx="88517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social</a:t>
              </a:r>
              <a:endParaRPr b="0" i="0" sz="1800" u="none" cap="none" strike="noStrike">
                <a:solidFill>
                  <a:srgbClr val="C00000"/>
                </a:solidFill>
                <a:latin typeface="Calibri"/>
                <a:ea typeface="Calibri"/>
                <a:cs typeface="Calibri"/>
                <a:sym typeface="Calibri"/>
              </a:endParaRPr>
            </a:p>
          </p:txBody>
        </p:sp>
        <p:sp>
          <p:nvSpPr>
            <p:cNvPr id="811" name="Google Shape;811;p35"/>
            <p:cNvSpPr/>
            <p:nvPr/>
          </p:nvSpPr>
          <p:spPr>
            <a:xfrm rot="10800000">
              <a:off x="1213338" y="2514600"/>
              <a:ext cx="246185" cy="3182815"/>
            </a:xfrm>
            <a:prstGeom prst="downArrow">
              <a:avLst>
                <a:gd fmla="val 50000" name="adj1"/>
                <a:gd fmla="val 50000" name="adj2"/>
              </a:avLst>
            </a:prstGeom>
            <a:gradFill>
              <a:gsLst>
                <a:gs pos="0">
                  <a:schemeClr val="lt1"/>
                </a:gs>
                <a:gs pos="100000">
                  <a:srgbClr val="C00000"/>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812" name="Google Shape;812;p35"/>
          <p:cNvSpPr/>
          <p:nvPr/>
        </p:nvSpPr>
        <p:spPr>
          <a:xfrm>
            <a:off x="5829300" y="2495760"/>
            <a:ext cx="5359400" cy="3481754"/>
          </a:xfrm>
          <a:prstGeom prst="rect">
            <a:avLst/>
          </a:prstGeom>
          <a:solidFill>
            <a:schemeClr val="lt1">
              <a:alpha val="91764"/>
            </a:schemeClr>
          </a:soli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3" name="Google Shape;813;p35"/>
          <p:cNvSpPr txBox="1"/>
          <p:nvPr/>
        </p:nvSpPr>
        <p:spPr>
          <a:xfrm>
            <a:off x="5644662" y="4311999"/>
            <a:ext cx="1582615" cy="103618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Internet Engineering Task Force (IETF)</a:t>
            </a:r>
            <a:endParaRPr/>
          </a:p>
        </p:txBody>
      </p:sp>
      <p:grpSp>
        <p:nvGrpSpPr>
          <p:cNvPr id="814" name="Google Shape;814;p35"/>
          <p:cNvGrpSpPr/>
          <p:nvPr/>
        </p:nvGrpSpPr>
        <p:grpSpPr>
          <a:xfrm>
            <a:off x="9385169" y="2919046"/>
            <a:ext cx="1758457" cy="2866292"/>
            <a:chOff x="8548636" y="2919046"/>
            <a:chExt cx="1758457" cy="2866292"/>
          </a:xfrm>
        </p:grpSpPr>
        <p:cxnSp>
          <p:nvCxnSpPr>
            <p:cNvPr id="815" name="Google Shape;815;p35"/>
            <p:cNvCxnSpPr/>
            <p:nvPr/>
          </p:nvCxnSpPr>
          <p:spPr>
            <a:xfrm>
              <a:off x="9905167" y="2919046"/>
              <a:ext cx="0" cy="2866292"/>
            </a:xfrm>
            <a:prstGeom prst="straightConnector1">
              <a:avLst/>
            </a:prstGeom>
            <a:noFill/>
            <a:ln cap="flat" cmpd="sng" w="12700">
              <a:solidFill>
                <a:srgbClr val="C00000"/>
              </a:solidFill>
              <a:prstDash val="solid"/>
              <a:miter lim="800000"/>
              <a:headEnd len="sm" w="sm" type="none"/>
              <a:tailEnd len="sm" w="sm" type="none"/>
            </a:ln>
          </p:spPr>
        </p:cxnSp>
        <p:sp>
          <p:nvSpPr>
            <p:cNvPr id="816" name="Google Shape;816;p35"/>
            <p:cNvSpPr txBox="1"/>
            <p:nvPr/>
          </p:nvSpPr>
          <p:spPr>
            <a:xfrm>
              <a:off x="8548636" y="3662206"/>
              <a:ext cx="1758457" cy="8007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International Telecomm. Union (ITU)</a:t>
              </a:r>
              <a:endParaRPr/>
            </a:p>
          </p:txBody>
        </p:sp>
      </p:grpSp>
      <p:sp>
        <p:nvSpPr>
          <p:cNvPr id="817" name="Google Shape;817;p35"/>
          <p:cNvSpPr txBox="1"/>
          <p:nvPr/>
        </p:nvSpPr>
        <p:spPr>
          <a:xfrm>
            <a:off x="5574044" y="3686906"/>
            <a:ext cx="3112477" cy="565283"/>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Internet Corp. for Assigned Names and Numbers (ICANN)</a:t>
            </a:r>
            <a:endParaRPr/>
          </a:p>
        </p:txBody>
      </p:sp>
      <p:sp>
        <p:nvSpPr>
          <p:cNvPr id="818" name="Google Shape;818;p35"/>
          <p:cNvSpPr txBox="1"/>
          <p:nvPr/>
        </p:nvSpPr>
        <p:spPr>
          <a:xfrm>
            <a:off x="8666283" y="4872250"/>
            <a:ext cx="1693565" cy="103618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Inst. For Electrical and Electronics Engineers (IEEE)</a:t>
            </a:r>
            <a:endParaRPr/>
          </a:p>
        </p:txBody>
      </p:sp>
      <p:sp>
        <p:nvSpPr>
          <p:cNvPr id="819" name="Google Shape;819;p35"/>
          <p:cNvSpPr txBox="1"/>
          <p:nvPr/>
        </p:nvSpPr>
        <p:spPr>
          <a:xfrm>
            <a:off x="6895680" y="4882241"/>
            <a:ext cx="1949800" cy="103618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3GPP</a:t>
            </a:r>
            <a:endParaRPr/>
          </a:p>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3</a:t>
            </a:r>
            <a:r>
              <a:rPr b="0" baseline="30000" i="0" lang="en-US" sz="1800" u="none" cap="none" strike="noStrike">
                <a:solidFill>
                  <a:srgbClr val="C00000"/>
                </a:solidFill>
                <a:latin typeface="Calibri"/>
                <a:ea typeface="Calibri"/>
                <a:cs typeface="Calibri"/>
                <a:sym typeface="Calibri"/>
              </a:rPr>
              <a:t>rd</a:t>
            </a:r>
            <a:r>
              <a:rPr b="0" i="0" lang="en-US" sz="1800" u="none" cap="none" strike="noStrike">
                <a:solidFill>
                  <a:srgbClr val="C00000"/>
                </a:solidFill>
                <a:latin typeface="Calibri"/>
                <a:ea typeface="Calibri"/>
                <a:cs typeface="Calibri"/>
                <a:sym typeface="Calibri"/>
              </a:rPr>
              <a:t> Generation Partnership Project</a:t>
            </a:r>
            <a:endParaRPr/>
          </a:p>
        </p:txBody>
      </p:sp>
      <p:sp>
        <p:nvSpPr>
          <p:cNvPr id="820" name="Google Shape;820;p35"/>
          <p:cNvSpPr/>
          <p:nvPr/>
        </p:nvSpPr>
        <p:spPr>
          <a:xfrm>
            <a:off x="7780387" y="4229072"/>
            <a:ext cx="2084583" cy="565283"/>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World Wide Web Consortium (W3C)</a:t>
            </a:r>
            <a:endParaRPr/>
          </a:p>
        </p:txBody>
      </p:sp>
      <p:sp>
        <p:nvSpPr>
          <p:cNvPr id="821" name="Google Shape;821;p35"/>
          <p:cNvSpPr/>
          <p:nvPr/>
        </p:nvSpPr>
        <p:spPr>
          <a:xfrm>
            <a:off x="6998676" y="4747846"/>
            <a:ext cx="4003429" cy="1107831"/>
          </a:xfrm>
          <a:prstGeom prst="rect">
            <a:avLst/>
          </a:prstGeom>
          <a:solidFill>
            <a:schemeClr val="lt1">
              <a:alpha val="79607"/>
            </a:schemeClr>
          </a:soli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2" name="Google Shape;822;p35"/>
          <p:cNvSpPr/>
          <p:nvPr/>
        </p:nvSpPr>
        <p:spPr>
          <a:xfrm>
            <a:off x="5870329" y="4332932"/>
            <a:ext cx="1216271" cy="1107831"/>
          </a:xfrm>
          <a:prstGeom prst="rect">
            <a:avLst/>
          </a:prstGeom>
          <a:solidFill>
            <a:schemeClr val="lt1">
              <a:alpha val="79607"/>
            </a:schemeClr>
          </a:soli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3" name="Google Shape;823;p3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Supplemental: 1-</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824" name="Google Shape;824;p35"/>
          <p:cNvSpPr txBox="1"/>
          <p:nvPr/>
        </p:nvSpPr>
        <p:spPr>
          <a:xfrm>
            <a:off x="2620267" y="3868940"/>
            <a:ext cx="3083847"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Noto Sans Symbols"/>
              <a:buNone/>
            </a:pPr>
            <a:r>
              <a:rPr b="0" i="0" lang="en-US" sz="3200" u="none" cap="none" strike="noStrike">
                <a:solidFill>
                  <a:srgbClr val="000000"/>
                </a:solidFill>
                <a:latin typeface="Calibri"/>
                <a:ea typeface="Calibri"/>
                <a:cs typeface="Calibri"/>
                <a:sym typeface="Calibri"/>
              </a:rPr>
              <a:t>names, numbers</a:t>
            </a:r>
            <a:endParaRPr/>
          </a:p>
        </p:txBody>
      </p:sp>
      <p:sp>
        <p:nvSpPr>
          <p:cNvPr id="825" name="Google Shape;825;p35"/>
          <p:cNvSpPr/>
          <p:nvPr/>
        </p:nvSpPr>
        <p:spPr>
          <a:xfrm>
            <a:off x="5515427" y="3352799"/>
            <a:ext cx="3265715" cy="1132115"/>
          </a:xfrm>
          <a:prstGeom prst="ellipse">
            <a:avLst/>
          </a:prstGeom>
          <a:noFill/>
          <a:ln cap="flat" cmpd="sng" w="53975">
            <a:solidFill>
              <a:srgbClr val="0E01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6" name="Google Shape;826;p35"/>
          <p:cNvSpPr/>
          <p:nvPr/>
        </p:nvSpPr>
        <p:spPr>
          <a:xfrm>
            <a:off x="1582057" y="3918857"/>
            <a:ext cx="978408" cy="484632"/>
          </a:xfrm>
          <a:prstGeom prst="right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27" name="Google Shape;827;p35"/>
          <p:cNvGrpSpPr/>
          <p:nvPr/>
        </p:nvGrpSpPr>
        <p:grpSpPr>
          <a:xfrm>
            <a:off x="5589564" y="2466758"/>
            <a:ext cx="4993471" cy="1036181"/>
            <a:chOff x="5589564" y="2466758"/>
            <a:chExt cx="4993471" cy="1036181"/>
          </a:xfrm>
        </p:grpSpPr>
        <p:sp>
          <p:nvSpPr>
            <p:cNvPr id="828" name="Google Shape;828;p35"/>
            <p:cNvSpPr txBox="1"/>
            <p:nvPr/>
          </p:nvSpPr>
          <p:spPr>
            <a:xfrm>
              <a:off x="5589564" y="2600178"/>
              <a:ext cx="1582615" cy="800732"/>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Internet Governance Forum (IGF)</a:t>
              </a:r>
              <a:endParaRPr/>
            </a:p>
          </p:txBody>
        </p:sp>
        <p:sp>
          <p:nvSpPr>
            <p:cNvPr id="829" name="Google Shape;829;p35"/>
            <p:cNvSpPr txBox="1"/>
            <p:nvPr/>
          </p:nvSpPr>
          <p:spPr>
            <a:xfrm>
              <a:off x="7091121" y="2466758"/>
              <a:ext cx="1980308" cy="103618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companies,</a:t>
              </a:r>
              <a:endParaRPr/>
            </a:p>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organizations (platforms, content producers )</a:t>
              </a:r>
              <a:endParaRPr/>
            </a:p>
          </p:txBody>
        </p:sp>
        <p:sp>
          <p:nvSpPr>
            <p:cNvPr id="830" name="Google Shape;830;p35"/>
            <p:cNvSpPr txBox="1"/>
            <p:nvPr/>
          </p:nvSpPr>
          <p:spPr>
            <a:xfrm>
              <a:off x="9000420" y="2721652"/>
              <a:ext cx="1582615" cy="565283"/>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national</a:t>
              </a:r>
              <a:endParaRPr/>
            </a:p>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governments</a:t>
              </a:r>
              <a:endParaRPr/>
            </a:p>
          </p:txBody>
        </p:sp>
      </p:grpSp>
      <p:sp>
        <p:nvSpPr>
          <p:cNvPr id="831" name="Google Shape;831;p35"/>
          <p:cNvSpPr/>
          <p:nvPr/>
        </p:nvSpPr>
        <p:spPr>
          <a:xfrm>
            <a:off x="2511390" y="2365968"/>
            <a:ext cx="8613530" cy="1079779"/>
          </a:xfrm>
          <a:prstGeom prst="rect">
            <a:avLst/>
          </a:prstGeom>
          <a:solidFill>
            <a:schemeClr val="lt1">
              <a:alpha val="79607"/>
            </a:schemeClr>
          </a:soli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6"/>
                                        </p:tgtEl>
                                        <p:attrNameLst>
                                          <p:attrName>style.visibility</p:attrName>
                                        </p:attrNameLst>
                                      </p:cBhvr>
                                      <p:to>
                                        <p:strVal val="visible"/>
                                      </p:to>
                                    </p:set>
                                    <p:animEffect filter="fade" transition="in">
                                      <p:cBhvr>
                                        <p:cTn dur="500"/>
                                        <p:tgtEl>
                                          <p:spTgt spid="8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5"/>
                                        </p:tgtEl>
                                        <p:attrNameLst>
                                          <p:attrName>style.visibility</p:attrName>
                                        </p:attrNameLst>
                                      </p:cBhvr>
                                      <p:to>
                                        <p:strVal val="visible"/>
                                      </p:to>
                                    </p:set>
                                    <p:animEffect filter="fade" transition="in">
                                      <p:cBhvr>
                                        <p:cTn dur="500"/>
                                        <p:tgtEl>
                                          <p:spTgt spid="8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36"/>
          <p:cNvSpPr txBox="1"/>
          <p:nvPr>
            <p:ph type="title"/>
          </p:nvPr>
        </p:nvSpPr>
        <p:spPr>
          <a:xfrm>
            <a:off x="517336" y="306910"/>
            <a:ext cx="11299526" cy="89462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4400"/>
              <a:buFont typeface="Calibri"/>
              <a:buNone/>
            </a:pPr>
            <a:r>
              <a:rPr lang="en-US"/>
              <a:t>ICANN: </a:t>
            </a:r>
            <a:r>
              <a:rPr lang="en-US" sz="2800"/>
              <a:t>Internet Corporation for Assigned Names and Numbers</a:t>
            </a:r>
            <a:endParaRPr/>
          </a:p>
        </p:txBody>
      </p:sp>
      <p:sp>
        <p:nvSpPr>
          <p:cNvPr id="838" name="Google Shape;838;p36"/>
          <p:cNvSpPr txBox="1"/>
          <p:nvPr/>
        </p:nvSpPr>
        <p:spPr>
          <a:xfrm>
            <a:off x="507217" y="1270202"/>
            <a:ext cx="10993121" cy="5244898"/>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non-profit, multistakeholder organization</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handles (assigns, adjudicates) Internet names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e.g., www.umass.edu “belongs to” UMass Amherst campus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e.g., </a:t>
            </a:r>
            <a:r>
              <a:rPr b="0" i="0" lang="en-US" sz="2400" u="sng" cap="none" strike="noStrike">
                <a:solidFill>
                  <a:schemeClr val="hlink"/>
                </a:solidFill>
                <a:latin typeface="Calibri"/>
                <a:ea typeface="Calibri"/>
                <a:cs typeface="Calibri"/>
                <a:sym typeface="Calibri"/>
                <a:hlinkClick r:id="rId3"/>
              </a:rPr>
              <a:t>www.apple.com</a:t>
            </a:r>
            <a:r>
              <a:rPr b="0" i="0" lang="en-US" sz="2400" u="none" cap="none" strike="noStrike">
                <a:solidFill>
                  <a:srgbClr val="000000"/>
                </a:solidFill>
                <a:latin typeface="Calibri"/>
                <a:ea typeface="Calibri"/>
                <a:cs typeface="Calibri"/>
                <a:sym typeface="Calibri"/>
              </a:rPr>
              <a:t> “belongs” to the Apple Corporation</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What about .PATAGONIA?  (region in South America, or outdoorsy company?)</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What if someone creates JimKuroseIsAFlamingIdiot.com?</a:t>
            </a:r>
            <a:endParaRPr/>
          </a:p>
        </p:txBody>
      </p:sp>
      <p:sp>
        <p:nvSpPr>
          <p:cNvPr id="839" name="Google Shape;839;p36"/>
          <p:cNvSpPr txBox="1"/>
          <p:nvPr/>
        </p:nvSpPr>
        <p:spPr>
          <a:xfrm>
            <a:off x="1087315" y="3983890"/>
            <a:ext cx="4800545"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4000"/>
              <a:buFont typeface="Calibri"/>
              <a:buNone/>
            </a:pPr>
            <a:r>
              <a:rPr b="0" i="1" lang="en-US" sz="4000" u="none" cap="none" strike="noStrike">
                <a:solidFill>
                  <a:srgbClr val="C00000"/>
                </a:solidFill>
                <a:latin typeface="Calibri"/>
                <a:ea typeface="Calibri"/>
                <a:cs typeface="Calibri"/>
                <a:sym typeface="Calibri"/>
              </a:rPr>
              <a:t>Names are important!</a:t>
            </a:r>
            <a:endParaRPr/>
          </a:p>
        </p:txBody>
      </p:sp>
      <p:sp>
        <p:nvSpPr>
          <p:cNvPr id="840" name="Google Shape;840;p36"/>
          <p:cNvSpPr txBox="1"/>
          <p:nvPr/>
        </p:nvSpPr>
        <p:spPr>
          <a:xfrm>
            <a:off x="5918200" y="3889130"/>
            <a:ext cx="5638800" cy="923330"/>
          </a:xfrm>
          <a:prstGeom prst="rect">
            <a:avLst/>
          </a:prstGeom>
          <a:noFill/>
          <a:ln>
            <a:noFill/>
          </a:ln>
        </p:spPr>
        <p:txBody>
          <a:bodyPr anchorCtr="0" anchor="t" bIns="45700" lIns="91425" spcFirstLastPara="1" rIns="91425" wrap="square" tIns="45700">
            <a:spAutoFit/>
          </a:bodyPr>
          <a:lstStyle/>
          <a:p>
            <a:pPr indent="-228600" lvl="0" marL="279400" marR="0" rtl="0" algn="l">
              <a:lnSpc>
                <a:spcPct val="100000"/>
              </a:lnSpc>
              <a:spcBef>
                <a:spcPts val="0"/>
              </a:spcBef>
              <a:spcAft>
                <a:spcPts val="0"/>
              </a:spcAft>
              <a:buClr>
                <a:srgbClr val="010086"/>
              </a:buClr>
              <a:buSzPts val="1800"/>
              <a:buFont typeface="Arial"/>
              <a:buChar char="•"/>
            </a:pPr>
            <a:r>
              <a:rPr b="0" i="1" lang="en-US" sz="1800" u="none" cap="none" strike="noStrike">
                <a:solidFill>
                  <a:srgbClr val="000000"/>
                </a:solidFill>
                <a:latin typeface="Calibri"/>
                <a:ea typeface="Calibri"/>
                <a:cs typeface="Calibri"/>
                <a:sym typeface="Calibri"/>
              </a:rPr>
              <a:t>“A person's name is to that person, the sweetest, most important sound in any language.” (Dale Carnegie)</a:t>
            </a:r>
            <a:endParaRPr/>
          </a:p>
          <a:p>
            <a:pPr indent="-228600" lvl="0" marL="279400" marR="0" rtl="0" algn="l">
              <a:lnSpc>
                <a:spcPct val="100000"/>
              </a:lnSpc>
              <a:spcBef>
                <a:spcPts val="0"/>
              </a:spcBef>
              <a:spcAft>
                <a:spcPts val="0"/>
              </a:spcAft>
              <a:buClr>
                <a:srgbClr val="010086"/>
              </a:buClr>
              <a:buSzPts val="1800"/>
              <a:buFont typeface="Arial"/>
              <a:buChar char="•"/>
            </a:pPr>
            <a:r>
              <a:rPr b="0" i="1" lang="en-US" sz="1800" u="none" cap="none" strike="noStrike">
                <a:solidFill>
                  <a:srgbClr val="000000"/>
                </a:solidFill>
                <a:latin typeface="Calibri"/>
                <a:ea typeface="Calibri"/>
                <a:cs typeface="Calibri"/>
                <a:sym typeface="Calibri"/>
              </a:rPr>
              <a:t>voice.com domain name sold for $30M in 2019</a:t>
            </a:r>
            <a:endParaRPr/>
          </a:p>
        </p:txBody>
      </p:sp>
      <p:sp>
        <p:nvSpPr>
          <p:cNvPr id="841" name="Google Shape;841;p36"/>
          <p:cNvSpPr txBox="1"/>
          <p:nvPr/>
        </p:nvSpPr>
        <p:spPr>
          <a:xfrm>
            <a:off x="545317" y="4978602"/>
            <a:ext cx="10993121" cy="1523798"/>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assigns Internet addresses to names, and manages translation between name and address (Domain Name System, more shortly)</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e.g., www.cics.umass.edu has IP address 128.119.240.84</a:t>
            </a:r>
            <a:endParaRPr/>
          </a:p>
        </p:txBody>
      </p:sp>
      <p:sp>
        <p:nvSpPr>
          <p:cNvPr id="842" name="Google Shape;842;p3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Supplemental: 1-</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9"/>
                                        </p:tgtEl>
                                        <p:attrNameLst>
                                          <p:attrName>style.visibility</p:attrName>
                                        </p:attrNameLst>
                                      </p:cBhvr>
                                      <p:to>
                                        <p:strVal val="visible"/>
                                      </p:to>
                                    </p:set>
                                    <p:animEffect filter="fade" transition="in">
                                      <p:cBhvr>
                                        <p:cTn dur="500"/>
                                        <p:tgtEl>
                                          <p:spTgt spid="839"/>
                                        </p:tgtEl>
                                      </p:cBhvr>
                                    </p:animEffect>
                                  </p:childTnLst>
                                </p:cTn>
                              </p:par>
                              <p:par>
                                <p:cTn fill="hold" nodeType="withEffect" presetClass="entr" presetID="10" presetSubtype="0">
                                  <p:stCondLst>
                                    <p:cond delay="0"/>
                                  </p:stCondLst>
                                  <p:childTnLst>
                                    <p:set>
                                      <p:cBhvr>
                                        <p:cTn dur="1" fill="hold">
                                          <p:stCondLst>
                                            <p:cond delay="0"/>
                                          </p:stCondLst>
                                        </p:cTn>
                                        <p:tgtEl>
                                          <p:spTgt spid="840"/>
                                        </p:tgtEl>
                                        <p:attrNameLst>
                                          <p:attrName>style.visibility</p:attrName>
                                        </p:attrNameLst>
                                      </p:cBhvr>
                                      <p:to>
                                        <p:strVal val="visible"/>
                                      </p:to>
                                    </p:set>
                                    <p:animEffect filter="fade" transition="in">
                                      <p:cBhvr>
                                        <p:cTn dur="500"/>
                                        <p:tgtEl>
                                          <p:spTgt spid="8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40"/>
                                        </p:tgtEl>
                                      </p:cBhvr>
                                    </p:animEffect>
                                    <p:set>
                                      <p:cBhvr>
                                        <p:cTn dur="1" fill="hold">
                                          <p:stCondLst>
                                            <p:cond delay="500"/>
                                          </p:stCondLst>
                                        </p:cTn>
                                        <p:tgtEl>
                                          <p:spTgt spid="84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841"/>
                                        </p:tgtEl>
                                        <p:attrNameLst>
                                          <p:attrName>style.visibility</p:attrName>
                                        </p:attrNameLst>
                                      </p:cBhvr>
                                      <p:to>
                                        <p:strVal val="visible"/>
                                      </p:to>
                                    </p:set>
                                    <p:animEffect filter="fade" transition="in">
                                      <p:cBhvr>
                                        <p:cTn dur="500"/>
                                        <p:tgtEl>
                                          <p:spTgt spid="8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37"/>
          <p:cNvSpPr txBox="1"/>
          <p:nvPr>
            <p:ph type="title"/>
          </p:nvPr>
        </p:nvSpPr>
        <p:spPr>
          <a:xfrm>
            <a:off x="517336" y="306910"/>
            <a:ext cx="11299526" cy="89462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4400"/>
              <a:buFont typeface="Calibri"/>
              <a:buNone/>
            </a:pPr>
            <a:r>
              <a:rPr lang="en-US"/>
              <a:t>ICANN: </a:t>
            </a:r>
            <a:r>
              <a:rPr lang="en-US" sz="2800"/>
              <a:t>Internet Corporation for Assigned Names and Numbers</a:t>
            </a:r>
            <a:endParaRPr/>
          </a:p>
        </p:txBody>
      </p:sp>
      <p:sp>
        <p:nvSpPr>
          <p:cNvPr id="849" name="Google Shape;849;p37"/>
          <p:cNvSpPr txBox="1"/>
          <p:nvPr/>
        </p:nvSpPr>
        <p:spPr>
          <a:xfrm>
            <a:off x="507217" y="1270202"/>
            <a:ext cx="10993121" cy="3217577"/>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non-profit, founded 1998 to internationalize Internet naming/addressing, previously overseen by U.S. gov’t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 bottom-up, consensus-based multistakeholder processes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open meetings, anyone can address ICANN Board (e.g., in contrast to UN model)</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governments have an equal voice with others, e.g., businesses, academics, and civil society (e.g., on advisory committees)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Board ... advised by four committees makes final decisions, following multiple public postings, reviews, discussion.</a:t>
            </a:r>
            <a:endParaRPr/>
          </a:p>
        </p:txBody>
      </p:sp>
      <p:grpSp>
        <p:nvGrpSpPr>
          <p:cNvPr id="850" name="Google Shape;850;p37"/>
          <p:cNvGrpSpPr/>
          <p:nvPr/>
        </p:nvGrpSpPr>
        <p:grpSpPr>
          <a:xfrm>
            <a:off x="613610" y="4596063"/>
            <a:ext cx="10043712" cy="2046460"/>
            <a:chOff x="613610" y="4596063"/>
            <a:chExt cx="10043712" cy="2046460"/>
          </a:xfrm>
        </p:grpSpPr>
        <p:sp>
          <p:nvSpPr>
            <p:cNvPr id="851" name="Google Shape;851;p37"/>
            <p:cNvSpPr txBox="1"/>
            <p:nvPr/>
          </p:nvSpPr>
          <p:spPr>
            <a:xfrm>
              <a:off x="1046747" y="5534527"/>
              <a:ext cx="5654841" cy="11079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086"/>
                </a:buClr>
                <a:buSzPts val="2400"/>
                <a:buFont typeface="Calibri"/>
                <a:buNone/>
              </a:pPr>
              <a:r>
                <a:rPr b="0" i="1" lang="en-US" sz="2400" u="none" cap="none" strike="noStrike">
                  <a:solidFill>
                    <a:srgbClr val="010086"/>
                  </a:solidFill>
                  <a:latin typeface="Calibri"/>
                  <a:ea typeface="Calibri"/>
                  <a:cs typeface="Calibri"/>
                  <a:sym typeface="Calibri"/>
                </a:rPr>
                <a:t>“Member States [countries] shall have equal rights to manage the Internet, including ....”</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52" name="Google Shape;852;p37"/>
            <p:cNvSpPr txBox="1"/>
            <p:nvPr/>
          </p:nvSpPr>
          <p:spPr>
            <a:xfrm>
              <a:off x="613610" y="4596063"/>
              <a:ext cx="10043712" cy="1107996"/>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10080"/>
                </a:buClr>
                <a:buSzPts val="2400"/>
                <a:buFont typeface="Noto Sans Symbols"/>
                <a:buChar char="▪"/>
              </a:pPr>
              <a:r>
                <a:rPr b="0" i="0" lang="en-US" sz="2400" u="none" cap="none" strike="noStrike">
                  <a:solidFill>
                    <a:srgbClr val="000000"/>
                  </a:solidFill>
                  <a:latin typeface="Calibri"/>
                  <a:ea typeface="Calibri"/>
                  <a:cs typeface="Calibri"/>
                  <a:sym typeface="Calibri"/>
                </a:rPr>
                <a:t>increased pressure by some for more explicit </a:t>
              </a:r>
              <a:r>
                <a:rPr b="0" i="1" lang="en-US" sz="2400" u="none" cap="none" strike="noStrike">
                  <a:solidFill>
                    <a:srgbClr val="000000"/>
                  </a:solidFill>
                  <a:latin typeface="Calibri"/>
                  <a:ea typeface="Calibri"/>
                  <a:cs typeface="Calibri"/>
                  <a:sym typeface="Calibri"/>
                </a:rPr>
                <a:t>government</a:t>
              </a:r>
              <a:r>
                <a:rPr b="0" i="0" lang="en-US" sz="2400" u="none" cap="none" strike="noStrike">
                  <a:solidFill>
                    <a:srgbClr val="000000"/>
                  </a:solidFill>
                  <a:latin typeface="Calibri"/>
                  <a:ea typeface="Calibri"/>
                  <a:cs typeface="Calibri"/>
                  <a:sym typeface="Calibri"/>
                </a:rPr>
                <a:t> control</a:t>
              </a:r>
              <a:endParaRPr/>
            </a:p>
            <a:p>
              <a:pPr indent="-285750" lvl="1" marL="742950" marR="0" rtl="0" algn="l">
                <a:lnSpc>
                  <a:spcPct val="100000"/>
                </a:lnSpc>
                <a:spcBef>
                  <a:spcPts val="0"/>
                </a:spcBef>
                <a:spcAft>
                  <a:spcPts val="0"/>
                </a:spcAft>
                <a:buClr>
                  <a:srgbClr val="010080"/>
                </a:buClr>
                <a:buSzPts val="2400"/>
                <a:buFont typeface="Arial"/>
                <a:buChar char="•"/>
              </a:pPr>
              <a:r>
                <a:rPr b="0" i="0" lang="en-US" sz="2400" u="none" cap="none" strike="noStrike">
                  <a:solidFill>
                    <a:srgbClr val="000000"/>
                  </a:solidFill>
                  <a:latin typeface="Calibri"/>
                  <a:ea typeface="Calibri"/>
                  <a:cs typeface="Calibri"/>
                  <a:sym typeface="Calibri"/>
                </a:rPr>
                <a:t>2012 proposal </a:t>
              </a:r>
              <a:r>
                <a:rPr b="0" i="0" lang="en-US" sz="1800" u="none" cap="none" strike="noStrike">
                  <a:solidFill>
                    <a:srgbClr val="000000"/>
                  </a:solidFill>
                  <a:latin typeface="Calibri"/>
                  <a:ea typeface="Calibri"/>
                  <a:cs typeface="Calibri"/>
                  <a:sym typeface="Calibri"/>
                </a:rPr>
                <a:t>(Russia, UAE, China, Saudi Arabia, Algeria, Sudan, Egypt in WCIT</a:t>
              </a:r>
              <a:r>
                <a:rPr b="0" i="0" lang="en-US" sz="2400" u="none" cap="none" strike="noStrike">
                  <a:solidFill>
                    <a:srgbClr val="000000"/>
                  </a:solidFill>
                  <a:latin typeface="Calibri"/>
                  <a:ea typeface="Calibri"/>
                  <a:cs typeface="Calibri"/>
                  <a:sym typeface="Calibri"/>
                </a:rPr>
                <a:t>) required:</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853" name="Google Shape;853;p37"/>
          <p:cNvGrpSpPr/>
          <p:nvPr/>
        </p:nvGrpSpPr>
        <p:grpSpPr>
          <a:xfrm>
            <a:off x="6868605" y="5596519"/>
            <a:ext cx="4498135" cy="711291"/>
            <a:chOff x="6868605" y="5596519"/>
            <a:chExt cx="4498135" cy="711291"/>
          </a:xfrm>
        </p:grpSpPr>
        <p:sp>
          <p:nvSpPr>
            <p:cNvPr id="854" name="Google Shape;854;p37"/>
            <p:cNvSpPr txBox="1"/>
            <p:nvPr/>
          </p:nvSpPr>
          <p:spPr>
            <a:xfrm>
              <a:off x="7074569" y="5606717"/>
              <a:ext cx="429217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argues for government supremacy in Internet control; no mention of other voices</a:t>
              </a:r>
              <a:endParaRPr/>
            </a:p>
          </p:txBody>
        </p:sp>
        <p:sp>
          <p:nvSpPr>
            <p:cNvPr id="855" name="Google Shape;855;p37"/>
            <p:cNvSpPr/>
            <p:nvPr/>
          </p:nvSpPr>
          <p:spPr>
            <a:xfrm>
              <a:off x="6868605" y="5596519"/>
              <a:ext cx="198623" cy="711291"/>
            </a:xfrm>
            <a:prstGeom prst="rightBrace">
              <a:avLst>
                <a:gd fmla="val 8333" name="adj1"/>
                <a:gd fmla="val 50000" name="adj2"/>
              </a:avLst>
            </a:prstGeom>
            <a:noFill/>
            <a:ln cap="flat" cmpd="sng" w="222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856" name="Google Shape;856;p3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Supplemental: 1-</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0"/>
                                        </p:tgtEl>
                                        <p:attrNameLst>
                                          <p:attrName>style.visibility</p:attrName>
                                        </p:attrNameLst>
                                      </p:cBhvr>
                                      <p:to>
                                        <p:strVal val="visible"/>
                                      </p:to>
                                    </p:set>
                                    <p:animEffect filter="fade" transition="in">
                                      <p:cBhvr>
                                        <p:cTn dur="500"/>
                                        <p:tgtEl>
                                          <p:spTgt spid="8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3"/>
                                        </p:tgtEl>
                                        <p:attrNameLst>
                                          <p:attrName>style.visibility</p:attrName>
                                        </p:attrNameLst>
                                      </p:cBhvr>
                                      <p:to>
                                        <p:strVal val="visible"/>
                                      </p:to>
                                    </p:set>
                                    <p:animEffect filter="fade" transition="in">
                                      <p:cBhvr>
                                        <p:cTn dur="500"/>
                                        <p:tgtEl>
                                          <p:spTgt spid="8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38"/>
          <p:cNvSpPr txBox="1"/>
          <p:nvPr>
            <p:ph type="title"/>
          </p:nvPr>
        </p:nvSpPr>
        <p:spPr>
          <a:xfrm>
            <a:off x="517336" y="306910"/>
            <a:ext cx="11088509" cy="89462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3600"/>
              <a:buFont typeface="Calibri"/>
              <a:buNone/>
            </a:pPr>
            <a:r>
              <a:rPr lang="en-US" sz="3600">
                <a:latin typeface="Calibri"/>
                <a:ea typeface="Calibri"/>
                <a:cs typeface="Calibri"/>
                <a:sym typeface="Calibri"/>
              </a:rPr>
              <a:t>Who “controls” the Internet: </a:t>
            </a:r>
            <a:r>
              <a:rPr lang="en-US" sz="3600"/>
              <a:t>some of the players</a:t>
            </a:r>
            <a:endParaRPr sz="3600">
              <a:latin typeface="Calibri"/>
              <a:ea typeface="Calibri"/>
              <a:cs typeface="Calibri"/>
              <a:sym typeface="Calibri"/>
            </a:endParaRPr>
          </a:p>
        </p:txBody>
      </p:sp>
      <p:grpSp>
        <p:nvGrpSpPr>
          <p:cNvPr id="863" name="Google Shape;863;p38"/>
          <p:cNvGrpSpPr/>
          <p:nvPr/>
        </p:nvGrpSpPr>
        <p:grpSpPr>
          <a:xfrm>
            <a:off x="2338754" y="2200895"/>
            <a:ext cx="8892112" cy="3870985"/>
            <a:chOff x="2338754" y="2200895"/>
            <a:chExt cx="8892112" cy="3870985"/>
          </a:xfrm>
        </p:grpSpPr>
        <p:sp>
          <p:nvSpPr>
            <p:cNvPr id="864" name="Google Shape;864;p38"/>
            <p:cNvSpPr/>
            <p:nvPr/>
          </p:nvSpPr>
          <p:spPr>
            <a:xfrm>
              <a:off x="2338754" y="2200895"/>
              <a:ext cx="8892112" cy="3870985"/>
            </a:xfrm>
            <a:prstGeom prst="rect">
              <a:avLst/>
            </a:prstGeom>
            <a:solidFill>
              <a:schemeClr val="lt1"/>
            </a:solidFill>
            <a:ln cap="flat" cmpd="sng" w="28575">
              <a:solidFill>
                <a:schemeClr val="dk1"/>
              </a:solidFill>
              <a:prstDash val="solid"/>
              <a:miter lim="800000"/>
              <a:headEnd len="sm" w="sm" type="none"/>
              <a:tailEnd len="sm" w="sm" type="none"/>
            </a:ln>
            <a:effectLst>
              <a:outerShdw blurRad="76200" sx="101000" rotWithShape="0" algn="bl" dir="18900000" dist="38100" sy="1010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cxnSp>
          <p:nvCxnSpPr>
            <p:cNvPr id="865" name="Google Shape;865;p38"/>
            <p:cNvCxnSpPr/>
            <p:nvPr/>
          </p:nvCxnSpPr>
          <p:spPr>
            <a:xfrm>
              <a:off x="2338754" y="3550090"/>
              <a:ext cx="8879755" cy="0"/>
            </a:xfrm>
            <a:prstGeom prst="straightConnector1">
              <a:avLst/>
            </a:prstGeom>
            <a:noFill/>
            <a:ln cap="flat" cmpd="sng" w="25400">
              <a:solidFill>
                <a:schemeClr val="dk1"/>
              </a:solidFill>
              <a:prstDash val="solid"/>
              <a:miter lim="800000"/>
              <a:headEnd len="sm" w="sm" type="none"/>
              <a:tailEnd len="sm" w="sm" type="none"/>
            </a:ln>
          </p:spPr>
        </p:cxnSp>
        <p:cxnSp>
          <p:nvCxnSpPr>
            <p:cNvPr id="866" name="Google Shape;866;p38"/>
            <p:cNvCxnSpPr/>
            <p:nvPr/>
          </p:nvCxnSpPr>
          <p:spPr>
            <a:xfrm>
              <a:off x="2338754" y="4812234"/>
              <a:ext cx="8879755" cy="0"/>
            </a:xfrm>
            <a:prstGeom prst="straightConnector1">
              <a:avLst/>
            </a:prstGeom>
            <a:noFill/>
            <a:ln cap="flat" cmpd="sng" w="25400">
              <a:solidFill>
                <a:schemeClr val="dk1"/>
              </a:solidFill>
              <a:prstDash val="solid"/>
              <a:miter lim="800000"/>
              <a:headEnd len="sm" w="sm" type="none"/>
              <a:tailEnd len="sm" w="sm" type="none"/>
            </a:ln>
          </p:spPr>
        </p:cxnSp>
      </p:grpSp>
      <p:sp>
        <p:nvSpPr>
          <p:cNvPr id="867" name="Google Shape;867;p38"/>
          <p:cNvSpPr txBox="1"/>
          <p:nvPr/>
        </p:nvSpPr>
        <p:spPr>
          <a:xfrm>
            <a:off x="2555790" y="5140894"/>
            <a:ext cx="3393671"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Noto Sans Symbols"/>
              <a:buNone/>
            </a:pPr>
            <a:r>
              <a:rPr b="0" i="0" lang="en-US" sz="3200" u="none" cap="none" strike="noStrike">
                <a:solidFill>
                  <a:srgbClr val="000000"/>
                </a:solidFill>
                <a:latin typeface="Calibri"/>
                <a:ea typeface="Calibri"/>
                <a:cs typeface="Calibri"/>
                <a:sym typeface="Calibri"/>
              </a:rPr>
              <a:t>infrastructure layer</a:t>
            </a:r>
            <a:endParaRPr/>
          </a:p>
        </p:txBody>
      </p:sp>
      <p:sp>
        <p:nvSpPr>
          <p:cNvPr id="868" name="Google Shape;868;p38"/>
          <p:cNvSpPr txBox="1"/>
          <p:nvPr/>
        </p:nvSpPr>
        <p:spPr>
          <a:xfrm>
            <a:off x="2596822" y="2596986"/>
            <a:ext cx="256404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Noto Sans Symbols"/>
              <a:buNone/>
            </a:pPr>
            <a:r>
              <a:rPr b="0" i="0" lang="en-US" sz="3200" u="none" cap="none" strike="noStrike">
                <a:solidFill>
                  <a:srgbClr val="000000"/>
                </a:solidFill>
                <a:latin typeface="Calibri"/>
                <a:ea typeface="Calibri"/>
                <a:cs typeface="Calibri"/>
                <a:sym typeface="Calibri"/>
              </a:rPr>
              <a:t>content layer</a:t>
            </a:r>
            <a:endParaRPr/>
          </a:p>
        </p:txBody>
      </p:sp>
      <p:grpSp>
        <p:nvGrpSpPr>
          <p:cNvPr id="869" name="Google Shape;869;p38"/>
          <p:cNvGrpSpPr/>
          <p:nvPr/>
        </p:nvGrpSpPr>
        <p:grpSpPr>
          <a:xfrm>
            <a:off x="791307" y="2104293"/>
            <a:ext cx="1123962" cy="4063571"/>
            <a:chOff x="791307" y="2104293"/>
            <a:chExt cx="1123962" cy="4063571"/>
          </a:xfrm>
        </p:grpSpPr>
        <p:sp>
          <p:nvSpPr>
            <p:cNvPr id="870" name="Google Shape;870;p38"/>
            <p:cNvSpPr txBox="1"/>
            <p:nvPr/>
          </p:nvSpPr>
          <p:spPr>
            <a:xfrm>
              <a:off x="791307" y="5767754"/>
              <a:ext cx="112396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Calibri"/>
                <a:buNone/>
              </a:pPr>
              <a:r>
                <a:rPr b="0" i="0" lang="en-US" sz="2000" u="none" cap="none" strike="noStrike">
                  <a:solidFill>
                    <a:srgbClr val="C00000"/>
                  </a:solidFill>
                  <a:latin typeface="Calibri"/>
                  <a:ea typeface="Calibri"/>
                  <a:cs typeface="Calibri"/>
                  <a:sym typeface="Calibri"/>
                </a:rPr>
                <a:t>technical</a:t>
              </a:r>
              <a:endParaRPr b="0" i="0" sz="1800" u="none" cap="none" strike="noStrike">
                <a:solidFill>
                  <a:srgbClr val="C00000"/>
                </a:solidFill>
                <a:latin typeface="Calibri"/>
                <a:ea typeface="Calibri"/>
                <a:cs typeface="Calibri"/>
                <a:sym typeface="Calibri"/>
              </a:endParaRPr>
            </a:p>
          </p:txBody>
        </p:sp>
        <p:sp>
          <p:nvSpPr>
            <p:cNvPr id="871" name="Google Shape;871;p38"/>
            <p:cNvSpPr txBox="1"/>
            <p:nvPr/>
          </p:nvSpPr>
          <p:spPr>
            <a:xfrm>
              <a:off x="908538" y="2104293"/>
              <a:ext cx="88517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social</a:t>
              </a:r>
              <a:endParaRPr b="0" i="0" sz="1800" u="none" cap="none" strike="noStrike">
                <a:solidFill>
                  <a:srgbClr val="C00000"/>
                </a:solidFill>
                <a:latin typeface="Calibri"/>
                <a:ea typeface="Calibri"/>
                <a:cs typeface="Calibri"/>
                <a:sym typeface="Calibri"/>
              </a:endParaRPr>
            </a:p>
          </p:txBody>
        </p:sp>
        <p:sp>
          <p:nvSpPr>
            <p:cNvPr id="872" name="Google Shape;872;p38"/>
            <p:cNvSpPr/>
            <p:nvPr/>
          </p:nvSpPr>
          <p:spPr>
            <a:xfrm rot="10800000">
              <a:off x="1213338" y="2514600"/>
              <a:ext cx="246185" cy="3182815"/>
            </a:xfrm>
            <a:prstGeom prst="downArrow">
              <a:avLst>
                <a:gd fmla="val 50000" name="adj1"/>
                <a:gd fmla="val 50000" name="adj2"/>
              </a:avLst>
            </a:prstGeom>
            <a:gradFill>
              <a:gsLst>
                <a:gs pos="0">
                  <a:schemeClr val="lt1"/>
                </a:gs>
                <a:gs pos="100000">
                  <a:srgbClr val="C00000"/>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873" name="Google Shape;873;p38"/>
          <p:cNvSpPr txBox="1"/>
          <p:nvPr/>
        </p:nvSpPr>
        <p:spPr>
          <a:xfrm>
            <a:off x="5644662" y="4311999"/>
            <a:ext cx="1582615" cy="103618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Internet Engineering Task Force (IETF)</a:t>
            </a:r>
            <a:endParaRPr/>
          </a:p>
        </p:txBody>
      </p:sp>
      <p:grpSp>
        <p:nvGrpSpPr>
          <p:cNvPr id="874" name="Google Shape;874;p38"/>
          <p:cNvGrpSpPr/>
          <p:nvPr/>
        </p:nvGrpSpPr>
        <p:grpSpPr>
          <a:xfrm>
            <a:off x="9385169" y="2919046"/>
            <a:ext cx="1758457" cy="2866292"/>
            <a:chOff x="8548636" y="2919046"/>
            <a:chExt cx="1758457" cy="2866292"/>
          </a:xfrm>
        </p:grpSpPr>
        <p:cxnSp>
          <p:nvCxnSpPr>
            <p:cNvPr id="875" name="Google Shape;875;p38"/>
            <p:cNvCxnSpPr/>
            <p:nvPr/>
          </p:nvCxnSpPr>
          <p:spPr>
            <a:xfrm>
              <a:off x="9905167" y="2919046"/>
              <a:ext cx="0" cy="2866292"/>
            </a:xfrm>
            <a:prstGeom prst="straightConnector1">
              <a:avLst/>
            </a:prstGeom>
            <a:noFill/>
            <a:ln cap="flat" cmpd="sng" w="12700">
              <a:solidFill>
                <a:srgbClr val="C00000"/>
              </a:solidFill>
              <a:prstDash val="solid"/>
              <a:miter lim="800000"/>
              <a:headEnd len="sm" w="sm" type="none"/>
              <a:tailEnd len="sm" w="sm" type="none"/>
            </a:ln>
          </p:spPr>
        </p:cxnSp>
        <p:sp>
          <p:nvSpPr>
            <p:cNvPr id="876" name="Google Shape;876;p38"/>
            <p:cNvSpPr txBox="1"/>
            <p:nvPr/>
          </p:nvSpPr>
          <p:spPr>
            <a:xfrm>
              <a:off x="8548636" y="3662206"/>
              <a:ext cx="1758457" cy="8007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International Telecomm. Union (ITU)</a:t>
              </a:r>
              <a:endParaRPr/>
            </a:p>
          </p:txBody>
        </p:sp>
      </p:grpSp>
      <p:sp>
        <p:nvSpPr>
          <p:cNvPr id="877" name="Google Shape;877;p38"/>
          <p:cNvSpPr txBox="1"/>
          <p:nvPr/>
        </p:nvSpPr>
        <p:spPr>
          <a:xfrm>
            <a:off x="8666283" y="4872250"/>
            <a:ext cx="1693565" cy="103618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Inst. For Electrical and Electronics Engineers (IEEE)</a:t>
            </a:r>
            <a:endParaRPr/>
          </a:p>
        </p:txBody>
      </p:sp>
      <p:sp>
        <p:nvSpPr>
          <p:cNvPr id="878" name="Google Shape;878;p38"/>
          <p:cNvSpPr txBox="1"/>
          <p:nvPr/>
        </p:nvSpPr>
        <p:spPr>
          <a:xfrm>
            <a:off x="6895680" y="4882241"/>
            <a:ext cx="1949800" cy="103618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3GPP</a:t>
            </a:r>
            <a:endParaRPr/>
          </a:p>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3</a:t>
            </a:r>
            <a:r>
              <a:rPr b="0" baseline="30000" i="0" lang="en-US" sz="1800" u="none" cap="none" strike="noStrike">
                <a:solidFill>
                  <a:srgbClr val="C00000"/>
                </a:solidFill>
                <a:latin typeface="Calibri"/>
                <a:ea typeface="Calibri"/>
                <a:cs typeface="Calibri"/>
                <a:sym typeface="Calibri"/>
              </a:rPr>
              <a:t>rd</a:t>
            </a:r>
            <a:r>
              <a:rPr b="0" i="0" lang="en-US" sz="1800" u="none" cap="none" strike="noStrike">
                <a:solidFill>
                  <a:srgbClr val="C00000"/>
                </a:solidFill>
                <a:latin typeface="Calibri"/>
                <a:ea typeface="Calibri"/>
                <a:cs typeface="Calibri"/>
                <a:sym typeface="Calibri"/>
              </a:rPr>
              <a:t> Generation Partnership Project</a:t>
            </a:r>
            <a:endParaRPr/>
          </a:p>
        </p:txBody>
      </p:sp>
      <p:sp>
        <p:nvSpPr>
          <p:cNvPr id="879" name="Google Shape;879;p38"/>
          <p:cNvSpPr txBox="1"/>
          <p:nvPr/>
        </p:nvSpPr>
        <p:spPr>
          <a:xfrm>
            <a:off x="5240215" y="3686906"/>
            <a:ext cx="3112477" cy="565283"/>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Internet Corp. for Assigned Names and Numbers (ICANN)</a:t>
            </a:r>
            <a:endParaRPr/>
          </a:p>
        </p:txBody>
      </p:sp>
      <p:sp>
        <p:nvSpPr>
          <p:cNvPr id="880" name="Google Shape;880;p38"/>
          <p:cNvSpPr/>
          <p:nvPr/>
        </p:nvSpPr>
        <p:spPr>
          <a:xfrm>
            <a:off x="7780387" y="4229072"/>
            <a:ext cx="2084583" cy="565283"/>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World Wide Web Consortium (W3C)</a:t>
            </a:r>
            <a:endParaRPr/>
          </a:p>
        </p:txBody>
      </p:sp>
      <p:sp>
        <p:nvSpPr>
          <p:cNvPr id="881" name="Google Shape;881;p38"/>
          <p:cNvSpPr/>
          <p:nvPr/>
        </p:nvSpPr>
        <p:spPr>
          <a:xfrm>
            <a:off x="10135891" y="2634712"/>
            <a:ext cx="1003563" cy="3270142"/>
          </a:xfrm>
          <a:prstGeom prst="rect">
            <a:avLst/>
          </a:prstGeom>
          <a:solidFill>
            <a:schemeClr val="lt1">
              <a:alpha val="79607"/>
            </a:schemeClr>
          </a:soli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2" name="Google Shape;882;p38"/>
          <p:cNvSpPr/>
          <p:nvPr/>
        </p:nvSpPr>
        <p:spPr>
          <a:xfrm>
            <a:off x="5284923" y="3394129"/>
            <a:ext cx="4849893" cy="1379349"/>
          </a:xfrm>
          <a:prstGeom prst="rect">
            <a:avLst/>
          </a:prstGeom>
          <a:solidFill>
            <a:schemeClr val="lt1">
              <a:alpha val="84705"/>
            </a:schemeClr>
          </a:soli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83" name="Google Shape;883;p38"/>
          <p:cNvSpPr/>
          <p:nvPr/>
        </p:nvSpPr>
        <p:spPr>
          <a:xfrm>
            <a:off x="5858360" y="4757980"/>
            <a:ext cx="4289372" cy="1206284"/>
          </a:xfrm>
          <a:prstGeom prst="rect">
            <a:avLst/>
          </a:prstGeom>
          <a:solidFill>
            <a:schemeClr val="lt1">
              <a:alpha val="84705"/>
            </a:schemeClr>
          </a:soli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84" name="Google Shape;884;p3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Supplemental: 1-</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885" name="Google Shape;885;p38"/>
          <p:cNvSpPr txBox="1"/>
          <p:nvPr/>
        </p:nvSpPr>
        <p:spPr>
          <a:xfrm>
            <a:off x="2547697" y="3941511"/>
            <a:ext cx="3083847"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Noto Sans Symbols"/>
              <a:buNone/>
            </a:pPr>
            <a:r>
              <a:rPr b="0" i="0" lang="en-US" sz="3200" u="none" cap="none" strike="noStrike">
                <a:solidFill>
                  <a:srgbClr val="000000"/>
                </a:solidFill>
                <a:latin typeface="Calibri"/>
                <a:ea typeface="Calibri"/>
                <a:cs typeface="Calibri"/>
                <a:sym typeface="Calibri"/>
              </a:rPr>
              <a:t>names, numbers</a:t>
            </a:r>
            <a:endParaRPr/>
          </a:p>
        </p:txBody>
      </p:sp>
      <p:grpSp>
        <p:nvGrpSpPr>
          <p:cNvPr id="886" name="Google Shape;886;p38"/>
          <p:cNvGrpSpPr/>
          <p:nvPr/>
        </p:nvGrpSpPr>
        <p:grpSpPr>
          <a:xfrm>
            <a:off x="5589564" y="2466758"/>
            <a:ext cx="4993471" cy="1036181"/>
            <a:chOff x="5589564" y="2466758"/>
            <a:chExt cx="4993471" cy="1036181"/>
          </a:xfrm>
        </p:grpSpPr>
        <p:sp>
          <p:nvSpPr>
            <p:cNvPr id="887" name="Google Shape;887;p38"/>
            <p:cNvSpPr txBox="1"/>
            <p:nvPr/>
          </p:nvSpPr>
          <p:spPr>
            <a:xfrm>
              <a:off x="5589564" y="2600178"/>
              <a:ext cx="1582615" cy="800732"/>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Internet Governance Forum (IGF)</a:t>
              </a:r>
              <a:endParaRPr/>
            </a:p>
          </p:txBody>
        </p:sp>
        <p:sp>
          <p:nvSpPr>
            <p:cNvPr id="888" name="Google Shape;888;p38"/>
            <p:cNvSpPr txBox="1"/>
            <p:nvPr/>
          </p:nvSpPr>
          <p:spPr>
            <a:xfrm>
              <a:off x="7091121" y="2466758"/>
              <a:ext cx="1980308" cy="103618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companies,</a:t>
              </a:r>
              <a:endParaRPr/>
            </a:p>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organizations (platforms, content producers )</a:t>
              </a:r>
              <a:endParaRPr/>
            </a:p>
          </p:txBody>
        </p:sp>
        <p:sp>
          <p:nvSpPr>
            <p:cNvPr id="889" name="Google Shape;889;p38"/>
            <p:cNvSpPr txBox="1"/>
            <p:nvPr/>
          </p:nvSpPr>
          <p:spPr>
            <a:xfrm>
              <a:off x="9000420" y="2721652"/>
              <a:ext cx="1582615" cy="565283"/>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national</a:t>
              </a:r>
              <a:endParaRPr/>
            </a:p>
            <a:p>
              <a:pPr indent="0" lvl="0" marL="0" marR="0" rtl="0" algn="ctr">
                <a:lnSpc>
                  <a:spcPct val="85000"/>
                </a:lnSpc>
                <a:spcBef>
                  <a:spcPts val="0"/>
                </a:spcBef>
                <a:spcAft>
                  <a:spcPts val="0"/>
                </a:spcAft>
                <a:buClr>
                  <a:srgbClr val="C00000"/>
                </a:buClr>
                <a:buSzPts val="1800"/>
                <a:buFont typeface="Calibri"/>
                <a:buNone/>
              </a:pPr>
              <a:r>
                <a:rPr b="0" i="0" lang="en-US" sz="1800" u="none" cap="none" strike="noStrike">
                  <a:solidFill>
                    <a:srgbClr val="C00000"/>
                  </a:solidFill>
                  <a:latin typeface="Calibri"/>
                  <a:ea typeface="Calibri"/>
                  <a:cs typeface="Calibri"/>
                  <a:sym typeface="Calibri"/>
                </a:rPr>
                <a:t>governments</a:t>
              </a:r>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39"/>
          <p:cNvSpPr txBox="1"/>
          <p:nvPr>
            <p:ph type="title"/>
          </p:nvPr>
        </p:nvSpPr>
        <p:spPr>
          <a:xfrm>
            <a:off x="517336" y="306910"/>
            <a:ext cx="11299526" cy="89462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4400"/>
              <a:buFont typeface="Calibri"/>
              <a:buNone/>
            </a:pPr>
            <a:r>
              <a:rPr lang="en-US"/>
              <a:t>IGF: Internet Governance Forum</a:t>
            </a:r>
            <a:endParaRPr/>
          </a:p>
        </p:txBody>
      </p:sp>
      <p:sp>
        <p:nvSpPr>
          <p:cNvPr id="896" name="Google Shape;896;p39"/>
          <p:cNvSpPr txBox="1"/>
          <p:nvPr/>
        </p:nvSpPr>
        <p:spPr>
          <a:xfrm>
            <a:off x="615705" y="1332197"/>
            <a:ext cx="6389529" cy="1844956"/>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convened by UN secretary-general in 2006, renewed in 2015 for “multistakeholder policy dialogue”</a:t>
            </a:r>
            <a:endParaRPr/>
          </a:p>
        </p:txBody>
      </p:sp>
      <p:pic>
        <p:nvPicPr>
          <p:cNvPr descr="Home" id="897" name="Google Shape;897;p39"/>
          <p:cNvPicPr preferRelativeResize="0"/>
          <p:nvPr/>
        </p:nvPicPr>
        <p:blipFill rotWithShape="1">
          <a:blip r:embed="rId3">
            <a:alphaModFix/>
          </a:blip>
          <a:srcRect b="0" l="0" r="0" t="0"/>
          <a:stretch/>
        </p:blipFill>
        <p:spPr>
          <a:xfrm>
            <a:off x="6862951" y="1457809"/>
            <a:ext cx="4851400" cy="1028700"/>
          </a:xfrm>
          <a:prstGeom prst="rect">
            <a:avLst/>
          </a:prstGeom>
          <a:noFill/>
          <a:ln>
            <a:noFill/>
          </a:ln>
        </p:spPr>
      </p:pic>
      <p:sp>
        <p:nvSpPr>
          <p:cNvPr id="898" name="Google Shape;898;p39"/>
          <p:cNvSpPr/>
          <p:nvPr/>
        </p:nvSpPr>
        <p:spPr>
          <a:xfrm>
            <a:off x="1038386" y="4023189"/>
            <a:ext cx="9996407" cy="15696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“Ultimately the involvement of all stakeholders, from developed as well as developing countries, from governments to international organisations, from the private sector to the civil society, is necessary for advancing dynamic public policies in Internet governance.” [https://www.intgovforum.org]</a:t>
            </a:r>
            <a:endParaRPr/>
          </a:p>
        </p:txBody>
      </p:sp>
      <p:sp>
        <p:nvSpPr>
          <p:cNvPr id="899" name="Google Shape;899;p39"/>
          <p:cNvSpPr txBox="1"/>
          <p:nvPr/>
        </p:nvSpPr>
        <p:spPr>
          <a:xfrm>
            <a:off x="628619" y="2848448"/>
            <a:ext cx="10344179" cy="886645"/>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1" lang="en-US" sz="2800" u="none" cap="none" strike="noStrike">
                <a:solidFill>
                  <a:srgbClr val="C00000"/>
                </a:solidFill>
                <a:latin typeface="Calibri"/>
                <a:ea typeface="Calibri"/>
                <a:cs typeface="Calibri"/>
                <a:sym typeface="Calibri"/>
              </a:rPr>
              <a:t>does not make decisions</a:t>
            </a:r>
            <a:r>
              <a:rPr b="0" i="0" lang="en-US" sz="2800" u="none" cap="none" strike="noStrike">
                <a:solidFill>
                  <a:srgbClr val="000000"/>
                </a:solidFill>
                <a:latin typeface="Calibri"/>
                <a:ea typeface="Calibri"/>
                <a:cs typeface="Calibri"/>
                <a:sym typeface="Calibri"/>
              </a:rPr>
              <a:t>, but rather a deliberation body that “informs and inspires those who do”</a:t>
            </a:r>
            <a:endParaRPr/>
          </a:p>
        </p:txBody>
      </p:sp>
      <p:sp>
        <p:nvSpPr>
          <p:cNvPr id="900" name="Google Shape;900;p3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Supplemental: 1-</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40"/>
          <p:cNvSpPr txBox="1"/>
          <p:nvPr>
            <p:ph type="title"/>
          </p:nvPr>
        </p:nvSpPr>
        <p:spPr>
          <a:xfrm>
            <a:off x="517336" y="306910"/>
            <a:ext cx="11299526" cy="89462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4400"/>
              <a:buFont typeface="Calibri"/>
              <a:buNone/>
            </a:pPr>
            <a:r>
              <a:rPr lang="en-US"/>
              <a:t>Controlling the content layer: content providers</a:t>
            </a:r>
            <a:endParaRPr/>
          </a:p>
        </p:txBody>
      </p:sp>
      <p:pic>
        <p:nvPicPr>
          <p:cNvPr id="907" name="Google Shape;907;p40"/>
          <p:cNvPicPr preferRelativeResize="0"/>
          <p:nvPr/>
        </p:nvPicPr>
        <p:blipFill rotWithShape="1">
          <a:blip r:embed="rId3">
            <a:alphaModFix/>
          </a:blip>
          <a:srcRect b="0" l="0" r="0" t="0"/>
          <a:stretch/>
        </p:blipFill>
        <p:spPr>
          <a:xfrm>
            <a:off x="4368585" y="2430650"/>
            <a:ext cx="1905000" cy="1066800"/>
          </a:xfrm>
          <a:prstGeom prst="rect">
            <a:avLst/>
          </a:prstGeom>
          <a:noFill/>
          <a:ln>
            <a:noFill/>
          </a:ln>
        </p:spPr>
      </p:pic>
      <p:pic>
        <p:nvPicPr>
          <p:cNvPr descr="Background pattern&#10;&#10;Description automatically generated" id="908" name="Google Shape;908;p40"/>
          <p:cNvPicPr preferRelativeResize="0"/>
          <p:nvPr/>
        </p:nvPicPr>
        <p:blipFill rotWithShape="1">
          <a:blip r:embed="rId4">
            <a:alphaModFix/>
          </a:blip>
          <a:srcRect b="0" l="0" r="0" t="0"/>
          <a:stretch/>
        </p:blipFill>
        <p:spPr>
          <a:xfrm>
            <a:off x="3099661" y="2257041"/>
            <a:ext cx="702697" cy="1278401"/>
          </a:xfrm>
          <a:prstGeom prst="rect">
            <a:avLst/>
          </a:prstGeom>
          <a:noFill/>
          <a:ln>
            <a:noFill/>
          </a:ln>
        </p:spPr>
      </p:pic>
      <p:pic>
        <p:nvPicPr>
          <p:cNvPr descr="Logo, company name&#10;&#10;Description automatically generated" id="909" name="Google Shape;909;p40"/>
          <p:cNvPicPr preferRelativeResize="0"/>
          <p:nvPr/>
        </p:nvPicPr>
        <p:blipFill rotWithShape="1">
          <a:blip r:embed="rId5">
            <a:alphaModFix/>
          </a:blip>
          <a:srcRect b="0" l="0" r="0" t="0"/>
          <a:stretch/>
        </p:blipFill>
        <p:spPr>
          <a:xfrm>
            <a:off x="3044664" y="1266987"/>
            <a:ext cx="2197100" cy="914400"/>
          </a:xfrm>
          <a:prstGeom prst="rect">
            <a:avLst/>
          </a:prstGeom>
          <a:noFill/>
          <a:ln>
            <a:noFill/>
          </a:ln>
        </p:spPr>
      </p:pic>
      <p:pic>
        <p:nvPicPr>
          <p:cNvPr descr="A picture containing text, clipart&#10;&#10;Description automatically generated" id="910" name="Google Shape;910;p40"/>
          <p:cNvPicPr preferRelativeResize="0"/>
          <p:nvPr/>
        </p:nvPicPr>
        <p:blipFill rotWithShape="1">
          <a:blip r:embed="rId6">
            <a:alphaModFix/>
          </a:blip>
          <a:srcRect b="0" l="0" r="0" t="0"/>
          <a:stretch/>
        </p:blipFill>
        <p:spPr>
          <a:xfrm>
            <a:off x="821410" y="1641753"/>
            <a:ext cx="2056969" cy="693109"/>
          </a:xfrm>
          <a:prstGeom prst="rect">
            <a:avLst/>
          </a:prstGeom>
          <a:noFill/>
          <a:ln>
            <a:noFill/>
          </a:ln>
        </p:spPr>
      </p:pic>
      <p:pic>
        <p:nvPicPr>
          <p:cNvPr descr="Icon&#10;&#10;Description automatically generated" id="911" name="Google Shape;911;p40"/>
          <p:cNvPicPr preferRelativeResize="0"/>
          <p:nvPr/>
        </p:nvPicPr>
        <p:blipFill rotWithShape="1">
          <a:blip r:embed="rId7">
            <a:alphaModFix/>
          </a:blip>
          <a:srcRect b="0" l="0" r="0" t="0"/>
          <a:stretch/>
        </p:blipFill>
        <p:spPr>
          <a:xfrm>
            <a:off x="1425845" y="2385447"/>
            <a:ext cx="1000932" cy="1000932"/>
          </a:xfrm>
          <a:prstGeom prst="rect">
            <a:avLst/>
          </a:prstGeom>
          <a:noFill/>
          <a:ln>
            <a:noFill/>
          </a:ln>
        </p:spPr>
      </p:pic>
      <p:sp>
        <p:nvSpPr>
          <p:cNvPr id="912" name="Google Shape;912;p40"/>
          <p:cNvSpPr txBox="1"/>
          <p:nvPr/>
        </p:nvSpPr>
        <p:spPr>
          <a:xfrm>
            <a:off x="7470184" y="1937287"/>
            <a:ext cx="4293030"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Millions of websites, services control </a:t>
            </a:r>
            <a:r>
              <a:rPr b="0" i="1" lang="en-US" sz="2400" u="none" cap="none" strike="noStrike">
                <a:solidFill>
                  <a:srgbClr val="C00000"/>
                </a:solidFill>
                <a:latin typeface="Calibri"/>
                <a:ea typeface="Calibri"/>
                <a:cs typeface="Calibri"/>
                <a:sym typeface="Calibri"/>
              </a:rPr>
              <a:t>what</a:t>
            </a:r>
            <a:r>
              <a:rPr b="0" i="0" lang="en-US" sz="2400" u="none" cap="none" strike="noStrike">
                <a:solidFill>
                  <a:srgbClr val="000000"/>
                </a:solidFill>
                <a:latin typeface="Calibri"/>
                <a:ea typeface="Calibri"/>
                <a:cs typeface="Calibri"/>
                <a:sym typeface="Calibri"/>
              </a:rPr>
              <a:t> you experience - in some ways no differently than traditional media.</a:t>
            </a:r>
            <a:endParaRPr/>
          </a:p>
        </p:txBody>
      </p:sp>
      <p:pic>
        <p:nvPicPr>
          <p:cNvPr descr="Logo&#10;&#10;Description automatically generated" id="913" name="Google Shape;913;p40"/>
          <p:cNvPicPr preferRelativeResize="0"/>
          <p:nvPr/>
        </p:nvPicPr>
        <p:blipFill rotWithShape="1">
          <a:blip r:embed="rId8">
            <a:alphaModFix/>
          </a:blip>
          <a:srcRect b="0" l="0" r="0" t="0"/>
          <a:stretch/>
        </p:blipFill>
        <p:spPr>
          <a:xfrm>
            <a:off x="5393410" y="1649601"/>
            <a:ext cx="1544664" cy="868874"/>
          </a:xfrm>
          <a:prstGeom prst="rect">
            <a:avLst/>
          </a:prstGeom>
          <a:noFill/>
          <a:ln>
            <a:noFill/>
          </a:ln>
        </p:spPr>
      </p:pic>
      <p:sp>
        <p:nvSpPr>
          <p:cNvPr id="914" name="Google Shape;914;p40"/>
          <p:cNvSpPr txBox="1"/>
          <p:nvPr/>
        </p:nvSpPr>
        <p:spPr>
          <a:xfrm>
            <a:off x="495944" y="4138047"/>
            <a:ext cx="11375757" cy="24929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1" i="0" lang="en-US" sz="2400" u="none" cap="none" strike="noStrike">
                <a:solidFill>
                  <a:srgbClr val="000000"/>
                </a:solidFill>
                <a:latin typeface="Calibri"/>
                <a:ea typeface="Calibri"/>
                <a:cs typeface="Calibri"/>
                <a:sym typeface="Calibri"/>
              </a:rPr>
              <a:t>“Section 230” </a:t>
            </a:r>
            <a:r>
              <a:rPr b="0" i="0" lang="en-US" sz="2400" u="none" cap="none" strike="noStrike">
                <a:solidFill>
                  <a:srgbClr val="000000"/>
                </a:solidFill>
                <a:latin typeface="Calibri"/>
                <a:ea typeface="Calibri"/>
                <a:cs typeface="Calibri"/>
                <a:sym typeface="Calibri"/>
              </a:rPr>
              <a:t>(47 U.S.C. § 230)</a:t>
            </a:r>
            <a:r>
              <a:rPr b="1" i="0" lang="en-US" sz="2400" u="none" cap="none" strike="noStrike">
                <a:solidFill>
                  <a:srgbClr val="000000"/>
                </a:solidFill>
                <a:latin typeface="Calibri"/>
                <a:ea typeface="Calibri"/>
                <a:cs typeface="Calibri"/>
                <a:sym typeface="Calibri"/>
              </a:rPr>
              <a:t>,</a:t>
            </a:r>
            <a:r>
              <a:rPr b="0" i="0" lang="en-US" sz="2400" u="none" cap="none" strike="noStrike">
                <a:solidFill>
                  <a:srgbClr val="000000"/>
                </a:solidFill>
                <a:latin typeface="Calibri"/>
                <a:ea typeface="Calibri"/>
                <a:cs typeface="Calibri"/>
                <a:sym typeface="Calibri"/>
              </a:rPr>
              <a:t> part of US </a:t>
            </a:r>
            <a:r>
              <a:rPr b="0" i="0" lang="en-US" sz="2400" u="sng" cap="none" strike="noStrike">
                <a:solidFill>
                  <a:schemeClr val="hlink"/>
                </a:solidFill>
                <a:latin typeface="Calibri"/>
                <a:ea typeface="Calibri"/>
                <a:cs typeface="Calibri"/>
                <a:sym typeface="Calibri"/>
                <a:hlinkClick r:id="rId9"/>
              </a:rPr>
              <a:t>Communications Decency Act</a:t>
            </a:r>
            <a:r>
              <a:rPr b="0" i="0" lang="en-US" sz="2400" u="none" cap="none" strike="noStrike">
                <a:solidFill>
                  <a:srgbClr val="000000"/>
                </a:solidFill>
                <a:latin typeface="Calibri"/>
                <a:ea typeface="Calibri"/>
                <a:cs typeface="Calibri"/>
                <a:sym typeface="Calibri"/>
              </a:rPr>
              <a:t>, provides immunity for website platforms with respect to third-party content:</a:t>
            </a:r>
            <a:endParaRPr/>
          </a:p>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“No provider or user of an interactive computer service shall be treated as the publisher or speaker of any information provided by another information content provider.”</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5" name="Google Shape;915;p40"/>
          <p:cNvSpPr txBox="1"/>
          <p:nvPr/>
        </p:nvSpPr>
        <p:spPr>
          <a:xfrm>
            <a:off x="8282295" y="6257329"/>
            <a:ext cx="179074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1" lang="en-US" sz="2400" u="none" cap="none" strike="noStrike">
                <a:solidFill>
                  <a:srgbClr val="C00000"/>
                </a:solidFill>
                <a:latin typeface="Calibri"/>
                <a:ea typeface="Calibri"/>
                <a:cs typeface="Calibri"/>
                <a:sym typeface="Calibri"/>
              </a:rPr>
              <a:t>... more later</a:t>
            </a:r>
            <a:endParaRPr/>
          </a:p>
        </p:txBody>
      </p:sp>
      <p:sp>
        <p:nvSpPr>
          <p:cNvPr id="916" name="Google Shape;916;p4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Supplemental: 1-</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4"/>
                                        </p:tgtEl>
                                        <p:attrNameLst>
                                          <p:attrName>style.visibility</p:attrName>
                                        </p:attrNameLst>
                                      </p:cBhvr>
                                      <p:to>
                                        <p:strVal val="visible"/>
                                      </p:to>
                                    </p:set>
                                    <p:animEffect filter="fade" transition="in">
                                      <p:cBhvr>
                                        <p:cTn dur="500"/>
                                        <p:tgtEl>
                                          <p:spTgt spid="9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5"/>
                                        </p:tgtEl>
                                        <p:attrNameLst>
                                          <p:attrName>style.visibility</p:attrName>
                                        </p:attrNameLst>
                                      </p:cBhvr>
                                      <p:to>
                                        <p:strVal val="visible"/>
                                      </p:to>
                                    </p:set>
                                    <p:animEffect filter="fade" transition="in">
                                      <p:cBhvr>
                                        <p:cTn dur="500"/>
                                        <p:tgtEl>
                                          <p:spTgt spid="9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41"/>
          <p:cNvSpPr txBox="1"/>
          <p:nvPr>
            <p:ph type="title"/>
          </p:nvPr>
        </p:nvSpPr>
        <p:spPr>
          <a:xfrm>
            <a:off x="517336" y="306910"/>
            <a:ext cx="11299526" cy="89462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4400"/>
              <a:buFont typeface="Calibri"/>
              <a:buNone/>
            </a:pPr>
            <a:r>
              <a:rPr lang="en-US"/>
              <a:t>Controlling the content layer: governments</a:t>
            </a:r>
            <a:endParaRPr/>
          </a:p>
        </p:txBody>
      </p:sp>
      <p:grpSp>
        <p:nvGrpSpPr>
          <p:cNvPr id="923" name="Google Shape;923;p41"/>
          <p:cNvGrpSpPr/>
          <p:nvPr/>
        </p:nvGrpSpPr>
        <p:grpSpPr>
          <a:xfrm>
            <a:off x="5269424" y="1396247"/>
            <a:ext cx="6274553" cy="2330341"/>
            <a:chOff x="4602996" y="2667108"/>
            <a:chExt cx="6274553" cy="2330341"/>
          </a:xfrm>
        </p:grpSpPr>
        <p:pic>
          <p:nvPicPr>
            <p:cNvPr id="924" name="Google Shape;924;p41"/>
            <p:cNvPicPr preferRelativeResize="0"/>
            <p:nvPr/>
          </p:nvPicPr>
          <p:blipFill rotWithShape="1">
            <a:blip r:embed="rId3">
              <a:alphaModFix/>
            </a:blip>
            <a:srcRect b="0" l="0" r="0" t="0"/>
            <a:stretch/>
          </p:blipFill>
          <p:spPr>
            <a:xfrm>
              <a:off x="4602996" y="2939262"/>
              <a:ext cx="6274553" cy="2058187"/>
            </a:xfrm>
            <a:prstGeom prst="rect">
              <a:avLst/>
            </a:prstGeom>
            <a:noFill/>
            <a:ln>
              <a:noFill/>
            </a:ln>
          </p:spPr>
        </p:pic>
        <p:pic>
          <p:nvPicPr>
            <p:cNvPr id="925" name="Google Shape;925;p41"/>
            <p:cNvPicPr preferRelativeResize="0"/>
            <p:nvPr/>
          </p:nvPicPr>
          <p:blipFill rotWithShape="1">
            <a:blip r:embed="rId4">
              <a:alphaModFix/>
            </a:blip>
            <a:srcRect b="0" l="0" r="0" t="0"/>
            <a:stretch/>
          </p:blipFill>
          <p:spPr>
            <a:xfrm>
              <a:off x="4629904" y="2667108"/>
              <a:ext cx="2870200" cy="469900"/>
            </a:xfrm>
            <a:prstGeom prst="rect">
              <a:avLst/>
            </a:prstGeom>
            <a:noFill/>
            <a:ln>
              <a:noFill/>
            </a:ln>
          </p:spPr>
        </p:pic>
        <p:sp>
          <p:nvSpPr>
            <p:cNvPr id="926" name="Google Shape;926;p41"/>
            <p:cNvSpPr txBox="1"/>
            <p:nvPr/>
          </p:nvSpPr>
          <p:spPr>
            <a:xfrm>
              <a:off x="7315200" y="2696705"/>
              <a:ext cx="1210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(Jan. 2022)</a:t>
              </a:r>
              <a:endParaRPr/>
            </a:p>
          </p:txBody>
        </p:sp>
      </p:grpSp>
      <p:pic>
        <p:nvPicPr>
          <p:cNvPr id="927" name="Google Shape;927;p41"/>
          <p:cNvPicPr preferRelativeResize="0"/>
          <p:nvPr/>
        </p:nvPicPr>
        <p:blipFill rotWithShape="1">
          <a:blip r:embed="rId5">
            <a:alphaModFix/>
          </a:blip>
          <a:srcRect b="0" l="0" r="0" t="0"/>
          <a:stretch/>
        </p:blipFill>
        <p:spPr>
          <a:xfrm>
            <a:off x="1193367" y="3556077"/>
            <a:ext cx="5068807" cy="2840525"/>
          </a:xfrm>
          <a:prstGeom prst="rect">
            <a:avLst/>
          </a:prstGeom>
          <a:noFill/>
          <a:ln>
            <a:noFill/>
          </a:ln>
        </p:spPr>
      </p:pic>
      <p:grpSp>
        <p:nvGrpSpPr>
          <p:cNvPr id="928" name="Google Shape;928;p41"/>
          <p:cNvGrpSpPr/>
          <p:nvPr/>
        </p:nvGrpSpPr>
        <p:grpSpPr>
          <a:xfrm>
            <a:off x="628758" y="3191467"/>
            <a:ext cx="3901526" cy="469900"/>
            <a:chOff x="4629904" y="2667108"/>
            <a:chExt cx="3901526" cy="469900"/>
          </a:xfrm>
        </p:grpSpPr>
        <p:pic>
          <p:nvPicPr>
            <p:cNvPr id="929" name="Google Shape;929;p41"/>
            <p:cNvPicPr preferRelativeResize="0"/>
            <p:nvPr/>
          </p:nvPicPr>
          <p:blipFill rotWithShape="1">
            <a:blip r:embed="rId4">
              <a:alphaModFix/>
            </a:blip>
            <a:srcRect b="0" l="0" r="0" t="0"/>
            <a:stretch/>
          </p:blipFill>
          <p:spPr>
            <a:xfrm>
              <a:off x="4629904" y="2667108"/>
              <a:ext cx="2870200" cy="469900"/>
            </a:xfrm>
            <a:prstGeom prst="rect">
              <a:avLst/>
            </a:prstGeom>
            <a:noFill/>
            <a:ln>
              <a:noFill/>
            </a:ln>
          </p:spPr>
        </p:pic>
        <p:sp>
          <p:nvSpPr>
            <p:cNvPr id="930" name="Google Shape;930;p41"/>
            <p:cNvSpPr txBox="1"/>
            <p:nvPr/>
          </p:nvSpPr>
          <p:spPr>
            <a:xfrm>
              <a:off x="7315200" y="2696705"/>
              <a:ext cx="121623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(Apr. 2019)</a:t>
              </a:r>
              <a:endParaRPr/>
            </a:p>
          </p:txBody>
        </p:sp>
      </p:grpSp>
      <p:grpSp>
        <p:nvGrpSpPr>
          <p:cNvPr id="931" name="Google Shape;931;p41"/>
          <p:cNvGrpSpPr/>
          <p:nvPr/>
        </p:nvGrpSpPr>
        <p:grpSpPr>
          <a:xfrm>
            <a:off x="6431797" y="3731345"/>
            <a:ext cx="5116916" cy="2244866"/>
            <a:chOff x="6834753" y="3839833"/>
            <a:chExt cx="5116916" cy="2244866"/>
          </a:xfrm>
        </p:grpSpPr>
        <p:pic>
          <p:nvPicPr>
            <p:cNvPr id="932" name="Google Shape;932;p41"/>
            <p:cNvPicPr preferRelativeResize="0"/>
            <p:nvPr/>
          </p:nvPicPr>
          <p:blipFill rotWithShape="1">
            <a:blip r:embed="rId6">
              <a:alphaModFix/>
            </a:blip>
            <a:srcRect b="0" l="0" r="0" t="0"/>
            <a:stretch/>
          </p:blipFill>
          <p:spPr>
            <a:xfrm>
              <a:off x="6834753" y="4095337"/>
              <a:ext cx="5116916" cy="1989362"/>
            </a:xfrm>
            <a:prstGeom prst="rect">
              <a:avLst/>
            </a:prstGeom>
            <a:noFill/>
            <a:ln>
              <a:noFill/>
            </a:ln>
          </p:spPr>
        </p:pic>
        <p:pic>
          <p:nvPicPr>
            <p:cNvPr id="933" name="Google Shape;933;p41"/>
            <p:cNvPicPr preferRelativeResize="0"/>
            <p:nvPr/>
          </p:nvPicPr>
          <p:blipFill rotWithShape="1">
            <a:blip r:embed="rId7">
              <a:alphaModFix/>
            </a:blip>
            <a:srcRect b="0" l="0" r="0" t="0"/>
            <a:stretch/>
          </p:blipFill>
          <p:spPr>
            <a:xfrm>
              <a:off x="9639946" y="3839833"/>
              <a:ext cx="2013488" cy="542852"/>
            </a:xfrm>
            <a:prstGeom prst="rect">
              <a:avLst/>
            </a:prstGeom>
            <a:noFill/>
            <a:ln>
              <a:noFill/>
            </a:ln>
          </p:spPr>
        </p:pic>
      </p:grpSp>
      <p:pic>
        <p:nvPicPr>
          <p:cNvPr id="934" name="Google Shape;934;p41"/>
          <p:cNvPicPr preferRelativeResize="0"/>
          <p:nvPr/>
        </p:nvPicPr>
        <p:blipFill rotWithShape="1">
          <a:blip r:embed="rId8">
            <a:alphaModFix/>
          </a:blip>
          <a:srcRect b="0" l="0" r="0" t="0"/>
          <a:stretch/>
        </p:blipFill>
        <p:spPr>
          <a:xfrm>
            <a:off x="666426" y="1381085"/>
            <a:ext cx="5121975" cy="1709858"/>
          </a:xfrm>
          <a:prstGeom prst="rect">
            <a:avLst/>
          </a:prstGeom>
          <a:noFill/>
          <a:ln>
            <a:noFill/>
          </a:ln>
        </p:spPr>
      </p:pic>
      <p:pic>
        <p:nvPicPr>
          <p:cNvPr id="935" name="Google Shape;935;p41"/>
          <p:cNvPicPr preferRelativeResize="0"/>
          <p:nvPr/>
        </p:nvPicPr>
        <p:blipFill rotWithShape="1">
          <a:blip r:embed="rId9">
            <a:alphaModFix/>
          </a:blip>
          <a:srcRect b="0" l="0" r="0" t="0"/>
          <a:stretch/>
        </p:blipFill>
        <p:spPr>
          <a:xfrm>
            <a:off x="1348351" y="1290841"/>
            <a:ext cx="1626031" cy="454332"/>
          </a:xfrm>
          <a:prstGeom prst="rect">
            <a:avLst/>
          </a:prstGeom>
          <a:noFill/>
          <a:ln>
            <a:noFill/>
          </a:ln>
        </p:spPr>
      </p:pic>
      <p:sp>
        <p:nvSpPr>
          <p:cNvPr id="936" name="Google Shape;936;p4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Supplemental: 1-</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grpSp>
        <p:nvGrpSpPr>
          <p:cNvPr id="942" name="Google Shape;942;p42"/>
          <p:cNvGrpSpPr/>
          <p:nvPr/>
        </p:nvGrpSpPr>
        <p:grpSpPr>
          <a:xfrm>
            <a:off x="544010" y="1238491"/>
            <a:ext cx="4039565" cy="5381170"/>
            <a:chOff x="544010" y="1238491"/>
            <a:chExt cx="4039565" cy="5381170"/>
          </a:xfrm>
        </p:grpSpPr>
        <p:sp>
          <p:nvSpPr>
            <p:cNvPr id="943" name="Google Shape;943;p42"/>
            <p:cNvSpPr/>
            <p:nvPr/>
          </p:nvSpPr>
          <p:spPr>
            <a:xfrm>
              <a:off x="544010" y="1238491"/>
              <a:ext cx="4039565" cy="5347504"/>
            </a:xfrm>
            <a:prstGeom prst="rect">
              <a:avLst/>
            </a:prstGeom>
            <a:solidFill>
              <a:srgbClr val="DDEAF6">
                <a:alpha val="75686"/>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44" name="Google Shape;944;p42"/>
            <p:cNvSpPr txBox="1"/>
            <p:nvPr/>
          </p:nvSpPr>
          <p:spPr>
            <a:xfrm>
              <a:off x="2569579" y="6250329"/>
              <a:ext cx="193739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national boundary</a:t>
              </a:r>
              <a:endParaRPr/>
            </a:p>
          </p:txBody>
        </p:sp>
      </p:grpSp>
      <p:sp>
        <p:nvSpPr>
          <p:cNvPr id="945" name="Google Shape;945;p42"/>
          <p:cNvSpPr txBox="1"/>
          <p:nvPr>
            <p:ph type="title"/>
          </p:nvPr>
        </p:nvSpPr>
        <p:spPr>
          <a:xfrm>
            <a:off x="517336" y="306910"/>
            <a:ext cx="11674664" cy="89462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4400"/>
              <a:buFont typeface="Calibri"/>
              <a:buNone/>
            </a:pPr>
            <a:r>
              <a:rPr lang="en-US"/>
              <a:t>Controlling content flow: a network perspective</a:t>
            </a:r>
            <a:endParaRPr/>
          </a:p>
        </p:txBody>
      </p:sp>
      <p:sp>
        <p:nvSpPr>
          <p:cNvPr id="946" name="Google Shape;946;p42"/>
          <p:cNvSpPr/>
          <p:nvPr/>
        </p:nvSpPr>
        <p:spPr>
          <a:xfrm>
            <a:off x="773263" y="1697448"/>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47" name="Google Shape;947;p42"/>
          <p:cNvGrpSpPr/>
          <p:nvPr/>
        </p:nvGrpSpPr>
        <p:grpSpPr>
          <a:xfrm>
            <a:off x="704537" y="3160664"/>
            <a:ext cx="1458912" cy="933450"/>
            <a:chOff x="2889" y="1631"/>
            <a:chExt cx="980" cy="743"/>
          </a:xfrm>
        </p:grpSpPr>
        <p:sp>
          <p:nvSpPr>
            <p:cNvPr id="948" name="Google Shape;948;p42"/>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949" name="Google Shape;949;p42"/>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grpSp>
      <p:sp>
        <p:nvSpPr>
          <p:cNvPr id="950" name="Google Shape;950;p42"/>
          <p:cNvSpPr/>
          <p:nvPr/>
        </p:nvSpPr>
        <p:spPr>
          <a:xfrm>
            <a:off x="1211588" y="4554547"/>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51" name="Google Shape;951;p42"/>
          <p:cNvSpPr txBox="1"/>
          <p:nvPr/>
        </p:nvSpPr>
        <p:spPr>
          <a:xfrm>
            <a:off x="1178461" y="1359874"/>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mobile network</a:t>
            </a:r>
            <a:endParaRPr/>
          </a:p>
        </p:txBody>
      </p:sp>
      <p:sp>
        <p:nvSpPr>
          <p:cNvPr id="952" name="Google Shape;952;p42"/>
          <p:cNvSpPr txBox="1"/>
          <p:nvPr/>
        </p:nvSpPr>
        <p:spPr>
          <a:xfrm>
            <a:off x="830022" y="4063335"/>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home network</a:t>
            </a:r>
            <a:endParaRPr/>
          </a:p>
        </p:txBody>
      </p:sp>
      <p:sp>
        <p:nvSpPr>
          <p:cNvPr id="953" name="Google Shape;953;p42"/>
          <p:cNvSpPr txBox="1"/>
          <p:nvPr/>
        </p:nvSpPr>
        <p:spPr>
          <a:xfrm>
            <a:off x="806095" y="5651188"/>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a:p>
        </p:txBody>
      </p:sp>
      <p:cxnSp>
        <p:nvCxnSpPr>
          <p:cNvPr id="954" name="Google Shape;954;p42"/>
          <p:cNvCxnSpPr/>
          <p:nvPr/>
        </p:nvCxnSpPr>
        <p:spPr>
          <a:xfrm flipH="1" rot="5400000">
            <a:off x="3288796" y="512315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955" name="Google Shape;955;p42"/>
          <p:cNvCxnSpPr/>
          <p:nvPr/>
        </p:nvCxnSpPr>
        <p:spPr>
          <a:xfrm rot="10800000">
            <a:off x="3709113" y="527669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956" name="Google Shape;956;p42"/>
          <p:cNvCxnSpPr/>
          <p:nvPr/>
        </p:nvCxnSpPr>
        <p:spPr>
          <a:xfrm>
            <a:off x="2932146" y="470993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957" name="Google Shape;957;p42"/>
          <p:cNvCxnSpPr/>
          <p:nvPr/>
        </p:nvCxnSpPr>
        <p:spPr>
          <a:xfrm flipH="1" rot="10800000">
            <a:off x="2349253" y="470993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958" name="Google Shape;958;p42"/>
          <p:cNvCxnSpPr/>
          <p:nvPr/>
        </p:nvCxnSpPr>
        <p:spPr>
          <a:xfrm>
            <a:off x="2320931" y="498028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959" name="Google Shape;959;p42"/>
          <p:cNvCxnSpPr/>
          <p:nvPr/>
        </p:nvCxnSpPr>
        <p:spPr>
          <a:xfrm>
            <a:off x="1709394" y="498874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960" name="Google Shape;960;p42"/>
          <p:cNvCxnSpPr/>
          <p:nvPr/>
        </p:nvCxnSpPr>
        <p:spPr>
          <a:xfrm flipH="1" rot="10800000">
            <a:off x="1447554" y="516188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961" name="Google Shape;961;p42"/>
          <p:cNvCxnSpPr/>
          <p:nvPr/>
        </p:nvCxnSpPr>
        <p:spPr>
          <a:xfrm flipH="1">
            <a:off x="1873004" y="515366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962" name="Google Shape;962;p42"/>
          <p:cNvCxnSpPr/>
          <p:nvPr/>
        </p:nvCxnSpPr>
        <p:spPr>
          <a:xfrm rot="10800000">
            <a:off x="1987918" y="517934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963" name="Google Shape;963;p42"/>
          <p:cNvCxnSpPr/>
          <p:nvPr/>
        </p:nvCxnSpPr>
        <p:spPr>
          <a:xfrm>
            <a:off x="1987918" y="512946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964" name="Google Shape;964;p42"/>
          <p:cNvCxnSpPr/>
          <p:nvPr/>
        </p:nvCxnSpPr>
        <p:spPr>
          <a:xfrm>
            <a:off x="1746965" y="370138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965" name="Google Shape;965;p42"/>
          <p:cNvCxnSpPr/>
          <p:nvPr/>
        </p:nvCxnSpPr>
        <p:spPr>
          <a:xfrm flipH="1" rot="10800000">
            <a:off x="1356440" y="391252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966" name="Google Shape;966;p42"/>
          <p:cNvCxnSpPr/>
          <p:nvPr/>
        </p:nvCxnSpPr>
        <p:spPr>
          <a:xfrm flipH="1" rot="5400000">
            <a:off x="3384732" y="545488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967" name="Google Shape;967;p42"/>
          <p:cNvCxnSpPr/>
          <p:nvPr/>
        </p:nvCxnSpPr>
        <p:spPr>
          <a:xfrm flipH="1" rot="10800000">
            <a:off x="1958612" y="4907975"/>
            <a:ext cx="404236" cy="207771"/>
          </a:xfrm>
          <a:prstGeom prst="straightConnector1">
            <a:avLst/>
          </a:prstGeom>
          <a:noFill/>
          <a:ln cap="flat" cmpd="sng" w="9525">
            <a:solidFill>
              <a:schemeClr val="dk1"/>
            </a:solidFill>
            <a:prstDash val="solid"/>
            <a:round/>
            <a:headEnd len="med" w="med" type="none"/>
            <a:tailEnd len="med" w="med" type="none"/>
          </a:ln>
        </p:spPr>
      </p:cxnSp>
      <p:pic>
        <p:nvPicPr>
          <p:cNvPr descr="antenna_radiation_stylized" id="968" name="Google Shape;968;p42"/>
          <p:cNvPicPr preferRelativeResize="0"/>
          <p:nvPr/>
        </p:nvPicPr>
        <p:blipFill rotWithShape="1">
          <a:blip r:embed="rId3">
            <a:alphaModFix/>
          </a:blip>
          <a:srcRect b="0" l="0" r="0" t="0"/>
          <a:stretch/>
        </p:blipFill>
        <p:spPr>
          <a:xfrm>
            <a:off x="1061425" y="3685343"/>
            <a:ext cx="506412" cy="106009"/>
          </a:xfrm>
          <a:prstGeom prst="rect">
            <a:avLst/>
          </a:prstGeom>
          <a:noFill/>
          <a:ln>
            <a:noFill/>
          </a:ln>
        </p:spPr>
      </p:pic>
      <p:pic>
        <p:nvPicPr>
          <p:cNvPr descr="antenna_radiation_stylized" id="969" name="Google Shape;969;p42"/>
          <p:cNvPicPr preferRelativeResize="0"/>
          <p:nvPr/>
        </p:nvPicPr>
        <p:blipFill rotWithShape="1">
          <a:blip r:embed="rId4">
            <a:alphaModFix/>
          </a:blip>
          <a:srcRect b="0" l="0" r="0" t="0"/>
          <a:stretch/>
        </p:blipFill>
        <p:spPr>
          <a:xfrm>
            <a:off x="2741260" y="5352351"/>
            <a:ext cx="452014" cy="95159"/>
          </a:xfrm>
          <a:prstGeom prst="rect">
            <a:avLst/>
          </a:prstGeom>
          <a:noFill/>
          <a:ln>
            <a:noFill/>
          </a:ln>
        </p:spPr>
      </p:pic>
      <p:pic>
        <p:nvPicPr>
          <p:cNvPr descr="cell_tower_radiation copy" id="970" name="Google Shape;970;p42"/>
          <p:cNvPicPr preferRelativeResize="0"/>
          <p:nvPr/>
        </p:nvPicPr>
        <p:blipFill rotWithShape="1">
          <a:blip r:embed="rId5">
            <a:alphaModFix/>
          </a:blip>
          <a:srcRect b="0" l="0" r="0" t="0"/>
          <a:stretch/>
        </p:blipFill>
        <p:spPr>
          <a:xfrm>
            <a:off x="1480053" y="2029580"/>
            <a:ext cx="457200" cy="332766"/>
          </a:xfrm>
          <a:prstGeom prst="rect">
            <a:avLst/>
          </a:prstGeom>
          <a:noFill/>
          <a:ln>
            <a:noFill/>
          </a:ln>
        </p:spPr>
      </p:pic>
      <p:sp>
        <p:nvSpPr>
          <p:cNvPr id="971" name="Google Shape;971;p42"/>
          <p:cNvSpPr/>
          <p:nvPr/>
        </p:nvSpPr>
        <p:spPr>
          <a:xfrm>
            <a:off x="1673728" y="2164408"/>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972" name="Google Shape;972;p42"/>
          <p:cNvGrpSpPr/>
          <p:nvPr/>
        </p:nvGrpSpPr>
        <p:grpSpPr>
          <a:xfrm>
            <a:off x="913259" y="1763325"/>
            <a:ext cx="1909777" cy="938011"/>
            <a:chOff x="7432700" y="1830405"/>
            <a:chExt cx="1909777" cy="938011"/>
          </a:xfrm>
        </p:grpSpPr>
        <p:grpSp>
          <p:nvGrpSpPr>
            <p:cNvPr id="973" name="Google Shape;973;p42"/>
            <p:cNvGrpSpPr/>
            <p:nvPr/>
          </p:nvGrpSpPr>
          <p:grpSpPr>
            <a:xfrm>
              <a:off x="7743850" y="1830405"/>
              <a:ext cx="415925" cy="385763"/>
              <a:chOff x="2751" y="1851"/>
              <a:chExt cx="462" cy="478"/>
            </a:xfrm>
          </p:grpSpPr>
          <p:pic>
            <p:nvPicPr>
              <p:cNvPr descr="iphone_stylized_small" id="974" name="Google Shape;974;p42"/>
              <p:cNvPicPr preferRelativeResize="0"/>
              <p:nvPr/>
            </p:nvPicPr>
            <p:blipFill rotWithShape="1">
              <a:blip r:embed="rId6">
                <a:alphaModFix/>
              </a:blip>
              <a:srcRect b="0" l="0" r="0" t="0"/>
              <a:stretch/>
            </p:blipFill>
            <p:spPr>
              <a:xfrm>
                <a:off x="2928" y="1922"/>
                <a:ext cx="152" cy="407"/>
              </a:xfrm>
              <a:prstGeom prst="rect">
                <a:avLst/>
              </a:prstGeom>
              <a:noFill/>
              <a:ln>
                <a:noFill/>
              </a:ln>
            </p:spPr>
          </p:pic>
          <p:pic>
            <p:nvPicPr>
              <p:cNvPr descr="antenna_radiation_stylized" id="975" name="Google Shape;975;p42"/>
              <p:cNvPicPr preferRelativeResize="0"/>
              <p:nvPr/>
            </p:nvPicPr>
            <p:blipFill rotWithShape="1">
              <a:blip r:embed="rId7">
                <a:alphaModFix/>
              </a:blip>
              <a:srcRect b="0" l="0" r="0" t="0"/>
              <a:stretch/>
            </p:blipFill>
            <p:spPr>
              <a:xfrm>
                <a:off x="2751" y="1851"/>
                <a:ext cx="462" cy="110"/>
              </a:xfrm>
              <a:prstGeom prst="rect">
                <a:avLst/>
              </a:prstGeom>
              <a:noFill/>
              <a:ln>
                <a:noFill/>
              </a:ln>
            </p:spPr>
          </p:pic>
        </p:grpSp>
        <p:grpSp>
          <p:nvGrpSpPr>
            <p:cNvPr id="976" name="Google Shape;976;p42"/>
            <p:cNvGrpSpPr/>
            <p:nvPr/>
          </p:nvGrpSpPr>
          <p:grpSpPr>
            <a:xfrm>
              <a:off x="7432700" y="2327293"/>
              <a:ext cx="534987" cy="414882"/>
              <a:chOff x="7432700" y="2327293"/>
              <a:chExt cx="534987" cy="414882"/>
            </a:xfrm>
          </p:grpSpPr>
          <p:pic>
            <p:nvPicPr>
              <p:cNvPr descr="antenna_stylized" id="977" name="Google Shape;977;p42"/>
              <p:cNvPicPr preferRelativeResize="0"/>
              <p:nvPr/>
            </p:nvPicPr>
            <p:blipFill rotWithShape="1">
              <a:blip r:embed="rId8">
                <a:alphaModFix/>
              </a:blip>
              <a:srcRect b="0" l="0" r="0" t="0"/>
              <a:stretch/>
            </p:blipFill>
            <p:spPr>
              <a:xfrm>
                <a:off x="7432700" y="2327293"/>
                <a:ext cx="530702" cy="223756"/>
              </a:xfrm>
              <a:prstGeom prst="rect">
                <a:avLst/>
              </a:prstGeom>
              <a:noFill/>
              <a:ln>
                <a:noFill/>
              </a:ln>
            </p:spPr>
          </p:pic>
          <p:pic>
            <p:nvPicPr>
              <p:cNvPr descr="laptop_keyboard" id="978" name="Google Shape;978;p42"/>
              <p:cNvPicPr preferRelativeResize="0"/>
              <p:nvPr/>
            </p:nvPicPr>
            <p:blipFill rotWithShape="1">
              <a:blip r:embed="rId9">
                <a:alphaModFix/>
              </a:blip>
              <a:srcRect b="0" l="0" r="0" t="0"/>
              <a:stretch/>
            </p:blipFill>
            <p:spPr>
              <a:xfrm flipH="1" rot="109064">
                <a:off x="7458407" y="2575770"/>
                <a:ext cx="437221" cy="159511"/>
              </a:xfrm>
              <a:prstGeom prst="rect">
                <a:avLst/>
              </a:prstGeom>
              <a:noFill/>
              <a:ln>
                <a:noFill/>
              </a:ln>
            </p:spPr>
          </p:pic>
          <p:sp>
            <p:nvSpPr>
              <p:cNvPr id="979" name="Google Shape;979;p42"/>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980" name="Google Shape;980;p42"/>
              <p:cNvPicPr preferRelativeResize="0"/>
              <p:nvPr/>
            </p:nvPicPr>
            <p:blipFill rotWithShape="1">
              <a:blip r:embed="rId10">
                <a:alphaModFix/>
              </a:blip>
              <a:srcRect b="0" l="0" r="0" t="0"/>
              <a:stretch/>
            </p:blipFill>
            <p:spPr>
              <a:xfrm>
                <a:off x="7620637" y="2426338"/>
                <a:ext cx="319785" cy="189429"/>
              </a:xfrm>
              <a:prstGeom prst="rect">
                <a:avLst/>
              </a:prstGeom>
              <a:noFill/>
              <a:ln>
                <a:noFill/>
              </a:ln>
            </p:spPr>
          </p:pic>
          <p:sp>
            <p:nvSpPr>
              <p:cNvPr id="981" name="Google Shape;981;p42"/>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82" name="Google Shape;982;p42"/>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83" name="Google Shape;983;p42"/>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84" name="Google Shape;984;p42"/>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85" name="Google Shape;985;p42"/>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86" name="Google Shape;986;p42"/>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87" name="Google Shape;987;p42"/>
              <p:cNvGrpSpPr/>
              <p:nvPr/>
            </p:nvGrpSpPr>
            <p:grpSpPr>
              <a:xfrm>
                <a:off x="7594735" y="2642220"/>
                <a:ext cx="98740" cy="36846"/>
                <a:chOff x="1740" y="2642"/>
                <a:chExt cx="752" cy="327"/>
              </a:xfrm>
            </p:grpSpPr>
            <p:sp>
              <p:nvSpPr>
                <p:cNvPr id="988" name="Google Shape;988;p42"/>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89" name="Google Shape;989;p42"/>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90" name="Google Shape;990;p42"/>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91" name="Google Shape;991;p42"/>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92" name="Google Shape;992;p42"/>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93" name="Google Shape;993;p42"/>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994" name="Google Shape;994;p42"/>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95" name="Google Shape;995;p42"/>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96" name="Google Shape;996;p42"/>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97" name="Google Shape;997;p42"/>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98" name="Google Shape;998;p42"/>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99" name="Google Shape;999;p42"/>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000" name="Google Shape;1000;p42"/>
            <p:cNvGrpSpPr/>
            <p:nvPr/>
          </p:nvGrpSpPr>
          <p:grpSpPr>
            <a:xfrm>
              <a:off x="8631407" y="2290407"/>
              <a:ext cx="530702" cy="478009"/>
              <a:chOff x="8631407" y="2290407"/>
              <a:chExt cx="530702" cy="478009"/>
            </a:xfrm>
          </p:grpSpPr>
          <p:pic>
            <p:nvPicPr>
              <p:cNvPr descr="light2.png" id="1001" name="Google Shape;1001;p42"/>
              <p:cNvPicPr preferRelativeResize="0"/>
              <p:nvPr/>
            </p:nvPicPr>
            <p:blipFill rotWithShape="1">
              <a:blip r:embed="rId11">
                <a:alphaModFix/>
              </a:blip>
              <a:srcRect b="0" l="0" r="0" t="0"/>
              <a:stretch/>
            </p:blipFill>
            <p:spPr>
              <a:xfrm flipH="1">
                <a:off x="8825293" y="2362969"/>
                <a:ext cx="92772" cy="405447"/>
              </a:xfrm>
              <a:prstGeom prst="rect">
                <a:avLst/>
              </a:prstGeom>
              <a:noFill/>
              <a:ln>
                <a:noFill/>
              </a:ln>
            </p:spPr>
          </p:pic>
          <p:pic>
            <p:nvPicPr>
              <p:cNvPr descr="antenna_stylized" id="1002" name="Google Shape;1002;p42"/>
              <p:cNvPicPr preferRelativeResize="0"/>
              <p:nvPr/>
            </p:nvPicPr>
            <p:blipFill rotWithShape="1">
              <a:blip r:embed="rId8">
                <a:alphaModFix/>
              </a:blip>
              <a:srcRect b="0" l="0" r="0" t="0"/>
              <a:stretch/>
            </p:blipFill>
            <p:spPr>
              <a:xfrm>
                <a:off x="8631407" y="2290407"/>
                <a:ext cx="530702" cy="223756"/>
              </a:xfrm>
              <a:prstGeom prst="rect">
                <a:avLst/>
              </a:prstGeom>
              <a:noFill/>
              <a:ln>
                <a:noFill/>
              </a:ln>
            </p:spPr>
          </p:pic>
        </p:grpSp>
        <p:grpSp>
          <p:nvGrpSpPr>
            <p:cNvPr id="1003" name="Google Shape;1003;p42"/>
            <p:cNvGrpSpPr/>
            <p:nvPr/>
          </p:nvGrpSpPr>
          <p:grpSpPr>
            <a:xfrm>
              <a:off x="8493165" y="2029804"/>
              <a:ext cx="849312" cy="226109"/>
              <a:chOff x="8493165" y="2029804"/>
              <a:chExt cx="849312" cy="226109"/>
            </a:xfrm>
          </p:grpSpPr>
          <p:pic>
            <p:nvPicPr>
              <p:cNvPr descr="car_icon_small" id="1004" name="Google Shape;1004;p42"/>
              <p:cNvPicPr preferRelativeResize="0"/>
              <p:nvPr/>
            </p:nvPicPr>
            <p:blipFill rotWithShape="1">
              <a:blip r:embed="rId12">
                <a:alphaModFix/>
              </a:blip>
              <a:srcRect b="0" l="0" r="0" t="0"/>
              <a:stretch/>
            </p:blipFill>
            <p:spPr>
              <a:xfrm>
                <a:off x="8493165" y="2087638"/>
                <a:ext cx="849312" cy="168275"/>
              </a:xfrm>
              <a:prstGeom prst="rect">
                <a:avLst/>
              </a:prstGeom>
              <a:noFill/>
              <a:ln>
                <a:noFill/>
              </a:ln>
            </p:spPr>
          </p:pic>
          <p:pic>
            <p:nvPicPr>
              <p:cNvPr descr="antenna_stylized" id="1005" name="Google Shape;1005;p42"/>
              <p:cNvPicPr preferRelativeResize="0"/>
              <p:nvPr/>
            </p:nvPicPr>
            <p:blipFill rotWithShape="1">
              <a:blip r:embed="rId8">
                <a:alphaModFix/>
              </a:blip>
              <a:srcRect b="0" l="0" r="0" t="0"/>
              <a:stretch/>
            </p:blipFill>
            <p:spPr>
              <a:xfrm>
                <a:off x="8704645" y="2029804"/>
                <a:ext cx="530702" cy="223756"/>
              </a:xfrm>
              <a:prstGeom prst="rect">
                <a:avLst/>
              </a:prstGeom>
              <a:noFill/>
              <a:ln>
                <a:noFill/>
              </a:ln>
            </p:spPr>
          </p:pic>
        </p:grpSp>
      </p:grpSp>
      <p:grpSp>
        <p:nvGrpSpPr>
          <p:cNvPr id="1006" name="Google Shape;1006;p42"/>
          <p:cNvGrpSpPr/>
          <p:nvPr/>
        </p:nvGrpSpPr>
        <p:grpSpPr>
          <a:xfrm>
            <a:off x="967703" y="3229024"/>
            <a:ext cx="857739" cy="583764"/>
            <a:chOff x="7487144" y="3296104"/>
            <a:chExt cx="857739" cy="583764"/>
          </a:xfrm>
        </p:grpSpPr>
        <p:grpSp>
          <p:nvGrpSpPr>
            <p:cNvPr id="1007" name="Google Shape;1007;p42"/>
            <p:cNvGrpSpPr/>
            <p:nvPr/>
          </p:nvGrpSpPr>
          <p:grpSpPr>
            <a:xfrm>
              <a:off x="7487144" y="3389820"/>
              <a:ext cx="350807" cy="310034"/>
              <a:chOff x="7487144" y="3389820"/>
              <a:chExt cx="350807" cy="310034"/>
            </a:xfrm>
          </p:grpSpPr>
          <p:pic>
            <p:nvPicPr>
              <p:cNvPr descr="antenna_stylized" id="1008" name="Google Shape;1008;p42"/>
              <p:cNvPicPr preferRelativeResize="0"/>
              <p:nvPr/>
            </p:nvPicPr>
            <p:blipFill rotWithShape="1">
              <a:blip r:embed="rId13">
                <a:alphaModFix/>
              </a:blip>
              <a:srcRect b="0" l="0" r="0" t="0"/>
              <a:stretch/>
            </p:blipFill>
            <p:spPr>
              <a:xfrm>
                <a:off x="7487144" y="3389820"/>
                <a:ext cx="347997" cy="167557"/>
              </a:xfrm>
              <a:prstGeom prst="rect">
                <a:avLst/>
              </a:prstGeom>
              <a:noFill/>
              <a:ln>
                <a:noFill/>
              </a:ln>
            </p:spPr>
          </p:pic>
          <p:pic>
            <p:nvPicPr>
              <p:cNvPr descr="laptop_keyboard" id="1009" name="Google Shape;1009;p42"/>
              <p:cNvPicPr preferRelativeResize="0"/>
              <p:nvPr/>
            </p:nvPicPr>
            <p:blipFill rotWithShape="1">
              <a:blip r:embed="rId14">
                <a:alphaModFix/>
              </a:blip>
              <a:srcRect b="0" l="0" r="0" t="0"/>
              <a:stretch/>
            </p:blipFill>
            <p:spPr>
              <a:xfrm flipH="1" rot="109064">
                <a:off x="7504001" y="3575889"/>
                <a:ext cx="286699" cy="119448"/>
              </a:xfrm>
              <a:prstGeom prst="rect">
                <a:avLst/>
              </a:prstGeom>
              <a:noFill/>
              <a:ln>
                <a:noFill/>
              </a:ln>
            </p:spPr>
          </p:pic>
          <p:sp>
            <p:nvSpPr>
              <p:cNvPr id="1010" name="Google Shape;1010;p42"/>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1011" name="Google Shape;1011;p42"/>
              <p:cNvPicPr preferRelativeResize="0"/>
              <p:nvPr/>
            </p:nvPicPr>
            <p:blipFill rotWithShape="1">
              <a:blip r:embed="rId15">
                <a:alphaModFix/>
              </a:blip>
              <a:srcRect b="0" l="0" r="0" t="0"/>
              <a:stretch/>
            </p:blipFill>
            <p:spPr>
              <a:xfrm>
                <a:off x="7610380" y="3463988"/>
                <a:ext cx="209692" cy="141851"/>
              </a:xfrm>
              <a:prstGeom prst="rect">
                <a:avLst/>
              </a:prstGeom>
              <a:noFill/>
              <a:ln>
                <a:noFill/>
              </a:ln>
            </p:spPr>
          </p:pic>
          <p:sp>
            <p:nvSpPr>
              <p:cNvPr id="1012" name="Google Shape;1012;p42"/>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13" name="Google Shape;1013;p42"/>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14" name="Google Shape;1014;p42"/>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15" name="Google Shape;1015;p42"/>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16" name="Google Shape;1016;p42"/>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17" name="Google Shape;1017;p42"/>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018" name="Google Shape;1018;p42"/>
              <p:cNvGrpSpPr/>
              <p:nvPr/>
            </p:nvGrpSpPr>
            <p:grpSpPr>
              <a:xfrm>
                <a:off x="7593395" y="3625649"/>
                <a:ext cx="64747" cy="27592"/>
                <a:chOff x="1740" y="2642"/>
                <a:chExt cx="752" cy="327"/>
              </a:xfrm>
            </p:grpSpPr>
            <p:sp>
              <p:nvSpPr>
                <p:cNvPr id="1019" name="Google Shape;1019;p42"/>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20" name="Google Shape;1020;p42"/>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21" name="Google Shape;1021;p42"/>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22" name="Google Shape;1022;p42"/>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23" name="Google Shape;1023;p42"/>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24" name="Google Shape;1024;p42"/>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025" name="Google Shape;1025;p42"/>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26" name="Google Shape;1026;p42"/>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27" name="Google Shape;1027;p42"/>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28" name="Google Shape;1028;p42"/>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29" name="Google Shape;1029;p42"/>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30" name="Google Shape;1030;p42"/>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031" name="Google Shape;1031;p42"/>
            <p:cNvGrpSpPr/>
            <p:nvPr/>
          </p:nvGrpSpPr>
          <p:grpSpPr>
            <a:xfrm flipH="1">
              <a:off x="7985622" y="3537823"/>
              <a:ext cx="359261" cy="342045"/>
              <a:chOff x="2839" y="3501"/>
              <a:chExt cx="755" cy="803"/>
            </a:xfrm>
          </p:grpSpPr>
          <p:pic>
            <p:nvPicPr>
              <p:cNvPr descr="desktop_computer_stylized_medium" id="1032" name="Google Shape;1032;p42"/>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1033" name="Google Shape;1033;p4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034" name="Google Shape;1034;p42"/>
            <p:cNvGrpSpPr/>
            <p:nvPr/>
          </p:nvGrpSpPr>
          <p:grpSpPr>
            <a:xfrm>
              <a:off x="7797061" y="3296104"/>
              <a:ext cx="347997" cy="396620"/>
              <a:chOff x="7797061" y="3296104"/>
              <a:chExt cx="347997" cy="396620"/>
            </a:xfrm>
          </p:grpSpPr>
          <p:pic>
            <p:nvPicPr>
              <p:cNvPr descr="fridge2.png" id="1035" name="Google Shape;1035;p42"/>
              <p:cNvPicPr preferRelativeResize="0"/>
              <p:nvPr/>
            </p:nvPicPr>
            <p:blipFill rotWithShape="1">
              <a:blip r:embed="rId17">
                <a:alphaModFix/>
              </a:blip>
              <a:srcRect b="0" l="0" r="0" t="0"/>
              <a:stretch/>
            </p:blipFill>
            <p:spPr>
              <a:xfrm>
                <a:off x="7896825" y="3355697"/>
                <a:ext cx="189578" cy="337027"/>
              </a:xfrm>
              <a:prstGeom prst="rect">
                <a:avLst/>
              </a:prstGeom>
              <a:noFill/>
              <a:ln>
                <a:noFill/>
              </a:ln>
            </p:spPr>
          </p:pic>
          <p:pic>
            <p:nvPicPr>
              <p:cNvPr descr="antenna_stylized" id="1036" name="Google Shape;1036;p42"/>
              <p:cNvPicPr preferRelativeResize="0"/>
              <p:nvPr/>
            </p:nvPicPr>
            <p:blipFill rotWithShape="1">
              <a:blip r:embed="rId13">
                <a:alphaModFix/>
              </a:blip>
              <a:srcRect b="0" l="0" r="0" t="0"/>
              <a:stretch/>
            </p:blipFill>
            <p:spPr>
              <a:xfrm>
                <a:off x="7797061" y="3296104"/>
                <a:ext cx="347997" cy="167557"/>
              </a:xfrm>
              <a:prstGeom prst="rect">
                <a:avLst/>
              </a:prstGeom>
              <a:noFill/>
              <a:ln>
                <a:noFill/>
              </a:ln>
            </p:spPr>
          </p:pic>
        </p:grpSp>
      </p:grpSp>
      <p:grpSp>
        <p:nvGrpSpPr>
          <p:cNvPr id="1037" name="Google Shape;1037;p42"/>
          <p:cNvGrpSpPr/>
          <p:nvPr/>
        </p:nvGrpSpPr>
        <p:grpSpPr>
          <a:xfrm>
            <a:off x="1248166" y="4803761"/>
            <a:ext cx="2692126" cy="1264656"/>
            <a:chOff x="7767607" y="4870841"/>
            <a:chExt cx="2692126" cy="1264656"/>
          </a:xfrm>
        </p:grpSpPr>
        <p:grpSp>
          <p:nvGrpSpPr>
            <p:cNvPr id="1038" name="Google Shape;1038;p42"/>
            <p:cNvGrpSpPr/>
            <p:nvPr/>
          </p:nvGrpSpPr>
          <p:grpSpPr>
            <a:xfrm>
              <a:off x="10282541" y="5244631"/>
              <a:ext cx="177192" cy="330833"/>
              <a:chOff x="4140" y="429"/>
              <a:chExt cx="1425" cy="2396"/>
            </a:xfrm>
          </p:grpSpPr>
          <p:sp>
            <p:nvSpPr>
              <p:cNvPr id="1039" name="Google Shape;1039;p4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40" name="Google Shape;1040;p4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41" name="Google Shape;1041;p4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42" name="Google Shape;1042;p4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43" name="Google Shape;1043;p4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044" name="Google Shape;1044;p42"/>
              <p:cNvGrpSpPr/>
              <p:nvPr/>
            </p:nvGrpSpPr>
            <p:grpSpPr>
              <a:xfrm>
                <a:off x="4748" y="666"/>
                <a:ext cx="578" cy="150"/>
                <a:chOff x="613" y="2566"/>
                <a:chExt cx="721" cy="144"/>
              </a:xfrm>
            </p:grpSpPr>
            <p:sp>
              <p:nvSpPr>
                <p:cNvPr id="1045" name="Google Shape;1045;p4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46" name="Google Shape;1046;p4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047" name="Google Shape;1047;p4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048" name="Google Shape;1048;p42"/>
              <p:cNvGrpSpPr/>
              <p:nvPr/>
            </p:nvGrpSpPr>
            <p:grpSpPr>
              <a:xfrm>
                <a:off x="4748" y="990"/>
                <a:ext cx="578" cy="134"/>
                <a:chOff x="615" y="2564"/>
                <a:chExt cx="721" cy="139"/>
              </a:xfrm>
            </p:grpSpPr>
            <p:sp>
              <p:nvSpPr>
                <p:cNvPr id="1049" name="Google Shape;1049;p4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50" name="Google Shape;1050;p4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051" name="Google Shape;1051;p4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52" name="Google Shape;1052;p4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053" name="Google Shape;1053;p42"/>
              <p:cNvGrpSpPr/>
              <p:nvPr/>
            </p:nvGrpSpPr>
            <p:grpSpPr>
              <a:xfrm>
                <a:off x="4738" y="1647"/>
                <a:ext cx="578" cy="135"/>
                <a:chOff x="618" y="2586"/>
                <a:chExt cx="720" cy="124"/>
              </a:xfrm>
            </p:grpSpPr>
            <p:sp>
              <p:nvSpPr>
                <p:cNvPr id="1054" name="Google Shape;1054;p4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55" name="Google Shape;1055;p4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056" name="Google Shape;1056;p4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057" name="Google Shape;1057;p42"/>
              <p:cNvGrpSpPr/>
              <p:nvPr/>
            </p:nvGrpSpPr>
            <p:grpSpPr>
              <a:xfrm>
                <a:off x="4738" y="1330"/>
                <a:ext cx="588" cy="134"/>
                <a:chOff x="613" y="2571"/>
                <a:chExt cx="732" cy="134"/>
              </a:xfrm>
            </p:grpSpPr>
            <p:sp>
              <p:nvSpPr>
                <p:cNvPr id="1058" name="Google Shape;1058;p4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59" name="Google Shape;1059;p4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060" name="Google Shape;1060;p4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61" name="Google Shape;1061;p4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62" name="Google Shape;1062;p4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63" name="Google Shape;1063;p4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64" name="Google Shape;1064;p4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65" name="Google Shape;1065;p4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66" name="Google Shape;1066;p4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67" name="Google Shape;1067;p4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68" name="Google Shape;1068;p4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1069" name="Google Shape;1069;p4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070" name="Google Shape;1070;p4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1071" name="Google Shape;1071;p42"/>
            <p:cNvGrpSpPr/>
            <p:nvPr/>
          </p:nvGrpSpPr>
          <p:grpSpPr>
            <a:xfrm>
              <a:off x="7767607" y="4870841"/>
              <a:ext cx="2080029" cy="1264656"/>
              <a:chOff x="7767607" y="4870841"/>
              <a:chExt cx="2080029" cy="1264656"/>
            </a:xfrm>
          </p:grpSpPr>
          <p:grpSp>
            <p:nvGrpSpPr>
              <p:cNvPr id="1072" name="Google Shape;1072;p42"/>
              <p:cNvGrpSpPr/>
              <p:nvPr/>
            </p:nvGrpSpPr>
            <p:grpSpPr>
              <a:xfrm flipH="1">
                <a:off x="7974481" y="4870841"/>
                <a:ext cx="345630" cy="320302"/>
                <a:chOff x="2839" y="3501"/>
                <a:chExt cx="755" cy="803"/>
              </a:xfrm>
            </p:grpSpPr>
            <p:pic>
              <p:nvPicPr>
                <p:cNvPr descr="desktop_computer_stylized_medium" id="1073" name="Google Shape;1073;p42"/>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1074" name="Google Shape;1074;p4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075" name="Google Shape;1075;p42"/>
              <p:cNvGrpSpPr/>
              <p:nvPr/>
            </p:nvGrpSpPr>
            <p:grpSpPr>
              <a:xfrm>
                <a:off x="9195307" y="5823489"/>
                <a:ext cx="310186" cy="312008"/>
                <a:chOff x="877" y="1008"/>
                <a:chExt cx="2747" cy="2626"/>
              </a:xfrm>
            </p:grpSpPr>
            <p:pic>
              <p:nvPicPr>
                <p:cNvPr descr="antenna_stylized" id="1076" name="Google Shape;1076;p42"/>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1077" name="Google Shape;1077;p42"/>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1078" name="Google Shape;1078;p42"/>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1079" name="Google Shape;1079;p42"/>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1080" name="Google Shape;1080;p42"/>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81" name="Google Shape;1081;p42"/>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82" name="Google Shape;1082;p42"/>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83" name="Google Shape;1083;p42"/>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84" name="Google Shape;1084;p42"/>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85" name="Google Shape;1085;p42"/>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086" name="Google Shape;1086;p42"/>
                <p:cNvGrpSpPr/>
                <p:nvPr/>
              </p:nvGrpSpPr>
              <p:grpSpPr>
                <a:xfrm>
                  <a:off x="1709" y="3008"/>
                  <a:ext cx="507" cy="234"/>
                  <a:chOff x="1740" y="2642"/>
                  <a:chExt cx="752" cy="327"/>
                </a:xfrm>
              </p:grpSpPr>
              <p:sp>
                <p:nvSpPr>
                  <p:cNvPr id="1087" name="Google Shape;1087;p42"/>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88" name="Google Shape;1088;p42"/>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89" name="Google Shape;1089;p42"/>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90" name="Google Shape;1090;p42"/>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91" name="Google Shape;1091;p42"/>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92" name="Google Shape;1092;p42"/>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093" name="Google Shape;1093;p42"/>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94" name="Google Shape;1094;p42"/>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95" name="Google Shape;1095;p42"/>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96" name="Google Shape;1096;p42"/>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97" name="Google Shape;1097;p42"/>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98" name="Google Shape;1098;p42"/>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099" name="Google Shape;1099;p42"/>
              <p:cNvGrpSpPr/>
              <p:nvPr/>
            </p:nvGrpSpPr>
            <p:grpSpPr>
              <a:xfrm flipH="1">
                <a:off x="7767607" y="5251740"/>
                <a:ext cx="345630" cy="320302"/>
                <a:chOff x="2839" y="3501"/>
                <a:chExt cx="755" cy="803"/>
              </a:xfrm>
            </p:grpSpPr>
            <p:pic>
              <p:nvPicPr>
                <p:cNvPr descr="desktop_computer_stylized_medium" id="1100" name="Google Shape;1100;p42"/>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1101" name="Google Shape;1101;p4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02" name="Google Shape;1102;p42"/>
              <p:cNvGrpSpPr/>
              <p:nvPr/>
            </p:nvGrpSpPr>
            <p:grpSpPr>
              <a:xfrm flipH="1">
                <a:off x="8147535" y="5475337"/>
                <a:ext cx="345630" cy="320302"/>
                <a:chOff x="2839" y="3501"/>
                <a:chExt cx="755" cy="803"/>
              </a:xfrm>
            </p:grpSpPr>
            <p:pic>
              <p:nvPicPr>
                <p:cNvPr descr="desktop_computer_stylized_medium" id="1103" name="Google Shape;1103;p42"/>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1104" name="Google Shape;1104;p4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05" name="Google Shape;1105;p42"/>
              <p:cNvGrpSpPr/>
              <p:nvPr/>
            </p:nvGrpSpPr>
            <p:grpSpPr>
              <a:xfrm flipH="1">
                <a:off x="8545760" y="5496810"/>
                <a:ext cx="345630" cy="320302"/>
                <a:chOff x="2839" y="3501"/>
                <a:chExt cx="755" cy="803"/>
              </a:xfrm>
            </p:grpSpPr>
            <p:pic>
              <p:nvPicPr>
                <p:cNvPr descr="desktop_computer_stylized_medium" id="1106" name="Google Shape;1106;p42"/>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1107" name="Google Shape;1107;p4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08" name="Google Shape;1108;p42"/>
              <p:cNvGrpSpPr/>
              <p:nvPr/>
            </p:nvGrpSpPr>
            <p:grpSpPr>
              <a:xfrm>
                <a:off x="9528372" y="5765818"/>
                <a:ext cx="319264" cy="256836"/>
                <a:chOff x="877" y="1008"/>
                <a:chExt cx="2747" cy="2626"/>
              </a:xfrm>
            </p:grpSpPr>
            <p:pic>
              <p:nvPicPr>
                <p:cNvPr descr="antenna_stylized" id="1109" name="Google Shape;1109;p42"/>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1110" name="Google Shape;1110;p42"/>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1111" name="Google Shape;1111;p42"/>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1112" name="Google Shape;1112;p42"/>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1113" name="Google Shape;1113;p42"/>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4" name="Google Shape;1114;p42"/>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5" name="Google Shape;1115;p42"/>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6" name="Google Shape;1116;p42"/>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7" name="Google Shape;1117;p42"/>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8" name="Google Shape;1118;p42"/>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119" name="Google Shape;1119;p42"/>
                <p:cNvGrpSpPr/>
                <p:nvPr/>
              </p:nvGrpSpPr>
              <p:grpSpPr>
                <a:xfrm>
                  <a:off x="1709" y="3008"/>
                  <a:ext cx="507" cy="234"/>
                  <a:chOff x="1740" y="2642"/>
                  <a:chExt cx="752" cy="327"/>
                </a:xfrm>
              </p:grpSpPr>
              <p:sp>
                <p:nvSpPr>
                  <p:cNvPr id="1120" name="Google Shape;1120;p42"/>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21" name="Google Shape;1121;p42"/>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22" name="Google Shape;1122;p42"/>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23" name="Google Shape;1123;p42"/>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24" name="Google Shape;1124;p42"/>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25" name="Google Shape;1125;p42"/>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126" name="Google Shape;1126;p42"/>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27" name="Google Shape;1127;p42"/>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28" name="Google Shape;1128;p42"/>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29" name="Google Shape;1129;p42"/>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30" name="Google Shape;1130;p42"/>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31" name="Google Shape;1131;p42"/>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grpSp>
          <p:nvGrpSpPr>
            <p:cNvPr id="1132" name="Google Shape;1132;p42"/>
            <p:cNvGrpSpPr/>
            <p:nvPr/>
          </p:nvGrpSpPr>
          <p:grpSpPr>
            <a:xfrm>
              <a:off x="10011503" y="5607068"/>
              <a:ext cx="171450" cy="348944"/>
              <a:chOff x="4140" y="429"/>
              <a:chExt cx="1425" cy="2396"/>
            </a:xfrm>
          </p:grpSpPr>
          <p:sp>
            <p:nvSpPr>
              <p:cNvPr id="1133" name="Google Shape;1133;p4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34" name="Google Shape;1134;p4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35" name="Google Shape;1135;p4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36" name="Google Shape;1136;p4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37" name="Google Shape;1137;p4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138" name="Google Shape;1138;p42"/>
              <p:cNvGrpSpPr/>
              <p:nvPr/>
            </p:nvGrpSpPr>
            <p:grpSpPr>
              <a:xfrm>
                <a:off x="4748" y="666"/>
                <a:ext cx="578" cy="150"/>
                <a:chOff x="613" y="2566"/>
                <a:chExt cx="721" cy="144"/>
              </a:xfrm>
            </p:grpSpPr>
            <p:sp>
              <p:nvSpPr>
                <p:cNvPr id="1139" name="Google Shape;1139;p4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40" name="Google Shape;1140;p4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141" name="Google Shape;1141;p4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142" name="Google Shape;1142;p42"/>
              <p:cNvGrpSpPr/>
              <p:nvPr/>
            </p:nvGrpSpPr>
            <p:grpSpPr>
              <a:xfrm>
                <a:off x="4748" y="990"/>
                <a:ext cx="578" cy="134"/>
                <a:chOff x="615" y="2564"/>
                <a:chExt cx="721" cy="139"/>
              </a:xfrm>
            </p:grpSpPr>
            <p:sp>
              <p:nvSpPr>
                <p:cNvPr id="1143" name="Google Shape;1143;p4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44" name="Google Shape;1144;p4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145" name="Google Shape;1145;p4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46" name="Google Shape;1146;p4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147" name="Google Shape;1147;p42"/>
              <p:cNvGrpSpPr/>
              <p:nvPr/>
            </p:nvGrpSpPr>
            <p:grpSpPr>
              <a:xfrm>
                <a:off x="4738" y="1647"/>
                <a:ext cx="578" cy="135"/>
                <a:chOff x="618" y="2586"/>
                <a:chExt cx="720" cy="124"/>
              </a:xfrm>
            </p:grpSpPr>
            <p:sp>
              <p:nvSpPr>
                <p:cNvPr id="1148" name="Google Shape;1148;p4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49" name="Google Shape;1149;p4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150" name="Google Shape;1150;p4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151" name="Google Shape;1151;p42"/>
              <p:cNvGrpSpPr/>
              <p:nvPr/>
            </p:nvGrpSpPr>
            <p:grpSpPr>
              <a:xfrm>
                <a:off x="4738" y="1330"/>
                <a:ext cx="588" cy="134"/>
                <a:chOff x="613" y="2571"/>
                <a:chExt cx="732" cy="134"/>
              </a:xfrm>
            </p:grpSpPr>
            <p:sp>
              <p:nvSpPr>
                <p:cNvPr id="1152" name="Google Shape;1152;p4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53" name="Google Shape;1153;p4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154" name="Google Shape;1154;p4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55" name="Google Shape;1155;p4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6" name="Google Shape;1156;p4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7" name="Google Shape;1157;p4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58" name="Google Shape;1158;p4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9" name="Google Shape;1159;p4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60" name="Google Shape;1160;p4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61" name="Google Shape;1161;p4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62" name="Google Shape;1162;p4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1163" name="Google Shape;1163;p4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164" name="Google Shape;1164;p4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cxnSp>
        <p:nvCxnSpPr>
          <p:cNvPr id="1165" name="Google Shape;1165;p42"/>
          <p:cNvCxnSpPr/>
          <p:nvPr/>
        </p:nvCxnSpPr>
        <p:spPr>
          <a:xfrm>
            <a:off x="1707047" y="2571772"/>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1166" name="Google Shape;1166;p42"/>
          <p:cNvGrpSpPr/>
          <p:nvPr/>
        </p:nvGrpSpPr>
        <p:grpSpPr>
          <a:xfrm>
            <a:off x="1549885" y="2180789"/>
            <a:ext cx="298450" cy="464008"/>
            <a:chOff x="3130" y="3288"/>
            <a:chExt cx="410" cy="742"/>
          </a:xfrm>
        </p:grpSpPr>
        <p:cxnSp>
          <p:nvCxnSpPr>
            <p:cNvPr id="1167" name="Google Shape;1167;p42"/>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1168" name="Google Shape;1168;p42"/>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1169" name="Google Shape;1169;p42"/>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170" name="Google Shape;1170;p42"/>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171" name="Google Shape;1171;p42"/>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1172" name="Google Shape;1172;p42"/>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1173" name="Google Shape;1173;p42"/>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1174" name="Google Shape;1174;p42"/>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1175" name="Google Shape;1175;p42"/>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1176" name="Google Shape;1176;p42"/>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1177" name="Google Shape;1177;p42"/>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1178" name="Google Shape;1178;p42"/>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1179" name="Google Shape;1179;p42"/>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1180" name="Google Shape;1180;p42"/>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1181" name="Google Shape;1181;p42"/>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pic>
        <p:nvPicPr>
          <p:cNvPr descr="access_point_stylized_small" id="1182" name="Google Shape;1182;p42"/>
          <p:cNvPicPr preferRelativeResize="0"/>
          <p:nvPr/>
        </p:nvPicPr>
        <p:blipFill rotWithShape="1">
          <a:blip r:embed="rId22">
            <a:alphaModFix/>
          </a:blip>
          <a:srcRect b="0" l="0" r="0" t="0"/>
          <a:stretch/>
        </p:blipFill>
        <p:spPr>
          <a:xfrm>
            <a:off x="1113069" y="3733312"/>
            <a:ext cx="370169" cy="306751"/>
          </a:xfrm>
          <a:prstGeom prst="rect">
            <a:avLst/>
          </a:prstGeom>
          <a:noFill/>
          <a:ln>
            <a:noFill/>
          </a:ln>
        </p:spPr>
      </p:pic>
      <p:pic>
        <p:nvPicPr>
          <p:cNvPr descr="access_point_stylized_small" id="1183" name="Google Shape;1183;p42"/>
          <p:cNvPicPr preferRelativeResize="0"/>
          <p:nvPr/>
        </p:nvPicPr>
        <p:blipFill rotWithShape="1">
          <a:blip r:embed="rId22">
            <a:alphaModFix/>
          </a:blip>
          <a:srcRect b="0" l="0" r="0" t="0"/>
          <a:stretch/>
        </p:blipFill>
        <p:spPr>
          <a:xfrm>
            <a:off x="2789797" y="5395645"/>
            <a:ext cx="380935" cy="317464"/>
          </a:xfrm>
          <a:prstGeom prst="rect">
            <a:avLst/>
          </a:prstGeom>
          <a:noFill/>
          <a:ln>
            <a:noFill/>
          </a:ln>
        </p:spPr>
      </p:pic>
      <p:grpSp>
        <p:nvGrpSpPr>
          <p:cNvPr id="1184" name="Google Shape;1184;p42"/>
          <p:cNvGrpSpPr/>
          <p:nvPr/>
        </p:nvGrpSpPr>
        <p:grpSpPr>
          <a:xfrm>
            <a:off x="3282745" y="4861396"/>
            <a:ext cx="393760" cy="218578"/>
            <a:chOff x="7493876" y="2774731"/>
            <a:chExt cx="1481958" cy="894622"/>
          </a:xfrm>
        </p:grpSpPr>
        <p:sp>
          <p:nvSpPr>
            <p:cNvPr id="1185" name="Google Shape;1185;p4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186" name="Google Shape;1186;p4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187" name="Google Shape;1187;p42"/>
            <p:cNvGrpSpPr/>
            <p:nvPr/>
          </p:nvGrpSpPr>
          <p:grpSpPr>
            <a:xfrm>
              <a:off x="7713663" y="2848339"/>
              <a:ext cx="1042107" cy="425543"/>
              <a:chOff x="7786941" y="2884917"/>
              <a:chExt cx="897649" cy="353919"/>
            </a:xfrm>
          </p:grpSpPr>
          <p:sp>
            <p:nvSpPr>
              <p:cNvPr id="1188" name="Google Shape;1188;p4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89" name="Google Shape;1189;p4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90" name="Google Shape;1190;p4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91" name="Google Shape;1191;p4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192" name="Google Shape;1192;p42"/>
          <p:cNvGrpSpPr/>
          <p:nvPr/>
        </p:nvGrpSpPr>
        <p:grpSpPr>
          <a:xfrm>
            <a:off x="3348552" y="5210450"/>
            <a:ext cx="309740" cy="190838"/>
            <a:chOff x="3668110" y="2448910"/>
            <a:chExt cx="3794234" cy="2165130"/>
          </a:xfrm>
        </p:grpSpPr>
        <p:sp>
          <p:nvSpPr>
            <p:cNvPr id="1193" name="Google Shape;1193;p42"/>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94" name="Google Shape;1194;p42"/>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195" name="Google Shape;1195;p42"/>
            <p:cNvGrpSpPr/>
            <p:nvPr/>
          </p:nvGrpSpPr>
          <p:grpSpPr>
            <a:xfrm>
              <a:off x="3941378" y="2603243"/>
              <a:ext cx="3202061" cy="1066110"/>
              <a:chOff x="7939341" y="3037317"/>
              <a:chExt cx="897649" cy="353919"/>
            </a:xfrm>
          </p:grpSpPr>
          <p:sp>
            <p:nvSpPr>
              <p:cNvPr id="1196" name="Google Shape;1196;p42"/>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97" name="Google Shape;1197;p42"/>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98" name="Google Shape;1198;p42"/>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99" name="Google Shape;1199;p42"/>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200" name="Google Shape;1200;p42"/>
          <p:cNvGrpSpPr/>
          <p:nvPr/>
        </p:nvGrpSpPr>
        <p:grpSpPr>
          <a:xfrm>
            <a:off x="2175806" y="4838833"/>
            <a:ext cx="393760" cy="218578"/>
            <a:chOff x="7493876" y="2774731"/>
            <a:chExt cx="1481958" cy="894622"/>
          </a:xfrm>
        </p:grpSpPr>
        <p:sp>
          <p:nvSpPr>
            <p:cNvPr id="1201" name="Google Shape;1201;p4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202" name="Google Shape;1202;p4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203" name="Google Shape;1203;p42"/>
            <p:cNvGrpSpPr/>
            <p:nvPr/>
          </p:nvGrpSpPr>
          <p:grpSpPr>
            <a:xfrm>
              <a:off x="7713663" y="2848339"/>
              <a:ext cx="1042107" cy="425543"/>
              <a:chOff x="7786941" y="2884917"/>
              <a:chExt cx="897649" cy="353919"/>
            </a:xfrm>
          </p:grpSpPr>
          <p:sp>
            <p:nvSpPr>
              <p:cNvPr id="1204" name="Google Shape;1204;p4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05" name="Google Shape;1205;p4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06" name="Google Shape;1206;p4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07" name="Google Shape;1207;p4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208" name="Google Shape;1208;p42"/>
          <p:cNvGrpSpPr/>
          <p:nvPr/>
        </p:nvGrpSpPr>
        <p:grpSpPr>
          <a:xfrm>
            <a:off x="1810707" y="5065846"/>
            <a:ext cx="309740" cy="190838"/>
            <a:chOff x="3668110" y="2448910"/>
            <a:chExt cx="3794234" cy="2165130"/>
          </a:xfrm>
        </p:grpSpPr>
        <p:sp>
          <p:nvSpPr>
            <p:cNvPr id="1209" name="Google Shape;1209;p42"/>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10" name="Google Shape;1210;p42"/>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211" name="Google Shape;1211;p42"/>
            <p:cNvGrpSpPr/>
            <p:nvPr/>
          </p:nvGrpSpPr>
          <p:grpSpPr>
            <a:xfrm>
              <a:off x="3941378" y="2603243"/>
              <a:ext cx="3202061" cy="1066110"/>
              <a:chOff x="7939341" y="3037317"/>
              <a:chExt cx="897649" cy="353919"/>
            </a:xfrm>
          </p:grpSpPr>
          <p:sp>
            <p:nvSpPr>
              <p:cNvPr id="1212" name="Google Shape;1212;p42"/>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13" name="Google Shape;1213;p42"/>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14" name="Google Shape;1214;p42"/>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15" name="Google Shape;1215;p42"/>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216" name="Google Shape;1216;p42"/>
          <p:cNvGrpSpPr/>
          <p:nvPr/>
        </p:nvGrpSpPr>
        <p:grpSpPr>
          <a:xfrm>
            <a:off x="1939014" y="2683722"/>
            <a:ext cx="353678" cy="168275"/>
            <a:chOff x="7493876" y="2774731"/>
            <a:chExt cx="1481958" cy="894622"/>
          </a:xfrm>
        </p:grpSpPr>
        <p:sp>
          <p:nvSpPr>
            <p:cNvPr id="1217" name="Google Shape;1217;p4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218" name="Google Shape;1218;p4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219" name="Google Shape;1219;p42"/>
            <p:cNvGrpSpPr/>
            <p:nvPr/>
          </p:nvGrpSpPr>
          <p:grpSpPr>
            <a:xfrm>
              <a:off x="7713663" y="2848339"/>
              <a:ext cx="1042107" cy="425543"/>
              <a:chOff x="7786941" y="2884917"/>
              <a:chExt cx="897649" cy="353919"/>
            </a:xfrm>
          </p:grpSpPr>
          <p:sp>
            <p:nvSpPr>
              <p:cNvPr id="1220" name="Google Shape;1220;p4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21" name="Google Shape;1221;p4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22" name="Google Shape;1222;p4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23" name="Google Shape;1223;p4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224" name="Google Shape;1224;p42"/>
          <p:cNvGrpSpPr/>
          <p:nvPr/>
        </p:nvGrpSpPr>
        <p:grpSpPr>
          <a:xfrm>
            <a:off x="1549257" y="3837407"/>
            <a:ext cx="354986" cy="175668"/>
            <a:chOff x="7493876" y="2774731"/>
            <a:chExt cx="1481958" cy="894622"/>
          </a:xfrm>
        </p:grpSpPr>
        <p:sp>
          <p:nvSpPr>
            <p:cNvPr id="1225" name="Google Shape;1225;p4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226" name="Google Shape;1226;p4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227" name="Google Shape;1227;p42"/>
            <p:cNvGrpSpPr/>
            <p:nvPr/>
          </p:nvGrpSpPr>
          <p:grpSpPr>
            <a:xfrm>
              <a:off x="7713663" y="2848339"/>
              <a:ext cx="1042107" cy="425543"/>
              <a:chOff x="7786941" y="2884917"/>
              <a:chExt cx="897649" cy="353919"/>
            </a:xfrm>
          </p:grpSpPr>
          <p:sp>
            <p:nvSpPr>
              <p:cNvPr id="1228" name="Google Shape;1228;p4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29" name="Google Shape;1229;p4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30" name="Google Shape;1230;p4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31" name="Google Shape;1231;p4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232" name="Google Shape;1232;p42"/>
          <p:cNvGrpSpPr/>
          <p:nvPr/>
        </p:nvGrpSpPr>
        <p:grpSpPr>
          <a:xfrm>
            <a:off x="1908175" y="2490657"/>
            <a:ext cx="2112189" cy="2199738"/>
            <a:chOff x="1908175" y="2490657"/>
            <a:chExt cx="2112189" cy="2199738"/>
          </a:xfrm>
        </p:grpSpPr>
        <p:sp>
          <p:nvSpPr>
            <p:cNvPr id="1233" name="Google Shape;1233;p42"/>
            <p:cNvSpPr/>
            <p:nvPr/>
          </p:nvSpPr>
          <p:spPr>
            <a:xfrm>
              <a:off x="2484375" y="2937191"/>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34" name="Google Shape;1234;p42"/>
            <p:cNvSpPr/>
            <p:nvPr/>
          </p:nvSpPr>
          <p:spPr>
            <a:xfrm>
              <a:off x="2778255" y="3549321"/>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35" name="Google Shape;1235;p42"/>
            <p:cNvSpPr txBox="1"/>
            <p:nvPr/>
          </p:nvSpPr>
          <p:spPr>
            <a:xfrm>
              <a:off x="2728914" y="2490657"/>
              <a:ext cx="1291450"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local, regional or national  ISP</a:t>
              </a:r>
              <a:endParaRPr/>
            </a:p>
          </p:txBody>
        </p:sp>
        <p:cxnSp>
          <p:nvCxnSpPr>
            <p:cNvPr id="1236" name="Google Shape;1236;p42"/>
            <p:cNvCxnSpPr/>
            <p:nvPr/>
          </p:nvCxnSpPr>
          <p:spPr>
            <a:xfrm rot="10800000">
              <a:off x="2718803" y="3959155"/>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237" name="Google Shape;1237;p42"/>
            <p:cNvCxnSpPr>
              <a:stCxn id="1238" idx="4"/>
            </p:cNvCxnSpPr>
            <p:nvPr/>
          </p:nvCxnSpPr>
          <p:spPr>
            <a:xfrm flipH="1">
              <a:off x="2776013" y="3206695"/>
              <a:ext cx="418200" cy="689400"/>
            </a:xfrm>
            <a:prstGeom prst="straightConnector1">
              <a:avLst/>
            </a:prstGeom>
            <a:noFill/>
            <a:ln cap="flat" cmpd="sng" w="9525">
              <a:solidFill>
                <a:schemeClr val="dk1"/>
              </a:solidFill>
              <a:prstDash val="solid"/>
              <a:miter lim="800000"/>
              <a:headEnd len="sm" w="sm" type="none"/>
              <a:tailEnd len="sm" w="sm" type="none"/>
            </a:ln>
          </p:spPr>
        </p:cxnSp>
        <p:cxnSp>
          <p:nvCxnSpPr>
            <p:cNvPr id="1239" name="Google Shape;1239;p42"/>
            <p:cNvCxnSpPr>
              <a:stCxn id="1240" idx="6"/>
            </p:cNvCxnSpPr>
            <p:nvPr/>
          </p:nvCxnSpPr>
          <p:spPr>
            <a:xfrm flipH="1">
              <a:off x="3232192" y="3153743"/>
              <a:ext cx="1200" cy="765600"/>
            </a:xfrm>
            <a:prstGeom prst="straightConnector1">
              <a:avLst/>
            </a:prstGeom>
            <a:noFill/>
            <a:ln cap="flat" cmpd="sng" w="9525">
              <a:solidFill>
                <a:schemeClr val="dk1"/>
              </a:solidFill>
              <a:prstDash val="solid"/>
              <a:miter lim="800000"/>
              <a:headEnd len="sm" w="sm" type="none"/>
              <a:tailEnd len="sm" w="sm" type="none"/>
            </a:ln>
          </p:spPr>
        </p:cxnSp>
        <p:cxnSp>
          <p:nvCxnSpPr>
            <p:cNvPr id="1241" name="Google Shape;1241;p42"/>
            <p:cNvCxnSpPr>
              <a:stCxn id="1238" idx="4"/>
            </p:cNvCxnSpPr>
            <p:nvPr/>
          </p:nvCxnSpPr>
          <p:spPr>
            <a:xfrm rot="10800000">
              <a:off x="2268413" y="2746495"/>
              <a:ext cx="925800" cy="460200"/>
            </a:xfrm>
            <a:prstGeom prst="straightConnector1">
              <a:avLst/>
            </a:prstGeom>
            <a:noFill/>
            <a:ln cap="flat" cmpd="sng" w="12700">
              <a:solidFill>
                <a:schemeClr val="dk1"/>
              </a:solidFill>
              <a:prstDash val="solid"/>
              <a:miter lim="800000"/>
              <a:headEnd len="sm" w="sm" type="none"/>
              <a:tailEnd len="sm" w="sm" type="none"/>
            </a:ln>
          </p:spPr>
        </p:cxnSp>
        <p:cxnSp>
          <p:nvCxnSpPr>
            <p:cNvPr id="1242" name="Google Shape;1242;p42"/>
            <p:cNvCxnSpPr/>
            <p:nvPr/>
          </p:nvCxnSpPr>
          <p:spPr>
            <a:xfrm flipH="1" rot="10800000">
              <a:off x="2877892" y="398479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1243" name="Google Shape;1243;p42"/>
            <p:cNvCxnSpPr/>
            <p:nvPr/>
          </p:nvCxnSpPr>
          <p:spPr>
            <a:xfrm flipH="1" rot="10800000">
              <a:off x="1908175" y="3918869"/>
              <a:ext cx="804617" cy="2256"/>
            </a:xfrm>
            <a:prstGeom prst="straightConnector1">
              <a:avLst/>
            </a:prstGeom>
            <a:noFill/>
            <a:ln cap="flat" cmpd="sng" w="9525">
              <a:solidFill>
                <a:schemeClr val="dk1"/>
              </a:solidFill>
              <a:prstDash val="solid"/>
              <a:round/>
              <a:headEnd len="med" w="med" type="none"/>
              <a:tailEnd len="med" w="med" type="none"/>
            </a:ln>
          </p:spPr>
        </p:cxnSp>
        <p:grpSp>
          <p:nvGrpSpPr>
            <p:cNvPr id="1244" name="Google Shape;1244;p42"/>
            <p:cNvGrpSpPr/>
            <p:nvPr/>
          </p:nvGrpSpPr>
          <p:grpSpPr>
            <a:xfrm>
              <a:off x="2597975" y="3828037"/>
              <a:ext cx="367224" cy="240304"/>
              <a:chOff x="7493876" y="2774731"/>
              <a:chExt cx="1481958" cy="894622"/>
            </a:xfrm>
          </p:grpSpPr>
          <p:sp>
            <p:nvSpPr>
              <p:cNvPr id="1245" name="Google Shape;1245;p4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246" name="Google Shape;1246;p4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247" name="Google Shape;1247;p42"/>
              <p:cNvGrpSpPr/>
              <p:nvPr/>
            </p:nvGrpSpPr>
            <p:grpSpPr>
              <a:xfrm>
                <a:off x="7713663" y="2848339"/>
                <a:ext cx="1042107" cy="425543"/>
                <a:chOff x="7786941" y="2884917"/>
                <a:chExt cx="897649" cy="353919"/>
              </a:xfrm>
            </p:grpSpPr>
            <p:sp>
              <p:nvSpPr>
                <p:cNvPr id="1248" name="Google Shape;1248;p4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49" name="Google Shape;1249;p4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50" name="Google Shape;1250;p4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51" name="Google Shape;1251;p4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252" name="Google Shape;1252;p42"/>
            <p:cNvGrpSpPr/>
            <p:nvPr/>
          </p:nvGrpSpPr>
          <p:grpSpPr>
            <a:xfrm>
              <a:off x="3010612" y="3051132"/>
              <a:ext cx="367224" cy="240304"/>
              <a:chOff x="7493876" y="2774731"/>
              <a:chExt cx="1481958" cy="894622"/>
            </a:xfrm>
          </p:grpSpPr>
          <p:sp>
            <p:nvSpPr>
              <p:cNvPr id="1253" name="Google Shape;1253;p4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238" name="Google Shape;1238;p4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254" name="Google Shape;1254;p42"/>
              <p:cNvGrpSpPr/>
              <p:nvPr/>
            </p:nvGrpSpPr>
            <p:grpSpPr>
              <a:xfrm>
                <a:off x="7713663" y="2848339"/>
                <a:ext cx="1042107" cy="425543"/>
                <a:chOff x="7786941" y="2884917"/>
                <a:chExt cx="897649" cy="353919"/>
              </a:xfrm>
            </p:grpSpPr>
            <p:sp>
              <p:nvSpPr>
                <p:cNvPr id="1255" name="Google Shape;1255;p4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56" name="Google Shape;1256;p4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57" name="Google Shape;1257;p4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40" name="Google Shape;1240;p4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258" name="Google Shape;1258;p42"/>
            <p:cNvGrpSpPr/>
            <p:nvPr/>
          </p:nvGrpSpPr>
          <p:grpSpPr>
            <a:xfrm>
              <a:off x="3100741" y="3871176"/>
              <a:ext cx="367224" cy="240304"/>
              <a:chOff x="7493876" y="2774731"/>
              <a:chExt cx="1481958" cy="894622"/>
            </a:xfrm>
          </p:grpSpPr>
          <p:sp>
            <p:nvSpPr>
              <p:cNvPr id="1259" name="Google Shape;1259;p4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260" name="Google Shape;1260;p4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261" name="Google Shape;1261;p42"/>
              <p:cNvGrpSpPr/>
              <p:nvPr/>
            </p:nvGrpSpPr>
            <p:grpSpPr>
              <a:xfrm>
                <a:off x="7713663" y="2848339"/>
                <a:ext cx="1042107" cy="425543"/>
                <a:chOff x="7786941" y="2884917"/>
                <a:chExt cx="897649" cy="353919"/>
              </a:xfrm>
            </p:grpSpPr>
            <p:sp>
              <p:nvSpPr>
                <p:cNvPr id="1262" name="Google Shape;1262;p4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63" name="Google Shape;1263;p4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64" name="Google Shape;1264;p4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65" name="Google Shape;1265;p4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1266" name="Google Shape;1266;p42"/>
          <p:cNvGrpSpPr/>
          <p:nvPr/>
        </p:nvGrpSpPr>
        <p:grpSpPr>
          <a:xfrm>
            <a:off x="2747080" y="4647099"/>
            <a:ext cx="393760" cy="218578"/>
            <a:chOff x="7493876" y="2774731"/>
            <a:chExt cx="1481958" cy="894622"/>
          </a:xfrm>
        </p:grpSpPr>
        <p:sp>
          <p:nvSpPr>
            <p:cNvPr id="1267" name="Google Shape;1267;p4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268" name="Google Shape;1268;p4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269" name="Google Shape;1269;p42"/>
            <p:cNvGrpSpPr/>
            <p:nvPr/>
          </p:nvGrpSpPr>
          <p:grpSpPr>
            <a:xfrm>
              <a:off x="7713663" y="2848339"/>
              <a:ext cx="1042107" cy="425543"/>
              <a:chOff x="7786941" y="2884917"/>
              <a:chExt cx="897649" cy="353919"/>
            </a:xfrm>
          </p:grpSpPr>
          <p:sp>
            <p:nvSpPr>
              <p:cNvPr id="1270" name="Google Shape;1270;p4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71" name="Google Shape;1271;p4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72" name="Google Shape;1272;p4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73" name="Google Shape;1273;p4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274" name="Google Shape;1274;p42"/>
          <p:cNvGrpSpPr/>
          <p:nvPr/>
        </p:nvGrpSpPr>
        <p:grpSpPr>
          <a:xfrm>
            <a:off x="3447738" y="4092315"/>
            <a:ext cx="7520276" cy="2406466"/>
            <a:chOff x="3342806" y="3627619"/>
            <a:chExt cx="7520276" cy="2406466"/>
          </a:xfrm>
        </p:grpSpPr>
        <p:grpSp>
          <p:nvGrpSpPr>
            <p:cNvPr id="1275" name="Google Shape;1275;p42"/>
            <p:cNvGrpSpPr/>
            <p:nvPr/>
          </p:nvGrpSpPr>
          <p:grpSpPr>
            <a:xfrm>
              <a:off x="7087299" y="4098337"/>
              <a:ext cx="3775783" cy="1935748"/>
              <a:chOff x="7169213" y="3236691"/>
              <a:chExt cx="3775783" cy="1935748"/>
            </a:xfrm>
          </p:grpSpPr>
          <p:grpSp>
            <p:nvGrpSpPr>
              <p:cNvPr id="1276" name="Google Shape;1276;p42"/>
              <p:cNvGrpSpPr/>
              <p:nvPr/>
            </p:nvGrpSpPr>
            <p:grpSpPr>
              <a:xfrm>
                <a:off x="9277204" y="3236691"/>
                <a:ext cx="1667792" cy="1935748"/>
                <a:chOff x="5105255" y="2236566"/>
                <a:chExt cx="1667792" cy="1935748"/>
              </a:xfrm>
            </p:grpSpPr>
            <p:sp>
              <p:nvSpPr>
                <p:cNvPr id="1277" name="Google Shape;1277;p42"/>
                <p:cNvSpPr/>
                <p:nvPr/>
              </p:nvSpPr>
              <p:spPr>
                <a:xfrm>
                  <a:off x="5264383" y="2236566"/>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278" name="Google Shape;1278;p42"/>
                <p:cNvGrpSpPr/>
                <p:nvPr/>
              </p:nvGrpSpPr>
              <p:grpSpPr>
                <a:xfrm>
                  <a:off x="5879937" y="2985076"/>
                  <a:ext cx="687393" cy="721548"/>
                  <a:chOff x="5203089" y="1751190"/>
                  <a:chExt cx="858331" cy="662414"/>
                </a:xfrm>
              </p:grpSpPr>
              <p:sp>
                <p:nvSpPr>
                  <p:cNvPr id="1279" name="Google Shape;1279;p42"/>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80" name="Google Shape;1280;p42"/>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281" name="Google Shape;1281;p42"/>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1282" name="Google Shape;1282;p42"/>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1283" name="Google Shape;1283;p42"/>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1284" name="Google Shape;1284;p42"/>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1285" name="Google Shape;1285;p42"/>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1286" name="Google Shape;1286;p42"/>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1287" name="Google Shape;1287;p42"/>
                <p:cNvGrpSpPr/>
                <p:nvPr/>
              </p:nvGrpSpPr>
              <p:grpSpPr>
                <a:xfrm>
                  <a:off x="5813408" y="2251197"/>
                  <a:ext cx="594613" cy="648336"/>
                  <a:chOff x="5203089" y="1751190"/>
                  <a:chExt cx="858331" cy="662414"/>
                </a:xfrm>
              </p:grpSpPr>
              <p:sp>
                <p:nvSpPr>
                  <p:cNvPr id="1288" name="Google Shape;1288;p42"/>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89" name="Google Shape;1289;p42"/>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290" name="Google Shape;1290;p42"/>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1291" name="Google Shape;1291;p42"/>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1292" name="Google Shape;1292;p42"/>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1293" name="Google Shape;1293;p42"/>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1294" name="Google Shape;1294;p42"/>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1295" name="Google Shape;1295;p42"/>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1296" name="Google Shape;1296;p42"/>
                <p:cNvSpPr txBox="1"/>
                <p:nvPr/>
              </p:nvSpPr>
              <p:spPr>
                <a:xfrm>
                  <a:off x="5960004" y="3734963"/>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a:p>
              </p:txBody>
            </p:sp>
            <p:sp>
              <p:nvSpPr>
                <p:cNvPr id="1297" name="Google Shape;1297;p42"/>
                <p:cNvSpPr txBox="1"/>
                <p:nvPr/>
              </p:nvSpPr>
              <p:spPr>
                <a:xfrm>
                  <a:off x="5105255" y="3285274"/>
                  <a:ext cx="843051" cy="6186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content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provider </a:t>
                  </a:r>
                  <a:endParaRPr/>
                </a:p>
                <a:p>
                  <a:pPr indent="0" lvl="0" marL="0" marR="0" rtl="0" algn="l">
                    <a:lnSpc>
                      <a:spcPct val="90000"/>
                    </a:lnSpc>
                    <a:spcBef>
                      <a:spcPts val="0"/>
                    </a:spcBef>
                    <a:spcAft>
                      <a:spcPts val="0"/>
                    </a:spcAft>
                    <a:buClr>
                      <a:schemeClr val="dk1"/>
                    </a:buClr>
                    <a:buSzPts val="1000"/>
                    <a:buFont typeface="Calibri"/>
                    <a:buNone/>
                  </a:pPr>
                  <a:r>
                    <a:t/>
                  </a:r>
                  <a:endParaRPr b="0" i="0" sz="1000" u="none" cap="none" strike="noStrike">
                    <a:solidFill>
                      <a:srgbClr val="000000"/>
                    </a:solidFill>
                    <a:latin typeface="Calibri"/>
                    <a:ea typeface="Calibri"/>
                    <a:cs typeface="Calibri"/>
                    <a:sym typeface="Calibri"/>
                  </a:endParaRPr>
                </a:p>
              </p:txBody>
            </p:sp>
            <p:cxnSp>
              <p:nvCxnSpPr>
                <p:cNvPr id="1298" name="Google Shape;1298;p42"/>
                <p:cNvCxnSpPr/>
                <p:nvPr/>
              </p:nvCxnSpPr>
              <p:spPr>
                <a:xfrm rot="10800000">
                  <a:off x="5459282" y="2594288"/>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1299" name="Google Shape;1299;p42"/>
                <p:cNvCxnSpPr/>
                <p:nvPr/>
              </p:nvCxnSpPr>
              <p:spPr>
                <a:xfrm rot="10800000">
                  <a:off x="5560197" y="2654847"/>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1300" name="Google Shape;1300;p42"/>
                <p:cNvCxnSpPr/>
                <p:nvPr/>
              </p:nvCxnSpPr>
              <p:spPr>
                <a:xfrm flipH="1" rot="10800000">
                  <a:off x="5536259" y="2647584"/>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1301" name="Google Shape;1301;p42"/>
                <p:cNvCxnSpPr/>
                <p:nvPr/>
              </p:nvCxnSpPr>
              <p:spPr>
                <a:xfrm rot="10800000">
                  <a:off x="5470136" y="2609059"/>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1302" name="Google Shape;1302;p42"/>
                <p:cNvCxnSpPr/>
                <p:nvPr/>
              </p:nvCxnSpPr>
              <p:spPr>
                <a:xfrm rot="10800000">
                  <a:off x="5449982" y="3085805"/>
                  <a:ext cx="508543" cy="348647"/>
                </a:xfrm>
                <a:prstGeom prst="straightConnector1">
                  <a:avLst/>
                </a:prstGeom>
                <a:noFill/>
                <a:ln cap="flat" cmpd="sng" w="9525">
                  <a:solidFill>
                    <a:schemeClr val="dk1"/>
                  </a:solidFill>
                  <a:prstDash val="solid"/>
                  <a:miter lim="800000"/>
                  <a:headEnd len="sm" w="sm" type="none"/>
                  <a:tailEnd len="sm" w="sm" type="none"/>
                </a:ln>
              </p:spPr>
            </p:cxnSp>
            <p:grpSp>
              <p:nvGrpSpPr>
                <p:cNvPr id="1303" name="Google Shape;1303;p42"/>
                <p:cNvGrpSpPr/>
                <p:nvPr/>
              </p:nvGrpSpPr>
              <p:grpSpPr>
                <a:xfrm>
                  <a:off x="5939307" y="2474835"/>
                  <a:ext cx="518448" cy="1212242"/>
                  <a:chOff x="11058573" y="3399165"/>
                  <a:chExt cx="518448" cy="1212242"/>
                </a:xfrm>
              </p:grpSpPr>
              <p:grpSp>
                <p:nvGrpSpPr>
                  <p:cNvPr id="1304" name="Google Shape;1304;p42"/>
                  <p:cNvGrpSpPr/>
                  <p:nvPr/>
                </p:nvGrpSpPr>
                <p:grpSpPr>
                  <a:xfrm>
                    <a:off x="11087182" y="4159591"/>
                    <a:ext cx="489839" cy="451816"/>
                    <a:chOff x="5103720" y="2693365"/>
                    <a:chExt cx="611650" cy="414788"/>
                  </a:xfrm>
                </p:grpSpPr>
                <p:cxnSp>
                  <p:nvCxnSpPr>
                    <p:cNvPr id="1305" name="Google Shape;1305;p42"/>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1306" name="Google Shape;1306;p42"/>
                    <p:cNvGrpSpPr/>
                    <p:nvPr/>
                  </p:nvGrpSpPr>
                  <p:grpSpPr>
                    <a:xfrm>
                      <a:off x="5275406" y="2693365"/>
                      <a:ext cx="439964" cy="414788"/>
                      <a:chOff x="5275406" y="2711455"/>
                      <a:chExt cx="452949" cy="405518"/>
                    </a:xfrm>
                  </p:grpSpPr>
                  <p:pic>
                    <p:nvPicPr>
                      <p:cNvPr descr="server_rack.png" id="1307" name="Google Shape;1307;p42"/>
                      <p:cNvPicPr preferRelativeResize="0"/>
                      <p:nvPr/>
                    </p:nvPicPr>
                    <p:blipFill rotWithShape="1">
                      <a:blip r:embed="rId23">
                        <a:alphaModFix/>
                      </a:blip>
                      <a:srcRect b="0" l="0" r="0" t="0"/>
                      <a:stretch/>
                    </p:blipFill>
                    <p:spPr>
                      <a:xfrm>
                        <a:off x="5537367" y="2770786"/>
                        <a:ext cx="190988" cy="313366"/>
                      </a:xfrm>
                      <a:prstGeom prst="rect">
                        <a:avLst/>
                      </a:prstGeom>
                      <a:noFill/>
                      <a:ln>
                        <a:noFill/>
                      </a:ln>
                    </p:spPr>
                  </p:pic>
                  <p:pic>
                    <p:nvPicPr>
                      <p:cNvPr descr="server_rack.png" id="1308" name="Google Shape;1308;p42"/>
                      <p:cNvPicPr preferRelativeResize="0"/>
                      <p:nvPr/>
                    </p:nvPicPr>
                    <p:blipFill rotWithShape="1">
                      <a:blip r:embed="rId23">
                        <a:alphaModFix/>
                      </a:blip>
                      <a:srcRect b="0" l="0" r="0" t="0"/>
                      <a:stretch/>
                    </p:blipFill>
                    <p:spPr>
                      <a:xfrm>
                        <a:off x="5275406" y="2764002"/>
                        <a:ext cx="190988" cy="313366"/>
                      </a:xfrm>
                      <a:prstGeom prst="rect">
                        <a:avLst/>
                      </a:prstGeom>
                      <a:noFill/>
                      <a:ln>
                        <a:noFill/>
                      </a:ln>
                    </p:spPr>
                  </p:pic>
                  <p:pic>
                    <p:nvPicPr>
                      <p:cNvPr descr="server_rack.png" id="1309" name="Google Shape;1309;p42"/>
                      <p:cNvPicPr preferRelativeResize="0"/>
                      <p:nvPr/>
                    </p:nvPicPr>
                    <p:blipFill rotWithShape="1">
                      <a:blip r:embed="rId23">
                        <a:alphaModFix/>
                      </a:blip>
                      <a:srcRect b="0" l="0" r="0" t="0"/>
                      <a:stretch/>
                    </p:blipFill>
                    <p:spPr>
                      <a:xfrm>
                        <a:off x="5385676" y="2711455"/>
                        <a:ext cx="247152" cy="405518"/>
                      </a:xfrm>
                      <a:prstGeom prst="rect">
                        <a:avLst/>
                      </a:prstGeom>
                      <a:noFill/>
                      <a:ln>
                        <a:noFill/>
                      </a:ln>
                    </p:spPr>
                  </p:pic>
                </p:grpSp>
              </p:grpSp>
              <p:grpSp>
                <p:nvGrpSpPr>
                  <p:cNvPr id="1310" name="Google Shape;1310;p42"/>
                  <p:cNvGrpSpPr/>
                  <p:nvPr/>
                </p:nvGrpSpPr>
                <p:grpSpPr>
                  <a:xfrm>
                    <a:off x="11058573" y="3399165"/>
                    <a:ext cx="423724" cy="405973"/>
                    <a:chOff x="5103720" y="2693365"/>
                    <a:chExt cx="611650" cy="414788"/>
                  </a:xfrm>
                </p:grpSpPr>
                <p:cxnSp>
                  <p:nvCxnSpPr>
                    <p:cNvPr id="1311" name="Google Shape;1311;p42"/>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1312" name="Google Shape;1312;p42"/>
                    <p:cNvGrpSpPr/>
                    <p:nvPr/>
                  </p:nvGrpSpPr>
                  <p:grpSpPr>
                    <a:xfrm>
                      <a:off x="5275406" y="2693365"/>
                      <a:ext cx="439964" cy="414788"/>
                      <a:chOff x="5275406" y="2711455"/>
                      <a:chExt cx="452949" cy="405518"/>
                    </a:xfrm>
                  </p:grpSpPr>
                  <p:pic>
                    <p:nvPicPr>
                      <p:cNvPr descr="server_rack.png" id="1313" name="Google Shape;1313;p42"/>
                      <p:cNvPicPr preferRelativeResize="0"/>
                      <p:nvPr/>
                    </p:nvPicPr>
                    <p:blipFill rotWithShape="1">
                      <a:blip r:embed="rId23">
                        <a:alphaModFix/>
                      </a:blip>
                      <a:srcRect b="0" l="0" r="0" t="0"/>
                      <a:stretch/>
                    </p:blipFill>
                    <p:spPr>
                      <a:xfrm>
                        <a:off x="5537367" y="2770786"/>
                        <a:ext cx="190988" cy="313366"/>
                      </a:xfrm>
                      <a:prstGeom prst="rect">
                        <a:avLst/>
                      </a:prstGeom>
                      <a:noFill/>
                      <a:ln>
                        <a:noFill/>
                      </a:ln>
                    </p:spPr>
                  </p:pic>
                  <p:pic>
                    <p:nvPicPr>
                      <p:cNvPr descr="server_rack.png" id="1314" name="Google Shape;1314;p42"/>
                      <p:cNvPicPr preferRelativeResize="0"/>
                      <p:nvPr/>
                    </p:nvPicPr>
                    <p:blipFill rotWithShape="1">
                      <a:blip r:embed="rId23">
                        <a:alphaModFix/>
                      </a:blip>
                      <a:srcRect b="0" l="0" r="0" t="0"/>
                      <a:stretch/>
                    </p:blipFill>
                    <p:spPr>
                      <a:xfrm>
                        <a:off x="5275406" y="2764002"/>
                        <a:ext cx="190988" cy="313366"/>
                      </a:xfrm>
                      <a:prstGeom prst="rect">
                        <a:avLst/>
                      </a:prstGeom>
                      <a:noFill/>
                      <a:ln>
                        <a:noFill/>
                      </a:ln>
                    </p:spPr>
                  </p:pic>
                  <p:pic>
                    <p:nvPicPr>
                      <p:cNvPr descr="server_rack.png" id="1315" name="Google Shape;1315;p42"/>
                      <p:cNvPicPr preferRelativeResize="0"/>
                      <p:nvPr/>
                    </p:nvPicPr>
                    <p:blipFill rotWithShape="1">
                      <a:blip r:embed="rId23">
                        <a:alphaModFix/>
                      </a:blip>
                      <a:srcRect b="0" l="0" r="0" t="0"/>
                      <a:stretch/>
                    </p:blipFill>
                    <p:spPr>
                      <a:xfrm>
                        <a:off x="5385676" y="2711455"/>
                        <a:ext cx="247152" cy="405518"/>
                      </a:xfrm>
                      <a:prstGeom prst="rect">
                        <a:avLst/>
                      </a:prstGeom>
                      <a:noFill/>
                      <a:ln>
                        <a:noFill/>
                      </a:ln>
                    </p:spPr>
                  </p:pic>
                </p:grpSp>
              </p:grpSp>
            </p:grpSp>
            <p:grpSp>
              <p:nvGrpSpPr>
                <p:cNvPr id="1316" name="Google Shape;1316;p42"/>
                <p:cNvGrpSpPr/>
                <p:nvPr/>
              </p:nvGrpSpPr>
              <p:grpSpPr>
                <a:xfrm>
                  <a:off x="5783447" y="2615528"/>
                  <a:ext cx="170989" cy="97052"/>
                  <a:chOff x="7493876" y="2774731"/>
                  <a:chExt cx="1481958" cy="894622"/>
                </a:xfrm>
              </p:grpSpPr>
              <p:sp>
                <p:nvSpPr>
                  <p:cNvPr id="1317" name="Google Shape;1317;p4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318" name="Google Shape;1318;p4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319" name="Google Shape;1319;p42"/>
                  <p:cNvGrpSpPr/>
                  <p:nvPr/>
                </p:nvGrpSpPr>
                <p:grpSpPr>
                  <a:xfrm>
                    <a:off x="7713663" y="2848339"/>
                    <a:ext cx="1042107" cy="425543"/>
                    <a:chOff x="7786941" y="2884917"/>
                    <a:chExt cx="897649" cy="353919"/>
                  </a:xfrm>
                </p:grpSpPr>
                <p:sp>
                  <p:nvSpPr>
                    <p:cNvPr id="1320" name="Google Shape;1320;p4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21" name="Google Shape;1321;p4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22" name="Google Shape;1322;p4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23" name="Google Shape;1323;p4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324" name="Google Shape;1324;p42"/>
                <p:cNvGrpSpPr/>
                <p:nvPr/>
              </p:nvGrpSpPr>
              <p:grpSpPr>
                <a:xfrm>
                  <a:off x="5309971" y="2510301"/>
                  <a:ext cx="353678" cy="198344"/>
                  <a:chOff x="7493876" y="2774731"/>
                  <a:chExt cx="1481958" cy="894622"/>
                </a:xfrm>
              </p:grpSpPr>
              <p:sp>
                <p:nvSpPr>
                  <p:cNvPr id="1325" name="Google Shape;1325;p4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326" name="Google Shape;1326;p4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327" name="Google Shape;1327;p42"/>
                  <p:cNvGrpSpPr/>
                  <p:nvPr/>
                </p:nvGrpSpPr>
                <p:grpSpPr>
                  <a:xfrm>
                    <a:off x="7713663" y="2848339"/>
                    <a:ext cx="1042107" cy="425543"/>
                    <a:chOff x="7786941" y="2884917"/>
                    <a:chExt cx="897649" cy="353919"/>
                  </a:xfrm>
                </p:grpSpPr>
                <p:sp>
                  <p:nvSpPr>
                    <p:cNvPr id="1328" name="Google Shape;1328;p4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29" name="Google Shape;1329;p4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30" name="Google Shape;1330;p4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31" name="Google Shape;1331;p4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332" name="Google Shape;1332;p42"/>
                <p:cNvGrpSpPr/>
                <p:nvPr/>
              </p:nvGrpSpPr>
              <p:grpSpPr>
                <a:xfrm>
                  <a:off x="5274621" y="3006488"/>
                  <a:ext cx="353678" cy="198344"/>
                  <a:chOff x="7493876" y="2774731"/>
                  <a:chExt cx="1481958" cy="894622"/>
                </a:xfrm>
              </p:grpSpPr>
              <p:sp>
                <p:nvSpPr>
                  <p:cNvPr id="1333" name="Google Shape;1333;p4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334" name="Google Shape;1334;p4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335" name="Google Shape;1335;p42"/>
                  <p:cNvGrpSpPr/>
                  <p:nvPr/>
                </p:nvGrpSpPr>
                <p:grpSpPr>
                  <a:xfrm>
                    <a:off x="7713663" y="2848339"/>
                    <a:ext cx="1042107" cy="425543"/>
                    <a:chOff x="7786941" y="2884917"/>
                    <a:chExt cx="897649" cy="353919"/>
                  </a:xfrm>
                </p:grpSpPr>
                <p:sp>
                  <p:nvSpPr>
                    <p:cNvPr id="1336" name="Google Shape;1336;p4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37" name="Google Shape;1337;p4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38" name="Google Shape;1338;p4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39" name="Google Shape;1339;p4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340" name="Google Shape;1340;p42"/>
                <p:cNvGrpSpPr/>
                <p:nvPr/>
              </p:nvGrpSpPr>
              <p:grpSpPr>
                <a:xfrm>
                  <a:off x="5825344" y="3383288"/>
                  <a:ext cx="228295" cy="120400"/>
                  <a:chOff x="7493876" y="2774731"/>
                  <a:chExt cx="1481958" cy="894622"/>
                </a:xfrm>
              </p:grpSpPr>
              <p:sp>
                <p:nvSpPr>
                  <p:cNvPr id="1341" name="Google Shape;1341;p4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342" name="Google Shape;1342;p4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343" name="Google Shape;1343;p42"/>
                  <p:cNvGrpSpPr/>
                  <p:nvPr/>
                </p:nvGrpSpPr>
                <p:grpSpPr>
                  <a:xfrm>
                    <a:off x="7713663" y="2848339"/>
                    <a:ext cx="1042107" cy="425543"/>
                    <a:chOff x="7786941" y="2884917"/>
                    <a:chExt cx="897649" cy="353919"/>
                  </a:xfrm>
                </p:grpSpPr>
                <p:sp>
                  <p:nvSpPr>
                    <p:cNvPr id="1344" name="Google Shape;1344;p4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45" name="Google Shape;1345;p4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46" name="Google Shape;1346;p4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47" name="Google Shape;1347;p4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cxnSp>
            <p:nvCxnSpPr>
              <p:cNvPr id="1348" name="Google Shape;1348;p42"/>
              <p:cNvCxnSpPr/>
              <p:nvPr/>
            </p:nvCxnSpPr>
            <p:spPr>
              <a:xfrm rot="10800000">
                <a:off x="7169213" y="4111556"/>
                <a:ext cx="2292043" cy="0"/>
              </a:xfrm>
              <a:prstGeom prst="straightConnector1">
                <a:avLst/>
              </a:prstGeom>
              <a:noFill/>
              <a:ln cap="flat" cmpd="sng" w="9525">
                <a:solidFill>
                  <a:schemeClr val="dk1"/>
                </a:solidFill>
                <a:prstDash val="solid"/>
                <a:miter lim="800000"/>
                <a:headEnd len="sm" w="sm" type="none"/>
                <a:tailEnd len="sm" w="sm" type="none"/>
              </a:ln>
            </p:spPr>
          </p:cxnSp>
        </p:grpSp>
        <p:cxnSp>
          <p:nvCxnSpPr>
            <p:cNvPr id="1349" name="Google Shape;1349;p42"/>
            <p:cNvCxnSpPr/>
            <p:nvPr/>
          </p:nvCxnSpPr>
          <p:spPr>
            <a:xfrm rot="10800000">
              <a:off x="3342806" y="3627619"/>
              <a:ext cx="2554050" cy="1208150"/>
            </a:xfrm>
            <a:prstGeom prst="straightConnector1">
              <a:avLst/>
            </a:prstGeom>
            <a:noFill/>
            <a:ln cap="flat" cmpd="sng" w="9525">
              <a:solidFill>
                <a:schemeClr val="dk1"/>
              </a:solidFill>
              <a:prstDash val="solid"/>
              <a:miter lim="800000"/>
              <a:headEnd len="sm" w="sm" type="none"/>
              <a:tailEnd len="sm" w="sm" type="none"/>
            </a:ln>
          </p:spPr>
        </p:cxnSp>
        <p:sp>
          <p:nvSpPr>
            <p:cNvPr id="1350" name="Google Shape;1350;p42"/>
            <p:cNvSpPr/>
            <p:nvPr/>
          </p:nvSpPr>
          <p:spPr>
            <a:xfrm>
              <a:off x="5799381" y="4453582"/>
              <a:ext cx="2277968" cy="1076335"/>
            </a:xfrm>
            <a:custGeom>
              <a:rect b="b" l="l" r="r" t="t"/>
              <a:pathLst>
                <a:path extrusionOk="0" h="1718032" w="1731813">
                  <a:moveTo>
                    <a:pt x="244798" y="113266"/>
                  </a:moveTo>
                  <a:cubicBezTo>
                    <a:pt x="67073" y="275788"/>
                    <a:pt x="-13081" y="720783"/>
                    <a:pt x="1731" y="984081"/>
                  </a:cubicBezTo>
                  <a:cubicBezTo>
                    <a:pt x="16544" y="1247379"/>
                    <a:pt x="124686" y="1598328"/>
                    <a:pt x="333673" y="1693055"/>
                  </a:cubicBezTo>
                  <a:cubicBezTo>
                    <a:pt x="542660" y="1787782"/>
                    <a:pt x="1028523" y="1584858"/>
                    <a:pt x="1255654" y="1552442"/>
                  </a:cubicBezTo>
                  <a:cubicBezTo>
                    <a:pt x="1482785" y="1520026"/>
                    <a:pt x="1622818" y="1647197"/>
                    <a:pt x="1696460" y="1498556"/>
                  </a:cubicBezTo>
                  <a:cubicBezTo>
                    <a:pt x="1770102" y="1349916"/>
                    <a:pt x="1707423" y="897136"/>
                    <a:pt x="1697508" y="660599"/>
                  </a:cubicBezTo>
                  <a:cubicBezTo>
                    <a:pt x="1687593" y="424062"/>
                    <a:pt x="1675965" y="187943"/>
                    <a:pt x="1636972" y="79335"/>
                  </a:cubicBezTo>
                  <a:cubicBezTo>
                    <a:pt x="1597979" y="-29273"/>
                    <a:pt x="1300111" y="3293"/>
                    <a:pt x="1068082" y="8948"/>
                  </a:cubicBezTo>
                  <a:cubicBezTo>
                    <a:pt x="836053" y="14603"/>
                    <a:pt x="422523" y="-49256"/>
                    <a:pt x="244798" y="113266"/>
                  </a:cubicBezTo>
                  <a:close/>
                </a:path>
              </a:pathLst>
            </a:custGeom>
            <a:gradFill>
              <a:gsLst>
                <a:gs pos="0">
                  <a:srgbClr val="9CDFF9"/>
                </a:gs>
                <a:gs pos="100000">
                  <a:srgbClr val="9CDFF9"/>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51" name="Google Shape;1351;p42"/>
            <p:cNvSpPr txBox="1"/>
            <p:nvPr/>
          </p:nvSpPr>
          <p:spPr>
            <a:xfrm>
              <a:off x="6453554" y="4730262"/>
              <a:ext cx="94506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Internet</a:t>
              </a:r>
              <a:endParaRPr/>
            </a:p>
          </p:txBody>
        </p:sp>
      </p:grpSp>
      <p:pic>
        <p:nvPicPr>
          <p:cNvPr descr="A picture containing text, clock&#10;&#10;Description automatically generated" id="1352" name="Google Shape;1352;p42"/>
          <p:cNvPicPr preferRelativeResize="0"/>
          <p:nvPr/>
        </p:nvPicPr>
        <p:blipFill rotWithShape="1">
          <a:blip r:embed="rId24">
            <a:alphaModFix/>
          </a:blip>
          <a:srcRect b="0" l="0" r="0" t="0"/>
          <a:stretch/>
        </p:blipFill>
        <p:spPr>
          <a:xfrm>
            <a:off x="3183105" y="3615476"/>
            <a:ext cx="468703" cy="717631"/>
          </a:xfrm>
          <a:prstGeom prst="rect">
            <a:avLst/>
          </a:prstGeom>
          <a:noFill/>
          <a:ln>
            <a:noFill/>
          </a:ln>
        </p:spPr>
      </p:pic>
      <p:sp>
        <p:nvSpPr>
          <p:cNvPr id="1353" name="Google Shape;1353;p42"/>
          <p:cNvSpPr txBox="1"/>
          <p:nvPr/>
        </p:nvSpPr>
        <p:spPr>
          <a:xfrm>
            <a:off x="5378613" y="1128547"/>
            <a:ext cx="6412793"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800"/>
              <a:buFont typeface="Calibri"/>
              <a:buNone/>
            </a:pPr>
            <a:r>
              <a:rPr b="0" i="1" lang="en-US" sz="2800" u="none" cap="none" strike="noStrike">
                <a:solidFill>
                  <a:srgbClr val="C00000"/>
                </a:solidFill>
                <a:latin typeface="Calibri"/>
                <a:ea typeface="Calibri"/>
                <a:cs typeface="Calibri"/>
                <a:sym typeface="Calibri"/>
              </a:rPr>
              <a:t>firewall: </a:t>
            </a:r>
            <a:r>
              <a:rPr b="0" i="0" lang="en-US" sz="2800" u="none" cap="none" strike="noStrike">
                <a:solidFill>
                  <a:srgbClr val="000000"/>
                </a:solidFill>
                <a:latin typeface="Calibri"/>
                <a:ea typeface="Calibri"/>
                <a:cs typeface="Calibri"/>
                <a:sym typeface="Calibri"/>
              </a:rPr>
              <a:t>mechanism to control content access via programmable </a:t>
            </a:r>
            <a:r>
              <a:rPr b="0" i="1" lang="en-US" sz="2800" u="none" cap="none" strike="noStrike">
                <a:solidFill>
                  <a:srgbClr val="000000"/>
                </a:solidFill>
                <a:latin typeface="Calibri"/>
                <a:ea typeface="Calibri"/>
                <a:cs typeface="Calibri"/>
                <a:sym typeface="Calibri"/>
              </a:rPr>
              <a:t>rules</a:t>
            </a:r>
            <a:r>
              <a:rPr b="0" i="0" lang="en-US" sz="2800" u="none" cap="none" strike="noStrike">
                <a:solidFill>
                  <a:srgbClr val="000000"/>
                </a:solidFill>
                <a:latin typeface="Calibri"/>
                <a:ea typeface="Calibri"/>
                <a:cs typeface="Calibri"/>
                <a:sym typeface="Calibri"/>
              </a:rPr>
              <a:t>:</a:t>
            </a:r>
            <a:endParaRPr/>
          </a:p>
          <a:p>
            <a:pPr indent="-285750" lvl="0" marL="285750" marR="0" rtl="0" algn="l">
              <a:lnSpc>
                <a:spcPct val="100000"/>
              </a:lnSpc>
              <a:spcBef>
                <a:spcPts val="0"/>
              </a:spcBef>
              <a:spcAft>
                <a:spcPts val="0"/>
              </a:spcAft>
              <a:buClr>
                <a:srgbClr val="010080"/>
              </a:buClr>
              <a:buSzPts val="2400"/>
              <a:buFont typeface="Noto Sans Symbols"/>
              <a:buChar char="▪"/>
            </a:pPr>
            <a:r>
              <a:rPr b="0" i="0" lang="en-US" sz="2400" u="none" cap="none" strike="noStrike">
                <a:solidFill>
                  <a:srgbClr val="000000"/>
                </a:solidFill>
                <a:latin typeface="Calibri"/>
                <a:ea typeface="Calibri"/>
                <a:cs typeface="Calibri"/>
                <a:sym typeface="Calibri"/>
              </a:rPr>
              <a:t>“don’t forward any packets to 128.118.40.186”</a:t>
            </a:r>
            <a:endParaRPr/>
          </a:p>
        </p:txBody>
      </p:sp>
      <p:sp>
        <p:nvSpPr>
          <p:cNvPr id="1354" name="Google Shape;1354;p42"/>
          <p:cNvSpPr txBox="1"/>
          <p:nvPr/>
        </p:nvSpPr>
        <p:spPr>
          <a:xfrm>
            <a:off x="5383515" y="2392217"/>
            <a:ext cx="5996065" cy="83099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10080"/>
              </a:buClr>
              <a:buSzPts val="2400"/>
              <a:buFont typeface="Noto Sans Symbols"/>
              <a:buChar char="▪"/>
            </a:pPr>
            <a:r>
              <a:rPr b="0" i="0" lang="en-US" sz="2400" u="none" cap="none" strike="noStrike">
                <a:solidFill>
                  <a:srgbClr val="000000"/>
                </a:solidFill>
                <a:latin typeface="Calibri"/>
                <a:ea typeface="Calibri"/>
                <a:cs typeface="Calibri"/>
                <a:sym typeface="Calibri"/>
              </a:rPr>
              <a:t>“don’t forward any packets containing the phrase </a:t>
            </a:r>
            <a:r>
              <a:rPr b="0" i="1" lang="en-US" sz="2400" u="none" cap="none" strike="noStrike">
                <a:solidFill>
                  <a:srgbClr val="000000"/>
                </a:solidFill>
                <a:latin typeface="Calibri"/>
                <a:ea typeface="Calibri"/>
                <a:cs typeface="Calibri"/>
                <a:sym typeface="Calibri"/>
              </a:rPr>
              <a:t>X</a:t>
            </a:r>
            <a:r>
              <a:rPr b="0" i="0" lang="en-US" sz="2400" u="none" cap="none" strike="noStrike">
                <a:solidFill>
                  <a:srgbClr val="000000"/>
                </a:solidFill>
                <a:latin typeface="Calibri"/>
                <a:ea typeface="Calibri"/>
                <a:cs typeface="Calibri"/>
                <a:sym typeface="Calibri"/>
              </a:rPr>
              <a:t> anywhere”</a:t>
            </a:r>
            <a:endParaRPr/>
          </a:p>
        </p:txBody>
      </p:sp>
      <p:grpSp>
        <p:nvGrpSpPr>
          <p:cNvPr id="1355" name="Google Shape;1355;p42"/>
          <p:cNvGrpSpPr/>
          <p:nvPr/>
        </p:nvGrpSpPr>
        <p:grpSpPr>
          <a:xfrm>
            <a:off x="8048960" y="5621312"/>
            <a:ext cx="2444154" cy="890914"/>
            <a:chOff x="6849747" y="5831174"/>
            <a:chExt cx="2444154" cy="890914"/>
          </a:xfrm>
        </p:grpSpPr>
        <p:sp>
          <p:nvSpPr>
            <p:cNvPr id="1356" name="Google Shape;1356;p42"/>
            <p:cNvSpPr txBox="1"/>
            <p:nvPr/>
          </p:nvSpPr>
          <p:spPr>
            <a:xfrm>
              <a:off x="6849747" y="6383534"/>
              <a:ext cx="2220736"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6010D"/>
                </a:buClr>
                <a:buSzPts val="1600"/>
                <a:buFont typeface="Calibri"/>
                <a:buNone/>
              </a:pPr>
              <a:r>
                <a:rPr b="0" i="0" lang="en-US" sz="1600" u="none" cap="none" strike="noStrike">
                  <a:solidFill>
                    <a:srgbClr val="96010D"/>
                  </a:solidFill>
                  <a:latin typeface="Calibri"/>
                  <a:ea typeface="Calibri"/>
                  <a:cs typeface="Calibri"/>
                  <a:sym typeface="Calibri"/>
                </a:rPr>
                <a:t>128.119.40.186  content</a:t>
              </a:r>
              <a:endParaRPr/>
            </a:p>
          </p:txBody>
        </p:sp>
        <p:cxnSp>
          <p:nvCxnSpPr>
            <p:cNvPr id="1357" name="Google Shape;1357;p42"/>
            <p:cNvCxnSpPr/>
            <p:nvPr/>
          </p:nvCxnSpPr>
          <p:spPr>
            <a:xfrm flipH="1">
              <a:off x="8158634" y="6015145"/>
              <a:ext cx="894155" cy="418103"/>
            </a:xfrm>
            <a:prstGeom prst="straightConnector1">
              <a:avLst/>
            </a:prstGeom>
            <a:noFill/>
            <a:ln cap="flat" cmpd="sng" w="9525">
              <a:solidFill>
                <a:srgbClr val="C00000"/>
              </a:solidFill>
              <a:prstDash val="solid"/>
              <a:miter lim="800000"/>
              <a:headEnd len="sm" w="sm" type="none"/>
              <a:tailEnd len="sm" w="sm" type="none"/>
            </a:ln>
          </p:spPr>
        </p:cxnSp>
        <p:sp>
          <p:nvSpPr>
            <p:cNvPr id="1358" name="Google Shape;1358;p42"/>
            <p:cNvSpPr/>
            <p:nvPr/>
          </p:nvSpPr>
          <p:spPr>
            <a:xfrm>
              <a:off x="9039068" y="5831174"/>
              <a:ext cx="254833" cy="314793"/>
            </a:xfrm>
            <a:prstGeom prst="can">
              <a:avLst>
                <a:gd fmla="val 25000" name="adj"/>
              </a:avLst>
            </a:prstGeom>
            <a:solidFill>
              <a:srgbClr val="96010D"/>
            </a:solidFill>
            <a:ln cap="flat" cmpd="sng" w="12700">
              <a:solidFill>
                <a:srgbClr val="96010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1359" name="Google Shape;1359;p42"/>
          <p:cNvGrpSpPr/>
          <p:nvPr/>
        </p:nvGrpSpPr>
        <p:grpSpPr>
          <a:xfrm>
            <a:off x="6880486" y="3492709"/>
            <a:ext cx="4497048" cy="1454045"/>
            <a:chOff x="6880486" y="3492709"/>
            <a:chExt cx="4497048" cy="1454045"/>
          </a:xfrm>
        </p:grpSpPr>
        <p:grpSp>
          <p:nvGrpSpPr>
            <p:cNvPr id="1360" name="Google Shape;1360;p42"/>
            <p:cNvGrpSpPr/>
            <p:nvPr/>
          </p:nvGrpSpPr>
          <p:grpSpPr>
            <a:xfrm>
              <a:off x="6880486" y="3492709"/>
              <a:ext cx="1800715" cy="1454045"/>
              <a:chOff x="10058402" y="3102964"/>
              <a:chExt cx="1800715" cy="1454045"/>
            </a:xfrm>
          </p:grpSpPr>
          <p:sp>
            <p:nvSpPr>
              <p:cNvPr id="1361" name="Google Shape;1361;p42"/>
              <p:cNvSpPr/>
              <p:nvPr/>
            </p:nvSpPr>
            <p:spPr>
              <a:xfrm>
                <a:off x="10257575" y="3102964"/>
                <a:ext cx="1601542" cy="1306189"/>
              </a:xfrm>
              <a:custGeom>
                <a:rect b="b" l="l" r="r" t="t"/>
                <a:pathLst>
                  <a:path extrusionOk="0" h="1896965" w="1625966">
                    <a:moveTo>
                      <a:pt x="31436" y="439993"/>
                    </a:moveTo>
                    <a:cubicBezTo>
                      <a:pt x="-5258" y="618304"/>
                      <a:pt x="-8296" y="881606"/>
                      <a:pt x="14373" y="1122579"/>
                    </a:cubicBezTo>
                    <a:cubicBezTo>
                      <a:pt x="37042" y="1363552"/>
                      <a:pt x="-12825" y="1810121"/>
                      <a:pt x="167453" y="1885834"/>
                    </a:cubicBezTo>
                    <a:cubicBezTo>
                      <a:pt x="347731" y="1961547"/>
                      <a:pt x="862648" y="1628105"/>
                      <a:pt x="1096044" y="1576859"/>
                    </a:cubicBezTo>
                    <a:cubicBezTo>
                      <a:pt x="1329440" y="1525613"/>
                      <a:pt x="1483551" y="1693087"/>
                      <a:pt x="1567828" y="1578356"/>
                    </a:cubicBezTo>
                    <a:cubicBezTo>
                      <a:pt x="1652105" y="1463625"/>
                      <a:pt x="1627112" y="1139125"/>
                      <a:pt x="1601704" y="888475"/>
                    </a:cubicBezTo>
                    <a:cubicBezTo>
                      <a:pt x="1576296" y="637825"/>
                      <a:pt x="1454373" y="183063"/>
                      <a:pt x="1415380" y="74455"/>
                    </a:cubicBezTo>
                    <a:cubicBezTo>
                      <a:pt x="1376387" y="-34153"/>
                      <a:pt x="465193" y="-8212"/>
                      <a:pt x="234536" y="52711"/>
                    </a:cubicBezTo>
                    <a:cubicBezTo>
                      <a:pt x="3879" y="113634"/>
                      <a:pt x="68130" y="261682"/>
                      <a:pt x="31436"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362" name="Google Shape;1362;p42"/>
              <p:cNvGrpSpPr/>
              <p:nvPr/>
            </p:nvGrpSpPr>
            <p:grpSpPr>
              <a:xfrm>
                <a:off x="11021783" y="3260389"/>
                <a:ext cx="687393" cy="721548"/>
                <a:chOff x="5203089" y="1751190"/>
                <a:chExt cx="858331" cy="662414"/>
              </a:xfrm>
            </p:grpSpPr>
            <p:sp>
              <p:nvSpPr>
                <p:cNvPr id="1363" name="Google Shape;1363;p42"/>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64" name="Google Shape;1364;p42"/>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365" name="Google Shape;1365;p42"/>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1366" name="Google Shape;1366;p42"/>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1367" name="Google Shape;1367;p42"/>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1368" name="Google Shape;1368;p42"/>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1369" name="Google Shape;1369;p42"/>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1370" name="Google Shape;1370;p42"/>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cxnSp>
            <p:nvCxnSpPr>
              <p:cNvPr id="1371" name="Google Shape;1371;p42"/>
              <p:cNvCxnSpPr>
                <a:endCxn id="1372" idx="6"/>
              </p:cNvCxnSpPr>
              <p:nvPr/>
            </p:nvCxnSpPr>
            <p:spPr>
              <a:xfrm flipH="1">
                <a:off x="10739940" y="3709748"/>
                <a:ext cx="360300" cy="325800"/>
              </a:xfrm>
              <a:prstGeom prst="straightConnector1">
                <a:avLst/>
              </a:prstGeom>
              <a:noFill/>
              <a:ln cap="flat" cmpd="sng" w="9525">
                <a:solidFill>
                  <a:schemeClr val="dk1"/>
                </a:solidFill>
                <a:prstDash val="solid"/>
                <a:miter lim="800000"/>
                <a:headEnd len="sm" w="sm" type="none"/>
                <a:tailEnd len="sm" w="sm" type="none"/>
              </a:ln>
            </p:spPr>
          </p:cxnSp>
          <p:grpSp>
            <p:nvGrpSpPr>
              <p:cNvPr id="1373" name="Google Shape;1373;p42"/>
              <p:cNvGrpSpPr/>
              <p:nvPr/>
            </p:nvGrpSpPr>
            <p:grpSpPr>
              <a:xfrm>
                <a:off x="11109762" y="3510574"/>
                <a:ext cx="489839" cy="451816"/>
                <a:chOff x="5103720" y="2693365"/>
                <a:chExt cx="611650" cy="414788"/>
              </a:xfrm>
            </p:grpSpPr>
            <p:cxnSp>
              <p:nvCxnSpPr>
                <p:cNvPr id="1374" name="Google Shape;1374;p42"/>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1375" name="Google Shape;1375;p42"/>
                <p:cNvGrpSpPr/>
                <p:nvPr/>
              </p:nvGrpSpPr>
              <p:grpSpPr>
                <a:xfrm>
                  <a:off x="5275406" y="2693365"/>
                  <a:ext cx="439964" cy="414788"/>
                  <a:chOff x="5275406" y="2711455"/>
                  <a:chExt cx="452949" cy="405518"/>
                </a:xfrm>
              </p:grpSpPr>
              <p:pic>
                <p:nvPicPr>
                  <p:cNvPr descr="server_rack.png" id="1376" name="Google Shape;1376;p42"/>
                  <p:cNvPicPr preferRelativeResize="0"/>
                  <p:nvPr/>
                </p:nvPicPr>
                <p:blipFill rotWithShape="1">
                  <a:blip r:embed="rId23">
                    <a:alphaModFix/>
                  </a:blip>
                  <a:srcRect b="0" l="0" r="0" t="0"/>
                  <a:stretch/>
                </p:blipFill>
                <p:spPr>
                  <a:xfrm>
                    <a:off x="5537367" y="2770786"/>
                    <a:ext cx="190988" cy="313366"/>
                  </a:xfrm>
                  <a:prstGeom prst="rect">
                    <a:avLst/>
                  </a:prstGeom>
                  <a:noFill/>
                  <a:ln>
                    <a:noFill/>
                  </a:ln>
                </p:spPr>
              </p:pic>
              <p:pic>
                <p:nvPicPr>
                  <p:cNvPr descr="server_rack.png" id="1377" name="Google Shape;1377;p42"/>
                  <p:cNvPicPr preferRelativeResize="0"/>
                  <p:nvPr/>
                </p:nvPicPr>
                <p:blipFill rotWithShape="1">
                  <a:blip r:embed="rId23">
                    <a:alphaModFix/>
                  </a:blip>
                  <a:srcRect b="0" l="0" r="0" t="0"/>
                  <a:stretch/>
                </p:blipFill>
                <p:spPr>
                  <a:xfrm>
                    <a:off x="5275406" y="2764002"/>
                    <a:ext cx="190988" cy="313366"/>
                  </a:xfrm>
                  <a:prstGeom prst="rect">
                    <a:avLst/>
                  </a:prstGeom>
                  <a:noFill/>
                  <a:ln>
                    <a:noFill/>
                  </a:ln>
                </p:spPr>
              </p:pic>
              <p:pic>
                <p:nvPicPr>
                  <p:cNvPr descr="server_rack.png" id="1378" name="Google Shape;1378;p42"/>
                  <p:cNvPicPr preferRelativeResize="0"/>
                  <p:nvPr/>
                </p:nvPicPr>
                <p:blipFill rotWithShape="1">
                  <a:blip r:embed="rId23">
                    <a:alphaModFix/>
                  </a:blip>
                  <a:srcRect b="0" l="0" r="0" t="0"/>
                  <a:stretch/>
                </p:blipFill>
                <p:spPr>
                  <a:xfrm>
                    <a:off x="5385676" y="2711455"/>
                    <a:ext cx="247152" cy="405518"/>
                  </a:xfrm>
                  <a:prstGeom prst="rect">
                    <a:avLst/>
                  </a:prstGeom>
                  <a:noFill/>
                  <a:ln>
                    <a:noFill/>
                  </a:ln>
                </p:spPr>
              </p:pic>
            </p:grpSp>
          </p:grpSp>
          <p:grpSp>
            <p:nvGrpSpPr>
              <p:cNvPr id="1379" name="Google Shape;1379;p42"/>
              <p:cNvGrpSpPr/>
              <p:nvPr/>
            </p:nvGrpSpPr>
            <p:grpSpPr>
              <a:xfrm>
                <a:off x="10386487" y="3971348"/>
                <a:ext cx="353678" cy="198344"/>
                <a:chOff x="7493876" y="2774731"/>
                <a:chExt cx="1481958" cy="894622"/>
              </a:xfrm>
            </p:grpSpPr>
            <p:sp>
              <p:nvSpPr>
                <p:cNvPr id="1380" name="Google Shape;1380;p4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372" name="Google Shape;1372;p4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381" name="Google Shape;1381;p42"/>
                <p:cNvGrpSpPr/>
                <p:nvPr/>
              </p:nvGrpSpPr>
              <p:grpSpPr>
                <a:xfrm>
                  <a:off x="7713663" y="2848339"/>
                  <a:ext cx="1042107" cy="425543"/>
                  <a:chOff x="7786941" y="2884917"/>
                  <a:chExt cx="897649" cy="353919"/>
                </a:xfrm>
              </p:grpSpPr>
              <p:sp>
                <p:nvSpPr>
                  <p:cNvPr id="1382" name="Google Shape;1382;p4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83" name="Google Shape;1383;p4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84" name="Google Shape;1384;p4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85" name="Google Shape;1385;p4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386" name="Google Shape;1386;p42"/>
              <p:cNvGrpSpPr/>
              <p:nvPr/>
            </p:nvGrpSpPr>
            <p:grpSpPr>
              <a:xfrm>
                <a:off x="10967190" y="3658601"/>
                <a:ext cx="228295" cy="120400"/>
                <a:chOff x="7493876" y="2774731"/>
                <a:chExt cx="1481958" cy="894622"/>
              </a:xfrm>
            </p:grpSpPr>
            <p:sp>
              <p:nvSpPr>
                <p:cNvPr id="1387" name="Google Shape;1387;p4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388" name="Google Shape;1388;p4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389" name="Google Shape;1389;p42"/>
                <p:cNvGrpSpPr/>
                <p:nvPr/>
              </p:nvGrpSpPr>
              <p:grpSpPr>
                <a:xfrm>
                  <a:off x="7713663" y="2848339"/>
                  <a:ext cx="1042107" cy="425543"/>
                  <a:chOff x="7786941" y="2884917"/>
                  <a:chExt cx="897649" cy="353919"/>
                </a:xfrm>
              </p:grpSpPr>
              <p:sp>
                <p:nvSpPr>
                  <p:cNvPr id="1390" name="Google Shape;1390;p4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91" name="Google Shape;1391;p4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92" name="Google Shape;1392;p4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93" name="Google Shape;1393;p4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1394" name="Google Shape;1394;p42"/>
              <p:cNvCxnSpPr/>
              <p:nvPr/>
            </p:nvCxnSpPr>
            <p:spPr>
              <a:xfrm flipH="1">
                <a:off x="10058402" y="4161968"/>
                <a:ext cx="414881" cy="395041"/>
              </a:xfrm>
              <a:prstGeom prst="straightConnector1">
                <a:avLst/>
              </a:prstGeom>
              <a:noFill/>
              <a:ln cap="flat" cmpd="sng" w="9525">
                <a:solidFill>
                  <a:schemeClr val="dk1"/>
                </a:solidFill>
                <a:prstDash val="solid"/>
                <a:miter lim="800000"/>
                <a:headEnd len="sm" w="sm" type="none"/>
                <a:tailEnd len="sm" w="sm" type="none"/>
              </a:ln>
            </p:spPr>
          </p:cxnSp>
        </p:grpSp>
        <p:grpSp>
          <p:nvGrpSpPr>
            <p:cNvPr id="1395" name="Google Shape;1395;p42"/>
            <p:cNvGrpSpPr/>
            <p:nvPr/>
          </p:nvGrpSpPr>
          <p:grpSpPr>
            <a:xfrm>
              <a:off x="8187127" y="3642832"/>
              <a:ext cx="3190407" cy="584775"/>
              <a:chOff x="9039068" y="5574065"/>
              <a:chExt cx="3190407" cy="584775"/>
            </a:xfrm>
          </p:grpSpPr>
          <p:sp>
            <p:nvSpPr>
              <p:cNvPr id="1396" name="Google Shape;1396;p42"/>
              <p:cNvSpPr txBox="1"/>
              <p:nvPr/>
            </p:nvSpPr>
            <p:spPr>
              <a:xfrm>
                <a:off x="10207543" y="5574065"/>
                <a:ext cx="2021932"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6010D"/>
                  </a:buClr>
                  <a:buSzPts val="1600"/>
                  <a:buFont typeface="Calibri"/>
                  <a:buNone/>
                </a:pPr>
                <a:r>
                  <a:rPr b="0" i="0" lang="en-US" sz="1600" u="none" cap="none" strike="noStrike">
                    <a:solidFill>
                      <a:srgbClr val="96010D"/>
                    </a:solidFill>
                    <a:latin typeface="Calibri"/>
                    <a:ea typeface="Calibri"/>
                    <a:cs typeface="Calibri"/>
                    <a:sym typeface="Calibri"/>
                  </a:rPr>
                  <a:t>replicated content at different IP address</a:t>
                </a:r>
                <a:endParaRPr/>
              </a:p>
            </p:txBody>
          </p:sp>
          <p:cxnSp>
            <p:nvCxnSpPr>
              <p:cNvPr id="1397" name="Google Shape;1397;p42"/>
              <p:cNvCxnSpPr/>
              <p:nvPr/>
            </p:nvCxnSpPr>
            <p:spPr>
              <a:xfrm>
                <a:off x="9397563" y="6000155"/>
                <a:ext cx="853211" cy="0"/>
              </a:xfrm>
              <a:prstGeom prst="straightConnector1">
                <a:avLst/>
              </a:prstGeom>
              <a:noFill/>
              <a:ln cap="flat" cmpd="sng" w="9525">
                <a:solidFill>
                  <a:srgbClr val="C00000"/>
                </a:solidFill>
                <a:prstDash val="solid"/>
                <a:miter lim="800000"/>
                <a:headEnd len="sm" w="sm" type="none"/>
                <a:tailEnd len="sm" w="sm" type="none"/>
              </a:ln>
            </p:spPr>
          </p:cxnSp>
          <p:sp>
            <p:nvSpPr>
              <p:cNvPr id="1398" name="Google Shape;1398;p42"/>
              <p:cNvSpPr/>
              <p:nvPr/>
            </p:nvSpPr>
            <p:spPr>
              <a:xfrm>
                <a:off x="9039068" y="5831174"/>
                <a:ext cx="254833" cy="314793"/>
              </a:xfrm>
              <a:prstGeom prst="can">
                <a:avLst>
                  <a:gd fmla="val 25000" name="adj"/>
                </a:avLst>
              </a:prstGeom>
              <a:solidFill>
                <a:srgbClr val="96010D"/>
              </a:solidFill>
              <a:ln cap="flat" cmpd="sng" w="12700">
                <a:solidFill>
                  <a:srgbClr val="96010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1399" name="Google Shape;1399;p42"/>
          <p:cNvSpPr txBox="1"/>
          <p:nvPr/>
        </p:nvSpPr>
        <p:spPr>
          <a:xfrm>
            <a:off x="3632973" y="3500847"/>
            <a:ext cx="136191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EE1C2D"/>
              </a:buClr>
              <a:buSzPts val="2400"/>
              <a:buFont typeface="Calibri"/>
              <a:buNone/>
            </a:pPr>
            <a:r>
              <a:rPr b="0" i="0" lang="en-US" sz="2400" u="none" cap="none" strike="noStrike">
                <a:solidFill>
                  <a:srgbClr val="EE1C2D"/>
                </a:solidFill>
                <a:latin typeface="Calibri"/>
                <a:ea typeface="Calibri"/>
                <a:cs typeface="Calibri"/>
                <a:sym typeface="Calibri"/>
              </a:rPr>
              <a:t>“firewall”</a:t>
            </a:r>
            <a:endParaRPr b="0" i="0" sz="1800" u="none" cap="none" strike="noStrike">
              <a:solidFill>
                <a:srgbClr val="EE1C2D"/>
              </a:solidFill>
              <a:latin typeface="Calibri"/>
              <a:ea typeface="Calibri"/>
              <a:cs typeface="Calibri"/>
              <a:sym typeface="Calibri"/>
            </a:endParaRPr>
          </a:p>
        </p:txBody>
      </p:sp>
      <p:sp>
        <p:nvSpPr>
          <p:cNvPr id="1400" name="Google Shape;1400;p42"/>
          <p:cNvSpPr txBox="1"/>
          <p:nvPr/>
        </p:nvSpPr>
        <p:spPr>
          <a:xfrm>
            <a:off x="9645187" y="2982906"/>
            <a:ext cx="179074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1" lang="en-US" sz="2400" u="none" cap="none" strike="noStrike">
                <a:solidFill>
                  <a:srgbClr val="C00000"/>
                </a:solidFill>
                <a:latin typeface="Calibri"/>
                <a:ea typeface="Calibri"/>
                <a:cs typeface="Calibri"/>
                <a:sym typeface="Calibri"/>
              </a:rPr>
              <a:t>... more later</a:t>
            </a:r>
            <a:endParaRPr/>
          </a:p>
        </p:txBody>
      </p:sp>
      <p:sp>
        <p:nvSpPr>
          <p:cNvPr id="1401" name="Google Shape;1401;p42"/>
          <p:cNvSpPr/>
          <p:nvPr/>
        </p:nvSpPr>
        <p:spPr>
          <a:xfrm>
            <a:off x="551542" y="2917372"/>
            <a:ext cx="1204686" cy="1088571"/>
          </a:xfrm>
          <a:prstGeom prst="ellipse">
            <a:avLst/>
          </a:prstGeom>
          <a:noFill/>
          <a:ln cap="flat" cmpd="sng" w="508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02" name="Google Shape;1402;p42"/>
          <p:cNvSpPr/>
          <p:nvPr/>
        </p:nvSpPr>
        <p:spPr>
          <a:xfrm>
            <a:off x="9804399" y="5363029"/>
            <a:ext cx="1204686" cy="1088571"/>
          </a:xfrm>
          <a:prstGeom prst="ellipse">
            <a:avLst/>
          </a:prstGeom>
          <a:noFill/>
          <a:ln cap="flat" cmpd="sng" w="508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2"/>
                                        </p:tgtEl>
                                        <p:attrNameLst>
                                          <p:attrName>style.visibility</p:attrName>
                                        </p:attrNameLst>
                                      </p:cBhvr>
                                      <p:to>
                                        <p:strVal val="visible"/>
                                      </p:to>
                                    </p:set>
                                    <p:animEffect filter="fade" transition="in">
                                      <p:cBhvr>
                                        <p:cTn dur="500"/>
                                        <p:tgtEl>
                                          <p:spTgt spid="12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4"/>
                                        </p:tgtEl>
                                        <p:attrNameLst>
                                          <p:attrName>style.visibility</p:attrName>
                                        </p:attrNameLst>
                                      </p:cBhvr>
                                      <p:to>
                                        <p:strVal val="visible"/>
                                      </p:to>
                                    </p:set>
                                    <p:animEffect filter="fade" transition="in">
                                      <p:cBhvr>
                                        <p:cTn dur="500"/>
                                        <p:tgtEl>
                                          <p:spTgt spid="12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5"/>
                                        </p:tgtEl>
                                        <p:attrNameLst>
                                          <p:attrName>style.visibility</p:attrName>
                                        </p:attrNameLst>
                                      </p:cBhvr>
                                      <p:to>
                                        <p:strVal val="visible"/>
                                      </p:to>
                                    </p:set>
                                    <p:animEffect filter="fade" transition="in">
                                      <p:cBhvr>
                                        <p:cTn dur="500"/>
                                        <p:tgtEl>
                                          <p:spTgt spid="13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2"/>
                                        </p:tgtEl>
                                        <p:attrNameLst>
                                          <p:attrName>style.visibility</p:attrName>
                                        </p:attrNameLst>
                                      </p:cBhvr>
                                      <p:to>
                                        <p:strVal val="visible"/>
                                      </p:to>
                                    </p:set>
                                    <p:animEffect filter="fade" transition="in">
                                      <p:cBhvr>
                                        <p:cTn dur="500"/>
                                        <p:tgtEl>
                                          <p:spTgt spid="9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1"/>
                                        </p:tgtEl>
                                        <p:attrNameLst>
                                          <p:attrName>style.visibility</p:attrName>
                                        </p:attrNameLst>
                                      </p:cBhvr>
                                      <p:to>
                                        <p:strVal val="visible"/>
                                      </p:to>
                                    </p:set>
                                    <p:animEffect filter="fade" transition="in">
                                      <p:cBhvr>
                                        <p:cTn dur="500"/>
                                        <p:tgtEl>
                                          <p:spTgt spid="14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2"/>
                                        </p:tgtEl>
                                        <p:attrNameLst>
                                          <p:attrName>style.visibility</p:attrName>
                                        </p:attrNameLst>
                                      </p:cBhvr>
                                      <p:to>
                                        <p:strVal val="visible"/>
                                      </p:to>
                                    </p:set>
                                    <p:animEffect filter="fade" transition="in">
                                      <p:cBhvr>
                                        <p:cTn dur="500"/>
                                        <p:tgtEl>
                                          <p:spTgt spid="14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2"/>
                                        </p:tgtEl>
                                        <p:attrNameLst>
                                          <p:attrName>style.visibility</p:attrName>
                                        </p:attrNameLst>
                                      </p:cBhvr>
                                      <p:to>
                                        <p:strVal val="visible"/>
                                      </p:to>
                                    </p:set>
                                    <p:animEffect filter="fade" transition="in">
                                      <p:cBhvr>
                                        <p:cTn dur="500"/>
                                        <p:tgtEl>
                                          <p:spTgt spid="1352"/>
                                        </p:tgtEl>
                                      </p:cBhvr>
                                    </p:animEffect>
                                  </p:childTnLst>
                                </p:cTn>
                              </p:par>
                              <p:par>
                                <p:cTn fill="hold" nodeType="withEffect" presetClass="entr" presetID="10" presetSubtype="0">
                                  <p:stCondLst>
                                    <p:cond delay="0"/>
                                  </p:stCondLst>
                                  <p:childTnLst>
                                    <p:set>
                                      <p:cBhvr>
                                        <p:cTn dur="1" fill="hold">
                                          <p:stCondLst>
                                            <p:cond delay="0"/>
                                          </p:stCondLst>
                                        </p:cTn>
                                        <p:tgtEl>
                                          <p:spTgt spid="1399"/>
                                        </p:tgtEl>
                                        <p:attrNameLst>
                                          <p:attrName>style.visibility</p:attrName>
                                        </p:attrNameLst>
                                      </p:cBhvr>
                                      <p:to>
                                        <p:strVal val="visible"/>
                                      </p:to>
                                    </p:set>
                                    <p:animEffect filter="fade" transition="in">
                                      <p:cBhvr>
                                        <p:cTn dur="500"/>
                                        <p:tgtEl>
                                          <p:spTgt spid="1399"/>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1401"/>
                                        </p:tgtEl>
                                      </p:cBhvr>
                                    </p:animEffect>
                                    <p:set>
                                      <p:cBhvr>
                                        <p:cTn dur="1" fill="hold">
                                          <p:stCondLst>
                                            <p:cond delay="500"/>
                                          </p:stCondLst>
                                        </p:cTn>
                                        <p:tgtEl>
                                          <p:spTgt spid="1401"/>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1402"/>
                                        </p:tgtEl>
                                      </p:cBhvr>
                                    </p:animEffect>
                                    <p:set>
                                      <p:cBhvr>
                                        <p:cTn dur="1" fill="hold">
                                          <p:stCondLst>
                                            <p:cond delay="500"/>
                                          </p:stCondLst>
                                        </p:cTn>
                                        <p:tgtEl>
                                          <p:spTgt spid="1402"/>
                                        </p:tgtEl>
                                        <p:attrNameLst>
                                          <p:attrName>style.visibility</p:attrName>
                                        </p:attrNameLst>
                                      </p:cBhvr>
                                      <p:to>
                                        <p:strVal val="hidden"/>
                                      </p:to>
                                    </p:se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353"/>
                                        </p:tgtEl>
                                        <p:attrNameLst>
                                          <p:attrName>style.visibility</p:attrName>
                                        </p:attrNameLst>
                                      </p:cBhvr>
                                      <p:to>
                                        <p:strVal val="visible"/>
                                      </p:to>
                                    </p:set>
                                    <p:animEffect filter="fade" transition="in">
                                      <p:cBhvr>
                                        <p:cTn dur="500"/>
                                        <p:tgtEl>
                                          <p:spTgt spid="13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9"/>
                                        </p:tgtEl>
                                        <p:attrNameLst>
                                          <p:attrName>style.visibility</p:attrName>
                                        </p:attrNameLst>
                                      </p:cBhvr>
                                      <p:to>
                                        <p:strVal val="visible"/>
                                      </p:to>
                                    </p:set>
                                    <p:animEffect filter="fade" transition="in">
                                      <p:cBhvr>
                                        <p:cTn dur="500"/>
                                        <p:tgtEl>
                                          <p:spTgt spid="13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4"/>
                                        </p:tgtEl>
                                        <p:attrNameLst>
                                          <p:attrName>style.visibility</p:attrName>
                                        </p:attrNameLst>
                                      </p:cBhvr>
                                      <p:to>
                                        <p:strVal val="visible"/>
                                      </p:to>
                                    </p:set>
                                    <p:animEffect filter="fade" transition="in">
                                      <p:cBhvr>
                                        <p:cTn dur="500"/>
                                        <p:tgtEl>
                                          <p:spTgt spid="13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0"/>
                                        </p:tgtEl>
                                        <p:attrNameLst>
                                          <p:attrName>style.visibility</p:attrName>
                                        </p:attrNameLst>
                                      </p:cBhvr>
                                      <p:to>
                                        <p:strVal val="visible"/>
                                      </p:to>
                                    </p:set>
                                    <p:animEffect filter="fade" transition="in">
                                      <p:cBhvr>
                                        <p:cTn dur="500"/>
                                        <p:tgtEl>
                                          <p:spTgt spid="14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7" name="Shape 1407"/>
        <p:cNvGrpSpPr/>
        <p:nvPr/>
      </p:nvGrpSpPr>
      <p:grpSpPr>
        <a:xfrm>
          <a:off x="0" y="0"/>
          <a:ext cx="0" cy="0"/>
          <a:chOff x="0" y="0"/>
          <a:chExt cx="0" cy="0"/>
        </a:xfrm>
      </p:grpSpPr>
      <p:sp>
        <p:nvSpPr>
          <p:cNvPr id="1408" name="Google Shape;1408;p43"/>
          <p:cNvSpPr txBox="1"/>
          <p:nvPr>
            <p:ph type="title"/>
          </p:nvPr>
        </p:nvSpPr>
        <p:spPr>
          <a:xfrm>
            <a:off x="672320" y="911343"/>
            <a:ext cx="6410405" cy="894622"/>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00A3"/>
              </a:buClr>
              <a:buSzPts val="4400"/>
              <a:buFont typeface="Calibri"/>
              <a:buNone/>
            </a:pPr>
            <a:r>
              <a:rPr lang="en-US">
                <a:latin typeface="Calibri"/>
                <a:ea typeface="Calibri"/>
                <a:cs typeface="Calibri"/>
                <a:sym typeface="Calibri"/>
              </a:rPr>
              <a:t>“Who </a:t>
            </a:r>
            <a:r>
              <a:rPr i="1" lang="en-US">
                <a:latin typeface="Calibri"/>
                <a:ea typeface="Calibri"/>
                <a:cs typeface="Calibri"/>
                <a:sym typeface="Calibri"/>
              </a:rPr>
              <a:t>does</a:t>
            </a:r>
            <a:r>
              <a:rPr lang="en-US">
                <a:latin typeface="Calibri"/>
                <a:ea typeface="Calibri"/>
                <a:cs typeface="Calibri"/>
                <a:sym typeface="Calibri"/>
              </a:rPr>
              <a:t> control the Internet?”</a:t>
            </a:r>
            <a:endParaRPr>
              <a:latin typeface="Calibri"/>
              <a:ea typeface="Calibri"/>
              <a:cs typeface="Calibri"/>
              <a:sym typeface="Calibri"/>
            </a:endParaRPr>
          </a:p>
        </p:txBody>
      </p:sp>
      <p:grpSp>
        <p:nvGrpSpPr>
          <p:cNvPr id="1409" name="Google Shape;1409;p43"/>
          <p:cNvGrpSpPr/>
          <p:nvPr/>
        </p:nvGrpSpPr>
        <p:grpSpPr>
          <a:xfrm>
            <a:off x="7877910" y="685797"/>
            <a:ext cx="3886199" cy="5451233"/>
            <a:chOff x="8229602" y="1107828"/>
            <a:chExt cx="3886199" cy="5451233"/>
          </a:xfrm>
        </p:grpSpPr>
        <p:sp>
          <p:nvSpPr>
            <p:cNvPr id="1410" name="Google Shape;1410;p43"/>
            <p:cNvSpPr/>
            <p:nvPr/>
          </p:nvSpPr>
          <p:spPr>
            <a:xfrm>
              <a:off x="8229602" y="1107828"/>
              <a:ext cx="3886199" cy="5451233"/>
            </a:xfrm>
            <a:prstGeom prst="rect">
              <a:avLst/>
            </a:prstGeom>
            <a:solidFill>
              <a:srgbClr val="B3C6E7"/>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1" name="Google Shape;1411;p43"/>
            <p:cNvSpPr/>
            <p:nvPr/>
          </p:nvSpPr>
          <p:spPr>
            <a:xfrm>
              <a:off x="8458201" y="1389184"/>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2" name="Google Shape;1412;p43"/>
            <p:cNvSpPr/>
            <p:nvPr/>
          </p:nvSpPr>
          <p:spPr>
            <a:xfrm>
              <a:off x="8464574" y="1898630"/>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3" name="Google Shape;1413;p43"/>
            <p:cNvSpPr/>
            <p:nvPr/>
          </p:nvSpPr>
          <p:spPr>
            <a:xfrm>
              <a:off x="8451612" y="2397375"/>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4" name="Google Shape;1414;p43"/>
            <p:cNvSpPr/>
            <p:nvPr/>
          </p:nvSpPr>
          <p:spPr>
            <a:xfrm>
              <a:off x="8460460" y="2850255"/>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5" name="Google Shape;1415;p43"/>
            <p:cNvSpPr txBox="1"/>
            <p:nvPr/>
          </p:nvSpPr>
          <p:spPr>
            <a:xfrm>
              <a:off x="8861670" y="2354330"/>
              <a:ext cx="23749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IT’S COMPLICATED</a:t>
              </a:r>
              <a:endParaRPr/>
            </a:p>
          </p:txBody>
        </p:sp>
        <p:sp>
          <p:nvSpPr>
            <p:cNvPr id="1416" name="Google Shape;1416;p43"/>
            <p:cNvSpPr txBox="1"/>
            <p:nvPr/>
          </p:nvSpPr>
          <p:spPr>
            <a:xfrm>
              <a:off x="8798170" y="1349075"/>
              <a:ext cx="23749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INTERNET USERS</a:t>
              </a:r>
              <a:endParaRPr/>
            </a:p>
          </p:txBody>
        </p:sp>
        <p:sp>
          <p:nvSpPr>
            <p:cNvPr id="1417" name="Google Shape;1417;p43"/>
            <p:cNvSpPr txBox="1"/>
            <p:nvPr/>
          </p:nvSpPr>
          <p:spPr>
            <a:xfrm>
              <a:off x="8810870" y="1874660"/>
              <a:ext cx="3098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INTERNET SERVICE PROVIDERS</a:t>
              </a:r>
              <a:endParaRPr/>
            </a:p>
          </p:txBody>
        </p:sp>
        <p:sp>
          <p:nvSpPr>
            <p:cNvPr id="1418" name="Google Shape;1418;p43"/>
            <p:cNvSpPr txBox="1"/>
            <p:nvPr/>
          </p:nvSpPr>
          <p:spPr>
            <a:xfrm>
              <a:off x="8893909" y="3314644"/>
              <a:ext cx="3098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NATION STATES (COUNTRIES)</a:t>
              </a:r>
              <a:endParaRPr/>
            </a:p>
          </p:txBody>
        </p:sp>
        <p:sp>
          <p:nvSpPr>
            <p:cNvPr id="1419" name="Google Shape;1419;p43"/>
            <p:cNvSpPr/>
            <p:nvPr/>
          </p:nvSpPr>
          <p:spPr>
            <a:xfrm>
              <a:off x="8453688" y="3361956"/>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0" name="Google Shape;1420;p43"/>
            <p:cNvSpPr txBox="1"/>
            <p:nvPr/>
          </p:nvSpPr>
          <p:spPr>
            <a:xfrm>
              <a:off x="8876324" y="2823251"/>
              <a:ext cx="3098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IT’S </a:t>
              </a:r>
              <a:r>
                <a:rPr i="1" lang="en-US" sz="1800">
                  <a:solidFill>
                    <a:schemeClr val="dk1"/>
                  </a:solidFill>
                  <a:latin typeface="Calibri"/>
                  <a:ea typeface="Calibri"/>
                  <a:cs typeface="Calibri"/>
                  <a:sym typeface="Calibri"/>
                </a:rPr>
                <a:t>REALLY</a:t>
              </a:r>
              <a:r>
                <a:rPr lang="en-US" sz="1800">
                  <a:solidFill>
                    <a:schemeClr val="dk1"/>
                  </a:solidFill>
                  <a:latin typeface="Calibri"/>
                  <a:ea typeface="Calibri"/>
                  <a:cs typeface="Calibri"/>
                  <a:sym typeface="Calibri"/>
                </a:rPr>
                <a:t> COMPLICATED</a:t>
              </a:r>
              <a:endParaRPr/>
            </a:p>
          </p:txBody>
        </p:sp>
        <p:sp>
          <p:nvSpPr>
            <p:cNvPr id="1421" name="Google Shape;1421;p43"/>
            <p:cNvSpPr/>
            <p:nvPr/>
          </p:nvSpPr>
          <p:spPr>
            <a:xfrm>
              <a:off x="8458101" y="3866048"/>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2" name="Google Shape;1422;p43"/>
            <p:cNvSpPr/>
            <p:nvPr/>
          </p:nvSpPr>
          <p:spPr>
            <a:xfrm>
              <a:off x="8457377" y="4370140"/>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3" name="Google Shape;1423;p43"/>
            <p:cNvSpPr/>
            <p:nvPr/>
          </p:nvSpPr>
          <p:spPr>
            <a:xfrm>
              <a:off x="8451516" y="4874232"/>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4" name="Google Shape;1424;p43"/>
            <p:cNvSpPr txBox="1"/>
            <p:nvPr/>
          </p:nvSpPr>
          <p:spPr>
            <a:xfrm>
              <a:off x="8888047" y="3837297"/>
              <a:ext cx="3098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UNITED NATIONS</a:t>
              </a:r>
              <a:endParaRPr/>
            </a:p>
          </p:txBody>
        </p:sp>
        <p:sp>
          <p:nvSpPr>
            <p:cNvPr id="1425" name="Google Shape;1425;p43"/>
            <p:cNvSpPr txBox="1"/>
            <p:nvPr/>
          </p:nvSpPr>
          <p:spPr>
            <a:xfrm>
              <a:off x="8847016" y="4358975"/>
              <a:ext cx="3098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STANDARDS BODIES (e.g., IETF)</a:t>
              </a:r>
              <a:endParaRPr/>
            </a:p>
          </p:txBody>
        </p:sp>
        <p:sp>
          <p:nvSpPr>
            <p:cNvPr id="1426" name="Google Shape;1426;p43"/>
            <p:cNvSpPr txBox="1"/>
            <p:nvPr/>
          </p:nvSpPr>
          <p:spPr>
            <a:xfrm>
              <a:off x="8858739" y="4863067"/>
              <a:ext cx="30988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INTERNET EQUIPMENT MANUFACTURES</a:t>
              </a:r>
              <a:endParaRPr/>
            </a:p>
          </p:txBody>
        </p:sp>
        <p:sp>
          <p:nvSpPr>
            <p:cNvPr id="1427" name="Google Shape;1427;p43"/>
            <p:cNvSpPr/>
            <p:nvPr/>
          </p:nvSpPr>
          <p:spPr>
            <a:xfrm>
              <a:off x="8458101" y="5589340"/>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8" name="Google Shape;1428;p43"/>
            <p:cNvSpPr txBox="1"/>
            <p:nvPr/>
          </p:nvSpPr>
          <p:spPr>
            <a:xfrm>
              <a:off x="8817709" y="5560589"/>
              <a:ext cx="3098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SKYNET INC.</a:t>
              </a:r>
              <a:endParaRPr/>
            </a:p>
          </p:txBody>
        </p:sp>
        <p:sp>
          <p:nvSpPr>
            <p:cNvPr id="1429" name="Google Shape;1429;p43"/>
            <p:cNvSpPr/>
            <p:nvPr/>
          </p:nvSpPr>
          <p:spPr>
            <a:xfrm>
              <a:off x="8454413" y="6075848"/>
              <a:ext cx="334107" cy="263769"/>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30" name="Google Shape;1430;p43"/>
            <p:cNvSpPr txBox="1"/>
            <p:nvPr/>
          </p:nvSpPr>
          <p:spPr>
            <a:xfrm>
              <a:off x="8829432" y="6047097"/>
              <a:ext cx="321603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NON-PROFIT ORGANIZATION(S)</a:t>
              </a:r>
              <a:endParaRPr/>
            </a:p>
          </p:txBody>
        </p:sp>
      </p:grpSp>
      <p:sp>
        <p:nvSpPr>
          <p:cNvPr id="1431" name="Google Shape;1431;p43"/>
          <p:cNvSpPr txBox="1"/>
          <p:nvPr/>
        </p:nvSpPr>
        <p:spPr>
          <a:xfrm>
            <a:off x="715107" y="-1589942"/>
            <a:ext cx="9465801" cy="602274"/>
          </a:xfrm>
          <a:prstGeom prst="rect">
            <a:avLst/>
          </a:prstGeom>
          <a:noFill/>
          <a:ln>
            <a:noFill/>
          </a:ln>
        </p:spPr>
        <p:txBody>
          <a:bodyPr anchorCtr="0" anchor="t" bIns="45700" lIns="91425" spcFirstLastPara="1" rIns="91425" wrap="square" tIns="45700">
            <a:normAutofit/>
          </a:bodyPr>
          <a:lstStyle/>
          <a:p>
            <a:pPr indent="-227013" lvl="0" marL="242888" marR="0" rtl="0" algn="l">
              <a:lnSpc>
                <a:spcPct val="90000"/>
              </a:lnSpc>
              <a:spcBef>
                <a:spcPts val="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a great question, but ...</a:t>
            </a:r>
            <a:endParaRPr sz="2400">
              <a:solidFill>
                <a:schemeClr val="dk1"/>
              </a:solidFill>
              <a:latin typeface="Calibri"/>
              <a:ea typeface="Calibri"/>
              <a:cs typeface="Calibri"/>
              <a:sym typeface="Calibri"/>
            </a:endParaRPr>
          </a:p>
        </p:txBody>
      </p:sp>
      <p:grpSp>
        <p:nvGrpSpPr>
          <p:cNvPr id="1432" name="Google Shape;1432;p43"/>
          <p:cNvGrpSpPr/>
          <p:nvPr/>
        </p:nvGrpSpPr>
        <p:grpSpPr>
          <a:xfrm>
            <a:off x="8068715" y="830166"/>
            <a:ext cx="536878" cy="5094500"/>
            <a:chOff x="8068715" y="830166"/>
            <a:chExt cx="536878" cy="5094500"/>
          </a:xfrm>
        </p:grpSpPr>
        <p:pic>
          <p:nvPicPr>
            <p:cNvPr descr="Icon&#10;&#10;Description automatically generated" id="1433" name="Google Shape;1433;p43"/>
            <p:cNvPicPr preferRelativeResize="0"/>
            <p:nvPr/>
          </p:nvPicPr>
          <p:blipFill rotWithShape="1">
            <a:blip r:embed="rId3">
              <a:alphaModFix/>
            </a:blip>
            <a:srcRect b="0" l="0" r="0" t="0"/>
            <a:stretch/>
          </p:blipFill>
          <p:spPr>
            <a:xfrm>
              <a:off x="8104734" y="830166"/>
              <a:ext cx="500859" cy="403470"/>
            </a:xfrm>
            <a:prstGeom prst="rect">
              <a:avLst/>
            </a:prstGeom>
            <a:noFill/>
            <a:ln>
              <a:noFill/>
            </a:ln>
          </p:spPr>
        </p:pic>
        <p:pic>
          <p:nvPicPr>
            <p:cNvPr descr="Icon&#10;&#10;Description automatically generated" id="1434" name="Google Shape;1434;p43"/>
            <p:cNvPicPr preferRelativeResize="0"/>
            <p:nvPr/>
          </p:nvPicPr>
          <p:blipFill rotWithShape="1">
            <a:blip r:embed="rId3">
              <a:alphaModFix/>
            </a:blip>
            <a:srcRect b="0" l="0" r="0" t="0"/>
            <a:stretch/>
          </p:blipFill>
          <p:spPr>
            <a:xfrm>
              <a:off x="8104124" y="1339405"/>
              <a:ext cx="500859" cy="403470"/>
            </a:xfrm>
            <a:prstGeom prst="rect">
              <a:avLst/>
            </a:prstGeom>
            <a:noFill/>
            <a:ln>
              <a:noFill/>
            </a:ln>
          </p:spPr>
        </p:pic>
        <p:pic>
          <p:nvPicPr>
            <p:cNvPr descr="Icon&#10;&#10;Description automatically generated" id="1435" name="Google Shape;1435;p43"/>
            <p:cNvPicPr preferRelativeResize="0"/>
            <p:nvPr/>
          </p:nvPicPr>
          <p:blipFill rotWithShape="1">
            <a:blip r:embed="rId3">
              <a:alphaModFix/>
            </a:blip>
            <a:srcRect b="0" l="0" r="0" t="0"/>
            <a:stretch/>
          </p:blipFill>
          <p:spPr>
            <a:xfrm>
              <a:off x="8102294" y="2805477"/>
              <a:ext cx="500859" cy="403470"/>
            </a:xfrm>
            <a:prstGeom prst="rect">
              <a:avLst/>
            </a:prstGeom>
            <a:noFill/>
            <a:ln>
              <a:noFill/>
            </a:ln>
          </p:spPr>
        </p:pic>
        <p:pic>
          <p:nvPicPr>
            <p:cNvPr descr="Icon&#10;&#10;Description automatically generated" id="1436" name="Google Shape;1436;p43"/>
            <p:cNvPicPr preferRelativeResize="0"/>
            <p:nvPr/>
          </p:nvPicPr>
          <p:blipFill rotWithShape="1">
            <a:blip r:embed="rId3">
              <a:alphaModFix/>
            </a:blip>
            <a:srcRect b="0" l="0" r="0" t="0"/>
            <a:stretch/>
          </p:blipFill>
          <p:spPr>
            <a:xfrm>
              <a:off x="8101683" y="3304441"/>
              <a:ext cx="500859" cy="403470"/>
            </a:xfrm>
            <a:prstGeom prst="rect">
              <a:avLst/>
            </a:prstGeom>
            <a:noFill/>
            <a:ln>
              <a:noFill/>
            </a:ln>
          </p:spPr>
        </p:pic>
        <p:pic>
          <p:nvPicPr>
            <p:cNvPr descr="Icon&#10;&#10;Description automatically generated" id="1437" name="Google Shape;1437;p43"/>
            <p:cNvPicPr preferRelativeResize="0"/>
            <p:nvPr/>
          </p:nvPicPr>
          <p:blipFill rotWithShape="1">
            <a:blip r:embed="rId3">
              <a:alphaModFix/>
            </a:blip>
            <a:srcRect b="0" l="0" r="0" t="0"/>
            <a:stretch/>
          </p:blipFill>
          <p:spPr>
            <a:xfrm>
              <a:off x="8101073" y="3813680"/>
              <a:ext cx="500859" cy="403470"/>
            </a:xfrm>
            <a:prstGeom prst="rect">
              <a:avLst/>
            </a:prstGeom>
            <a:noFill/>
            <a:ln>
              <a:noFill/>
            </a:ln>
          </p:spPr>
        </p:pic>
        <p:pic>
          <p:nvPicPr>
            <p:cNvPr descr="Icon&#10;&#10;Description automatically generated" id="1438" name="Google Shape;1438;p43"/>
            <p:cNvPicPr preferRelativeResize="0"/>
            <p:nvPr/>
          </p:nvPicPr>
          <p:blipFill rotWithShape="1">
            <a:blip r:embed="rId3">
              <a:alphaModFix/>
            </a:blip>
            <a:srcRect b="0" l="0" r="0" t="0"/>
            <a:stretch/>
          </p:blipFill>
          <p:spPr>
            <a:xfrm>
              <a:off x="8095326" y="4322920"/>
              <a:ext cx="500859" cy="403470"/>
            </a:xfrm>
            <a:prstGeom prst="rect">
              <a:avLst/>
            </a:prstGeom>
            <a:noFill/>
            <a:ln>
              <a:noFill/>
            </a:ln>
          </p:spPr>
        </p:pic>
        <p:pic>
          <p:nvPicPr>
            <p:cNvPr descr="Icon&#10;&#10;Description automatically generated" id="1439" name="Google Shape;1439;p43"/>
            <p:cNvPicPr preferRelativeResize="0"/>
            <p:nvPr/>
          </p:nvPicPr>
          <p:blipFill rotWithShape="1">
            <a:blip r:embed="rId3">
              <a:alphaModFix/>
            </a:blip>
            <a:srcRect b="0" l="0" r="0" t="0"/>
            <a:stretch/>
          </p:blipFill>
          <p:spPr>
            <a:xfrm>
              <a:off x="8099243" y="5521196"/>
              <a:ext cx="500859" cy="403470"/>
            </a:xfrm>
            <a:prstGeom prst="rect">
              <a:avLst/>
            </a:prstGeom>
            <a:noFill/>
            <a:ln>
              <a:noFill/>
            </a:ln>
          </p:spPr>
        </p:pic>
        <p:pic>
          <p:nvPicPr>
            <p:cNvPr descr="Icon&#10;&#10;Description automatically generated" id="1440" name="Google Shape;1440;p43"/>
            <p:cNvPicPr preferRelativeResize="0"/>
            <p:nvPr/>
          </p:nvPicPr>
          <p:blipFill rotWithShape="1">
            <a:blip r:embed="rId3">
              <a:alphaModFix/>
            </a:blip>
            <a:srcRect b="0" l="0" r="0" t="0"/>
            <a:stretch/>
          </p:blipFill>
          <p:spPr>
            <a:xfrm>
              <a:off x="8068715" y="1841999"/>
              <a:ext cx="500859" cy="403470"/>
            </a:xfrm>
            <a:prstGeom prst="rect">
              <a:avLst/>
            </a:prstGeom>
            <a:noFill/>
            <a:ln>
              <a:noFill/>
            </a:ln>
          </p:spPr>
        </p:pic>
        <p:pic>
          <p:nvPicPr>
            <p:cNvPr descr="Icon&#10;&#10;Description automatically generated" id="1441" name="Google Shape;1441;p43"/>
            <p:cNvPicPr preferRelativeResize="0"/>
            <p:nvPr/>
          </p:nvPicPr>
          <p:blipFill rotWithShape="1">
            <a:blip r:embed="rId3">
              <a:alphaModFix/>
            </a:blip>
            <a:srcRect b="0" l="0" r="0" t="0"/>
            <a:stretch/>
          </p:blipFill>
          <p:spPr>
            <a:xfrm>
              <a:off x="8097129" y="2304366"/>
              <a:ext cx="500859" cy="403470"/>
            </a:xfrm>
            <a:prstGeom prst="rect">
              <a:avLst/>
            </a:prstGeom>
            <a:noFill/>
            <a:ln>
              <a:noFill/>
            </a:ln>
          </p:spPr>
        </p:pic>
      </p:grpSp>
      <p:sp>
        <p:nvSpPr>
          <p:cNvPr id="1442" name="Google Shape;1442;p43"/>
          <p:cNvSpPr txBox="1"/>
          <p:nvPr/>
        </p:nvSpPr>
        <p:spPr>
          <a:xfrm>
            <a:off x="1208868" y="2216258"/>
            <a:ext cx="5517396" cy="42165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C00000"/>
                </a:solidFill>
                <a:latin typeface="Calibri"/>
                <a:ea typeface="Calibri"/>
                <a:cs typeface="Calibri"/>
                <a:sym typeface="Calibri"/>
              </a:rPr>
              <a:t>Questions to consider:</a:t>
            </a:r>
            <a:endParaRPr/>
          </a:p>
          <a:p>
            <a:pPr indent="-276225" lvl="0" marL="412750" marR="0" rtl="0" algn="l">
              <a:spcBef>
                <a:spcPts val="0"/>
              </a:spcBef>
              <a:spcAft>
                <a:spcPts val="0"/>
              </a:spcAft>
              <a:buClr>
                <a:srgbClr val="010080"/>
              </a:buClr>
              <a:buSzPts val="2400"/>
              <a:buFont typeface="Noto Sans Symbols"/>
              <a:buChar char="▪"/>
            </a:pPr>
            <a:r>
              <a:rPr lang="en-US" sz="2400">
                <a:solidFill>
                  <a:schemeClr val="dk1"/>
                </a:solidFill>
                <a:latin typeface="Calibri"/>
                <a:ea typeface="Calibri"/>
                <a:cs typeface="Calibri"/>
                <a:sym typeface="Calibri"/>
              </a:rPr>
              <a:t>Which governance roles are global, which are more local?</a:t>
            </a:r>
            <a:endParaRPr/>
          </a:p>
          <a:p>
            <a:pPr indent="-276225" lvl="0" marL="412750" marR="0" rtl="0" algn="l">
              <a:spcBef>
                <a:spcPts val="0"/>
              </a:spcBef>
              <a:spcAft>
                <a:spcPts val="0"/>
              </a:spcAft>
              <a:buClr>
                <a:srgbClr val="010080"/>
              </a:buClr>
              <a:buSzPts val="2400"/>
              <a:buFont typeface="Noto Sans Symbols"/>
              <a:buChar char="▪"/>
            </a:pPr>
            <a:r>
              <a:rPr lang="en-US" sz="2400">
                <a:solidFill>
                  <a:schemeClr val="dk1"/>
                </a:solidFill>
                <a:latin typeface="Calibri"/>
                <a:ea typeface="Calibri"/>
                <a:cs typeface="Calibri"/>
                <a:sym typeface="Calibri"/>
              </a:rPr>
              <a:t>Which stakeholders are becoming more or less influential over time?</a:t>
            </a:r>
            <a:endParaRPr/>
          </a:p>
          <a:p>
            <a:pPr indent="-276225" lvl="0" marL="412750" marR="0" rtl="0" algn="l">
              <a:spcBef>
                <a:spcPts val="0"/>
              </a:spcBef>
              <a:spcAft>
                <a:spcPts val="0"/>
              </a:spcAft>
              <a:buClr>
                <a:srgbClr val="010080"/>
              </a:buClr>
              <a:buSzPts val="2400"/>
              <a:buFont typeface="Noto Sans Symbols"/>
              <a:buChar char="▪"/>
            </a:pPr>
            <a:r>
              <a:rPr lang="en-US" sz="2400">
                <a:solidFill>
                  <a:schemeClr val="dk1"/>
                </a:solidFill>
                <a:latin typeface="Calibri"/>
                <a:ea typeface="Calibri"/>
                <a:cs typeface="Calibri"/>
                <a:sym typeface="Calibri"/>
              </a:rPr>
              <a:t>How is Internet governance different from railroad, or phone (landline) network governance?</a:t>
            </a:r>
            <a:endParaRPr/>
          </a:p>
          <a:p>
            <a:pPr indent="-276225" lvl="0" marL="412750" marR="0" rtl="0" algn="l">
              <a:spcBef>
                <a:spcPts val="0"/>
              </a:spcBef>
              <a:spcAft>
                <a:spcPts val="0"/>
              </a:spcAft>
              <a:buClr>
                <a:srgbClr val="010080"/>
              </a:buClr>
              <a:buSzPts val="2400"/>
              <a:buFont typeface="Noto Sans Symbols"/>
              <a:buChar char="▪"/>
            </a:pPr>
            <a:r>
              <a:rPr lang="en-US" sz="2400">
                <a:solidFill>
                  <a:schemeClr val="dk1"/>
                </a:solidFill>
                <a:latin typeface="Calibri"/>
                <a:ea typeface="Calibri"/>
                <a:cs typeface="Calibri"/>
                <a:sym typeface="Calibri"/>
              </a:rPr>
              <a:t>How is Internet governance different from, or similar to, press/media control/governance?</a:t>
            </a:r>
            <a:endParaRPr/>
          </a:p>
        </p:txBody>
      </p:sp>
      <p:sp>
        <p:nvSpPr>
          <p:cNvPr id="1443" name="Google Shape;1443;p4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Supplemental: 1-</a:t>
            </a: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