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embeddedFontLst>
    <p:embeddedFont>
      <p:font typeface="Tahoma"/>
      <p:regular r:id="rId43"/>
      <p:bold r:id="rId44"/>
    </p:embeddedFont>
    <p:embeddedFont>
      <p:font typeface="Gill Sans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7536">
          <p15:clr>
            <a:srgbClr val="A4A3A4"/>
          </p15:clr>
        </p15:guide>
        <p15:guide id="2" orient="horz" pos="41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36"/>
        <p:guide pos="415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Tahoma-bold.fntdata"/><Relationship Id="rId21" Type="http://schemas.openxmlformats.org/officeDocument/2006/relationships/slide" Target="slides/slide16.xml"/><Relationship Id="rId43" Type="http://schemas.openxmlformats.org/officeDocument/2006/relationships/font" Target="fonts/Tahoma-regular.fntdata"/><Relationship Id="rId24" Type="http://schemas.openxmlformats.org/officeDocument/2006/relationships/slide" Target="slides/slide19.xml"/><Relationship Id="rId46" Type="http://schemas.openxmlformats.org/officeDocument/2006/relationships/font" Target="fonts/GillSans-bold.fntdata"/><Relationship Id="rId23" Type="http://schemas.openxmlformats.org/officeDocument/2006/relationships/slide" Target="slides/slide18.xml"/><Relationship Id="rId45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9" name="Google Shape;12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8" name="Google Shape;130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5" name="Google Shape;13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0" name="Google Shape;14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0" name="Google Shape;14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9" name="Google Shape;14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2" name="Google Shape;148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4" name="Google Shape;153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8" name="Google Shape;154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3" name="Google Shape;16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7" name="Google Shape;167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4" name="Google Shape;17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2" name="Google Shape;177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6" name="Google Shape;194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4" name="Google Shape;211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4" name="Google Shape;229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4" name="Google Shape;230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2" name="Google Shape;231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18511" y="2492753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Overview of Network Layer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What’s Inside a Router?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3600"/>
              <a:buChar char="▪"/>
            </a:pPr>
            <a:r>
              <a:rPr lang="en-US" sz="3600"/>
              <a:t>The Internet Protocol: </a:t>
            </a:r>
            <a:endParaRPr/>
          </a:p>
          <a:p>
            <a:pPr indent="-285750" lvl="1" marL="7461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IPv4, addressing </a:t>
            </a:r>
            <a:r>
              <a:rPr lang="en-US" sz="2800"/>
              <a:t>(part 1)</a:t>
            </a:r>
            <a:endParaRPr/>
          </a:p>
          <a:p>
            <a:pPr indent="-285750" lvl="1" marL="7461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NAT, IPv6 </a:t>
            </a:r>
            <a:r>
              <a:rPr lang="en-US" sz="2800"/>
              <a:t>(part 2)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Generalized Forwarding and SDN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Middleboxes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Summary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Layer: Internet</a:t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3137317" y="2215552"/>
            <a:ext cx="7370788" cy="4076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651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888584" y="1413891"/>
            <a:ext cx="75342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host, router network layer functions:</a:t>
            </a:r>
            <a:endParaRPr/>
          </a:p>
        </p:txBody>
      </p:sp>
      <p:cxnSp>
        <p:nvCxnSpPr>
          <p:cNvPr id="50" name="Google Shape;50;p7"/>
          <p:cNvCxnSpPr/>
          <p:nvPr/>
        </p:nvCxnSpPr>
        <p:spPr>
          <a:xfrm flipH="1" rot="10800000">
            <a:off x="3127792" y="5768661"/>
            <a:ext cx="7395303" cy="1082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7"/>
          <p:cNvCxnSpPr/>
          <p:nvPr/>
        </p:nvCxnSpPr>
        <p:spPr>
          <a:xfrm flipH="1" rot="10800000">
            <a:off x="3156367" y="5244860"/>
            <a:ext cx="7366728" cy="10754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" name="Google Shape;52;p7"/>
          <p:cNvGrpSpPr/>
          <p:nvPr/>
        </p:nvGrpSpPr>
        <p:grpSpPr>
          <a:xfrm>
            <a:off x="7184669" y="2927915"/>
            <a:ext cx="3136903" cy="1276350"/>
            <a:chOff x="102" y="1294"/>
            <a:chExt cx="1976" cy="804"/>
          </a:xfrm>
        </p:grpSpPr>
        <p:sp>
          <p:nvSpPr>
            <p:cNvPr id="53" name="Google Shape;53;p7"/>
            <p:cNvSpPr/>
            <p:nvPr/>
          </p:nvSpPr>
          <p:spPr>
            <a:xfrm>
              <a:off x="102" y="1314"/>
              <a:ext cx="1976" cy="784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7"/>
            <p:cNvSpPr txBox="1"/>
            <p:nvPr/>
          </p:nvSpPr>
          <p:spPr>
            <a:xfrm>
              <a:off x="131" y="1294"/>
              <a:ext cx="1918" cy="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IP protocol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datagram format</a:t>
              </a:r>
              <a:endParaRPr/>
            </a:p>
            <a:p>
              <a:pPr indent="-11430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addressing</a:t>
              </a:r>
              <a:endParaRPr/>
            </a:p>
            <a:p>
              <a:pPr indent="-11430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packet handling conventions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7"/>
          <p:cNvSpPr/>
          <p:nvPr/>
        </p:nvSpPr>
        <p:spPr>
          <a:xfrm>
            <a:off x="7723368" y="4279825"/>
            <a:ext cx="2376099" cy="885011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A3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7779352" y="4233489"/>
            <a:ext cx="2455380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ICMP protocol</a:t>
            </a:r>
            <a:endParaRPr/>
          </a:p>
          <a:p>
            <a:pPr indent="-11430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error reporting</a:t>
            </a:r>
            <a:endParaRPr/>
          </a:p>
          <a:p>
            <a:pPr indent="-11430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router “signaling”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7"/>
          <p:cNvCxnSpPr/>
          <p:nvPr/>
        </p:nvCxnSpPr>
        <p:spPr>
          <a:xfrm flipH="1" rot="10800000">
            <a:off x="3156367" y="2825510"/>
            <a:ext cx="7366728" cy="10754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7"/>
          <p:cNvSpPr txBox="1"/>
          <p:nvPr/>
        </p:nvSpPr>
        <p:spPr>
          <a:xfrm>
            <a:off x="5347325" y="2318922"/>
            <a:ext cx="28376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transport layer: TCP, UDP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6161947" y="5335692"/>
            <a:ext cx="112883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link layer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6039527" y="5844577"/>
            <a:ext cx="159530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physical layer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1664488" y="3618902"/>
            <a:ext cx="140615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7"/>
          <p:cNvCxnSpPr/>
          <p:nvPr/>
        </p:nvCxnSpPr>
        <p:spPr>
          <a:xfrm rot="10800000">
            <a:off x="2880142" y="2845789"/>
            <a:ext cx="0" cy="7429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7"/>
          <p:cNvCxnSpPr/>
          <p:nvPr/>
        </p:nvCxnSpPr>
        <p:spPr>
          <a:xfrm>
            <a:off x="2894578" y="4512664"/>
            <a:ext cx="0" cy="7429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" name="Google Shape;64;p7"/>
          <p:cNvGrpSpPr/>
          <p:nvPr/>
        </p:nvGrpSpPr>
        <p:grpSpPr>
          <a:xfrm>
            <a:off x="3407866" y="3093438"/>
            <a:ext cx="3656521" cy="1988228"/>
            <a:chOff x="3407866" y="3093438"/>
            <a:chExt cx="3656521" cy="1988228"/>
          </a:xfrm>
        </p:grpSpPr>
        <p:grpSp>
          <p:nvGrpSpPr>
            <p:cNvPr id="65" name="Google Shape;65;p7"/>
            <p:cNvGrpSpPr/>
            <p:nvPr/>
          </p:nvGrpSpPr>
          <p:grpSpPr>
            <a:xfrm>
              <a:off x="5731569" y="3657572"/>
              <a:ext cx="1332818" cy="1171575"/>
              <a:chOff x="3972" y="2910"/>
              <a:chExt cx="649" cy="738"/>
            </a:xfrm>
          </p:grpSpPr>
          <p:sp>
            <p:nvSpPr>
              <p:cNvPr id="66" name="Google Shape;66;p7"/>
              <p:cNvSpPr/>
              <p:nvPr/>
            </p:nvSpPr>
            <p:spPr>
              <a:xfrm>
                <a:off x="3996" y="2910"/>
                <a:ext cx="582" cy="738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A3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7"/>
              <p:cNvSpPr txBox="1"/>
              <p:nvPr/>
            </p:nvSpPr>
            <p:spPr>
              <a:xfrm>
                <a:off x="3972" y="3071"/>
                <a:ext cx="649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forwarding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table</a:t>
                </a:r>
                <a:endParaRPr/>
              </a:p>
            </p:txBody>
          </p:sp>
          <p:cxnSp>
            <p:nvCxnSpPr>
              <p:cNvPr id="68" name="Google Shape;68;p7"/>
              <p:cNvCxnSpPr/>
              <p:nvPr/>
            </p:nvCxnSpPr>
            <p:spPr>
              <a:xfrm>
                <a:off x="4065" y="2994"/>
                <a:ext cx="43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" name="Google Shape;69;p7"/>
              <p:cNvCxnSpPr/>
              <p:nvPr/>
            </p:nvCxnSpPr>
            <p:spPr>
              <a:xfrm>
                <a:off x="4071" y="3048"/>
                <a:ext cx="43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" name="Google Shape;70;p7"/>
              <p:cNvCxnSpPr/>
              <p:nvPr/>
            </p:nvCxnSpPr>
            <p:spPr>
              <a:xfrm>
                <a:off x="4074" y="3102"/>
                <a:ext cx="43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7"/>
              <p:cNvCxnSpPr/>
              <p:nvPr/>
            </p:nvCxnSpPr>
            <p:spPr>
              <a:xfrm>
                <a:off x="4065" y="3477"/>
                <a:ext cx="43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" name="Google Shape;72;p7"/>
              <p:cNvCxnSpPr/>
              <p:nvPr/>
            </p:nvCxnSpPr>
            <p:spPr>
              <a:xfrm>
                <a:off x="4068" y="3528"/>
                <a:ext cx="43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" name="Google Shape;73;p7"/>
              <p:cNvCxnSpPr/>
              <p:nvPr/>
            </p:nvCxnSpPr>
            <p:spPr>
              <a:xfrm>
                <a:off x="4071" y="3579"/>
                <a:ext cx="43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4" name="Google Shape;74;p7"/>
            <p:cNvSpPr/>
            <p:nvPr/>
          </p:nvSpPr>
          <p:spPr>
            <a:xfrm>
              <a:off x="3407866" y="3093438"/>
              <a:ext cx="2048551" cy="198822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7"/>
            <p:cNvSpPr txBox="1"/>
            <p:nvPr/>
          </p:nvSpPr>
          <p:spPr>
            <a:xfrm>
              <a:off x="3446596" y="3128879"/>
              <a:ext cx="2125210" cy="18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Path-selection  algorithms: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implemented in </a:t>
              </a:r>
              <a:endParaRPr/>
            </a:p>
            <a:p>
              <a:pPr indent="-17145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routing protocols (OSPF, BGP)</a:t>
              </a:r>
              <a:endParaRPr/>
            </a:p>
            <a:p>
              <a:pPr indent="-17145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SDN controller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 rot="5400000">
              <a:off x="5728412" y="2923460"/>
              <a:ext cx="479687" cy="86868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IP Datagram format</a:t>
            </a:r>
            <a:endParaRPr/>
          </a:p>
        </p:txBody>
      </p:sp>
      <p:grpSp>
        <p:nvGrpSpPr>
          <p:cNvPr id="83" name="Google Shape;83;p8"/>
          <p:cNvGrpSpPr/>
          <p:nvPr/>
        </p:nvGrpSpPr>
        <p:grpSpPr>
          <a:xfrm>
            <a:off x="4441383" y="1263416"/>
            <a:ext cx="4040188" cy="5326062"/>
            <a:chOff x="1929" y="607"/>
            <a:chExt cx="2545" cy="3355"/>
          </a:xfrm>
        </p:grpSpPr>
        <p:sp>
          <p:nvSpPr>
            <p:cNvPr id="84" name="Google Shape;84;p8"/>
            <p:cNvSpPr/>
            <p:nvPr/>
          </p:nvSpPr>
          <p:spPr>
            <a:xfrm>
              <a:off x="1980" y="935"/>
              <a:ext cx="2489" cy="3027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39700" rotWithShape="0" algn="bl" dir="189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"/>
            <p:cNvSpPr txBox="1"/>
            <p:nvPr/>
          </p:nvSpPr>
          <p:spPr>
            <a:xfrm>
              <a:off x="1954" y="973"/>
              <a:ext cx="31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 txBox="1"/>
            <p:nvPr/>
          </p:nvSpPr>
          <p:spPr>
            <a:xfrm>
              <a:off x="3529" y="1012"/>
              <a:ext cx="50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length</a:t>
              </a:r>
              <a:endParaRPr/>
            </a:p>
          </p:txBody>
        </p:sp>
        <p:cxnSp>
          <p:nvCxnSpPr>
            <p:cNvPr id="87" name="Google Shape;87;p8"/>
            <p:cNvCxnSpPr/>
            <p:nvPr/>
          </p:nvCxnSpPr>
          <p:spPr>
            <a:xfrm>
              <a:off x="1988" y="1261"/>
              <a:ext cx="2486" cy="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" name="Google Shape;88;p8"/>
            <p:cNvCxnSpPr/>
            <p:nvPr/>
          </p:nvCxnSpPr>
          <p:spPr>
            <a:xfrm rot="10800000">
              <a:off x="3210" y="941"/>
              <a:ext cx="0" cy="31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" name="Google Shape;89;p8"/>
            <p:cNvSpPr txBox="1"/>
            <p:nvPr/>
          </p:nvSpPr>
          <p:spPr>
            <a:xfrm>
              <a:off x="2922" y="607"/>
              <a:ext cx="5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32 bits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" name="Google Shape;90;p8"/>
            <p:cNvCxnSpPr/>
            <p:nvPr/>
          </p:nvCxnSpPr>
          <p:spPr>
            <a:xfrm>
              <a:off x="3552" y="762"/>
              <a:ext cx="899" cy="3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1972" y="769"/>
              <a:ext cx="845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2" name="Google Shape;92;p8"/>
            <p:cNvSpPr txBox="1"/>
            <p:nvPr/>
          </p:nvSpPr>
          <p:spPr>
            <a:xfrm>
              <a:off x="2578" y="2943"/>
              <a:ext cx="1351" cy="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payload data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(variable length,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typically a TCP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 UDP segment)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8"/>
            <p:cNvSpPr txBox="1"/>
            <p:nvPr/>
          </p:nvSpPr>
          <p:spPr>
            <a:xfrm>
              <a:off x="1929" y="1320"/>
              <a:ext cx="135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16-bit identifier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" name="Google Shape;94;p8"/>
            <p:cNvCxnSpPr/>
            <p:nvPr/>
          </p:nvCxnSpPr>
          <p:spPr>
            <a:xfrm>
              <a:off x="1984" y="2205"/>
              <a:ext cx="24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8"/>
            <p:cNvCxnSpPr/>
            <p:nvPr/>
          </p:nvCxnSpPr>
          <p:spPr>
            <a:xfrm>
              <a:off x="1984" y="2505"/>
              <a:ext cx="24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" name="Google Shape;96;p8"/>
            <p:cNvSpPr txBox="1"/>
            <p:nvPr/>
          </p:nvSpPr>
          <p:spPr>
            <a:xfrm>
              <a:off x="3464" y="1549"/>
              <a:ext cx="8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checksum</a:t>
              </a:r>
              <a:endParaRPr/>
            </a:p>
          </p:txBody>
        </p:sp>
        <p:sp>
          <p:nvSpPr>
            <p:cNvPr id="97" name="Google Shape;97;p8"/>
            <p:cNvSpPr txBox="1"/>
            <p:nvPr/>
          </p:nvSpPr>
          <p:spPr>
            <a:xfrm>
              <a:off x="2008" y="1531"/>
              <a:ext cx="548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 to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live</a:t>
              </a:r>
              <a:endParaRPr/>
            </a:p>
          </p:txBody>
        </p:sp>
        <p:sp>
          <p:nvSpPr>
            <p:cNvPr id="98" name="Google Shape;98;p8"/>
            <p:cNvSpPr txBox="1"/>
            <p:nvPr/>
          </p:nvSpPr>
          <p:spPr>
            <a:xfrm>
              <a:off x="2539" y="1959"/>
              <a:ext cx="132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 IP address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 txBox="1"/>
            <p:nvPr/>
          </p:nvSpPr>
          <p:spPr>
            <a:xfrm>
              <a:off x="2222" y="907"/>
              <a:ext cx="47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head.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 txBox="1"/>
            <p:nvPr/>
          </p:nvSpPr>
          <p:spPr>
            <a:xfrm>
              <a:off x="2646" y="901"/>
              <a:ext cx="572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type of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" name="Google Shape;101;p8"/>
            <p:cNvCxnSpPr/>
            <p:nvPr/>
          </p:nvCxnSpPr>
          <p:spPr>
            <a:xfrm rot="10800000">
              <a:off x="2646" y="938"/>
              <a:ext cx="0" cy="31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8"/>
            <p:cNvCxnSpPr/>
            <p:nvPr/>
          </p:nvCxnSpPr>
          <p:spPr>
            <a:xfrm rot="10800000">
              <a:off x="2259" y="944"/>
              <a:ext cx="0" cy="31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8"/>
            <p:cNvCxnSpPr/>
            <p:nvPr/>
          </p:nvCxnSpPr>
          <p:spPr>
            <a:xfrm rot="10800000">
              <a:off x="3210" y="1265"/>
              <a:ext cx="0" cy="31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" name="Google Shape;104;p8"/>
            <p:cNvSpPr txBox="1"/>
            <p:nvPr/>
          </p:nvSpPr>
          <p:spPr>
            <a:xfrm>
              <a:off x="3117" y="1314"/>
              <a:ext cx="48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flgs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" name="Google Shape;105;p8"/>
            <p:cNvCxnSpPr/>
            <p:nvPr/>
          </p:nvCxnSpPr>
          <p:spPr>
            <a:xfrm rot="10800000">
              <a:off x="3504" y="1259"/>
              <a:ext cx="0" cy="31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" name="Google Shape;106;p8"/>
            <p:cNvSpPr txBox="1"/>
            <p:nvPr/>
          </p:nvSpPr>
          <p:spPr>
            <a:xfrm>
              <a:off x="3531" y="1230"/>
              <a:ext cx="900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fragment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offset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" name="Google Shape;107;p8"/>
            <p:cNvCxnSpPr/>
            <p:nvPr/>
          </p:nvCxnSpPr>
          <p:spPr>
            <a:xfrm>
              <a:off x="1984" y="1581"/>
              <a:ext cx="24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" name="Google Shape;108;p8"/>
            <p:cNvCxnSpPr/>
            <p:nvPr/>
          </p:nvCxnSpPr>
          <p:spPr>
            <a:xfrm rot="10800000">
              <a:off x="3210" y="1583"/>
              <a:ext cx="0" cy="31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8"/>
            <p:cNvCxnSpPr/>
            <p:nvPr/>
          </p:nvCxnSpPr>
          <p:spPr>
            <a:xfrm>
              <a:off x="1972" y="1905"/>
              <a:ext cx="24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" name="Google Shape;110;p8"/>
            <p:cNvSpPr txBox="1"/>
            <p:nvPr/>
          </p:nvSpPr>
          <p:spPr>
            <a:xfrm>
              <a:off x="2668" y="1525"/>
              <a:ext cx="48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upper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layer</a:t>
              </a:r>
              <a:endParaRPr/>
            </a:p>
          </p:txBody>
        </p:sp>
        <p:cxnSp>
          <p:nvCxnSpPr>
            <p:cNvPr id="111" name="Google Shape;111;p8"/>
            <p:cNvCxnSpPr/>
            <p:nvPr/>
          </p:nvCxnSpPr>
          <p:spPr>
            <a:xfrm rot="10800000">
              <a:off x="2610" y="1589"/>
              <a:ext cx="0" cy="31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" name="Google Shape;112;p8"/>
            <p:cNvSpPr txBox="1"/>
            <p:nvPr/>
          </p:nvSpPr>
          <p:spPr>
            <a:xfrm>
              <a:off x="2450" y="2235"/>
              <a:ext cx="155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destination IP address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" name="Google Shape;113;p8"/>
            <p:cNvCxnSpPr/>
            <p:nvPr/>
          </p:nvCxnSpPr>
          <p:spPr>
            <a:xfrm>
              <a:off x="1984" y="2787"/>
              <a:ext cx="24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" name="Google Shape;114;p8"/>
            <p:cNvSpPr txBox="1"/>
            <p:nvPr/>
          </p:nvSpPr>
          <p:spPr>
            <a:xfrm>
              <a:off x="2673" y="2529"/>
              <a:ext cx="10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options (if any)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>
            <a:off x="1064770" y="1650761"/>
            <a:ext cx="3598863" cy="369886"/>
            <a:chOff x="-198" y="851"/>
            <a:chExt cx="2267" cy="233"/>
          </a:xfrm>
        </p:grpSpPr>
        <p:sp>
          <p:nvSpPr>
            <p:cNvPr id="116" name="Google Shape;116;p8"/>
            <p:cNvSpPr txBox="1"/>
            <p:nvPr/>
          </p:nvSpPr>
          <p:spPr>
            <a:xfrm>
              <a:off x="-198" y="851"/>
              <a:ext cx="196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protocol version number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8"/>
            <p:cNvCxnSpPr/>
            <p:nvPr/>
          </p:nvCxnSpPr>
          <p:spPr>
            <a:xfrm>
              <a:off x="1740" y="996"/>
              <a:ext cx="329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" name="Google Shape;118;p8"/>
          <p:cNvGrpSpPr/>
          <p:nvPr/>
        </p:nvGrpSpPr>
        <p:grpSpPr>
          <a:xfrm>
            <a:off x="1228282" y="2004782"/>
            <a:ext cx="3817939" cy="369888"/>
            <a:chOff x="-95" y="1074"/>
            <a:chExt cx="2405" cy="233"/>
          </a:xfrm>
        </p:grpSpPr>
        <p:sp>
          <p:nvSpPr>
            <p:cNvPr id="119" name="Google Shape;119;p8"/>
            <p:cNvSpPr txBox="1"/>
            <p:nvPr/>
          </p:nvSpPr>
          <p:spPr>
            <a:xfrm>
              <a:off x="-95" y="1074"/>
              <a:ext cx="185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 length(bytes)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" name="Google Shape;120;p8"/>
            <p:cNvCxnSpPr/>
            <p:nvPr/>
          </p:nvCxnSpPr>
          <p:spPr>
            <a:xfrm>
              <a:off x="1748" y="1184"/>
              <a:ext cx="562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" name="Google Shape;121;p8"/>
          <p:cNvGrpSpPr/>
          <p:nvPr/>
        </p:nvGrpSpPr>
        <p:grpSpPr>
          <a:xfrm>
            <a:off x="151955" y="3111541"/>
            <a:ext cx="5535615" cy="1247776"/>
            <a:chOff x="-773" y="1434"/>
            <a:chExt cx="3487" cy="786"/>
          </a:xfrm>
        </p:grpSpPr>
        <p:sp>
          <p:nvSpPr>
            <p:cNvPr id="122" name="Google Shape;122;p8"/>
            <p:cNvSpPr txBox="1"/>
            <p:nvPr/>
          </p:nvSpPr>
          <p:spPr>
            <a:xfrm>
              <a:off x="-773" y="1987"/>
              <a:ext cx="256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upper layer protocol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(e.g., TCP or UDP)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" name="Google Shape;123;p8"/>
            <p:cNvCxnSpPr/>
            <p:nvPr/>
          </p:nvCxnSpPr>
          <p:spPr>
            <a:xfrm flipH="1" rot="10800000">
              <a:off x="1766" y="1434"/>
              <a:ext cx="948" cy="672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" name="Google Shape;124;p8"/>
          <p:cNvGrpSpPr/>
          <p:nvPr/>
        </p:nvGrpSpPr>
        <p:grpSpPr>
          <a:xfrm>
            <a:off x="8102158" y="1652352"/>
            <a:ext cx="2322512" cy="641350"/>
            <a:chOff x="4235" y="852"/>
            <a:chExt cx="1463" cy="404"/>
          </a:xfrm>
        </p:grpSpPr>
        <p:sp>
          <p:nvSpPr>
            <p:cNvPr id="125" name="Google Shape;125;p8"/>
            <p:cNvSpPr txBox="1"/>
            <p:nvPr/>
          </p:nvSpPr>
          <p:spPr>
            <a:xfrm>
              <a:off x="4662" y="852"/>
              <a:ext cx="103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total datagram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length (bytes)</a:t>
              </a:r>
              <a:endParaRPr/>
            </a:p>
          </p:txBody>
        </p:sp>
        <p:cxnSp>
          <p:nvCxnSpPr>
            <p:cNvPr id="126" name="Google Shape;126;p8"/>
            <p:cNvCxnSpPr/>
            <p:nvPr/>
          </p:nvCxnSpPr>
          <p:spPr>
            <a:xfrm rot="10800000">
              <a:off x="4235" y="1149"/>
              <a:ext cx="429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" name="Google Shape;127;p8"/>
          <p:cNvGrpSpPr/>
          <p:nvPr/>
        </p:nvGrpSpPr>
        <p:grpSpPr>
          <a:xfrm>
            <a:off x="2323661" y="2060348"/>
            <a:ext cx="3378202" cy="1452568"/>
            <a:chOff x="595" y="1109"/>
            <a:chExt cx="2128" cy="915"/>
          </a:xfrm>
        </p:grpSpPr>
        <p:sp>
          <p:nvSpPr>
            <p:cNvPr id="128" name="Google Shape;128;p8"/>
            <p:cNvSpPr txBox="1"/>
            <p:nvPr/>
          </p:nvSpPr>
          <p:spPr>
            <a:xfrm>
              <a:off x="595" y="1307"/>
              <a:ext cx="1202" cy="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“type” of service:</a:t>
              </a:r>
              <a:endParaRPr/>
            </a:p>
            <a:p>
              <a:pPr indent="-16510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600"/>
                <a:buFont typeface="Noto Sans Symbols"/>
                <a:buChar char="▪"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diffserv (0:5)</a:t>
              </a:r>
              <a:endParaRPr/>
            </a:p>
            <a:p>
              <a:pPr indent="-16510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600"/>
                <a:buFont typeface="Noto Sans Symbols"/>
                <a:buChar char="▪"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ECN (6:7)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" name="Google Shape;129;p8"/>
            <p:cNvCxnSpPr/>
            <p:nvPr/>
          </p:nvCxnSpPr>
          <p:spPr>
            <a:xfrm flipH="1" rot="10800000">
              <a:off x="1746" y="1109"/>
              <a:ext cx="977" cy="32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0" name="Google Shape;130;p8"/>
          <p:cNvGrpSpPr/>
          <p:nvPr/>
        </p:nvGrpSpPr>
        <p:grpSpPr>
          <a:xfrm>
            <a:off x="6330509" y="2273066"/>
            <a:ext cx="4110038" cy="646113"/>
            <a:chOff x="3119" y="1243"/>
            <a:chExt cx="2589" cy="407"/>
          </a:xfrm>
        </p:grpSpPr>
        <p:sp>
          <p:nvSpPr>
            <p:cNvPr id="131" name="Google Shape;131;p8"/>
            <p:cNvSpPr txBox="1"/>
            <p:nvPr/>
          </p:nvSpPr>
          <p:spPr>
            <a:xfrm>
              <a:off x="4663" y="1243"/>
              <a:ext cx="104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fragmentation/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reassembly</a:t>
              </a:r>
              <a:endParaRPr/>
            </a:p>
          </p:txBody>
        </p:sp>
        <p:cxnSp>
          <p:nvCxnSpPr>
            <p:cNvPr id="132" name="Google Shape;132;p8"/>
            <p:cNvCxnSpPr/>
            <p:nvPr/>
          </p:nvCxnSpPr>
          <p:spPr>
            <a:xfrm flipH="1">
              <a:off x="3443" y="1358"/>
              <a:ext cx="1228" cy="177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8"/>
            <p:cNvCxnSpPr/>
            <p:nvPr/>
          </p:nvCxnSpPr>
          <p:spPr>
            <a:xfrm rot="10800000">
              <a:off x="4301" y="1349"/>
              <a:ext cx="381" cy="2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8"/>
            <p:cNvCxnSpPr/>
            <p:nvPr/>
          </p:nvCxnSpPr>
          <p:spPr>
            <a:xfrm flipH="1">
              <a:off x="3119" y="1354"/>
              <a:ext cx="1555" cy="103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5" name="Google Shape;135;p8"/>
          <p:cNvGrpSpPr/>
          <p:nvPr/>
        </p:nvGrpSpPr>
        <p:grpSpPr>
          <a:xfrm>
            <a:off x="786919" y="3200477"/>
            <a:ext cx="3975103" cy="723900"/>
            <a:chOff x="-366" y="1483"/>
            <a:chExt cx="2504" cy="456"/>
          </a:xfrm>
        </p:grpSpPr>
        <p:sp>
          <p:nvSpPr>
            <p:cNvPr id="136" name="Google Shape;136;p8"/>
            <p:cNvSpPr txBox="1"/>
            <p:nvPr/>
          </p:nvSpPr>
          <p:spPr>
            <a:xfrm>
              <a:off x="-366" y="1551"/>
              <a:ext cx="2144" cy="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TTL: remaining  max hops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(decremented at each router)</a:t>
              </a:r>
              <a:endParaRPr/>
            </a:p>
          </p:txBody>
        </p:sp>
        <p:cxnSp>
          <p:nvCxnSpPr>
            <p:cNvPr id="137" name="Google Shape;137;p8"/>
            <p:cNvCxnSpPr/>
            <p:nvPr/>
          </p:nvCxnSpPr>
          <p:spPr>
            <a:xfrm flipH="1" rot="10800000">
              <a:off x="1753" y="1483"/>
              <a:ext cx="385" cy="277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" name="Google Shape;138;p8"/>
          <p:cNvGrpSpPr/>
          <p:nvPr/>
        </p:nvGrpSpPr>
        <p:grpSpPr>
          <a:xfrm>
            <a:off x="1134317" y="4446414"/>
            <a:ext cx="2823045" cy="2083632"/>
            <a:chOff x="419725" y="4467070"/>
            <a:chExt cx="2823045" cy="2083632"/>
          </a:xfrm>
        </p:grpSpPr>
        <p:sp>
          <p:nvSpPr>
            <p:cNvPr id="139" name="Google Shape;139;p8"/>
            <p:cNvSpPr/>
            <p:nvPr/>
          </p:nvSpPr>
          <p:spPr>
            <a:xfrm>
              <a:off x="437293" y="4954788"/>
              <a:ext cx="2805477" cy="1465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3837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 bytes of TCP</a:t>
              </a:r>
              <a:endParaRPr/>
            </a:p>
            <a:p>
              <a:pPr indent="-223837" lvl="0" marL="342900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 bytes of IP</a:t>
              </a:r>
              <a:endParaRPr/>
            </a:p>
            <a:p>
              <a:pPr indent="-223837" lvl="0" marL="342900" marR="0" rtl="0" algn="l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40 bytes + app layer overhead for TCP+IP</a:t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419725" y="4751882"/>
              <a:ext cx="2683239" cy="1798820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599607" y="4467070"/>
              <a:ext cx="1561325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overhead</a:t>
              </a: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7719934" y="4348085"/>
            <a:ext cx="3971903" cy="646113"/>
            <a:chOff x="7719934" y="4348085"/>
            <a:chExt cx="3971903" cy="646113"/>
          </a:xfrm>
        </p:grpSpPr>
        <p:sp>
          <p:nvSpPr>
            <p:cNvPr id="143" name="Google Shape;143;p8"/>
            <p:cNvSpPr txBox="1"/>
            <p:nvPr/>
          </p:nvSpPr>
          <p:spPr>
            <a:xfrm>
              <a:off x="8778774" y="4348085"/>
              <a:ext cx="2913063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e.g., timestamp, record route taken</a:t>
              </a:r>
              <a:endParaRPr/>
            </a:p>
          </p:txBody>
        </p:sp>
        <p:cxnSp>
          <p:nvCxnSpPr>
            <p:cNvPr id="144" name="Google Shape;144;p8"/>
            <p:cNvCxnSpPr/>
            <p:nvPr/>
          </p:nvCxnSpPr>
          <p:spPr>
            <a:xfrm>
              <a:off x="7719934" y="4542020"/>
              <a:ext cx="989350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5" name="Google Shape;145;p8"/>
          <p:cNvGrpSpPr/>
          <p:nvPr/>
        </p:nvGrpSpPr>
        <p:grpSpPr>
          <a:xfrm>
            <a:off x="7739650" y="3384606"/>
            <a:ext cx="3971903" cy="369332"/>
            <a:chOff x="7719934" y="4348085"/>
            <a:chExt cx="3971903" cy="369332"/>
          </a:xfrm>
        </p:grpSpPr>
        <p:sp>
          <p:nvSpPr>
            <p:cNvPr id="146" name="Google Shape;146;p8"/>
            <p:cNvSpPr txBox="1"/>
            <p:nvPr/>
          </p:nvSpPr>
          <p:spPr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32-bit source IP address</a:t>
              </a:r>
              <a:endParaRPr/>
            </a:p>
          </p:txBody>
        </p:sp>
        <p:cxnSp>
          <p:nvCxnSpPr>
            <p:cNvPr id="147" name="Google Shape;147;p8"/>
            <p:cNvCxnSpPr/>
            <p:nvPr/>
          </p:nvCxnSpPr>
          <p:spPr>
            <a:xfrm>
              <a:off x="7719934" y="4542020"/>
              <a:ext cx="989350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8" name="Google Shape;148;p8"/>
          <p:cNvGrpSpPr/>
          <p:nvPr/>
        </p:nvGrpSpPr>
        <p:grpSpPr>
          <a:xfrm>
            <a:off x="7721569" y="3862471"/>
            <a:ext cx="4181130" cy="369332"/>
            <a:chOff x="7719934" y="4348085"/>
            <a:chExt cx="4181130" cy="369332"/>
          </a:xfrm>
        </p:grpSpPr>
        <p:sp>
          <p:nvSpPr>
            <p:cNvPr id="149" name="Google Shape;149;p8"/>
            <p:cNvSpPr txBox="1"/>
            <p:nvPr/>
          </p:nvSpPr>
          <p:spPr>
            <a:xfrm>
              <a:off x="8778774" y="4348085"/>
              <a:ext cx="31222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32-bit destination IP address</a:t>
              </a:r>
              <a:endParaRPr/>
            </a:p>
          </p:txBody>
        </p:sp>
        <p:cxnSp>
          <p:nvCxnSpPr>
            <p:cNvPr id="150" name="Google Shape;150;p8"/>
            <p:cNvCxnSpPr/>
            <p:nvPr/>
          </p:nvCxnSpPr>
          <p:spPr>
            <a:xfrm>
              <a:off x="7719934" y="4542020"/>
              <a:ext cx="989350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1" name="Google Shape;151;p8"/>
          <p:cNvGrpSpPr/>
          <p:nvPr/>
        </p:nvGrpSpPr>
        <p:grpSpPr>
          <a:xfrm>
            <a:off x="7737066" y="2920899"/>
            <a:ext cx="3971903" cy="369332"/>
            <a:chOff x="7719934" y="4348085"/>
            <a:chExt cx="3971903" cy="369332"/>
          </a:xfrm>
        </p:grpSpPr>
        <p:sp>
          <p:nvSpPr>
            <p:cNvPr id="152" name="Google Shape;152;p8"/>
            <p:cNvSpPr txBox="1"/>
            <p:nvPr/>
          </p:nvSpPr>
          <p:spPr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 checksum</a:t>
              </a:r>
              <a:endParaRPr/>
            </a:p>
          </p:txBody>
        </p:sp>
        <p:cxnSp>
          <p:nvCxnSpPr>
            <p:cNvPr id="153" name="Google Shape;153;p8"/>
            <p:cNvCxnSpPr/>
            <p:nvPr/>
          </p:nvCxnSpPr>
          <p:spPr>
            <a:xfrm>
              <a:off x="7719934" y="4542020"/>
              <a:ext cx="989350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4" name="Google Shape;154;p8"/>
          <p:cNvGrpSpPr/>
          <p:nvPr/>
        </p:nvGrpSpPr>
        <p:grpSpPr>
          <a:xfrm>
            <a:off x="8948060" y="1758043"/>
            <a:ext cx="2808718" cy="4833257"/>
            <a:chOff x="9209324" y="1834243"/>
            <a:chExt cx="2808718" cy="4833257"/>
          </a:xfrm>
        </p:grpSpPr>
        <p:cxnSp>
          <p:nvCxnSpPr>
            <p:cNvPr id="155" name="Google Shape;155;p8"/>
            <p:cNvCxnSpPr/>
            <p:nvPr/>
          </p:nvCxnSpPr>
          <p:spPr>
            <a:xfrm>
              <a:off x="11097988" y="1834243"/>
              <a:ext cx="0" cy="4833257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56" name="Google Shape;156;p8"/>
            <p:cNvCxnSpPr/>
            <p:nvPr/>
          </p:nvCxnSpPr>
          <p:spPr>
            <a:xfrm>
              <a:off x="10823536" y="1839686"/>
              <a:ext cx="600364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8"/>
            <p:cNvCxnSpPr/>
            <p:nvPr/>
          </p:nvCxnSpPr>
          <p:spPr>
            <a:xfrm>
              <a:off x="10828978" y="6645729"/>
              <a:ext cx="600364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8" name="Google Shape;158;p8"/>
            <p:cNvSpPr txBox="1"/>
            <p:nvPr/>
          </p:nvSpPr>
          <p:spPr>
            <a:xfrm>
              <a:off x="9209324" y="3788229"/>
              <a:ext cx="2808718" cy="6463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Maximum length: 64K bytes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Typically: 1500 bytes or less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872790" y="1409001"/>
            <a:ext cx="5557988" cy="4841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00000"/>
                </a:solidFill>
              </a:rPr>
              <a:t>IP address: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32-bit identifier associated with each host or router </a:t>
            </a:r>
            <a:r>
              <a:rPr i="1" lang="en-US">
                <a:solidFill>
                  <a:srgbClr val="0000A3"/>
                </a:solidFill>
              </a:rPr>
              <a:t>interface</a:t>
            </a:r>
            <a:r>
              <a:rPr lang="en-US"/>
              <a:t> </a:t>
            </a:r>
            <a:endParaRPr/>
          </a:p>
          <a:p>
            <a:pPr indent="-293688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C0000"/>
                </a:solidFill>
              </a:rPr>
              <a:t>interface:</a:t>
            </a:r>
            <a:r>
              <a:rPr lang="en-US"/>
              <a:t> connection between host/router and physical link</a:t>
            </a:r>
            <a:endParaRPr/>
          </a:p>
          <a:p>
            <a:pPr indent="-298449" lvl="1" marL="5222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router’s typically have multiple interfaces</a:t>
            </a:r>
            <a:endParaRPr/>
          </a:p>
          <a:p>
            <a:pPr indent="-298449" lvl="1" marL="5222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host typically has one or two interfaces </a:t>
            </a:r>
            <a:r>
              <a:rPr lang="en-US"/>
              <a:t>(e.g., wired Ethernet, wireless 802.11)</a:t>
            </a:r>
            <a:endParaRPr/>
          </a:p>
          <a:p>
            <a:pPr indent="0" lvl="0" marL="2984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165" name="Google Shape;165;p9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IP addressing: introduction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 rot="-5400000">
            <a:off x="8946356" y="3046530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 rot="10800000">
            <a:off x="9944100" y="1720173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7908925" y="1302661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70" name="Google Shape;170;p9"/>
          <p:cNvGrpSpPr/>
          <p:nvPr/>
        </p:nvGrpSpPr>
        <p:grpSpPr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171" name="Google Shape;171;p9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9"/>
            <p:cNvSpPr txBox="1"/>
            <p:nvPr/>
          </p:nvSpPr>
          <p:spPr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173" name="Google Shape;173;p9"/>
          <p:cNvSpPr txBox="1"/>
          <p:nvPr/>
        </p:nvSpPr>
        <p:spPr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78" name="Google Shape;178;p9"/>
          <p:cNvCxnSpPr/>
          <p:nvPr/>
        </p:nvCxnSpPr>
        <p:spPr>
          <a:xfrm>
            <a:off x="9359900" y="2735036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9"/>
          <p:cNvSpPr txBox="1"/>
          <p:nvPr/>
        </p:nvSpPr>
        <p:spPr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81" name="Google Shape;181;p9"/>
          <p:cNvGrpSpPr/>
          <p:nvPr/>
        </p:nvGrpSpPr>
        <p:grpSpPr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182" name="Google Shape;182;p9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9"/>
            <p:cNvSpPr txBox="1"/>
            <p:nvPr/>
          </p:nvSpPr>
          <p:spPr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84" name="Google Shape;184;p9"/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185" name="Google Shape;185;p9"/>
            <p:cNvSpPr txBox="1"/>
            <p:nvPr/>
          </p:nvSpPr>
          <p:spPr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223.1.1.1 = 11011111 00000001 00000001 00000001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7905750" y="5447623"/>
              <a:ext cx="892175" cy="92075"/>
            </a:xfrm>
            <a:custGeom>
              <a:rect b="b" l="l" r="r" t="t"/>
              <a:pathLst>
                <a:path extrusionOk="0" h="58" w="562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8867775" y="5466673"/>
              <a:ext cx="892175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9832975" y="5469848"/>
              <a:ext cx="869950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10798175" y="5473023"/>
              <a:ext cx="869950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93" name="Google Shape;193;p9"/>
            <p:cNvSpPr txBox="1"/>
            <p:nvPr/>
          </p:nvSpPr>
          <p:spPr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94" name="Google Shape;194;p9"/>
          <p:cNvGrpSpPr/>
          <p:nvPr/>
        </p:nvGrpSpPr>
        <p:grpSpPr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descr="desktop_computer_stylized_medium" id="195" name="Google Shape;19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descr="desktop_computer_stylized_medium" id="198" name="Google Shape;19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descr="desktop_computer_stylized_medium" id="201" name="Google Shape;20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9"/>
          <p:cNvGrpSpPr/>
          <p:nvPr/>
        </p:nvGrpSpPr>
        <p:grpSpPr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descr="desktop_computer_stylized_medium" id="204" name="Google Shape;204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9"/>
          <p:cNvGrpSpPr/>
          <p:nvPr/>
        </p:nvGrpSpPr>
        <p:grpSpPr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descr="desktop_computer_stylized_medium" id="207" name="Google Shape;20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9"/>
          <p:cNvGrpSpPr/>
          <p:nvPr/>
        </p:nvGrpSpPr>
        <p:grpSpPr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descr="desktop_computer_stylized_medium" id="210" name="Google Shape;21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9"/>
          <p:cNvGrpSpPr/>
          <p:nvPr/>
        </p:nvGrpSpPr>
        <p:grpSpPr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descr="desktop_computer_stylized_medium" id="213" name="Google Shape;21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5" name="Google Shape;215;p9"/>
          <p:cNvCxnSpPr/>
          <p:nvPr/>
        </p:nvCxnSpPr>
        <p:spPr>
          <a:xfrm>
            <a:off x="7697391" y="1785938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" name="Google Shape;216;p9"/>
          <p:cNvCxnSpPr/>
          <p:nvPr/>
        </p:nvCxnSpPr>
        <p:spPr>
          <a:xfrm>
            <a:off x="7706916" y="2384823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7" name="Google Shape;217;p9"/>
          <p:cNvCxnSpPr/>
          <p:nvPr/>
        </p:nvCxnSpPr>
        <p:spPr>
          <a:xfrm>
            <a:off x="7734301" y="299799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9"/>
          <p:cNvCxnSpPr/>
          <p:nvPr/>
        </p:nvCxnSpPr>
        <p:spPr>
          <a:xfrm>
            <a:off x="8364512" y="2578622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" name="Google Shape;219;p9"/>
          <p:cNvCxnSpPr/>
          <p:nvPr/>
        </p:nvCxnSpPr>
        <p:spPr>
          <a:xfrm>
            <a:off x="9547622" y="2584574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0" name="Google Shape;220;p9"/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221" name="Google Shape;221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3" name="Google Shape;223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4" name="Google Shape;224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28" name="Google Shape;228;p9"/>
          <p:cNvCxnSpPr/>
          <p:nvPr/>
        </p:nvCxnSpPr>
        <p:spPr>
          <a:xfrm>
            <a:off x="10629900" y="194242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" name="Google Shape;229;p9"/>
          <p:cNvCxnSpPr/>
          <p:nvPr/>
        </p:nvCxnSpPr>
        <p:spPr>
          <a:xfrm>
            <a:off x="10631261" y="3225575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0" name="Google Shape;230;p9"/>
          <p:cNvCxnSpPr/>
          <p:nvPr/>
        </p:nvCxnSpPr>
        <p:spPr>
          <a:xfrm>
            <a:off x="8740878" y="418198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1" name="Google Shape;231;p9"/>
          <p:cNvCxnSpPr/>
          <p:nvPr/>
        </p:nvCxnSpPr>
        <p:spPr>
          <a:xfrm>
            <a:off x="9886336" y="414429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9"/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dotted-decimal IP address notation: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/>
          <p:nvPr>
            <p:ph idx="1" type="body"/>
          </p:nvPr>
        </p:nvSpPr>
        <p:spPr>
          <a:xfrm>
            <a:off x="872790" y="1409001"/>
            <a:ext cx="5557988" cy="4841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00000"/>
                </a:solidFill>
              </a:rPr>
              <a:t>IP address: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32-bit identifier associated with each host or router </a:t>
            </a:r>
            <a:r>
              <a:rPr i="1" lang="en-US">
                <a:solidFill>
                  <a:srgbClr val="0000A3"/>
                </a:solidFill>
              </a:rPr>
              <a:t>interface</a:t>
            </a:r>
            <a:r>
              <a:rPr lang="en-US"/>
              <a:t> </a:t>
            </a:r>
            <a:endParaRPr/>
          </a:p>
          <a:p>
            <a:pPr indent="-293688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C0000"/>
                </a:solidFill>
              </a:rPr>
              <a:t>interface:</a:t>
            </a:r>
            <a:r>
              <a:rPr lang="en-US"/>
              <a:t> connection between host/router and physical link</a:t>
            </a:r>
            <a:endParaRPr/>
          </a:p>
          <a:p>
            <a:pPr indent="-298449" lvl="1" marL="5222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router’s typically have multiple interfaces</a:t>
            </a:r>
            <a:endParaRPr/>
          </a:p>
          <a:p>
            <a:pPr indent="-298449" lvl="1" marL="5222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host typically has one or two interfaces </a:t>
            </a:r>
            <a:r>
              <a:rPr lang="en-US"/>
              <a:t>(e.g., wired Ethernet, wireless 802.11)</a:t>
            </a:r>
            <a:endParaRPr/>
          </a:p>
          <a:p>
            <a:pPr indent="0" lvl="0" marL="2984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239" name="Google Shape;239;p10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IP addressing: introduction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 rot="-5400000">
            <a:off x="8946356" y="3046530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 rot="10800000">
            <a:off x="9944100" y="1720173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7908925" y="1302661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44" name="Google Shape;244;p10"/>
          <p:cNvGrpSpPr/>
          <p:nvPr/>
        </p:nvGrpSpPr>
        <p:grpSpPr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245" name="Google Shape;245;p10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0"/>
            <p:cNvSpPr txBox="1"/>
            <p:nvPr/>
          </p:nvSpPr>
          <p:spPr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247" name="Google Shape;247;p10"/>
          <p:cNvSpPr txBox="1"/>
          <p:nvPr/>
        </p:nvSpPr>
        <p:spPr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52" name="Google Shape;252;p10"/>
          <p:cNvCxnSpPr/>
          <p:nvPr/>
        </p:nvCxnSpPr>
        <p:spPr>
          <a:xfrm>
            <a:off x="9359900" y="2735036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10"/>
          <p:cNvSpPr txBox="1"/>
          <p:nvPr/>
        </p:nvSpPr>
        <p:spPr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55" name="Google Shape;255;p10"/>
          <p:cNvGrpSpPr/>
          <p:nvPr/>
        </p:nvGrpSpPr>
        <p:grpSpPr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256" name="Google Shape;256;p10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 txBox="1"/>
            <p:nvPr/>
          </p:nvSpPr>
          <p:spPr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258" name="Google Shape;258;p10"/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259" name="Google Shape;259;p10"/>
            <p:cNvSpPr txBox="1"/>
            <p:nvPr/>
          </p:nvSpPr>
          <p:spPr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223.1.1.1 = 11011111 00000001 00000001 00000001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7905750" y="5447623"/>
              <a:ext cx="892175" cy="92075"/>
            </a:xfrm>
            <a:custGeom>
              <a:rect b="b" l="l" r="r" t="t"/>
              <a:pathLst>
                <a:path extrusionOk="0" h="58" w="562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8867775" y="5466673"/>
              <a:ext cx="892175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9832975" y="5469848"/>
              <a:ext cx="869950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0798175" y="5473023"/>
              <a:ext cx="869950" cy="79375"/>
            </a:xfrm>
            <a:custGeom>
              <a:rect b="b" l="l" r="r" t="t"/>
              <a:pathLst>
                <a:path extrusionOk="0" h="50" w="562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0"/>
            <p:cNvSpPr txBox="1"/>
            <p:nvPr/>
          </p:nvSpPr>
          <p:spPr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6" name="Google Shape;266;p10"/>
            <p:cNvSpPr txBox="1"/>
            <p:nvPr/>
          </p:nvSpPr>
          <p:spPr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67" name="Google Shape;267;p10"/>
            <p:cNvSpPr txBox="1"/>
            <p:nvPr/>
          </p:nvSpPr>
          <p:spPr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268" name="Google Shape;268;p10"/>
          <p:cNvGrpSpPr/>
          <p:nvPr/>
        </p:nvGrpSpPr>
        <p:grpSpPr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descr="desktop_computer_stylized_medium" id="269" name="Google Shape;26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descr="desktop_computer_stylized_medium" id="272" name="Google Shape;27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10"/>
          <p:cNvGrpSpPr/>
          <p:nvPr/>
        </p:nvGrpSpPr>
        <p:grpSpPr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descr="desktop_computer_stylized_medium" id="275" name="Google Shape;27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" name="Google Shape;277;p10"/>
          <p:cNvGrpSpPr/>
          <p:nvPr/>
        </p:nvGrpSpPr>
        <p:grpSpPr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descr="desktop_computer_stylized_medium" id="278" name="Google Shape;27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10"/>
          <p:cNvGrpSpPr/>
          <p:nvPr/>
        </p:nvGrpSpPr>
        <p:grpSpPr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descr="desktop_computer_stylized_medium" id="281" name="Google Shape;28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10"/>
          <p:cNvGrpSpPr/>
          <p:nvPr/>
        </p:nvGrpSpPr>
        <p:grpSpPr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descr="desktop_computer_stylized_medium" id="284" name="Google Shape;28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10"/>
          <p:cNvGrpSpPr/>
          <p:nvPr/>
        </p:nvGrpSpPr>
        <p:grpSpPr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descr="desktop_computer_stylized_medium" id="287" name="Google Shape;28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9" name="Google Shape;289;p10"/>
          <p:cNvCxnSpPr/>
          <p:nvPr/>
        </p:nvCxnSpPr>
        <p:spPr>
          <a:xfrm>
            <a:off x="7697391" y="1785938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0" name="Google Shape;290;p10"/>
          <p:cNvCxnSpPr/>
          <p:nvPr/>
        </p:nvCxnSpPr>
        <p:spPr>
          <a:xfrm>
            <a:off x="7706916" y="2384823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1" name="Google Shape;291;p10"/>
          <p:cNvCxnSpPr/>
          <p:nvPr/>
        </p:nvCxnSpPr>
        <p:spPr>
          <a:xfrm>
            <a:off x="7734301" y="299799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2" name="Google Shape;292;p10"/>
          <p:cNvCxnSpPr/>
          <p:nvPr/>
        </p:nvCxnSpPr>
        <p:spPr>
          <a:xfrm>
            <a:off x="8364512" y="2578622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3" name="Google Shape;293;p10"/>
          <p:cNvCxnSpPr/>
          <p:nvPr/>
        </p:nvCxnSpPr>
        <p:spPr>
          <a:xfrm>
            <a:off x="9547622" y="2584574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94" name="Google Shape;294;p10"/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295" name="Google Shape;29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7" name="Google Shape;29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Google Shape;29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02" name="Google Shape;302;p10"/>
          <p:cNvCxnSpPr/>
          <p:nvPr/>
        </p:nvCxnSpPr>
        <p:spPr>
          <a:xfrm>
            <a:off x="10629900" y="194242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10"/>
          <p:cNvCxnSpPr/>
          <p:nvPr/>
        </p:nvCxnSpPr>
        <p:spPr>
          <a:xfrm>
            <a:off x="10631261" y="3225575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4" name="Google Shape;304;p10"/>
          <p:cNvCxnSpPr/>
          <p:nvPr/>
        </p:nvCxnSpPr>
        <p:spPr>
          <a:xfrm>
            <a:off x="8740878" y="418198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5" name="Google Shape;305;p10"/>
          <p:cNvCxnSpPr/>
          <p:nvPr/>
        </p:nvCxnSpPr>
        <p:spPr>
          <a:xfrm>
            <a:off x="9886336" y="414429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10"/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dotted-decimal IP address notation: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587829" y="1257300"/>
            <a:ext cx="5878285" cy="5192486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6014358" y="5165271"/>
            <a:ext cx="5878285" cy="1692729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IP addressing: introduction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 rot="-5400000">
            <a:off x="8946356" y="3046530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 rot="10800000">
            <a:off x="9944100" y="1720173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7908925" y="1302661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9" name="Google Shape;319;p11"/>
          <p:cNvGrpSpPr/>
          <p:nvPr/>
        </p:nvGrpSpPr>
        <p:grpSpPr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320" name="Google Shape;320;p11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 txBox="1"/>
            <p:nvPr/>
          </p:nvSpPr>
          <p:spPr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322" name="Google Shape;322;p11"/>
          <p:cNvSpPr txBox="1"/>
          <p:nvPr/>
        </p:nvSpPr>
        <p:spPr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27" name="Google Shape;327;p11"/>
          <p:cNvCxnSpPr/>
          <p:nvPr/>
        </p:nvCxnSpPr>
        <p:spPr>
          <a:xfrm>
            <a:off x="9359900" y="2735036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11"/>
          <p:cNvSpPr txBox="1"/>
          <p:nvPr/>
        </p:nvSpPr>
        <p:spPr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0" name="Google Shape;330;p11"/>
          <p:cNvGrpSpPr/>
          <p:nvPr/>
        </p:nvGrpSpPr>
        <p:grpSpPr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331" name="Google Shape;331;p11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1"/>
            <p:cNvSpPr txBox="1"/>
            <p:nvPr/>
          </p:nvSpPr>
          <p:spPr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333" name="Google Shape;333;p11"/>
          <p:cNvGrpSpPr/>
          <p:nvPr/>
        </p:nvGrpSpPr>
        <p:grpSpPr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descr="desktop_computer_stylized_medium" id="334" name="Google Shape;33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1"/>
          <p:cNvGrpSpPr/>
          <p:nvPr/>
        </p:nvGrpSpPr>
        <p:grpSpPr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descr="desktop_computer_stylized_medium" id="337" name="Google Shape;33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11"/>
          <p:cNvGrpSpPr/>
          <p:nvPr/>
        </p:nvGrpSpPr>
        <p:grpSpPr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descr="desktop_computer_stylized_medium" id="340" name="Google Shape;34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p11"/>
          <p:cNvGrpSpPr/>
          <p:nvPr/>
        </p:nvGrpSpPr>
        <p:grpSpPr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descr="desktop_computer_stylized_medium" id="343" name="Google Shape;34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11"/>
          <p:cNvGrpSpPr/>
          <p:nvPr/>
        </p:nvGrpSpPr>
        <p:grpSpPr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descr="desktop_computer_stylized_medium" id="346" name="Google Shape;34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11"/>
          <p:cNvGrpSpPr/>
          <p:nvPr/>
        </p:nvGrpSpPr>
        <p:grpSpPr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descr="desktop_computer_stylized_medium" id="349" name="Google Shape;34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11"/>
          <p:cNvGrpSpPr/>
          <p:nvPr/>
        </p:nvGrpSpPr>
        <p:grpSpPr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descr="desktop_computer_stylized_medium" id="352" name="Google Shape;35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4" name="Google Shape;354;p11"/>
          <p:cNvCxnSpPr/>
          <p:nvPr/>
        </p:nvCxnSpPr>
        <p:spPr>
          <a:xfrm>
            <a:off x="7697391" y="1785938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11"/>
          <p:cNvCxnSpPr/>
          <p:nvPr/>
        </p:nvCxnSpPr>
        <p:spPr>
          <a:xfrm>
            <a:off x="7698824" y="2384823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11"/>
          <p:cNvCxnSpPr/>
          <p:nvPr/>
        </p:nvCxnSpPr>
        <p:spPr>
          <a:xfrm>
            <a:off x="7705979" y="299799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11"/>
          <p:cNvCxnSpPr/>
          <p:nvPr/>
        </p:nvCxnSpPr>
        <p:spPr>
          <a:xfrm>
            <a:off x="10629900" y="194242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11"/>
          <p:cNvCxnSpPr/>
          <p:nvPr/>
        </p:nvCxnSpPr>
        <p:spPr>
          <a:xfrm>
            <a:off x="10631261" y="3221529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11"/>
          <p:cNvCxnSpPr/>
          <p:nvPr/>
        </p:nvCxnSpPr>
        <p:spPr>
          <a:xfrm>
            <a:off x="8740878" y="418198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11"/>
          <p:cNvCxnSpPr/>
          <p:nvPr/>
        </p:nvCxnSpPr>
        <p:spPr>
          <a:xfrm>
            <a:off x="9886336" y="414429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1" name="Google Shape;361;p11"/>
          <p:cNvSpPr txBox="1"/>
          <p:nvPr/>
        </p:nvSpPr>
        <p:spPr>
          <a:xfrm>
            <a:off x="879206" y="1475622"/>
            <a:ext cx="3496144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32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how are interfaces actually connected?</a:t>
            </a:r>
            <a:endParaRPr/>
          </a:p>
        </p:txBody>
      </p:sp>
      <p:grpSp>
        <p:nvGrpSpPr>
          <p:cNvPr id="362" name="Google Shape;362;p11"/>
          <p:cNvGrpSpPr/>
          <p:nvPr/>
        </p:nvGrpSpPr>
        <p:grpSpPr>
          <a:xfrm>
            <a:off x="4691921" y="2355418"/>
            <a:ext cx="3185855" cy="1323439"/>
            <a:chOff x="4692210" y="2354697"/>
            <a:chExt cx="3185636" cy="1323881"/>
          </a:xfrm>
        </p:grpSpPr>
        <p:sp>
          <p:nvSpPr>
            <p:cNvPr id="363" name="Google Shape;363;p11"/>
            <p:cNvSpPr txBox="1"/>
            <p:nvPr/>
          </p:nvSpPr>
          <p:spPr>
            <a:xfrm>
              <a:off x="4692210" y="2354697"/>
              <a:ext cx="2548153" cy="1323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A: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wired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Ethernet interfaces connected by Ethernet switches</a:t>
              </a:r>
              <a:endParaRPr/>
            </a:p>
          </p:txBody>
        </p:sp>
        <p:cxnSp>
          <p:nvCxnSpPr>
            <p:cNvPr id="364" name="Google Shape;364;p11"/>
            <p:cNvCxnSpPr/>
            <p:nvPr/>
          </p:nvCxnSpPr>
          <p:spPr>
            <a:xfrm rot="10800000">
              <a:off x="5801407" y="2510599"/>
              <a:ext cx="2076439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5" name="Google Shape;365;p11"/>
          <p:cNvGrpSpPr/>
          <p:nvPr/>
        </p:nvGrpSpPr>
        <p:grpSpPr>
          <a:xfrm>
            <a:off x="7689955" y="3656040"/>
            <a:ext cx="4167265" cy="2436076"/>
            <a:chOff x="5036498" y="3790332"/>
            <a:chExt cx="4168379" cy="2435958"/>
          </a:xfrm>
        </p:grpSpPr>
        <p:pic>
          <p:nvPicPr>
            <p:cNvPr descr="access_point_stylized_small" id="366" name="Google Shape;36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12411" y="3790332"/>
              <a:ext cx="587569" cy="4869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11"/>
            <p:cNvSpPr txBox="1"/>
            <p:nvPr/>
          </p:nvSpPr>
          <p:spPr>
            <a:xfrm>
              <a:off x="5036498" y="5518438"/>
              <a:ext cx="4168379" cy="707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A: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wireless WiFi interfaces connected by WiFi base station</a:t>
              </a:r>
              <a:endParaRPr/>
            </a:p>
          </p:txBody>
        </p:sp>
        <p:cxnSp>
          <p:nvCxnSpPr>
            <p:cNvPr id="368" name="Google Shape;368;p11"/>
            <p:cNvCxnSpPr/>
            <p:nvPr/>
          </p:nvCxnSpPr>
          <p:spPr>
            <a:xfrm rot="10800000">
              <a:off x="6850795" y="4241577"/>
              <a:ext cx="0" cy="128909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9" name="Google Shape;369;p11"/>
          <p:cNvSpPr txBox="1"/>
          <p:nvPr/>
        </p:nvSpPr>
        <p:spPr>
          <a:xfrm>
            <a:off x="1329751" y="4355476"/>
            <a:ext cx="432153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 now: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don’t need to worry about how one interface is connected to another (with no intervening router)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11"/>
          <p:cNvCxnSpPr/>
          <p:nvPr/>
        </p:nvCxnSpPr>
        <p:spPr>
          <a:xfrm>
            <a:off x="8364512" y="2578622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1" name="Google Shape;371;p11"/>
          <p:cNvCxnSpPr/>
          <p:nvPr/>
        </p:nvCxnSpPr>
        <p:spPr>
          <a:xfrm>
            <a:off x="9547622" y="2584574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72" name="Google Shape;372;p11"/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373" name="Google Shape;37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5" name="Google Shape;37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6" name="Google Shape;37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0" name="Google Shape;380;p11"/>
          <p:cNvGrpSpPr/>
          <p:nvPr/>
        </p:nvGrpSpPr>
        <p:grpSpPr>
          <a:xfrm>
            <a:off x="7865822" y="1784294"/>
            <a:ext cx="3069150" cy="1444428"/>
            <a:chOff x="7865822" y="1784294"/>
            <a:chExt cx="3069150" cy="1444428"/>
          </a:xfrm>
        </p:grpSpPr>
        <p:cxnSp>
          <p:nvCxnSpPr>
            <p:cNvPr id="381" name="Google Shape;381;p11"/>
            <p:cNvCxnSpPr/>
            <p:nvPr/>
          </p:nvCxnSpPr>
          <p:spPr>
            <a:xfrm>
              <a:off x="8043483" y="1784294"/>
              <a:ext cx="0" cy="121785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82" name="Google Shape;382;p11"/>
            <p:cNvGrpSpPr/>
            <p:nvPr/>
          </p:nvGrpSpPr>
          <p:grpSpPr>
            <a:xfrm>
              <a:off x="7865822" y="2488367"/>
              <a:ext cx="618612" cy="329734"/>
              <a:chOff x="3668110" y="2448910"/>
              <a:chExt cx="3794234" cy="2165130"/>
            </a:xfrm>
          </p:grpSpPr>
          <p:sp>
            <p:nvSpPr>
              <p:cNvPr id="383" name="Google Shape;383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5" name="Google Shape;385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86" name="Google Shape;386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" name="Google Shape;387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" name="Google Shape;388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" name="Google Shape;389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390" name="Google Shape;390;p11"/>
            <p:cNvCxnSpPr/>
            <p:nvPr/>
          </p:nvCxnSpPr>
          <p:spPr>
            <a:xfrm>
              <a:off x="10631585" y="1932648"/>
              <a:ext cx="0" cy="129607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91" name="Google Shape;391;p11"/>
            <p:cNvGrpSpPr/>
            <p:nvPr/>
          </p:nvGrpSpPr>
          <p:grpSpPr>
            <a:xfrm>
              <a:off x="10316360" y="2442512"/>
              <a:ext cx="618612" cy="329734"/>
              <a:chOff x="3668110" y="2448910"/>
              <a:chExt cx="3794234" cy="2165130"/>
            </a:xfrm>
          </p:grpSpPr>
          <p:sp>
            <p:nvSpPr>
              <p:cNvPr id="392" name="Google Shape;392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4" name="Google Shape;394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5" name="Google Shape;395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9" name="Google Shape;399;p11"/>
          <p:cNvSpPr txBox="1"/>
          <p:nvPr/>
        </p:nvSpPr>
        <p:spPr>
          <a:xfrm>
            <a:off x="884650" y="2297495"/>
            <a:ext cx="3496144" cy="1066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we’ll learn about that in chapters 6, 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Subnets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 rot="-5400000">
            <a:off x="8946356" y="3046530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 rot="10800000">
            <a:off x="9944100" y="1720173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7908925" y="1302661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10" name="Google Shape;410;p12"/>
          <p:cNvGrpSpPr/>
          <p:nvPr/>
        </p:nvGrpSpPr>
        <p:grpSpPr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411" name="Google Shape;411;p12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2"/>
            <p:cNvSpPr txBox="1"/>
            <p:nvPr/>
          </p:nvSpPr>
          <p:spPr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13" name="Google Shape;413;p12"/>
          <p:cNvSpPr txBox="1"/>
          <p:nvPr/>
        </p:nvSpPr>
        <p:spPr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18" name="Google Shape;418;p12"/>
          <p:cNvCxnSpPr/>
          <p:nvPr/>
        </p:nvCxnSpPr>
        <p:spPr>
          <a:xfrm>
            <a:off x="9359900" y="2735036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12"/>
          <p:cNvSpPr txBox="1"/>
          <p:nvPr/>
        </p:nvSpPr>
        <p:spPr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0" name="Google Shape;420;p12"/>
          <p:cNvSpPr txBox="1"/>
          <p:nvPr/>
        </p:nvSpPr>
        <p:spPr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21" name="Google Shape;421;p12"/>
          <p:cNvGrpSpPr/>
          <p:nvPr/>
        </p:nvGrpSpPr>
        <p:grpSpPr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422" name="Google Shape;422;p12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2"/>
            <p:cNvSpPr txBox="1"/>
            <p:nvPr/>
          </p:nvSpPr>
          <p:spPr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424" name="Google Shape;424;p12"/>
          <p:cNvGrpSpPr/>
          <p:nvPr/>
        </p:nvGrpSpPr>
        <p:grpSpPr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descr="desktop_computer_stylized_medium" id="425" name="Google Shape;42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7" name="Google Shape;427;p12"/>
          <p:cNvGrpSpPr/>
          <p:nvPr/>
        </p:nvGrpSpPr>
        <p:grpSpPr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descr="desktop_computer_stylized_medium" id="428" name="Google Shape;42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p12"/>
          <p:cNvGrpSpPr/>
          <p:nvPr/>
        </p:nvGrpSpPr>
        <p:grpSpPr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descr="desktop_computer_stylized_medium" id="431" name="Google Shape;43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" name="Google Shape;433;p12"/>
          <p:cNvGrpSpPr/>
          <p:nvPr/>
        </p:nvGrpSpPr>
        <p:grpSpPr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descr="desktop_computer_stylized_medium" id="434" name="Google Shape;43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12"/>
          <p:cNvGrpSpPr/>
          <p:nvPr/>
        </p:nvGrpSpPr>
        <p:grpSpPr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descr="desktop_computer_stylized_medium" id="437" name="Google Shape;43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12"/>
          <p:cNvGrpSpPr/>
          <p:nvPr/>
        </p:nvGrpSpPr>
        <p:grpSpPr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descr="desktop_computer_stylized_medium" id="440" name="Google Shape;44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2" name="Google Shape;442;p12"/>
          <p:cNvGrpSpPr/>
          <p:nvPr/>
        </p:nvGrpSpPr>
        <p:grpSpPr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descr="desktop_computer_stylized_medium" id="443" name="Google Shape;44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" name="Google Shape;444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5" name="Google Shape;445;p12"/>
          <p:cNvCxnSpPr/>
          <p:nvPr/>
        </p:nvCxnSpPr>
        <p:spPr>
          <a:xfrm>
            <a:off x="7697391" y="1785938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12"/>
          <p:cNvCxnSpPr/>
          <p:nvPr/>
        </p:nvCxnSpPr>
        <p:spPr>
          <a:xfrm>
            <a:off x="7698824" y="2384823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12"/>
          <p:cNvCxnSpPr/>
          <p:nvPr/>
        </p:nvCxnSpPr>
        <p:spPr>
          <a:xfrm>
            <a:off x="7705979" y="299799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12"/>
          <p:cNvCxnSpPr/>
          <p:nvPr/>
        </p:nvCxnSpPr>
        <p:spPr>
          <a:xfrm>
            <a:off x="10629900" y="194242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12"/>
          <p:cNvCxnSpPr/>
          <p:nvPr/>
        </p:nvCxnSpPr>
        <p:spPr>
          <a:xfrm>
            <a:off x="10631261" y="3221529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12"/>
          <p:cNvCxnSpPr/>
          <p:nvPr/>
        </p:nvCxnSpPr>
        <p:spPr>
          <a:xfrm>
            <a:off x="8740878" y="418198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12"/>
          <p:cNvCxnSpPr/>
          <p:nvPr/>
        </p:nvCxnSpPr>
        <p:spPr>
          <a:xfrm>
            <a:off x="9886336" y="414429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2" name="Google Shape;452;p12"/>
          <p:cNvSpPr txBox="1"/>
          <p:nvPr/>
        </p:nvSpPr>
        <p:spPr>
          <a:xfrm>
            <a:off x="910964" y="1504586"/>
            <a:ext cx="5504825" cy="221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234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What’s a subnet ?</a:t>
            </a:r>
            <a:endParaRPr/>
          </a:p>
          <a:p>
            <a:pPr indent="-2333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 interfaces that can physically reach each other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without passing through an intervening router</a:t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55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12"/>
          <p:cNvCxnSpPr/>
          <p:nvPr/>
        </p:nvCxnSpPr>
        <p:spPr>
          <a:xfrm>
            <a:off x="8364512" y="2578622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12"/>
          <p:cNvCxnSpPr/>
          <p:nvPr/>
        </p:nvCxnSpPr>
        <p:spPr>
          <a:xfrm>
            <a:off x="9547622" y="2584574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55" name="Google Shape;455;p12"/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456" name="Google Shape;456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7" name="Google Shape;457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8" name="Google Shape;458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Google Shape;459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3" name="Google Shape;463;p12"/>
          <p:cNvSpPr txBox="1"/>
          <p:nvPr/>
        </p:nvSpPr>
        <p:spPr>
          <a:xfrm>
            <a:off x="7810084" y="5139102"/>
            <a:ext cx="3724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consisting of 3 subnets</a:t>
            </a:r>
            <a:endParaRPr/>
          </a:p>
        </p:txBody>
      </p:sp>
      <p:sp>
        <p:nvSpPr>
          <p:cNvPr id="464" name="Google Shape;464;p12"/>
          <p:cNvSpPr txBox="1"/>
          <p:nvPr/>
        </p:nvSpPr>
        <p:spPr>
          <a:xfrm>
            <a:off x="923879" y="3718261"/>
            <a:ext cx="6050358" cy="2667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234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IP addresses have structure: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subnet part: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 in same subnet have common high order bits</a:t>
            </a:r>
            <a:endParaRPr/>
          </a:p>
          <a:p>
            <a:pPr indent="-2333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host part: remaining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low order bits </a:t>
            </a:r>
            <a:endParaRPr/>
          </a:p>
          <a:p>
            <a:pPr indent="-555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Subnets</a:t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 rot="-5400000">
            <a:off x="8946356" y="3046530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 rot="10800000">
            <a:off x="9944100" y="1720173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7908925" y="1302661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 txBox="1"/>
          <p:nvPr/>
        </p:nvSpPr>
        <p:spPr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75" name="Google Shape;475;p13"/>
          <p:cNvGrpSpPr/>
          <p:nvPr/>
        </p:nvGrpSpPr>
        <p:grpSpPr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476" name="Google Shape;476;p13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3"/>
            <p:cNvSpPr txBox="1"/>
            <p:nvPr/>
          </p:nvSpPr>
          <p:spPr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78" name="Google Shape;478;p13"/>
          <p:cNvSpPr txBox="1"/>
          <p:nvPr/>
        </p:nvSpPr>
        <p:spPr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0" name="Google Shape;480;p13"/>
          <p:cNvSpPr txBox="1"/>
          <p:nvPr/>
        </p:nvSpPr>
        <p:spPr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1" name="Google Shape;481;p13"/>
          <p:cNvSpPr txBox="1"/>
          <p:nvPr/>
        </p:nvSpPr>
        <p:spPr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2" name="Google Shape;482;p13"/>
          <p:cNvSpPr txBox="1"/>
          <p:nvPr/>
        </p:nvSpPr>
        <p:spPr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83" name="Google Shape;483;p13"/>
          <p:cNvCxnSpPr/>
          <p:nvPr/>
        </p:nvCxnSpPr>
        <p:spPr>
          <a:xfrm>
            <a:off x="9359900" y="2735036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13"/>
          <p:cNvSpPr txBox="1"/>
          <p:nvPr/>
        </p:nvSpPr>
        <p:spPr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5" name="Google Shape;485;p13"/>
          <p:cNvSpPr txBox="1"/>
          <p:nvPr/>
        </p:nvSpPr>
        <p:spPr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2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86" name="Google Shape;486;p13"/>
          <p:cNvGrpSpPr/>
          <p:nvPr/>
        </p:nvGrpSpPr>
        <p:grpSpPr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487" name="Google Shape;487;p13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3"/>
            <p:cNvSpPr txBox="1"/>
            <p:nvPr/>
          </p:nvSpPr>
          <p:spPr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cxnSp>
        <p:nvCxnSpPr>
          <p:cNvPr id="489" name="Google Shape;489;p13"/>
          <p:cNvCxnSpPr/>
          <p:nvPr/>
        </p:nvCxnSpPr>
        <p:spPr>
          <a:xfrm>
            <a:off x="7697391" y="1785938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0" name="Google Shape;490;p13"/>
          <p:cNvCxnSpPr/>
          <p:nvPr/>
        </p:nvCxnSpPr>
        <p:spPr>
          <a:xfrm>
            <a:off x="7698824" y="2384823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1" name="Google Shape;491;p13"/>
          <p:cNvCxnSpPr/>
          <p:nvPr/>
        </p:nvCxnSpPr>
        <p:spPr>
          <a:xfrm>
            <a:off x="7705979" y="299799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p13"/>
          <p:cNvCxnSpPr/>
          <p:nvPr/>
        </p:nvCxnSpPr>
        <p:spPr>
          <a:xfrm>
            <a:off x="10629900" y="194242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3" name="Google Shape;493;p13"/>
          <p:cNvCxnSpPr/>
          <p:nvPr/>
        </p:nvCxnSpPr>
        <p:spPr>
          <a:xfrm>
            <a:off x="10631261" y="3221529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p13"/>
          <p:cNvCxnSpPr/>
          <p:nvPr/>
        </p:nvCxnSpPr>
        <p:spPr>
          <a:xfrm>
            <a:off x="8740878" y="418198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p13"/>
          <p:cNvCxnSpPr/>
          <p:nvPr/>
        </p:nvCxnSpPr>
        <p:spPr>
          <a:xfrm>
            <a:off x="9886336" y="4144298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6" name="Google Shape;496;p13"/>
          <p:cNvSpPr txBox="1"/>
          <p:nvPr/>
        </p:nvSpPr>
        <p:spPr>
          <a:xfrm>
            <a:off x="910964" y="1504585"/>
            <a:ext cx="5504825" cy="4986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Recipe for defining subnets: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detach each interface from its host or router, creating “islands” of isolated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isolated network is called a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/>
          </a:p>
          <a:p>
            <a:pPr indent="-555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p13"/>
          <p:cNvCxnSpPr/>
          <p:nvPr/>
        </p:nvCxnSpPr>
        <p:spPr>
          <a:xfrm>
            <a:off x="8364512" y="2578622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13"/>
          <p:cNvCxnSpPr/>
          <p:nvPr/>
        </p:nvCxnSpPr>
        <p:spPr>
          <a:xfrm>
            <a:off x="9547622" y="2584574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99" name="Google Shape;499;p13"/>
          <p:cNvGrpSpPr/>
          <p:nvPr/>
        </p:nvGrpSpPr>
        <p:grpSpPr>
          <a:xfrm>
            <a:off x="7112000" y="1378861"/>
            <a:ext cx="4343400" cy="3560762"/>
            <a:chOff x="7112000" y="1378861"/>
            <a:chExt cx="4343400" cy="3560762"/>
          </a:xfrm>
        </p:grpSpPr>
        <p:grpSp>
          <p:nvGrpSpPr>
            <p:cNvPr id="500" name="Google Shape;500;p13"/>
            <p:cNvGrpSpPr/>
            <p:nvPr/>
          </p:nvGrpSpPr>
          <p:grpSpPr>
            <a:xfrm>
              <a:off x="7116763" y="1378861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01" name="Google Shape;501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2" name="Google Shape;502;p1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p13"/>
            <p:cNvGrpSpPr/>
            <p:nvPr/>
          </p:nvGrpSpPr>
          <p:grpSpPr>
            <a:xfrm>
              <a:off x="7112000" y="1977348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04" name="Google Shape;504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5" name="Google Shape;505;p1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p13"/>
            <p:cNvGrpSpPr/>
            <p:nvPr/>
          </p:nvGrpSpPr>
          <p:grpSpPr>
            <a:xfrm>
              <a:off x="7140575" y="2586948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07" name="Google Shape;507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8" name="Google Shape;508;p1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13"/>
            <p:cNvGrpSpPr/>
            <p:nvPr/>
          </p:nvGrpSpPr>
          <p:grpSpPr>
            <a:xfrm flipH="1">
              <a:off x="10799763" y="1536023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10" name="Google Shape;51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1" name="Google Shape;511;p1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2" name="Google Shape;512;p13"/>
            <p:cNvGrpSpPr/>
            <p:nvPr/>
          </p:nvGrpSpPr>
          <p:grpSpPr>
            <a:xfrm flipH="1">
              <a:off x="10814050" y="2815548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13" name="Google Shape;513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1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5" name="Google Shape;515;p13"/>
            <p:cNvGrpSpPr/>
            <p:nvPr/>
          </p:nvGrpSpPr>
          <p:grpSpPr>
            <a:xfrm flipH="1">
              <a:off x="9715500" y="4339548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16" name="Google Shape;516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7" name="Google Shape;517;p1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 flipH="1">
              <a:off x="8551863" y="4380823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19" name="Google Shape;519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0" name="Google Shape;520;p1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13"/>
            <p:cNvGrpSpPr/>
            <p:nvPr/>
          </p:nvGrpSpPr>
          <p:grpSpPr>
            <a:xfrm>
              <a:off x="9053641" y="2438501"/>
              <a:ext cx="632991" cy="300938"/>
              <a:chOff x="7493876" y="2774731"/>
              <a:chExt cx="1481958" cy="894622"/>
            </a:xfrm>
          </p:grpSpPr>
          <p:sp>
            <p:nvSpPr>
              <p:cNvPr id="522" name="Google Shape;522;p1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4" name="Google Shape;524;p1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5" name="Google Shape;525;p1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1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29" name="Google Shape;529;p13"/>
          <p:cNvSpPr txBox="1"/>
          <p:nvPr/>
        </p:nvSpPr>
        <p:spPr>
          <a:xfrm>
            <a:off x="6282921" y="5092127"/>
            <a:ext cx="586378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subnet mask: /24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(high-order 24 bits: subnet part of IP address)</a:t>
            </a:r>
            <a:endParaRPr/>
          </a:p>
        </p:txBody>
      </p:sp>
      <p:grpSp>
        <p:nvGrpSpPr>
          <p:cNvPr id="530" name="Google Shape;530;p13"/>
          <p:cNvGrpSpPr/>
          <p:nvPr/>
        </p:nvGrpSpPr>
        <p:grpSpPr>
          <a:xfrm>
            <a:off x="6239437" y="3859589"/>
            <a:ext cx="2574780" cy="707886"/>
            <a:chOff x="6239437" y="3859589"/>
            <a:chExt cx="2574780" cy="707886"/>
          </a:xfrm>
        </p:grpSpPr>
        <p:sp>
          <p:nvSpPr>
            <p:cNvPr id="531" name="Google Shape;531;p13"/>
            <p:cNvSpPr txBox="1"/>
            <p:nvPr/>
          </p:nvSpPr>
          <p:spPr>
            <a:xfrm>
              <a:off x="6239437" y="3859589"/>
              <a:ext cx="1608133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subnet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223.1.3.0/24</a:t>
              </a:r>
              <a:endParaRPr/>
            </a:p>
          </p:txBody>
        </p:sp>
        <p:cxnSp>
          <p:nvCxnSpPr>
            <p:cNvPr id="532" name="Google Shape;532;p13"/>
            <p:cNvCxnSpPr/>
            <p:nvPr/>
          </p:nvCxnSpPr>
          <p:spPr>
            <a:xfrm>
              <a:off x="7794885" y="4062334"/>
              <a:ext cx="1019332" cy="0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33" name="Google Shape;533;p13"/>
          <p:cNvGrpSpPr/>
          <p:nvPr/>
        </p:nvGrpSpPr>
        <p:grpSpPr>
          <a:xfrm>
            <a:off x="7255489" y="607842"/>
            <a:ext cx="2491388" cy="1475790"/>
            <a:chOff x="7255489" y="607842"/>
            <a:chExt cx="2491388" cy="1475790"/>
          </a:xfrm>
        </p:grpSpPr>
        <p:sp>
          <p:nvSpPr>
            <p:cNvPr id="534" name="Google Shape;534;p13"/>
            <p:cNvSpPr txBox="1"/>
            <p:nvPr/>
          </p:nvSpPr>
          <p:spPr>
            <a:xfrm>
              <a:off x="7255489" y="607842"/>
              <a:ext cx="24913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subnet 223.1.1.0/24</a:t>
              </a:r>
              <a:endParaRPr/>
            </a:p>
          </p:txBody>
        </p:sp>
        <p:cxnSp>
          <p:nvCxnSpPr>
            <p:cNvPr id="535" name="Google Shape;535;p13"/>
            <p:cNvCxnSpPr/>
            <p:nvPr/>
          </p:nvCxnSpPr>
          <p:spPr>
            <a:xfrm>
              <a:off x="8289561" y="944379"/>
              <a:ext cx="0" cy="1139253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36" name="Google Shape;536;p13"/>
          <p:cNvGrpSpPr/>
          <p:nvPr/>
        </p:nvGrpSpPr>
        <p:grpSpPr>
          <a:xfrm>
            <a:off x="9531133" y="1000631"/>
            <a:ext cx="2491388" cy="1475243"/>
            <a:chOff x="9531133" y="1000631"/>
            <a:chExt cx="2491388" cy="1475243"/>
          </a:xfrm>
        </p:grpSpPr>
        <p:sp>
          <p:nvSpPr>
            <p:cNvPr id="537" name="Google Shape;537;p13"/>
            <p:cNvSpPr txBox="1"/>
            <p:nvPr/>
          </p:nvSpPr>
          <p:spPr>
            <a:xfrm>
              <a:off x="9531133" y="1000631"/>
              <a:ext cx="24913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subnet 223.1.2.0/24</a:t>
              </a:r>
              <a:endParaRPr/>
            </a:p>
          </p:txBody>
        </p:sp>
        <p:cxnSp>
          <p:nvCxnSpPr>
            <p:cNvPr id="538" name="Google Shape;538;p13"/>
            <p:cNvCxnSpPr/>
            <p:nvPr/>
          </p:nvCxnSpPr>
          <p:spPr>
            <a:xfrm>
              <a:off x="10630525" y="1336621"/>
              <a:ext cx="0" cy="1139253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4"/>
          <p:cNvSpPr txBox="1"/>
          <p:nvPr>
            <p:ph type="title"/>
          </p:nvPr>
        </p:nvSpPr>
        <p:spPr>
          <a:xfrm>
            <a:off x="838200" y="311144"/>
            <a:ext cx="364385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Subnets</a:t>
            </a:r>
            <a:endParaRPr/>
          </a:p>
        </p:txBody>
      </p:sp>
      <p:sp>
        <p:nvSpPr>
          <p:cNvPr id="545" name="Google Shape;545;p14"/>
          <p:cNvSpPr txBox="1"/>
          <p:nvPr/>
        </p:nvSpPr>
        <p:spPr>
          <a:xfrm>
            <a:off x="1015714" y="1485533"/>
            <a:ext cx="2992759" cy="2827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73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are the subnets?</a:t>
            </a:r>
            <a:endParaRPr/>
          </a:p>
          <a:p>
            <a:pPr indent="-3429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are the /24 subnet addresses?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55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7898119" y="2985309"/>
            <a:ext cx="1268413" cy="1463675"/>
          </a:xfrm>
          <a:custGeom>
            <a:rect b="b" l="l" r="r" t="t"/>
            <a:pathLst>
              <a:path extrusionOk="0" h="922" w="799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6699842" y="4496609"/>
            <a:ext cx="2098623" cy="361221"/>
          </a:xfrm>
          <a:custGeom>
            <a:rect b="b" l="l" r="r" t="t"/>
            <a:pathLst>
              <a:path extrusionOk="0" h="206" w="1422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6345544" y="2909109"/>
            <a:ext cx="1158875" cy="1547813"/>
          </a:xfrm>
          <a:custGeom>
            <a:rect b="b" l="l" r="r" t="t"/>
            <a:pathLst>
              <a:path extrusionOk="0" h="975" w="730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 rot="5265760">
            <a:off x="7334817" y="866004"/>
            <a:ext cx="1078238" cy="216217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p14"/>
          <p:cNvCxnSpPr/>
          <p:nvPr/>
        </p:nvCxnSpPr>
        <p:spPr>
          <a:xfrm flipH="1">
            <a:off x="7639357" y="1956609"/>
            <a:ext cx="3175" cy="59213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14"/>
          <p:cNvSpPr txBox="1"/>
          <p:nvPr/>
        </p:nvSpPr>
        <p:spPr>
          <a:xfrm>
            <a:off x="6099456" y="1403897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223.1.1.1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7474572" y="2218547"/>
            <a:ext cx="309562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 txBox="1"/>
          <p:nvPr/>
        </p:nvSpPr>
        <p:spPr>
          <a:xfrm>
            <a:off x="7211846" y="2127679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223.1.1.3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 txBox="1"/>
          <p:nvPr/>
        </p:nvSpPr>
        <p:spPr>
          <a:xfrm>
            <a:off x="8486925" y="1514459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223.1.1.4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5405744" y="4847609"/>
            <a:ext cx="1539875" cy="1070265"/>
          </a:xfrm>
          <a:custGeom>
            <a:rect b="b" l="l" r="r" t="t"/>
            <a:pathLst>
              <a:path extrusionOk="0" h="939" w="970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14"/>
          <p:cNvCxnSpPr/>
          <p:nvPr/>
        </p:nvCxnSpPr>
        <p:spPr>
          <a:xfrm>
            <a:off x="6161394" y="4833159"/>
            <a:ext cx="7938" cy="5619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14"/>
          <p:cNvSpPr txBox="1"/>
          <p:nvPr/>
        </p:nvSpPr>
        <p:spPr>
          <a:xfrm>
            <a:off x="6523633" y="5561966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223.1.2.2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6109914" y="495857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 txBox="1"/>
          <p:nvPr/>
        </p:nvSpPr>
        <p:spPr>
          <a:xfrm>
            <a:off x="5577277" y="4875981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223.1.2.6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8423582" y="4858944"/>
            <a:ext cx="1539875" cy="1129777"/>
          </a:xfrm>
          <a:custGeom>
            <a:rect b="b" l="l" r="r" t="t"/>
            <a:pathLst>
              <a:path extrusionOk="0" h="939" w="970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14"/>
          <p:cNvCxnSpPr/>
          <p:nvPr/>
        </p:nvCxnSpPr>
        <p:spPr>
          <a:xfrm>
            <a:off x="9190344" y="4852209"/>
            <a:ext cx="1588" cy="52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14"/>
          <p:cNvSpPr txBox="1"/>
          <p:nvPr/>
        </p:nvSpPr>
        <p:spPr>
          <a:xfrm>
            <a:off x="9708446" y="5757661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223.1.3.2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 txBox="1"/>
          <p:nvPr/>
        </p:nvSpPr>
        <p:spPr>
          <a:xfrm>
            <a:off x="7937662" y="5659381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223.1.3.1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9131607" y="495222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 txBox="1"/>
          <p:nvPr/>
        </p:nvSpPr>
        <p:spPr>
          <a:xfrm>
            <a:off x="8621888" y="4864398"/>
            <a:ext cx="106792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223.1.3.27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 txBox="1"/>
          <p:nvPr/>
        </p:nvSpPr>
        <p:spPr>
          <a:xfrm>
            <a:off x="7401232" y="558232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223.1.1.2</a:t>
            </a:r>
            <a:endParaRPr/>
          </a:p>
        </p:txBody>
      </p:sp>
      <p:cxnSp>
        <p:nvCxnSpPr>
          <p:cNvPr id="567" name="Google Shape;567;p14"/>
          <p:cNvCxnSpPr/>
          <p:nvPr/>
        </p:nvCxnSpPr>
        <p:spPr>
          <a:xfrm flipH="1" rot="10800000">
            <a:off x="6374119" y="2928159"/>
            <a:ext cx="1114425" cy="15430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14"/>
          <p:cNvCxnSpPr/>
          <p:nvPr/>
        </p:nvCxnSpPr>
        <p:spPr>
          <a:xfrm rot="10800000">
            <a:off x="7888594" y="2909109"/>
            <a:ext cx="1276350" cy="15430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14"/>
          <p:cNvCxnSpPr/>
          <p:nvPr/>
        </p:nvCxnSpPr>
        <p:spPr>
          <a:xfrm rot="10800000">
            <a:off x="6564619" y="4671234"/>
            <a:ext cx="2305050" cy="95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14"/>
          <p:cNvSpPr txBox="1"/>
          <p:nvPr/>
        </p:nvSpPr>
        <p:spPr>
          <a:xfrm>
            <a:off x="7967969" y="2821797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223.1.7.0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 txBox="1"/>
          <p:nvPr/>
        </p:nvSpPr>
        <p:spPr>
          <a:xfrm>
            <a:off x="9044294" y="4107672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223.1.7.1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 txBox="1"/>
          <p:nvPr/>
        </p:nvSpPr>
        <p:spPr>
          <a:xfrm>
            <a:off x="7806044" y="4364847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223.1.8.0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 txBox="1"/>
          <p:nvPr/>
        </p:nvSpPr>
        <p:spPr>
          <a:xfrm>
            <a:off x="6558269" y="4364847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223.1.8.1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 txBox="1"/>
          <p:nvPr/>
        </p:nvSpPr>
        <p:spPr>
          <a:xfrm>
            <a:off x="5481944" y="4069572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223.1.9.1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 txBox="1"/>
          <p:nvPr/>
        </p:nvSpPr>
        <p:spPr>
          <a:xfrm>
            <a:off x="6348719" y="2831322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223.1.9.2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6" name="Google Shape;576;p14"/>
          <p:cNvCxnSpPr/>
          <p:nvPr/>
        </p:nvCxnSpPr>
        <p:spPr>
          <a:xfrm>
            <a:off x="7907727" y="1333593"/>
            <a:ext cx="0" cy="2229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7" name="Google Shape;577;p14"/>
          <p:cNvCxnSpPr/>
          <p:nvPr/>
        </p:nvCxnSpPr>
        <p:spPr>
          <a:xfrm>
            <a:off x="7077714" y="1391530"/>
            <a:ext cx="0" cy="2229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8" name="Google Shape;578;p14"/>
          <p:cNvCxnSpPr/>
          <p:nvPr/>
        </p:nvCxnSpPr>
        <p:spPr>
          <a:xfrm>
            <a:off x="8747817" y="1349966"/>
            <a:ext cx="0" cy="2229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9" name="Google Shape;579;p14"/>
          <p:cNvCxnSpPr/>
          <p:nvPr/>
        </p:nvCxnSpPr>
        <p:spPr>
          <a:xfrm>
            <a:off x="9721099" y="5845766"/>
            <a:ext cx="0" cy="2229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0" name="Google Shape;580;p14"/>
          <p:cNvCxnSpPr/>
          <p:nvPr/>
        </p:nvCxnSpPr>
        <p:spPr>
          <a:xfrm>
            <a:off x="8855191" y="5831911"/>
            <a:ext cx="0" cy="2229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14"/>
          <p:cNvCxnSpPr/>
          <p:nvPr/>
        </p:nvCxnSpPr>
        <p:spPr>
          <a:xfrm>
            <a:off x="6527626" y="5717611"/>
            <a:ext cx="0" cy="2229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14"/>
          <p:cNvCxnSpPr/>
          <p:nvPr/>
        </p:nvCxnSpPr>
        <p:spPr>
          <a:xfrm>
            <a:off x="5734453" y="5755711"/>
            <a:ext cx="0" cy="2229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83" name="Google Shape;583;p14"/>
          <p:cNvGrpSpPr/>
          <p:nvPr/>
        </p:nvGrpSpPr>
        <p:grpSpPr>
          <a:xfrm>
            <a:off x="5269942" y="831439"/>
            <a:ext cx="4571749" cy="5747039"/>
            <a:chOff x="3921589" y="800442"/>
            <a:chExt cx="4571749" cy="5747039"/>
          </a:xfrm>
        </p:grpSpPr>
        <p:grpSp>
          <p:nvGrpSpPr>
            <p:cNvPr id="584" name="Google Shape;584;p14"/>
            <p:cNvGrpSpPr/>
            <p:nvPr/>
          </p:nvGrpSpPr>
          <p:grpSpPr>
            <a:xfrm>
              <a:off x="6912267" y="813299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85" name="Google Shape;585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6" name="Google Shape;586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7" name="Google Shape;587;p14"/>
            <p:cNvGrpSpPr/>
            <p:nvPr/>
          </p:nvGrpSpPr>
          <p:grpSpPr>
            <a:xfrm>
              <a:off x="5243214" y="845876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88" name="Google Shape;588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9" name="Google Shape;589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14"/>
            <p:cNvGrpSpPr/>
            <p:nvPr/>
          </p:nvGrpSpPr>
          <p:grpSpPr>
            <a:xfrm>
              <a:off x="6075064" y="800442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591" name="Google Shape;591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" name="Google Shape;592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3" name="Google Shape;593;p14"/>
            <p:cNvGrpSpPr/>
            <p:nvPr/>
          </p:nvGrpSpPr>
          <p:grpSpPr>
            <a:xfrm>
              <a:off x="5951096" y="2488367"/>
              <a:ext cx="764498" cy="449705"/>
              <a:chOff x="7493876" y="2774731"/>
              <a:chExt cx="1481958" cy="894622"/>
            </a:xfrm>
          </p:grpSpPr>
          <p:sp>
            <p:nvSpPr>
              <p:cNvPr id="594" name="Google Shape;594;p1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6" name="Google Shape;596;p1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Google Shape;597;p1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1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1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1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1" name="Google Shape;601;p14"/>
            <p:cNvGrpSpPr/>
            <p:nvPr/>
          </p:nvGrpSpPr>
          <p:grpSpPr>
            <a:xfrm>
              <a:off x="7452610" y="4364636"/>
              <a:ext cx="764498" cy="449705"/>
              <a:chOff x="7493876" y="2774731"/>
              <a:chExt cx="1481958" cy="894622"/>
            </a:xfrm>
          </p:grpSpPr>
          <p:sp>
            <p:nvSpPr>
              <p:cNvPr id="602" name="Google Shape;602;p1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3" name="Google Shape;603;p1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4" name="Google Shape;604;p1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Google Shape;605;p1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1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1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1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9" name="Google Shape;609;p14"/>
            <p:cNvGrpSpPr/>
            <p:nvPr/>
          </p:nvGrpSpPr>
          <p:grpSpPr>
            <a:xfrm>
              <a:off x="4517036" y="4382125"/>
              <a:ext cx="764498" cy="449705"/>
              <a:chOff x="7493876" y="2774731"/>
              <a:chExt cx="1481958" cy="894622"/>
            </a:xfrm>
          </p:grpSpPr>
          <p:sp>
            <p:nvSpPr>
              <p:cNvPr id="610" name="Google Shape;610;p1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2" name="Google Shape;612;p1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3" name="Google Shape;613;p1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1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1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1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7" name="Google Shape;617;p14"/>
            <p:cNvGrpSpPr/>
            <p:nvPr/>
          </p:nvGrpSpPr>
          <p:grpSpPr>
            <a:xfrm>
              <a:off x="7851988" y="5988681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618" name="Google Shape;618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" name="Google Shape;619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0" name="Google Shape;620;p14"/>
            <p:cNvGrpSpPr/>
            <p:nvPr/>
          </p:nvGrpSpPr>
          <p:grpSpPr>
            <a:xfrm>
              <a:off x="6916190" y="5955947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621" name="Google Shape;621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2" name="Google Shape;622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3" name="Google Shape;623;p14"/>
            <p:cNvGrpSpPr/>
            <p:nvPr/>
          </p:nvGrpSpPr>
          <p:grpSpPr>
            <a:xfrm>
              <a:off x="3921589" y="5865644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624" name="Google Shape;624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5" name="Google Shape;625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6" name="Google Shape;626;p14"/>
            <p:cNvGrpSpPr/>
            <p:nvPr/>
          </p:nvGrpSpPr>
          <p:grpSpPr>
            <a:xfrm>
              <a:off x="4833534" y="5813400"/>
              <a:ext cx="641350" cy="558800"/>
              <a:chOff x="-44" y="1473"/>
              <a:chExt cx="981" cy="1105"/>
            </a:xfrm>
          </p:grpSpPr>
          <p:pic>
            <p:nvPicPr>
              <p:cNvPr descr="desktop_computer_stylized_medium" id="627" name="Google Shape;627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8" name="Google Shape;628;p1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9" name="Google Shape;629;p14"/>
          <p:cNvSpPr txBox="1"/>
          <p:nvPr/>
        </p:nvSpPr>
        <p:spPr>
          <a:xfrm>
            <a:off x="4790324" y="5542214"/>
            <a:ext cx="9637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223.1.2.1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0" name="Google Shape;630;p14"/>
          <p:cNvGrpSpPr/>
          <p:nvPr/>
        </p:nvGrpSpPr>
        <p:grpSpPr>
          <a:xfrm>
            <a:off x="2970204" y="933306"/>
            <a:ext cx="9056493" cy="4702911"/>
            <a:chOff x="2970204" y="933306"/>
            <a:chExt cx="9056493" cy="4702911"/>
          </a:xfrm>
        </p:grpSpPr>
        <p:grpSp>
          <p:nvGrpSpPr>
            <p:cNvPr id="631" name="Google Shape;631;p14"/>
            <p:cNvGrpSpPr/>
            <p:nvPr/>
          </p:nvGrpSpPr>
          <p:grpSpPr>
            <a:xfrm>
              <a:off x="8152109" y="933306"/>
              <a:ext cx="3244327" cy="864497"/>
              <a:chOff x="6090834" y="607842"/>
              <a:chExt cx="3244327" cy="864497"/>
            </a:xfrm>
          </p:grpSpPr>
          <p:sp>
            <p:nvSpPr>
              <p:cNvPr id="632" name="Google Shape;632;p14"/>
              <p:cNvSpPr txBox="1"/>
              <p:nvPr/>
            </p:nvSpPr>
            <p:spPr>
              <a:xfrm>
                <a:off x="7255489" y="60784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subnet 223.1.1/24</a:t>
                </a:r>
                <a:endParaRPr/>
              </a:p>
            </p:txBody>
          </p:sp>
          <p:cxnSp>
            <p:nvCxnSpPr>
              <p:cNvPr id="633" name="Google Shape;633;p14"/>
              <p:cNvCxnSpPr/>
              <p:nvPr/>
            </p:nvCxnSpPr>
            <p:spPr>
              <a:xfrm flipH="1">
                <a:off x="6090834" y="866887"/>
                <a:ext cx="1222333" cy="6054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34" name="Google Shape;634;p14"/>
            <p:cNvGrpSpPr/>
            <p:nvPr/>
          </p:nvGrpSpPr>
          <p:grpSpPr>
            <a:xfrm>
              <a:off x="8567981" y="2945502"/>
              <a:ext cx="2717381" cy="632023"/>
              <a:chOff x="6090835" y="840316"/>
              <a:chExt cx="2717381" cy="632023"/>
            </a:xfrm>
          </p:grpSpPr>
          <p:sp>
            <p:nvSpPr>
              <p:cNvPr id="635" name="Google Shape;635;p14"/>
              <p:cNvSpPr txBox="1"/>
              <p:nvPr/>
            </p:nvSpPr>
            <p:spPr>
              <a:xfrm>
                <a:off x="6728544" y="840316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subnet 223.1.7/24</a:t>
                </a:r>
                <a:endParaRPr/>
              </a:p>
            </p:txBody>
          </p:sp>
          <p:cxnSp>
            <p:nvCxnSpPr>
              <p:cNvPr id="636" name="Google Shape;636;p14"/>
              <p:cNvCxnSpPr/>
              <p:nvPr/>
            </p:nvCxnSpPr>
            <p:spPr>
              <a:xfrm flipH="1">
                <a:off x="6090835" y="1102963"/>
                <a:ext cx="700005" cy="36937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37" name="Google Shape;637;p14"/>
            <p:cNvGrpSpPr/>
            <p:nvPr/>
          </p:nvGrpSpPr>
          <p:grpSpPr>
            <a:xfrm>
              <a:off x="9262822" y="5019691"/>
              <a:ext cx="2763875" cy="616526"/>
              <a:chOff x="6090835" y="855813"/>
              <a:chExt cx="2763875" cy="616526"/>
            </a:xfrm>
          </p:grpSpPr>
          <p:sp>
            <p:nvSpPr>
              <p:cNvPr id="638" name="Google Shape;638;p14"/>
              <p:cNvSpPr txBox="1"/>
              <p:nvPr/>
            </p:nvSpPr>
            <p:spPr>
              <a:xfrm>
                <a:off x="6775038" y="855813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subnet 223.1.3/24</a:t>
                </a:r>
                <a:endParaRPr/>
              </a:p>
            </p:txBody>
          </p:sp>
          <p:cxnSp>
            <p:nvCxnSpPr>
              <p:cNvPr id="639" name="Google Shape;639;p14"/>
              <p:cNvCxnSpPr/>
              <p:nvPr/>
            </p:nvCxnSpPr>
            <p:spPr>
              <a:xfrm flipH="1">
                <a:off x="6090835" y="1102963"/>
                <a:ext cx="700005" cy="36937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40" name="Google Shape;640;p14"/>
            <p:cNvGrpSpPr/>
            <p:nvPr/>
          </p:nvGrpSpPr>
          <p:grpSpPr>
            <a:xfrm>
              <a:off x="2970204" y="4924121"/>
              <a:ext cx="2681511" cy="616523"/>
              <a:chOff x="2350272" y="4955118"/>
              <a:chExt cx="2681511" cy="616523"/>
            </a:xfrm>
          </p:grpSpPr>
          <p:sp>
            <p:nvSpPr>
              <p:cNvPr id="641" name="Google Shape;641;p14"/>
              <p:cNvSpPr txBox="1"/>
              <p:nvPr/>
            </p:nvSpPr>
            <p:spPr>
              <a:xfrm>
                <a:off x="2350272" y="4955118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subnet 223.1.2/24</a:t>
                </a:r>
                <a:endParaRPr/>
              </a:p>
            </p:txBody>
          </p:sp>
          <p:cxnSp>
            <p:nvCxnSpPr>
              <p:cNvPr id="642" name="Google Shape;642;p14"/>
              <p:cNvCxnSpPr/>
              <p:nvPr/>
            </p:nvCxnSpPr>
            <p:spPr>
              <a:xfrm>
                <a:off x="4331778" y="5202265"/>
                <a:ext cx="700005" cy="36937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43" name="Google Shape;643;p14"/>
            <p:cNvGrpSpPr/>
            <p:nvPr/>
          </p:nvGrpSpPr>
          <p:grpSpPr>
            <a:xfrm>
              <a:off x="4362467" y="3185728"/>
              <a:ext cx="2495532" cy="492537"/>
              <a:chOff x="2536251" y="5079104"/>
              <a:chExt cx="2495532" cy="492537"/>
            </a:xfrm>
          </p:grpSpPr>
          <p:sp>
            <p:nvSpPr>
              <p:cNvPr id="644" name="Google Shape;644;p14"/>
              <p:cNvSpPr txBox="1"/>
              <p:nvPr/>
            </p:nvSpPr>
            <p:spPr>
              <a:xfrm>
                <a:off x="2536251" y="5079104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subnet 223.1.9/24</a:t>
                </a:r>
                <a:endParaRPr/>
              </a:p>
            </p:txBody>
          </p:sp>
          <p:cxnSp>
            <p:nvCxnSpPr>
              <p:cNvPr id="645" name="Google Shape;645;p14"/>
              <p:cNvCxnSpPr/>
              <p:nvPr/>
            </p:nvCxnSpPr>
            <p:spPr>
              <a:xfrm>
                <a:off x="4559085" y="5349499"/>
                <a:ext cx="472698" cy="22214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46" name="Google Shape;646;p14"/>
            <p:cNvGrpSpPr/>
            <p:nvPr/>
          </p:nvGrpSpPr>
          <p:grpSpPr>
            <a:xfrm>
              <a:off x="6605504" y="4602997"/>
              <a:ext cx="2079672" cy="648084"/>
              <a:chOff x="1320582" y="5594888"/>
              <a:chExt cx="2079672" cy="648084"/>
            </a:xfrm>
          </p:grpSpPr>
          <p:sp>
            <p:nvSpPr>
              <p:cNvPr id="647" name="Google Shape;647;p14"/>
              <p:cNvSpPr txBox="1"/>
              <p:nvPr/>
            </p:nvSpPr>
            <p:spPr>
              <a:xfrm>
                <a:off x="1320582" y="584286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subnet 223.1.8/24</a:t>
                </a:r>
                <a:endParaRPr/>
              </a:p>
            </p:txBody>
          </p:sp>
          <p:cxnSp>
            <p:nvCxnSpPr>
              <p:cNvPr id="648" name="Google Shape;648;p14"/>
              <p:cNvCxnSpPr/>
              <p:nvPr/>
            </p:nvCxnSpPr>
            <p:spPr>
              <a:xfrm rot="10800000">
                <a:off x="2355742" y="5594888"/>
                <a:ext cx="0" cy="34096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IP addressing: CIDR</a:t>
            </a:r>
            <a:endParaRPr/>
          </a:p>
        </p:txBody>
      </p:sp>
      <p:sp>
        <p:nvSpPr>
          <p:cNvPr id="655" name="Google Shape;655;p15"/>
          <p:cNvSpPr txBox="1"/>
          <p:nvPr/>
        </p:nvSpPr>
        <p:spPr>
          <a:xfrm>
            <a:off x="910964" y="1504586"/>
            <a:ext cx="11096157" cy="2078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CIDR: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lassless </a:t>
            </a: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nter</a:t>
            </a: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omain </a:t>
            </a: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outing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(pronounced “cider”)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subnet portion of address of arbitrary length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 format: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a.b.c.d/x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where x is # bits in subnet portion of address</a:t>
            </a:r>
            <a:endParaRPr/>
          </a:p>
          <a:p>
            <a:pPr indent="-55562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6" name="Google Shape;656;p15"/>
          <p:cNvGrpSpPr/>
          <p:nvPr/>
        </p:nvGrpSpPr>
        <p:grpSpPr>
          <a:xfrm>
            <a:off x="3242716" y="3863272"/>
            <a:ext cx="6124575" cy="1624012"/>
            <a:chOff x="3242716" y="3863272"/>
            <a:chExt cx="6124575" cy="1624012"/>
          </a:xfrm>
        </p:grpSpPr>
        <p:sp>
          <p:nvSpPr>
            <p:cNvPr id="657" name="Google Shape;657;p15"/>
            <p:cNvSpPr txBox="1"/>
            <p:nvPr/>
          </p:nvSpPr>
          <p:spPr>
            <a:xfrm>
              <a:off x="3242716" y="4444297"/>
              <a:ext cx="61245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11001000  00010111  0001000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0  00000000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8" name="Google Shape;658;p15"/>
            <p:cNvSpPr txBox="1"/>
            <p:nvPr/>
          </p:nvSpPr>
          <p:spPr>
            <a:xfrm>
              <a:off x="4904829" y="3899784"/>
              <a:ext cx="86995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subnet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part</a:t>
              </a:r>
              <a:endParaRPr/>
            </a:p>
          </p:txBody>
        </p:sp>
        <p:sp>
          <p:nvSpPr>
            <p:cNvPr id="659" name="Google Shape;659;p15"/>
            <p:cNvSpPr txBox="1"/>
            <p:nvPr/>
          </p:nvSpPr>
          <p:spPr>
            <a:xfrm>
              <a:off x="8184604" y="3863272"/>
              <a:ext cx="61595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</a:t>
              </a:r>
              <a:endParaRPr/>
            </a:p>
          </p:txBody>
        </p:sp>
        <p:cxnSp>
          <p:nvCxnSpPr>
            <p:cNvPr id="660" name="Google Shape;660;p15"/>
            <p:cNvCxnSpPr/>
            <p:nvPr/>
          </p:nvCxnSpPr>
          <p:spPr>
            <a:xfrm>
              <a:off x="5911304" y="4209347"/>
              <a:ext cx="1620837" cy="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1" name="Google Shape;661;p15"/>
            <p:cNvCxnSpPr/>
            <p:nvPr/>
          </p:nvCxnSpPr>
          <p:spPr>
            <a:xfrm>
              <a:off x="8702129" y="4198234"/>
              <a:ext cx="59531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2" name="Google Shape;662;p15"/>
            <p:cNvSpPr txBox="1"/>
            <p:nvPr/>
          </p:nvSpPr>
          <p:spPr>
            <a:xfrm>
              <a:off x="5179466" y="5030084"/>
              <a:ext cx="22193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200.23.16.0/23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3" name="Google Shape;663;p15"/>
            <p:cNvCxnSpPr/>
            <p:nvPr/>
          </p:nvCxnSpPr>
          <p:spPr>
            <a:xfrm rot="10800000">
              <a:off x="3312566" y="4199822"/>
              <a:ext cx="1438275" cy="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4" name="Google Shape;664;p15"/>
            <p:cNvCxnSpPr/>
            <p:nvPr/>
          </p:nvCxnSpPr>
          <p:spPr>
            <a:xfrm rot="10800000">
              <a:off x="7571829" y="4210934"/>
              <a:ext cx="647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6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IP addresses: how to get one?</a:t>
            </a:r>
            <a:endParaRPr/>
          </a:p>
        </p:txBody>
      </p:sp>
      <p:sp>
        <p:nvSpPr>
          <p:cNvPr id="671" name="Google Shape;671;p16"/>
          <p:cNvSpPr txBox="1"/>
          <p:nvPr/>
        </p:nvSpPr>
        <p:spPr>
          <a:xfrm>
            <a:off x="910964" y="1504585"/>
            <a:ext cx="11096157" cy="26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That’s actually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questions:</a:t>
            </a:r>
            <a:endParaRPr/>
          </a:p>
          <a:p>
            <a:pPr indent="-346075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Q: How does a </a:t>
            </a:r>
            <a:r>
              <a:rPr b="0" i="1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 IP address within its network (host part of address)?</a:t>
            </a:r>
            <a:endParaRPr/>
          </a:p>
          <a:p>
            <a:pPr indent="-346075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Q: How does a </a:t>
            </a:r>
            <a:r>
              <a:rPr b="0" i="1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 IP address for itself (network part of address)</a:t>
            </a:r>
            <a:endParaRPr/>
          </a:p>
          <a:p>
            <a:pPr indent="0" lvl="1" marL="3492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6"/>
          <p:cNvSpPr/>
          <p:nvPr/>
        </p:nvSpPr>
        <p:spPr>
          <a:xfrm>
            <a:off x="1104900" y="4234164"/>
            <a:ext cx="10533088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 IP address?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hard-coded by sysadmin in config file (e.g., /etc/rc.config in UNIX)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DHCP: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ynamic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ost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onfiguration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rotocol: dynamically get address from as server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“plug-and-play”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7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DHCP: Dynamic Host Configuration Protocol</a:t>
            </a:r>
            <a:endParaRPr/>
          </a:p>
        </p:txBody>
      </p:sp>
      <p:sp>
        <p:nvSpPr>
          <p:cNvPr id="679" name="Google Shape;679;p17"/>
          <p:cNvSpPr txBox="1"/>
          <p:nvPr/>
        </p:nvSpPr>
        <p:spPr>
          <a:xfrm>
            <a:off x="895974" y="1369673"/>
            <a:ext cx="11096157" cy="2317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host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dynamically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obtains IP address from network server when it “joins” network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can renew its lease on address in use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allows reuse of addresses (only hold address while connected/on)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support for mobile users who join/leave network </a:t>
            </a:r>
            <a:endParaRPr/>
          </a:p>
          <a:p>
            <a:pPr indent="0" lvl="1" marL="3492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7"/>
          <p:cNvSpPr txBox="1"/>
          <p:nvPr/>
        </p:nvSpPr>
        <p:spPr>
          <a:xfrm>
            <a:off x="869430" y="3920499"/>
            <a:ext cx="11096157" cy="2345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06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DHCP overview: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broadcasts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DHCP discover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msg [optional]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server responds with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DHCP offer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msg [optional]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requests IP address: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DHCP request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server sends address: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DHCP ack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msg </a:t>
            </a:r>
            <a:endParaRPr/>
          </a:p>
          <a:p>
            <a:pPr indent="0" lvl="1" marL="3492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8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DHCP client-server scenario</a:t>
            </a:r>
            <a:endParaRPr/>
          </a:p>
        </p:txBody>
      </p:sp>
      <p:sp>
        <p:nvSpPr>
          <p:cNvPr id="687" name="Google Shape;687;p18"/>
          <p:cNvSpPr/>
          <p:nvPr/>
        </p:nvSpPr>
        <p:spPr>
          <a:xfrm rot="-5400000">
            <a:off x="3939641" y="4185782"/>
            <a:ext cx="846137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8"/>
          <p:cNvSpPr/>
          <p:nvPr/>
        </p:nvSpPr>
        <p:spPr>
          <a:xfrm rot="10800000">
            <a:off x="4937385" y="2859425"/>
            <a:ext cx="846138" cy="1593850"/>
          </a:xfrm>
          <a:custGeom>
            <a:rect b="b" l="l" r="r" t="t"/>
            <a:pathLst>
              <a:path extrusionOk="0" h="10000" w="10315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2902210" y="2441913"/>
            <a:ext cx="1038225" cy="1927225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8"/>
          <p:cNvSpPr txBox="1"/>
          <p:nvPr/>
        </p:nvSpPr>
        <p:spPr>
          <a:xfrm>
            <a:off x="2284673" y="2272050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691" name="Google Shape;691;p18"/>
          <p:cNvGrpSpPr/>
          <p:nvPr/>
        </p:nvGrpSpPr>
        <p:grpSpPr>
          <a:xfrm>
            <a:off x="1460763" y="3097551"/>
            <a:ext cx="1011238" cy="393700"/>
            <a:chOff x="3194" y="523"/>
            <a:chExt cx="637" cy="248"/>
          </a:xfrm>
        </p:grpSpPr>
        <p:sp>
          <p:nvSpPr>
            <p:cNvPr id="692" name="Google Shape;692;p18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8"/>
            <p:cNvSpPr txBox="1"/>
            <p:nvPr/>
          </p:nvSpPr>
          <p:spPr>
            <a:xfrm>
              <a:off x="3194" y="523"/>
              <a:ext cx="586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223.1.1.2</a:t>
              </a:r>
              <a:endParaRPr b="0" i="0" sz="1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694" name="Google Shape;694;p18"/>
          <p:cNvSpPr txBox="1"/>
          <p:nvPr/>
        </p:nvSpPr>
        <p:spPr>
          <a:xfrm>
            <a:off x="2389448" y="4227850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3209055" y="3445031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6" name="Google Shape;696;p18"/>
          <p:cNvSpPr txBox="1"/>
          <p:nvPr/>
        </p:nvSpPr>
        <p:spPr>
          <a:xfrm>
            <a:off x="4572034" y="3416409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7" name="Google Shape;697;p18"/>
          <p:cNvSpPr txBox="1"/>
          <p:nvPr/>
        </p:nvSpPr>
        <p:spPr>
          <a:xfrm>
            <a:off x="5576206" y="4449327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8" name="Google Shape;698;p18"/>
          <p:cNvSpPr txBox="1"/>
          <p:nvPr/>
        </p:nvSpPr>
        <p:spPr>
          <a:xfrm>
            <a:off x="5700504" y="2407928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99" name="Google Shape;699;p18"/>
          <p:cNvCxnSpPr/>
          <p:nvPr/>
        </p:nvCxnSpPr>
        <p:spPr>
          <a:xfrm>
            <a:off x="4353185" y="3874288"/>
            <a:ext cx="0" cy="8790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18"/>
          <p:cNvSpPr txBox="1"/>
          <p:nvPr/>
        </p:nvSpPr>
        <p:spPr>
          <a:xfrm>
            <a:off x="4965677" y="5374255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1" name="Google Shape;701;p18"/>
          <p:cNvSpPr txBox="1"/>
          <p:nvPr/>
        </p:nvSpPr>
        <p:spPr>
          <a:xfrm>
            <a:off x="3900694" y="5359648"/>
            <a:ext cx="9300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02" name="Google Shape;702;p18"/>
          <p:cNvGrpSpPr/>
          <p:nvPr/>
        </p:nvGrpSpPr>
        <p:grpSpPr>
          <a:xfrm>
            <a:off x="3878520" y="4135775"/>
            <a:ext cx="1028699" cy="307975"/>
            <a:chOff x="4550" y="1257"/>
            <a:chExt cx="648" cy="194"/>
          </a:xfrm>
        </p:grpSpPr>
        <p:sp>
          <p:nvSpPr>
            <p:cNvPr id="703" name="Google Shape;703;p18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8"/>
            <p:cNvSpPr txBox="1"/>
            <p:nvPr/>
          </p:nvSpPr>
          <p:spPr>
            <a:xfrm>
              <a:off x="4550" y="1257"/>
              <a:ext cx="64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223.1.3.27</a:t>
              </a:r>
              <a:endParaRPr b="0" i="0" sz="1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705" name="Google Shape;705;p18"/>
          <p:cNvGrpSpPr/>
          <p:nvPr/>
        </p:nvGrpSpPr>
        <p:grpSpPr>
          <a:xfrm>
            <a:off x="2110048" y="2518113"/>
            <a:ext cx="641350" cy="558800"/>
            <a:chOff x="-44" y="1473"/>
            <a:chExt cx="981" cy="1105"/>
          </a:xfrm>
        </p:grpSpPr>
        <p:pic>
          <p:nvPicPr>
            <p:cNvPr descr="desktop_computer_stylized_medium" id="706" name="Google Shape;70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8" name="Google Shape;708;p18"/>
          <p:cNvGrpSpPr/>
          <p:nvPr/>
        </p:nvGrpSpPr>
        <p:grpSpPr>
          <a:xfrm>
            <a:off x="2105285" y="3116600"/>
            <a:ext cx="641350" cy="558800"/>
            <a:chOff x="-44" y="1473"/>
            <a:chExt cx="981" cy="1105"/>
          </a:xfrm>
        </p:grpSpPr>
        <p:pic>
          <p:nvPicPr>
            <p:cNvPr descr="desktop_computer_stylized_medium" id="709" name="Google Shape;70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1" name="Google Shape;711;p18"/>
          <p:cNvGrpSpPr/>
          <p:nvPr/>
        </p:nvGrpSpPr>
        <p:grpSpPr>
          <a:xfrm>
            <a:off x="2133860" y="3726200"/>
            <a:ext cx="641350" cy="558800"/>
            <a:chOff x="-44" y="1473"/>
            <a:chExt cx="981" cy="1105"/>
          </a:xfrm>
        </p:grpSpPr>
        <p:pic>
          <p:nvPicPr>
            <p:cNvPr descr="desktop_computer_stylized_medium" id="712" name="Google Shape;71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18"/>
          <p:cNvGrpSpPr/>
          <p:nvPr/>
        </p:nvGrpSpPr>
        <p:grpSpPr>
          <a:xfrm flipH="1">
            <a:off x="5793048" y="2675275"/>
            <a:ext cx="641350" cy="558800"/>
            <a:chOff x="-44" y="1473"/>
            <a:chExt cx="981" cy="1105"/>
          </a:xfrm>
        </p:grpSpPr>
        <p:pic>
          <p:nvPicPr>
            <p:cNvPr descr="desktop_computer_stylized_medium" id="715" name="Google Shape;71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7" name="Google Shape;717;p18"/>
          <p:cNvGrpSpPr/>
          <p:nvPr/>
        </p:nvGrpSpPr>
        <p:grpSpPr>
          <a:xfrm flipH="1">
            <a:off x="5807335" y="3954800"/>
            <a:ext cx="641350" cy="558800"/>
            <a:chOff x="-44" y="1473"/>
            <a:chExt cx="981" cy="1105"/>
          </a:xfrm>
        </p:grpSpPr>
        <p:pic>
          <p:nvPicPr>
            <p:cNvPr descr="desktop_computer_stylized_medium" id="718" name="Google Shape;7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18"/>
          <p:cNvGrpSpPr/>
          <p:nvPr/>
        </p:nvGrpSpPr>
        <p:grpSpPr>
          <a:xfrm flipH="1">
            <a:off x="5193019" y="4884750"/>
            <a:ext cx="641350" cy="558800"/>
            <a:chOff x="-44" y="1473"/>
            <a:chExt cx="981" cy="1105"/>
          </a:xfrm>
        </p:grpSpPr>
        <p:pic>
          <p:nvPicPr>
            <p:cNvPr descr="desktop_computer_stylized_medium" id="721" name="Google Shape;72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3" name="Google Shape;723;p18"/>
          <p:cNvGrpSpPr/>
          <p:nvPr/>
        </p:nvGrpSpPr>
        <p:grpSpPr>
          <a:xfrm flipH="1">
            <a:off x="3683849" y="5545761"/>
            <a:ext cx="641350" cy="558800"/>
            <a:chOff x="-44" y="1473"/>
            <a:chExt cx="981" cy="1105"/>
          </a:xfrm>
        </p:grpSpPr>
        <p:pic>
          <p:nvPicPr>
            <p:cNvPr descr="desktop_computer_stylized_medium" id="724" name="Google Shape;72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5" name="Google Shape;725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6" name="Google Shape;726;p18"/>
          <p:cNvCxnSpPr/>
          <p:nvPr/>
        </p:nvCxnSpPr>
        <p:spPr>
          <a:xfrm>
            <a:off x="2690676" y="2925190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7" name="Google Shape;727;p18"/>
          <p:cNvCxnSpPr/>
          <p:nvPr/>
        </p:nvCxnSpPr>
        <p:spPr>
          <a:xfrm>
            <a:off x="2692109" y="3524075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8" name="Google Shape;728;p18"/>
          <p:cNvCxnSpPr/>
          <p:nvPr/>
        </p:nvCxnSpPr>
        <p:spPr>
          <a:xfrm>
            <a:off x="2699264" y="4137247"/>
            <a:ext cx="3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9" name="Google Shape;729;p18"/>
          <p:cNvCxnSpPr/>
          <p:nvPr/>
        </p:nvCxnSpPr>
        <p:spPr>
          <a:xfrm>
            <a:off x="5623185" y="3081673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0" name="Google Shape;730;p18"/>
          <p:cNvCxnSpPr/>
          <p:nvPr/>
        </p:nvCxnSpPr>
        <p:spPr>
          <a:xfrm>
            <a:off x="5624546" y="4360781"/>
            <a:ext cx="2610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1" name="Google Shape;731;p18"/>
          <p:cNvCxnSpPr/>
          <p:nvPr/>
        </p:nvCxnSpPr>
        <p:spPr>
          <a:xfrm>
            <a:off x="3883139" y="5341789"/>
            <a:ext cx="0" cy="2326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2" name="Google Shape;732;p18"/>
          <p:cNvCxnSpPr/>
          <p:nvPr/>
        </p:nvCxnSpPr>
        <p:spPr>
          <a:xfrm>
            <a:off x="4911047" y="5304616"/>
            <a:ext cx="38014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" name="Google Shape;733;p18"/>
          <p:cNvCxnSpPr/>
          <p:nvPr/>
        </p:nvCxnSpPr>
        <p:spPr>
          <a:xfrm>
            <a:off x="3357797" y="3717874"/>
            <a:ext cx="79426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4" name="Google Shape;734;p18"/>
          <p:cNvCxnSpPr/>
          <p:nvPr/>
        </p:nvCxnSpPr>
        <p:spPr>
          <a:xfrm>
            <a:off x="4540907" y="3723826"/>
            <a:ext cx="97547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35" name="Google Shape;735;p18"/>
          <p:cNvGrpSpPr/>
          <p:nvPr/>
        </p:nvGrpSpPr>
        <p:grpSpPr>
          <a:xfrm>
            <a:off x="4046926" y="3577753"/>
            <a:ext cx="632991" cy="300938"/>
            <a:chOff x="7493876" y="2774731"/>
            <a:chExt cx="1481958" cy="894622"/>
          </a:xfrm>
        </p:grpSpPr>
        <p:sp>
          <p:nvSpPr>
            <p:cNvPr id="736" name="Google Shape;73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8" name="Google Shape;73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9" name="Google Shape;73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4199467" y="1861963"/>
            <a:ext cx="1778000" cy="1399961"/>
            <a:chOff x="4199467" y="1861963"/>
            <a:chExt cx="1778000" cy="1399961"/>
          </a:xfrm>
        </p:grpSpPr>
        <p:sp>
          <p:nvSpPr>
            <p:cNvPr id="744" name="Google Shape;744;p18"/>
            <p:cNvSpPr txBox="1"/>
            <p:nvPr/>
          </p:nvSpPr>
          <p:spPr>
            <a:xfrm>
              <a:off x="4199467" y="1861963"/>
              <a:ext cx="1778000" cy="409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DHCP server</a:t>
              </a:r>
              <a:endParaRPr/>
            </a:p>
          </p:txBody>
        </p:sp>
        <p:grpSp>
          <p:nvGrpSpPr>
            <p:cNvPr id="745" name="Google Shape;745;p18"/>
            <p:cNvGrpSpPr/>
            <p:nvPr/>
          </p:nvGrpSpPr>
          <p:grpSpPr>
            <a:xfrm>
              <a:off x="4496295" y="2275617"/>
              <a:ext cx="1061308" cy="986307"/>
              <a:chOff x="4496295" y="2275617"/>
              <a:chExt cx="1061308" cy="986307"/>
            </a:xfrm>
          </p:grpSpPr>
          <p:grpSp>
            <p:nvGrpSpPr>
              <p:cNvPr id="746" name="Google Shape;746;p18"/>
              <p:cNvGrpSpPr/>
              <p:nvPr/>
            </p:nvGrpSpPr>
            <p:grpSpPr>
              <a:xfrm>
                <a:off x="4733925" y="2275617"/>
                <a:ext cx="365672" cy="681037"/>
                <a:chOff x="4140" y="429"/>
                <a:chExt cx="1425" cy="2396"/>
              </a:xfrm>
            </p:grpSpPr>
            <p:sp>
              <p:nvSpPr>
                <p:cNvPr id="747" name="Google Shape;747;p1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8" name="Google Shape;748;p18"/>
                <p:cNvSpPr/>
                <p:nvPr/>
              </p:nvSpPr>
              <p:spPr>
                <a:xfrm>
                  <a:off x="4208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1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0" name="Google Shape;750;p1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1" name="Google Shape;751;p18"/>
                <p:cNvSpPr/>
                <p:nvPr/>
              </p:nvSpPr>
              <p:spPr>
                <a:xfrm>
                  <a:off x="4213" y="691"/>
                  <a:ext cx="597" cy="50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52" name="Google Shape;752;p18"/>
                <p:cNvGrpSpPr/>
                <p:nvPr/>
              </p:nvGrpSpPr>
              <p:grpSpPr>
                <a:xfrm>
                  <a:off x="4748" y="669"/>
                  <a:ext cx="580" cy="145"/>
                  <a:chOff x="613" y="2569"/>
                  <a:chExt cx="724" cy="139"/>
                </a:xfrm>
              </p:grpSpPr>
              <p:sp>
                <p:nvSpPr>
                  <p:cNvPr id="753" name="Google Shape;753;p18"/>
                  <p:cNvSpPr/>
                  <p:nvPr/>
                </p:nvSpPr>
                <p:spPr>
                  <a:xfrm>
                    <a:off x="613" y="2569"/>
                    <a:ext cx="724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4" name="Google Shape;754;p18"/>
                  <p:cNvSpPr/>
                  <p:nvPr/>
                </p:nvSpPr>
                <p:spPr>
                  <a:xfrm>
                    <a:off x="627" y="2585"/>
                    <a:ext cx="689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55" name="Google Shape;755;p18"/>
                <p:cNvSpPr/>
                <p:nvPr/>
              </p:nvSpPr>
              <p:spPr>
                <a:xfrm>
                  <a:off x="4224" y="1021"/>
                  <a:ext cx="597" cy="45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56" name="Google Shape;756;p18"/>
                <p:cNvGrpSpPr/>
                <p:nvPr/>
              </p:nvGrpSpPr>
              <p:grpSpPr>
                <a:xfrm>
                  <a:off x="4749" y="993"/>
                  <a:ext cx="580" cy="134"/>
                  <a:chOff x="616" y="2567"/>
                  <a:chExt cx="724" cy="139"/>
                </a:xfrm>
              </p:grpSpPr>
              <p:sp>
                <p:nvSpPr>
                  <p:cNvPr id="757" name="Google Shape;757;p18"/>
                  <p:cNvSpPr/>
                  <p:nvPr/>
                </p:nvSpPr>
                <p:spPr>
                  <a:xfrm>
                    <a:off x="616" y="2567"/>
                    <a:ext cx="724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8" name="Google Shape;758;p18"/>
                  <p:cNvSpPr/>
                  <p:nvPr/>
                </p:nvSpPr>
                <p:spPr>
                  <a:xfrm>
                    <a:off x="630" y="2584"/>
                    <a:ext cx="689" cy="10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59" name="Google Shape;759;p18"/>
                <p:cNvSpPr/>
                <p:nvPr/>
              </p:nvSpPr>
              <p:spPr>
                <a:xfrm>
                  <a:off x="4219" y="1356"/>
                  <a:ext cx="591" cy="50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" name="Google Shape;760;p18"/>
                <p:cNvSpPr/>
                <p:nvPr/>
              </p:nvSpPr>
              <p:spPr>
                <a:xfrm>
                  <a:off x="4230" y="1658"/>
                  <a:ext cx="591" cy="45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61" name="Google Shape;761;p18"/>
                <p:cNvGrpSpPr/>
                <p:nvPr/>
              </p:nvGrpSpPr>
              <p:grpSpPr>
                <a:xfrm>
                  <a:off x="4737" y="1636"/>
                  <a:ext cx="580" cy="151"/>
                  <a:chOff x="617" y="2576"/>
                  <a:chExt cx="723" cy="139"/>
                </a:xfrm>
              </p:grpSpPr>
              <p:sp>
                <p:nvSpPr>
                  <p:cNvPr id="762" name="Google Shape;762;p18"/>
                  <p:cNvSpPr/>
                  <p:nvPr/>
                </p:nvSpPr>
                <p:spPr>
                  <a:xfrm>
                    <a:off x="617" y="2576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3" name="Google Shape;763;p18"/>
                  <p:cNvSpPr/>
                  <p:nvPr/>
                </p:nvSpPr>
                <p:spPr>
                  <a:xfrm>
                    <a:off x="631" y="2586"/>
                    <a:ext cx="688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64" name="Google Shape;764;p1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65" name="Google Shape;765;p18"/>
                <p:cNvGrpSpPr/>
                <p:nvPr/>
              </p:nvGrpSpPr>
              <p:grpSpPr>
                <a:xfrm>
                  <a:off x="4737" y="1328"/>
                  <a:ext cx="586" cy="140"/>
                  <a:chOff x="612" y="2569"/>
                  <a:chExt cx="730" cy="140"/>
                </a:xfrm>
              </p:grpSpPr>
              <p:sp>
                <p:nvSpPr>
                  <p:cNvPr id="766" name="Google Shape;766;p18"/>
                  <p:cNvSpPr/>
                  <p:nvPr/>
                </p:nvSpPr>
                <p:spPr>
                  <a:xfrm>
                    <a:off x="612" y="2569"/>
                    <a:ext cx="730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7" name="Google Shape;767;p18"/>
                  <p:cNvSpPr/>
                  <p:nvPr/>
                </p:nvSpPr>
                <p:spPr>
                  <a:xfrm>
                    <a:off x="626" y="2586"/>
                    <a:ext cx="695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68" name="Google Shape;768;p18"/>
                <p:cNvSpPr/>
                <p:nvPr/>
              </p:nvSpPr>
              <p:spPr>
                <a:xfrm>
                  <a:off x="5250" y="429"/>
                  <a:ext cx="68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Google Shape;769;p1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1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18"/>
                <p:cNvSpPr/>
                <p:nvPr/>
              </p:nvSpPr>
              <p:spPr>
                <a:xfrm>
                  <a:off x="5514" y="2613"/>
                  <a:ext cx="51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" name="Google Shape;772;p1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3" name="Google Shape;773;p18"/>
                <p:cNvSpPr/>
                <p:nvPr/>
              </p:nvSpPr>
              <p:spPr>
                <a:xfrm>
                  <a:off x="4140" y="2680"/>
                  <a:ext cx="1200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18"/>
                <p:cNvSpPr/>
                <p:nvPr/>
              </p:nvSpPr>
              <p:spPr>
                <a:xfrm>
                  <a:off x="4208" y="2713"/>
                  <a:ext cx="1070" cy="7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" name="Google Shape;775;p18"/>
                <p:cNvSpPr/>
                <p:nvPr/>
              </p:nvSpPr>
              <p:spPr>
                <a:xfrm>
                  <a:off x="4309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" name="Google Shape;776;p18"/>
                <p:cNvSpPr/>
                <p:nvPr/>
              </p:nvSpPr>
              <p:spPr>
                <a:xfrm>
                  <a:off x="4484" y="2384"/>
                  <a:ext cx="163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7" name="Google Shape;777;p18"/>
                <p:cNvSpPr/>
                <p:nvPr/>
              </p:nvSpPr>
              <p:spPr>
                <a:xfrm>
                  <a:off x="4664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8" name="Google Shape;778;p18"/>
                <p:cNvSpPr/>
                <p:nvPr/>
              </p:nvSpPr>
              <p:spPr>
                <a:xfrm>
                  <a:off x="5064" y="1836"/>
                  <a:ext cx="84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79" name="Google Shape;779;p18"/>
              <p:cNvCxnSpPr/>
              <p:nvPr/>
            </p:nvCxnSpPr>
            <p:spPr>
              <a:xfrm rot="10800000">
                <a:off x="5013585" y="2937914"/>
                <a:ext cx="544018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80" name="Google Shape;780;p18"/>
              <p:cNvSpPr txBox="1"/>
              <p:nvPr/>
            </p:nvSpPr>
            <p:spPr>
              <a:xfrm>
                <a:off x="4496295" y="2923370"/>
                <a:ext cx="104067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223.1.2.5</a:t>
                </a:r>
                <a:endParaRPr b="0" i="0" sz="1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pic>
        <p:nvPicPr>
          <p:cNvPr descr="access_point_stylized_small" id="781" name="Google Shape;7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0205" y="3404249"/>
            <a:ext cx="587412" cy="4869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2" name="Google Shape;782;p18"/>
          <p:cNvGrpSpPr/>
          <p:nvPr/>
        </p:nvGrpSpPr>
        <p:grpSpPr>
          <a:xfrm>
            <a:off x="6417296" y="3245381"/>
            <a:ext cx="4688026" cy="1596861"/>
            <a:chOff x="6417296" y="3245381"/>
            <a:chExt cx="4688026" cy="1596861"/>
          </a:xfrm>
        </p:grpSpPr>
        <p:grpSp>
          <p:nvGrpSpPr>
            <p:cNvPr id="783" name="Google Shape;783;p18"/>
            <p:cNvGrpSpPr/>
            <p:nvPr/>
          </p:nvGrpSpPr>
          <p:grpSpPr>
            <a:xfrm>
              <a:off x="7290172" y="3245381"/>
              <a:ext cx="1015378" cy="926641"/>
              <a:chOff x="7432700" y="2327293"/>
              <a:chExt cx="534987" cy="414882"/>
            </a:xfrm>
          </p:grpSpPr>
          <p:pic>
            <p:nvPicPr>
              <p:cNvPr descr="antenna_stylized" id="784" name="Google Shape;784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785" name="Google Shape;785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6" name="Google Shape;786;p18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787" name="Google Shape;787;p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8" name="Google Shape;788;p18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4" name="Google Shape;794;p18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795" name="Google Shape;795;p1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1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1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1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1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01" name="Google Shape;801;p18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18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18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7" name="Google Shape;807;p18"/>
            <p:cNvSpPr txBox="1"/>
            <p:nvPr/>
          </p:nvSpPr>
          <p:spPr>
            <a:xfrm>
              <a:off x="7489203" y="4119287"/>
              <a:ext cx="3616119" cy="722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arriving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DHCP client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needs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address in this network</a:t>
              </a: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6417296" y="3433832"/>
              <a:ext cx="976312" cy="374650"/>
            </a:xfrm>
            <a:prstGeom prst="leftArrow">
              <a:avLst>
                <a:gd fmla="val 50000" name="adj1"/>
                <a:gd fmla="val 65148" name="adj2"/>
              </a:avLst>
            </a:prstGeom>
            <a:gradFill>
              <a:gsLst>
                <a:gs pos="0">
                  <a:srgbClr val="CC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9" name="Google Shape;809;p18"/>
          <p:cNvSpPr txBox="1"/>
          <p:nvPr/>
        </p:nvSpPr>
        <p:spPr>
          <a:xfrm>
            <a:off x="7145867" y="1456267"/>
            <a:ext cx="46905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Typically, DHCP server will be  co-located in router, serving all subnets to which router is attached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9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DHCP client-server scenario</a:t>
            </a:r>
            <a:endParaRPr/>
          </a:p>
        </p:txBody>
      </p:sp>
      <p:sp>
        <p:nvSpPr>
          <p:cNvPr id="816" name="Google Shape;816;p19"/>
          <p:cNvSpPr txBox="1"/>
          <p:nvPr/>
        </p:nvSpPr>
        <p:spPr>
          <a:xfrm>
            <a:off x="2603536" y="1300439"/>
            <a:ext cx="2342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server: 223.1.2.5</a:t>
            </a:r>
            <a:endParaRPr/>
          </a:p>
        </p:txBody>
      </p:sp>
      <p:sp>
        <p:nvSpPr>
          <p:cNvPr id="817" name="Google Shape;817;p19"/>
          <p:cNvSpPr/>
          <p:nvPr/>
        </p:nvSpPr>
        <p:spPr>
          <a:xfrm>
            <a:off x="8680174" y="1466575"/>
            <a:ext cx="2066580" cy="329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Arriving client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8" name="Google Shape;818;p19"/>
          <p:cNvCxnSpPr/>
          <p:nvPr/>
        </p:nvCxnSpPr>
        <p:spPr>
          <a:xfrm flipH="1">
            <a:off x="4572552" y="2256526"/>
            <a:ext cx="11113" cy="4027487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19"/>
          <p:cNvCxnSpPr/>
          <p:nvPr/>
        </p:nvCxnSpPr>
        <p:spPr>
          <a:xfrm flipH="1">
            <a:off x="9098515" y="2332726"/>
            <a:ext cx="11112" cy="4140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20" name="Google Shape;820;p19"/>
          <p:cNvGrpSpPr/>
          <p:nvPr/>
        </p:nvGrpSpPr>
        <p:grpSpPr>
          <a:xfrm>
            <a:off x="4617002" y="1435788"/>
            <a:ext cx="4395788" cy="1401763"/>
            <a:chOff x="1860550" y="1343025"/>
            <a:chExt cx="4395788" cy="1401763"/>
          </a:xfrm>
        </p:grpSpPr>
        <p:cxnSp>
          <p:nvCxnSpPr>
            <p:cNvPr id="821" name="Google Shape;821;p19"/>
            <p:cNvCxnSpPr/>
            <p:nvPr/>
          </p:nvCxnSpPr>
          <p:spPr>
            <a:xfrm flipH="1">
              <a:off x="1860550" y="2208213"/>
              <a:ext cx="4395788" cy="5365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22" name="Google Shape;822;p19"/>
            <p:cNvGrpSpPr/>
            <p:nvPr/>
          </p:nvGrpSpPr>
          <p:grpSpPr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823" name="Google Shape;823;p19"/>
              <p:cNvSpPr txBox="1"/>
              <p:nvPr/>
            </p:nvSpPr>
            <p:spPr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 discover</a:t>
                </a:r>
                <a:endParaRPr b="1" i="0" sz="12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824" name="Google Shape;824;p19"/>
              <p:cNvSpPr txBox="1"/>
              <p:nvPr/>
            </p:nvSpPr>
            <p:spPr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 : 0.0.0.0, 68    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dest.: 255.255.255.255,67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yiaddr:    0.0.0.0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transaction ID: 654</a:t>
                </a:r>
                <a:endParaRPr b="0" i="0" sz="16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cxnSp>
        <p:nvCxnSpPr>
          <p:cNvPr id="825" name="Google Shape;825;p19"/>
          <p:cNvCxnSpPr/>
          <p:nvPr/>
        </p:nvCxnSpPr>
        <p:spPr>
          <a:xfrm>
            <a:off x="4659865" y="3286813"/>
            <a:ext cx="4395787" cy="5381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26" name="Google Shape;826;p19"/>
          <p:cNvGrpSpPr/>
          <p:nvPr/>
        </p:nvGrpSpPr>
        <p:grpSpPr>
          <a:xfrm>
            <a:off x="6318802" y="2672451"/>
            <a:ext cx="2520950" cy="1217612"/>
            <a:chOff x="3562350" y="2579688"/>
            <a:chExt cx="2520950" cy="1217612"/>
          </a:xfrm>
        </p:grpSpPr>
        <p:sp>
          <p:nvSpPr>
            <p:cNvPr id="827" name="Google Shape;827;p19"/>
            <p:cNvSpPr txBox="1"/>
            <p:nvPr/>
          </p:nvSpPr>
          <p:spPr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DHCP offer</a:t>
              </a:r>
              <a:endParaRPr b="0" i="0" sz="1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28" name="Google Shape;828;p19"/>
            <p:cNvSpPr txBox="1"/>
            <p:nvPr/>
          </p:nvSpPr>
          <p:spPr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src: 223.1.2.5, 67    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 255.255.255.255, 68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yiaddrr: 223.1.2.4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transaction ID: 654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lifetime: 3600 secs</a:t>
              </a:r>
              <a:endParaRPr b="0" i="0" sz="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cxnSp>
        <p:nvCxnSpPr>
          <p:cNvPr id="829" name="Google Shape;829;p19"/>
          <p:cNvCxnSpPr/>
          <p:nvPr/>
        </p:nvCxnSpPr>
        <p:spPr>
          <a:xfrm flipH="1">
            <a:off x="4551915" y="4515538"/>
            <a:ext cx="4395787" cy="5365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30" name="Google Shape;830;p19"/>
          <p:cNvGrpSpPr/>
          <p:nvPr/>
        </p:nvGrpSpPr>
        <p:grpSpPr>
          <a:xfrm>
            <a:off x="4723365" y="3858313"/>
            <a:ext cx="2887662" cy="1260475"/>
            <a:chOff x="1966913" y="3765550"/>
            <a:chExt cx="2887662" cy="1260475"/>
          </a:xfrm>
        </p:grpSpPr>
        <p:sp>
          <p:nvSpPr>
            <p:cNvPr id="831" name="Google Shape;831;p19"/>
            <p:cNvSpPr txBox="1"/>
            <p:nvPr/>
          </p:nvSpPr>
          <p:spPr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DHCP request</a:t>
              </a:r>
              <a:endParaRPr b="0" i="0" sz="1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32" name="Google Shape;832;p19"/>
            <p:cNvSpPr txBox="1"/>
            <p:nvPr/>
          </p:nvSpPr>
          <p:spPr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src:  0.0.0.0, 68   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dest::  255.255.255.255, 67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yiaddrr: 223.1.2.4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transaction ID: 655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lifetime: 3600 secs</a:t>
              </a:r>
              <a:endParaRPr b="0" i="0" sz="1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cxnSp>
        <p:nvCxnSpPr>
          <p:cNvPr id="833" name="Google Shape;833;p19"/>
          <p:cNvCxnSpPr/>
          <p:nvPr/>
        </p:nvCxnSpPr>
        <p:spPr>
          <a:xfrm>
            <a:off x="4637640" y="5545826"/>
            <a:ext cx="4395787" cy="53816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34" name="Google Shape;834;p19"/>
          <p:cNvGrpSpPr/>
          <p:nvPr/>
        </p:nvGrpSpPr>
        <p:grpSpPr>
          <a:xfrm>
            <a:off x="6275940" y="5261663"/>
            <a:ext cx="2509837" cy="1271588"/>
            <a:chOff x="3519488" y="5168900"/>
            <a:chExt cx="2509837" cy="1271588"/>
          </a:xfrm>
        </p:grpSpPr>
        <p:sp>
          <p:nvSpPr>
            <p:cNvPr id="835" name="Google Shape;835;p19"/>
            <p:cNvSpPr txBox="1"/>
            <p:nvPr/>
          </p:nvSpPr>
          <p:spPr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DHCP ACK</a:t>
              </a:r>
              <a:endParaRPr b="0" i="0" sz="1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36" name="Google Shape;836;p19"/>
            <p:cNvSpPr txBox="1"/>
            <p:nvPr/>
          </p:nvSpPr>
          <p:spPr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src: 223.1.2.5, 67    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 255.255.255.255, 68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yiaddrr: 223.1.2.4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transaction ID: 655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lifetime: 3600 secs</a:t>
              </a:r>
              <a:endParaRPr b="0" i="0" sz="1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837" name="Google Shape;837;p19"/>
          <p:cNvGrpSpPr/>
          <p:nvPr/>
        </p:nvGrpSpPr>
        <p:grpSpPr>
          <a:xfrm>
            <a:off x="9046441" y="1873938"/>
            <a:ext cx="788674" cy="559230"/>
            <a:chOff x="4417" y="878"/>
            <a:chExt cx="617" cy="466"/>
          </a:xfrm>
        </p:grpSpPr>
        <p:pic>
          <p:nvPicPr>
            <p:cNvPr descr="laptop_keyboard" id="838" name="Google Shape;83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9" name="Google Shape;839;p19"/>
            <p:cNvSpPr/>
            <p:nvPr/>
          </p:nvSpPr>
          <p:spPr>
            <a:xfrm>
              <a:off x="4595" y="888"/>
              <a:ext cx="424" cy="29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840" name="Google Shape;84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19"/>
            <p:cNvSpPr/>
            <p:nvPr/>
          </p:nvSpPr>
          <p:spPr>
            <a:xfrm>
              <a:off x="4672" y="879"/>
              <a:ext cx="359" cy="5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4591" y="878"/>
              <a:ext cx="100" cy="230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4921" y="920"/>
              <a:ext cx="108" cy="26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4590" y="1097"/>
              <a:ext cx="394" cy="8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4933" y="922"/>
              <a:ext cx="101" cy="26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4590" y="1109"/>
              <a:ext cx="351" cy="8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7" name="Google Shape;847;p19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848" name="Google Shape;848;p1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1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1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1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1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1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4" name="Google Shape;854;p19"/>
            <p:cNvSpPr/>
            <p:nvPr/>
          </p:nvSpPr>
          <p:spPr>
            <a:xfrm>
              <a:off x="4788" y="1211"/>
              <a:ext cx="144" cy="11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4420" y="1220"/>
              <a:ext cx="369" cy="10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4420" y="1201"/>
              <a:ext cx="4" cy="21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4421" y="1114"/>
              <a:ext cx="171" cy="88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4432" y="1205"/>
              <a:ext cx="350" cy="1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9"/>
            <p:cNvSpPr/>
            <p:nvPr/>
          </p:nvSpPr>
          <p:spPr>
            <a:xfrm flipH="1" rot="10800000">
              <a:off x="4782" y="1198"/>
              <a:ext cx="142" cy="10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19"/>
          <p:cNvGrpSpPr/>
          <p:nvPr/>
        </p:nvGrpSpPr>
        <p:grpSpPr>
          <a:xfrm>
            <a:off x="4474127" y="1683438"/>
            <a:ext cx="334963" cy="536575"/>
            <a:chOff x="4140" y="429"/>
            <a:chExt cx="1425" cy="2396"/>
          </a:xfrm>
        </p:grpSpPr>
        <p:sp>
          <p:nvSpPr>
            <p:cNvPr id="861" name="Google Shape;861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4208" y="429"/>
              <a:ext cx="104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4214" y="691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66" name="Google Shape;866;p19"/>
            <p:cNvGrpSpPr/>
            <p:nvPr/>
          </p:nvGrpSpPr>
          <p:grpSpPr>
            <a:xfrm>
              <a:off x="4748" y="670"/>
              <a:ext cx="581" cy="142"/>
              <a:chOff x="613" y="2570"/>
              <a:chExt cx="725" cy="136"/>
            </a:xfrm>
          </p:grpSpPr>
          <p:sp>
            <p:nvSpPr>
              <p:cNvPr id="867" name="Google Shape;867;p19"/>
              <p:cNvSpPr/>
              <p:nvPr/>
            </p:nvSpPr>
            <p:spPr>
              <a:xfrm>
                <a:off x="613" y="2570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68" name="Google Shape;868;p19"/>
              <p:cNvSpPr/>
              <p:nvPr/>
            </p:nvSpPr>
            <p:spPr>
              <a:xfrm>
                <a:off x="629" y="2584"/>
                <a:ext cx="691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69" name="Google Shape;869;p19"/>
            <p:cNvSpPr/>
            <p:nvPr/>
          </p:nvSpPr>
          <p:spPr>
            <a:xfrm>
              <a:off x="4221" y="1017"/>
              <a:ext cx="601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70" name="Google Shape;870;p19"/>
            <p:cNvGrpSpPr/>
            <p:nvPr/>
          </p:nvGrpSpPr>
          <p:grpSpPr>
            <a:xfrm>
              <a:off x="4748" y="996"/>
              <a:ext cx="581" cy="135"/>
              <a:chOff x="615" y="2570"/>
              <a:chExt cx="725" cy="140"/>
            </a:xfrm>
          </p:grpSpPr>
          <p:sp>
            <p:nvSpPr>
              <p:cNvPr id="871" name="Google Shape;871;p19"/>
              <p:cNvSpPr/>
              <p:nvPr/>
            </p:nvSpPr>
            <p:spPr>
              <a:xfrm>
                <a:off x="615" y="2570"/>
                <a:ext cx="725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632" y="2585"/>
                <a:ext cx="69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73" name="Google Shape;873;p19"/>
            <p:cNvSpPr/>
            <p:nvPr/>
          </p:nvSpPr>
          <p:spPr>
            <a:xfrm>
              <a:off x="4214" y="1358"/>
              <a:ext cx="601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4228" y="1655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75" name="Google Shape;875;p19"/>
            <p:cNvGrpSpPr/>
            <p:nvPr/>
          </p:nvGrpSpPr>
          <p:grpSpPr>
            <a:xfrm>
              <a:off x="4734" y="1627"/>
              <a:ext cx="581" cy="149"/>
              <a:chOff x="613" y="2568"/>
              <a:chExt cx="724" cy="137"/>
            </a:xfrm>
          </p:grpSpPr>
          <p:sp>
            <p:nvSpPr>
              <p:cNvPr id="876" name="Google Shape;876;p19"/>
              <p:cNvSpPr/>
              <p:nvPr/>
            </p:nvSpPr>
            <p:spPr>
              <a:xfrm>
                <a:off x="613" y="2568"/>
                <a:ext cx="724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77" name="Google Shape;877;p19"/>
              <p:cNvSpPr/>
              <p:nvPr/>
            </p:nvSpPr>
            <p:spPr>
              <a:xfrm>
                <a:off x="630" y="2581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78" name="Google Shape;878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9" name="Google Shape;879;p19"/>
            <p:cNvGrpSpPr/>
            <p:nvPr/>
          </p:nvGrpSpPr>
          <p:grpSpPr>
            <a:xfrm>
              <a:off x="4741" y="1329"/>
              <a:ext cx="581" cy="135"/>
              <a:chOff x="617" y="2570"/>
              <a:chExt cx="724" cy="135"/>
            </a:xfrm>
          </p:grpSpPr>
          <p:sp>
            <p:nvSpPr>
              <p:cNvPr id="880" name="Google Shape;880;p19"/>
              <p:cNvSpPr/>
              <p:nvPr/>
            </p:nvSpPr>
            <p:spPr>
              <a:xfrm>
                <a:off x="617" y="2570"/>
                <a:ext cx="724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1" name="Google Shape;881;p19"/>
              <p:cNvSpPr/>
              <p:nvPr/>
            </p:nvSpPr>
            <p:spPr>
              <a:xfrm>
                <a:off x="633" y="2584"/>
                <a:ext cx="69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82" name="Google Shape;882;p19"/>
            <p:cNvSpPr/>
            <p:nvPr/>
          </p:nvSpPr>
          <p:spPr>
            <a:xfrm>
              <a:off x="5248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4208" y="2712"/>
              <a:ext cx="1067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89" name="Google Shape;889;p19"/>
            <p:cNvSpPr/>
            <p:nvPr/>
          </p:nvSpPr>
          <p:spPr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0" name="Google Shape;890;p19"/>
            <p:cNvSpPr/>
            <p:nvPr/>
          </p:nvSpPr>
          <p:spPr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93" name="Google Shape;893;p19"/>
          <p:cNvGrpSpPr/>
          <p:nvPr/>
        </p:nvGrpSpPr>
        <p:grpSpPr>
          <a:xfrm>
            <a:off x="6261653" y="1756463"/>
            <a:ext cx="2540000" cy="733425"/>
            <a:chOff x="7333086" y="2736938"/>
            <a:chExt cx="2539755" cy="733428"/>
          </a:xfrm>
        </p:grpSpPr>
        <p:sp>
          <p:nvSpPr>
            <p:cNvPr id="894" name="Google Shape;894;p19"/>
            <p:cNvSpPr/>
            <p:nvPr/>
          </p:nvSpPr>
          <p:spPr>
            <a:xfrm>
              <a:off x="7333086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5" name="Google Shape;895;p19"/>
            <p:cNvSpPr txBox="1"/>
            <p:nvPr/>
          </p:nvSpPr>
          <p:spPr>
            <a:xfrm>
              <a:off x="7344918" y="2797391"/>
              <a:ext cx="2527923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is there a DHCP server out there?</a:t>
              </a:r>
              <a:endParaRPr/>
            </a:p>
          </p:txBody>
        </p:sp>
      </p:grpSp>
      <p:grpSp>
        <p:nvGrpSpPr>
          <p:cNvPr id="896" name="Google Shape;896;p19"/>
          <p:cNvGrpSpPr/>
          <p:nvPr/>
        </p:nvGrpSpPr>
        <p:grpSpPr>
          <a:xfrm>
            <a:off x="6426752" y="2964551"/>
            <a:ext cx="2528888" cy="884237"/>
            <a:chOff x="9144000" y="3229217"/>
            <a:chExt cx="2527923" cy="885135"/>
          </a:xfrm>
        </p:grpSpPr>
        <p:sp>
          <p:nvSpPr>
            <p:cNvPr id="897" name="Google Shape;897;p19"/>
            <p:cNvSpPr/>
            <p:nvPr/>
          </p:nvSpPr>
          <p:spPr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8" name="Google Shape;898;p19"/>
            <p:cNvSpPr txBox="1"/>
            <p:nvPr/>
          </p:nvSpPr>
          <p:spPr>
            <a:xfrm>
              <a:off x="9144000" y="3271783"/>
              <a:ext cx="2527923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I’m a DHCP server! Here’s an IP address you can use </a:t>
              </a:r>
              <a:endParaRPr/>
            </a:p>
          </p:txBody>
        </p:sp>
      </p:grpSp>
      <p:grpSp>
        <p:nvGrpSpPr>
          <p:cNvPr id="899" name="Google Shape;899;p19"/>
          <p:cNvGrpSpPr/>
          <p:nvPr/>
        </p:nvGrpSpPr>
        <p:grpSpPr>
          <a:xfrm>
            <a:off x="4944534" y="4190101"/>
            <a:ext cx="2625219" cy="884237"/>
            <a:chOff x="8858631" y="4615923"/>
            <a:chExt cx="2625866" cy="885135"/>
          </a:xfrm>
        </p:grpSpPr>
        <p:sp>
          <p:nvSpPr>
            <p:cNvPr id="900" name="Google Shape;900;p19"/>
            <p:cNvSpPr/>
            <p:nvPr/>
          </p:nvSpPr>
          <p:spPr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1" name="Google Shape;901;p19"/>
            <p:cNvSpPr txBox="1"/>
            <p:nvPr/>
          </p:nvSpPr>
          <p:spPr>
            <a:xfrm>
              <a:off x="8858631" y="4765817"/>
              <a:ext cx="2625866" cy="585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OK.  I would like to use </a:t>
              </a:r>
              <a:r>
                <a:rPr lang="en-US" sz="1600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this </a:t>
              </a: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IP address!</a:t>
              </a:r>
              <a:endParaRPr/>
            </a:p>
          </p:txBody>
        </p:sp>
      </p:grpSp>
      <p:grpSp>
        <p:nvGrpSpPr>
          <p:cNvPr id="902" name="Google Shape;902;p19"/>
          <p:cNvGrpSpPr/>
          <p:nvPr/>
        </p:nvGrpSpPr>
        <p:grpSpPr>
          <a:xfrm>
            <a:off x="6409290" y="5558526"/>
            <a:ext cx="2528887" cy="885825"/>
            <a:chOff x="9144000" y="5555417"/>
            <a:chExt cx="2527923" cy="885135"/>
          </a:xfrm>
        </p:grpSpPr>
        <p:sp>
          <p:nvSpPr>
            <p:cNvPr id="903" name="Google Shape;903;p19"/>
            <p:cNvSpPr/>
            <p:nvPr/>
          </p:nvSpPr>
          <p:spPr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4" name="Google Shape;904;p19"/>
            <p:cNvSpPr txBox="1"/>
            <p:nvPr/>
          </p:nvSpPr>
          <p:spPr>
            <a:xfrm>
              <a:off x="9144000" y="5705311"/>
              <a:ext cx="2527923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OK.  You’ve got that IP address!</a:t>
              </a:r>
              <a:endParaRPr/>
            </a:p>
          </p:txBody>
        </p:sp>
      </p:grpSp>
      <p:sp>
        <p:nvSpPr>
          <p:cNvPr id="905" name="Google Shape;905;p19"/>
          <p:cNvSpPr txBox="1"/>
          <p:nvPr/>
        </p:nvSpPr>
        <p:spPr>
          <a:xfrm>
            <a:off x="9296400" y="3522133"/>
            <a:ext cx="245533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steps above can be skipped “if a client remembers and wishes to reuse a previously allocated network address”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[RFC 2131]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0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DHCP: more than IP addresses</a:t>
            </a:r>
            <a:endParaRPr/>
          </a:p>
        </p:txBody>
      </p:sp>
      <p:sp>
        <p:nvSpPr>
          <p:cNvPr id="912" name="Google Shape;912;p20"/>
          <p:cNvSpPr txBox="1"/>
          <p:nvPr/>
        </p:nvSpPr>
        <p:spPr>
          <a:xfrm>
            <a:off x="895974" y="1369673"/>
            <a:ext cx="10751383" cy="4395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can return more than just allocated IP address on subnet:</a:t>
            </a:r>
            <a:endParaRPr/>
          </a:p>
          <a:p>
            <a:pPr indent="-2825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 of first-hop router for client</a:t>
            </a:r>
            <a:endParaRPr/>
          </a:p>
          <a:p>
            <a:pPr indent="-2825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and IP address of DNS sever</a:t>
            </a:r>
            <a:endParaRPr/>
          </a:p>
          <a:p>
            <a:pPr indent="-2825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mask (indicating network versus host portion of address)</a:t>
            </a:r>
            <a:endParaRPr/>
          </a:p>
          <a:p>
            <a:pPr indent="0" lvl="1" marL="3492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1"/>
          <p:cNvSpPr/>
          <p:nvPr/>
        </p:nvSpPr>
        <p:spPr>
          <a:xfrm>
            <a:off x="1867395" y="18184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" name="Google Shape;919;p21"/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920" name="Google Shape;920;p2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1" name="Google Shape;921;p2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2" name="Google Shape;922;p2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3" name="Google Shape;923;p2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2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2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2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7" name="Google Shape;927;p21"/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928" name="Google Shape;928;p2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2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0" name="Google Shape;930;p2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31" name="Google Shape;931;p2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2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2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2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935" name="Google Shape;935;p21"/>
          <p:cNvCxnSpPr/>
          <p:nvPr/>
        </p:nvCxnSpPr>
        <p:spPr>
          <a:xfrm flipH="1" rot="10800000">
            <a:off x="4391025" y="3324223"/>
            <a:ext cx="460375" cy="57150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21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DHCP: example</a:t>
            </a:r>
            <a:endParaRPr/>
          </a:p>
        </p:txBody>
      </p:sp>
      <p:sp>
        <p:nvSpPr>
          <p:cNvPr id="937" name="Google Shape;937;p21"/>
          <p:cNvSpPr txBox="1"/>
          <p:nvPr/>
        </p:nvSpPr>
        <p:spPr>
          <a:xfrm>
            <a:off x="6131419" y="1674030"/>
            <a:ext cx="4751439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laptop will use DHCP to get IP address, address of first-hop router, address of DNS server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8" name="Google Shape;938;p21"/>
          <p:cNvCxnSpPr/>
          <p:nvPr/>
        </p:nvCxnSpPr>
        <p:spPr>
          <a:xfrm flipH="1" rot="10800000">
            <a:off x="3759695" y="3062253"/>
            <a:ext cx="562325" cy="83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21"/>
          <p:cNvSpPr txBox="1"/>
          <p:nvPr/>
        </p:nvSpPr>
        <p:spPr>
          <a:xfrm>
            <a:off x="3656507" y="4356905"/>
            <a:ext cx="20256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 with DHCP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built into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sp>
        <p:nvSpPr>
          <p:cNvPr id="940" name="Google Shape;940;p21"/>
          <p:cNvSpPr/>
          <p:nvPr/>
        </p:nvSpPr>
        <p:spPr>
          <a:xfrm>
            <a:off x="6131420" y="2964667"/>
            <a:ext cx="5406278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REQUEST message encapsulated in UDP, encapsulated in IP, encapsulated in Ethernet</a:t>
            </a:r>
            <a:endParaRPr/>
          </a:p>
        </p:txBody>
      </p:sp>
      <p:sp>
        <p:nvSpPr>
          <p:cNvPr id="941" name="Google Shape;941;p21"/>
          <p:cNvSpPr/>
          <p:nvPr/>
        </p:nvSpPr>
        <p:spPr>
          <a:xfrm>
            <a:off x="6150469" y="4210855"/>
            <a:ext cx="5450375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frame broadcast (dest: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FFFFFFFFFFFF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on LAN, received at router running DHCP server</a:t>
            </a:r>
            <a:endParaRPr/>
          </a:p>
        </p:txBody>
      </p:sp>
      <p:sp>
        <p:nvSpPr>
          <p:cNvPr id="942" name="Google Shape;942;p21"/>
          <p:cNvSpPr/>
          <p:nvPr/>
        </p:nvSpPr>
        <p:spPr>
          <a:xfrm>
            <a:off x="6128245" y="5547530"/>
            <a:ext cx="5280602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demux’ed to IP demux’ed, UDP demux’ed to DHCP </a:t>
            </a:r>
            <a:endParaRPr/>
          </a:p>
        </p:txBody>
      </p:sp>
      <p:sp>
        <p:nvSpPr>
          <p:cNvPr id="943" name="Google Shape;943;p21"/>
          <p:cNvSpPr txBox="1"/>
          <p:nvPr/>
        </p:nvSpPr>
        <p:spPr>
          <a:xfrm>
            <a:off x="4421682" y="3674280"/>
            <a:ext cx="104775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168.1.1.1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" name="Google Shape;944;p21"/>
          <p:cNvGrpSpPr/>
          <p:nvPr/>
        </p:nvGrpSpPr>
        <p:grpSpPr>
          <a:xfrm>
            <a:off x="3067479" y="2685267"/>
            <a:ext cx="855728" cy="627114"/>
            <a:chOff x="4417" y="878"/>
            <a:chExt cx="617" cy="466"/>
          </a:xfrm>
        </p:grpSpPr>
        <p:pic>
          <p:nvPicPr>
            <p:cNvPr descr="laptop_keyboard" id="945" name="Google Shape;94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21"/>
            <p:cNvSpPr/>
            <p:nvPr/>
          </p:nvSpPr>
          <p:spPr>
            <a:xfrm>
              <a:off x="4595" y="888"/>
              <a:ext cx="424" cy="29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947" name="Google Shape;94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21"/>
            <p:cNvSpPr/>
            <p:nvPr/>
          </p:nvSpPr>
          <p:spPr>
            <a:xfrm>
              <a:off x="4672" y="879"/>
              <a:ext cx="359" cy="5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4591" y="878"/>
              <a:ext cx="100" cy="230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4921" y="920"/>
              <a:ext cx="108" cy="26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4590" y="1097"/>
              <a:ext cx="394" cy="8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4933" y="922"/>
              <a:ext cx="101" cy="26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4590" y="1109"/>
              <a:ext cx="351" cy="8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4" name="Google Shape;954;p21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955" name="Google Shape;955;p2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2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2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2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2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2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1" name="Google Shape;961;p21"/>
            <p:cNvSpPr/>
            <p:nvPr/>
          </p:nvSpPr>
          <p:spPr>
            <a:xfrm>
              <a:off x="4788" y="1211"/>
              <a:ext cx="144" cy="11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4420" y="1220"/>
              <a:ext cx="369" cy="10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4420" y="1201"/>
              <a:ext cx="4" cy="21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4421" y="1114"/>
              <a:ext cx="171" cy="88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4432" y="1205"/>
              <a:ext cx="350" cy="1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1"/>
            <p:cNvSpPr/>
            <p:nvPr/>
          </p:nvSpPr>
          <p:spPr>
            <a:xfrm flipH="1" rot="10800000">
              <a:off x="4782" y="1198"/>
              <a:ext cx="142" cy="10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7" name="Google Shape;967;p21"/>
          <p:cNvSpPr/>
          <p:nvPr/>
        </p:nvSpPr>
        <p:spPr>
          <a:xfrm>
            <a:off x="1924545" y="2812267"/>
            <a:ext cx="976312" cy="485775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8" name="Google Shape;968;p21"/>
          <p:cNvGrpSpPr/>
          <p:nvPr/>
        </p:nvGrpSpPr>
        <p:grpSpPr>
          <a:xfrm>
            <a:off x="2289670" y="1648630"/>
            <a:ext cx="976312" cy="1460500"/>
            <a:chOff x="651" y="681"/>
            <a:chExt cx="615" cy="920"/>
          </a:xfrm>
        </p:grpSpPr>
        <p:sp>
          <p:nvSpPr>
            <p:cNvPr id="969" name="Google Shape;969;p21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5882"/>
                  </a:srgbClr>
                </a:gs>
                <a:gs pos="100000">
                  <a:srgbClr val="000099">
                    <a:alpha val="66666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0" name="Google Shape;970;p21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71" name="Google Shape;971;p21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chemeClr val="dk1">
                    <a:alpha val="40000"/>
                  </a:scheme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21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73" name="Google Shape;973;p21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" name="Google Shape;974;p21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5" name="Google Shape;975;p21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" name="Google Shape;976;p21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77" name="Google Shape;977;p21"/>
          <p:cNvGrpSpPr/>
          <p:nvPr/>
        </p:nvGrpSpPr>
        <p:grpSpPr>
          <a:xfrm>
            <a:off x="1614982" y="1707367"/>
            <a:ext cx="544513" cy="244475"/>
            <a:chOff x="844" y="3337"/>
            <a:chExt cx="343" cy="154"/>
          </a:xfrm>
        </p:grpSpPr>
        <p:sp>
          <p:nvSpPr>
            <p:cNvPr id="978" name="Google Shape;978;p21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1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grpSp>
        <p:nvGrpSpPr>
          <p:cNvPr id="980" name="Google Shape;980;p21"/>
          <p:cNvGrpSpPr/>
          <p:nvPr/>
        </p:nvGrpSpPr>
        <p:grpSpPr>
          <a:xfrm>
            <a:off x="1160957" y="1726417"/>
            <a:ext cx="1081088" cy="1166813"/>
            <a:chOff x="42" y="744"/>
            <a:chExt cx="681" cy="735"/>
          </a:xfrm>
        </p:grpSpPr>
        <p:grpSp>
          <p:nvGrpSpPr>
            <p:cNvPr id="981" name="Google Shape;981;p21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982" name="Google Shape;982;p21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983" name="Google Shape;983;p21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984" name="Google Shape;984;p2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5" name="Google Shape;985;p21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986" name="Google Shape;986;p21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7" name="Google Shape;987;p21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8" name="Google Shape;988;p21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989" name="Google Shape;989;p21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90" name="Google Shape;990;p2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1" name="Google Shape;991;p21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992" name="Google Shape;992;p21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93" name="Google Shape;993;p21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4" name="Google Shape;994;p21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95" name="Google Shape;995;p21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96" name="Google Shape;996;p21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" name="Google Shape;997;p21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8" name="Google Shape;998;p21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99" name="Google Shape;999;p21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000" name="Google Shape;1000;p21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001" name="Google Shape;1001;p21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002" name="Google Shape;1002;p21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03" name="Google Shape;1003;p21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1004" name="Google Shape;1004;p21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05" name="Google Shape;1005;p21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06" name="Google Shape;1006;p21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007" name="Google Shape;1007;p21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8" name="Google Shape;1008;p21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09" name="Google Shape;1009;p21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0" name="Google Shape;1010;p21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21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12" name="Google Shape;1012;p21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21"/>
          <p:cNvGrpSpPr/>
          <p:nvPr/>
        </p:nvGrpSpPr>
        <p:grpSpPr>
          <a:xfrm>
            <a:off x="1745157" y="2934505"/>
            <a:ext cx="1081088" cy="244475"/>
            <a:chOff x="504" y="3523"/>
            <a:chExt cx="681" cy="154"/>
          </a:xfrm>
        </p:grpSpPr>
        <p:grpSp>
          <p:nvGrpSpPr>
            <p:cNvPr id="1014" name="Google Shape;1014;p21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1015" name="Google Shape;1015;p21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1016" name="Google Shape;1016;p21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017" name="Google Shape;1017;p2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8" name="Google Shape;1018;p21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1019" name="Google Shape;1019;p21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20" name="Google Shape;1020;p21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1" name="Google Shape;1021;p21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2" name="Google Shape;1022;p21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21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4" name="Google Shape;1024;p21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1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1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7" name="Google Shape;1027;p21"/>
          <p:cNvGrpSpPr/>
          <p:nvPr/>
        </p:nvGrpSpPr>
        <p:grpSpPr>
          <a:xfrm>
            <a:off x="2572245" y="3626655"/>
            <a:ext cx="1316037" cy="1314450"/>
            <a:chOff x="931" y="1941"/>
            <a:chExt cx="829" cy="828"/>
          </a:xfrm>
        </p:grpSpPr>
        <p:sp>
          <p:nvSpPr>
            <p:cNvPr id="1028" name="Google Shape;1028;p21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4705"/>
                  </a:srgbClr>
                </a:gs>
                <a:gs pos="100000">
                  <a:srgbClr val="000099">
                    <a:alpha val="64705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9" name="Google Shape;1029;p21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1030" name="Google Shape;1030;p21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21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032" name="Google Shape;1032;p21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" name="Google Shape;1033;p21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" name="Google Shape;1034;p21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5" name="Google Shape;1035;p21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36" name="Google Shape;1036;p21"/>
          <p:cNvGrpSpPr/>
          <p:nvPr/>
        </p:nvGrpSpPr>
        <p:grpSpPr>
          <a:xfrm>
            <a:off x="1434007" y="3526642"/>
            <a:ext cx="1081088" cy="1217613"/>
            <a:chOff x="1404" y="3105"/>
            <a:chExt cx="681" cy="767"/>
          </a:xfrm>
        </p:grpSpPr>
        <p:grpSp>
          <p:nvGrpSpPr>
            <p:cNvPr id="1037" name="Google Shape;1037;p21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1038" name="Google Shape;1038;p21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039" name="Google Shape;1039;p21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040" name="Google Shape;1040;p2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1" name="Google Shape;1041;p21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1042" name="Google Shape;1042;p21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3" name="Google Shape;1043;p21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4" name="Google Shape;1044;p21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045" name="Google Shape;1045;p21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046" name="Google Shape;1046;p2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7" name="Google Shape;1047;p21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1048" name="Google Shape;1048;p21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49" name="Google Shape;1049;p21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0" name="Google Shape;1050;p21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051" name="Google Shape;1051;p21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052" name="Google Shape;1052;p21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3" name="Google Shape;1053;p21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4" name="Google Shape;1054;p21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055" name="Google Shape;1055;p21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056" name="Google Shape;1056;p21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057" name="Google Shape;1057;p21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058" name="Google Shape;1058;p21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59" name="Google Shape;1059;p21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1060" name="Google Shape;1060;p21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61" name="Google Shape;1061;p21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62" name="Google Shape;1062;p21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063" name="Google Shape;1063;p21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4" name="Google Shape;1064;p21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65" name="Google Shape;1065;p21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6" name="Google Shape;1066;p21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7" name="Google Shape;1067;p21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68" name="Google Shape;1068;p21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9" name="Google Shape;1069;p21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1070" name="Google Shape;1070;p21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21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1072" name="Google Shape;1072;p21"/>
          <p:cNvGrpSpPr/>
          <p:nvPr/>
        </p:nvGrpSpPr>
        <p:grpSpPr>
          <a:xfrm>
            <a:off x="1897557" y="3723492"/>
            <a:ext cx="544513" cy="244475"/>
            <a:chOff x="844" y="3337"/>
            <a:chExt cx="343" cy="154"/>
          </a:xfrm>
        </p:grpSpPr>
        <p:sp>
          <p:nvSpPr>
            <p:cNvPr id="1073" name="Google Shape;1073;p21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1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grpSp>
        <p:nvGrpSpPr>
          <p:cNvPr id="1075" name="Google Shape;1075;p21"/>
          <p:cNvGrpSpPr/>
          <p:nvPr/>
        </p:nvGrpSpPr>
        <p:grpSpPr>
          <a:xfrm>
            <a:off x="3800970" y="3720317"/>
            <a:ext cx="423862" cy="647700"/>
            <a:chOff x="4140" y="429"/>
            <a:chExt cx="1425" cy="2396"/>
          </a:xfrm>
        </p:grpSpPr>
        <p:sp>
          <p:nvSpPr>
            <p:cNvPr id="1076" name="Google Shape;1076;p2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1"/>
            <p:cNvSpPr/>
            <p:nvPr/>
          </p:nvSpPr>
          <p:spPr>
            <a:xfrm>
              <a:off x="4204" y="429"/>
              <a:ext cx="1051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1"/>
            <p:cNvSpPr/>
            <p:nvPr/>
          </p:nvSpPr>
          <p:spPr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1" name="Google Shape;1081;p21"/>
            <p:cNvGrpSpPr/>
            <p:nvPr/>
          </p:nvGrpSpPr>
          <p:grpSpPr>
            <a:xfrm>
              <a:off x="4748" y="670"/>
              <a:ext cx="582" cy="141"/>
              <a:chOff x="613" y="2570"/>
              <a:chExt cx="726" cy="135"/>
            </a:xfrm>
          </p:grpSpPr>
          <p:sp>
            <p:nvSpPr>
              <p:cNvPr id="1082" name="Google Shape;1082;p21"/>
              <p:cNvSpPr/>
              <p:nvPr/>
            </p:nvSpPr>
            <p:spPr>
              <a:xfrm>
                <a:off x="613" y="2570"/>
                <a:ext cx="726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627" y="2587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4" name="Google Shape;1084;p21"/>
            <p:cNvSpPr/>
            <p:nvPr/>
          </p:nvSpPr>
          <p:spPr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5" name="Google Shape;1085;p21"/>
            <p:cNvGrpSpPr/>
            <p:nvPr/>
          </p:nvGrpSpPr>
          <p:grpSpPr>
            <a:xfrm>
              <a:off x="4749" y="993"/>
              <a:ext cx="582" cy="135"/>
              <a:chOff x="616" y="2567"/>
              <a:chExt cx="726" cy="140"/>
            </a:xfrm>
          </p:grpSpPr>
          <p:sp>
            <p:nvSpPr>
              <p:cNvPr id="1086" name="Google Shape;1086;p21"/>
              <p:cNvSpPr/>
              <p:nvPr/>
            </p:nvSpPr>
            <p:spPr>
              <a:xfrm>
                <a:off x="616" y="2567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629" y="2585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8" name="Google Shape;1088;p21"/>
            <p:cNvSpPr/>
            <p:nvPr/>
          </p:nvSpPr>
          <p:spPr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1"/>
            <p:cNvSpPr/>
            <p:nvPr/>
          </p:nvSpPr>
          <p:spPr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0" name="Google Shape;1090;p21"/>
            <p:cNvGrpSpPr/>
            <p:nvPr/>
          </p:nvGrpSpPr>
          <p:grpSpPr>
            <a:xfrm>
              <a:off x="4733" y="1627"/>
              <a:ext cx="587" cy="153"/>
              <a:chOff x="611" y="2568"/>
              <a:chExt cx="731" cy="141"/>
            </a:xfrm>
          </p:grpSpPr>
          <p:sp>
            <p:nvSpPr>
              <p:cNvPr id="1091" name="Google Shape;1091;p21"/>
              <p:cNvSpPr/>
              <p:nvPr/>
            </p:nvSpPr>
            <p:spPr>
              <a:xfrm>
                <a:off x="611" y="2568"/>
                <a:ext cx="731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624" y="2584"/>
                <a:ext cx="69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3" name="Google Shape;1093;p2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4" name="Google Shape;1094;p21"/>
            <p:cNvGrpSpPr/>
            <p:nvPr/>
          </p:nvGrpSpPr>
          <p:grpSpPr>
            <a:xfrm>
              <a:off x="4737" y="1328"/>
              <a:ext cx="582" cy="147"/>
              <a:chOff x="612" y="2569"/>
              <a:chExt cx="725" cy="147"/>
            </a:xfrm>
          </p:grpSpPr>
          <p:sp>
            <p:nvSpPr>
              <p:cNvPr id="1095" name="Google Shape;1095;p21"/>
              <p:cNvSpPr/>
              <p:nvPr/>
            </p:nvSpPr>
            <p:spPr>
              <a:xfrm>
                <a:off x="612" y="2569"/>
                <a:ext cx="725" cy="14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626" y="2586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7" name="Google Shape;1097;p21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4204" y="2713"/>
              <a:ext cx="1073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2"/>
          <p:cNvSpPr/>
          <p:nvPr/>
        </p:nvSpPr>
        <p:spPr>
          <a:xfrm>
            <a:off x="1867395" y="1818495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4" name="Google Shape;1114;p22"/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1115" name="Google Shape;1115;p2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7" name="Google Shape;1117;p2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18" name="Google Shape;1118;p2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2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2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2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2" name="Google Shape;1122;p22"/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1123" name="Google Shape;1123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25" name="Google Shape;1125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26" name="Google Shape;1126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30" name="Google Shape;1130;p22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DHCP: example</a:t>
            </a:r>
            <a:endParaRPr/>
          </a:p>
        </p:txBody>
      </p:sp>
      <p:sp>
        <p:nvSpPr>
          <p:cNvPr id="1131" name="Google Shape;1131;p22"/>
          <p:cNvSpPr txBox="1"/>
          <p:nvPr/>
        </p:nvSpPr>
        <p:spPr>
          <a:xfrm>
            <a:off x="6131420" y="1548620"/>
            <a:ext cx="5216134" cy="1573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DCP server formulates DHCP ACK containing client’s IP address, IP address of first-hop router for client, name &amp; IP address of DNS server</a:t>
            </a:r>
            <a:endParaRPr/>
          </a:p>
          <a:p>
            <a:pPr indent="-106363" lvl="0" marL="233363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2" name="Google Shape;1132;p22"/>
          <p:cNvCxnSpPr/>
          <p:nvPr/>
        </p:nvCxnSpPr>
        <p:spPr>
          <a:xfrm>
            <a:off x="3759695" y="3063094"/>
            <a:ext cx="555747" cy="244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22"/>
          <p:cNvCxnSpPr/>
          <p:nvPr/>
        </p:nvCxnSpPr>
        <p:spPr>
          <a:xfrm flipH="1" rot="10800000">
            <a:off x="4391025" y="3324223"/>
            <a:ext cx="460375" cy="57150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4" name="Google Shape;1134;p22"/>
          <p:cNvSpPr/>
          <p:nvPr/>
        </p:nvSpPr>
        <p:spPr>
          <a:xfrm>
            <a:off x="6125069" y="3320270"/>
            <a:ext cx="520165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encapsulated DHCP server reply forwarded to client, demuxing up to DHCP at client</a:t>
            </a:r>
            <a:endParaRPr/>
          </a:p>
        </p:txBody>
      </p:sp>
      <p:grpSp>
        <p:nvGrpSpPr>
          <p:cNvPr id="1135" name="Google Shape;1135;p22"/>
          <p:cNvGrpSpPr/>
          <p:nvPr/>
        </p:nvGrpSpPr>
        <p:grpSpPr>
          <a:xfrm>
            <a:off x="3067479" y="2685270"/>
            <a:ext cx="855728" cy="627114"/>
            <a:chOff x="4417" y="878"/>
            <a:chExt cx="617" cy="466"/>
          </a:xfrm>
        </p:grpSpPr>
        <p:pic>
          <p:nvPicPr>
            <p:cNvPr descr="laptop_keyboard" id="1136" name="Google Shape;113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22"/>
            <p:cNvSpPr/>
            <p:nvPr/>
          </p:nvSpPr>
          <p:spPr>
            <a:xfrm>
              <a:off x="4595" y="888"/>
              <a:ext cx="424" cy="29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138" name="Google Shape;1138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22"/>
            <p:cNvSpPr/>
            <p:nvPr/>
          </p:nvSpPr>
          <p:spPr>
            <a:xfrm>
              <a:off x="4672" y="879"/>
              <a:ext cx="359" cy="5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4591" y="878"/>
              <a:ext cx="100" cy="230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2"/>
            <p:cNvSpPr/>
            <p:nvPr/>
          </p:nvSpPr>
          <p:spPr>
            <a:xfrm>
              <a:off x="4921" y="920"/>
              <a:ext cx="108" cy="26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2"/>
            <p:cNvSpPr/>
            <p:nvPr/>
          </p:nvSpPr>
          <p:spPr>
            <a:xfrm>
              <a:off x="4590" y="1097"/>
              <a:ext cx="394" cy="8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2"/>
            <p:cNvSpPr/>
            <p:nvPr/>
          </p:nvSpPr>
          <p:spPr>
            <a:xfrm>
              <a:off x="4933" y="922"/>
              <a:ext cx="101" cy="26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22"/>
            <p:cNvSpPr/>
            <p:nvPr/>
          </p:nvSpPr>
          <p:spPr>
            <a:xfrm>
              <a:off x="4590" y="1109"/>
              <a:ext cx="351" cy="8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5" name="Google Shape;1145;p22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146" name="Google Shape;1146;p2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2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2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2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2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52" name="Google Shape;1152;p22"/>
            <p:cNvSpPr/>
            <p:nvPr/>
          </p:nvSpPr>
          <p:spPr>
            <a:xfrm>
              <a:off x="4788" y="1211"/>
              <a:ext cx="144" cy="11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4420" y="1220"/>
              <a:ext cx="369" cy="10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4420" y="1201"/>
              <a:ext cx="4" cy="21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4421" y="1114"/>
              <a:ext cx="171" cy="88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4432" y="1205"/>
              <a:ext cx="350" cy="1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2"/>
            <p:cNvSpPr/>
            <p:nvPr/>
          </p:nvSpPr>
          <p:spPr>
            <a:xfrm flipH="1" rot="10800000">
              <a:off x="4782" y="1198"/>
              <a:ext cx="142" cy="10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8" name="Google Shape;1158;p22"/>
          <p:cNvSpPr txBox="1"/>
          <p:nvPr/>
        </p:nvSpPr>
        <p:spPr>
          <a:xfrm>
            <a:off x="3656507" y="4356908"/>
            <a:ext cx="20256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 with DHCP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built into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grpSp>
        <p:nvGrpSpPr>
          <p:cNvPr id="1159" name="Google Shape;1159;p22"/>
          <p:cNvGrpSpPr/>
          <p:nvPr/>
        </p:nvGrpSpPr>
        <p:grpSpPr>
          <a:xfrm>
            <a:off x="1446707" y="3709208"/>
            <a:ext cx="1081088" cy="1166812"/>
            <a:chOff x="42" y="744"/>
            <a:chExt cx="681" cy="735"/>
          </a:xfrm>
        </p:grpSpPr>
        <p:grpSp>
          <p:nvGrpSpPr>
            <p:cNvPr id="1160" name="Google Shape;1160;p22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1161" name="Google Shape;1161;p22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162" name="Google Shape;1162;p22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163" name="Google Shape;1163;p2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4" name="Google Shape;1164;p2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1165" name="Google Shape;1165;p22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6" name="Google Shape;1166;p22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67" name="Google Shape;1167;p22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168" name="Google Shape;1168;p2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169" name="Google Shape;1169;p2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0" name="Google Shape;1170;p2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1171" name="Google Shape;1171;p2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172" name="Google Shape;1172;p2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3" name="Google Shape;1173;p2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174" name="Google Shape;1174;p22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175" name="Google Shape;1175;p22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6" name="Google Shape;1176;p22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77" name="Google Shape;1177;p22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178" name="Google Shape;1178;p22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179" name="Google Shape;1179;p22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180" name="Google Shape;1180;p22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181" name="Google Shape;1181;p22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82" name="Google Shape;1182;p22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1183" name="Google Shape;1183;p22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184" name="Google Shape;1184;p22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85" name="Google Shape;1185;p22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186" name="Google Shape;1186;p22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7" name="Google Shape;1187;p22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88" name="Google Shape;1188;p2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9" name="Google Shape;1189;p22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0" name="Google Shape;1190;p22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91" name="Google Shape;1191;p22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22"/>
          <p:cNvGrpSpPr/>
          <p:nvPr/>
        </p:nvGrpSpPr>
        <p:grpSpPr>
          <a:xfrm>
            <a:off x="1543545" y="4795058"/>
            <a:ext cx="1081087" cy="244475"/>
            <a:chOff x="504" y="3523"/>
            <a:chExt cx="681" cy="154"/>
          </a:xfrm>
        </p:grpSpPr>
        <p:grpSp>
          <p:nvGrpSpPr>
            <p:cNvPr id="1193" name="Google Shape;1193;p22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1194" name="Google Shape;1194;p22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1195" name="Google Shape;1195;p2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196" name="Google Shape;1196;p2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7" name="Google Shape;1197;p2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1198" name="Google Shape;1198;p2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199" name="Google Shape;1199;p2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0" name="Google Shape;1200;p2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01" name="Google Shape;1201;p22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3" name="Google Shape;1203;p22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2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22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6" name="Google Shape;1206;p22"/>
          <p:cNvGrpSpPr/>
          <p:nvPr/>
        </p:nvGrpSpPr>
        <p:grpSpPr>
          <a:xfrm>
            <a:off x="2572245" y="3626658"/>
            <a:ext cx="1316037" cy="1314450"/>
            <a:chOff x="931" y="1941"/>
            <a:chExt cx="829" cy="828"/>
          </a:xfrm>
        </p:grpSpPr>
        <p:sp>
          <p:nvSpPr>
            <p:cNvPr id="1207" name="Google Shape;1207;p22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5882"/>
                  </a:srgbClr>
                </a:gs>
                <a:gs pos="100000">
                  <a:srgbClr val="000099">
                    <a:alpha val="65882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8" name="Google Shape;1208;p22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1209" name="Google Shape;1209;p22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22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211" name="Google Shape;1211;p22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" name="Google Shape;1212;p22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3" name="Google Shape;1213;p22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4" name="Google Shape;1214;p22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15" name="Google Shape;1215;p22"/>
          <p:cNvGrpSpPr/>
          <p:nvPr/>
        </p:nvGrpSpPr>
        <p:grpSpPr>
          <a:xfrm>
            <a:off x="1897557" y="3734608"/>
            <a:ext cx="544513" cy="244475"/>
            <a:chOff x="844" y="3337"/>
            <a:chExt cx="343" cy="154"/>
          </a:xfrm>
        </p:grpSpPr>
        <p:sp>
          <p:nvSpPr>
            <p:cNvPr id="1216" name="Google Shape;1216;p22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2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grpSp>
        <p:nvGrpSpPr>
          <p:cNvPr id="1218" name="Google Shape;1218;p22"/>
          <p:cNvGrpSpPr/>
          <p:nvPr/>
        </p:nvGrpSpPr>
        <p:grpSpPr>
          <a:xfrm>
            <a:off x="2289670" y="1637520"/>
            <a:ext cx="976312" cy="1460500"/>
            <a:chOff x="651" y="681"/>
            <a:chExt cx="615" cy="920"/>
          </a:xfrm>
        </p:grpSpPr>
        <p:sp>
          <p:nvSpPr>
            <p:cNvPr id="1219" name="Google Shape;1219;p22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5882"/>
                  </a:srgbClr>
                </a:gs>
                <a:gs pos="100000">
                  <a:srgbClr val="000099">
                    <a:alpha val="65882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0" name="Google Shape;1220;p22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1221" name="Google Shape;1221;p22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l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22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223" name="Google Shape;1223;p22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" name="Google Shape;1224;p22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5" name="Google Shape;1225;p22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6" name="Google Shape;1226;p22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27" name="Google Shape;1227;p22"/>
          <p:cNvGrpSpPr/>
          <p:nvPr/>
        </p:nvGrpSpPr>
        <p:grpSpPr>
          <a:xfrm>
            <a:off x="1165720" y="1526395"/>
            <a:ext cx="1081087" cy="1217613"/>
            <a:chOff x="1404" y="3105"/>
            <a:chExt cx="681" cy="767"/>
          </a:xfrm>
        </p:grpSpPr>
        <p:grpSp>
          <p:nvGrpSpPr>
            <p:cNvPr id="1228" name="Google Shape;1228;p22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1229" name="Google Shape;1229;p22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230" name="Google Shape;1230;p22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231" name="Google Shape;1231;p2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2" name="Google Shape;1232;p2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1233" name="Google Shape;1233;p22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4" name="Google Shape;1234;p22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5" name="Google Shape;1235;p22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236" name="Google Shape;1236;p2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237" name="Google Shape;1237;p2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8" name="Google Shape;1238;p2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1239" name="Google Shape;1239;p2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40" name="Google Shape;1240;p2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1" name="Google Shape;1241;p2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242" name="Google Shape;1242;p22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243" name="Google Shape;1243;p22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4" name="Google Shape;1244;p22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5" name="Google Shape;1245;p22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246" name="Google Shape;1246;p22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247" name="Google Shape;1247;p22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248" name="Google Shape;1248;p22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249" name="Google Shape;1249;p22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250" name="Google Shape;1250;p22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1251" name="Google Shape;1251;p22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252" name="Google Shape;1252;p22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253" name="Google Shape;1253;p22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254" name="Google Shape;1254;p22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5" name="Google Shape;1255;p22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56" name="Google Shape;1256;p2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7" name="Google Shape;1257;p22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8" name="Google Shape;1258;p22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59" name="Google Shape;1259;p22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0" name="Google Shape;1260;p22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1261" name="Google Shape;1261;p22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22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sp>
        <p:nvSpPr>
          <p:cNvPr id="1263" name="Google Shape;1263;p22"/>
          <p:cNvSpPr/>
          <p:nvPr/>
        </p:nvSpPr>
        <p:spPr>
          <a:xfrm>
            <a:off x="6120307" y="4620433"/>
            <a:ext cx="5201653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now knows its IP address, name and IP address of DNS server, IP address of its first-hop router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4" name="Google Shape;1264;p22"/>
          <p:cNvGrpSpPr/>
          <p:nvPr/>
        </p:nvGrpSpPr>
        <p:grpSpPr>
          <a:xfrm>
            <a:off x="3800970" y="3720320"/>
            <a:ext cx="423862" cy="647700"/>
            <a:chOff x="4140" y="429"/>
            <a:chExt cx="1425" cy="2396"/>
          </a:xfrm>
        </p:grpSpPr>
        <p:sp>
          <p:nvSpPr>
            <p:cNvPr id="1265" name="Google Shape;1265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2"/>
            <p:cNvSpPr/>
            <p:nvPr/>
          </p:nvSpPr>
          <p:spPr>
            <a:xfrm>
              <a:off x="4204" y="429"/>
              <a:ext cx="1051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2"/>
            <p:cNvSpPr/>
            <p:nvPr/>
          </p:nvSpPr>
          <p:spPr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0" name="Google Shape;1270;p22"/>
            <p:cNvGrpSpPr/>
            <p:nvPr/>
          </p:nvGrpSpPr>
          <p:grpSpPr>
            <a:xfrm>
              <a:off x="4748" y="670"/>
              <a:ext cx="582" cy="141"/>
              <a:chOff x="613" y="2570"/>
              <a:chExt cx="726" cy="135"/>
            </a:xfrm>
          </p:grpSpPr>
          <p:sp>
            <p:nvSpPr>
              <p:cNvPr id="1271" name="Google Shape;1271;p22"/>
              <p:cNvSpPr/>
              <p:nvPr/>
            </p:nvSpPr>
            <p:spPr>
              <a:xfrm>
                <a:off x="613" y="2570"/>
                <a:ext cx="726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22"/>
              <p:cNvSpPr/>
              <p:nvPr/>
            </p:nvSpPr>
            <p:spPr>
              <a:xfrm>
                <a:off x="627" y="2587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3" name="Google Shape;1273;p22"/>
            <p:cNvSpPr/>
            <p:nvPr/>
          </p:nvSpPr>
          <p:spPr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4" name="Google Shape;1274;p22"/>
            <p:cNvGrpSpPr/>
            <p:nvPr/>
          </p:nvGrpSpPr>
          <p:grpSpPr>
            <a:xfrm>
              <a:off x="4749" y="993"/>
              <a:ext cx="582" cy="135"/>
              <a:chOff x="616" y="2567"/>
              <a:chExt cx="726" cy="140"/>
            </a:xfrm>
          </p:grpSpPr>
          <p:sp>
            <p:nvSpPr>
              <p:cNvPr id="1275" name="Google Shape;1275;p22"/>
              <p:cNvSpPr/>
              <p:nvPr/>
            </p:nvSpPr>
            <p:spPr>
              <a:xfrm>
                <a:off x="616" y="2567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22"/>
              <p:cNvSpPr/>
              <p:nvPr/>
            </p:nvSpPr>
            <p:spPr>
              <a:xfrm>
                <a:off x="629" y="2585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7" name="Google Shape;1277;p22"/>
            <p:cNvSpPr/>
            <p:nvPr/>
          </p:nvSpPr>
          <p:spPr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2"/>
            <p:cNvSpPr/>
            <p:nvPr/>
          </p:nvSpPr>
          <p:spPr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9" name="Google Shape;1279;p22"/>
            <p:cNvGrpSpPr/>
            <p:nvPr/>
          </p:nvGrpSpPr>
          <p:grpSpPr>
            <a:xfrm>
              <a:off x="4733" y="1627"/>
              <a:ext cx="587" cy="153"/>
              <a:chOff x="611" y="2568"/>
              <a:chExt cx="731" cy="141"/>
            </a:xfrm>
          </p:grpSpPr>
          <p:sp>
            <p:nvSpPr>
              <p:cNvPr id="1280" name="Google Shape;1280;p22"/>
              <p:cNvSpPr/>
              <p:nvPr/>
            </p:nvSpPr>
            <p:spPr>
              <a:xfrm>
                <a:off x="611" y="2568"/>
                <a:ext cx="731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22"/>
              <p:cNvSpPr/>
              <p:nvPr/>
            </p:nvSpPr>
            <p:spPr>
              <a:xfrm>
                <a:off x="624" y="2584"/>
                <a:ext cx="69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2" name="Google Shape;1282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3" name="Google Shape;1283;p22"/>
            <p:cNvGrpSpPr/>
            <p:nvPr/>
          </p:nvGrpSpPr>
          <p:grpSpPr>
            <a:xfrm>
              <a:off x="4737" y="1328"/>
              <a:ext cx="582" cy="147"/>
              <a:chOff x="612" y="2569"/>
              <a:chExt cx="725" cy="147"/>
            </a:xfrm>
          </p:grpSpPr>
          <p:sp>
            <p:nvSpPr>
              <p:cNvPr id="1284" name="Google Shape;1284;p22"/>
              <p:cNvSpPr/>
              <p:nvPr/>
            </p:nvSpPr>
            <p:spPr>
              <a:xfrm>
                <a:off x="612" y="2569"/>
                <a:ext cx="725" cy="14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22"/>
              <p:cNvSpPr/>
              <p:nvPr/>
            </p:nvSpPr>
            <p:spPr>
              <a:xfrm>
                <a:off x="626" y="2586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6" name="Google Shape;1286;p22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2"/>
            <p:cNvSpPr/>
            <p:nvPr/>
          </p:nvSpPr>
          <p:spPr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2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2"/>
            <p:cNvSpPr/>
            <p:nvPr/>
          </p:nvSpPr>
          <p:spPr>
            <a:xfrm>
              <a:off x="4204" y="2713"/>
              <a:ext cx="1073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2"/>
            <p:cNvSpPr/>
            <p:nvPr/>
          </p:nvSpPr>
          <p:spPr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2"/>
            <p:cNvSpPr/>
            <p:nvPr/>
          </p:nvSpPr>
          <p:spPr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2"/>
            <p:cNvSpPr/>
            <p:nvPr/>
          </p:nvSpPr>
          <p:spPr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2"/>
            <p:cNvSpPr/>
            <p:nvPr/>
          </p:nvSpPr>
          <p:spPr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23"/>
          <p:cNvSpPr txBox="1"/>
          <p:nvPr>
            <p:ph type="title"/>
          </p:nvPr>
        </p:nvSpPr>
        <p:spPr>
          <a:xfrm>
            <a:off x="838200" y="311144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IP addresses: how to get one?</a:t>
            </a:r>
            <a:endParaRPr/>
          </a:p>
        </p:txBody>
      </p:sp>
      <p:sp>
        <p:nvSpPr>
          <p:cNvPr id="1303" name="Google Shape;1303;p23"/>
          <p:cNvSpPr txBox="1"/>
          <p:nvPr/>
        </p:nvSpPr>
        <p:spPr>
          <a:xfrm>
            <a:off x="837133" y="1343025"/>
            <a:ext cx="11354867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does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 subnet part of IP address?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gets allocated portion of its provider ISP’s address space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3"/>
          <p:cNvSpPr txBox="1"/>
          <p:nvPr/>
        </p:nvSpPr>
        <p:spPr>
          <a:xfrm>
            <a:off x="1371628" y="2739402"/>
            <a:ext cx="1021577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ISP's block          </a:t>
            </a:r>
            <a:r>
              <a:rPr b="0" i="0" lang="en-US" sz="2000" u="sng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11001000  00010111  0001</a:t>
            </a:r>
            <a:r>
              <a:rPr b="0" i="0" lang="en-US" sz="2000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0000 </a:t>
            </a: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 00000000    200.23.16.0/20</a:t>
            </a:r>
            <a:r>
              <a:rPr b="0" i="0" lang="en-US" sz="20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05" name="Google Shape;1305;p23"/>
          <p:cNvSpPr txBox="1"/>
          <p:nvPr/>
        </p:nvSpPr>
        <p:spPr>
          <a:xfrm>
            <a:off x="1371600" y="3687667"/>
            <a:ext cx="10215770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can then allocate out its address space in 8 blocks: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0   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11001000  00010111  0001000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00000000    200.23.16.0/23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1   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11001000  00010111  0001001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00000000    200.23.18.0/23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   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11001000  00010111  0001010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00000000    200.23.20.0/23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...                                          …..                                   ….                ….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7   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11001000  00010111  0001111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00000000    200.23.30.0/23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24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Hierarchical addressing: route aggregation</a:t>
            </a:r>
            <a:endParaRPr sz="4800"/>
          </a:p>
        </p:txBody>
      </p:sp>
      <p:sp>
        <p:nvSpPr>
          <p:cNvPr id="1312" name="Google Shape;1312;p24"/>
          <p:cNvSpPr/>
          <p:nvPr/>
        </p:nvSpPr>
        <p:spPr>
          <a:xfrm>
            <a:off x="6254542" y="4211091"/>
            <a:ext cx="2019300" cy="295275"/>
          </a:xfrm>
          <a:custGeom>
            <a:rect b="b" l="l" r="r" t="t"/>
            <a:pathLst>
              <a:path extrusionOk="0" h="186" w="1272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3" name="Google Shape;1313;p24"/>
          <p:cNvCxnSpPr/>
          <p:nvPr/>
        </p:nvCxnSpPr>
        <p:spPr>
          <a:xfrm flipH="1" rot="10800000">
            <a:off x="3911392" y="4487316"/>
            <a:ext cx="89535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4" name="Google Shape;1314;p24"/>
          <p:cNvCxnSpPr/>
          <p:nvPr/>
        </p:nvCxnSpPr>
        <p:spPr>
          <a:xfrm>
            <a:off x="3939967" y="3858666"/>
            <a:ext cx="752475" cy="1714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24"/>
          <p:cNvCxnSpPr/>
          <p:nvPr/>
        </p:nvCxnSpPr>
        <p:spPr>
          <a:xfrm>
            <a:off x="4006642" y="3077616"/>
            <a:ext cx="847725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6" name="Google Shape;1316;p24"/>
          <p:cNvSpPr/>
          <p:nvPr/>
        </p:nvSpPr>
        <p:spPr>
          <a:xfrm>
            <a:off x="4652755" y="3657054"/>
            <a:ext cx="1773237" cy="979487"/>
          </a:xfrm>
          <a:custGeom>
            <a:rect b="b" l="l" r="r" t="t"/>
            <a:pathLst>
              <a:path extrusionOk="0" h="617" w="11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24"/>
          <p:cNvSpPr txBox="1"/>
          <p:nvPr/>
        </p:nvSpPr>
        <p:spPr>
          <a:xfrm>
            <a:off x="6486317" y="3384004"/>
            <a:ext cx="1671638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“Send me anything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addresses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beginning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200.23.16.0/20”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8" name="Google Shape;1318;p24"/>
          <p:cNvGrpSpPr/>
          <p:nvPr/>
        </p:nvGrpSpPr>
        <p:grpSpPr>
          <a:xfrm>
            <a:off x="1838117" y="2850604"/>
            <a:ext cx="2338388" cy="404812"/>
            <a:chOff x="1004" y="1639"/>
            <a:chExt cx="1473" cy="255"/>
          </a:xfrm>
        </p:grpSpPr>
        <p:sp>
          <p:nvSpPr>
            <p:cNvPr id="1319" name="Google Shape;1319;p24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4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200.23.16.0/23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1" name="Google Shape;1321;p24"/>
          <p:cNvGrpSpPr/>
          <p:nvPr/>
        </p:nvGrpSpPr>
        <p:grpSpPr>
          <a:xfrm>
            <a:off x="1866692" y="3441154"/>
            <a:ext cx="2338388" cy="404812"/>
            <a:chOff x="1004" y="1639"/>
            <a:chExt cx="1473" cy="255"/>
          </a:xfrm>
        </p:grpSpPr>
        <p:sp>
          <p:nvSpPr>
            <p:cNvPr id="1322" name="Google Shape;1322;p24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4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200.23.18.0/23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4" name="Google Shape;1324;p24"/>
          <p:cNvGrpSpPr/>
          <p:nvPr/>
        </p:nvGrpSpPr>
        <p:grpSpPr>
          <a:xfrm>
            <a:off x="1780967" y="4860379"/>
            <a:ext cx="2338388" cy="404812"/>
            <a:chOff x="1004" y="1639"/>
            <a:chExt cx="1473" cy="255"/>
          </a:xfrm>
        </p:grpSpPr>
        <p:sp>
          <p:nvSpPr>
            <p:cNvPr id="1325" name="Google Shape;1325;p24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4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200.23.30.0/23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7" name="Google Shape;1327;p24"/>
          <p:cNvSpPr txBox="1"/>
          <p:nvPr/>
        </p:nvSpPr>
        <p:spPr>
          <a:xfrm>
            <a:off x="4686092" y="4088854"/>
            <a:ext cx="15065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Fly-By-Night-ISP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24"/>
          <p:cNvSpPr/>
          <p:nvPr/>
        </p:nvSpPr>
        <p:spPr>
          <a:xfrm>
            <a:off x="8248442" y="3185566"/>
            <a:ext cx="1444625" cy="2714625"/>
          </a:xfrm>
          <a:custGeom>
            <a:rect b="b" l="l" r="r" t="t"/>
            <a:pathLst>
              <a:path extrusionOk="0" h="1710" w="9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>
            <a:gsLst>
              <a:gs pos="0">
                <a:srgbClr val="66CC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24"/>
          <p:cNvSpPr txBox="1"/>
          <p:nvPr/>
        </p:nvSpPr>
        <p:spPr>
          <a:xfrm>
            <a:off x="1838117" y="2593429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0</a:t>
            </a:r>
            <a:endParaRPr/>
          </a:p>
        </p:txBody>
      </p:sp>
      <p:sp>
        <p:nvSpPr>
          <p:cNvPr id="1330" name="Google Shape;1330;p24"/>
          <p:cNvSpPr txBox="1"/>
          <p:nvPr/>
        </p:nvSpPr>
        <p:spPr>
          <a:xfrm>
            <a:off x="1866692" y="4603204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7</a:t>
            </a:r>
            <a:endParaRPr/>
          </a:p>
        </p:txBody>
      </p:sp>
      <p:sp>
        <p:nvSpPr>
          <p:cNvPr id="1331" name="Google Shape;1331;p24"/>
          <p:cNvSpPr txBox="1"/>
          <p:nvPr/>
        </p:nvSpPr>
        <p:spPr>
          <a:xfrm>
            <a:off x="8486567" y="4412704"/>
            <a:ext cx="784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sp>
        <p:nvSpPr>
          <p:cNvPr id="1332" name="Google Shape;1332;p24"/>
          <p:cNvSpPr txBox="1"/>
          <p:nvPr/>
        </p:nvSpPr>
        <p:spPr>
          <a:xfrm>
            <a:off x="1847642" y="3241129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1</a:t>
            </a:r>
            <a:endParaRPr/>
          </a:p>
        </p:txBody>
      </p:sp>
      <p:sp>
        <p:nvSpPr>
          <p:cNvPr id="1333" name="Google Shape;1333;p24"/>
          <p:cNvSpPr/>
          <p:nvPr/>
        </p:nvSpPr>
        <p:spPr>
          <a:xfrm>
            <a:off x="4595605" y="4971504"/>
            <a:ext cx="1773237" cy="979487"/>
          </a:xfrm>
          <a:custGeom>
            <a:rect b="b" l="l" r="r" t="t"/>
            <a:pathLst>
              <a:path extrusionOk="0" h="617" w="11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24"/>
          <p:cNvSpPr txBox="1"/>
          <p:nvPr/>
        </p:nvSpPr>
        <p:spPr>
          <a:xfrm>
            <a:off x="4895642" y="5346154"/>
            <a:ext cx="10239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ISPs-R-Us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24"/>
          <p:cNvSpPr/>
          <p:nvPr/>
        </p:nvSpPr>
        <p:spPr>
          <a:xfrm flipH="1" rot="10800000">
            <a:off x="6321217" y="4992141"/>
            <a:ext cx="2019300" cy="295275"/>
          </a:xfrm>
          <a:custGeom>
            <a:rect b="b" l="l" r="r" t="t"/>
            <a:pathLst>
              <a:path extrusionOk="0" h="186" w="1272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6" name="Google Shape;1336;p24"/>
          <p:cNvCxnSpPr/>
          <p:nvPr/>
        </p:nvCxnSpPr>
        <p:spPr>
          <a:xfrm>
            <a:off x="4111417" y="5535066"/>
            <a:ext cx="48577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24"/>
          <p:cNvCxnSpPr/>
          <p:nvPr/>
        </p:nvCxnSpPr>
        <p:spPr>
          <a:xfrm flipH="1" rot="10800000">
            <a:off x="3959017" y="5601741"/>
            <a:ext cx="638175" cy="1714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24"/>
          <p:cNvCxnSpPr/>
          <p:nvPr/>
        </p:nvCxnSpPr>
        <p:spPr>
          <a:xfrm flipH="1" rot="10800000">
            <a:off x="4397167" y="5849391"/>
            <a:ext cx="247650" cy="4095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9" name="Google Shape;1339;p24"/>
          <p:cNvSpPr txBox="1"/>
          <p:nvPr/>
        </p:nvSpPr>
        <p:spPr>
          <a:xfrm>
            <a:off x="6610142" y="5241379"/>
            <a:ext cx="1671638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“Send me anything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addresses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beginning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199.31.0.0/16”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0" name="Google Shape;1340;p24"/>
          <p:cNvGrpSpPr/>
          <p:nvPr/>
        </p:nvGrpSpPr>
        <p:grpSpPr>
          <a:xfrm>
            <a:off x="1885742" y="4031704"/>
            <a:ext cx="2338388" cy="404812"/>
            <a:chOff x="1004" y="1639"/>
            <a:chExt cx="1473" cy="255"/>
          </a:xfrm>
        </p:grpSpPr>
        <p:sp>
          <p:nvSpPr>
            <p:cNvPr id="1341" name="Google Shape;1341;p24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4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200.23.20.0/23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3" name="Google Shape;1343;p24"/>
          <p:cNvSpPr txBox="1"/>
          <p:nvPr/>
        </p:nvSpPr>
        <p:spPr>
          <a:xfrm>
            <a:off x="1866692" y="3831679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</a:t>
            </a:r>
            <a:endParaRPr/>
          </a:p>
        </p:txBody>
      </p:sp>
      <p:grpSp>
        <p:nvGrpSpPr>
          <p:cNvPr id="1344" name="Google Shape;1344;p24"/>
          <p:cNvGrpSpPr/>
          <p:nvPr/>
        </p:nvGrpSpPr>
        <p:grpSpPr>
          <a:xfrm>
            <a:off x="3235117" y="4288879"/>
            <a:ext cx="257175" cy="663575"/>
            <a:chOff x="870" y="2941"/>
            <a:chExt cx="162" cy="418"/>
          </a:xfrm>
        </p:grpSpPr>
        <p:sp>
          <p:nvSpPr>
            <p:cNvPr id="1345" name="Google Shape;1345;p24"/>
            <p:cNvSpPr txBox="1"/>
            <p:nvPr/>
          </p:nvSpPr>
          <p:spPr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24"/>
            <p:cNvSpPr txBox="1"/>
            <p:nvPr/>
          </p:nvSpPr>
          <p:spPr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24"/>
            <p:cNvSpPr txBox="1"/>
            <p:nvPr/>
          </p:nvSpPr>
          <p:spPr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8" name="Google Shape;1348;p24"/>
          <p:cNvGrpSpPr/>
          <p:nvPr/>
        </p:nvGrpSpPr>
        <p:grpSpPr>
          <a:xfrm>
            <a:off x="4263817" y="3993604"/>
            <a:ext cx="257175" cy="663575"/>
            <a:chOff x="870" y="2941"/>
            <a:chExt cx="162" cy="418"/>
          </a:xfrm>
        </p:grpSpPr>
        <p:sp>
          <p:nvSpPr>
            <p:cNvPr id="1349" name="Google Shape;1349;p24"/>
            <p:cNvSpPr txBox="1"/>
            <p:nvPr/>
          </p:nvSpPr>
          <p:spPr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24"/>
            <p:cNvSpPr txBox="1"/>
            <p:nvPr/>
          </p:nvSpPr>
          <p:spPr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4"/>
            <p:cNvSpPr txBox="1"/>
            <p:nvPr/>
          </p:nvSpPr>
          <p:spPr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2" name="Google Shape;1352;p24"/>
          <p:cNvSpPr txBox="1"/>
          <p:nvPr/>
        </p:nvSpPr>
        <p:spPr>
          <a:xfrm>
            <a:off x="794480" y="1297352"/>
            <a:ext cx="10717966" cy="978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hierarchical addressing allows efficient advertisement of routing  information: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25"/>
          <p:cNvSpPr txBox="1"/>
          <p:nvPr>
            <p:ph type="title"/>
          </p:nvPr>
        </p:nvSpPr>
        <p:spPr>
          <a:xfrm>
            <a:off x="703287" y="281163"/>
            <a:ext cx="11078981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900"/>
              <a:t>Hierarchical addressing</a:t>
            </a:r>
            <a:r>
              <a:rPr lang="en-US" sz="4800"/>
              <a:t>: more specific routes</a:t>
            </a:r>
            <a:endParaRPr/>
          </a:p>
        </p:txBody>
      </p:sp>
      <p:sp>
        <p:nvSpPr>
          <p:cNvPr id="1359" name="Google Shape;1359;p25"/>
          <p:cNvSpPr/>
          <p:nvPr/>
        </p:nvSpPr>
        <p:spPr>
          <a:xfrm>
            <a:off x="6254542" y="4211091"/>
            <a:ext cx="2019300" cy="295275"/>
          </a:xfrm>
          <a:custGeom>
            <a:rect b="b" l="l" r="r" t="t"/>
            <a:pathLst>
              <a:path extrusionOk="0" h="186" w="1272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0" name="Google Shape;1360;p25"/>
          <p:cNvCxnSpPr/>
          <p:nvPr/>
        </p:nvCxnSpPr>
        <p:spPr>
          <a:xfrm flipH="1" rot="10800000">
            <a:off x="3911392" y="4487316"/>
            <a:ext cx="89535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5"/>
          <p:cNvCxnSpPr/>
          <p:nvPr/>
        </p:nvCxnSpPr>
        <p:spPr>
          <a:xfrm>
            <a:off x="4006642" y="3077616"/>
            <a:ext cx="847725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25"/>
          <p:cNvSpPr/>
          <p:nvPr/>
        </p:nvSpPr>
        <p:spPr>
          <a:xfrm>
            <a:off x="4652755" y="3657054"/>
            <a:ext cx="1773237" cy="979487"/>
          </a:xfrm>
          <a:custGeom>
            <a:rect b="b" l="l" r="r" t="t"/>
            <a:pathLst>
              <a:path extrusionOk="0" h="617" w="11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25"/>
          <p:cNvSpPr txBox="1"/>
          <p:nvPr/>
        </p:nvSpPr>
        <p:spPr>
          <a:xfrm>
            <a:off x="6486317" y="3384004"/>
            <a:ext cx="1671638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“Send me anything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addresses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beginning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200.23.16.0/20”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4" name="Google Shape;1364;p25"/>
          <p:cNvGrpSpPr/>
          <p:nvPr/>
        </p:nvGrpSpPr>
        <p:grpSpPr>
          <a:xfrm>
            <a:off x="1838117" y="2850604"/>
            <a:ext cx="2338388" cy="404812"/>
            <a:chOff x="1004" y="1639"/>
            <a:chExt cx="1473" cy="255"/>
          </a:xfrm>
        </p:grpSpPr>
        <p:sp>
          <p:nvSpPr>
            <p:cNvPr id="1365" name="Google Shape;1365;p25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5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200.23.16.0/23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7" name="Google Shape;1367;p25"/>
          <p:cNvGrpSpPr/>
          <p:nvPr/>
        </p:nvGrpSpPr>
        <p:grpSpPr>
          <a:xfrm>
            <a:off x="1780967" y="4860379"/>
            <a:ext cx="2338388" cy="404812"/>
            <a:chOff x="1004" y="1639"/>
            <a:chExt cx="1473" cy="255"/>
          </a:xfrm>
        </p:grpSpPr>
        <p:sp>
          <p:nvSpPr>
            <p:cNvPr id="1368" name="Google Shape;1368;p25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25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200.23.30.0/23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0" name="Google Shape;1370;p25"/>
          <p:cNvSpPr txBox="1"/>
          <p:nvPr/>
        </p:nvSpPr>
        <p:spPr>
          <a:xfrm>
            <a:off x="4686092" y="4088854"/>
            <a:ext cx="15065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Fly-By-Night-ISP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25"/>
          <p:cNvSpPr/>
          <p:nvPr/>
        </p:nvSpPr>
        <p:spPr>
          <a:xfrm>
            <a:off x="8248442" y="3185566"/>
            <a:ext cx="1444625" cy="2714625"/>
          </a:xfrm>
          <a:custGeom>
            <a:rect b="b" l="l" r="r" t="t"/>
            <a:pathLst>
              <a:path extrusionOk="0" h="1710" w="9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>
            <a:gsLst>
              <a:gs pos="0">
                <a:srgbClr val="66CC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25"/>
          <p:cNvSpPr txBox="1"/>
          <p:nvPr/>
        </p:nvSpPr>
        <p:spPr>
          <a:xfrm>
            <a:off x="1838117" y="2593429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0</a:t>
            </a:r>
            <a:endParaRPr/>
          </a:p>
        </p:txBody>
      </p:sp>
      <p:sp>
        <p:nvSpPr>
          <p:cNvPr id="1373" name="Google Shape;1373;p25"/>
          <p:cNvSpPr txBox="1"/>
          <p:nvPr/>
        </p:nvSpPr>
        <p:spPr>
          <a:xfrm>
            <a:off x="1866692" y="4603204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7</a:t>
            </a:r>
            <a:endParaRPr/>
          </a:p>
        </p:txBody>
      </p:sp>
      <p:sp>
        <p:nvSpPr>
          <p:cNvPr id="1374" name="Google Shape;1374;p25"/>
          <p:cNvSpPr txBox="1"/>
          <p:nvPr/>
        </p:nvSpPr>
        <p:spPr>
          <a:xfrm>
            <a:off x="8486567" y="4412704"/>
            <a:ext cx="784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grpSp>
        <p:nvGrpSpPr>
          <p:cNvPr id="1375" name="Google Shape;1375;p25"/>
          <p:cNvGrpSpPr/>
          <p:nvPr/>
        </p:nvGrpSpPr>
        <p:grpSpPr>
          <a:xfrm>
            <a:off x="1847642" y="3241129"/>
            <a:ext cx="2844800" cy="788987"/>
            <a:chOff x="1847642" y="3241129"/>
            <a:chExt cx="2844800" cy="788987"/>
          </a:xfrm>
        </p:grpSpPr>
        <p:cxnSp>
          <p:nvCxnSpPr>
            <p:cNvPr id="1376" name="Google Shape;1376;p25"/>
            <p:cNvCxnSpPr/>
            <p:nvPr/>
          </p:nvCxnSpPr>
          <p:spPr>
            <a:xfrm>
              <a:off x="3939967" y="3858666"/>
              <a:ext cx="752475" cy="17145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77" name="Google Shape;1377;p25"/>
            <p:cNvGrpSpPr/>
            <p:nvPr/>
          </p:nvGrpSpPr>
          <p:grpSpPr>
            <a:xfrm>
              <a:off x="1866692" y="3441154"/>
              <a:ext cx="2338388" cy="404812"/>
              <a:chOff x="1004" y="1639"/>
              <a:chExt cx="1473" cy="255"/>
            </a:xfrm>
          </p:grpSpPr>
          <p:sp>
            <p:nvSpPr>
              <p:cNvPr id="1378" name="Google Shape;1378;p25"/>
              <p:cNvSpPr/>
              <p:nvPr/>
            </p:nvSpPr>
            <p:spPr>
              <a:xfrm>
                <a:off x="1004" y="1639"/>
                <a:ext cx="1473" cy="255"/>
              </a:xfrm>
              <a:custGeom>
                <a:rect b="b" l="l" r="r" t="t"/>
                <a:pathLst>
                  <a:path extrusionOk="0" h="255" w="1473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25"/>
              <p:cNvSpPr txBox="1"/>
              <p:nvPr/>
            </p:nvSpPr>
            <p:spPr>
              <a:xfrm>
                <a:off x="1226" y="1664"/>
                <a:ext cx="970" cy="212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200.23.18.0/23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0" name="Google Shape;1380;p25"/>
            <p:cNvSpPr txBox="1"/>
            <p:nvPr/>
          </p:nvSpPr>
          <p:spPr>
            <a:xfrm>
              <a:off x="1847642" y="3241129"/>
              <a:ext cx="13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1</a:t>
              </a:r>
              <a:endParaRPr/>
            </a:p>
          </p:txBody>
        </p:sp>
      </p:grpSp>
      <p:sp>
        <p:nvSpPr>
          <p:cNvPr id="1381" name="Google Shape;1381;p25"/>
          <p:cNvSpPr/>
          <p:nvPr/>
        </p:nvSpPr>
        <p:spPr>
          <a:xfrm>
            <a:off x="4595605" y="4971504"/>
            <a:ext cx="1773237" cy="979487"/>
          </a:xfrm>
          <a:custGeom>
            <a:rect b="b" l="l" r="r" t="t"/>
            <a:pathLst>
              <a:path extrusionOk="0" h="617" w="11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25"/>
          <p:cNvSpPr txBox="1"/>
          <p:nvPr/>
        </p:nvSpPr>
        <p:spPr>
          <a:xfrm>
            <a:off x="4895642" y="5346154"/>
            <a:ext cx="10239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ISPs-R-Us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25"/>
          <p:cNvSpPr/>
          <p:nvPr/>
        </p:nvSpPr>
        <p:spPr>
          <a:xfrm flipH="1" rot="10800000">
            <a:off x="6321217" y="4992141"/>
            <a:ext cx="2019300" cy="295275"/>
          </a:xfrm>
          <a:custGeom>
            <a:rect b="b" l="l" r="r" t="t"/>
            <a:pathLst>
              <a:path extrusionOk="0" h="186" w="1272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4" name="Google Shape;1384;p25"/>
          <p:cNvCxnSpPr/>
          <p:nvPr/>
        </p:nvCxnSpPr>
        <p:spPr>
          <a:xfrm>
            <a:off x="4111417" y="5535066"/>
            <a:ext cx="48577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25"/>
          <p:cNvCxnSpPr/>
          <p:nvPr/>
        </p:nvCxnSpPr>
        <p:spPr>
          <a:xfrm flipH="1" rot="10800000">
            <a:off x="3959017" y="5601741"/>
            <a:ext cx="638175" cy="1714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25"/>
          <p:cNvCxnSpPr/>
          <p:nvPr/>
        </p:nvCxnSpPr>
        <p:spPr>
          <a:xfrm flipH="1" rot="10800000">
            <a:off x="4397167" y="5849391"/>
            <a:ext cx="247650" cy="4095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7" name="Google Shape;1387;p25"/>
          <p:cNvSpPr txBox="1"/>
          <p:nvPr/>
        </p:nvSpPr>
        <p:spPr>
          <a:xfrm>
            <a:off x="6610142" y="5241379"/>
            <a:ext cx="1671638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“Send me anything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addresses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beginning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199.31.0.0/16”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8" name="Google Shape;1388;p25"/>
          <p:cNvGrpSpPr/>
          <p:nvPr/>
        </p:nvGrpSpPr>
        <p:grpSpPr>
          <a:xfrm>
            <a:off x="1885742" y="4031704"/>
            <a:ext cx="2338388" cy="404812"/>
            <a:chOff x="1004" y="1639"/>
            <a:chExt cx="1473" cy="255"/>
          </a:xfrm>
        </p:grpSpPr>
        <p:sp>
          <p:nvSpPr>
            <p:cNvPr id="1389" name="Google Shape;1389;p25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5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200.23.20.0/23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1" name="Google Shape;1391;p25"/>
          <p:cNvSpPr txBox="1"/>
          <p:nvPr/>
        </p:nvSpPr>
        <p:spPr>
          <a:xfrm>
            <a:off x="1866692" y="3831679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</a:t>
            </a:r>
            <a:endParaRPr/>
          </a:p>
        </p:txBody>
      </p:sp>
      <p:grpSp>
        <p:nvGrpSpPr>
          <p:cNvPr id="1392" name="Google Shape;1392;p25"/>
          <p:cNvGrpSpPr/>
          <p:nvPr/>
        </p:nvGrpSpPr>
        <p:grpSpPr>
          <a:xfrm>
            <a:off x="3235117" y="4288879"/>
            <a:ext cx="257175" cy="663575"/>
            <a:chOff x="870" y="2941"/>
            <a:chExt cx="162" cy="418"/>
          </a:xfrm>
        </p:grpSpPr>
        <p:sp>
          <p:nvSpPr>
            <p:cNvPr id="1393" name="Google Shape;1393;p25"/>
            <p:cNvSpPr txBox="1"/>
            <p:nvPr/>
          </p:nvSpPr>
          <p:spPr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25"/>
            <p:cNvSpPr txBox="1"/>
            <p:nvPr/>
          </p:nvSpPr>
          <p:spPr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5"/>
            <p:cNvSpPr txBox="1"/>
            <p:nvPr/>
          </p:nvSpPr>
          <p:spPr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6" name="Google Shape;1396;p25"/>
          <p:cNvGrpSpPr/>
          <p:nvPr/>
        </p:nvGrpSpPr>
        <p:grpSpPr>
          <a:xfrm>
            <a:off x="4263817" y="3993604"/>
            <a:ext cx="257175" cy="663575"/>
            <a:chOff x="870" y="2941"/>
            <a:chExt cx="162" cy="418"/>
          </a:xfrm>
        </p:grpSpPr>
        <p:sp>
          <p:nvSpPr>
            <p:cNvPr id="1397" name="Google Shape;1397;p25"/>
            <p:cNvSpPr txBox="1"/>
            <p:nvPr/>
          </p:nvSpPr>
          <p:spPr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25"/>
            <p:cNvSpPr txBox="1"/>
            <p:nvPr/>
          </p:nvSpPr>
          <p:spPr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25"/>
            <p:cNvSpPr txBox="1"/>
            <p:nvPr/>
          </p:nvSpPr>
          <p:spPr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0" name="Google Shape;1400;p25"/>
          <p:cNvSpPr txBox="1"/>
          <p:nvPr/>
        </p:nvSpPr>
        <p:spPr>
          <a:xfrm>
            <a:off x="741737" y="1253772"/>
            <a:ext cx="1100277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 1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moves from Fly-By-Night-ISP to ISPs-R-Us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ISPs-R-Us now advertises a more specific route to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 1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1" name="Google Shape;1401;p25"/>
          <p:cNvCxnSpPr/>
          <p:nvPr/>
        </p:nvCxnSpPr>
        <p:spPr>
          <a:xfrm flipH="1" rot="10800000">
            <a:off x="4303322" y="5787297"/>
            <a:ext cx="333375" cy="247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02" name="Google Shape;1402;p25"/>
          <p:cNvGrpSpPr/>
          <p:nvPr/>
        </p:nvGrpSpPr>
        <p:grpSpPr>
          <a:xfrm>
            <a:off x="2073587" y="5735794"/>
            <a:ext cx="2342448" cy="619828"/>
            <a:chOff x="2073587" y="5735794"/>
            <a:chExt cx="2342448" cy="619828"/>
          </a:xfrm>
        </p:grpSpPr>
        <p:grpSp>
          <p:nvGrpSpPr>
            <p:cNvPr id="1403" name="Google Shape;1403;p25"/>
            <p:cNvGrpSpPr/>
            <p:nvPr/>
          </p:nvGrpSpPr>
          <p:grpSpPr>
            <a:xfrm>
              <a:off x="2077647" y="5950810"/>
              <a:ext cx="2338388" cy="404812"/>
              <a:chOff x="1004" y="1639"/>
              <a:chExt cx="1473" cy="255"/>
            </a:xfrm>
          </p:grpSpPr>
          <p:sp>
            <p:nvSpPr>
              <p:cNvPr id="1404" name="Google Shape;1404;p25"/>
              <p:cNvSpPr/>
              <p:nvPr/>
            </p:nvSpPr>
            <p:spPr>
              <a:xfrm>
                <a:off x="1004" y="1639"/>
                <a:ext cx="1473" cy="255"/>
              </a:xfrm>
              <a:custGeom>
                <a:rect b="b" l="l" r="r" t="t"/>
                <a:pathLst>
                  <a:path extrusionOk="0" h="255" w="1473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25"/>
              <p:cNvSpPr txBox="1"/>
              <p:nvPr/>
            </p:nvSpPr>
            <p:spPr>
              <a:xfrm>
                <a:off x="1226" y="1664"/>
                <a:ext cx="970" cy="212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200.23.18.0/23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6" name="Google Shape;1406;p25"/>
            <p:cNvSpPr txBox="1"/>
            <p:nvPr/>
          </p:nvSpPr>
          <p:spPr>
            <a:xfrm>
              <a:off x="2073587" y="5735794"/>
              <a:ext cx="13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1</a:t>
              </a:r>
              <a:endParaRPr/>
            </a:p>
          </p:txBody>
        </p:sp>
      </p:grpSp>
      <p:sp>
        <p:nvSpPr>
          <p:cNvPr id="1407" name="Google Shape;1407;p25"/>
          <p:cNvSpPr txBox="1"/>
          <p:nvPr/>
        </p:nvSpPr>
        <p:spPr>
          <a:xfrm>
            <a:off x="6580161" y="6089469"/>
            <a:ext cx="17395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 </a:t>
            </a:r>
            <a:r>
              <a:rPr b="0" i="0" lang="en-US" sz="1400" u="sng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200.23.18.0/23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26"/>
          <p:cNvSpPr txBox="1"/>
          <p:nvPr>
            <p:ph type="title"/>
          </p:nvPr>
        </p:nvSpPr>
        <p:spPr>
          <a:xfrm>
            <a:off x="703287" y="281163"/>
            <a:ext cx="11078981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900"/>
              <a:t>Hierarchical addressing</a:t>
            </a:r>
            <a:r>
              <a:rPr lang="en-US" sz="4800"/>
              <a:t>: more specific routes</a:t>
            </a:r>
            <a:endParaRPr/>
          </a:p>
        </p:txBody>
      </p:sp>
      <p:sp>
        <p:nvSpPr>
          <p:cNvPr id="1414" name="Google Shape;1414;p26"/>
          <p:cNvSpPr/>
          <p:nvPr/>
        </p:nvSpPr>
        <p:spPr>
          <a:xfrm>
            <a:off x="6254542" y="4211091"/>
            <a:ext cx="2019300" cy="295275"/>
          </a:xfrm>
          <a:custGeom>
            <a:rect b="b" l="l" r="r" t="t"/>
            <a:pathLst>
              <a:path extrusionOk="0" h="186" w="1272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5" name="Google Shape;1415;p26"/>
          <p:cNvCxnSpPr/>
          <p:nvPr/>
        </p:nvCxnSpPr>
        <p:spPr>
          <a:xfrm flipH="1" rot="10800000">
            <a:off x="3911392" y="4487316"/>
            <a:ext cx="89535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26"/>
          <p:cNvCxnSpPr/>
          <p:nvPr/>
        </p:nvCxnSpPr>
        <p:spPr>
          <a:xfrm>
            <a:off x="4006642" y="3077616"/>
            <a:ext cx="847725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p26"/>
          <p:cNvSpPr/>
          <p:nvPr/>
        </p:nvSpPr>
        <p:spPr>
          <a:xfrm>
            <a:off x="4652755" y="3657054"/>
            <a:ext cx="1773237" cy="979487"/>
          </a:xfrm>
          <a:custGeom>
            <a:rect b="b" l="l" r="r" t="t"/>
            <a:pathLst>
              <a:path extrusionOk="0" h="617" w="11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26"/>
          <p:cNvSpPr txBox="1"/>
          <p:nvPr/>
        </p:nvSpPr>
        <p:spPr>
          <a:xfrm>
            <a:off x="6486317" y="3384004"/>
            <a:ext cx="1671638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“Send me anything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addresses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beginning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200.23.16.0/20”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9" name="Google Shape;1419;p26"/>
          <p:cNvGrpSpPr/>
          <p:nvPr/>
        </p:nvGrpSpPr>
        <p:grpSpPr>
          <a:xfrm>
            <a:off x="1838117" y="2850604"/>
            <a:ext cx="2338388" cy="404812"/>
            <a:chOff x="1004" y="1639"/>
            <a:chExt cx="1473" cy="255"/>
          </a:xfrm>
        </p:grpSpPr>
        <p:sp>
          <p:nvSpPr>
            <p:cNvPr id="1420" name="Google Shape;1420;p26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6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200.23.16.0/23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2" name="Google Shape;1422;p26"/>
          <p:cNvGrpSpPr/>
          <p:nvPr/>
        </p:nvGrpSpPr>
        <p:grpSpPr>
          <a:xfrm>
            <a:off x="1780967" y="4860379"/>
            <a:ext cx="2338388" cy="404812"/>
            <a:chOff x="1004" y="1639"/>
            <a:chExt cx="1473" cy="255"/>
          </a:xfrm>
        </p:grpSpPr>
        <p:sp>
          <p:nvSpPr>
            <p:cNvPr id="1423" name="Google Shape;1423;p26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26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200.23.30.0/23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5" name="Google Shape;1425;p26"/>
          <p:cNvSpPr txBox="1"/>
          <p:nvPr/>
        </p:nvSpPr>
        <p:spPr>
          <a:xfrm>
            <a:off x="4686092" y="4088854"/>
            <a:ext cx="15065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Fly-By-Night-ISP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26"/>
          <p:cNvSpPr/>
          <p:nvPr/>
        </p:nvSpPr>
        <p:spPr>
          <a:xfrm>
            <a:off x="8248442" y="3185566"/>
            <a:ext cx="1444625" cy="2714625"/>
          </a:xfrm>
          <a:custGeom>
            <a:rect b="b" l="l" r="r" t="t"/>
            <a:pathLst>
              <a:path extrusionOk="0" h="1710" w="9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>
            <a:gsLst>
              <a:gs pos="0">
                <a:srgbClr val="66CC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26"/>
          <p:cNvSpPr txBox="1"/>
          <p:nvPr/>
        </p:nvSpPr>
        <p:spPr>
          <a:xfrm>
            <a:off x="1838117" y="2593429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0</a:t>
            </a:r>
            <a:endParaRPr/>
          </a:p>
        </p:txBody>
      </p:sp>
      <p:sp>
        <p:nvSpPr>
          <p:cNvPr id="1428" name="Google Shape;1428;p26"/>
          <p:cNvSpPr txBox="1"/>
          <p:nvPr/>
        </p:nvSpPr>
        <p:spPr>
          <a:xfrm>
            <a:off x="1866692" y="4603204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7</a:t>
            </a:r>
            <a:endParaRPr/>
          </a:p>
        </p:txBody>
      </p:sp>
      <p:sp>
        <p:nvSpPr>
          <p:cNvPr id="1429" name="Google Shape;1429;p26"/>
          <p:cNvSpPr txBox="1"/>
          <p:nvPr/>
        </p:nvSpPr>
        <p:spPr>
          <a:xfrm>
            <a:off x="8486567" y="4412704"/>
            <a:ext cx="784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sp>
        <p:nvSpPr>
          <p:cNvPr id="1430" name="Google Shape;1430;p26"/>
          <p:cNvSpPr/>
          <p:nvPr/>
        </p:nvSpPr>
        <p:spPr>
          <a:xfrm>
            <a:off x="4595605" y="4971504"/>
            <a:ext cx="1773237" cy="979487"/>
          </a:xfrm>
          <a:custGeom>
            <a:rect b="b" l="l" r="r" t="t"/>
            <a:pathLst>
              <a:path extrusionOk="0" h="617" w="11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26"/>
          <p:cNvSpPr txBox="1"/>
          <p:nvPr/>
        </p:nvSpPr>
        <p:spPr>
          <a:xfrm>
            <a:off x="4895642" y="5346154"/>
            <a:ext cx="10239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ISPs-R-Us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26"/>
          <p:cNvSpPr/>
          <p:nvPr/>
        </p:nvSpPr>
        <p:spPr>
          <a:xfrm flipH="1" rot="10800000">
            <a:off x="6321217" y="4992141"/>
            <a:ext cx="2019300" cy="295275"/>
          </a:xfrm>
          <a:custGeom>
            <a:rect b="b" l="l" r="r" t="t"/>
            <a:pathLst>
              <a:path extrusionOk="0" h="186" w="1272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3" name="Google Shape;1433;p26"/>
          <p:cNvCxnSpPr/>
          <p:nvPr/>
        </p:nvCxnSpPr>
        <p:spPr>
          <a:xfrm>
            <a:off x="4111417" y="5535066"/>
            <a:ext cx="48577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26"/>
          <p:cNvCxnSpPr/>
          <p:nvPr/>
        </p:nvCxnSpPr>
        <p:spPr>
          <a:xfrm flipH="1" rot="10800000">
            <a:off x="3959017" y="5601741"/>
            <a:ext cx="638175" cy="1714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26"/>
          <p:cNvCxnSpPr/>
          <p:nvPr/>
        </p:nvCxnSpPr>
        <p:spPr>
          <a:xfrm flipH="1" rot="10800000">
            <a:off x="4397167" y="5849391"/>
            <a:ext cx="247650" cy="4095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26"/>
          <p:cNvSpPr txBox="1"/>
          <p:nvPr/>
        </p:nvSpPr>
        <p:spPr>
          <a:xfrm>
            <a:off x="6610142" y="5241379"/>
            <a:ext cx="1671638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“Send me anything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addresses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beginning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199.31.0.0/16”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7" name="Google Shape;1437;p26"/>
          <p:cNvGrpSpPr/>
          <p:nvPr/>
        </p:nvGrpSpPr>
        <p:grpSpPr>
          <a:xfrm>
            <a:off x="1885742" y="4031704"/>
            <a:ext cx="2338388" cy="404812"/>
            <a:chOff x="1004" y="1639"/>
            <a:chExt cx="1473" cy="255"/>
          </a:xfrm>
        </p:grpSpPr>
        <p:sp>
          <p:nvSpPr>
            <p:cNvPr id="1438" name="Google Shape;1438;p26"/>
            <p:cNvSpPr/>
            <p:nvPr/>
          </p:nvSpPr>
          <p:spPr>
            <a:xfrm>
              <a:off x="1004" y="1639"/>
              <a:ext cx="1473" cy="255"/>
            </a:xfrm>
            <a:custGeom>
              <a:rect b="b" l="l" r="r" t="t"/>
              <a:pathLst>
                <a:path extrusionOk="0" h="255" w="1473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6"/>
            <p:cNvSpPr txBox="1"/>
            <p:nvPr/>
          </p:nvSpPr>
          <p:spPr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200.23.20.0/23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0" name="Google Shape;1440;p26"/>
          <p:cNvSpPr txBox="1"/>
          <p:nvPr/>
        </p:nvSpPr>
        <p:spPr>
          <a:xfrm>
            <a:off x="1866692" y="3831679"/>
            <a:ext cx="133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</a:t>
            </a:r>
            <a:endParaRPr/>
          </a:p>
        </p:txBody>
      </p:sp>
      <p:grpSp>
        <p:nvGrpSpPr>
          <p:cNvPr id="1441" name="Google Shape;1441;p26"/>
          <p:cNvGrpSpPr/>
          <p:nvPr/>
        </p:nvGrpSpPr>
        <p:grpSpPr>
          <a:xfrm>
            <a:off x="3235117" y="4288879"/>
            <a:ext cx="257175" cy="663575"/>
            <a:chOff x="870" y="2941"/>
            <a:chExt cx="162" cy="418"/>
          </a:xfrm>
        </p:grpSpPr>
        <p:sp>
          <p:nvSpPr>
            <p:cNvPr id="1442" name="Google Shape;1442;p26"/>
            <p:cNvSpPr txBox="1"/>
            <p:nvPr/>
          </p:nvSpPr>
          <p:spPr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26"/>
            <p:cNvSpPr txBox="1"/>
            <p:nvPr/>
          </p:nvSpPr>
          <p:spPr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26"/>
            <p:cNvSpPr txBox="1"/>
            <p:nvPr/>
          </p:nvSpPr>
          <p:spPr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5" name="Google Shape;1445;p26"/>
          <p:cNvGrpSpPr/>
          <p:nvPr/>
        </p:nvGrpSpPr>
        <p:grpSpPr>
          <a:xfrm>
            <a:off x="4263817" y="3993604"/>
            <a:ext cx="257175" cy="663575"/>
            <a:chOff x="870" y="2941"/>
            <a:chExt cx="162" cy="418"/>
          </a:xfrm>
        </p:grpSpPr>
        <p:sp>
          <p:nvSpPr>
            <p:cNvPr id="1446" name="Google Shape;1446;p26"/>
            <p:cNvSpPr txBox="1"/>
            <p:nvPr/>
          </p:nvSpPr>
          <p:spPr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26"/>
            <p:cNvSpPr txBox="1"/>
            <p:nvPr/>
          </p:nvSpPr>
          <p:spPr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26"/>
            <p:cNvSpPr txBox="1"/>
            <p:nvPr/>
          </p:nvSpPr>
          <p:spPr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9" name="Google Shape;1449;p26"/>
          <p:cNvSpPr txBox="1"/>
          <p:nvPr/>
        </p:nvSpPr>
        <p:spPr>
          <a:xfrm>
            <a:off x="741737" y="1253772"/>
            <a:ext cx="1100277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 1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moves from Fly-By-Night-ISP to ISPs-R-Us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ISPs-R-Us now advertises a more specific route to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 1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0" name="Google Shape;1450;p26"/>
          <p:cNvCxnSpPr/>
          <p:nvPr/>
        </p:nvCxnSpPr>
        <p:spPr>
          <a:xfrm flipH="1" rot="10800000">
            <a:off x="4303322" y="5787297"/>
            <a:ext cx="333375" cy="247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51" name="Google Shape;1451;p26"/>
          <p:cNvGrpSpPr/>
          <p:nvPr/>
        </p:nvGrpSpPr>
        <p:grpSpPr>
          <a:xfrm>
            <a:off x="2073587" y="5735794"/>
            <a:ext cx="2342448" cy="619828"/>
            <a:chOff x="2073587" y="5735794"/>
            <a:chExt cx="2342448" cy="619828"/>
          </a:xfrm>
        </p:grpSpPr>
        <p:grpSp>
          <p:nvGrpSpPr>
            <p:cNvPr id="1452" name="Google Shape;1452;p26"/>
            <p:cNvGrpSpPr/>
            <p:nvPr/>
          </p:nvGrpSpPr>
          <p:grpSpPr>
            <a:xfrm>
              <a:off x="2077647" y="5950810"/>
              <a:ext cx="2338388" cy="404812"/>
              <a:chOff x="1004" y="1639"/>
              <a:chExt cx="1473" cy="255"/>
            </a:xfrm>
          </p:grpSpPr>
          <p:sp>
            <p:nvSpPr>
              <p:cNvPr id="1453" name="Google Shape;1453;p26"/>
              <p:cNvSpPr/>
              <p:nvPr/>
            </p:nvSpPr>
            <p:spPr>
              <a:xfrm>
                <a:off x="1004" y="1639"/>
                <a:ext cx="1473" cy="255"/>
              </a:xfrm>
              <a:custGeom>
                <a:rect b="b" l="l" r="r" t="t"/>
                <a:pathLst>
                  <a:path extrusionOk="0" h="255" w="1473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26"/>
              <p:cNvSpPr txBox="1"/>
              <p:nvPr/>
            </p:nvSpPr>
            <p:spPr>
              <a:xfrm>
                <a:off x="1226" y="1664"/>
                <a:ext cx="970" cy="212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200.23.18.0/23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5" name="Google Shape;1455;p26"/>
            <p:cNvSpPr txBox="1"/>
            <p:nvPr/>
          </p:nvSpPr>
          <p:spPr>
            <a:xfrm>
              <a:off x="2073587" y="5735794"/>
              <a:ext cx="13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1</a:t>
              </a:r>
              <a:endParaRPr/>
            </a:p>
          </p:txBody>
        </p:sp>
      </p:grpSp>
      <p:sp>
        <p:nvSpPr>
          <p:cNvPr id="1456" name="Google Shape;1456;p26"/>
          <p:cNvSpPr txBox="1"/>
          <p:nvPr/>
        </p:nvSpPr>
        <p:spPr>
          <a:xfrm>
            <a:off x="6580161" y="6089469"/>
            <a:ext cx="17395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 </a:t>
            </a:r>
            <a:r>
              <a:rPr b="0" i="0" lang="en-US" sz="1400" u="sng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200.23.18.0/23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26"/>
          <p:cNvSpPr/>
          <p:nvPr/>
        </p:nvSpPr>
        <p:spPr>
          <a:xfrm>
            <a:off x="4049486" y="4865915"/>
            <a:ext cx="5274129" cy="1257299"/>
          </a:xfrm>
          <a:custGeom>
            <a:rect b="b" l="l" r="r" t="t"/>
            <a:pathLst>
              <a:path extrusionOk="0" h="1257299" w="5274129">
                <a:moveTo>
                  <a:pt x="5274129" y="0"/>
                </a:moveTo>
                <a:lnTo>
                  <a:pt x="849085" y="718457"/>
                </a:lnTo>
                <a:lnTo>
                  <a:pt x="0" y="1257299"/>
                </a:lnTo>
              </a:path>
            </a:pathLst>
          </a:custGeom>
          <a:noFill/>
          <a:ln cap="flat" cmpd="sng" w="76200">
            <a:solidFill>
              <a:srgbClr val="3333CC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27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IP addressing: last words ...</a:t>
            </a:r>
            <a:endParaRPr sz="4800"/>
          </a:p>
        </p:txBody>
      </p:sp>
      <p:sp>
        <p:nvSpPr>
          <p:cNvPr id="1464" name="Google Shape;1464;p27"/>
          <p:cNvSpPr txBox="1"/>
          <p:nvPr/>
        </p:nvSpPr>
        <p:spPr>
          <a:xfrm>
            <a:off x="519278" y="1328204"/>
            <a:ext cx="5815260" cy="509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does an ISP get block of addresses?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ICANN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nternet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orporation for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ssigned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ames and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umbers http://www.icann.org/</a:t>
            </a:r>
            <a:endParaRPr/>
          </a:p>
          <a:p>
            <a:pPr indent="-234950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allocates IP addresses, through </a:t>
            </a: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5 regional registries (RRs)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(who may then allocate to local registries)</a:t>
            </a:r>
            <a:endParaRPr/>
          </a:p>
          <a:p>
            <a:pPr indent="-234950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DNS root zone, including delegation of individual TLD (.com, .edu , …) management </a:t>
            </a:r>
            <a:endParaRPr/>
          </a:p>
          <a:p>
            <a:pPr indent="0" lvl="1" marL="463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27"/>
          <p:cNvSpPr txBox="1"/>
          <p:nvPr/>
        </p:nvSpPr>
        <p:spPr>
          <a:xfrm>
            <a:off x="6780931" y="1374589"/>
            <a:ext cx="5040009" cy="3634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are there enough 32-bit IP addresses?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allocated last chunk of IPv4 addresses to RRs in 2011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 (next) helps IPv4 address space exhaustion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IPv6 has 128-bit address space</a:t>
            </a:r>
            <a:endParaRPr/>
          </a:p>
        </p:txBody>
      </p:sp>
      <p:sp>
        <p:nvSpPr>
          <p:cNvPr id="1466" name="Google Shape;1466;p27"/>
          <p:cNvSpPr txBox="1"/>
          <p:nvPr/>
        </p:nvSpPr>
        <p:spPr>
          <a:xfrm flipH="1">
            <a:off x="7150541" y="5049079"/>
            <a:ext cx="451137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"Who the hell knew how much address space we needed?"  Vint Cerf (reflecting on decision to make IPv4 address 32 bits long)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28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sp>
        <p:nvSpPr>
          <p:cNvPr id="1473" name="Google Shape;1473;p28"/>
          <p:cNvSpPr txBox="1"/>
          <p:nvPr>
            <p:ph idx="2" type="body"/>
          </p:nvPr>
        </p:nvSpPr>
        <p:spPr>
          <a:xfrm>
            <a:off x="518511" y="2492753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Overview of Network Layer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What’s Inside a Router?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3600"/>
              <a:buChar char="▪"/>
            </a:pPr>
            <a:r>
              <a:rPr lang="en-US" sz="3600"/>
              <a:t>The Internet Protocol: </a:t>
            </a:r>
            <a:endParaRPr/>
          </a:p>
          <a:p>
            <a:pPr indent="-285750" lvl="1" marL="7461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solidFill>
                  <a:srgbClr val="BFBFBF"/>
                </a:solidFill>
              </a:rPr>
              <a:t>IPv4, addressing </a:t>
            </a:r>
            <a:r>
              <a:rPr lang="en-US" sz="2800">
                <a:solidFill>
                  <a:srgbClr val="BFBFBF"/>
                </a:solidFill>
              </a:rPr>
              <a:t>(part 1)</a:t>
            </a:r>
            <a:endParaRPr/>
          </a:p>
          <a:p>
            <a:pPr indent="-285750" lvl="1" marL="7461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NAT, IPv6 </a:t>
            </a:r>
            <a:r>
              <a:rPr lang="en-US" sz="2800"/>
              <a:t>(part 2)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Generalized Forwarding and SDN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Middleboxes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Summary</a:t>
            </a:r>
            <a:endParaRPr/>
          </a:p>
        </p:txBody>
      </p:sp>
      <p:grpSp>
        <p:nvGrpSpPr>
          <p:cNvPr id="1474" name="Google Shape;1474;p28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475" name="Google Shape;1475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6" name="Google Shape;1476;p28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477" name="Google Shape;1477;p28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478" name="Google Shape;1478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9" name="Google Shape;1479;p28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29"/>
          <p:cNvSpPr/>
          <p:nvPr/>
        </p:nvSpPr>
        <p:spPr>
          <a:xfrm>
            <a:off x="6624872" y="2978590"/>
            <a:ext cx="3273778" cy="2294055"/>
          </a:xfrm>
          <a:custGeom>
            <a:rect b="b" l="l" r="r" t="t"/>
            <a:pathLst>
              <a:path extrusionOk="0" h="1699" w="2355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9"/>
          <p:cNvSpPr txBox="1"/>
          <p:nvPr/>
        </p:nvSpPr>
        <p:spPr>
          <a:xfrm>
            <a:off x="9236240" y="3264692"/>
            <a:ext cx="859531" cy="35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10.0.0.1</a:t>
            </a:r>
            <a:endParaRPr/>
          </a:p>
        </p:txBody>
      </p:sp>
      <p:sp>
        <p:nvSpPr>
          <p:cNvPr id="1487" name="Google Shape;1487;p29"/>
          <p:cNvSpPr txBox="1"/>
          <p:nvPr/>
        </p:nvSpPr>
        <p:spPr>
          <a:xfrm>
            <a:off x="9181489" y="3988217"/>
            <a:ext cx="859531" cy="35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10.0.0.2</a:t>
            </a:r>
            <a:endParaRPr/>
          </a:p>
        </p:txBody>
      </p:sp>
      <p:sp>
        <p:nvSpPr>
          <p:cNvPr id="1488" name="Google Shape;1488;p29"/>
          <p:cNvSpPr txBox="1"/>
          <p:nvPr/>
        </p:nvSpPr>
        <p:spPr>
          <a:xfrm>
            <a:off x="9155136" y="4742372"/>
            <a:ext cx="859531" cy="35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10.0.0.3</a:t>
            </a:r>
            <a:endParaRPr/>
          </a:p>
        </p:txBody>
      </p:sp>
      <p:sp>
        <p:nvSpPr>
          <p:cNvPr id="1489" name="Google Shape;1489;p29"/>
          <p:cNvSpPr txBox="1"/>
          <p:nvPr/>
        </p:nvSpPr>
        <p:spPr>
          <a:xfrm>
            <a:off x="6464854" y="3424079"/>
            <a:ext cx="859531" cy="35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10.0.0.4</a:t>
            </a:r>
            <a:endParaRPr/>
          </a:p>
        </p:txBody>
      </p:sp>
      <p:cxnSp>
        <p:nvCxnSpPr>
          <p:cNvPr id="1490" name="Google Shape;1490;p29"/>
          <p:cNvCxnSpPr/>
          <p:nvPr/>
        </p:nvCxnSpPr>
        <p:spPr>
          <a:xfrm>
            <a:off x="6820885" y="3727909"/>
            <a:ext cx="2090" cy="35887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1" name="Google Shape;1491;p29"/>
          <p:cNvSpPr txBox="1"/>
          <p:nvPr/>
        </p:nvSpPr>
        <p:spPr>
          <a:xfrm>
            <a:off x="6679771" y="2473869"/>
            <a:ext cx="2802851" cy="569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network (e.g., home network) 10.0.0/24</a:t>
            </a:r>
            <a:endParaRPr/>
          </a:p>
        </p:txBody>
      </p:sp>
      <p:cxnSp>
        <p:nvCxnSpPr>
          <p:cNvPr id="1492" name="Google Shape;1492;p29"/>
          <p:cNvCxnSpPr/>
          <p:nvPr/>
        </p:nvCxnSpPr>
        <p:spPr>
          <a:xfrm>
            <a:off x="9417628" y="2709128"/>
            <a:ext cx="112466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3" name="Google Shape;1493;p29"/>
          <p:cNvCxnSpPr/>
          <p:nvPr/>
        </p:nvCxnSpPr>
        <p:spPr>
          <a:xfrm>
            <a:off x="6205244" y="2589251"/>
            <a:ext cx="0" cy="112825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29"/>
          <p:cNvCxnSpPr/>
          <p:nvPr/>
        </p:nvCxnSpPr>
        <p:spPr>
          <a:xfrm rot="10800000">
            <a:off x="6344943" y="2721791"/>
            <a:ext cx="427910" cy="447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95" name="Google Shape;1495;p29"/>
          <p:cNvGrpSpPr/>
          <p:nvPr/>
        </p:nvGrpSpPr>
        <p:grpSpPr>
          <a:xfrm flipH="1">
            <a:off x="9988255" y="3097875"/>
            <a:ext cx="641350" cy="583178"/>
            <a:chOff x="-44" y="1473"/>
            <a:chExt cx="981" cy="1105"/>
          </a:xfrm>
        </p:grpSpPr>
        <p:pic>
          <p:nvPicPr>
            <p:cNvPr descr="desktop_computer_stylized_medium" id="1496" name="Google Shape;1496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7" name="Google Shape;1497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8" name="Google Shape;1498;p29"/>
          <p:cNvGrpSpPr/>
          <p:nvPr/>
        </p:nvGrpSpPr>
        <p:grpSpPr>
          <a:xfrm flipH="1">
            <a:off x="9915055" y="3818933"/>
            <a:ext cx="641350" cy="583178"/>
            <a:chOff x="-44" y="1473"/>
            <a:chExt cx="981" cy="1105"/>
          </a:xfrm>
        </p:grpSpPr>
        <p:pic>
          <p:nvPicPr>
            <p:cNvPr descr="desktop_computer_stylized_medium" id="1499" name="Google Shape;14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0" name="Google Shape;1500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1" name="Google Shape;1501;p29"/>
          <p:cNvGrpSpPr/>
          <p:nvPr/>
        </p:nvGrpSpPr>
        <p:grpSpPr>
          <a:xfrm flipH="1">
            <a:off x="9934281" y="4558766"/>
            <a:ext cx="641350" cy="583178"/>
            <a:chOff x="-44" y="1473"/>
            <a:chExt cx="981" cy="1105"/>
          </a:xfrm>
        </p:grpSpPr>
        <p:pic>
          <p:nvPicPr>
            <p:cNvPr descr="desktop_computer_stylized_medium" id="1502" name="Google Shape;150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3" name="Google Shape;1503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4" name="Google Shape;1504;p29"/>
          <p:cNvGrpSpPr/>
          <p:nvPr/>
        </p:nvGrpSpPr>
        <p:grpSpPr>
          <a:xfrm>
            <a:off x="2171406" y="2486532"/>
            <a:ext cx="3963988" cy="2445373"/>
            <a:chOff x="2171406" y="2486532"/>
            <a:chExt cx="3963988" cy="2445373"/>
          </a:xfrm>
        </p:grpSpPr>
        <p:sp>
          <p:nvSpPr>
            <p:cNvPr id="1505" name="Google Shape;1505;p29"/>
            <p:cNvSpPr/>
            <p:nvPr/>
          </p:nvSpPr>
          <p:spPr>
            <a:xfrm>
              <a:off x="2171406" y="3444138"/>
              <a:ext cx="3640666" cy="1487767"/>
            </a:xfrm>
            <a:custGeom>
              <a:rect b="b" l="l" r="r" t="t"/>
              <a:pathLst>
                <a:path extrusionOk="0" h="898" w="2425">
                  <a:moveTo>
                    <a:pt x="2056" y="289"/>
                  </a:moveTo>
                  <a:cubicBezTo>
                    <a:pt x="1826" y="223"/>
                    <a:pt x="1133" y="113"/>
                    <a:pt x="810" y="75"/>
                  </a:cubicBezTo>
                  <a:cubicBezTo>
                    <a:pt x="487" y="37"/>
                    <a:pt x="230" y="0"/>
                    <a:pt x="115" y="60"/>
                  </a:cubicBezTo>
                  <a:cubicBezTo>
                    <a:pt x="0" y="120"/>
                    <a:pt x="121" y="301"/>
                    <a:pt x="121" y="433"/>
                  </a:cubicBezTo>
                  <a:cubicBezTo>
                    <a:pt x="121" y="565"/>
                    <a:pt x="25" y="802"/>
                    <a:pt x="115" y="850"/>
                  </a:cubicBezTo>
                  <a:cubicBezTo>
                    <a:pt x="205" y="898"/>
                    <a:pt x="316" y="784"/>
                    <a:pt x="662" y="721"/>
                  </a:cubicBezTo>
                  <a:cubicBezTo>
                    <a:pt x="1008" y="658"/>
                    <a:pt x="1961" y="544"/>
                    <a:pt x="2193" y="472"/>
                  </a:cubicBezTo>
                  <a:cubicBezTo>
                    <a:pt x="2425" y="400"/>
                    <a:pt x="2292" y="327"/>
                    <a:pt x="2056" y="2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7647"/>
                  </a:srgbClr>
                </a:gs>
                <a:gs pos="100000">
                  <a:srgbClr val="66C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29"/>
            <p:cNvSpPr txBox="1"/>
            <p:nvPr/>
          </p:nvSpPr>
          <p:spPr>
            <a:xfrm>
              <a:off x="4504384" y="3410471"/>
              <a:ext cx="1172116" cy="353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138.76.29.7</a:t>
              </a:r>
              <a:endParaRPr/>
            </a:p>
          </p:txBody>
        </p:sp>
        <p:cxnSp>
          <p:nvCxnSpPr>
            <p:cNvPr id="1507" name="Google Shape;1507;p29"/>
            <p:cNvCxnSpPr/>
            <p:nvPr/>
          </p:nvCxnSpPr>
          <p:spPr>
            <a:xfrm rot="10800000">
              <a:off x="5504641" y="3720817"/>
              <a:ext cx="4440" cy="356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1508" name="Google Shape;1508;p29"/>
            <p:cNvCxnSpPr/>
            <p:nvPr/>
          </p:nvCxnSpPr>
          <p:spPr>
            <a:xfrm>
              <a:off x="4749506" y="2735046"/>
              <a:ext cx="138588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9" name="Google Shape;1509;p29"/>
            <p:cNvCxnSpPr/>
            <p:nvPr/>
          </p:nvCxnSpPr>
          <p:spPr>
            <a:xfrm rot="10800000">
              <a:off x="2938169" y="2721792"/>
              <a:ext cx="8985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10" name="Google Shape;1510;p29"/>
            <p:cNvSpPr txBox="1"/>
            <p:nvPr/>
          </p:nvSpPr>
          <p:spPr>
            <a:xfrm>
              <a:off x="3829555" y="2486532"/>
              <a:ext cx="950901" cy="616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rest of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</a:t>
              </a:r>
              <a:endParaRPr/>
            </a:p>
          </p:txBody>
        </p:sp>
        <p:cxnSp>
          <p:nvCxnSpPr>
            <p:cNvPr id="1511" name="Google Shape;1511;p29"/>
            <p:cNvCxnSpPr/>
            <p:nvPr/>
          </p:nvCxnSpPr>
          <p:spPr>
            <a:xfrm>
              <a:off x="2743200" y="4135538"/>
              <a:ext cx="29437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12" name="Google Shape;1512;p29"/>
          <p:cNvGrpSpPr/>
          <p:nvPr/>
        </p:nvGrpSpPr>
        <p:grpSpPr>
          <a:xfrm>
            <a:off x="5685800" y="3913064"/>
            <a:ext cx="1040553" cy="449888"/>
            <a:chOff x="7493876" y="2774731"/>
            <a:chExt cx="1481958" cy="894622"/>
          </a:xfrm>
        </p:grpSpPr>
        <p:sp>
          <p:nvSpPr>
            <p:cNvPr id="1513" name="Google Shape;1513;p2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14" name="Google Shape;1514;p2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15" name="Google Shape;1515;p2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6" name="Google Shape;1516;p2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2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520" name="Google Shape;1520;p29"/>
          <p:cNvCxnSpPr/>
          <p:nvPr/>
        </p:nvCxnSpPr>
        <p:spPr>
          <a:xfrm>
            <a:off x="9757680" y="3564123"/>
            <a:ext cx="2935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1" name="Google Shape;1521;p29"/>
          <p:cNvCxnSpPr/>
          <p:nvPr/>
        </p:nvCxnSpPr>
        <p:spPr>
          <a:xfrm>
            <a:off x="9685290" y="4279842"/>
            <a:ext cx="2935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2" name="Google Shape;1522;p29"/>
          <p:cNvCxnSpPr/>
          <p:nvPr/>
        </p:nvCxnSpPr>
        <p:spPr>
          <a:xfrm>
            <a:off x="9704340" y="5027371"/>
            <a:ext cx="2935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3" name="Google Shape;1523;p29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NAT: network address translation</a:t>
            </a:r>
            <a:endParaRPr/>
          </a:p>
        </p:txBody>
      </p:sp>
      <p:grpSp>
        <p:nvGrpSpPr>
          <p:cNvPr id="1524" name="Google Shape;1524;p29"/>
          <p:cNvGrpSpPr/>
          <p:nvPr/>
        </p:nvGrpSpPr>
        <p:grpSpPr>
          <a:xfrm>
            <a:off x="6231591" y="4144216"/>
            <a:ext cx="5475817" cy="2433887"/>
            <a:chOff x="6191250" y="3243263"/>
            <a:chExt cx="5475817" cy="2433887"/>
          </a:xfrm>
        </p:grpSpPr>
        <p:sp>
          <p:nvSpPr>
            <p:cNvPr id="1525" name="Google Shape;1525;p29"/>
            <p:cNvSpPr txBox="1"/>
            <p:nvPr/>
          </p:nvSpPr>
          <p:spPr>
            <a:xfrm>
              <a:off x="6191250" y="4640263"/>
              <a:ext cx="5475817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datagrams with source or destination in this network have 10.0.0/24 address for  source, destination (as usual)</a:t>
              </a:r>
              <a:endParaRPr/>
            </a:p>
          </p:txBody>
        </p:sp>
        <p:cxnSp>
          <p:nvCxnSpPr>
            <p:cNvPr id="1526" name="Google Shape;1526;p29"/>
            <p:cNvCxnSpPr/>
            <p:nvPr/>
          </p:nvCxnSpPr>
          <p:spPr>
            <a:xfrm flipH="1" rot="10800000">
              <a:off x="6731530" y="3243263"/>
              <a:ext cx="668337" cy="14271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27" name="Google Shape;1527;p29"/>
          <p:cNvGrpSpPr/>
          <p:nvPr/>
        </p:nvGrpSpPr>
        <p:grpSpPr>
          <a:xfrm>
            <a:off x="380010" y="4107703"/>
            <a:ext cx="5528261" cy="2475162"/>
            <a:chOff x="339669" y="3206750"/>
            <a:chExt cx="5528261" cy="2475162"/>
          </a:xfrm>
        </p:grpSpPr>
        <p:sp>
          <p:nvSpPr>
            <p:cNvPr id="1528" name="Google Shape;1528;p29"/>
            <p:cNvSpPr txBox="1"/>
            <p:nvPr/>
          </p:nvSpPr>
          <p:spPr>
            <a:xfrm>
              <a:off x="339669" y="4645025"/>
              <a:ext cx="5528261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all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datagrams </a:t>
              </a: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leaving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local network have </a:t>
              </a: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same</a:t>
              </a: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 NAT IP address: 138.76.29.7,  but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source port numbers</a:t>
              </a:r>
              <a:endParaRPr/>
            </a:p>
          </p:txBody>
        </p:sp>
        <p:cxnSp>
          <p:nvCxnSpPr>
            <p:cNvPr id="1529" name="Google Shape;1529;p29"/>
            <p:cNvCxnSpPr/>
            <p:nvPr/>
          </p:nvCxnSpPr>
          <p:spPr>
            <a:xfrm flipH="1" rot="10800000">
              <a:off x="4620155" y="3206750"/>
              <a:ext cx="668337" cy="1427163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30" name="Google Shape;1530;p29"/>
          <p:cNvSpPr/>
          <p:nvPr/>
        </p:nvSpPr>
        <p:spPr>
          <a:xfrm>
            <a:off x="438310" y="1328747"/>
            <a:ext cx="11125200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397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NAT:</a:t>
            </a: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devices in local network share just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IPv4 address as far as outside world is concerned</a:t>
            </a:r>
            <a:endParaRPr/>
          </a:p>
        </p:txBody>
      </p:sp>
      <p:cxnSp>
        <p:nvCxnSpPr>
          <p:cNvPr id="1531" name="Google Shape;1531;p29"/>
          <p:cNvCxnSpPr/>
          <p:nvPr/>
        </p:nvCxnSpPr>
        <p:spPr>
          <a:xfrm>
            <a:off x="6743699" y="4124653"/>
            <a:ext cx="54889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30"/>
          <p:cNvSpPr txBox="1"/>
          <p:nvPr/>
        </p:nvSpPr>
        <p:spPr>
          <a:xfrm>
            <a:off x="475014" y="1411941"/>
            <a:ext cx="10603804" cy="5284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devices in local network have 32-bit addresses in a “private” IP address space (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10/8, 172.16/12, 192.168/16 prefixes) that can only be used in local network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advantages:</a:t>
            </a:r>
            <a:endParaRPr/>
          </a:p>
          <a:p>
            <a:pPr indent="-2905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IP address needed from provider ISP for </a:t>
            </a: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devices</a:t>
            </a:r>
            <a:endParaRPr/>
          </a:p>
          <a:p>
            <a:pPr indent="-2905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change addresses of host in local network without notifying outside world</a:t>
            </a:r>
            <a:endParaRPr/>
          </a:p>
          <a:p>
            <a:pPr indent="-2905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change ISP without changing addresses of devices in local network</a:t>
            </a:r>
            <a:endParaRPr/>
          </a:p>
          <a:p>
            <a:pPr indent="-290513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security: devices inside local net not directly addressable, visible by outside world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92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0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NAT: network address translation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31"/>
          <p:cNvSpPr txBox="1"/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implementation: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NAT router must (transparently):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3" lvl="1" marL="695325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outgoing datagrams: replace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(source IP address, port #) of every outgoing datagram to (NAT IP address, new port #)</a:t>
            </a:r>
            <a:endParaRPr/>
          </a:p>
          <a:p>
            <a:pPr indent="-287338" lvl="3" marL="1150938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clients/servers will respond using (NAT IP address, new port #) as destination address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remember (in NAT translation table)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(source IP address, port #)  to (NAT IP address, new port #) translation pair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incoming datagrams: replace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(NAT IP address, new port #) in destination fields of every incoming datagram with corresponding (source IP address, port #) stored in NAT table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1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NAT: network address translation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32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NAT: network address translation</a:t>
            </a:r>
            <a:endParaRPr/>
          </a:p>
        </p:txBody>
      </p:sp>
      <p:sp>
        <p:nvSpPr>
          <p:cNvPr id="1552" name="Google Shape;1552;p32"/>
          <p:cNvSpPr/>
          <p:nvPr/>
        </p:nvSpPr>
        <p:spPr>
          <a:xfrm>
            <a:off x="2061197" y="3850033"/>
            <a:ext cx="4089400" cy="1355725"/>
          </a:xfrm>
          <a:custGeom>
            <a:rect b="b" l="l" r="r" t="t"/>
            <a:pathLst>
              <a:path extrusionOk="0" h="854" w="2269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97647"/>
                </a:srgbClr>
              </a:gs>
              <a:gs pos="100000">
                <a:srgbClr val="66CC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2"/>
          <p:cNvSpPr/>
          <p:nvPr/>
        </p:nvSpPr>
        <p:spPr>
          <a:xfrm>
            <a:off x="6350622" y="3121371"/>
            <a:ext cx="3738562" cy="2697162"/>
          </a:xfrm>
          <a:custGeom>
            <a:rect b="b" l="l" r="r" t="t"/>
            <a:pathLst>
              <a:path extrusionOk="0" h="1699" w="2355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4" name="Google Shape;1554;p32"/>
          <p:cNvGrpSpPr/>
          <p:nvPr/>
        </p:nvGrpSpPr>
        <p:grpSpPr>
          <a:xfrm>
            <a:off x="7512672" y="3054696"/>
            <a:ext cx="1871662" cy="1033462"/>
            <a:chOff x="3550" y="2055"/>
            <a:chExt cx="1179" cy="651"/>
          </a:xfrm>
        </p:grpSpPr>
        <p:grpSp>
          <p:nvGrpSpPr>
            <p:cNvPr id="1555" name="Google Shape;1555;p32"/>
            <p:cNvGrpSpPr/>
            <p:nvPr/>
          </p:nvGrpSpPr>
          <p:grpSpPr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1556" name="Google Shape;1556;p32"/>
              <p:cNvSpPr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32"/>
              <p:cNvSpPr txBox="1"/>
              <p:nvPr/>
            </p:nvSpPr>
            <p:spPr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S: 10.0.0.1, 3345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D: 128.119.40.186, 80</a:t>
                </a:r>
                <a:endParaRPr/>
              </a:p>
            </p:txBody>
          </p:sp>
          <p:grpSp>
            <p:nvGrpSpPr>
              <p:cNvPr id="1558" name="Google Shape;1558;p32"/>
              <p:cNvGrpSpPr/>
              <p:nvPr/>
            </p:nvGrpSpPr>
            <p:grpSpPr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559" name="Google Shape;1559;p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560" name="Google Shape;1560;p32"/>
                <p:cNvCxnSpPr/>
                <p:nvPr/>
              </p:nvCxnSpPr>
              <p:spPr>
                <a:xfrm flipH="1">
                  <a:off x="5512" y="1608"/>
                  <a:ext cx="22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1" name="Google Shape;1561;p32"/>
                <p:cNvCxnSpPr/>
                <p:nvPr/>
              </p:nvCxnSpPr>
              <p:spPr>
                <a:xfrm flipH="1">
                  <a:off x="5536" y="1620"/>
                  <a:ext cx="20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62" name="Google Shape;1562;p32"/>
              <p:cNvGrpSpPr/>
              <p:nvPr/>
            </p:nvGrpSpPr>
            <p:grpSpPr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563" name="Google Shape;1563;p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564" name="Google Shape;1564;p32"/>
                <p:cNvCxnSpPr/>
                <p:nvPr/>
              </p:nvCxnSpPr>
              <p:spPr>
                <a:xfrm flipH="1">
                  <a:off x="5512" y="1608"/>
                  <a:ext cx="22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5" name="Google Shape;1565;p32"/>
                <p:cNvCxnSpPr/>
                <p:nvPr/>
              </p:nvCxnSpPr>
              <p:spPr>
                <a:xfrm flipH="1">
                  <a:off x="5536" y="1620"/>
                  <a:ext cx="20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1566" name="Google Shape;1566;p32"/>
            <p:cNvSpPr/>
            <p:nvPr/>
          </p:nvSpPr>
          <p:spPr>
            <a:xfrm>
              <a:off x="3573" y="2364"/>
              <a:ext cx="564" cy="342"/>
            </a:xfrm>
            <a:custGeom>
              <a:rect b="b" l="l" r="r" t="t"/>
              <a:pathLst>
                <a:path extrusionOk="0" h="264" w="417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7" name="Google Shape;1567;p32"/>
            <p:cNvGrpSpPr/>
            <p:nvPr/>
          </p:nvGrpSpPr>
          <p:grpSpPr>
            <a:xfrm>
              <a:off x="4032" y="2416"/>
              <a:ext cx="218" cy="231"/>
              <a:chOff x="5140" y="400"/>
              <a:chExt cx="218" cy="231"/>
            </a:xfrm>
          </p:grpSpPr>
          <p:sp>
            <p:nvSpPr>
              <p:cNvPr id="1568" name="Google Shape;1568;p32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32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sp>
        <p:nvSpPr>
          <p:cNvPr id="1570" name="Google Shape;1570;p32"/>
          <p:cNvSpPr txBox="1"/>
          <p:nvPr/>
        </p:nvSpPr>
        <p:spPr>
          <a:xfrm>
            <a:off x="6542534" y="4036280"/>
            <a:ext cx="8595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10.0.0.4</a:t>
            </a:r>
            <a:endParaRPr/>
          </a:p>
        </p:txBody>
      </p:sp>
      <p:sp>
        <p:nvSpPr>
          <p:cNvPr id="1571" name="Google Shape;1571;p32"/>
          <p:cNvSpPr txBox="1"/>
          <p:nvPr/>
        </p:nvSpPr>
        <p:spPr>
          <a:xfrm>
            <a:off x="4572494" y="4525035"/>
            <a:ext cx="11721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138.76.29.7</a:t>
            </a:r>
            <a:endParaRPr/>
          </a:p>
        </p:txBody>
      </p:sp>
      <p:grpSp>
        <p:nvGrpSpPr>
          <p:cNvPr id="1572" name="Google Shape;1572;p32"/>
          <p:cNvGrpSpPr/>
          <p:nvPr/>
        </p:nvGrpSpPr>
        <p:grpSpPr>
          <a:xfrm>
            <a:off x="8350874" y="1768821"/>
            <a:ext cx="3351213" cy="1389062"/>
            <a:chOff x="3944" y="989"/>
            <a:chExt cx="2111" cy="875"/>
          </a:xfrm>
        </p:grpSpPr>
        <p:sp>
          <p:nvSpPr>
            <p:cNvPr id="1573" name="Google Shape;1573;p32"/>
            <p:cNvSpPr txBox="1"/>
            <p:nvPr/>
          </p:nvSpPr>
          <p:spPr>
            <a:xfrm>
              <a:off x="4121" y="989"/>
              <a:ext cx="1934" cy="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1: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host 10.0.0.1 sends datagram to 128.119.40.186, 80</a:t>
              </a:r>
              <a:endParaRPr/>
            </a:p>
          </p:txBody>
        </p:sp>
        <p:cxnSp>
          <p:nvCxnSpPr>
            <p:cNvPr id="1574" name="Google Shape;1574;p32"/>
            <p:cNvCxnSpPr/>
            <p:nvPr/>
          </p:nvCxnSpPr>
          <p:spPr>
            <a:xfrm flipH="1">
              <a:off x="3944" y="1105"/>
              <a:ext cx="197" cy="759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5" name="Google Shape;1575;p32"/>
          <p:cNvSpPr/>
          <p:nvPr/>
        </p:nvSpPr>
        <p:spPr>
          <a:xfrm>
            <a:off x="4226547" y="2826096"/>
            <a:ext cx="3862387" cy="1531937"/>
          </a:xfrm>
          <a:custGeom>
            <a:rect b="b" l="l" r="r" t="t"/>
            <a:pathLst>
              <a:path extrusionOk="0" h="965" w="2433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32"/>
          <p:cNvSpPr/>
          <p:nvPr/>
        </p:nvSpPr>
        <p:spPr>
          <a:xfrm>
            <a:off x="4226547" y="1573558"/>
            <a:ext cx="3784600" cy="13541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2"/>
          <p:cNvSpPr txBox="1"/>
          <p:nvPr/>
        </p:nvSpPr>
        <p:spPr>
          <a:xfrm>
            <a:off x="4280166" y="1578252"/>
            <a:ext cx="365196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 translation table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 side addr        LAN side addr</a:t>
            </a:r>
            <a:endParaRPr/>
          </a:p>
        </p:txBody>
      </p:sp>
      <p:cxnSp>
        <p:nvCxnSpPr>
          <p:cNvPr id="1578" name="Google Shape;1578;p32"/>
          <p:cNvCxnSpPr/>
          <p:nvPr/>
        </p:nvCxnSpPr>
        <p:spPr>
          <a:xfrm flipH="1" rot="10800000">
            <a:off x="4226547" y="1946621"/>
            <a:ext cx="3790950" cy="111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32"/>
          <p:cNvCxnSpPr/>
          <p:nvPr/>
        </p:nvCxnSpPr>
        <p:spPr>
          <a:xfrm flipH="1" rot="10800000">
            <a:off x="4240834" y="2224433"/>
            <a:ext cx="3749675" cy="111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32"/>
          <p:cNvCxnSpPr/>
          <p:nvPr/>
        </p:nvCxnSpPr>
        <p:spPr>
          <a:xfrm>
            <a:off x="6350622" y="1968846"/>
            <a:ext cx="3175" cy="9556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1" name="Google Shape;1581;p32"/>
          <p:cNvSpPr txBox="1"/>
          <p:nvPr/>
        </p:nvSpPr>
        <p:spPr>
          <a:xfrm>
            <a:off x="4450607" y="2243483"/>
            <a:ext cx="33682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138.76.29.7, 5001   10.0.0.1, 3345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……                                         ……</a:t>
            </a:r>
            <a:endParaRPr/>
          </a:p>
        </p:txBody>
      </p:sp>
      <p:grpSp>
        <p:nvGrpSpPr>
          <p:cNvPr id="1582" name="Google Shape;1582;p32"/>
          <p:cNvGrpSpPr/>
          <p:nvPr/>
        </p:nvGrpSpPr>
        <p:grpSpPr>
          <a:xfrm>
            <a:off x="6647484" y="3634133"/>
            <a:ext cx="2784475" cy="1638300"/>
            <a:chOff x="3002" y="2417"/>
            <a:chExt cx="1754" cy="1032"/>
          </a:xfrm>
        </p:grpSpPr>
        <p:sp>
          <p:nvSpPr>
            <p:cNvPr id="1583" name="Google Shape;1583;p32"/>
            <p:cNvSpPr/>
            <p:nvPr/>
          </p:nvSpPr>
          <p:spPr>
            <a:xfrm>
              <a:off x="3002" y="3051"/>
              <a:ext cx="1175" cy="2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32"/>
            <p:cNvSpPr txBox="1"/>
            <p:nvPr/>
          </p:nvSpPr>
          <p:spPr>
            <a:xfrm>
              <a:off x="3104" y="3042"/>
              <a:ext cx="1112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S: 128.119.40.186, 80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D: 10.0.0.1, 3345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85" name="Google Shape;1585;p32"/>
            <p:cNvGrpSpPr/>
            <p:nvPr/>
          </p:nvGrpSpPr>
          <p:grpSpPr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586" name="Google Shape;1586;p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87" name="Google Shape;1587;p32"/>
              <p:cNvCxnSpPr/>
              <p:nvPr/>
            </p:nvCxnSpPr>
            <p:spPr>
              <a:xfrm flipH="1">
                <a:off x="5512" y="1608"/>
                <a:ext cx="22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8" name="Google Shape;1588;p32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89" name="Google Shape;1589;p32"/>
            <p:cNvGrpSpPr/>
            <p:nvPr/>
          </p:nvGrpSpPr>
          <p:grpSpPr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1590" name="Google Shape;1590;p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91" name="Google Shape;1591;p32"/>
              <p:cNvCxnSpPr/>
              <p:nvPr/>
            </p:nvCxnSpPr>
            <p:spPr>
              <a:xfrm flipH="1">
                <a:off x="5512" y="1608"/>
                <a:ext cx="22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2" name="Google Shape;1592;p32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93" name="Google Shape;1593;p32"/>
            <p:cNvSpPr/>
            <p:nvPr/>
          </p:nvSpPr>
          <p:spPr>
            <a:xfrm>
              <a:off x="4179" y="2417"/>
              <a:ext cx="577" cy="768"/>
            </a:xfrm>
            <a:custGeom>
              <a:rect b="b" l="l" r="r" t="t"/>
              <a:pathLst>
                <a:path extrusionOk="0" h="768" w="577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94" name="Google Shape;1594;p32"/>
            <p:cNvGrpSpPr/>
            <p:nvPr/>
          </p:nvGrpSpPr>
          <p:grpSpPr>
            <a:xfrm>
              <a:off x="4240" y="3061"/>
              <a:ext cx="218" cy="231"/>
              <a:chOff x="5140" y="400"/>
              <a:chExt cx="218" cy="231"/>
            </a:xfrm>
          </p:grpSpPr>
          <p:sp>
            <p:nvSpPr>
              <p:cNvPr id="1595" name="Google Shape;1595;p32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32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1597" name="Google Shape;1597;p32"/>
          <p:cNvGrpSpPr/>
          <p:nvPr/>
        </p:nvGrpSpPr>
        <p:grpSpPr>
          <a:xfrm>
            <a:off x="3413747" y="3851621"/>
            <a:ext cx="2497137" cy="566737"/>
            <a:chOff x="1026" y="3559"/>
            <a:chExt cx="1573" cy="357"/>
          </a:xfrm>
        </p:grpSpPr>
        <p:grpSp>
          <p:nvGrpSpPr>
            <p:cNvPr id="1598" name="Google Shape;1598;p32"/>
            <p:cNvGrpSpPr/>
            <p:nvPr/>
          </p:nvGrpSpPr>
          <p:grpSpPr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599" name="Google Shape;1599;p32"/>
              <p:cNvSpPr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32"/>
              <p:cNvSpPr txBox="1"/>
              <p:nvPr/>
            </p:nvSpPr>
            <p:spPr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S: 138.76.29.7, 5001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D: 128.119.40.186, 80</a:t>
                </a:r>
                <a:endParaRPr/>
              </a:p>
            </p:txBody>
          </p:sp>
          <p:grpSp>
            <p:nvGrpSpPr>
              <p:cNvPr id="1601" name="Google Shape;1601;p32"/>
              <p:cNvGrpSpPr/>
              <p:nvPr/>
            </p:nvGrpSpPr>
            <p:grpSpPr>
              <a:xfrm>
                <a:off x="5394" y="786"/>
                <a:ext cx="49" cy="99"/>
                <a:chOff x="5508" y="1599"/>
                <a:chExt cx="49" cy="99"/>
              </a:xfrm>
            </p:grpSpPr>
            <p:sp>
              <p:nvSpPr>
                <p:cNvPr id="1602" name="Google Shape;1602;p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603" name="Google Shape;1603;p32"/>
                <p:cNvCxnSpPr/>
                <p:nvPr/>
              </p:nvCxnSpPr>
              <p:spPr>
                <a:xfrm flipH="1">
                  <a:off x="5512" y="1608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04" name="Google Shape;1604;p32"/>
                <p:cNvCxnSpPr/>
                <p:nvPr/>
              </p:nvCxnSpPr>
              <p:spPr>
                <a:xfrm flipH="1">
                  <a:off x="5536" y="1620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05" name="Google Shape;1605;p32"/>
              <p:cNvGrpSpPr/>
              <p:nvPr/>
            </p:nvGrpSpPr>
            <p:grpSpPr>
              <a:xfrm>
                <a:off x="5382" y="1044"/>
                <a:ext cx="49" cy="99"/>
                <a:chOff x="5508" y="1599"/>
                <a:chExt cx="49" cy="99"/>
              </a:xfrm>
            </p:grpSpPr>
            <p:sp>
              <p:nvSpPr>
                <p:cNvPr id="1606" name="Google Shape;1606;p32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607" name="Google Shape;1607;p32"/>
                <p:cNvCxnSpPr/>
                <p:nvPr/>
              </p:nvCxnSpPr>
              <p:spPr>
                <a:xfrm flipH="1">
                  <a:off x="5510" y="1608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08" name="Google Shape;1608;p32"/>
                <p:cNvCxnSpPr/>
                <p:nvPr/>
              </p:nvCxnSpPr>
              <p:spPr>
                <a:xfrm flipH="1">
                  <a:off x="5536" y="1620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cxnSp>
          <p:nvCxnSpPr>
            <p:cNvPr id="1609" name="Google Shape;1609;p32"/>
            <p:cNvCxnSpPr/>
            <p:nvPr/>
          </p:nvCxnSpPr>
          <p:spPr>
            <a:xfrm rot="10800000">
              <a:off x="1026" y="3729"/>
              <a:ext cx="376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10" name="Google Shape;1610;p32"/>
            <p:cNvGrpSpPr/>
            <p:nvPr/>
          </p:nvGrpSpPr>
          <p:grpSpPr>
            <a:xfrm>
              <a:off x="1143" y="3613"/>
              <a:ext cx="218" cy="231"/>
              <a:chOff x="5140" y="400"/>
              <a:chExt cx="218" cy="231"/>
            </a:xfrm>
          </p:grpSpPr>
          <p:sp>
            <p:nvSpPr>
              <p:cNvPr id="1611" name="Google Shape;1611;p32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32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613" name="Google Shape;1613;p32"/>
          <p:cNvGrpSpPr/>
          <p:nvPr/>
        </p:nvGrpSpPr>
        <p:grpSpPr>
          <a:xfrm>
            <a:off x="570534" y="1870421"/>
            <a:ext cx="6465888" cy="2052637"/>
            <a:chOff x="-826" y="1306"/>
            <a:chExt cx="4073" cy="1293"/>
          </a:xfrm>
        </p:grpSpPr>
        <p:sp>
          <p:nvSpPr>
            <p:cNvPr id="1614" name="Google Shape;1614;p32"/>
            <p:cNvSpPr txBox="1"/>
            <p:nvPr/>
          </p:nvSpPr>
          <p:spPr>
            <a:xfrm>
              <a:off x="-826" y="1306"/>
              <a:ext cx="1986" cy="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2: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NAT router changes datagram source address from 10.0.0.1, 3345 to 138.76.29.7, 5001,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updates table</a:t>
              </a:r>
              <a:endParaRPr b="0" i="0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15" name="Google Shape;1615;p32"/>
            <p:cNvCxnSpPr/>
            <p:nvPr/>
          </p:nvCxnSpPr>
          <p:spPr>
            <a:xfrm>
              <a:off x="1285" y="2243"/>
              <a:ext cx="147" cy="35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6" name="Google Shape;1616;p32"/>
            <p:cNvCxnSpPr/>
            <p:nvPr/>
          </p:nvCxnSpPr>
          <p:spPr>
            <a:xfrm flipH="1" rot="10800000">
              <a:off x="1275" y="1788"/>
              <a:ext cx="663" cy="45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7" name="Google Shape;1617;p32"/>
            <p:cNvCxnSpPr/>
            <p:nvPr/>
          </p:nvCxnSpPr>
          <p:spPr>
            <a:xfrm flipH="1" rot="10800000">
              <a:off x="1275" y="1751"/>
              <a:ext cx="1972" cy="491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18" name="Google Shape;1618;p32"/>
          <p:cNvGrpSpPr/>
          <p:nvPr/>
        </p:nvGrpSpPr>
        <p:grpSpPr>
          <a:xfrm>
            <a:off x="3242297" y="4880321"/>
            <a:ext cx="2471737" cy="703262"/>
            <a:chOff x="1163" y="3752"/>
            <a:chExt cx="1557" cy="443"/>
          </a:xfrm>
        </p:grpSpPr>
        <p:sp>
          <p:nvSpPr>
            <p:cNvPr id="1619" name="Google Shape;1619;p32"/>
            <p:cNvSpPr/>
            <p:nvPr/>
          </p:nvSpPr>
          <p:spPr>
            <a:xfrm>
              <a:off x="1163" y="3796"/>
              <a:ext cx="1183" cy="2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32"/>
            <p:cNvSpPr txBox="1"/>
            <p:nvPr/>
          </p:nvSpPr>
          <p:spPr>
            <a:xfrm>
              <a:off x="1281" y="3788"/>
              <a:ext cx="112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S: 128.119.40.186, 80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D: 138.76.29.7, 5001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21" name="Google Shape;1621;p32"/>
            <p:cNvGrpSpPr/>
            <p:nvPr/>
          </p:nvGrpSpPr>
          <p:grpSpPr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1622" name="Google Shape;1622;p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23" name="Google Shape;1623;p32"/>
              <p:cNvCxnSpPr/>
              <p:nvPr/>
            </p:nvCxnSpPr>
            <p:spPr>
              <a:xfrm flipH="1">
                <a:off x="5512" y="1608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4" name="Google Shape;1624;p32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25" name="Google Shape;1625;p32"/>
            <p:cNvGrpSpPr/>
            <p:nvPr/>
          </p:nvGrpSpPr>
          <p:grpSpPr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27" name="Google Shape;1627;p32"/>
              <p:cNvCxnSpPr/>
              <p:nvPr/>
            </p:nvCxnSpPr>
            <p:spPr>
              <a:xfrm flipH="1">
                <a:off x="5512" y="1608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8" name="Google Shape;1628;p32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629" name="Google Shape;1629;p32"/>
            <p:cNvCxnSpPr/>
            <p:nvPr/>
          </p:nvCxnSpPr>
          <p:spPr>
            <a:xfrm rot="10800000">
              <a:off x="2344" y="3931"/>
              <a:ext cx="376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1630" name="Google Shape;1630;p32"/>
            <p:cNvGrpSpPr/>
            <p:nvPr/>
          </p:nvGrpSpPr>
          <p:grpSpPr>
            <a:xfrm>
              <a:off x="2409" y="3815"/>
              <a:ext cx="218" cy="231"/>
              <a:chOff x="5140" y="400"/>
              <a:chExt cx="218" cy="231"/>
            </a:xfrm>
          </p:grpSpPr>
          <p:sp>
            <p:nvSpPr>
              <p:cNvPr id="1631" name="Google Shape;1631;p32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32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sp>
        <p:nvSpPr>
          <p:cNvPr id="1633" name="Google Shape;1633;p32"/>
          <p:cNvSpPr txBox="1"/>
          <p:nvPr/>
        </p:nvSpPr>
        <p:spPr>
          <a:xfrm>
            <a:off x="3146424" y="5435532"/>
            <a:ext cx="3559175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3: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reply arrives, dest</a:t>
            </a:r>
            <a:r>
              <a:rPr lang="en-US" sz="2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ination</a:t>
            </a: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address: 138.76.29.7, 5001</a:t>
            </a:r>
            <a:endParaRPr/>
          </a:p>
        </p:txBody>
      </p:sp>
      <p:sp>
        <p:nvSpPr>
          <p:cNvPr id="1634" name="Google Shape;1634;p32"/>
          <p:cNvSpPr txBox="1"/>
          <p:nvPr/>
        </p:nvSpPr>
        <p:spPr>
          <a:xfrm>
            <a:off x="9442128" y="3445831"/>
            <a:ext cx="8595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10.0.0.1</a:t>
            </a:r>
            <a:endParaRPr/>
          </a:p>
        </p:txBody>
      </p:sp>
      <p:sp>
        <p:nvSpPr>
          <p:cNvPr id="1635" name="Google Shape;1635;p32"/>
          <p:cNvSpPr txBox="1"/>
          <p:nvPr/>
        </p:nvSpPr>
        <p:spPr>
          <a:xfrm>
            <a:off x="9387377" y="4139110"/>
            <a:ext cx="8595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10.0.0.2</a:t>
            </a:r>
            <a:endParaRPr/>
          </a:p>
        </p:txBody>
      </p:sp>
      <p:sp>
        <p:nvSpPr>
          <p:cNvPr id="1636" name="Google Shape;1636;p32"/>
          <p:cNvSpPr txBox="1"/>
          <p:nvPr/>
        </p:nvSpPr>
        <p:spPr>
          <a:xfrm>
            <a:off x="9361024" y="4861740"/>
            <a:ext cx="8595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10.0.0.3</a:t>
            </a:r>
            <a:endParaRPr/>
          </a:p>
        </p:txBody>
      </p:sp>
      <p:grpSp>
        <p:nvGrpSpPr>
          <p:cNvPr id="1637" name="Google Shape;1637;p32"/>
          <p:cNvGrpSpPr/>
          <p:nvPr/>
        </p:nvGrpSpPr>
        <p:grpSpPr>
          <a:xfrm flipH="1">
            <a:off x="10194143" y="3285987"/>
            <a:ext cx="641350" cy="558800"/>
            <a:chOff x="-44" y="1473"/>
            <a:chExt cx="981" cy="1105"/>
          </a:xfrm>
        </p:grpSpPr>
        <p:pic>
          <p:nvPicPr>
            <p:cNvPr descr="desktop_computer_stylized_medium" id="1638" name="Google Shape;163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9" name="Google Shape;1639;p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0" name="Google Shape;1640;p32"/>
          <p:cNvGrpSpPr/>
          <p:nvPr/>
        </p:nvGrpSpPr>
        <p:grpSpPr>
          <a:xfrm flipH="1">
            <a:off x="10120943" y="3976903"/>
            <a:ext cx="641350" cy="558800"/>
            <a:chOff x="-44" y="1473"/>
            <a:chExt cx="981" cy="1105"/>
          </a:xfrm>
        </p:grpSpPr>
        <p:pic>
          <p:nvPicPr>
            <p:cNvPr descr="desktop_computer_stylized_medium" id="1641" name="Google Shape;1641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2" name="Google Shape;1642;p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3" name="Google Shape;1643;p32"/>
          <p:cNvGrpSpPr/>
          <p:nvPr/>
        </p:nvGrpSpPr>
        <p:grpSpPr>
          <a:xfrm flipH="1">
            <a:off x="10140169" y="4685809"/>
            <a:ext cx="641350" cy="558800"/>
            <a:chOff x="-44" y="1473"/>
            <a:chExt cx="981" cy="1105"/>
          </a:xfrm>
        </p:grpSpPr>
        <p:pic>
          <p:nvPicPr>
            <p:cNvPr descr="desktop_computer_stylized_medium" id="1644" name="Google Shape;164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5" name="Google Shape;1645;p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46" name="Google Shape;1646;p32"/>
          <p:cNvCxnSpPr/>
          <p:nvPr/>
        </p:nvCxnSpPr>
        <p:spPr>
          <a:xfrm>
            <a:off x="9963568" y="3732745"/>
            <a:ext cx="2935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7" name="Google Shape;1647;p32"/>
          <p:cNvCxnSpPr/>
          <p:nvPr/>
        </p:nvCxnSpPr>
        <p:spPr>
          <a:xfrm>
            <a:off x="9891178" y="4418545"/>
            <a:ext cx="2935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8" name="Google Shape;1648;p32"/>
          <p:cNvCxnSpPr/>
          <p:nvPr/>
        </p:nvCxnSpPr>
        <p:spPr>
          <a:xfrm>
            <a:off x="9910228" y="5134825"/>
            <a:ext cx="2935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49" name="Google Shape;1649;p32"/>
          <p:cNvGrpSpPr/>
          <p:nvPr/>
        </p:nvGrpSpPr>
        <p:grpSpPr>
          <a:xfrm>
            <a:off x="3937552" y="4333461"/>
            <a:ext cx="3034748" cy="304800"/>
            <a:chOff x="2454675" y="2927412"/>
            <a:chExt cx="4705166" cy="431082"/>
          </a:xfrm>
        </p:grpSpPr>
        <p:cxnSp>
          <p:nvCxnSpPr>
            <p:cNvPr id="1650" name="Google Shape;1650;p32"/>
            <p:cNvCxnSpPr/>
            <p:nvPr/>
          </p:nvCxnSpPr>
          <p:spPr>
            <a:xfrm>
              <a:off x="2454675" y="3124940"/>
              <a:ext cx="4705166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651" name="Google Shape;1651;p32"/>
            <p:cNvGrpSpPr/>
            <p:nvPr/>
          </p:nvGrpSpPr>
          <p:grpSpPr>
            <a:xfrm>
              <a:off x="5427861" y="2927412"/>
              <a:ext cx="1040553" cy="431082"/>
              <a:chOff x="7493876" y="2774731"/>
              <a:chExt cx="1481958" cy="894622"/>
            </a:xfrm>
          </p:grpSpPr>
          <p:sp>
            <p:nvSpPr>
              <p:cNvPr id="1652" name="Google Shape;1652;p3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54" name="Google Shape;1654;p3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55" name="Google Shape;1655;p3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6" name="Google Shape;1656;p3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7" name="Google Shape;1657;p3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8" name="Google Shape;1658;p3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cxnSp>
        <p:nvCxnSpPr>
          <p:cNvPr id="1659" name="Google Shape;1659;p32"/>
          <p:cNvCxnSpPr/>
          <p:nvPr/>
        </p:nvCxnSpPr>
        <p:spPr>
          <a:xfrm rot="10800000">
            <a:off x="5701553" y="4503542"/>
            <a:ext cx="0" cy="27383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0" name="Google Shape;1660;p32"/>
          <p:cNvCxnSpPr/>
          <p:nvPr/>
        </p:nvCxnSpPr>
        <p:spPr>
          <a:xfrm>
            <a:off x="6577649" y="4166958"/>
            <a:ext cx="0" cy="27383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33"/>
          <p:cNvSpPr txBox="1"/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471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 has been controversial: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 “should” only process up to layer 3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 “shortage” should be solved by IPv6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violates end-to-end argument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(port # manipulation by network-layer device)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 traversal: what if client wants to connect to server behind NAT?</a:t>
            </a:r>
            <a:endParaRPr/>
          </a:p>
          <a:p>
            <a:pPr indent="-341313" lvl="0" marL="47148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NAT is here to stay: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extensively used in home and institutional nets, 4G/5G cellular  nets</a:t>
            </a:r>
            <a:endParaRPr/>
          </a:p>
        </p:txBody>
      </p:sp>
      <p:sp>
        <p:nvSpPr>
          <p:cNvPr id="1667" name="Google Shape;1667;p33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NAT: network address translation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34"/>
          <p:cNvSpPr txBox="1"/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4714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initial motivation: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32-bit IPv4 address space 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would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 completely allocated  </a:t>
            </a:r>
            <a:endParaRPr/>
          </a:p>
          <a:p>
            <a:pPr indent="-341313" lvl="0" marL="471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 motivation: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 processing/forwarding: 40-byte fixed length header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 different network-layer treatment of “flows”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4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IPv6: motivation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35"/>
          <p:cNvSpPr txBox="1"/>
          <p:nvPr>
            <p:ph type="title"/>
          </p:nvPr>
        </p:nvSpPr>
        <p:spPr>
          <a:xfrm>
            <a:off x="703288" y="281163"/>
            <a:ext cx="10515600" cy="1067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IPv6 datagram format</a:t>
            </a:r>
            <a:endParaRPr/>
          </a:p>
        </p:txBody>
      </p:sp>
      <p:sp>
        <p:nvSpPr>
          <p:cNvPr id="1681" name="Google Shape;1681;p35"/>
          <p:cNvSpPr/>
          <p:nvPr/>
        </p:nvSpPr>
        <p:spPr>
          <a:xfrm>
            <a:off x="3731801" y="2152167"/>
            <a:ext cx="4748212" cy="2817812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A3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2" name="Google Shape;1682;p35"/>
          <p:cNvCxnSpPr/>
          <p:nvPr/>
        </p:nvCxnSpPr>
        <p:spPr>
          <a:xfrm>
            <a:off x="3733388" y="2461729"/>
            <a:ext cx="472757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35"/>
          <p:cNvCxnSpPr/>
          <p:nvPr/>
        </p:nvCxnSpPr>
        <p:spPr>
          <a:xfrm>
            <a:off x="4384263" y="2161692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4" name="Google Shape;1684;p35"/>
          <p:cNvCxnSpPr/>
          <p:nvPr/>
        </p:nvCxnSpPr>
        <p:spPr>
          <a:xfrm>
            <a:off x="5073238" y="2158517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5" name="Google Shape;1685;p35"/>
          <p:cNvCxnSpPr/>
          <p:nvPr/>
        </p:nvCxnSpPr>
        <p:spPr>
          <a:xfrm>
            <a:off x="6000338" y="2456967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6" name="Google Shape;1686;p35"/>
          <p:cNvCxnSpPr/>
          <p:nvPr/>
        </p:nvCxnSpPr>
        <p:spPr>
          <a:xfrm>
            <a:off x="7146513" y="2460142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7" name="Google Shape;1687;p35"/>
          <p:cNvCxnSpPr/>
          <p:nvPr/>
        </p:nvCxnSpPr>
        <p:spPr>
          <a:xfrm>
            <a:off x="3720688" y="3982554"/>
            <a:ext cx="476091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8" name="Google Shape;1688;p35"/>
          <p:cNvCxnSpPr/>
          <p:nvPr/>
        </p:nvCxnSpPr>
        <p:spPr>
          <a:xfrm>
            <a:off x="3738151" y="3342792"/>
            <a:ext cx="476091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35"/>
          <p:cNvCxnSpPr/>
          <p:nvPr/>
        </p:nvCxnSpPr>
        <p:spPr>
          <a:xfrm>
            <a:off x="3723863" y="2760179"/>
            <a:ext cx="476091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0" name="Google Shape;1690;p35"/>
          <p:cNvSpPr txBox="1"/>
          <p:nvPr/>
        </p:nvSpPr>
        <p:spPr>
          <a:xfrm>
            <a:off x="5234225" y="4260919"/>
            <a:ext cx="17235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payload (data)</a:t>
            </a:r>
            <a:endParaRPr/>
          </a:p>
        </p:txBody>
      </p:sp>
      <p:sp>
        <p:nvSpPr>
          <p:cNvPr id="1691" name="Google Shape;1691;p35"/>
          <p:cNvSpPr txBox="1"/>
          <p:nvPr/>
        </p:nvSpPr>
        <p:spPr>
          <a:xfrm>
            <a:off x="4968463" y="3385654"/>
            <a:ext cx="21653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destination address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(128 bits)</a:t>
            </a:r>
            <a:endParaRPr/>
          </a:p>
        </p:txBody>
      </p:sp>
      <p:sp>
        <p:nvSpPr>
          <p:cNvPr id="1692" name="Google Shape;1692;p35"/>
          <p:cNvSpPr txBox="1"/>
          <p:nvPr/>
        </p:nvSpPr>
        <p:spPr>
          <a:xfrm>
            <a:off x="5133563" y="2779229"/>
            <a:ext cx="17462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address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(128 bits)</a:t>
            </a:r>
            <a:endParaRPr/>
          </a:p>
        </p:txBody>
      </p:sp>
      <p:sp>
        <p:nvSpPr>
          <p:cNvPr id="1693" name="Google Shape;1693;p35"/>
          <p:cNvSpPr txBox="1"/>
          <p:nvPr/>
        </p:nvSpPr>
        <p:spPr>
          <a:xfrm>
            <a:off x="4217576" y="2426804"/>
            <a:ext cx="13525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payload len</a:t>
            </a:r>
            <a:endParaRPr/>
          </a:p>
        </p:txBody>
      </p:sp>
      <p:sp>
        <p:nvSpPr>
          <p:cNvPr id="1694" name="Google Shape;1694;p35"/>
          <p:cNvSpPr txBox="1"/>
          <p:nvPr/>
        </p:nvSpPr>
        <p:spPr>
          <a:xfrm>
            <a:off x="5998751" y="2434742"/>
            <a:ext cx="1009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hdr</a:t>
            </a:r>
            <a:endParaRPr/>
          </a:p>
        </p:txBody>
      </p:sp>
      <p:sp>
        <p:nvSpPr>
          <p:cNvPr id="1695" name="Google Shape;1695;p35"/>
          <p:cNvSpPr txBox="1"/>
          <p:nvPr/>
        </p:nvSpPr>
        <p:spPr>
          <a:xfrm>
            <a:off x="7254463" y="2420454"/>
            <a:ext cx="1035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hop limit</a:t>
            </a:r>
            <a:endParaRPr/>
          </a:p>
        </p:txBody>
      </p:sp>
      <p:sp>
        <p:nvSpPr>
          <p:cNvPr id="1696" name="Google Shape;1696;p35"/>
          <p:cNvSpPr txBox="1"/>
          <p:nvPr/>
        </p:nvSpPr>
        <p:spPr>
          <a:xfrm>
            <a:off x="6124163" y="2126767"/>
            <a:ext cx="1136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label</a:t>
            </a:r>
            <a:endParaRPr/>
          </a:p>
        </p:txBody>
      </p:sp>
      <p:sp>
        <p:nvSpPr>
          <p:cNvPr id="1697" name="Google Shape;1697;p35"/>
          <p:cNvSpPr txBox="1"/>
          <p:nvPr/>
        </p:nvSpPr>
        <p:spPr>
          <a:xfrm>
            <a:off x="4503326" y="2112479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</a:t>
            </a:r>
            <a:endParaRPr/>
          </a:p>
        </p:txBody>
      </p:sp>
      <p:sp>
        <p:nvSpPr>
          <p:cNvPr id="1698" name="Google Shape;1698;p35"/>
          <p:cNvSpPr txBox="1"/>
          <p:nvPr/>
        </p:nvSpPr>
        <p:spPr>
          <a:xfrm>
            <a:off x="3796888" y="2120417"/>
            <a:ext cx="501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endParaRPr/>
          </a:p>
        </p:txBody>
      </p:sp>
      <p:cxnSp>
        <p:nvCxnSpPr>
          <p:cNvPr id="1699" name="Google Shape;1699;p35"/>
          <p:cNvCxnSpPr/>
          <p:nvPr/>
        </p:nvCxnSpPr>
        <p:spPr>
          <a:xfrm>
            <a:off x="3696324" y="1921565"/>
            <a:ext cx="4816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0" name="Google Shape;1700;p35"/>
          <p:cNvSpPr txBox="1"/>
          <p:nvPr/>
        </p:nvSpPr>
        <p:spPr>
          <a:xfrm>
            <a:off x="5555286" y="1731065"/>
            <a:ext cx="864339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 bits</a:t>
            </a:r>
            <a:endParaRPr/>
          </a:p>
        </p:txBody>
      </p:sp>
      <p:grpSp>
        <p:nvGrpSpPr>
          <p:cNvPr id="1701" name="Google Shape;1701;p35"/>
          <p:cNvGrpSpPr/>
          <p:nvPr/>
        </p:nvGrpSpPr>
        <p:grpSpPr>
          <a:xfrm>
            <a:off x="159026" y="1902722"/>
            <a:ext cx="4399722" cy="1089529"/>
            <a:chOff x="159026" y="1902722"/>
            <a:chExt cx="4399722" cy="1089529"/>
          </a:xfrm>
        </p:grpSpPr>
        <p:sp>
          <p:nvSpPr>
            <p:cNvPr id="1702" name="Google Shape;1702;p35"/>
            <p:cNvSpPr/>
            <p:nvPr/>
          </p:nvSpPr>
          <p:spPr>
            <a:xfrm>
              <a:off x="159026" y="1902722"/>
              <a:ext cx="3072157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priority: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identify priority among datagrams in flow</a:t>
              </a:r>
              <a:endParaRPr/>
            </a:p>
          </p:txBody>
        </p:sp>
        <p:cxnSp>
          <p:nvCxnSpPr>
            <p:cNvPr id="1703" name="Google Shape;1703;p35"/>
            <p:cNvCxnSpPr/>
            <p:nvPr/>
          </p:nvCxnSpPr>
          <p:spPr>
            <a:xfrm>
              <a:off x="3299791" y="2398643"/>
              <a:ext cx="1258957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04" name="Google Shape;1704;p35"/>
          <p:cNvGrpSpPr/>
          <p:nvPr/>
        </p:nvGrpSpPr>
        <p:grpSpPr>
          <a:xfrm>
            <a:off x="7480852" y="1426988"/>
            <a:ext cx="4499112" cy="1421928"/>
            <a:chOff x="7480852" y="1426988"/>
            <a:chExt cx="4499112" cy="1421928"/>
          </a:xfrm>
        </p:grpSpPr>
        <p:sp>
          <p:nvSpPr>
            <p:cNvPr id="1705" name="Google Shape;1705;p35"/>
            <p:cNvSpPr/>
            <p:nvPr/>
          </p:nvSpPr>
          <p:spPr>
            <a:xfrm>
              <a:off x="8742156" y="1426988"/>
              <a:ext cx="3237808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flow label: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identify datagrams in same "flow.” (concept of “flow” not well defined).</a:t>
              </a:r>
              <a:endParaRPr/>
            </a:p>
          </p:txBody>
        </p:sp>
        <p:cxnSp>
          <p:nvCxnSpPr>
            <p:cNvPr id="1706" name="Google Shape;1706;p35"/>
            <p:cNvCxnSpPr/>
            <p:nvPr/>
          </p:nvCxnSpPr>
          <p:spPr>
            <a:xfrm>
              <a:off x="7480852" y="2325756"/>
              <a:ext cx="1258957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07" name="Google Shape;1707;p35"/>
          <p:cNvGrpSpPr/>
          <p:nvPr/>
        </p:nvGrpSpPr>
        <p:grpSpPr>
          <a:xfrm>
            <a:off x="0" y="2970865"/>
            <a:ext cx="4028661" cy="757130"/>
            <a:chOff x="0" y="2970865"/>
            <a:chExt cx="4028661" cy="757130"/>
          </a:xfrm>
        </p:grpSpPr>
        <p:sp>
          <p:nvSpPr>
            <p:cNvPr id="1708" name="Google Shape;1708;p35"/>
            <p:cNvSpPr/>
            <p:nvPr/>
          </p:nvSpPr>
          <p:spPr>
            <a:xfrm>
              <a:off x="0" y="2970865"/>
              <a:ext cx="323780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128-bit 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IPv6 addresses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09" name="Google Shape;1709;p35"/>
            <p:cNvCxnSpPr/>
            <p:nvPr/>
          </p:nvCxnSpPr>
          <p:spPr>
            <a:xfrm>
              <a:off x="3124200" y="3380098"/>
              <a:ext cx="904461" cy="304006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0" name="Google Shape;1710;p35"/>
            <p:cNvCxnSpPr/>
            <p:nvPr/>
          </p:nvCxnSpPr>
          <p:spPr>
            <a:xfrm flipH="1" rot="10800000">
              <a:off x="3124200" y="3055420"/>
              <a:ext cx="904461" cy="304006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11" name="Google Shape;1711;p35"/>
          <p:cNvSpPr txBox="1"/>
          <p:nvPr/>
        </p:nvSpPr>
        <p:spPr>
          <a:xfrm>
            <a:off x="1192696" y="5022574"/>
            <a:ext cx="897172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What’s missing (compared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 IPv4)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checksum (to speed processing at routers)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fragmentation/reassembly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options (available as upper-layer,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next-header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protocol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 router)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36"/>
          <p:cNvSpPr txBox="1"/>
          <p:nvPr>
            <p:ph idx="1" type="body"/>
          </p:nvPr>
        </p:nvSpPr>
        <p:spPr>
          <a:xfrm>
            <a:off x="838200" y="1379475"/>
            <a:ext cx="10515600" cy="1193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not all routers can be upgraded simultaneously</a:t>
            </a:r>
            <a:endParaRPr/>
          </a:p>
          <a:p>
            <a:pPr indent="-231775" lvl="1" marL="695325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no “flag days”</a:t>
            </a:r>
            <a:endParaRPr/>
          </a:p>
          <a:p>
            <a:pPr indent="-231775" lvl="1" marL="695325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how will network operate with mixed IPv4 and IPv6 routers? </a:t>
            </a:r>
            <a:endParaRPr/>
          </a:p>
        </p:txBody>
      </p:sp>
      <p:sp>
        <p:nvSpPr>
          <p:cNvPr id="1718" name="Google Shape;1718;p36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Transition from IPv4 to IPv6</a:t>
            </a:r>
            <a:endParaRPr/>
          </a:p>
        </p:txBody>
      </p:sp>
      <p:grpSp>
        <p:nvGrpSpPr>
          <p:cNvPr id="1719" name="Google Shape;1719;p36"/>
          <p:cNvGrpSpPr/>
          <p:nvPr/>
        </p:nvGrpSpPr>
        <p:grpSpPr>
          <a:xfrm>
            <a:off x="2588799" y="4315653"/>
            <a:ext cx="6629400" cy="2227263"/>
            <a:chOff x="2588799" y="4315653"/>
            <a:chExt cx="6629400" cy="2227263"/>
          </a:xfrm>
        </p:grpSpPr>
        <p:grpSp>
          <p:nvGrpSpPr>
            <p:cNvPr id="1720" name="Google Shape;1720;p36"/>
            <p:cNvGrpSpPr/>
            <p:nvPr/>
          </p:nvGrpSpPr>
          <p:grpSpPr>
            <a:xfrm>
              <a:off x="3387311" y="5349116"/>
              <a:ext cx="4854575" cy="473075"/>
              <a:chOff x="1163" y="3504"/>
              <a:chExt cx="3058" cy="298"/>
            </a:xfrm>
          </p:grpSpPr>
          <p:sp>
            <p:nvSpPr>
              <p:cNvPr id="1721" name="Google Shape;1721;p36"/>
              <p:cNvSpPr/>
              <p:nvPr/>
            </p:nvSpPr>
            <p:spPr>
              <a:xfrm>
                <a:off x="1163" y="3505"/>
                <a:ext cx="3058" cy="295"/>
              </a:xfrm>
              <a:prstGeom prst="rect">
                <a:avLst/>
              </a:prstGeom>
              <a:gradFill>
                <a:gsLst>
                  <a:gs pos="0">
                    <a:srgbClr val="CC0000">
                      <a:alpha val="40784"/>
                    </a:srgbClr>
                  </a:gs>
                  <a:gs pos="100000">
                    <a:srgbClr val="CC0000">
                      <a:alpha val="37647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22" name="Google Shape;1722;p36"/>
              <p:cNvCxnSpPr/>
              <p:nvPr/>
            </p:nvCxnSpPr>
            <p:spPr>
              <a:xfrm>
                <a:off x="2022" y="3504"/>
                <a:ext cx="0" cy="295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3" name="Google Shape;1723;p36"/>
              <p:cNvCxnSpPr/>
              <p:nvPr/>
            </p:nvCxnSpPr>
            <p:spPr>
              <a:xfrm>
                <a:off x="1781" y="3507"/>
                <a:ext cx="0" cy="295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4" name="Google Shape;1724;p36"/>
              <p:cNvCxnSpPr/>
              <p:nvPr/>
            </p:nvCxnSpPr>
            <p:spPr>
              <a:xfrm>
                <a:off x="1532" y="3504"/>
                <a:ext cx="0" cy="295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5" name="Google Shape;1725;p36"/>
              <p:cNvCxnSpPr/>
              <p:nvPr/>
            </p:nvCxnSpPr>
            <p:spPr>
              <a:xfrm>
                <a:off x="1187" y="3504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6" name="Google Shape;1726;p36"/>
              <p:cNvCxnSpPr/>
              <p:nvPr/>
            </p:nvCxnSpPr>
            <p:spPr>
              <a:xfrm>
                <a:off x="1187" y="3742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7" name="Google Shape;1727;p36"/>
              <p:cNvCxnSpPr/>
              <p:nvPr/>
            </p:nvCxnSpPr>
            <p:spPr>
              <a:xfrm>
                <a:off x="1283" y="3504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8" name="Google Shape;1728;p36"/>
              <p:cNvCxnSpPr/>
              <p:nvPr/>
            </p:nvCxnSpPr>
            <p:spPr>
              <a:xfrm>
                <a:off x="1283" y="3742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9" name="Google Shape;1729;p36"/>
              <p:cNvCxnSpPr/>
              <p:nvPr/>
            </p:nvCxnSpPr>
            <p:spPr>
              <a:xfrm>
                <a:off x="1379" y="3504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0" name="Google Shape;1730;p36"/>
              <p:cNvCxnSpPr/>
              <p:nvPr/>
            </p:nvCxnSpPr>
            <p:spPr>
              <a:xfrm>
                <a:off x="1379" y="3742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1" name="Google Shape;1731;p36"/>
              <p:cNvCxnSpPr/>
              <p:nvPr/>
            </p:nvCxnSpPr>
            <p:spPr>
              <a:xfrm>
                <a:off x="1475" y="3504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36"/>
              <p:cNvCxnSpPr/>
              <p:nvPr/>
            </p:nvCxnSpPr>
            <p:spPr>
              <a:xfrm>
                <a:off x="1475" y="3742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3" name="Google Shape;1733;p36"/>
              <p:cNvCxnSpPr/>
              <p:nvPr/>
            </p:nvCxnSpPr>
            <p:spPr>
              <a:xfrm>
                <a:off x="1327" y="3506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4" name="Google Shape;1734;p36"/>
              <p:cNvCxnSpPr/>
              <p:nvPr/>
            </p:nvCxnSpPr>
            <p:spPr>
              <a:xfrm>
                <a:off x="1327" y="3744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5" name="Google Shape;1735;p36"/>
              <p:cNvCxnSpPr/>
              <p:nvPr/>
            </p:nvCxnSpPr>
            <p:spPr>
              <a:xfrm>
                <a:off x="1213" y="3508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6" name="Google Shape;1736;p36"/>
              <p:cNvCxnSpPr/>
              <p:nvPr/>
            </p:nvCxnSpPr>
            <p:spPr>
              <a:xfrm>
                <a:off x="1213" y="3746"/>
                <a:ext cx="0" cy="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37" name="Google Shape;1737;p36"/>
            <p:cNvSpPr txBox="1"/>
            <p:nvPr/>
          </p:nvSpPr>
          <p:spPr>
            <a:xfrm>
              <a:off x="2882486" y="4547428"/>
              <a:ext cx="2006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IPv4 source, dest addr </a:t>
              </a:r>
              <a:endParaRPr/>
            </a:p>
          </p:txBody>
        </p:sp>
        <p:sp>
          <p:nvSpPr>
            <p:cNvPr id="1738" name="Google Shape;1738;p36"/>
            <p:cNvSpPr txBox="1"/>
            <p:nvPr/>
          </p:nvSpPr>
          <p:spPr>
            <a:xfrm>
              <a:off x="2588799" y="4315653"/>
              <a:ext cx="16525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IPv4 header fields </a:t>
              </a:r>
              <a:endParaRPr/>
            </a:p>
          </p:txBody>
        </p:sp>
        <p:cxnSp>
          <p:nvCxnSpPr>
            <p:cNvPr id="1739" name="Google Shape;1739;p36"/>
            <p:cNvCxnSpPr/>
            <p:nvPr/>
          </p:nvCxnSpPr>
          <p:spPr>
            <a:xfrm>
              <a:off x="4141374" y="4806191"/>
              <a:ext cx="0" cy="738187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0" name="Google Shape;1740;p36"/>
            <p:cNvCxnSpPr/>
            <p:nvPr/>
          </p:nvCxnSpPr>
          <p:spPr>
            <a:xfrm>
              <a:off x="4146136" y="4801428"/>
              <a:ext cx="381000" cy="738188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1" name="Google Shape;1741;p36"/>
            <p:cNvCxnSpPr/>
            <p:nvPr/>
          </p:nvCxnSpPr>
          <p:spPr>
            <a:xfrm>
              <a:off x="3546061" y="4558541"/>
              <a:ext cx="0" cy="97631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2" name="Google Shape;1742;p36"/>
            <p:cNvSpPr txBox="1"/>
            <p:nvPr/>
          </p:nvSpPr>
          <p:spPr>
            <a:xfrm>
              <a:off x="4949411" y="6176203"/>
              <a:ext cx="16700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IPv4 datagram</a:t>
              </a:r>
              <a:endParaRPr/>
            </a:p>
          </p:txBody>
        </p:sp>
        <p:cxnSp>
          <p:nvCxnSpPr>
            <p:cNvPr id="1743" name="Google Shape;1743;p36"/>
            <p:cNvCxnSpPr/>
            <p:nvPr/>
          </p:nvCxnSpPr>
          <p:spPr>
            <a:xfrm>
              <a:off x="6570249" y="6365116"/>
              <a:ext cx="16954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44" name="Google Shape;1744;p36"/>
            <p:cNvCxnSpPr/>
            <p:nvPr/>
          </p:nvCxnSpPr>
          <p:spPr>
            <a:xfrm rot="10800000">
              <a:off x="3380961" y="6365116"/>
              <a:ext cx="16065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5" name="Google Shape;1745;p36"/>
            <p:cNvSpPr txBox="1"/>
            <p:nvPr/>
          </p:nvSpPr>
          <p:spPr>
            <a:xfrm>
              <a:off x="5670136" y="5826953"/>
              <a:ext cx="16700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 datagram</a:t>
              </a:r>
              <a:endParaRPr/>
            </a:p>
          </p:txBody>
        </p:sp>
        <p:cxnSp>
          <p:nvCxnSpPr>
            <p:cNvPr id="1746" name="Google Shape;1746;p36"/>
            <p:cNvCxnSpPr/>
            <p:nvPr/>
          </p:nvCxnSpPr>
          <p:spPr>
            <a:xfrm>
              <a:off x="7306849" y="5996816"/>
              <a:ext cx="8572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47" name="Google Shape;1747;p36"/>
            <p:cNvCxnSpPr/>
            <p:nvPr/>
          </p:nvCxnSpPr>
          <p:spPr>
            <a:xfrm rot="10800000">
              <a:off x="4808124" y="5996816"/>
              <a:ext cx="92551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8" name="Google Shape;1748;p36"/>
            <p:cNvSpPr/>
            <p:nvPr/>
          </p:nvSpPr>
          <p:spPr>
            <a:xfrm>
              <a:off x="4776374" y="5384041"/>
              <a:ext cx="3422650" cy="40163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49" name="Google Shape;1749;p36"/>
            <p:cNvGrpSpPr/>
            <p:nvPr/>
          </p:nvGrpSpPr>
          <p:grpSpPr>
            <a:xfrm>
              <a:off x="5838411" y="4414078"/>
              <a:ext cx="3379788" cy="1109663"/>
              <a:chOff x="2868" y="2782"/>
              <a:chExt cx="2129" cy="699"/>
            </a:xfrm>
          </p:grpSpPr>
          <p:sp>
            <p:nvSpPr>
              <p:cNvPr id="1750" name="Google Shape;1750;p36"/>
              <p:cNvSpPr txBox="1"/>
              <p:nvPr/>
            </p:nvSpPr>
            <p:spPr>
              <a:xfrm>
                <a:off x="4204" y="2782"/>
                <a:ext cx="793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IPv4 payload </a:t>
                </a:r>
                <a:endParaRPr/>
              </a:p>
            </p:txBody>
          </p:sp>
          <p:cxnSp>
            <p:nvCxnSpPr>
              <p:cNvPr id="1751" name="Google Shape;1751;p36"/>
              <p:cNvCxnSpPr/>
              <p:nvPr/>
            </p:nvCxnSpPr>
            <p:spPr>
              <a:xfrm flipH="1">
                <a:off x="2868" y="2979"/>
                <a:ext cx="1532" cy="5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52" name="Google Shape;1752;p36"/>
          <p:cNvGrpSpPr/>
          <p:nvPr/>
        </p:nvGrpSpPr>
        <p:grpSpPr>
          <a:xfrm>
            <a:off x="4792249" y="4318828"/>
            <a:ext cx="3402012" cy="1476375"/>
            <a:chOff x="2280" y="1247"/>
            <a:chExt cx="2143" cy="930"/>
          </a:xfrm>
        </p:grpSpPr>
        <p:sp>
          <p:nvSpPr>
            <p:cNvPr id="1753" name="Google Shape;1753;p36"/>
            <p:cNvSpPr/>
            <p:nvPr/>
          </p:nvSpPr>
          <p:spPr>
            <a:xfrm>
              <a:off x="2280" y="1918"/>
              <a:ext cx="2143" cy="253"/>
            </a:xfrm>
            <a:prstGeom prst="rect">
              <a:avLst/>
            </a:prstGeom>
            <a:solidFill>
              <a:srgbClr val="66CC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4" name="Google Shape;1754;p36"/>
            <p:cNvCxnSpPr/>
            <p:nvPr/>
          </p:nvCxnSpPr>
          <p:spPr>
            <a:xfrm>
              <a:off x="2333" y="1918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5" name="Google Shape;1755;p36"/>
            <p:cNvCxnSpPr/>
            <p:nvPr/>
          </p:nvCxnSpPr>
          <p:spPr>
            <a:xfrm>
              <a:off x="2307" y="1917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6" name="Google Shape;1756;p36"/>
            <p:cNvCxnSpPr/>
            <p:nvPr/>
          </p:nvCxnSpPr>
          <p:spPr>
            <a:xfrm>
              <a:off x="2381" y="1918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7" name="Google Shape;1757;p36"/>
            <p:cNvCxnSpPr/>
            <p:nvPr/>
          </p:nvCxnSpPr>
          <p:spPr>
            <a:xfrm>
              <a:off x="2407" y="1916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8" name="Google Shape;1758;p36"/>
            <p:cNvCxnSpPr/>
            <p:nvPr/>
          </p:nvCxnSpPr>
          <p:spPr>
            <a:xfrm>
              <a:off x="2441" y="1916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9" name="Google Shape;1759;p36"/>
            <p:cNvCxnSpPr/>
            <p:nvPr/>
          </p:nvCxnSpPr>
          <p:spPr>
            <a:xfrm>
              <a:off x="2483" y="1916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0" name="Google Shape;1760;p36"/>
            <p:cNvCxnSpPr/>
            <p:nvPr/>
          </p:nvCxnSpPr>
          <p:spPr>
            <a:xfrm>
              <a:off x="2679" y="1923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1" name="Google Shape;1761;p36"/>
            <p:cNvCxnSpPr/>
            <p:nvPr/>
          </p:nvCxnSpPr>
          <p:spPr>
            <a:xfrm>
              <a:off x="2915" y="1923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2" name="Google Shape;1762;p36"/>
            <p:cNvSpPr txBox="1"/>
            <p:nvPr/>
          </p:nvSpPr>
          <p:spPr>
            <a:xfrm>
              <a:off x="2672" y="1557"/>
              <a:ext cx="103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UDP/TCP payload</a:t>
              </a:r>
              <a:endParaRPr/>
            </a:p>
          </p:txBody>
        </p:sp>
        <p:sp>
          <p:nvSpPr>
            <p:cNvPr id="1763" name="Google Shape;1763;p36"/>
            <p:cNvSpPr txBox="1"/>
            <p:nvPr/>
          </p:nvSpPr>
          <p:spPr>
            <a:xfrm>
              <a:off x="2500" y="1396"/>
              <a:ext cx="120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 source dest addr</a:t>
              </a:r>
              <a:endParaRPr/>
            </a:p>
          </p:txBody>
        </p:sp>
        <p:sp>
          <p:nvSpPr>
            <p:cNvPr id="1764" name="Google Shape;1764;p36"/>
            <p:cNvSpPr txBox="1"/>
            <p:nvPr/>
          </p:nvSpPr>
          <p:spPr>
            <a:xfrm>
              <a:off x="2314" y="1247"/>
              <a:ext cx="101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 header fields</a:t>
              </a:r>
              <a:endParaRPr/>
            </a:p>
          </p:txBody>
        </p:sp>
        <p:cxnSp>
          <p:nvCxnSpPr>
            <p:cNvPr id="1765" name="Google Shape;1765;p36"/>
            <p:cNvCxnSpPr/>
            <p:nvPr/>
          </p:nvCxnSpPr>
          <p:spPr>
            <a:xfrm>
              <a:off x="2602" y="1543"/>
              <a:ext cx="3" cy="44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6" name="Google Shape;1766;p36"/>
            <p:cNvCxnSpPr/>
            <p:nvPr/>
          </p:nvCxnSpPr>
          <p:spPr>
            <a:xfrm>
              <a:off x="2594" y="1546"/>
              <a:ext cx="174" cy="44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7" name="Google Shape;1767;p36"/>
            <p:cNvCxnSpPr/>
            <p:nvPr/>
          </p:nvCxnSpPr>
          <p:spPr>
            <a:xfrm>
              <a:off x="2386" y="1399"/>
              <a:ext cx="0" cy="5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8" name="Google Shape;1768;p36"/>
            <p:cNvCxnSpPr/>
            <p:nvPr/>
          </p:nvCxnSpPr>
          <p:spPr>
            <a:xfrm>
              <a:off x="3334" y="1720"/>
              <a:ext cx="0" cy="25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9" name="Google Shape;1769;p36"/>
          <p:cNvSpPr txBox="1"/>
          <p:nvPr/>
        </p:nvSpPr>
        <p:spPr>
          <a:xfrm>
            <a:off x="844826" y="2618555"/>
            <a:ext cx="10515600" cy="139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tunneling: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IPv6 datagram carried as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IPv4 datagram among IPv4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 (“packet within a packet”)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tunneling used extensively in other contexts (4G/5G)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37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Tunneling and encapsulation</a:t>
            </a:r>
            <a:endParaRPr/>
          </a:p>
        </p:txBody>
      </p:sp>
      <p:sp>
        <p:nvSpPr>
          <p:cNvPr id="1776" name="Google Shape;1776;p37"/>
          <p:cNvSpPr txBox="1"/>
          <p:nvPr/>
        </p:nvSpPr>
        <p:spPr>
          <a:xfrm>
            <a:off x="888274" y="1697883"/>
            <a:ext cx="275952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connecting two IPv6 routers:</a:t>
            </a:r>
            <a:endParaRPr/>
          </a:p>
        </p:txBody>
      </p:sp>
      <p:grpSp>
        <p:nvGrpSpPr>
          <p:cNvPr id="1777" name="Google Shape;1777;p37"/>
          <p:cNvGrpSpPr/>
          <p:nvPr/>
        </p:nvGrpSpPr>
        <p:grpSpPr>
          <a:xfrm>
            <a:off x="4274280" y="1626442"/>
            <a:ext cx="5834767" cy="995120"/>
            <a:chOff x="3663591" y="1108282"/>
            <a:chExt cx="5834767" cy="995120"/>
          </a:xfrm>
        </p:grpSpPr>
        <p:sp>
          <p:nvSpPr>
            <p:cNvPr id="1778" name="Google Shape;1778;p37"/>
            <p:cNvSpPr/>
            <p:nvPr/>
          </p:nvSpPr>
          <p:spPr>
            <a:xfrm>
              <a:off x="5385352" y="1616420"/>
              <a:ext cx="2405062" cy="66675"/>
            </a:xfrm>
            <a:prstGeom prst="rect">
              <a:avLst/>
            </a:prstGeom>
            <a:solidFill>
              <a:srgbClr val="CC0000"/>
            </a:soli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37"/>
            <p:cNvSpPr txBox="1"/>
            <p:nvPr/>
          </p:nvSpPr>
          <p:spPr>
            <a:xfrm>
              <a:off x="5480234" y="1110007"/>
              <a:ext cx="2471780" cy="510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Ethernet connects two IPv6 routers</a:t>
              </a:r>
              <a:endParaRPr/>
            </a:p>
          </p:txBody>
        </p:sp>
        <p:grpSp>
          <p:nvGrpSpPr>
            <p:cNvPr id="1780" name="Google Shape;1780;p37"/>
            <p:cNvGrpSpPr/>
            <p:nvPr/>
          </p:nvGrpSpPr>
          <p:grpSpPr>
            <a:xfrm>
              <a:off x="3663591" y="1108282"/>
              <a:ext cx="1764058" cy="965200"/>
              <a:chOff x="3670217" y="2254595"/>
              <a:chExt cx="1764058" cy="965200"/>
            </a:xfrm>
          </p:grpSpPr>
          <p:sp>
            <p:nvSpPr>
              <p:cNvPr id="1781" name="Google Shape;1781;p37"/>
              <p:cNvSpPr txBox="1"/>
              <p:nvPr/>
            </p:nvSpPr>
            <p:spPr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sp>
            <p:nvSpPr>
              <p:cNvPr id="1782" name="Google Shape;1782;p37"/>
              <p:cNvSpPr txBox="1"/>
              <p:nvPr/>
            </p:nvSpPr>
            <p:spPr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cxnSp>
            <p:nvCxnSpPr>
              <p:cNvPr id="1783" name="Google Shape;1783;p37"/>
              <p:cNvCxnSpPr/>
              <p:nvPr/>
            </p:nvCxnSpPr>
            <p:spPr>
              <a:xfrm>
                <a:off x="4399515" y="2772120"/>
                <a:ext cx="32385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84" name="Google Shape;1784;p37"/>
              <p:cNvSpPr txBox="1"/>
              <p:nvPr/>
            </p:nvSpPr>
            <p:spPr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sp>
            <p:nvSpPr>
              <p:cNvPr id="1785" name="Google Shape;1785;p37"/>
              <p:cNvSpPr txBox="1"/>
              <p:nvPr/>
            </p:nvSpPr>
            <p:spPr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grpSp>
            <p:nvGrpSpPr>
              <p:cNvPr id="1786" name="Google Shape;1786;p37"/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787" name="Google Shape;1787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788" name="Google Shape;1788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789" name="Google Shape;1789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790" name="Google Shape;1790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1" name="Google Shape;1791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2" name="Google Shape;1792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3" name="Google Shape;1793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94" name="Google Shape;1794;p37"/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795" name="Google Shape;1795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796" name="Google Shape;1796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797" name="Google Shape;1797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798" name="Google Shape;1798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9" name="Google Shape;1799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0" name="Google Shape;1800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1" name="Google Shape;1801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802" name="Google Shape;1802;p37"/>
            <p:cNvGrpSpPr/>
            <p:nvPr/>
          </p:nvGrpSpPr>
          <p:grpSpPr>
            <a:xfrm>
              <a:off x="7734300" y="1138202"/>
              <a:ext cx="1764058" cy="965200"/>
              <a:chOff x="3670217" y="2254595"/>
              <a:chExt cx="1764058" cy="965200"/>
            </a:xfrm>
          </p:grpSpPr>
          <p:sp>
            <p:nvSpPr>
              <p:cNvPr id="1803" name="Google Shape;1803;p37"/>
              <p:cNvSpPr txBox="1"/>
              <p:nvPr/>
            </p:nvSpPr>
            <p:spPr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/>
              </a:p>
            </p:txBody>
          </p:sp>
          <p:sp>
            <p:nvSpPr>
              <p:cNvPr id="1804" name="Google Shape;1804;p37"/>
              <p:cNvSpPr txBox="1"/>
              <p:nvPr/>
            </p:nvSpPr>
            <p:spPr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/>
              </a:p>
            </p:txBody>
          </p:sp>
          <p:cxnSp>
            <p:nvCxnSpPr>
              <p:cNvPr id="1805" name="Google Shape;1805;p37"/>
              <p:cNvCxnSpPr/>
              <p:nvPr/>
            </p:nvCxnSpPr>
            <p:spPr>
              <a:xfrm>
                <a:off x="4399515" y="2772120"/>
                <a:ext cx="32385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06" name="Google Shape;1806;p37"/>
              <p:cNvSpPr txBox="1"/>
              <p:nvPr/>
            </p:nvSpPr>
            <p:spPr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sp>
            <p:nvSpPr>
              <p:cNvPr id="1807" name="Google Shape;1807;p37"/>
              <p:cNvSpPr txBox="1"/>
              <p:nvPr/>
            </p:nvSpPr>
            <p:spPr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grpSp>
            <p:nvGrpSpPr>
              <p:cNvPr id="1808" name="Google Shape;1808;p37"/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809" name="Google Shape;1809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810" name="Google Shape;1810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811" name="Google Shape;1811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12" name="Google Shape;1812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3" name="Google Shape;1813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4" name="Google Shape;1814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5" name="Google Shape;1815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816" name="Google Shape;1816;p37"/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817" name="Google Shape;1817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818" name="Google Shape;1818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819" name="Google Shape;1819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20" name="Google Shape;1820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21" name="Google Shape;1821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22" name="Google Shape;1822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23" name="Google Shape;1823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824" name="Google Shape;1824;p37"/>
          <p:cNvGrpSpPr/>
          <p:nvPr/>
        </p:nvGrpSpPr>
        <p:grpSpPr>
          <a:xfrm>
            <a:off x="3244703" y="3195320"/>
            <a:ext cx="1748069" cy="467910"/>
            <a:chOff x="3229463" y="3119120"/>
            <a:chExt cx="1748069" cy="467910"/>
          </a:xfrm>
        </p:grpSpPr>
        <p:cxnSp>
          <p:nvCxnSpPr>
            <p:cNvPr id="1825" name="Google Shape;1825;p37"/>
            <p:cNvCxnSpPr/>
            <p:nvPr/>
          </p:nvCxnSpPr>
          <p:spPr>
            <a:xfrm flipH="1">
              <a:off x="4023360" y="3119120"/>
              <a:ext cx="954172" cy="18796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6" name="Google Shape;1826;p37"/>
            <p:cNvSpPr txBox="1"/>
            <p:nvPr/>
          </p:nvSpPr>
          <p:spPr>
            <a:xfrm>
              <a:off x="3229463" y="3311570"/>
              <a:ext cx="1516761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Link-layer frame</a:t>
              </a:r>
              <a:endParaRPr/>
            </a:p>
          </p:txBody>
        </p:sp>
      </p:grpSp>
      <p:grpSp>
        <p:nvGrpSpPr>
          <p:cNvPr id="1827" name="Google Shape;1827;p37"/>
          <p:cNvGrpSpPr/>
          <p:nvPr/>
        </p:nvGrpSpPr>
        <p:grpSpPr>
          <a:xfrm>
            <a:off x="4809173" y="2446973"/>
            <a:ext cx="4886325" cy="951547"/>
            <a:chOff x="4672013" y="2614613"/>
            <a:chExt cx="4886325" cy="1157209"/>
          </a:xfrm>
        </p:grpSpPr>
        <p:grpSp>
          <p:nvGrpSpPr>
            <p:cNvPr id="1828" name="Google Shape;1828;p37"/>
            <p:cNvGrpSpPr/>
            <p:nvPr/>
          </p:nvGrpSpPr>
          <p:grpSpPr>
            <a:xfrm>
              <a:off x="4674002" y="3295572"/>
              <a:ext cx="4854575" cy="476250"/>
              <a:chOff x="1427882" y="4286172"/>
              <a:chExt cx="4854575" cy="476250"/>
            </a:xfrm>
          </p:grpSpPr>
          <p:sp>
            <p:nvSpPr>
              <p:cNvPr id="1829" name="Google Shape;1829;p37"/>
              <p:cNvSpPr/>
              <p:nvPr/>
            </p:nvSpPr>
            <p:spPr>
              <a:xfrm>
                <a:off x="1427882" y="4289347"/>
                <a:ext cx="4854575" cy="468313"/>
              </a:xfrm>
              <a:prstGeom prst="rect">
                <a:avLst/>
              </a:prstGeom>
              <a:gradFill>
                <a:gsLst>
                  <a:gs pos="0">
                    <a:srgbClr val="CC0000">
                      <a:alpha val="40784"/>
                    </a:srgbClr>
                  </a:gs>
                  <a:gs pos="100000">
                    <a:srgbClr val="CC0000">
                      <a:alpha val="37647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30" name="Google Shape;1830;p37"/>
              <p:cNvCxnSpPr/>
              <p:nvPr/>
            </p:nvCxnSpPr>
            <p:spPr>
              <a:xfrm>
                <a:off x="2791545" y="4287759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1" name="Google Shape;1831;p37"/>
              <p:cNvCxnSpPr/>
              <p:nvPr/>
            </p:nvCxnSpPr>
            <p:spPr>
              <a:xfrm>
                <a:off x="2313707" y="4286172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2" name="Google Shape;1832;p37"/>
              <p:cNvCxnSpPr/>
              <p:nvPr/>
            </p:nvCxnSpPr>
            <p:spPr>
              <a:xfrm>
                <a:off x="1867620" y="4294109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833" name="Google Shape;1833;p37"/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cxnSp>
              <p:nvCxnSpPr>
                <p:cNvPr id="1834" name="Google Shape;1834;p37"/>
                <p:cNvCxnSpPr/>
                <p:nvPr/>
              </p:nvCxnSpPr>
              <p:spPr>
                <a:xfrm>
                  <a:off x="8743763" y="4053716"/>
                  <a:ext cx="8572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835" name="Google Shape;1835;p37"/>
                <p:cNvSpPr/>
                <p:nvPr/>
              </p:nvSpPr>
              <p:spPr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36" name="Google Shape;1836;p37"/>
                <p:cNvCxnSpPr/>
                <p:nvPr/>
              </p:nvCxnSpPr>
              <p:spPr>
                <a:xfrm>
                  <a:off x="8174757" y="3751184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37" name="Google Shape;1837;p37"/>
                <p:cNvCxnSpPr/>
                <p:nvPr/>
              </p:nvCxnSpPr>
              <p:spPr>
                <a:xfrm>
                  <a:off x="8133482" y="3749596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38" name="Google Shape;1838;p37"/>
                <p:cNvCxnSpPr/>
                <p:nvPr/>
              </p:nvCxnSpPr>
              <p:spPr>
                <a:xfrm>
                  <a:off x="8250957" y="3751184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39" name="Google Shape;1839;p37"/>
                <p:cNvCxnSpPr/>
                <p:nvPr/>
              </p:nvCxnSpPr>
              <p:spPr>
                <a:xfrm>
                  <a:off x="8292232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40" name="Google Shape;1840;p37"/>
                <p:cNvCxnSpPr/>
                <p:nvPr/>
              </p:nvCxnSpPr>
              <p:spPr>
                <a:xfrm>
                  <a:off x="8346207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41" name="Google Shape;1841;p37"/>
                <p:cNvCxnSpPr/>
                <p:nvPr/>
              </p:nvCxnSpPr>
              <p:spPr>
                <a:xfrm>
                  <a:off x="8412882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42" name="Google Shape;1842;p37"/>
                <p:cNvCxnSpPr/>
                <p:nvPr/>
              </p:nvCxnSpPr>
              <p:spPr>
                <a:xfrm>
                  <a:off x="8724032" y="3759121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43" name="Google Shape;1843;p37"/>
                <p:cNvCxnSpPr/>
                <p:nvPr/>
              </p:nvCxnSpPr>
              <p:spPr>
                <a:xfrm>
                  <a:off x="9098682" y="3759121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844" name="Google Shape;1844;p37"/>
              <p:cNvSpPr/>
              <p:nvPr/>
            </p:nvSpPr>
            <p:spPr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37"/>
              <p:cNvSpPr txBox="1"/>
              <p:nvPr/>
            </p:nvSpPr>
            <p:spPr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 datagram</a:t>
                </a:r>
                <a:endParaRPr/>
              </a:p>
            </p:txBody>
          </p:sp>
        </p:grpSp>
        <p:sp>
          <p:nvSpPr>
            <p:cNvPr id="1846" name="Google Shape;1846;p37"/>
            <p:cNvSpPr/>
            <p:nvPr/>
          </p:nvSpPr>
          <p:spPr>
            <a:xfrm>
              <a:off x="4672013" y="2614613"/>
              <a:ext cx="4886325" cy="685800"/>
            </a:xfrm>
            <a:custGeom>
              <a:rect b="b" l="l" r="r" t="t"/>
              <a:pathLst>
                <a:path extrusionOk="0" h="685800" w="4886325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D8D8D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7" name="Google Shape;1847;p37"/>
          <p:cNvGrpSpPr/>
          <p:nvPr/>
        </p:nvGrpSpPr>
        <p:grpSpPr>
          <a:xfrm>
            <a:off x="6964680" y="2244997"/>
            <a:ext cx="838200" cy="376149"/>
            <a:chOff x="6827520" y="2412637"/>
            <a:chExt cx="838200" cy="376149"/>
          </a:xfrm>
        </p:grpSpPr>
        <p:sp>
          <p:nvSpPr>
            <p:cNvPr id="1848" name="Google Shape;1848;p37"/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F7FC"/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9" name="Google Shape;1849;p37"/>
            <p:cNvGrpSpPr/>
            <p:nvPr/>
          </p:nvGrpSpPr>
          <p:grpSpPr>
            <a:xfrm>
              <a:off x="6827520" y="2412637"/>
              <a:ext cx="334944" cy="376149"/>
              <a:chOff x="335231" y="4406992"/>
              <a:chExt cx="1251280" cy="2136350"/>
            </a:xfrm>
          </p:grpSpPr>
          <p:sp>
            <p:nvSpPr>
              <p:cNvPr id="1850" name="Google Shape;1850;p37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37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37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53" name="Google Shape;1853;p37"/>
          <p:cNvSpPr txBox="1"/>
          <p:nvPr/>
        </p:nvSpPr>
        <p:spPr>
          <a:xfrm>
            <a:off x="4831080" y="3383280"/>
            <a:ext cx="4879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usual: datagram as payload in link-layer frame</a:t>
            </a:r>
            <a:endParaRPr/>
          </a:p>
        </p:txBody>
      </p:sp>
      <p:grpSp>
        <p:nvGrpSpPr>
          <p:cNvPr id="1854" name="Google Shape;1854;p37"/>
          <p:cNvGrpSpPr/>
          <p:nvPr/>
        </p:nvGrpSpPr>
        <p:grpSpPr>
          <a:xfrm>
            <a:off x="4282206" y="4080603"/>
            <a:ext cx="5834767" cy="1826360"/>
            <a:chOff x="4282206" y="4080603"/>
            <a:chExt cx="5834767" cy="1826360"/>
          </a:xfrm>
        </p:grpSpPr>
        <p:grpSp>
          <p:nvGrpSpPr>
            <p:cNvPr id="1855" name="Google Shape;1855;p37"/>
            <p:cNvGrpSpPr/>
            <p:nvPr/>
          </p:nvGrpSpPr>
          <p:grpSpPr>
            <a:xfrm>
              <a:off x="5980176" y="4080603"/>
              <a:ext cx="2432304" cy="1726090"/>
              <a:chOff x="5705856" y="2038443"/>
              <a:chExt cx="2432304" cy="1726090"/>
            </a:xfrm>
          </p:grpSpPr>
          <p:sp>
            <p:nvSpPr>
              <p:cNvPr id="1856" name="Google Shape;1856;p37"/>
              <p:cNvSpPr/>
              <p:nvPr/>
            </p:nvSpPr>
            <p:spPr>
              <a:xfrm rot="659626">
                <a:off x="5879224" y="2228808"/>
                <a:ext cx="2125934" cy="1345360"/>
              </a:xfrm>
              <a:custGeom>
                <a:rect b="b" l="l" r="r" t="t"/>
                <a:pathLst>
                  <a:path extrusionOk="0" h="11611" w="10003">
                    <a:moveTo>
                      <a:pt x="5770" y="126"/>
                    </a:moveTo>
                    <a:cubicBezTo>
                      <a:pt x="5196" y="245"/>
                      <a:pt x="4120" y="456"/>
                      <a:pt x="3456" y="756"/>
                    </a:cubicBezTo>
                    <a:cubicBezTo>
                      <a:pt x="2793" y="1055"/>
                      <a:pt x="2166" y="1460"/>
                      <a:pt x="1806" y="1896"/>
                    </a:cubicBezTo>
                    <a:cubicBezTo>
                      <a:pt x="1448" y="2331"/>
                      <a:pt x="1600" y="2977"/>
                      <a:pt x="1322" y="3397"/>
                    </a:cubicBezTo>
                    <a:cubicBezTo>
                      <a:pt x="1044" y="3816"/>
                      <a:pt x="354" y="3846"/>
                      <a:pt x="156" y="4417"/>
                    </a:cubicBezTo>
                    <a:cubicBezTo>
                      <a:pt x="-41" y="4987"/>
                      <a:pt x="-52" y="6057"/>
                      <a:pt x="121" y="6847"/>
                    </a:cubicBezTo>
                    <a:cubicBezTo>
                      <a:pt x="294" y="7637"/>
                      <a:pt x="660" y="8634"/>
                      <a:pt x="1194" y="9155"/>
                    </a:cubicBezTo>
                    <a:cubicBezTo>
                      <a:pt x="1728" y="9676"/>
                      <a:pt x="2691" y="9563"/>
                      <a:pt x="3328" y="9972"/>
                    </a:cubicBezTo>
                    <a:cubicBezTo>
                      <a:pt x="3965" y="10381"/>
                      <a:pt x="4455" y="11637"/>
                      <a:pt x="5017" y="11611"/>
                    </a:cubicBezTo>
                    <a:cubicBezTo>
                      <a:pt x="5579" y="11585"/>
                      <a:pt x="6246" y="10107"/>
                      <a:pt x="6703" y="9818"/>
                    </a:cubicBezTo>
                    <a:cubicBezTo>
                      <a:pt x="7160" y="9529"/>
                      <a:pt x="7465" y="10013"/>
                      <a:pt x="7761" y="9878"/>
                    </a:cubicBezTo>
                    <a:cubicBezTo>
                      <a:pt x="8057" y="9743"/>
                      <a:pt x="8317" y="9548"/>
                      <a:pt x="8496" y="9007"/>
                    </a:cubicBezTo>
                    <a:cubicBezTo>
                      <a:pt x="8675" y="8468"/>
                      <a:pt x="8604" y="7361"/>
                      <a:pt x="8855" y="6638"/>
                    </a:cubicBezTo>
                    <a:cubicBezTo>
                      <a:pt x="9106" y="5915"/>
                      <a:pt x="9957" y="5511"/>
                      <a:pt x="10001" y="4671"/>
                    </a:cubicBezTo>
                    <a:cubicBezTo>
                      <a:pt x="10047" y="3830"/>
                      <a:pt x="9402" y="2308"/>
                      <a:pt x="9124" y="1566"/>
                    </a:cubicBezTo>
                    <a:cubicBezTo>
                      <a:pt x="8846" y="823"/>
                      <a:pt x="8702" y="471"/>
                      <a:pt x="8334" y="216"/>
                    </a:cubicBezTo>
                    <a:cubicBezTo>
                      <a:pt x="7968" y="-39"/>
                      <a:pt x="7349" y="20"/>
                      <a:pt x="6918" y="5"/>
                    </a:cubicBezTo>
                    <a:cubicBezTo>
                      <a:pt x="6488" y="-9"/>
                      <a:pt x="6345" y="5"/>
                      <a:pt x="5770" y="126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57" name="Google Shape;1857;p37"/>
              <p:cNvGrpSpPr/>
              <p:nvPr/>
            </p:nvGrpSpPr>
            <p:grpSpPr>
              <a:xfrm>
                <a:off x="5705856" y="2321052"/>
                <a:ext cx="2432304" cy="1054608"/>
                <a:chOff x="5705856" y="2321052"/>
                <a:chExt cx="2432304" cy="1054608"/>
              </a:xfrm>
            </p:grpSpPr>
            <p:cxnSp>
              <p:nvCxnSpPr>
                <p:cNvPr id="1858" name="Google Shape;1858;p37"/>
                <p:cNvCxnSpPr/>
                <p:nvPr/>
              </p:nvCxnSpPr>
              <p:spPr>
                <a:xfrm>
                  <a:off x="5705856" y="2811780"/>
                  <a:ext cx="2432304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59" name="Google Shape;1859;p37"/>
                <p:cNvCxnSpPr>
                  <a:stCxn id="1860" idx="5"/>
                </p:cNvCxnSpPr>
                <p:nvPr/>
              </p:nvCxnSpPr>
              <p:spPr>
                <a:xfrm flipH="1" rot="10800000">
                  <a:off x="6858545" y="2397201"/>
                  <a:ext cx="83400" cy="885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61" name="Google Shape;1861;p37"/>
                <p:cNvCxnSpPr>
                  <a:stCxn id="1862" idx="2"/>
                </p:cNvCxnSpPr>
                <p:nvPr/>
              </p:nvCxnSpPr>
              <p:spPr>
                <a:xfrm flipH="1" rot="10800000">
                  <a:off x="6858272" y="2805810"/>
                  <a:ext cx="734400" cy="396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63" name="Google Shape;1863;p37"/>
                <p:cNvCxnSpPr>
                  <a:stCxn id="1864" idx="2"/>
                  <a:endCxn id="1865" idx="2"/>
                </p:cNvCxnSpPr>
                <p:nvPr/>
              </p:nvCxnSpPr>
              <p:spPr>
                <a:xfrm flipH="1" rot="10800000">
                  <a:off x="6218192" y="2413998"/>
                  <a:ext cx="714900" cy="387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66" name="Google Shape;1866;p37"/>
                <p:cNvCxnSpPr>
                  <a:stCxn id="1867" idx="4"/>
                </p:cNvCxnSpPr>
                <p:nvPr/>
              </p:nvCxnSpPr>
              <p:spPr>
                <a:xfrm>
                  <a:off x="6219784" y="2880798"/>
                  <a:ext cx="646200" cy="321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68" name="Google Shape;1868;p37"/>
                <p:cNvCxnSpPr>
                  <a:endCxn id="1869" idx="2"/>
                </p:cNvCxnSpPr>
                <p:nvPr/>
              </p:nvCxnSpPr>
              <p:spPr>
                <a:xfrm>
                  <a:off x="6943685" y="2415978"/>
                  <a:ext cx="661200" cy="374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870" name="Google Shape;1870;p37"/>
                <p:cNvGrpSpPr/>
                <p:nvPr/>
              </p:nvGrpSpPr>
              <p:grpSpPr>
                <a:xfrm>
                  <a:off x="5974080" y="2321052"/>
                  <a:ext cx="1878278" cy="1054608"/>
                  <a:chOff x="5974080" y="2321052"/>
                  <a:chExt cx="1878278" cy="1054608"/>
                </a:xfrm>
              </p:grpSpPr>
              <p:grpSp>
                <p:nvGrpSpPr>
                  <p:cNvPr id="1871" name="Google Shape;1871;p37"/>
                  <p:cNvGrpSpPr/>
                  <p:nvPr/>
                </p:nvGrpSpPr>
                <p:grpSpPr>
                  <a:xfrm>
                    <a:off x="5974080" y="2708148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1872" name="Google Shape;1872;p37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867" name="Google Shape;1867;p37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873" name="Google Shape;1873;p37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874" name="Google Shape;1874;p37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75" name="Google Shape;1875;p37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76" name="Google Shape;1876;p37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64" name="Google Shape;1864;p37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877" name="Google Shape;1877;p37"/>
                  <p:cNvGrpSpPr/>
                  <p:nvPr/>
                </p:nvGrpSpPr>
                <p:grpSpPr>
                  <a:xfrm>
                    <a:off x="7360920" y="2697480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1878" name="Google Shape;1878;p37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879" name="Google Shape;1879;p37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880" name="Google Shape;1880;p37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881" name="Google Shape;1881;p37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82" name="Google Shape;1882;p37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83" name="Google Shape;1883;p37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69" name="Google Shape;1869;p37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884" name="Google Shape;1884;p37"/>
                  <p:cNvGrpSpPr/>
                  <p:nvPr/>
                </p:nvGrpSpPr>
                <p:grpSpPr>
                  <a:xfrm>
                    <a:off x="6614160" y="3108960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1860" name="Google Shape;1860;p37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885" name="Google Shape;1885;p37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886" name="Google Shape;1886;p37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887" name="Google Shape;1887;p37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88" name="Google Shape;1888;p37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89" name="Google Shape;1889;p37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62" name="Google Shape;1862;p37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890" name="Google Shape;1890;p37"/>
                  <p:cNvGrpSpPr/>
                  <p:nvPr/>
                </p:nvGrpSpPr>
                <p:grpSpPr>
                  <a:xfrm>
                    <a:off x="6688836" y="2321052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1891" name="Google Shape;1891;p37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1892" name="Google Shape;1892;p37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rgbClr val="E4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1893" name="Google Shape;1893;p37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1894" name="Google Shape;1894;p37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95" name="Google Shape;1895;p37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96" name="Google Shape;1896;p37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65" name="Google Shape;1865;p37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</p:grpSp>
        <p:grpSp>
          <p:nvGrpSpPr>
            <p:cNvPr id="1897" name="Google Shape;1897;p37"/>
            <p:cNvGrpSpPr/>
            <p:nvPr/>
          </p:nvGrpSpPr>
          <p:grpSpPr>
            <a:xfrm>
              <a:off x="4282206" y="4335896"/>
              <a:ext cx="1830222" cy="967204"/>
              <a:chOff x="3670217" y="2254595"/>
              <a:chExt cx="1830222" cy="967204"/>
            </a:xfrm>
          </p:grpSpPr>
          <p:sp>
            <p:nvSpPr>
              <p:cNvPr id="1898" name="Google Shape;1898;p37"/>
              <p:cNvSpPr txBox="1"/>
              <p:nvPr/>
            </p:nvSpPr>
            <p:spPr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sp>
            <p:nvSpPr>
              <p:cNvPr id="1899" name="Google Shape;1899;p37"/>
              <p:cNvSpPr txBox="1"/>
              <p:nvPr/>
            </p:nvSpPr>
            <p:spPr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cxnSp>
            <p:nvCxnSpPr>
              <p:cNvPr id="1900" name="Google Shape;1900;p37"/>
              <p:cNvCxnSpPr/>
              <p:nvPr/>
            </p:nvCxnSpPr>
            <p:spPr>
              <a:xfrm>
                <a:off x="4399515" y="2772120"/>
                <a:ext cx="32385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01" name="Google Shape;1901;p37"/>
              <p:cNvSpPr txBox="1"/>
              <p:nvPr/>
            </p:nvSpPr>
            <p:spPr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sp>
            <p:nvSpPr>
              <p:cNvPr id="1902" name="Google Shape;1902;p37"/>
              <p:cNvSpPr txBox="1"/>
              <p:nvPr/>
            </p:nvSpPr>
            <p:spPr>
              <a:xfrm>
                <a:off x="4631290" y="2883245"/>
                <a:ext cx="86914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IPv6/</a:t>
                </a:r>
                <a:r>
                  <a:rPr b="0" i="0" lang="en-US" sz="16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v4</a:t>
                </a:r>
                <a:endParaRPr/>
              </a:p>
            </p:txBody>
          </p:sp>
          <p:grpSp>
            <p:nvGrpSpPr>
              <p:cNvPr id="1903" name="Google Shape;1903;p37"/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04" name="Google Shape;1904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05" name="Google Shape;1905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06" name="Google Shape;1906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07" name="Google Shape;1907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8" name="Google Shape;1908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9" name="Google Shape;1909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0" name="Google Shape;1910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911" name="Google Shape;1911;p37"/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12" name="Google Shape;1912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13" name="Google Shape;1913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14" name="Google Shape;1914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15" name="Google Shape;1915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6" name="Google Shape;1916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7" name="Google Shape;1917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8" name="Google Shape;1918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919" name="Google Shape;1919;p37"/>
            <p:cNvGrpSpPr/>
            <p:nvPr/>
          </p:nvGrpSpPr>
          <p:grpSpPr>
            <a:xfrm>
              <a:off x="8298305" y="4365816"/>
              <a:ext cx="1818668" cy="965617"/>
              <a:chOff x="3615607" y="2254595"/>
              <a:chExt cx="1818668" cy="965617"/>
            </a:xfrm>
          </p:grpSpPr>
          <p:sp>
            <p:nvSpPr>
              <p:cNvPr id="1920" name="Google Shape;1920;p37"/>
              <p:cNvSpPr txBox="1"/>
              <p:nvPr/>
            </p:nvSpPr>
            <p:spPr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/>
              </a:p>
            </p:txBody>
          </p:sp>
          <p:sp>
            <p:nvSpPr>
              <p:cNvPr id="1921" name="Google Shape;1921;p37"/>
              <p:cNvSpPr txBox="1"/>
              <p:nvPr/>
            </p:nvSpPr>
            <p:spPr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/>
              </a:p>
            </p:txBody>
          </p:sp>
          <p:cxnSp>
            <p:nvCxnSpPr>
              <p:cNvPr id="1922" name="Google Shape;1922;p37"/>
              <p:cNvCxnSpPr/>
              <p:nvPr/>
            </p:nvCxnSpPr>
            <p:spPr>
              <a:xfrm>
                <a:off x="4399515" y="2772120"/>
                <a:ext cx="32385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23" name="Google Shape;1923;p37"/>
              <p:cNvSpPr txBox="1"/>
              <p:nvPr/>
            </p:nvSpPr>
            <p:spPr>
              <a:xfrm>
                <a:off x="3615607" y="2881658"/>
                <a:ext cx="86914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IPv6/</a:t>
                </a:r>
                <a:r>
                  <a:rPr b="0" i="0" lang="en-US" sz="16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v4</a:t>
                </a:r>
                <a:endParaRPr/>
              </a:p>
            </p:txBody>
          </p:sp>
          <p:sp>
            <p:nvSpPr>
              <p:cNvPr id="1924" name="Google Shape;1924;p37"/>
              <p:cNvSpPr txBox="1"/>
              <p:nvPr/>
            </p:nvSpPr>
            <p:spPr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grpSp>
            <p:nvGrpSpPr>
              <p:cNvPr id="1925" name="Google Shape;1925;p37"/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26" name="Google Shape;1926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27" name="Google Shape;1927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28" name="Google Shape;1928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29" name="Google Shape;1929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30" name="Google Shape;1930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31" name="Google Shape;1931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32" name="Google Shape;1932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933" name="Google Shape;1933;p37"/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34" name="Google Shape;1934;p3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35" name="Google Shape;1935;p3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36" name="Google Shape;1936;p3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37" name="Google Shape;1937;p3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38" name="Google Shape;1938;p3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39" name="Google Shape;1939;p3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40" name="Google Shape;1940;p3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941" name="Google Shape;1941;p37"/>
            <p:cNvSpPr txBox="1"/>
            <p:nvPr/>
          </p:nvSpPr>
          <p:spPr>
            <a:xfrm>
              <a:off x="6655028" y="5568409"/>
              <a:ext cx="128291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IPv4 network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2" name="Google Shape;1942;p37"/>
          <p:cNvSpPr txBox="1"/>
          <p:nvPr/>
        </p:nvSpPr>
        <p:spPr>
          <a:xfrm>
            <a:off x="861060" y="4222280"/>
            <a:ext cx="256031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IPv4 network connecting two IPv6 routers</a:t>
            </a:r>
            <a:endParaRPr/>
          </a:p>
        </p:txBody>
      </p:sp>
      <p:sp>
        <p:nvSpPr>
          <p:cNvPr id="1943" name="Google Shape;1943;p37"/>
          <p:cNvSpPr/>
          <p:nvPr/>
        </p:nvSpPr>
        <p:spPr>
          <a:xfrm>
            <a:off x="822960" y="1356360"/>
            <a:ext cx="10058400" cy="240792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38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Tunneling and encapsulation</a:t>
            </a:r>
            <a:endParaRPr/>
          </a:p>
        </p:txBody>
      </p:sp>
      <p:sp>
        <p:nvSpPr>
          <p:cNvPr id="1950" name="Google Shape;1950;p38"/>
          <p:cNvSpPr txBox="1"/>
          <p:nvPr/>
        </p:nvSpPr>
        <p:spPr>
          <a:xfrm>
            <a:off x="888274" y="1697883"/>
            <a:ext cx="275952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connecting two IPv6 routers:</a:t>
            </a:r>
            <a:endParaRPr/>
          </a:p>
        </p:txBody>
      </p:sp>
      <p:grpSp>
        <p:nvGrpSpPr>
          <p:cNvPr id="1951" name="Google Shape;1951;p38"/>
          <p:cNvGrpSpPr/>
          <p:nvPr/>
        </p:nvGrpSpPr>
        <p:grpSpPr>
          <a:xfrm>
            <a:off x="4274280" y="1626442"/>
            <a:ext cx="5834767" cy="995120"/>
            <a:chOff x="3663591" y="1108282"/>
            <a:chExt cx="5834767" cy="995120"/>
          </a:xfrm>
        </p:grpSpPr>
        <p:sp>
          <p:nvSpPr>
            <p:cNvPr id="1952" name="Google Shape;1952;p38"/>
            <p:cNvSpPr/>
            <p:nvPr/>
          </p:nvSpPr>
          <p:spPr>
            <a:xfrm>
              <a:off x="5385352" y="1616420"/>
              <a:ext cx="2405062" cy="66675"/>
            </a:xfrm>
            <a:prstGeom prst="rect">
              <a:avLst/>
            </a:prstGeom>
            <a:solidFill>
              <a:srgbClr val="CC0000"/>
            </a:soli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38"/>
            <p:cNvSpPr txBox="1"/>
            <p:nvPr/>
          </p:nvSpPr>
          <p:spPr>
            <a:xfrm>
              <a:off x="5480234" y="1110007"/>
              <a:ext cx="2471780" cy="510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Ethernet connects two IPv6 routers</a:t>
              </a:r>
              <a:endParaRPr/>
            </a:p>
          </p:txBody>
        </p:sp>
        <p:grpSp>
          <p:nvGrpSpPr>
            <p:cNvPr id="1954" name="Google Shape;1954;p38"/>
            <p:cNvGrpSpPr/>
            <p:nvPr/>
          </p:nvGrpSpPr>
          <p:grpSpPr>
            <a:xfrm>
              <a:off x="3663591" y="1108282"/>
              <a:ext cx="1764058" cy="965200"/>
              <a:chOff x="3670217" y="2254595"/>
              <a:chExt cx="1764058" cy="965200"/>
            </a:xfrm>
          </p:grpSpPr>
          <p:sp>
            <p:nvSpPr>
              <p:cNvPr id="1955" name="Google Shape;1955;p38"/>
              <p:cNvSpPr txBox="1"/>
              <p:nvPr/>
            </p:nvSpPr>
            <p:spPr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sp>
            <p:nvSpPr>
              <p:cNvPr id="1956" name="Google Shape;1956;p38"/>
              <p:cNvSpPr txBox="1"/>
              <p:nvPr/>
            </p:nvSpPr>
            <p:spPr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cxnSp>
            <p:nvCxnSpPr>
              <p:cNvPr id="1957" name="Google Shape;1957;p38"/>
              <p:cNvCxnSpPr/>
              <p:nvPr/>
            </p:nvCxnSpPr>
            <p:spPr>
              <a:xfrm>
                <a:off x="4399515" y="2772120"/>
                <a:ext cx="32385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58" name="Google Shape;1958;p38"/>
              <p:cNvSpPr txBox="1"/>
              <p:nvPr/>
            </p:nvSpPr>
            <p:spPr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sp>
            <p:nvSpPr>
              <p:cNvPr id="1959" name="Google Shape;1959;p38"/>
              <p:cNvSpPr txBox="1"/>
              <p:nvPr/>
            </p:nvSpPr>
            <p:spPr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grpSp>
            <p:nvGrpSpPr>
              <p:cNvPr id="1960" name="Google Shape;1960;p38"/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61" name="Google Shape;1961;p3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62" name="Google Shape;1962;p3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63" name="Google Shape;1963;p3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64" name="Google Shape;1964;p3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5" name="Google Shape;1965;p3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6" name="Google Shape;1966;p3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7" name="Google Shape;1967;p3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968" name="Google Shape;1968;p38"/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69" name="Google Shape;1969;p3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70" name="Google Shape;1970;p3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71" name="Google Shape;1971;p3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72" name="Google Shape;1972;p3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3" name="Google Shape;1973;p3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4" name="Google Shape;1974;p3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5" name="Google Shape;1975;p3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976" name="Google Shape;1976;p38"/>
            <p:cNvGrpSpPr/>
            <p:nvPr/>
          </p:nvGrpSpPr>
          <p:grpSpPr>
            <a:xfrm>
              <a:off x="7734300" y="1138202"/>
              <a:ext cx="1764058" cy="965200"/>
              <a:chOff x="3670217" y="2254595"/>
              <a:chExt cx="1764058" cy="965200"/>
            </a:xfrm>
          </p:grpSpPr>
          <p:sp>
            <p:nvSpPr>
              <p:cNvPr id="1977" name="Google Shape;1977;p38"/>
              <p:cNvSpPr txBox="1"/>
              <p:nvPr/>
            </p:nvSpPr>
            <p:spPr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/>
              </a:p>
            </p:txBody>
          </p:sp>
          <p:sp>
            <p:nvSpPr>
              <p:cNvPr id="1978" name="Google Shape;1978;p38"/>
              <p:cNvSpPr txBox="1"/>
              <p:nvPr/>
            </p:nvSpPr>
            <p:spPr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/>
              </a:p>
            </p:txBody>
          </p:sp>
          <p:cxnSp>
            <p:nvCxnSpPr>
              <p:cNvPr id="1979" name="Google Shape;1979;p38"/>
              <p:cNvCxnSpPr/>
              <p:nvPr/>
            </p:nvCxnSpPr>
            <p:spPr>
              <a:xfrm>
                <a:off x="4399515" y="2772120"/>
                <a:ext cx="32385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80" name="Google Shape;1980;p38"/>
              <p:cNvSpPr txBox="1"/>
              <p:nvPr/>
            </p:nvSpPr>
            <p:spPr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sp>
            <p:nvSpPr>
              <p:cNvPr id="1981" name="Google Shape;1981;p38"/>
              <p:cNvSpPr txBox="1"/>
              <p:nvPr/>
            </p:nvSpPr>
            <p:spPr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/>
              </a:p>
            </p:txBody>
          </p:sp>
          <p:grpSp>
            <p:nvGrpSpPr>
              <p:cNvPr id="1982" name="Google Shape;1982;p38"/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83" name="Google Shape;1983;p3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84" name="Google Shape;1984;p3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85" name="Google Shape;1985;p3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86" name="Google Shape;1986;p3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87" name="Google Shape;1987;p3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88" name="Google Shape;1988;p3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89" name="Google Shape;1989;p3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990" name="Google Shape;1990;p38"/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991" name="Google Shape;1991;p3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92" name="Google Shape;1992;p3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93" name="Google Shape;1993;p3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94" name="Google Shape;1994;p3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5" name="Google Shape;1995;p3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6" name="Google Shape;1996;p3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7" name="Google Shape;1997;p3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998" name="Google Shape;1998;p38"/>
          <p:cNvSpPr txBox="1"/>
          <p:nvPr/>
        </p:nvSpPr>
        <p:spPr>
          <a:xfrm>
            <a:off x="861060" y="4222280"/>
            <a:ext cx="256031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IPv4 tunnel connecting two IPv6 routers</a:t>
            </a:r>
            <a:endParaRPr/>
          </a:p>
        </p:txBody>
      </p:sp>
      <p:grpSp>
        <p:nvGrpSpPr>
          <p:cNvPr id="1999" name="Google Shape;1999;p38"/>
          <p:cNvGrpSpPr/>
          <p:nvPr/>
        </p:nvGrpSpPr>
        <p:grpSpPr>
          <a:xfrm>
            <a:off x="6003967" y="4337621"/>
            <a:ext cx="2430462" cy="573088"/>
            <a:chOff x="6003967" y="4337621"/>
            <a:chExt cx="2430462" cy="573088"/>
          </a:xfrm>
        </p:grpSpPr>
        <p:sp>
          <p:nvSpPr>
            <p:cNvPr id="2000" name="Google Shape;2000;p38"/>
            <p:cNvSpPr/>
            <p:nvPr/>
          </p:nvSpPr>
          <p:spPr>
            <a:xfrm>
              <a:off x="6003967" y="4844034"/>
              <a:ext cx="2405062" cy="66675"/>
            </a:xfrm>
            <a:prstGeom prst="rect">
              <a:avLst/>
            </a:prstGeom>
            <a:solidFill>
              <a:srgbClr val="CC0000"/>
            </a:soli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38"/>
            <p:cNvSpPr txBox="1"/>
            <p:nvPr/>
          </p:nvSpPr>
          <p:spPr>
            <a:xfrm>
              <a:off x="6115092" y="4337621"/>
              <a:ext cx="2319337" cy="5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IPv4 tunnel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connecting IPv6 routers</a:t>
              </a:r>
              <a:endParaRPr/>
            </a:p>
          </p:txBody>
        </p:sp>
      </p:grpSp>
      <p:grpSp>
        <p:nvGrpSpPr>
          <p:cNvPr id="2002" name="Google Shape;2002;p38"/>
          <p:cNvGrpSpPr/>
          <p:nvPr/>
        </p:nvGrpSpPr>
        <p:grpSpPr>
          <a:xfrm>
            <a:off x="4282206" y="4335896"/>
            <a:ext cx="1764058" cy="963613"/>
            <a:chOff x="3670217" y="2254595"/>
            <a:chExt cx="1764058" cy="963613"/>
          </a:xfrm>
        </p:grpSpPr>
        <p:sp>
          <p:nvSpPr>
            <p:cNvPr id="2003" name="Google Shape;2003;p38"/>
            <p:cNvSpPr txBox="1"/>
            <p:nvPr/>
          </p:nvSpPr>
          <p:spPr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004" name="Google Shape;2004;p38"/>
            <p:cNvSpPr txBox="1"/>
            <p:nvPr/>
          </p:nvSpPr>
          <p:spPr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2005" name="Google Shape;2005;p38"/>
            <p:cNvCxnSpPr/>
            <p:nvPr/>
          </p:nvCxnSpPr>
          <p:spPr>
            <a:xfrm>
              <a:off x="4399515" y="2772120"/>
              <a:ext cx="32385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6" name="Google Shape;2006;p38"/>
            <p:cNvSpPr txBox="1"/>
            <p:nvPr/>
          </p:nvSpPr>
          <p:spPr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/>
            </a:p>
          </p:txBody>
        </p:sp>
        <p:grpSp>
          <p:nvGrpSpPr>
            <p:cNvPr id="2007" name="Google Shape;2007;p38"/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008" name="Google Shape;2008;p3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09" name="Google Shape;2009;p3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10" name="Google Shape;2010;p3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11" name="Google Shape;2011;p3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2" name="Google Shape;2012;p3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3" name="Google Shape;2013;p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4" name="Google Shape;2014;p3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5" name="Google Shape;2015;p38"/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016" name="Google Shape;2016;p3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17" name="Google Shape;2017;p3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18" name="Google Shape;2018;p3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19" name="Google Shape;2019;p3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0" name="Google Shape;2020;p3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1" name="Google Shape;2021;p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2" name="Google Shape;2022;p3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023" name="Google Shape;2023;p38"/>
          <p:cNvGrpSpPr/>
          <p:nvPr/>
        </p:nvGrpSpPr>
        <p:grpSpPr>
          <a:xfrm>
            <a:off x="8352915" y="4365816"/>
            <a:ext cx="1764058" cy="965200"/>
            <a:chOff x="3670217" y="2254595"/>
            <a:chExt cx="1764058" cy="965200"/>
          </a:xfrm>
        </p:grpSpPr>
        <p:sp>
          <p:nvSpPr>
            <p:cNvPr id="2024" name="Google Shape;2024;p38"/>
            <p:cNvSpPr txBox="1"/>
            <p:nvPr/>
          </p:nvSpPr>
          <p:spPr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2025" name="Google Shape;2025;p38"/>
            <p:cNvSpPr txBox="1"/>
            <p:nvPr/>
          </p:nvSpPr>
          <p:spPr>
            <a:xfrm>
              <a:off x="4888228" y="2259358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2026" name="Google Shape;2026;p38"/>
            <p:cNvCxnSpPr/>
            <p:nvPr/>
          </p:nvCxnSpPr>
          <p:spPr>
            <a:xfrm>
              <a:off x="4399515" y="2772120"/>
              <a:ext cx="32385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7" name="Google Shape;2027;p38"/>
            <p:cNvSpPr txBox="1"/>
            <p:nvPr/>
          </p:nvSpPr>
          <p:spPr>
            <a:xfrm>
              <a:off x="4783690" y="2883245"/>
              <a:ext cx="5905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/>
            </a:p>
          </p:txBody>
        </p:sp>
        <p:grpSp>
          <p:nvGrpSpPr>
            <p:cNvPr id="2028" name="Google Shape;2028;p38"/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029" name="Google Shape;2029;p3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30" name="Google Shape;2030;p3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31" name="Google Shape;2031;p3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32" name="Google Shape;2032;p3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3" name="Google Shape;2033;p3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4" name="Google Shape;2034;p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5" name="Google Shape;2035;p3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36" name="Google Shape;2036;p38"/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037" name="Google Shape;2037;p3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38" name="Google Shape;2038;p3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39" name="Google Shape;2039;p3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40" name="Google Shape;2040;p3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3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2" name="Google Shape;2042;p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3" name="Google Shape;2043;p3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044" name="Google Shape;2044;p38"/>
          <p:cNvGrpSpPr/>
          <p:nvPr/>
        </p:nvGrpSpPr>
        <p:grpSpPr>
          <a:xfrm>
            <a:off x="3244703" y="3195320"/>
            <a:ext cx="1748069" cy="467910"/>
            <a:chOff x="3229463" y="3119120"/>
            <a:chExt cx="1748069" cy="467910"/>
          </a:xfrm>
        </p:grpSpPr>
        <p:cxnSp>
          <p:nvCxnSpPr>
            <p:cNvPr id="2045" name="Google Shape;2045;p38"/>
            <p:cNvCxnSpPr/>
            <p:nvPr/>
          </p:nvCxnSpPr>
          <p:spPr>
            <a:xfrm flipH="1">
              <a:off x="4023360" y="3119120"/>
              <a:ext cx="954172" cy="18796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6" name="Google Shape;2046;p38"/>
            <p:cNvSpPr txBox="1"/>
            <p:nvPr/>
          </p:nvSpPr>
          <p:spPr>
            <a:xfrm>
              <a:off x="3229463" y="3311570"/>
              <a:ext cx="1516761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Link-layer frame</a:t>
              </a:r>
              <a:endParaRPr/>
            </a:p>
          </p:txBody>
        </p:sp>
      </p:grpSp>
      <p:grpSp>
        <p:nvGrpSpPr>
          <p:cNvPr id="2047" name="Google Shape;2047;p38"/>
          <p:cNvGrpSpPr/>
          <p:nvPr/>
        </p:nvGrpSpPr>
        <p:grpSpPr>
          <a:xfrm>
            <a:off x="4809173" y="2446973"/>
            <a:ext cx="4886325" cy="951547"/>
            <a:chOff x="4672013" y="2614613"/>
            <a:chExt cx="4886325" cy="1157209"/>
          </a:xfrm>
        </p:grpSpPr>
        <p:grpSp>
          <p:nvGrpSpPr>
            <p:cNvPr id="2048" name="Google Shape;2048;p38"/>
            <p:cNvGrpSpPr/>
            <p:nvPr/>
          </p:nvGrpSpPr>
          <p:grpSpPr>
            <a:xfrm>
              <a:off x="4674002" y="3295572"/>
              <a:ext cx="4854575" cy="476250"/>
              <a:chOff x="1427882" y="4286172"/>
              <a:chExt cx="4854575" cy="476250"/>
            </a:xfrm>
          </p:grpSpPr>
          <p:sp>
            <p:nvSpPr>
              <p:cNvPr id="2049" name="Google Shape;2049;p38"/>
              <p:cNvSpPr/>
              <p:nvPr/>
            </p:nvSpPr>
            <p:spPr>
              <a:xfrm>
                <a:off x="1427882" y="4289347"/>
                <a:ext cx="4854575" cy="468313"/>
              </a:xfrm>
              <a:prstGeom prst="rect">
                <a:avLst/>
              </a:prstGeom>
              <a:gradFill>
                <a:gsLst>
                  <a:gs pos="0">
                    <a:srgbClr val="CC0000">
                      <a:alpha val="40784"/>
                    </a:srgbClr>
                  </a:gs>
                  <a:gs pos="100000">
                    <a:srgbClr val="CC0000">
                      <a:alpha val="37647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50" name="Google Shape;2050;p38"/>
              <p:cNvCxnSpPr/>
              <p:nvPr/>
            </p:nvCxnSpPr>
            <p:spPr>
              <a:xfrm>
                <a:off x="2791545" y="4287759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1" name="Google Shape;2051;p38"/>
              <p:cNvCxnSpPr/>
              <p:nvPr/>
            </p:nvCxnSpPr>
            <p:spPr>
              <a:xfrm>
                <a:off x="2313707" y="4286172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2" name="Google Shape;2052;p38"/>
              <p:cNvCxnSpPr/>
              <p:nvPr/>
            </p:nvCxnSpPr>
            <p:spPr>
              <a:xfrm>
                <a:off x="1867620" y="4294109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53" name="Google Shape;2053;p38"/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cxnSp>
              <p:nvCxnSpPr>
                <p:cNvPr id="2054" name="Google Shape;2054;p38"/>
                <p:cNvCxnSpPr/>
                <p:nvPr/>
              </p:nvCxnSpPr>
              <p:spPr>
                <a:xfrm>
                  <a:off x="8743763" y="4053716"/>
                  <a:ext cx="8572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2055" name="Google Shape;2055;p38"/>
                <p:cNvSpPr/>
                <p:nvPr/>
              </p:nvSpPr>
              <p:spPr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56" name="Google Shape;2056;p38"/>
                <p:cNvCxnSpPr/>
                <p:nvPr/>
              </p:nvCxnSpPr>
              <p:spPr>
                <a:xfrm>
                  <a:off x="8174757" y="3751184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57" name="Google Shape;2057;p38"/>
                <p:cNvCxnSpPr/>
                <p:nvPr/>
              </p:nvCxnSpPr>
              <p:spPr>
                <a:xfrm>
                  <a:off x="8133482" y="3749596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58" name="Google Shape;2058;p38"/>
                <p:cNvCxnSpPr/>
                <p:nvPr/>
              </p:nvCxnSpPr>
              <p:spPr>
                <a:xfrm>
                  <a:off x="8250957" y="3751184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59" name="Google Shape;2059;p38"/>
                <p:cNvCxnSpPr/>
                <p:nvPr/>
              </p:nvCxnSpPr>
              <p:spPr>
                <a:xfrm>
                  <a:off x="8292232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0" name="Google Shape;2060;p38"/>
                <p:cNvCxnSpPr/>
                <p:nvPr/>
              </p:nvCxnSpPr>
              <p:spPr>
                <a:xfrm>
                  <a:off x="8346207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1" name="Google Shape;2061;p38"/>
                <p:cNvCxnSpPr/>
                <p:nvPr/>
              </p:nvCxnSpPr>
              <p:spPr>
                <a:xfrm>
                  <a:off x="8412882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2" name="Google Shape;2062;p38"/>
                <p:cNvCxnSpPr/>
                <p:nvPr/>
              </p:nvCxnSpPr>
              <p:spPr>
                <a:xfrm>
                  <a:off x="8724032" y="3759121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3" name="Google Shape;2063;p38"/>
                <p:cNvCxnSpPr/>
                <p:nvPr/>
              </p:nvCxnSpPr>
              <p:spPr>
                <a:xfrm>
                  <a:off x="9098682" y="3759121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064" name="Google Shape;2064;p38"/>
              <p:cNvSpPr/>
              <p:nvPr/>
            </p:nvSpPr>
            <p:spPr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p38"/>
              <p:cNvSpPr txBox="1"/>
              <p:nvPr/>
            </p:nvSpPr>
            <p:spPr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 datagram</a:t>
                </a:r>
                <a:endParaRPr/>
              </a:p>
            </p:txBody>
          </p:sp>
        </p:grpSp>
        <p:sp>
          <p:nvSpPr>
            <p:cNvPr id="2066" name="Google Shape;2066;p38"/>
            <p:cNvSpPr/>
            <p:nvPr/>
          </p:nvSpPr>
          <p:spPr>
            <a:xfrm>
              <a:off x="4672013" y="2614613"/>
              <a:ext cx="4886325" cy="685800"/>
            </a:xfrm>
            <a:custGeom>
              <a:rect b="b" l="l" r="r" t="t"/>
              <a:pathLst>
                <a:path extrusionOk="0" h="685800" w="4886325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D8D8D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7" name="Google Shape;2067;p38"/>
          <p:cNvGrpSpPr/>
          <p:nvPr/>
        </p:nvGrpSpPr>
        <p:grpSpPr>
          <a:xfrm>
            <a:off x="6964680" y="2244997"/>
            <a:ext cx="838200" cy="376149"/>
            <a:chOff x="6827520" y="2412637"/>
            <a:chExt cx="838200" cy="376149"/>
          </a:xfrm>
        </p:grpSpPr>
        <p:sp>
          <p:nvSpPr>
            <p:cNvPr id="2068" name="Google Shape;2068;p38"/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F7FC"/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69" name="Google Shape;2069;p38"/>
            <p:cNvGrpSpPr/>
            <p:nvPr/>
          </p:nvGrpSpPr>
          <p:grpSpPr>
            <a:xfrm>
              <a:off x="6827520" y="2412637"/>
              <a:ext cx="334944" cy="376149"/>
              <a:chOff x="335231" y="4406992"/>
              <a:chExt cx="1251280" cy="2136350"/>
            </a:xfrm>
          </p:grpSpPr>
          <p:sp>
            <p:nvSpPr>
              <p:cNvPr id="2070" name="Google Shape;2070;p38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38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38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73" name="Google Shape;2073;p38"/>
          <p:cNvSpPr txBox="1"/>
          <p:nvPr/>
        </p:nvSpPr>
        <p:spPr>
          <a:xfrm>
            <a:off x="4831080" y="3383280"/>
            <a:ext cx="4879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usual: datagram as payload in link-layer frame</a:t>
            </a:r>
            <a:endParaRPr/>
          </a:p>
        </p:txBody>
      </p:sp>
      <p:grpSp>
        <p:nvGrpSpPr>
          <p:cNvPr id="2074" name="Google Shape;2074;p38"/>
          <p:cNvGrpSpPr/>
          <p:nvPr/>
        </p:nvGrpSpPr>
        <p:grpSpPr>
          <a:xfrm>
            <a:off x="2834599" y="5970990"/>
            <a:ext cx="2306635" cy="467910"/>
            <a:chOff x="2670897" y="3119120"/>
            <a:chExt cx="2306635" cy="467910"/>
          </a:xfrm>
        </p:grpSpPr>
        <p:cxnSp>
          <p:nvCxnSpPr>
            <p:cNvPr id="2075" name="Google Shape;2075;p38"/>
            <p:cNvCxnSpPr/>
            <p:nvPr/>
          </p:nvCxnSpPr>
          <p:spPr>
            <a:xfrm flipH="1">
              <a:off x="4023360" y="3119120"/>
              <a:ext cx="954172" cy="18796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6" name="Google Shape;2076;p38"/>
            <p:cNvSpPr txBox="1"/>
            <p:nvPr/>
          </p:nvSpPr>
          <p:spPr>
            <a:xfrm>
              <a:off x="2670897" y="3311570"/>
              <a:ext cx="1348447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IPv4 datagram</a:t>
              </a:r>
              <a:endParaRPr/>
            </a:p>
          </p:txBody>
        </p:sp>
      </p:grpSp>
      <p:grpSp>
        <p:nvGrpSpPr>
          <p:cNvPr id="2077" name="Google Shape;2077;p38"/>
          <p:cNvGrpSpPr/>
          <p:nvPr/>
        </p:nvGrpSpPr>
        <p:grpSpPr>
          <a:xfrm>
            <a:off x="4511040" y="5222642"/>
            <a:ext cx="5332920" cy="956237"/>
            <a:chOff x="4225418" y="2614613"/>
            <a:chExt cx="5332920" cy="1162913"/>
          </a:xfrm>
        </p:grpSpPr>
        <p:grpSp>
          <p:nvGrpSpPr>
            <p:cNvPr id="2078" name="Google Shape;2078;p38"/>
            <p:cNvGrpSpPr/>
            <p:nvPr/>
          </p:nvGrpSpPr>
          <p:grpSpPr>
            <a:xfrm>
              <a:off x="4225418" y="3289252"/>
              <a:ext cx="5303159" cy="488274"/>
              <a:chOff x="979298" y="4279852"/>
              <a:chExt cx="5303159" cy="488274"/>
            </a:xfrm>
          </p:grpSpPr>
          <p:sp>
            <p:nvSpPr>
              <p:cNvPr id="2079" name="Google Shape;2079;p38"/>
              <p:cNvSpPr/>
              <p:nvPr/>
            </p:nvSpPr>
            <p:spPr>
              <a:xfrm>
                <a:off x="979298" y="4289347"/>
                <a:ext cx="5303159" cy="468314"/>
              </a:xfrm>
              <a:prstGeom prst="rect">
                <a:avLst/>
              </a:prstGeom>
              <a:gradFill>
                <a:gsLst>
                  <a:gs pos="0">
                    <a:srgbClr val="CC0000">
                      <a:alpha val="40784"/>
                    </a:srgbClr>
                  </a:gs>
                  <a:gs pos="100000">
                    <a:srgbClr val="CC0000">
                      <a:alpha val="37647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80" name="Google Shape;2080;p38"/>
              <p:cNvCxnSpPr/>
              <p:nvPr/>
            </p:nvCxnSpPr>
            <p:spPr>
              <a:xfrm>
                <a:off x="2791545" y="4287759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1" name="Google Shape;2081;p38"/>
              <p:cNvCxnSpPr/>
              <p:nvPr/>
            </p:nvCxnSpPr>
            <p:spPr>
              <a:xfrm>
                <a:off x="2313707" y="4286172"/>
                <a:ext cx="0" cy="4683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2" name="Google Shape;2082;p38"/>
              <p:cNvCxnSpPr/>
              <p:nvPr/>
            </p:nvCxnSpPr>
            <p:spPr>
              <a:xfrm>
                <a:off x="2129045" y="4299810"/>
                <a:ext cx="0" cy="4683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083" name="Google Shape;2083;p38"/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cxnSp>
              <p:nvCxnSpPr>
                <p:cNvPr id="2084" name="Google Shape;2084;p38"/>
                <p:cNvCxnSpPr/>
                <p:nvPr/>
              </p:nvCxnSpPr>
              <p:spPr>
                <a:xfrm>
                  <a:off x="8743763" y="4053716"/>
                  <a:ext cx="8572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2085" name="Google Shape;2085;p38"/>
                <p:cNvSpPr/>
                <p:nvPr/>
              </p:nvSpPr>
              <p:spPr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86" name="Google Shape;2086;p38"/>
                <p:cNvCxnSpPr/>
                <p:nvPr/>
              </p:nvCxnSpPr>
              <p:spPr>
                <a:xfrm>
                  <a:off x="8174757" y="3751184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7" name="Google Shape;2087;p38"/>
                <p:cNvCxnSpPr/>
                <p:nvPr/>
              </p:nvCxnSpPr>
              <p:spPr>
                <a:xfrm>
                  <a:off x="8133482" y="3749596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8" name="Google Shape;2088;p38"/>
                <p:cNvCxnSpPr/>
                <p:nvPr/>
              </p:nvCxnSpPr>
              <p:spPr>
                <a:xfrm>
                  <a:off x="8250957" y="3751184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9" name="Google Shape;2089;p38"/>
                <p:cNvCxnSpPr/>
                <p:nvPr/>
              </p:nvCxnSpPr>
              <p:spPr>
                <a:xfrm>
                  <a:off x="8292232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90" name="Google Shape;2090;p38"/>
                <p:cNvCxnSpPr/>
                <p:nvPr/>
              </p:nvCxnSpPr>
              <p:spPr>
                <a:xfrm>
                  <a:off x="8346207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91" name="Google Shape;2091;p38"/>
                <p:cNvCxnSpPr/>
                <p:nvPr/>
              </p:nvCxnSpPr>
              <p:spPr>
                <a:xfrm>
                  <a:off x="8412882" y="3748009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92" name="Google Shape;2092;p38"/>
                <p:cNvCxnSpPr/>
                <p:nvPr/>
              </p:nvCxnSpPr>
              <p:spPr>
                <a:xfrm>
                  <a:off x="8724032" y="3759121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93" name="Google Shape;2093;p38"/>
                <p:cNvCxnSpPr/>
                <p:nvPr/>
              </p:nvCxnSpPr>
              <p:spPr>
                <a:xfrm>
                  <a:off x="9098682" y="3759121"/>
                  <a:ext cx="0" cy="4032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094" name="Google Shape;2094;p38"/>
              <p:cNvSpPr/>
              <p:nvPr/>
            </p:nvSpPr>
            <p:spPr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38"/>
              <p:cNvSpPr txBox="1"/>
              <p:nvPr/>
            </p:nvSpPr>
            <p:spPr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IPv6 datagram</a:t>
                </a:r>
                <a:endParaRPr/>
              </a:p>
            </p:txBody>
          </p:sp>
          <p:cxnSp>
            <p:nvCxnSpPr>
              <p:cNvPr id="2096" name="Google Shape;2096;p38"/>
              <p:cNvCxnSpPr/>
              <p:nvPr/>
            </p:nvCxnSpPr>
            <p:spPr>
              <a:xfrm>
                <a:off x="1141962" y="4285554"/>
                <a:ext cx="0" cy="4683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7" name="Google Shape;2097;p38"/>
              <p:cNvCxnSpPr/>
              <p:nvPr/>
            </p:nvCxnSpPr>
            <p:spPr>
              <a:xfrm>
                <a:off x="1214646" y="4294108"/>
                <a:ext cx="0" cy="4683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8" name="Google Shape;2098;p38"/>
              <p:cNvCxnSpPr/>
              <p:nvPr/>
            </p:nvCxnSpPr>
            <p:spPr>
              <a:xfrm>
                <a:off x="1024733" y="4279852"/>
                <a:ext cx="0" cy="4683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9" name="Google Shape;2099;p38"/>
              <p:cNvCxnSpPr/>
              <p:nvPr/>
            </p:nvCxnSpPr>
            <p:spPr>
              <a:xfrm>
                <a:off x="1749220" y="4299812"/>
                <a:ext cx="0" cy="4683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00" name="Google Shape;2100;p38"/>
            <p:cNvSpPr/>
            <p:nvPr/>
          </p:nvSpPr>
          <p:spPr>
            <a:xfrm>
              <a:off x="4672013" y="2614613"/>
              <a:ext cx="4886325" cy="685800"/>
            </a:xfrm>
            <a:custGeom>
              <a:rect b="b" l="l" r="r" t="t"/>
              <a:pathLst>
                <a:path extrusionOk="0" h="685800" w="4886325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D8D8D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1" name="Google Shape;2101;p38"/>
          <p:cNvSpPr txBox="1"/>
          <p:nvPr/>
        </p:nvSpPr>
        <p:spPr>
          <a:xfrm>
            <a:off x="4979542" y="6158950"/>
            <a:ext cx="5373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tunneling: IPv6 datagram as payload in a IPv4 datagram</a:t>
            </a:r>
            <a:endParaRPr/>
          </a:p>
        </p:txBody>
      </p:sp>
      <p:grpSp>
        <p:nvGrpSpPr>
          <p:cNvPr id="2102" name="Google Shape;2102;p38"/>
          <p:cNvGrpSpPr/>
          <p:nvPr/>
        </p:nvGrpSpPr>
        <p:grpSpPr>
          <a:xfrm>
            <a:off x="6903720" y="4965337"/>
            <a:ext cx="838200" cy="376149"/>
            <a:chOff x="6827520" y="2412637"/>
            <a:chExt cx="838200" cy="376149"/>
          </a:xfrm>
        </p:grpSpPr>
        <p:sp>
          <p:nvSpPr>
            <p:cNvPr id="2103" name="Google Shape;2103;p38"/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F7FC"/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04" name="Google Shape;2104;p38"/>
            <p:cNvGrpSpPr/>
            <p:nvPr/>
          </p:nvGrpSpPr>
          <p:grpSpPr>
            <a:xfrm>
              <a:off x="6827520" y="2412637"/>
              <a:ext cx="334944" cy="376149"/>
              <a:chOff x="335231" y="4406992"/>
              <a:chExt cx="1251280" cy="2136350"/>
            </a:xfrm>
          </p:grpSpPr>
          <p:sp>
            <p:nvSpPr>
              <p:cNvPr id="2105" name="Google Shape;2105;p38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6;p38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7;p38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08" name="Google Shape;2108;p38"/>
          <p:cNvSpPr/>
          <p:nvPr/>
        </p:nvSpPr>
        <p:spPr>
          <a:xfrm>
            <a:off x="822960" y="1356360"/>
            <a:ext cx="10058400" cy="240792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9" name="Google Shape;2109;p38"/>
          <p:cNvGrpSpPr/>
          <p:nvPr/>
        </p:nvGrpSpPr>
        <p:grpSpPr>
          <a:xfrm>
            <a:off x="5243279" y="4964546"/>
            <a:ext cx="3924175" cy="366887"/>
            <a:chOff x="5243279" y="4964546"/>
            <a:chExt cx="3924175" cy="366887"/>
          </a:xfrm>
        </p:grpSpPr>
        <p:sp>
          <p:nvSpPr>
            <p:cNvPr id="2110" name="Google Shape;2110;p38"/>
            <p:cNvSpPr txBox="1"/>
            <p:nvPr/>
          </p:nvSpPr>
          <p:spPr>
            <a:xfrm>
              <a:off x="5243279" y="4964546"/>
              <a:ext cx="86914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IPv6/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v4</a:t>
              </a:r>
              <a:endParaRPr/>
            </a:p>
          </p:txBody>
        </p:sp>
        <p:sp>
          <p:nvSpPr>
            <p:cNvPr id="2111" name="Google Shape;2111;p38"/>
            <p:cNvSpPr txBox="1"/>
            <p:nvPr/>
          </p:nvSpPr>
          <p:spPr>
            <a:xfrm>
              <a:off x="8298305" y="4992879"/>
              <a:ext cx="86914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IPv6/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v4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7" name="Google Shape;2117;p39"/>
          <p:cNvGrpSpPr/>
          <p:nvPr/>
        </p:nvGrpSpPr>
        <p:grpSpPr>
          <a:xfrm>
            <a:off x="6285630" y="3268207"/>
            <a:ext cx="1176337" cy="3330575"/>
            <a:chOff x="3507" y="2128"/>
            <a:chExt cx="741" cy="2098"/>
          </a:xfrm>
        </p:grpSpPr>
        <p:cxnSp>
          <p:nvCxnSpPr>
            <p:cNvPr id="2118" name="Google Shape;2118;p39"/>
            <p:cNvCxnSpPr/>
            <p:nvPr/>
          </p:nvCxnSpPr>
          <p:spPr>
            <a:xfrm>
              <a:off x="3627" y="2128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19" name="Google Shape;2119;p39"/>
            <p:cNvSpPr txBox="1"/>
            <p:nvPr/>
          </p:nvSpPr>
          <p:spPr>
            <a:xfrm>
              <a:off x="3507" y="3775"/>
              <a:ext cx="741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B-to-C: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 inside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IPv4</a:t>
              </a:r>
              <a:endParaRPr/>
            </a:p>
          </p:txBody>
        </p:sp>
        <p:cxnSp>
          <p:nvCxnSpPr>
            <p:cNvPr id="2120" name="Google Shape;2120;p39"/>
            <p:cNvCxnSpPr/>
            <p:nvPr/>
          </p:nvCxnSpPr>
          <p:spPr>
            <a:xfrm>
              <a:off x="3883" y="3640"/>
              <a:ext cx="0" cy="1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2121" name="Google Shape;2121;p39"/>
            <p:cNvGrpSpPr/>
            <p:nvPr/>
          </p:nvGrpSpPr>
          <p:grpSpPr>
            <a:xfrm>
              <a:off x="3558" y="2220"/>
              <a:ext cx="583" cy="1388"/>
              <a:chOff x="478" y="2082"/>
              <a:chExt cx="583" cy="1388"/>
            </a:xfrm>
          </p:grpSpPr>
          <p:sp>
            <p:nvSpPr>
              <p:cNvPr id="2122" name="Google Shape;2122;p39"/>
              <p:cNvSpPr/>
              <p:nvPr/>
            </p:nvSpPr>
            <p:spPr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23" name="Google Shape;2123;p39"/>
              <p:cNvGrpSpPr/>
              <p:nvPr/>
            </p:nvGrpSpPr>
            <p:grpSpPr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2124" name="Google Shape;2124;p39"/>
                <p:cNvSpPr/>
                <p:nvPr/>
              </p:nvSpPr>
              <p:spPr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5" name="Google Shape;2125;p39"/>
                <p:cNvSpPr txBox="1"/>
                <p:nvPr/>
              </p:nvSpPr>
              <p:spPr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Flow: 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Src: A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Dest: F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  <p:sp>
            <p:nvSpPr>
              <p:cNvPr id="2126" name="Google Shape;2126;p39"/>
              <p:cNvSpPr txBox="1"/>
              <p:nvPr/>
            </p:nvSpPr>
            <p:spPr>
              <a:xfrm>
                <a:off x="49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dest: E</a:t>
                </a:r>
                <a:endParaRPr/>
              </a:p>
            </p:txBody>
          </p:sp>
        </p:grpSp>
      </p:grpSp>
      <p:sp>
        <p:nvSpPr>
          <p:cNvPr id="2127" name="Google Shape;2127;p39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Tunneling</a:t>
            </a:r>
            <a:endParaRPr/>
          </a:p>
        </p:txBody>
      </p:sp>
      <p:sp>
        <p:nvSpPr>
          <p:cNvPr id="2128" name="Google Shape;2128;p39"/>
          <p:cNvSpPr txBox="1"/>
          <p:nvPr/>
        </p:nvSpPr>
        <p:spPr>
          <a:xfrm>
            <a:off x="1638577" y="2479069"/>
            <a:ext cx="19080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 view:</a:t>
            </a:r>
            <a:endParaRPr/>
          </a:p>
        </p:txBody>
      </p:sp>
      <p:cxnSp>
        <p:nvCxnSpPr>
          <p:cNvPr id="2129" name="Google Shape;2129;p39"/>
          <p:cNvCxnSpPr/>
          <p:nvPr/>
        </p:nvCxnSpPr>
        <p:spPr>
          <a:xfrm>
            <a:off x="5432976" y="2762595"/>
            <a:ext cx="2750903" cy="0"/>
          </a:xfrm>
          <a:prstGeom prst="straightConnector1">
            <a:avLst/>
          </a:prstGeom>
          <a:noFill/>
          <a:ln cap="flat" cmpd="sng" w="19050">
            <a:solidFill>
              <a:srgbClr val="CC000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0" name="Google Shape;2130;p39"/>
          <p:cNvSpPr txBox="1"/>
          <p:nvPr/>
        </p:nvSpPr>
        <p:spPr>
          <a:xfrm>
            <a:off x="5807990" y="2886420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IPv4</a:t>
            </a:r>
            <a:endParaRPr/>
          </a:p>
        </p:txBody>
      </p:sp>
      <p:sp>
        <p:nvSpPr>
          <p:cNvPr id="2131" name="Google Shape;2131;p39"/>
          <p:cNvSpPr txBox="1"/>
          <p:nvPr/>
        </p:nvSpPr>
        <p:spPr>
          <a:xfrm>
            <a:off x="7170020" y="2888007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IPv4</a:t>
            </a:r>
            <a:endParaRPr/>
          </a:p>
        </p:txBody>
      </p:sp>
      <p:sp>
        <p:nvSpPr>
          <p:cNvPr id="2132" name="Google Shape;2132;p39"/>
          <p:cNvSpPr txBox="1"/>
          <p:nvPr/>
        </p:nvSpPr>
        <p:spPr>
          <a:xfrm>
            <a:off x="8317782" y="2256182"/>
            <a:ext cx="3365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2133" name="Google Shape;2133;p39"/>
          <p:cNvCxnSpPr/>
          <p:nvPr/>
        </p:nvCxnSpPr>
        <p:spPr>
          <a:xfrm>
            <a:off x="8857532" y="2753070"/>
            <a:ext cx="32385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39"/>
          <p:cNvSpPr txBox="1"/>
          <p:nvPr/>
        </p:nvSpPr>
        <p:spPr>
          <a:xfrm>
            <a:off x="8099025" y="2875307"/>
            <a:ext cx="8691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IPv6/</a:t>
            </a: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v4</a:t>
            </a:r>
            <a:endParaRPr/>
          </a:p>
        </p:txBody>
      </p:sp>
      <p:sp>
        <p:nvSpPr>
          <p:cNvPr id="2135" name="Google Shape;2135;p39"/>
          <p:cNvSpPr txBox="1"/>
          <p:nvPr/>
        </p:nvSpPr>
        <p:spPr>
          <a:xfrm>
            <a:off x="9202020" y="2878482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IPv6</a:t>
            </a:r>
            <a:endParaRPr/>
          </a:p>
        </p:txBody>
      </p:sp>
      <p:sp>
        <p:nvSpPr>
          <p:cNvPr id="2136" name="Google Shape;2136;p39"/>
          <p:cNvSpPr txBox="1"/>
          <p:nvPr/>
        </p:nvSpPr>
        <p:spPr>
          <a:xfrm>
            <a:off x="9334991" y="2262532"/>
            <a:ext cx="3238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137" name="Google Shape;2137;p39"/>
          <p:cNvSpPr txBox="1"/>
          <p:nvPr/>
        </p:nvSpPr>
        <p:spPr>
          <a:xfrm>
            <a:off x="5923515" y="2249832"/>
            <a:ext cx="349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138" name="Google Shape;2138;p39"/>
          <p:cNvSpPr txBox="1"/>
          <p:nvPr/>
        </p:nvSpPr>
        <p:spPr>
          <a:xfrm>
            <a:off x="7311307" y="2253007"/>
            <a:ext cx="349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grpSp>
        <p:nvGrpSpPr>
          <p:cNvPr id="2139" name="Google Shape;2139;p39"/>
          <p:cNvGrpSpPr/>
          <p:nvPr/>
        </p:nvGrpSpPr>
        <p:grpSpPr>
          <a:xfrm>
            <a:off x="5730326" y="2580911"/>
            <a:ext cx="735192" cy="352789"/>
            <a:chOff x="7493876" y="2774731"/>
            <a:chExt cx="1481958" cy="894622"/>
          </a:xfrm>
        </p:grpSpPr>
        <p:sp>
          <p:nvSpPr>
            <p:cNvPr id="2140" name="Google Shape;2140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41" name="Google Shape;2141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42" name="Google Shape;2142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3" name="Google Shape;2143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4" name="Google Shape;2144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5" name="Google Shape;2145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6" name="Google Shape;2146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47" name="Google Shape;2147;p39"/>
          <p:cNvGrpSpPr/>
          <p:nvPr/>
        </p:nvGrpSpPr>
        <p:grpSpPr>
          <a:xfrm>
            <a:off x="3670217" y="2228091"/>
            <a:ext cx="1845462" cy="967204"/>
            <a:chOff x="3670217" y="2254595"/>
            <a:chExt cx="1845462" cy="967204"/>
          </a:xfrm>
        </p:grpSpPr>
        <p:sp>
          <p:nvSpPr>
            <p:cNvPr id="2148" name="Google Shape;2148;p39"/>
            <p:cNvSpPr txBox="1"/>
            <p:nvPr/>
          </p:nvSpPr>
          <p:spPr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149" name="Google Shape;2149;p39"/>
            <p:cNvSpPr txBox="1"/>
            <p:nvPr/>
          </p:nvSpPr>
          <p:spPr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2150" name="Google Shape;2150;p39"/>
            <p:cNvCxnSpPr/>
            <p:nvPr/>
          </p:nvCxnSpPr>
          <p:spPr>
            <a:xfrm>
              <a:off x="4399515" y="2772120"/>
              <a:ext cx="32385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1" name="Google Shape;2151;p39"/>
            <p:cNvSpPr txBox="1"/>
            <p:nvPr/>
          </p:nvSpPr>
          <p:spPr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/>
            </a:p>
          </p:txBody>
        </p:sp>
        <p:sp>
          <p:nvSpPr>
            <p:cNvPr id="2152" name="Google Shape;2152;p39"/>
            <p:cNvSpPr txBox="1"/>
            <p:nvPr/>
          </p:nvSpPr>
          <p:spPr>
            <a:xfrm>
              <a:off x="4646530" y="2883245"/>
              <a:ext cx="86914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IPv6/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v4</a:t>
              </a:r>
              <a:endParaRPr/>
            </a:p>
          </p:txBody>
        </p:sp>
        <p:grpSp>
          <p:nvGrpSpPr>
            <p:cNvPr id="2153" name="Google Shape;2153;p39"/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154" name="Google Shape;2154;p3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155" name="Google Shape;2155;p3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156" name="Google Shape;2156;p3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57" name="Google Shape;2157;p3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8" name="Google Shape;2158;p3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9" name="Google Shape;2159;p3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0" name="Google Shape;2160;p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61" name="Google Shape;2161;p39"/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162" name="Google Shape;2162;p3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163" name="Google Shape;2163;p3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164" name="Google Shape;2164;p3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65" name="Google Shape;2165;p3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6" name="Google Shape;2166;p3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7" name="Google Shape;2167;p3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8" name="Google Shape;2168;p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169" name="Google Shape;2169;p39"/>
          <p:cNvGrpSpPr/>
          <p:nvPr/>
        </p:nvGrpSpPr>
        <p:grpSpPr>
          <a:xfrm>
            <a:off x="8149080" y="2589144"/>
            <a:ext cx="731126" cy="344556"/>
            <a:chOff x="7493876" y="2774731"/>
            <a:chExt cx="1481958" cy="894622"/>
          </a:xfrm>
        </p:grpSpPr>
        <p:sp>
          <p:nvSpPr>
            <p:cNvPr id="2170" name="Google Shape;2170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71" name="Google Shape;2171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72" name="Google Shape;2172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73" name="Google Shape;2173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5" name="Google Shape;2175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6" name="Google Shape;2176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77" name="Google Shape;2177;p39"/>
          <p:cNvGrpSpPr/>
          <p:nvPr/>
        </p:nvGrpSpPr>
        <p:grpSpPr>
          <a:xfrm>
            <a:off x="9154917" y="2589144"/>
            <a:ext cx="731126" cy="344556"/>
            <a:chOff x="7493876" y="2774731"/>
            <a:chExt cx="1481958" cy="894622"/>
          </a:xfrm>
        </p:grpSpPr>
        <p:sp>
          <p:nvSpPr>
            <p:cNvPr id="2178" name="Google Shape;2178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79" name="Google Shape;2179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80" name="Google Shape;2180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81" name="Google Shape;2181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2" name="Google Shape;2182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3" name="Google Shape;2183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4" name="Google Shape;2184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85" name="Google Shape;2185;p39"/>
          <p:cNvGrpSpPr/>
          <p:nvPr/>
        </p:nvGrpSpPr>
        <p:grpSpPr>
          <a:xfrm>
            <a:off x="7115503" y="2580911"/>
            <a:ext cx="735192" cy="352789"/>
            <a:chOff x="7493876" y="2774731"/>
            <a:chExt cx="1481958" cy="894622"/>
          </a:xfrm>
        </p:grpSpPr>
        <p:sp>
          <p:nvSpPr>
            <p:cNvPr id="2186" name="Google Shape;2186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87" name="Google Shape;2187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88" name="Google Shape;2188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89" name="Google Shape;2189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0" name="Google Shape;2190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1" name="Google Shape;2191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2" name="Google Shape;2192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93" name="Google Shape;2193;p39"/>
          <p:cNvSpPr/>
          <p:nvPr/>
        </p:nvSpPr>
        <p:spPr>
          <a:xfrm>
            <a:off x="5385351" y="1603264"/>
            <a:ext cx="2751341" cy="76275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39"/>
          <p:cNvSpPr txBox="1"/>
          <p:nvPr/>
        </p:nvSpPr>
        <p:spPr>
          <a:xfrm>
            <a:off x="1850265" y="1375666"/>
            <a:ext cx="17098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logical view:</a:t>
            </a:r>
            <a:endParaRPr/>
          </a:p>
        </p:txBody>
      </p:sp>
      <p:sp>
        <p:nvSpPr>
          <p:cNvPr id="2195" name="Google Shape;2195;p39"/>
          <p:cNvSpPr txBox="1"/>
          <p:nvPr/>
        </p:nvSpPr>
        <p:spPr>
          <a:xfrm>
            <a:off x="5677401" y="1119786"/>
            <a:ext cx="2319337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IPv4 tunnel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connecting IPv6 routers</a:t>
            </a:r>
            <a:endParaRPr/>
          </a:p>
        </p:txBody>
      </p:sp>
      <p:grpSp>
        <p:nvGrpSpPr>
          <p:cNvPr id="2196" name="Google Shape;2196;p39"/>
          <p:cNvGrpSpPr/>
          <p:nvPr/>
        </p:nvGrpSpPr>
        <p:grpSpPr>
          <a:xfrm>
            <a:off x="3663591" y="1108282"/>
            <a:ext cx="1860702" cy="967204"/>
            <a:chOff x="3670217" y="2254595"/>
            <a:chExt cx="1860702" cy="967204"/>
          </a:xfrm>
        </p:grpSpPr>
        <p:sp>
          <p:nvSpPr>
            <p:cNvPr id="2197" name="Google Shape;2197;p39"/>
            <p:cNvSpPr txBox="1"/>
            <p:nvPr/>
          </p:nvSpPr>
          <p:spPr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198" name="Google Shape;2198;p39"/>
            <p:cNvSpPr txBox="1"/>
            <p:nvPr/>
          </p:nvSpPr>
          <p:spPr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2199" name="Google Shape;2199;p39"/>
            <p:cNvCxnSpPr/>
            <p:nvPr/>
          </p:nvCxnSpPr>
          <p:spPr>
            <a:xfrm>
              <a:off x="4399515" y="2772120"/>
              <a:ext cx="32385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00" name="Google Shape;2200;p39"/>
            <p:cNvSpPr txBox="1"/>
            <p:nvPr/>
          </p:nvSpPr>
          <p:spPr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/>
            </a:p>
          </p:txBody>
        </p:sp>
        <p:sp>
          <p:nvSpPr>
            <p:cNvPr id="2201" name="Google Shape;2201;p39"/>
            <p:cNvSpPr txBox="1"/>
            <p:nvPr/>
          </p:nvSpPr>
          <p:spPr>
            <a:xfrm>
              <a:off x="4661770" y="2883245"/>
              <a:ext cx="86914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IPv6/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v4</a:t>
              </a:r>
              <a:endParaRPr/>
            </a:p>
          </p:txBody>
        </p:sp>
        <p:grpSp>
          <p:nvGrpSpPr>
            <p:cNvPr id="2202" name="Google Shape;2202;p39"/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203" name="Google Shape;2203;p3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04" name="Google Shape;2204;p3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05" name="Google Shape;2205;p3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06" name="Google Shape;2206;p3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7" name="Google Shape;2207;p3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8" name="Google Shape;2208;p3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9" name="Google Shape;2209;p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10" name="Google Shape;2210;p39"/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211" name="Google Shape;2211;p3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12" name="Google Shape;2212;p3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13" name="Google Shape;2213;p3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14" name="Google Shape;2214;p3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5" name="Google Shape;2215;p3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6" name="Google Shape;2216;p3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7" name="Google Shape;2217;p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218" name="Google Shape;2218;p39"/>
          <p:cNvGrpSpPr/>
          <p:nvPr/>
        </p:nvGrpSpPr>
        <p:grpSpPr>
          <a:xfrm>
            <a:off x="8121650" y="1138202"/>
            <a:ext cx="1788188" cy="965617"/>
            <a:chOff x="3646087" y="2254595"/>
            <a:chExt cx="1788188" cy="965617"/>
          </a:xfrm>
        </p:grpSpPr>
        <p:sp>
          <p:nvSpPr>
            <p:cNvPr id="2219" name="Google Shape;2219;p39"/>
            <p:cNvSpPr txBox="1"/>
            <p:nvPr/>
          </p:nvSpPr>
          <p:spPr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2220" name="Google Shape;2220;p39"/>
            <p:cNvSpPr txBox="1"/>
            <p:nvPr/>
          </p:nvSpPr>
          <p:spPr>
            <a:xfrm>
              <a:off x="4888228" y="2259358"/>
              <a:ext cx="3365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2221" name="Google Shape;2221;p39"/>
            <p:cNvCxnSpPr/>
            <p:nvPr/>
          </p:nvCxnSpPr>
          <p:spPr>
            <a:xfrm>
              <a:off x="4399515" y="2772120"/>
              <a:ext cx="32385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22" name="Google Shape;2222;p39"/>
            <p:cNvSpPr txBox="1"/>
            <p:nvPr/>
          </p:nvSpPr>
          <p:spPr>
            <a:xfrm>
              <a:off x="3646087" y="2881658"/>
              <a:ext cx="86914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IPv6/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v4</a:t>
              </a:r>
              <a:endParaRPr/>
            </a:p>
          </p:txBody>
        </p:sp>
        <p:sp>
          <p:nvSpPr>
            <p:cNvPr id="2223" name="Google Shape;2223;p39"/>
            <p:cNvSpPr txBox="1"/>
            <p:nvPr/>
          </p:nvSpPr>
          <p:spPr>
            <a:xfrm>
              <a:off x="4783690" y="2883245"/>
              <a:ext cx="5905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/>
            </a:p>
          </p:txBody>
        </p:sp>
        <p:grpSp>
          <p:nvGrpSpPr>
            <p:cNvPr id="2224" name="Google Shape;2224;p39"/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225" name="Google Shape;2225;p3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26" name="Google Shape;2226;p3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27" name="Google Shape;2227;p3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28" name="Google Shape;2228;p3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9" name="Google Shape;2229;p3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0" name="Google Shape;2230;p3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1" name="Google Shape;2231;p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32" name="Google Shape;2232;p39"/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233" name="Google Shape;2233;p3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34" name="Google Shape;2234;p3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35" name="Google Shape;2235;p3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36" name="Google Shape;2236;p3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7" name="Google Shape;2237;p3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8" name="Google Shape;2238;p3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9" name="Google Shape;2239;p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240" name="Google Shape;2240;p39"/>
          <p:cNvGrpSpPr/>
          <p:nvPr/>
        </p:nvGrpSpPr>
        <p:grpSpPr>
          <a:xfrm>
            <a:off x="4068210" y="3305037"/>
            <a:ext cx="817562" cy="2981325"/>
            <a:chOff x="1611" y="2132"/>
            <a:chExt cx="515" cy="1878"/>
          </a:xfrm>
        </p:grpSpPr>
        <p:grpSp>
          <p:nvGrpSpPr>
            <p:cNvPr id="2241" name="Google Shape;2241;p39"/>
            <p:cNvGrpSpPr/>
            <p:nvPr/>
          </p:nvGrpSpPr>
          <p:grpSpPr>
            <a:xfrm>
              <a:off x="1634" y="2200"/>
              <a:ext cx="476" cy="908"/>
              <a:chOff x="652" y="2144"/>
              <a:chExt cx="476" cy="908"/>
            </a:xfrm>
          </p:grpSpPr>
          <p:sp>
            <p:nvSpPr>
              <p:cNvPr id="2242" name="Google Shape;2242;p39"/>
              <p:cNvSpPr/>
              <p:nvPr/>
            </p:nvSpPr>
            <p:spPr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B5E7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3" name="Google Shape;2243;p39"/>
              <p:cNvSpPr txBox="1"/>
              <p:nvPr/>
            </p:nvSpPr>
            <p:spPr>
              <a:xfrm>
                <a:off x="667" y="2162"/>
                <a:ext cx="461" cy="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flow: X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 A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dest: F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cxnSp>
          <p:nvCxnSpPr>
            <p:cNvPr id="2244" name="Google Shape;2244;p39"/>
            <p:cNvCxnSpPr/>
            <p:nvPr/>
          </p:nvCxnSpPr>
          <p:spPr>
            <a:xfrm>
              <a:off x="1661" y="2132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5" name="Google Shape;2245;p39"/>
            <p:cNvSpPr txBox="1"/>
            <p:nvPr/>
          </p:nvSpPr>
          <p:spPr>
            <a:xfrm>
              <a:off x="1611" y="3690"/>
              <a:ext cx="515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A-to-B: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/>
            </a:p>
          </p:txBody>
        </p:sp>
        <p:cxnSp>
          <p:nvCxnSpPr>
            <p:cNvPr id="2246" name="Google Shape;2246;p39"/>
            <p:cNvCxnSpPr/>
            <p:nvPr/>
          </p:nvCxnSpPr>
          <p:spPr>
            <a:xfrm>
              <a:off x="1856" y="3230"/>
              <a:ext cx="0" cy="4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2247" name="Google Shape;2247;p39"/>
          <p:cNvGrpSpPr/>
          <p:nvPr/>
        </p:nvGrpSpPr>
        <p:grpSpPr>
          <a:xfrm>
            <a:off x="5052460" y="3297100"/>
            <a:ext cx="1176337" cy="3319462"/>
            <a:chOff x="2231" y="2127"/>
            <a:chExt cx="741" cy="2091"/>
          </a:xfrm>
        </p:grpSpPr>
        <p:grpSp>
          <p:nvGrpSpPr>
            <p:cNvPr id="2248" name="Google Shape;2248;p39"/>
            <p:cNvGrpSpPr/>
            <p:nvPr/>
          </p:nvGrpSpPr>
          <p:grpSpPr>
            <a:xfrm>
              <a:off x="2262" y="2194"/>
              <a:ext cx="583" cy="1388"/>
              <a:chOff x="478" y="2082"/>
              <a:chExt cx="583" cy="1388"/>
            </a:xfrm>
          </p:grpSpPr>
          <p:sp>
            <p:nvSpPr>
              <p:cNvPr id="2249" name="Google Shape;2249;p39"/>
              <p:cNvSpPr/>
              <p:nvPr/>
            </p:nvSpPr>
            <p:spPr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50" name="Google Shape;2250;p39"/>
              <p:cNvGrpSpPr/>
              <p:nvPr/>
            </p:nvGrpSpPr>
            <p:grpSpPr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2251" name="Google Shape;2251;p39"/>
                <p:cNvSpPr/>
                <p:nvPr/>
              </p:nvSpPr>
              <p:spPr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2" name="Google Shape;2252;p39"/>
                <p:cNvSpPr txBox="1"/>
                <p:nvPr/>
              </p:nvSpPr>
              <p:spPr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Flow: 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Src: A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Dest: F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  <p:sp>
            <p:nvSpPr>
              <p:cNvPr id="2253" name="Google Shape;2253;p39"/>
              <p:cNvSpPr txBox="1"/>
              <p:nvPr/>
            </p:nvSpPr>
            <p:spPr>
              <a:xfrm>
                <a:off x="48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dest: E</a:t>
                </a:r>
                <a:endParaRPr/>
              </a:p>
            </p:txBody>
          </p:sp>
        </p:grpSp>
        <p:cxnSp>
          <p:nvCxnSpPr>
            <p:cNvPr id="2254" name="Google Shape;2254;p39"/>
            <p:cNvCxnSpPr/>
            <p:nvPr/>
          </p:nvCxnSpPr>
          <p:spPr>
            <a:xfrm>
              <a:off x="2345" y="2127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5" name="Google Shape;2255;p39"/>
            <p:cNvSpPr txBox="1"/>
            <p:nvPr/>
          </p:nvSpPr>
          <p:spPr>
            <a:xfrm>
              <a:off x="2231" y="3767"/>
              <a:ext cx="741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B-to-C: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 inside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IPv4</a:t>
              </a:r>
              <a:endParaRPr/>
            </a:p>
          </p:txBody>
        </p:sp>
        <p:cxnSp>
          <p:nvCxnSpPr>
            <p:cNvPr id="2256" name="Google Shape;2256;p39"/>
            <p:cNvCxnSpPr/>
            <p:nvPr/>
          </p:nvCxnSpPr>
          <p:spPr>
            <a:xfrm>
              <a:off x="2588" y="3604"/>
              <a:ext cx="0" cy="1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2257" name="Google Shape;2257;p39"/>
          <p:cNvGrpSpPr/>
          <p:nvPr/>
        </p:nvGrpSpPr>
        <p:grpSpPr>
          <a:xfrm>
            <a:off x="8670690" y="3300275"/>
            <a:ext cx="881062" cy="2998787"/>
            <a:chOff x="4251" y="2129"/>
            <a:chExt cx="555" cy="1889"/>
          </a:xfrm>
        </p:grpSpPr>
        <p:cxnSp>
          <p:nvCxnSpPr>
            <p:cNvPr id="2258" name="Google Shape;2258;p39"/>
            <p:cNvCxnSpPr/>
            <p:nvPr/>
          </p:nvCxnSpPr>
          <p:spPr>
            <a:xfrm>
              <a:off x="4292" y="2129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9" name="Google Shape;2259;p39"/>
            <p:cNvSpPr txBox="1"/>
            <p:nvPr/>
          </p:nvSpPr>
          <p:spPr>
            <a:xfrm>
              <a:off x="4298" y="3698"/>
              <a:ext cx="508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E-to-F: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/>
            </a:p>
          </p:txBody>
        </p:sp>
        <p:cxnSp>
          <p:nvCxnSpPr>
            <p:cNvPr id="2260" name="Google Shape;2260;p39"/>
            <p:cNvCxnSpPr/>
            <p:nvPr/>
          </p:nvCxnSpPr>
          <p:spPr>
            <a:xfrm>
              <a:off x="4540" y="3238"/>
              <a:ext cx="0" cy="4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2261" name="Google Shape;2261;p39"/>
            <p:cNvGrpSpPr/>
            <p:nvPr/>
          </p:nvGrpSpPr>
          <p:grpSpPr>
            <a:xfrm>
              <a:off x="4251" y="2205"/>
              <a:ext cx="471" cy="908"/>
              <a:chOff x="643" y="2144"/>
              <a:chExt cx="471" cy="908"/>
            </a:xfrm>
          </p:grpSpPr>
          <p:sp>
            <p:nvSpPr>
              <p:cNvPr id="2262" name="Google Shape;2262;p39"/>
              <p:cNvSpPr/>
              <p:nvPr/>
            </p:nvSpPr>
            <p:spPr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B5E7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3" name="Google Shape;2263;p39"/>
              <p:cNvSpPr txBox="1"/>
              <p:nvPr/>
            </p:nvSpPr>
            <p:spPr>
              <a:xfrm>
                <a:off x="643" y="2169"/>
                <a:ext cx="461" cy="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flow: X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 A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dest: F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2264" name="Google Shape;2264;p39"/>
          <p:cNvGrpSpPr/>
          <p:nvPr/>
        </p:nvGrpSpPr>
        <p:grpSpPr>
          <a:xfrm>
            <a:off x="7489590" y="3298687"/>
            <a:ext cx="1176337" cy="3330575"/>
            <a:chOff x="3507" y="2128"/>
            <a:chExt cx="741" cy="2098"/>
          </a:xfrm>
        </p:grpSpPr>
        <p:cxnSp>
          <p:nvCxnSpPr>
            <p:cNvPr id="2265" name="Google Shape;2265;p39"/>
            <p:cNvCxnSpPr/>
            <p:nvPr/>
          </p:nvCxnSpPr>
          <p:spPr>
            <a:xfrm>
              <a:off x="3627" y="2128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66" name="Google Shape;2266;p39"/>
            <p:cNvSpPr txBox="1"/>
            <p:nvPr/>
          </p:nvSpPr>
          <p:spPr>
            <a:xfrm>
              <a:off x="3507" y="3775"/>
              <a:ext cx="741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B-to-C: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IPv6 inside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IPv4</a:t>
              </a:r>
              <a:endParaRPr/>
            </a:p>
          </p:txBody>
        </p:sp>
        <p:cxnSp>
          <p:nvCxnSpPr>
            <p:cNvPr id="2267" name="Google Shape;2267;p39"/>
            <p:cNvCxnSpPr/>
            <p:nvPr/>
          </p:nvCxnSpPr>
          <p:spPr>
            <a:xfrm>
              <a:off x="3883" y="3640"/>
              <a:ext cx="0" cy="1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2268" name="Google Shape;2268;p39"/>
            <p:cNvGrpSpPr/>
            <p:nvPr/>
          </p:nvGrpSpPr>
          <p:grpSpPr>
            <a:xfrm>
              <a:off x="3558" y="2220"/>
              <a:ext cx="583" cy="1388"/>
              <a:chOff x="478" y="2082"/>
              <a:chExt cx="583" cy="1388"/>
            </a:xfrm>
          </p:grpSpPr>
          <p:sp>
            <p:nvSpPr>
              <p:cNvPr id="2269" name="Google Shape;2269;p39"/>
              <p:cNvSpPr/>
              <p:nvPr/>
            </p:nvSpPr>
            <p:spPr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70" name="Google Shape;2270;p39"/>
              <p:cNvGrpSpPr/>
              <p:nvPr/>
            </p:nvGrpSpPr>
            <p:grpSpPr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2271" name="Google Shape;2271;p39"/>
                <p:cNvSpPr/>
                <p:nvPr/>
              </p:nvSpPr>
              <p:spPr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2" name="Google Shape;2272;p39"/>
                <p:cNvSpPr txBox="1"/>
                <p:nvPr/>
              </p:nvSpPr>
              <p:spPr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Flow: X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Src: A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Dest: F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  <p:sp>
            <p:nvSpPr>
              <p:cNvPr id="2273" name="Google Shape;2273;p39"/>
              <p:cNvSpPr txBox="1"/>
              <p:nvPr/>
            </p:nvSpPr>
            <p:spPr>
              <a:xfrm>
                <a:off x="48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dest: E</a:t>
                </a:r>
                <a:endParaRPr/>
              </a:p>
            </p:txBody>
          </p:sp>
        </p:grpSp>
      </p:grpSp>
      <p:sp>
        <p:nvSpPr>
          <p:cNvPr id="2274" name="Google Shape;2274;p39"/>
          <p:cNvSpPr/>
          <p:nvPr/>
        </p:nvSpPr>
        <p:spPr>
          <a:xfrm>
            <a:off x="5400881" y="1522904"/>
            <a:ext cx="45719" cy="210509"/>
          </a:xfrm>
          <a:prstGeom prst="rect">
            <a:avLst/>
          </a:prstGeom>
          <a:solidFill>
            <a:srgbClr val="CC0001"/>
          </a:solidFill>
          <a:ln cap="flat" cmpd="sng" w="12700">
            <a:solidFill>
              <a:srgbClr val="CC00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39"/>
          <p:cNvSpPr/>
          <p:nvPr/>
        </p:nvSpPr>
        <p:spPr>
          <a:xfrm>
            <a:off x="8135639" y="1540447"/>
            <a:ext cx="45719" cy="210509"/>
          </a:xfrm>
          <a:prstGeom prst="rect">
            <a:avLst/>
          </a:prstGeom>
          <a:solidFill>
            <a:srgbClr val="CC0001"/>
          </a:solidFill>
          <a:ln cap="flat" cmpd="sng" w="12700">
            <a:solidFill>
              <a:srgbClr val="CC00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39"/>
          <p:cNvSpPr/>
          <p:nvPr/>
        </p:nvSpPr>
        <p:spPr>
          <a:xfrm>
            <a:off x="5408555" y="2639042"/>
            <a:ext cx="45719" cy="210509"/>
          </a:xfrm>
          <a:prstGeom prst="rect">
            <a:avLst/>
          </a:prstGeom>
          <a:solidFill>
            <a:srgbClr val="CC0001"/>
          </a:solidFill>
          <a:ln cap="flat" cmpd="sng" w="12700">
            <a:solidFill>
              <a:srgbClr val="CC00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39"/>
          <p:cNvSpPr/>
          <p:nvPr/>
        </p:nvSpPr>
        <p:spPr>
          <a:xfrm>
            <a:off x="8123579" y="2663164"/>
            <a:ext cx="45719" cy="210509"/>
          </a:xfrm>
          <a:prstGeom prst="rect">
            <a:avLst/>
          </a:prstGeom>
          <a:solidFill>
            <a:srgbClr val="CC0001"/>
          </a:solidFill>
          <a:ln cap="flat" cmpd="sng" w="12700">
            <a:solidFill>
              <a:srgbClr val="CC00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8" name="Google Shape;2278;p39"/>
          <p:cNvGrpSpPr/>
          <p:nvPr/>
        </p:nvGrpSpPr>
        <p:grpSpPr>
          <a:xfrm>
            <a:off x="1285129" y="3401170"/>
            <a:ext cx="8091447" cy="2055959"/>
            <a:chOff x="-2159111" y="3797410"/>
            <a:chExt cx="8091447" cy="2055959"/>
          </a:xfrm>
        </p:grpSpPr>
        <p:grpSp>
          <p:nvGrpSpPr>
            <p:cNvPr id="2279" name="Google Shape;2279;p39"/>
            <p:cNvGrpSpPr/>
            <p:nvPr/>
          </p:nvGrpSpPr>
          <p:grpSpPr>
            <a:xfrm>
              <a:off x="-2159111" y="3797410"/>
              <a:ext cx="8091447" cy="2055959"/>
              <a:chOff x="1300369" y="3385930"/>
              <a:chExt cx="8091447" cy="2055959"/>
            </a:xfrm>
          </p:grpSpPr>
          <p:grpSp>
            <p:nvGrpSpPr>
              <p:cNvPr id="2280" name="Google Shape;2280;p39"/>
              <p:cNvGrpSpPr/>
              <p:nvPr/>
            </p:nvGrpSpPr>
            <p:grpSpPr>
              <a:xfrm>
                <a:off x="1300369" y="3385930"/>
                <a:ext cx="8091447" cy="2055959"/>
                <a:chOff x="1300369" y="3385930"/>
                <a:chExt cx="8091447" cy="2055959"/>
              </a:xfrm>
            </p:grpSpPr>
            <p:sp>
              <p:nvSpPr>
                <p:cNvPr id="2281" name="Google Shape;2281;p39"/>
                <p:cNvSpPr/>
                <p:nvPr/>
              </p:nvSpPr>
              <p:spPr>
                <a:xfrm>
                  <a:off x="4108174" y="3670852"/>
                  <a:ext cx="715617" cy="530087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2" name="Google Shape;2282;p39"/>
                <p:cNvSpPr/>
                <p:nvPr/>
              </p:nvSpPr>
              <p:spPr>
                <a:xfrm>
                  <a:off x="5044440" y="3385930"/>
                  <a:ext cx="1023731" cy="669235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3" name="Google Shape;2283;p39"/>
                <p:cNvSpPr/>
                <p:nvPr/>
              </p:nvSpPr>
              <p:spPr>
                <a:xfrm>
                  <a:off x="7533861" y="3432312"/>
                  <a:ext cx="974035" cy="669235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4" name="Google Shape;2284;p39"/>
                <p:cNvSpPr/>
                <p:nvPr/>
              </p:nvSpPr>
              <p:spPr>
                <a:xfrm>
                  <a:off x="8676199" y="3678803"/>
                  <a:ext cx="715617" cy="542677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5" name="Google Shape;2285;p39"/>
                <p:cNvSpPr txBox="1"/>
                <p:nvPr/>
              </p:nvSpPr>
              <p:spPr>
                <a:xfrm>
                  <a:off x="1300369" y="4426226"/>
                  <a:ext cx="1933161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Note source and destination addresses!</a:t>
                  </a:r>
                  <a:endParaRPr/>
                </a:p>
              </p:txBody>
            </p:sp>
            <p:cxnSp>
              <p:nvCxnSpPr>
                <p:cNvPr id="2286" name="Google Shape;2286;p39"/>
                <p:cNvCxnSpPr>
                  <a:stCxn id="2281" idx="2"/>
                  <a:endCxn id="2285" idx="3"/>
                </p:cNvCxnSpPr>
                <p:nvPr/>
              </p:nvCxnSpPr>
              <p:spPr>
                <a:xfrm flipH="1">
                  <a:off x="3233674" y="3935896"/>
                  <a:ext cx="874500" cy="998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87" name="Google Shape;2287;p39"/>
                <p:cNvCxnSpPr>
                  <a:endCxn id="2285" idx="3"/>
                </p:cNvCxnSpPr>
                <p:nvPr/>
              </p:nvCxnSpPr>
              <p:spPr>
                <a:xfrm flipH="1">
                  <a:off x="3233530" y="3690857"/>
                  <a:ext cx="1769100" cy="1243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88" name="Google Shape;2288;p39"/>
                <p:cNvCxnSpPr>
                  <a:stCxn id="2283" idx="2"/>
                  <a:endCxn id="2285" idx="3"/>
                </p:cNvCxnSpPr>
                <p:nvPr/>
              </p:nvCxnSpPr>
              <p:spPr>
                <a:xfrm flipH="1">
                  <a:off x="3233661" y="3766930"/>
                  <a:ext cx="4300200" cy="116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289" name="Google Shape;2289;p39"/>
              <p:cNvCxnSpPr>
                <a:stCxn id="2284" idx="2"/>
                <a:endCxn id="2285" idx="3"/>
              </p:cNvCxnSpPr>
              <p:nvPr/>
            </p:nvCxnSpPr>
            <p:spPr>
              <a:xfrm flipH="1">
                <a:off x="3233599" y="3950142"/>
                <a:ext cx="5442600" cy="98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290" name="Google Shape;2290;p39"/>
            <p:cNvSpPr/>
            <p:nvPr/>
          </p:nvSpPr>
          <p:spPr>
            <a:xfrm>
              <a:off x="2880360" y="3803100"/>
              <a:ext cx="1023731" cy="669235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91" name="Google Shape;2291;p39"/>
            <p:cNvCxnSpPr>
              <a:endCxn id="2285" idx="3"/>
            </p:cNvCxnSpPr>
            <p:nvPr/>
          </p:nvCxnSpPr>
          <p:spPr>
            <a:xfrm flipH="1">
              <a:off x="-225950" y="4267338"/>
              <a:ext cx="3182400" cy="107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p40"/>
          <p:cNvSpPr txBox="1"/>
          <p:nvPr>
            <p:ph idx="1" type="body"/>
          </p:nvPr>
        </p:nvSpPr>
        <p:spPr>
          <a:xfrm>
            <a:off x="838200" y="1379475"/>
            <a:ext cx="10515600" cy="114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4714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Google</a:t>
            </a:r>
            <a:r>
              <a:rPr baseline="30000" lang="en-US" sz="3200"/>
              <a:t>1</a:t>
            </a:r>
            <a:r>
              <a:rPr lang="en-US" sz="3200"/>
              <a:t>: ~ 30% of clients access services via IPv6</a:t>
            </a:r>
            <a:endParaRPr/>
          </a:p>
          <a:p>
            <a:pPr indent="-341313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NIST: 1/3 of all US government domains are IPv6 capable</a:t>
            </a:r>
            <a:endParaRPr/>
          </a:p>
        </p:txBody>
      </p:sp>
      <p:sp>
        <p:nvSpPr>
          <p:cNvPr id="2298" name="Google Shape;2298;p40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IPv6: adoption</a:t>
            </a:r>
            <a:endParaRPr/>
          </a:p>
        </p:txBody>
      </p:sp>
      <p:grpSp>
        <p:nvGrpSpPr>
          <p:cNvPr id="2299" name="Google Shape;2299;p40"/>
          <p:cNvGrpSpPr/>
          <p:nvPr/>
        </p:nvGrpSpPr>
        <p:grpSpPr>
          <a:xfrm>
            <a:off x="1284513" y="2612571"/>
            <a:ext cx="10450286" cy="4049486"/>
            <a:chOff x="1284513" y="2612571"/>
            <a:chExt cx="10450286" cy="4049486"/>
          </a:xfrm>
        </p:grpSpPr>
        <p:sp>
          <p:nvSpPr>
            <p:cNvPr id="2300" name="Google Shape;2300;p40"/>
            <p:cNvSpPr txBox="1"/>
            <p:nvPr/>
          </p:nvSpPr>
          <p:spPr>
            <a:xfrm>
              <a:off x="9092540" y="5704114"/>
              <a:ext cx="2642259" cy="861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baseline="30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https://www.google.com/intl/en/ipv6/statistics.html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01" name="Google Shape;2301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4513" y="2612571"/>
              <a:ext cx="7411254" cy="40494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41"/>
          <p:cNvSpPr txBox="1"/>
          <p:nvPr>
            <p:ph idx="1" type="body"/>
          </p:nvPr>
        </p:nvSpPr>
        <p:spPr>
          <a:xfrm>
            <a:off x="838200" y="1379475"/>
            <a:ext cx="10515600" cy="4663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4714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Google</a:t>
            </a:r>
            <a:r>
              <a:rPr baseline="30000" lang="en-US" sz="3200"/>
              <a:t>1</a:t>
            </a:r>
            <a:r>
              <a:rPr lang="en-US" sz="3200"/>
              <a:t>: ~ 30% of clients access services via IPv6</a:t>
            </a:r>
            <a:endParaRPr/>
          </a:p>
          <a:p>
            <a:pPr indent="-341313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NIST: 1/3 of all US government domains are IPv6 capable</a:t>
            </a:r>
            <a:endParaRPr/>
          </a:p>
          <a:p>
            <a:pPr indent="-341313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Long (long!) time for deployment, use</a:t>
            </a:r>
            <a:endParaRPr/>
          </a:p>
          <a:p>
            <a:pPr indent="-328613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25 years and counting!</a:t>
            </a:r>
            <a:endParaRPr/>
          </a:p>
          <a:p>
            <a:pPr indent="-328613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think of application-level changes in last 25 years: WWW, social media, streaming media, gaming, telepresence, …</a:t>
            </a:r>
            <a:endParaRPr/>
          </a:p>
          <a:p>
            <a:pPr indent="-328613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>
                <a:solidFill>
                  <a:srgbClr val="CC0000"/>
                </a:solidFill>
              </a:rPr>
              <a:t>Why?</a:t>
            </a:r>
            <a:endParaRPr/>
          </a:p>
        </p:txBody>
      </p:sp>
      <p:sp>
        <p:nvSpPr>
          <p:cNvPr id="2308" name="Google Shape;2308;p41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IPv6: adoption</a:t>
            </a:r>
            <a:endParaRPr/>
          </a:p>
        </p:txBody>
      </p:sp>
      <p:sp>
        <p:nvSpPr>
          <p:cNvPr id="2309" name="Google Shape;2309;p41"/>
          <p:cNvSpPr txBox="1"/>
          <p:nvPr/>
        </p:nvSpPr>
        <p:spPr>
          <a:xfrm>
            <a:off x="928255" y="6289964"/>
            <a:ext cx="4729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baseline="3000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https://www.google.com/intl/en/ipv6/statistics.html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42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sp>
        <p:nvSpPr>
          <p:cNvPr id="2316" name="Google Shape;2316;p42"/>
          <p:cNvSpPr txBox="1"/>
          <p:nvPr>
            <p:ph idx="2" type="body"/>
          </p:nvPr>
        </p:nvSpPr>
        <p:spPr>
          <a:xfrm>
            <a:off x="518511" y="2492753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Overview of Network Layer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What’s Inside a Router?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3600"/>
              <a:buChar char="▪"/>
            </a:pPr>
            <a:r>
              <a:rPr lang="en-US" sz="3600"/>
              <a:t>The Internet Protocol: </a:t>
            </a:r>
            <a:endParaRPr/>
          </a:p>
          <a:p>
            <a:pPr indent="-285750" lvl="1" marL="7461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IPv4, addressing </a:t>
            </a:r>
            <a:r>
              <a:rPr lang="en-US" sz="2800"/>
              <a:t>(part 1)</a:t>
            </a:r>
            <a:endParaRPr/>
          </a:p>
          <a:p>
            <a:pPr indent="-285750" lvl="1" marL="7461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NAT, IPv6 </a:t>
            </a:r>
            <a:r>
              <a:rPr lang="en-US" sz="2800"/>
              <a:t>(part 2)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Generalized Forwarding and SDN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Middleboxes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Summary</a:t>
            </a:r>
            <a:endParaRPr/>
          </a:p>
        </p:txBody>
      </p:sp>
      <p:grpSp>
        <p:nvGrpSpPr>
          <p:cNvPr id="2317" name="Google Shape;2317;p42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2318" name="Google Shape;2318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9" name="Google Shape;2319;p4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2320" name="Google Shape;2320;p4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2321" name="Google Shape;2321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2" name="Google Shape;2322;p4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