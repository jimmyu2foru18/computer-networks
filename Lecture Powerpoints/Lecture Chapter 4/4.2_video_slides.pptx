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6858000" cx="12192000"/>
  <p:notesSz cx="6858000" cy="9144000"/>
  <p:embeddedFontLst>
    <p:embeddedFont>
      <p:font typeface="Tahoma"/>
      <p:regular r:id="rId35"/>
      <p:bold r:id="rId36"/>
    </p:embeddedFont>
    <p:embeddedFont>
      <p:font typeface="Noto Sans Symbols"/>
      <p:regular r:id="rId37"/>
      <p:bold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744">
          <p15:clr>
            <a:srgbClr val="A4A3A4"/>
          </p15:clr>
        </p15:guide>
        <p15:guide id="2" orient="horz" pos="28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44"/>
        <p:guide pos="288"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Tahoma-regular.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NotoSansSymbols-regular.fntdata"/><Relationship Id="rId14" Type="http://schemas.openxmlformats.org/officeDocument/2006/relationships/slide" Target="slides/slide9.xml"/><Relationship Id="rId36" Type="http://schemas.openxmlformats.org/officeDocument/2006/relationships/font" Target="fonts/Tahoma-bold.fntdata"/><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font" Target="fonts/NotoSansSymbols-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 name="Google Shape;3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 name="Google Shape;4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Text for this animation: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all works out pretty nice and looks pretty simple!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But of course the devil is in the details, as the saying goes.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happens,  for example, when a subset of addresses say in this first range should go to say interface 3, rather than interface 0.  Well, of course we could split the first address range into multiple pieces, and add in this new subrange with its new destination output port.  But it turns out there’s a much simpler and elegant way to do this.  Known as longest prefix matching.</a:t>
            </a:r>
            <a:endParaRPr/>
          </a:p>
        </p:txBody>
      </p:sp>
      <p:sp>
        <p:nvSpPr>
          <p:cNvPr id="181" name="Google Shape;18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 name="Google Shape;33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1" name="Google Shape;39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6" name="Google Shape;53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7" name="Google Shape;53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0" name="Google Shape;56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1" name="Google Shape;56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7" name="Google Shape;60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8" name="Google Shape;60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5" name="Google Shape;69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6" name="Google Shape;696;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7" name="Google Shape;88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8" name="Google Shape;888;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5" name="Google Shape;96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6" name="Google Shape;966;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8" name="Google Shape;100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9" name="Google Shape;100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6" name="Google Shape;1086;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You might think that more buffering is a good thing.  Buffering is a bit like salt—just the right amount of salt makes food better, but too much makes it inedible!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t/>
            </a:r>
            <a:endParaRPr/>
          </a:p>
        </p:txBody>
      </p:sp>
      <p:sp>
        <p:nvSpPr>
          <p:cNvPr id="1087" name="Google Shape;1087;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3" name="Google Shape;1103;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4" name="Google Shape;1104;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9" name="Google Shape;1159;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0" name="Google Shape;1160;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1" name="Google Shape;1191;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2" name="Google Shape;1192;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0" name="Shape 1310"/>
        <p:cNvGrpSpPr/>
        <p:nvPr/>
      </p:nvGrpSpPr>
      <p:grpSpPr>
        <a:xfrm>
          <a:off x="0" y="0"/>
          <a:ext cx="0" cy="0"/>
          <a:chOff x="0" y="0"/>
          <a:chExt cx="0" cy="0"/>
        </a:xfrm>
      </p:grpSpPr>
      <p:sp>
        <p:nvSpPr>
          <p:cNvPr id="1311" name="Google Shape;131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2" name="Google Shape;1312;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3" name="Google Shape;1313;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8" name="Shape 1378"/>
        <p:cNvGrpSpPr/>
        <p:nvPr/>
      </p:nvGrpSpPr>
      <p:grpSpPr>
        <a:xfrm>
          <a:off x="0" y="0"/>
          <a:ext cx="0" cy="0"/>
          <a:chOff x="0" y="0"/>
          <a:chExt cx="0" cy="0"/>
        </a:xfrm>
      </p:grpSpPr>
      <p:sp>
        <p:nvSpPr>
          <p:cNvPr id="1379" name="Google Shape;1379;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0" name="Google Shape;1380;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1" name="Google Shape;1381;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3" name="Shape 1463"/>
        <p:cNvGrpSpPr/>
        <p:nvPr/>
      </p:nvGrpSpPr>
      <p:grpSpPr>
        <a:xfrm>
          <a:off x="0" y="0"/>
          <a:ext cx="0" cy="0"/>
          <a:chOff x="0" y="0"/>
          <a:chExt cx="0" cy="0"/>
        </a:xfrm>
      </p:grpSpPr>
      <p:sp>
        <p:nvSpPr>
          <p:cNvPr id="1464" name="Google Shape;1464;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5" name="Google Shape;1465;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6" name="Google Shape;1466;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2" name="Shape 1472"/>
        <p:cNvGrpSpPr/>
        <p:nvPr/>
      </p:nvGrpSpPr>
      <p:grpSpPr>
        <a:xfrm>
          <a:off x="0" y="0"/>
          <a:ext cx="0" cy="0"/>
          <a:chOff x="0" y="0"/>
          <a:chExt cx="0" cy="0"/>
        </a:xfrm>
      </p:grpSpPr>
      <p:sp>
        <p:nvSpPr>
          <p:cNvPr id="1473" name="Google Shape;147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4" name="Google Shape;147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5" name="Google Shape;1475;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0" name="Shape 1480"/>
        <p:cNvGrpSpPr/>
        <p:nvPr/>
      </p:nvGrpSpPr>
      <p:grpSpPr>
        <a:xfrm>
          <a:off x="0" y="0"/>
          <a:ext cx="0" cy="0"/>
          <a:chOff x="0" y="0"/>
          <a:chExt cx="0" cy="0"/>
        </a:xfrm>
      </p:grpSpPr>
      <p:sp>
        <p:nvSpPr>
          <p:cNvPr id="1481" name="Google Shape;148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2" name="Google Shape;1482;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3" name="Google Shape;1483;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9" name="Shape 1489"/>
        <p:cNvGrpSpPr/>
        <p:nvPr/>
      </p:nvGrpSpPr>
      <p:grpSpPr>
        <a:xfrm>
          <a:off x="0" y="0"/>
          <a:ext cx="0" cy="0"/>
          <a:chOff x="0" y="0"/>
          <a:chExt cx="0" cy="0"/>
        </a:xfrm>
      </p:grpSpPr>
      <p:sp>
        <p:nvSpPr>
          <p:cNvPr id="1490" name="Google Shape;149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1" name="Google Shape;1491;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2" name="Google Shape;1492;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3" name="Shape 13"/>
        <p:cNvGrpSpPr/>
        <p:nvPr/>
      </p:nvGrpSpPr>
      <p:grpSpPr>
        <a:xfrm>
          <a:off x="0" y="0"/>
          <a:ext cx="0" cy="0"/>
          <a:chOff x="0" y="0"/>
          <a:chExt cx="0" cy="0"/>
        </a:xfrm>
      </p:grpSpPr>
      <p:sp>
        <p:nvSpPr>
          <p:cNvPr id="14" name="Google Shape;14;p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 name="Google Shape;16;p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 name="Google Shape;17;p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8" name="Shape 18"/>
        <p:cNvGrpSpPr/>
        <p:nvPr/>
      </p:nvGrpSpPr>
      <p:grpSpPr>
        <a:xfrm>
          <a:off x="0" y="0"/>
          <a:ext cx="0" cy="0"/>
          <a:chOff x="0" y="0"/>
          <a:chExt cx="0" cy="0"/>
        </a:xfrm>
      </p:grpSpPr>
      <p:sp>
        <p:nvSpPr>
          <p:cNvPr id="19" name="Google Shape;19;p3"/>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 name="Shape 22"/>
        <p:cNvGrpSpPr/>
        <p:nvPr/>
      </p:nvGrpSpPr>
      <p:grpSpPr>
        <a:xfrm>
          <a:off x="0" y="0"/>
          <a:ext cx="0" cy="0"/>
          <a:chOff x="0" y="0"/>
          <a:chExt cx="0" cy="0"/>
        </a:xfrm>
      </p:grpSpPr>
      <p:sp>
        <p:nvSpPr>
          <p:cNvPr id="23" name="Google Shape;23;p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00A3"/>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SzPts val="2400"/>
              <a:buNone/>
              <a:defRPr sz="2400"/>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 name="Google Shape;25;p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5"/>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00A3"/>
              </a:buClr>
              <a:buSzPts val="4400"/>
              <a:buFont typeface="Calibri"/>
              <a:buNone/>
              <a:defRPr b="1" i="0" sz="4400" u="none" cap="none" strike="noStrike">
                <a:solidFill>
                  <a:srgbClr val="0000A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0000A3"/>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rgbClr val="0000A8"/>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7F7F7F"/>
                </a:solidFill>
                <a:latin typeface="Calibri"/>
                <a:ea typeface="Calibri"/>
                <a:cs typeface="Calibri"/>
                <a:sym typeface="Calibri"/>
              </a:defRPr>
            </a:lvl1pPr>
            <a:lvl2pPr indent="0" lvl="1" marL="0" marR="0" rtl="0" algn="r">
              <a:spcBef>
                <a:spcPts val="0"/>
              </a:spcBef>
              <a:buNone/>
              <a:defRPr b="0" i="0" sz="1100" u="none" cap="none" strike="noStrike">
                <a:solidFill>
                  <a:srgbClr val="7F7F7F"/>
                </a:solidFill>
                <a:latin typeface="Calibri"/>
                <a:ea typeface="Calibri"/>
                <a:cs typeface="Calibri"/>
                <a:sym typeface="Calibri"/>
              </a:defRPr>
            </a:lvl2pPr>
            <a:lvl3pPr indent="0" lvl="2" marL="0" marR="0" rtl="0" algn="r">
              <a:spcBef>
                <a:spcPts val="0"/>
              </a:spcBef>
              <a:buNone/>
              <a:defRPr b="0" i="0" sz="1100" u="none" cap="none" strike="noStrike">
                <a:solidFill>
                  <a:srgbClr val="7F7F7F"/>
                </a:solidFill>
                <a:latin typeface="Calibri"/>
                <a:ea typeface="Calibri"/>
                <a:cs typeface="Calibri"/>
                <a:sym typeface="Calibri"/>
              </a:defRPr>
            </a:lvl3pPr>
            <a:lvl4pPr indent="0" lvl="3" marL="0" marR="0" rtl="0" algn="r">
              <a:spcBef>
                <a:spcPts val="0"/>
              </a:spcBef>
              <a:buNone/>
              <a:defRPr b="0" i="0" sz="1100" u="none" cap="none" strike="noStrike">
                <a:solidFill>
                  <a:srgbClr val="7F7F7F"/>
                </a:solidFill>
                <a:latin typeface="Calibri"/>
                <a:ea typeface="Calibri"/>
                <a:cs typeface="Calibri"/>
                <a:sym typeface="Calibri"/>
              </a:defRPr>
            </a:lvl4pPr>
            <a:lvl5pPr indent="0" lvl="4" marL="0" marR="0" rtl="0" algn="r">
              <a:spcBef>
                <a:spcPts val="0"/>
              </a:spcBef>
              <a:buNone/>
              <a:defRPr b="0" i="0" sz="1100" u="none" cap="none" strike="noStrike">
                <a:solidFill>
                  <a:srgbClr val="7F7F7F"/>
                </a:solidFill>
                <a:latin typeface="Calibri"/>
                <a:ea typeface="Calibri"/>
                <a:cs typeface="Calibri"/>
                <a:sym typeface="Calibri"/>
              </a:defRPr>
            </a:lvl5pPr>
            <a:lvl6pPr indent="0" lvl="5" marL="0" marR="0" rtl="0" algn="r">
              <a:spcBef>
                <a:spcPts val="0"/>
              </a:spcBef>
              <a:buNone/>
              <a:defRPr b="0" i="0" sz="1100" u="none" cap="none" strike="noStrike">
                <a:solidFill>
                  <a:srgbClr val="7F7F7F"/>
                </a:solidFill>
                <a:latin typeface="Calibri"/>
                <a:ea typeface="Calibri"/>
                <a:cs typeface="Calibri"/>
                <a:sym typeface="Calibri"/>
              </a:defRPr>
            </a:lvl6pPr>
            <a:lvl7pPr indent="0" lvl="6" marL="0" marR="0" rtl="0" algn="r">
              <a:spcBef>
                <a:spcPts val="0"/>
              </a:spcBef>
              <a:buNone/>
              <a:defRPr b="0" i="0" sz="1100" u="none" cap="none" strike="noStrike">
                <a:solidFill>
                  <a:srgbClr val="7F7F7F"/>
                </a:solidFill>
                <a:latin typeface="Calibri"/>
                <a:ea typeface="Calibri"/>
                <a:cs typeface="Calibri"/>
                <a:sym typeface="Calibri"/>
              </a:defRPr>
            </a:lvl7pPr>
            <a:lvl8pPr indent="0" lvl="7" marL="0" marR="0" rtl="0" algn="r">
              <a:spcBef>
                <a:spcPts val="0"/>
              </a:spcBef>
              <a:buNone/>
              <a:defRPr b="0" i="0" sz="1100" u="none" cap="none" strike="noStrike">
                <a:solidFill>
                  <a:srgbClr val="7F7F7F"/>
                </a:solidFill>
                <a:latin typeface="Calibri"/>
                <a:ea typeface="Calibri"/>
                <a:cs typeface="Calibri"/>
                <a:sym typeface="Calibri"/>
              </a:defRPr>
            </a:lvl8pPr>
            <a:lvl9pPr indent="0" lvl="8" marL="0" marR="0" rt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1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sp>
        <p:nvSpPr>
          <p:cNvPr id="34" name="Google Shape;34;p6"/>
          <p:cNvSpPr txBox="1"/>
          <p:nvPr>
            <p:ph type="title"/>
          </p:nvPr>
        </p:nvSpPr>
        <p:spPr>
          <a:xfrm>
            <a:off x="580529" y="650420"/>
            <a:ext cx="6551791" cy="1650991"/>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sz="6000"/>
              <a:t>Network Layer:</a:t>
            </a:r>
            <a:br>
              <a:rPr lang="en-US" sz="6000"/>
            </a:br>
            <a:r>
              <a:rPr lang="en-US" sz="6000"/>
              <a:t>Data Plane</a:t>
            </a:r>
            <a:endParaRPr sz="6000"/>
          </a:p>
        </p:txBody>
      </p:sp>
      <p:sp>
        <p:nvSpPr>
          <p:cNvPr id="35" name="Google Shape;35;p6"/>
          <p:cNvSpPr txBox="1"/>
          <p:nvPr>
            <p:ph idx="2" type="body"/>
          </p:nvPr>
        </p:nvSpPr>
        <p:spPr>
          <a:xfrm>
            <a:off x="518511" y="2492753"/>
            <a:ext cx="7372469" cy="4173132"/>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2800"/>
              <a:buChar char="▪"/>
            </a:pPr>
            <a:r>
              <a:rPr lang="en-US">
                <a:solidFill>
                  <a:srgbClr val="BFBFBF"/>
                </a:solidFill>
              </a:rPr>
              <a:t>Overview of Network Layer	 </a:t>
            </a:r>
            <a:endParaRPr/>
          </a:p>
          <a:p>
            <a:pPr indent="-285750" lvl="0" marL="403225" rtl="0" algn="l">
              <a:lnSpc>
                <a:spcPct val="90000"/>
              </a:lnSpc>
              <a:spcBef>
                <a:spcPts val="800"/>
              </a:spcBef>
              <a:spcAft>
                <a:spcPts val="0"/>
              </a:spcAft>
              <a:buSzPts val="3600"/>
              <a:buChar char="▪"/>
            </a:pPr>
            <a:r>
              <a:rPr lang="en-US" sz="3600"/>
              <a:t>What’s Inside a Router? </a:t>
            </a:r>
            <a:endParaRPr/>
          </a:p>
          <a:p>
            <a:pPr indent="-285750" lvl="0" marL="403225" rtl="0" algn="l">
              <a:lnSpc>
                <a:spcPct val="90000"/>
              </a:lnSpc>
              <a:spcBef>
                <a:spcPts val="800"/>
              </a:spcBef>
              <a:spcAft>
                <a:spcPts val="0"/>
              </a:spcAft>
              <a:buClr>
                <a:srgbClr val="BFBFBF"/>
              </a:buClr>
              <a:buSzPts val="2800"/>
              <a:buChar char="▪"/>
            </a:pPr>
            <a:r>
              <a:rPr lang="en-US">
                <a:solidFill>
                  <a:srgbClr val="BFBFBF"/>
                </a:solidFill>
              </a:rPr>
              <a:t>The Internet Protocol</a:t>
            </a:r>
            <a:endParaRPr/>
          </a:p>
          <a:p>
            <a:pPr indent="-285750" lvl="0" marL="403225" rtl="0" algn="l">
              <a:lnSpc>
                <a:spcPct val="90000"/>
              </a:lnSpc>
              <a:spcBef>
                <a:spcPts val="800"/>
              </a:spcBef>
              <a:spcAft>
                <a:spcPts val="0"/>
              </a:spcAft>
              <a:buClr>
                <a:srgbClr val="BFBFBF"/>
              </a:buClr>
              <a:buSzPts val="2800"/>
              <a:buChar char="▪"/>
            </a:pPr>
            <a:r>
              <a:rPr lang="en-US">
                <a:solidFill>
                  <a:srgbClr val="BFBFBF"/>
                </a:solidFill>
              </a:rPr>
              <a:t>Generalized Forwarding and SDN </a:t>
            </a:r>
            <a:endParaRPr/>
          </a:p>
          <a:p>
            <a:pPr indent="-285750" lvl="0" marL="403225" rtl="0" algn="l">
              <a:lnSpc>
                <a:spcPct val="90000"/>
              </a:lnSpc>
              <a:spcBef>
                <a:spcPts val="800"/>
              </a:spcBef>
              <a:spcAft>
                <a:spcPts val="0"/>
              </a:spcAft>
              <a:buClr>
                <a:srgbClr val="BFBFBF"/>
              </a:buClr>
              <a:buSzPts val="2800"/>
              <a:buChar char="▪"/>
            </a:pPr>
            <a:r>
              <a:rPr lang="en-US">
                <a:solidFill>
                  <a:srgbClr val="BFBFBF"/>
                </a:solidFill>
              </a:rPr>
              <a:t>Middleboxes</a:t>
            </a:r>
            <a:endParaRPr/>
          </a:p>
          <a:p>
            <a:pPr indent="-285750" lvl="0" marL="403225" rtl="0" algn="l">
              <a:lnSpc>
                <a:spcPct val="90000"/>
              </a:lnSpc>
              <a:spcBef>
                <a:spcPts val="800"/>
              </a:spcBef>
              <a:spcAft>
                <a:spcPts val="0"/>
              </a:spcAft>
              <a:buClr>
                <a:srgbClr val="BFBFBF"/>
              </a:buClr>
              <a:buSzPts val="2800"/>
              <a:buChar char="▪"/>
            </a:pPr>
            <a:r>
              <a:rPr lang="en-US">
                <a:solidFill>
                  <a:srgbClr val="BFBFBF"/>
                </a:solidFill>
              </a:rPr>
              <a:t>Summary</a:t>
            </a:r>
            <a:endParaRPr/>
          </a:p>
        </p:txBody>
      </p:sp>
      <p:grpSp>
        <p:nvGrpSpPr>
          <p:cNvPr id="36" name="Google Shape;36;p6"/>
          <p:cNvGrpSpPr/>
          <p:nvPr/>
        </p:nvGrpSpPr>
        <p:grpSpPr>
          <a:xfrm>
            <a:off x="7421880" y="792480"/>
            <a:ext cx="4399280" cy="3866277"/>
            <a:chOff x="7421880" y="792480"/>
            <a:chExt cx="4399280" cy="3866277"/>
          </a:xfrm>
        </p:grpSpPr>
        <p:pic>
          <p:nvPicPr>
            <p:cNvPr descr="University of Massachusetts Amherst - Wikipedia" id="37" name="Google Shape;37;p6"/>
            <p:cNvPicPr preferRelativeResize="0"/>
            <p:nvPr/>
          </p:nvPicPr>
          <p:blipFill rotWithShape="1">
            <a:blip r:embed="rId3">
              <a:alphaModFix/>
            </a:blip>
            <a:srcRect b="0" l="0" r="0" t="0"/>
            <a:stretch/>
          </p:blipFill>
          <p:spPr>
            <a:xfrm>
              <a:off x="10886440" y="2125980"/>
              <a:ext cx="848360" cy="848360"/>
            </a:xfrm>
            <a:prstGeom prst="rect">
              <a:avLst/>
            </a:prstGeom>
            <a:noFill/>
            <a:ln>
              <a:noFill/>
            </a:ln>
          </p:spPr>
        </p:pic>
        <p:sp>
          <p:nvSpPr>
            <p:cNvPr id="38" name="Google Shape;38;p6"/>
            <p:cNvSpPr txBox="1"/>
            <p:nvPr/>
          </p:nvSpPr>
          <p:spPr>
            <a:xfrm>
              <a:off x="7421880" y="792480"/>
              <a:ext cx="4399280" cy="138499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COMPSCI 453 </a:t>
              </a:r>
              <a:r>
                <a:rPr b="0" i="0" lang="en-US" sz="2800" u="none" cap="none" strike="noStrike">
                  <a:solidFill>
                    <a:srgbClr val="0013A3"/>
                  </a:solidFill>
                  <a:latin typeface="Calibri"/>
                  <a:ea typeface="Calibri"/>
                  <a:cs typeface="Calibri"/>
                  <a:sym typeface="Calibri"/>
                </a:rPr>
                <a:t>Computer Networks</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Professor Jim Kurose</a:t>
              </a:r>
              <a:endParaRPr/>
            </a:p>
            <a:p>
              <a:pPr indent="0" lvl="0" marL="0" marR="0" rtl="0" algn="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College of Information and Computer Sciences</a:t>
              </a:r>
              <a:endParaRPr/>
            </a:p>
            <a:p>
              <a:pPr indent="0" lvl="0" marL="0" marR="0" rtl="0" algn="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University of Massachusetts </a:t>
              </a:r>
              <a:endParaRPr/>
            </a:p>
          </p:txBody>
        </p:sp>
        <p:grpSp>
          <p:nvGrpSpPr>
            <p:cNvPr id="39" name="Google Shape;39;p6"/>
            <p:cNvGrpSpPr/>
            <p:nvPr/>
          </p:nvGrpSpPr>
          <p:grpSpPr>
            <a:xfrm>
              <a:off x="7884160" y="3304540"/>
              <a:ext cx="3857707" cy="1354217"/>
              <a:chOff x="7904480" y="4206240"/>
              <a:chExt cx="3857707" cy="1354217"/>
            </a:xfrm>
          </p:grpSpPr>
          <p:pic>
            <p:nvPicPr>
              <p:cNvPr descr="Kurose_CVR_REV2.jpg" id="40" name="Google Shape;40;p6"/>
              <p:cNvPicPr preferRelativeResize="0"/>
              <p:nvPr/>
            </p:nvPicPr>
            <p:blipFill rotWithShape="1">
              <a:blip r:embed="rId4">
                <a:alphaModFix/>
              </a:blip>
              <a:srcRect b="0" l="0" r="0" t="0"/>
              <a:stretch/>
            </p:blipFill>
            <p:spPr>
              <a:xfrm>
                <a:off x="10828020" y="4246880"/>
                <a:ext cx="934167" cy="1224438"/>
              </a:xfrm>
              <a:prstGeom prst="rect">
                <a:avLst/>
              </a:prstGeom>
              <a:noFill/>
              <a:ln>
                <a:noFill/>
              </a:ln>
            </p:spPr>
          </p:pic>
          <p:sp>
            <p:nvSpPr>
              <p:cNvPr id="41" name="Google Shape;41;p6"/>
              <p:cNvSpPr txBox="1"/>
              <p:nvPr/>
            </p:nvSpPr>
            <p:spPr>
              <a:xfrm>
                <a:off x="7904480" y="4206240"/>
                <a:ext cx="2885440" cy="135421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Class textbook: </a:t>
                </a:r>
                <a:endParaRPr/>
              </a:p>
              <a:p>
                <a:pPr indent="0" lvl="0" marL="0" marR="0" rtl="0" algn="r">
                  <a:lnSpc>
                    <a:spcPct val="100000"/>
                  </a:lnSpc>
                  <a:spcBef>
                    <a:spcPts val="0"/>
                  </a:spcBef>
                  <a:spcAft>
                    <a:spcPts val="0"/>
                  </a:spcAft>
                  <a:buClr>
                    <a:srgbClr val="000000"/>
                  </a:buClr>
                  <a:buSzPts val="1600"/>
                  <a:buFont typeface="Calibri"/>
                  <a:buNone/>
                </a:pPr>
                <a:r>
                  <a:rPr b="0" i="1" lang="en-US" sz="1600" u="none" cap="none" strike="noStrike">
                    <a:solidFill>
                      <a:srgbClr val="000000"/>
                    </a:solidFill>
                    <a:latin typeface="Calibri"/>
                    <a:ea typeface="Calibri"/>
                    <a:cs typeface="Calibri"/>
                    <a:sym typeface="Calibri"/>
                  </a:rPr>
                  <a:t>Computer Networking: A Top-Down Approach </a:t>
                </a:r>
                <a:r>
                  <a:rPr b="0" i="1" lang="en-US" sz="1400" u="none" cap="none" strike="noStrike">
                    <a:solidFill>
                      <a:srgbClr val="000000"/>
                    </a:solidFill>
                    <a:latin typeface="Calibri"/>
                    <a:ea typeface="Calibri"/>
                    <a:cs typeface="Calibri"/>
                    <a:sym typeface="Calibri"/>
                  </a:rPr>
                  <a:t>(8</a:t>
                </a:r>
                <a:r>
                  <a:rPr b="0" baseline="30000" i="1" lang="en-US" sz="1400" u="none" cap="none" strike="noStrike">
                    <a:solidFill>
                      <a:srgbClr val="000000"/>
                    </a:solidFill>
                    <a:latin typeface="Calibri"/>
                    <a:ea typeface="Calibri"/>
                    <a:cs typeface="Calibri"/>
                    <a:sym typeface="Calibri"/>
                  </a:rPr>
                  <a:t>th</a:t>
                </a:r>
                <a:r>
                  <a:rPr b="0" i="1" lang="en-US" sz="1400" u="none" cap="none" strike="noStrike">
                    <a:solidFill>
                      <a:srgbClr val="000000"/>
                    </a:solidFill>
                    <a:latin typeface="Calibri"/>
                    <a:ea typeface="Calibri"/>
                    <a:cs typeface="Calibri"/>
                    <a:sym typeface="Calibri"/>
                  </a:rPr>
                  <a:t> ed.)</a:t>
                </a:r>
                <a:endParaRPr b="0" i="1" sz="1600" u="none" cap="none" strike="noStrike">
                  <a:solidFill>
                    <a:srgbClr val="000000"/>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J.F. Kurose, K.W. Ross</a:t>
                </a:r>
                <a:endParaRPr/>
              </a:p>
              <a:p>
                <a:pPr indent="0" lvl="0" marL="0" marR="0" rtl="0" algn="r">
                  <a:lnSpc>
                    <a:spcPct val="100000"/>
                  </a:lnSpc>
                  <a:spcBef>
                    <a:spcPts val="0"/>
                  </a:spcBef>
                  <a:spcAft>
                    <a:spcPts val="0"/>
                  </a:spcAft>
                  <a:buClr>
                    <a:srgbClr val="000000"/>
                  </a:buClr>
                  <a:buSzPts val="1100"/>
                  <a:buFont typeface="Calibri"/>
                  <a:buNone/>
                </a:pPr>
                <a:r>
                  <a:rPr b="0" i="0" lang="en-US" sz="1100" u="none" cap="none" strike="noStrike">
                    <a:solidFill>
                      <a:srgbClr val="000000"/>
                    </a:solidFill>
                    <a:latin typeface="Calibri"/>
                    <a:ea typeface="Calibri"/>
                    <a:cs typeface="Calibri"/>
                    <a:sym typeface="Calibri"/>
                  </a:rPr>
                  <a:t>Pearson, 2020</a:t>
                </a:r>
                <a:endParaRPr/>
              </a:p>
              <a:p>
                <a:pPr indent="0" lvl="0" marL="0" marR="0" rtl="0" algn="r">
                  <a:lnSpc>
                    <a:spcPct val="10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http://gaia.cs.umass.edu/kurose_ross</a:t>
                </a:r>
                <a:endParaRPr b="0" i="0" sz="1100" u="none" cap="none" strike="noStrike">
                  <a:solidFill>
                    <a:srgbClr val="000000"/>
                  </a:solidFill>
                  <a:latin typeface="Calibri"/>
                  <a:ea typeface="Calibri"/>
                  <a:cs typeface="Calibri"/>
                  <a:sym typeface="Calibri"/>
                </a:endParaRPr>
              </a:p>
            </p:txBody>
          </p:sp>
        </p:gr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
                                        </p:tgtEl>
                                        <p:attrNameLst>
                                          <p:attrName>style.visibility</p:attrName>
                                        </p:attrNameLst>
                                      </p:cBhvr>
                                      <p:to>
                                        <p:strVal val="visible"/>
                                      </p:to>
                                    </p:set>
                                    <p:animEffect filter="fade" transition="in">
                                      <p:cBhvr>
                                        <p:cTn dur="500"/>
                                        <p:tgtEl>
                                          <p:spTgt spid="3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5"/>
                                        </p:tgtEl>
                                        <p:attrNameLst>
                                          <p:attrName>style.visibility</p:attrName>
                                        </p:attrNameLst>
                                      </p:cBhvr>
                                      <p:to>
                                        <p:strVal val="visible"/>
                                      </p:to>
                                    </p:set>
                                    <p:animEffect filter="fade" transition="in">
                                      <p:cBhvr>
                                        <p:cTn dur="1000"/>
                                        <p:tgtEl>
                                          <p:spTgt spid="3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6"/>
                                        </p:tgtEl>
                                        <p:attrNameLst>
                                          <p:attrName>style.visibility</p:attrName>
                                        </p:attrNameLst>
                                      </p:cBhvr>
                                      <p:to>
                                        <p:strVal val="visible"/>
                                      </p:to>
                                    </p:set>
                                    <p:animEffect filter="fade" transition="in">
                                      <p:cBhvr>
                                        <p:cTn dur="1000"/>
                                        <p:tgtEl>
                                          <p:spTgt spid="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7"/>
          <p:cNvSpPr txBox="1"/>
          <p:nvPr>
            <p:ph type="title"/>
          </p:nvPr>
        </p:nvSpPr>
        <p:spPr>
          <a:xfrm>
            <a:off x="838200" y="398812"/>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Router architecture overview</a:t>
            </a:r>
            <a:endParaRPr sz="4800"/>
          </a:p>
        </p:txBody>
      </p:sp>
      <p:sp>
        <p:nvSpPr>
          <p:cNvPr id="48" name="Google Shape;48;p7"/>
          <p:cNvSpPr/>
          <p:nvPr/>
        </p:nvSpPr>
        <p:spPr>
          <a:xfrm>
            <a:off x="874641" y="1443590"/>
            <a:ext cx="10787270" cy="584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high-level view of generic router architecture:</a:t>
            </a:r>
            <a:endParaRPr/>
          </a:p>
        </p:txBody>
      </p:sp>
      <p:grpSp>
        <p:nvGrpSpPr>
          <p:cNvPr id="49" name="Google Shape;49;p7"/>
          <p:cNvGrpSpPr/>
          <p:nvPr/>
        </p:nvGrpSpPr>
        <p:grpSpPr>
          <a:xfrm>
            <a:off x="4324902" y="3466272"/>
            <a:ext cx="1609725" cy="2343150"/>
            <a:chOff x="2418" y="1882"/>
            <a:chExt cx="1014" cy="1476"/>
          </a:xfrm>
        </p:grpSpPr>
        <p:sp>
          <p:nvSpPr>
            <p:cNvPr id="50" name="Google Shape;50;p7"/>
            <p:cNvSpPr/>
            <p:nvPr/>
          </p:nvSpPr>
          <p:spPr>
            <a:xfrm>
              <a:off x="2418" y="1882"/>
              <a:ext cx="1014" cy="1476"/>
            </a:xfrm>
            <a:prstGeom prst="rect">
              <a:avLst/>
            </a:prstGeom>
            <a:solidFill>
              <a:schemeClr val="lt1"/>
            </a:solidFill>
            <a:ln cap="flat" cmpd="sng" w="28575">
              <a:solidFill>
                <a:srgbClr val="FF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 name="Google Shape;51;p7"/>
            <p:cNvSpPr txBox="1"/>
            <p:nvPr/>
          </p:nvSpPr>
          <p:spPr>
            <a:xfrm>
              <a:off x="2485" y="2418"/>
              <a:ext cx="876" cy="503"/>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high-speed </a:t>
              </a:r>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switching</a:t>
              </a:r>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fabric</a:t>
              </a:r>
              <a:endParaRPr/>
            </a:p>
          </p:txBody>
        </p:sp>
      </p:grpSp>
      <p:grpSp>
        <p:nvGrpSpPr>
          <p:cNvPr id="52" name="Google Shape;52;p7"/>
          <p:cNvGrpSpPr/>
          <p:nvPr/>
        </p:nvGrpSpPr>
        <p:grpSpPr>
          <a:xfrm>
            <a:off x="4342365" y="2504247"/>
            <a:ext cx="1590675" cy="1090613"/>
            <a:chOff x="4342365" y="2504247"/>
            <a:chExt cx="1590675" cy="1090613"/>
          </a:xfrm>
        </p:grpSpPr>
        <p:sp>
          <p:nvSpPr>
            <p:cNvPr id="53" name="Google Shape;53;p7"/>
            <p:cNvSpPr/>
            <p:nvPr/>
          </p:nvSpPr>
          <p:spPr>
            <a:xfrm>
              <a:off x="4342365" y="2504247"/>
              <a:ext cx="1590675" cy="647700"/>
            </a:xfrm>
            <a:prstGeom prst="rect">
              <a:avLst/>
            </a:prstGeom>
            <a:solidFill>
              <a:schemeClr val="lt1"/>
            </a:solidFill>
            <a:ln cap="flat" cmpd="sng" w="28575">
              <a:solidFill>
                <a:srgbClr val="FF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 name="Google Shape;54;p7"/>
            <p:cNvSpPr txBox="1"/>
            <p:nvPr/>
          </p:nvSpPr>
          <p:spPr>
            <a:xfrm>
              <a:off x="4520165" y="2545522"/>
              <a:ext cx="1187450" cy="558800"/>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routing </a:t>
              </a:r>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processor</a:t>
              </a:r>
              <a:endParaRPr/>
            </a:p>
          </p:txBody>
        </p:sp>
        <p:cxnSp>
          <p:nvCxnSpPr>
            <p:cNvPr id="55" name="Google Shape;55;p7"/>
            <p:cNvCxnSpPr/>
            <p:nvPr/>
          </p:nvCxnSpPr>
          <p:spPr>
            <a:xfrm>
              <a:off x="5071027" y="3023360"/>
              <a:ext cx="19050" cy="571500"/>
            </a:xfrm>
            <a:prstGeom prst="straightConnector1">
              <a:avLst/>
            </a:prstGeom>
            <a:noFill/>
            <a:ln cap="flat" cmpd="sng" w="38100">
              <a:solidFill>
                <a:srgbClr val="FF0000"/>
              </a:solidFill>
              <a:prstDash val="solid"/>
              <a:round/>
              <a:headEnd len="med" w="med" type="triangle"/>
              <a:tailEnd len="med" w="med" type="triangle"/>
            </a:ln>
          </p:spPr>
        </p:cxnSp>
      </p:grpSp>
      <p:grpSp>
        <p:nvGrpSpPr>
          <p:cNvPr id="56" name="Google Shape;56;p7"/>
          <p:cNvGrpSpPr/>
          <p:nvPr/>
        </p:nvGrpSpPr>
        <p:grpSpPr>
          <a:xfrm>
            <a:off x="2281790" y="3480560"/>
            <a:ext cx="2033587" cy="566737"/>
            <a:chOff x="930" y="1989"/>
            <a:chExt cx="1482" cy="357"/>
          </a:xfrm>
        </p:grpSpPr>
        <p:sp>
          <p:nvSpPr>
            <p:cNvPr id="57" name="Google Shape;57;p7"/>
            <p:cNvSpPr/>
            <p:nvPr/>
          </p:nvSpPr>
          <p:spPr>
            <a:xfrm>
              <a:off x="1152" y="1989"/>
              <a:ext cx="1086" cy="357"/>
            </a:xfrm>
            <a:prstGeom prst="rect">
              <a:avLst/>
            </a:prstGeom>
            <a:solidFill>
              <a:schemeClr val="lt1"/>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 name="Google Shape;58;p7"/>
            <p:cNvSpPr/>
            <p:nvPr/>
          </p:nvSpPr>
          <p:spPr>
            <a:xfrm>
              <a:off x="1197" y="2089"/>
              <a:ext cx="337" cy="161"/>
            </a:xfrm>
            <a:prstGeom prst="rect">
              <a:avLst/>
            </a:prstGeom>
            <a:solidFill>
              <a:schemeClr val="lt1"/>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 name="Google Shape;59;p7"/>
            <p:cNvSpPr/>
            <p:nvPr/>
          </p:nvSpPr>
          <p:spPr>
            <a:xfrm>
              <a:off x="1582" y="2025"/>
              <a:ext cx="273" cy="274"/>
            </a:xfrm>
            <a:prstGeom prst="rect">
              <a:avLst/>
            </a:prstGeom>
            <a:solidFill>
              <a:schemeClr val="lt1"/>
            </a:solidFill>
            <a:ln cap="flat" cmpd="sng" w="28575">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 name="Google Shape;60;p7"/>
            <p:cNvSpPr/>
            <p:nvPr/>
          </p:nvSpPr>
          <p:spPr>
            <a:xfrm>
              <a:off x="1904" y="2023"/>
              <a:ext cx="274" cy="274"/>
            </a:xfrm>
            <a:prstGeom prst="rect">
              <a:avLst/>
            </a:prstGeom>
            <a:solidFill>
              <a:schemeClr val="lt1"/>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61" name="Google Shape;61;p7"/>
            <p:cNvCxnSpPr/>
            <p:nvPr/>
          </p:nvCxnSpPr>
          <p:spPr>
            <a:xfrm>
              <a:off x="930" y="2169"/>
              <a:ext cx="1482" cy="0"/>
            </a:xfrm>
            <a:prstGeom prst="straightConnector1">
              <a:avLst/>
            </a:prstGeom>
            <a:noFill/>
            <a:ln cap="flat" cmpd="sng" w="28575">
              <a:solidFill>
                <a:schemeClr val="dk1"/>
              </a:solidFill>
              <a:prstDash val="solid"/>
              <a:round/>
              <a:headEnd len="med" w="med" type="none"/>
              <a:tailEnd len="med" w="med" type="triangle"/>
            </a:ln>
          </p:spPr>
        </p:cxnSp>
      </p:grpSp>
      <p:grpSp>
        <p:nvGrpSpPr>
          <p:cNvPr id="62" name="Google Shape;62;p7"/>
          <p:cNvGrpSpPr/>
          <p:nvPr/>
        </p:nvGrpSpPr>
        <p:grpSpPr>
          <a:xfrm>
            <a:off x="2270677" y="5218872"/>
            <a:ext cx="2058988" cy="566738"/>
            <a:chOff x="930" y="1989"/>
            <a:chExt cx="1482" cy="357"/>
          </a:xfrm>
        </p:grpSpPr>
        <p:sp>
          <p:nvSpPr>
            <p:cNvPr id="63" name="Google Shape;63;p7"/>
            <p:cNvSpPr/>
            <p:nvPr/>
          </p:nvSpPr>
          <p:spPr>
            <a:xfrm>
              <a:off x="1152" y="1989"/>
              <a:ext cx="1088" cy="357"/>
            </a:xfrm>
            <a:prstGeom prst="rect">
              <a:avLst/>
            </a:prstGeom>
            <a:solidFill>
              <a:schemeClr val="lt1"/>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 name="Google Shape;64;p7"/>
            <p:cNvSpPr/>
            <p:nvPr/>
          </p:nvSpPr>
          <p:spPr>
            <a:xfrm>
              <a:off x="1197" y="2089"/>
              <a:ext cx="337" cy="161"/>
            </a:xfrm>
            <a:prstGeom prst="rect">
              <a:avLst/>
            </a:prstGeom>
            <a:solidFill>
              <a:schemeClr val="lt1"/>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 name="Google Shape;65;p7"/>
            <p:cNvSpPr/>
            <p:nvPr/>
          </p:nvSpPr>
          <p:spPr>
            <a:xfrm>
              <a:off x="1582" y="2025"/>
              <a:ext cx="273" cy="274"/>
            </a:xfrm>
            <a:prstGeom prst="rect">
              <a:avLst/>
            </a:prstGeom>
            <a:solidFill>
              <a:schemeClr val="lt1"/>
            </a:solidFill>
            <a:ln cap="flat" cmpd="sng" w="28575">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 name="Google Shape;66;p7"/>
            <p:cNvSpPr/>
            <p:nvPr/>
          </p:nvSpPr>
          <p:spPr>
            <a:xfrm>
              <a:off x="1904" y="2023"/>
              <a:ext cx="274" cy="274"/>
            </a:xfrm>
            <a:prstGeom prst="rect">
              <a:avLst/>
            </a:prstGeom>
            <a:solidFill>
              <a:schemeClr val="lt1"/>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67" name="Google Shape;67;p7"/>
            <p:cNvCxnSpPr/>
            <p:nvPr/>
          </p:nvCxnSpPr>
          <p:spPr>
            <a:xfrm>
              <a:off x="930" y="2169"/>
              <a:ext cx="1482" cy="0"/>
            </a:xfrm>
            <a:prstGeom prst="straightConnector1">
              <a:avLst/>
            </a:prstGeom>
            <a:noFill/>
            <a:ln cap="flat" cmpd="sng" w="28575">
              <a:solidFill>
                <a:schemeClr val="dk1"/>
              </a:solidFill>
              <a:prstDash val="solid"/>
              <a:round/>
              <a:headEnd len="med" w="med" type="none"/>
              <a:tailEnd len="med" w="med" type="triangle"/>
            </a:ln>
          </p:spPr>
        </p:cxnSp>
      </p:grpSp>
      <p:grpSp>
        <p:nvGrpSpPr>
          <p:cNvPr id="68" name="Google Shape;68;p7"/>
          <p:cNvGrpSpPr/>
          <p:nvPr/>
        </p:nvGrpSpPr>
        <p:grpSpPr>
          <a:xfrm rot="2656396">
            <a:off x="2898642" y="4368931"/>
            <a:ext cx="546100" cy="546100"/>
            <a:chOff x="352" y="2715"/>
            <a:chExt cx="344" cy="344"/>
          </a:xfrm>
        </p:grpSpPr>
        <p:sp>
          <p:nvSpPr>
            <p:cNvPr id="69" name="Google Shape;69;p7"/>
            <p:cNvSpPr/>
            <p:nvPr/>
          </p:nvSpPr>
          <p:spPr>
            <a:xfrm>
              <a:off x="352" y="2715"/>
              <a:ext cx="56" cy="56"/>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 name="Google Shape;70;p7"/>
            <p:cNvSpPr/>
            <p:nvPr/>
          </p:nvSpPr>
          <p:spPr>
            <a:xfrm>
              <a:off x="450" y="2811"/>
              <a:ext cx="56" cy="56"/>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 name="Google Shape;71;p7"/>
            <p:cNvSpPr/>
            <p:nvPr/>
          </p:nvSpPr>
          <p:spPr>
            <a:xfrm>
              <a:off x="545" y="2907"/>
              <a:ext cx="56" cy="56"/>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 name="Google Shape;72;p7"/>
            <p:cNvSpPr/>
            <p:nvPr/>
          </p:nvSpPr>
          <p:spPr>
            <a:xfrm>
              <a:off x="640" y="3003"/>
              <a:ext cx="56" cy="56"/>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73" name="Google Shape;73;p7"/>
          <p:cNvSpPr txBox="1"/>
          <p:nvPr/>
        </p:nvSpPr>
        <p:spPr>
          <a:xfrm>
            <a:off x="2177015" y="5864985"/>
            <a:ext cx="19113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router input ports</a:t>
            </a:r>
            <a:endParaRPr/>
          </a:p>
        </p:txBody>
      </p:sp>
      <p:grpSp>
        <p:nvGrpSpPr>
          <p:cNvPr id="74" name="Google Shape;74;p7"/>
          <p:cNvGrpSpPr/>
          <p:nvPr/>
        </p:nvGrpSpPr>
        <p:grpSpPr>
          <a:xfrm>
            <a:off x="5882240" y="3485322"/>
            <a:ext cx="1957387" cy="566738"/>
            <a:chOff x="-51" y="2454"/>
            <a:chExt cx="1482" cy="357"/>
          </a:xfrm>
        </p:grpSpPr>
        <p:grpSp>
          <p:nvGrpSpPr>
            <p:cNvPr id="75" name="Google Shape;75;p7"/>
            <p:cNvGrpSpPr/>
            <p:nvPr/>
          </p:nvGrpSpPr>
          <p:grpSpPr>
            <a:xfrm flipH="1">
              <a:off x="173" y="2454"/>
              <a:ext cx="1084" cy="357"/>
              <a:chOff x="171" y="2454"/>
              <a:chExt cx="1084" cy="357"/>
            </a:xfrm>
          </p:grpSpPr>
          <p:sp>
            <p:nvSpPr>
              <p:cNvPr id="76" name="Google Shape;76;p7"/>
              <p:cNvSpPr/>
              <p:nvPr/>
            </p:nvSpPr>
            <p:spPr>
              <a:xfrm>
                <a:off x="171" y="2454"/>
                <a:ext cx="1084" cy="357"/>
              </a:xfrm>
              <a:prstGeom prst="rect">
                <a:avLst/>
              </a:prstGeom>
              <a:solidFill>
                <a:schemeClr val="lt1"/>
              </a:solidFill>
              <a:ln cap="flat" cmpd="sng" w="19050">
                <a:solidFill>
                  <a:srgbClr val="5F5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 name="Google Shape;77;p7"/>
              <p:cNvSpPr/>
              <p:nvPr/>
            </p:nvSpPr>
            <p:spPr>
              <a:xfrm>
                <a:off x="216" y="2554"/>
                <a:ext cx="338" cy="161"/>
              </a:xfrm>
              <a:prstGeom prst="rect">
                <a:avLst/>
              </a:prstGeom>
              <a:solidFill>
                <a:schemeClr val="lt1"/>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 name="Google Shape;78;p7"/>
              <p:cNvSpPr/>
              <p:nvPr/>
            </p:nvSpPr>
            <p:spPr>
              <a:xfrm>
                <a:off x="602" y="2490"/>
                <a:ext cx="274" cy="274"/>
              </a:xfrm>
              <a:prstGeom prst="rect">
                <a:avLst/>
              </a:prstGeom>
              <a:solidFill>
                <a:schemeClr val="lt1"/>
              </a:solidFill>
              <a:ln cap="flat" cmpd="sng" w="28575">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9" name="Google Shape;79;p7"/>
              <p:cNvSpPr/>
              <p:nvPr/>
            </p:nvSpPr>
            <p:spPr>
              <a:xfrm>
                <a:off x="921" y="2488"/>
                <a:ext cx="274" cy="274"/>
              </a:xfrm>
              <a:prstGeom prst="rect">
                <a:avLst/>
              </a:prstGeom>
              <a:solidFill>
                <a:schemeClr val="lt1"/>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80" name="Google Shape;80;p7"/>
            <p:cNvCxnSpPr/>
            <p:nvPr/>
          </p:nvCxnSpPr>
          <p:spPr>
            <a:xfrm>
              <a:off x="-51" y="2634"/>
              <a:ext cx="1482" cy="0"/>
            </a:xfrm>
            <a:prstGeom prst="straightConnector1">
              <a:avLst/>
            </a:prstGeom>
            <a:noFill/>
            <a:ln cap="flat" cmpd="sng" w="28575">
              <a:solidFill>
                <a:schemeClr val="dk1"/>
              </a:solidFill>
              <a:prstDash val="solid"/>
              <a:round/>
              <a:headEnd len="med" w="med" type="none"/>
              <a:tailEnd len="med" w="med" type="triangle"/>
            </a:ln>
            <a:effectLst>
              <a:outerShdw blurRad="50800" rotWithShape="0" algn="tl" dir="2700000" dist="38100">
                <a:srgbClr val="000000">
                  <a:alpha val="40000"/>
                </a:srgbClr>
              </a:outerShdw>
            </a:effectLst>
          </p:spPr>
        </p:cxnSp>
      </p:grpSp>
      <p:grpSp>
        <p:nvGrpSpPr>
          <p:cNvPr id="81" name="Google Shape;81;p7"/>
          <p:cNvGrpSpPr/>
          <p:nvPr/>
        </p:nvGrpSpPr>
        <p:grpSpPr>
          <a:xfrm>
            <a:off x="5901290" y="5218872"/>
            <a:ext cx="2011362" cy="566738"/>
            <a:chOff x="-51" y="2454"/>
            <a:chExt cx="1482" cy="357"/>
          </a:xfrm>
        </p:grpSpPr>
        <p:grpSp>
          <p:nvGrpSpPr>
            <p:cNvPr id="82" name="Google Shape;82;p7"/>
            <p:cNvGrpSpPr/>
            <p:nvPr/>
          </p:nvGrpSpPr>
          <p:grpSpPr>
            <a:xfrm flipH="1">
              <a:off x="173" y="2454"/>
              <a:ext cx="1084" cy="357"/>
              <a:chOff x="171" y="2454"/>
              <a:chExt cx="1084" cy="357"/>
            </a:xfrm>
          </p:grpSpPr>
          <p:sp>
            <p:nvSpPr>
              <p:cNvPr id="83" name="Google Shape;83;p7"/>
              <p:cNvSpPr/>
              <p:nvPr/>
            </p:nvSpPr>
            <p:spPr>
              <a:xfrm>
                <a:off x="171" y="2454"/>
                <a:ext cx="1084" cy="357"/>
              </a:xfrm>
              <a:prstGeom prst="rect">
                <a:avLst/>
              </a:prstGeom>
              <a:solidFill>
                <a:schemeClr val="lt1"/>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 name="Google Shape;84;p7"/>
              <p:cNvSpPr/>
              <p:nvPr/>
            </p:nvSpPr>
            <p:spPr>
              <a:xfrm>
                <a:off x="216" y="2554"/>
                <a:ext cx="337" cy="161"/>
              </a:xfrm>
              <a:prstGeom prst="rect">
                <a:avLst/>
              </a:prstGeom>
              <a:solidFill>
                <a:schemeClr val="lt1"/>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5" name="Google Shape;85;p7"/>
              <p:cNvSpPr/>
              <p:nvPr/>
            </p:nvSpPr>
            <p:spPr>
              <a:xfrm>
                <a:off x="602" y="2490"/>
                <a:ext cx="274" cy="274"/>
              </a:xfrm>
              <a:prstGeom prst="rect">
                <a:avLst/>
              </a:prstGeom>
              <a:solidFill>
                <a:schemeClr val="lt1"/>
              </a:solidFill>
              <a:ln cap="flat" cmpd="sng" w="28575">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 name="Google Shape;86;p7"/>
              <p:cNvSpPr/>
              <p:nvPr/>
            </p:nvSpPr>
            <p:spPr>
              <a:xfrm>
                <a:off x="923" y="2488"/>
                <a:ext cx="274" cy="274"/>
              </a:xfrm>
              <a:prstGeom prst="rect">
                <a:avLst/>
              </a:prstGeom>
              <a:solidFill>
                <a:schemeClr val="lt1"/>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87" name="Google Shape;87;p7"/>
            <p:cNvCxnSpPr/>
            <p:nvPr/>
          </p:nvCxnSpPr>
          <p:spPr>
            <a:xfrm>
              <a:off x="-51" y="2634"/>
              <a:ext cx="1482" cy="0"/>
            </a:xfrm>
            <a:prstGeom prst="straightConnector1">
              <a:avLst/>
            </a:prstGeom>
            <a:noFill/>
            <a:ln cap="flat" cmpd="sng" w="28575">
              <a:solidFill>
                <a:schemeClr val="dk1"/>
              </a:solidFill>
              <a:prstDash val="solid"/>
              <a:round/>
              <a:headEnd len="med" w="med" type="none"/>
              <a:tailEnd len="med" w="med" type="triangle"/>
            </a:ln>
          </p:spPr>
        </p:cxnSp>
      </p:grpSp>
      <p:grpSp>
        <p:nvGrpSpPr>
          <p:cNvPr id="88" name="Google Shape;88;p7"/>
          <p:cNvGrpSpPr/>
          <p:nvPr/>
        </p:nvGrpSpPr>
        <p:grpSpPr>
          <a:xfrm rot="2656396">
            <a:off x="6765792" y="4359406"/>
            <a:ext cx="546100" cy="546100"/>
            <a:chOff x="352" y="2715"/>
            <a:chExt cx="344" cy="344"/>
          </a:xfrm>
        </p:grpSpPr>
        <p:sp>
          <p:nvSpPr>
            <p:cNvPr id="89" name="Google Shape;89;p7"/>
            <p:cNvSpPr/>
            <p:nvPr/>
          </p:nvSpPr>
          <p:spPr>
            <a:xfrm>
              <a:off x="352" y="2715"/>
              <a:ext cx="56" cy="56"/>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 name="Google Shape;90;p7"/>
            <p:cNvSpPr/>
            <p:nvPr/>
          </p:nvSpPr>
          <p:spPr>
            <a:xfrm>
              <a:off x="450" y="2811"/>
              <a:ext cx="56" cy="56"/>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 name="Google Shape;91;p7"/>
            <p:cNvSpPr/>
            <p:nvPr/>
          </p:nvSpPr>
          <p:spPr>
            <a:xfrm>
              <a:off x="545" y="2907"/>
              <a:ext cx="56" cy="56"/>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 name="Google Shape;92;p7"/>
            <p:cNvSpPr/>
            <p:nvPr/>
          </p:nvSpPr>
          <p:spPr>
            <a:xfrm>
              <a:off x="640" y="3003"/>
              <a:ext cx="56" cy="56"/>
            </a:xfrm>
            <a:prstGeom prst="ellipse">
              <a:avLst/>
            </a:pr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3" name="Google Shape;93;p7"/>
          <p:cNvSpPr txBox="1"/>
          <p:nvPr/>
        </p:nvSpPr>
        <p:spPr>
          <a:xfrm>
            <a:off x="6201327" y="5906260"/>
            <a:ext cx="20510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router output ports</a:t>
            </a:r>
            <a:endParaRPr/>
          </a:p>
        </p:txBody>
      </p:sp>
      <p:cxnSp>
        <p:nvCxnSpPr>
          <p:cNvPr id="94" name="Google Shape;94;p7"/>
          <p:cNvCxnSpPr/>
          <p:nvPr/>
        </p:nvCxnSpPr>
        <p:spPr>
          <a:xfrm>
            <a:off x="2270677" y="3275772"/>
            <a:ext cx="7802563" cy="12700"/>
          </a:xfrm>
          <a:prstGeom prst="straightConnector1">
            <a:avLst/>
          </a:prstGeom>
          <a:noFill/>
          <a:ln cap="flat" cmpd="sng" w="9525">
            <a:solidFill>
              <a:schemeClr val="dk1"/>
            </a:solidFill>
            <a:prstDash val="dash"/>
            <a:round/>
            <a:headEnd len="med" w="med" type="none"/>
            <a:tailEnd len="med" w="med" type="none"/>
          </a:ln>
        </p:spPr>
      </p:cxnSp>
      <p:sp>
        <p:nvSpPr>
          <p:cNvPr id="95" name="Google Shape;95;p7"/>
          <p:cNvSpPr txBox="1"/>
          <p:nvPr/>
        </p:nvSpPr>
        <p:spPr>
          <a:xfrm>
            <a:off x="8177765" y="3312285"/>
            <a:ext cx="2185987" cy="107791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forwarding data plane  </a:t>
            </a:r>
            <a:r>
              <a:rPr b="0" i="0" lang="en-US" sz="1600" u="none" cap="none" strike="noStrike">
                <a:solidFill>
                  <a:srgbClr val="000000"/>
                </a:solidFill>
                <a:latin typeface="Arial"/>
                <a:ea typeface="Arial"/>
                <a:cs typeface="Arial"/>
                <a:sym typeface="Arial"/>
              </a:rPr>
              <a:t>(hardware) operates in nanosecond timeframe</a:t>
            </a:r>
            <a:endParaRPr/>
          </a:p>
        </p:txBody>
      </p:sp>
      <p:sp>
        <p:nvSpPr>
          <p:cNvPr id="96" name="Google Shape;96;p7"/>
          <p:cNvSpPr/>
          <p:nvPr/>
        </p:nvSpPr>
        <p:spPr>
          <a:xfrm>
            <a:off x="7490377" y="2208972"/>
            <a:ext cx="2879725" cy="107632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routing, management</a:t>
            </a:r>
            <a:endParaRPr/>
          </a:p>
          <a:p>
            <a:pPr indent="0" lvl="0" marL="0" marR="0" rtl="0" algn="r">
              <a:lnSpc>
                <a:spcPct val="100000"/>
              </a:lnSpc>
              <a:spcBef>
                <a:spcPts val="0"/>
              </a:spcBef>
              <a:spcAft>
                <a:spcPts val="0"/>
              </a:spcAft>
              <a:buClr>
                <a:srgbClr val="CC0000"/>
              </a:buClr>
              <a:buSzPts val="1600"/>
              <a:buFont typeface="Arial"/>
              <a:buNone/>
            </a:pPr>
            <a:r>
              <a:rPr b="0" i="1" lang="en-US" sz="1600" u="none" cap="none" strike="noStrike">
                <a:solidFill>
                  <a:srgbClr val="CC0000"/>
                </a:solidFill>
                <a:latin typeface="Arial"/>
                <a:ea typeface="Arial"/>
                <a:cs typeface="Arial"/>
                <a:sym typeface="Arial"/>
              </a:rPr>
              <a:t>control plane </a:t>
            </a:r>
            <a:r>
              <a:rPr b="0" i="0" lang="en-US" sz="1600" u="none" cap="none" strike="noStrike">
                <a:solidFill>
                  <a:srgbClr val="000000"/>
                </a:solidFill>
                <a:latin typeface="Arial"/>
                <a:ea typeface="Arial"/>
                <a:cs typeface="Arial"/>
                <a:sym typeface="Arial"/>
              </a:rPr>
              <a:t>(software)</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operates in millisecond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time frame</a:t>
            </a:r>
            <a:endParaRPr/>
          </a:p>
        </p:txBody>
      </p:sp>
      <p:sp>
        <p:nvSpPr>
          <p:cNvPr id="97" name="Google Shape;97;p7"/>
          <p:cNvSpPr/>
          <p:nvPr/>
        </p:nvSpPr>
        <p:spPr>
          <a:xfrm>
            <a:off x="3735940" y="2799522"/>
            <a:ext cx="512762" cy="73025"/>
          </a:xfrm>
          <a:custGeom>
            <a:rect b="b" l="l" r="r" t="t"/>
            <a:pathLst>
              <a:path extrusionOk="0" h="73266" w="512919">
                <a:moveTo>
                  <a:pt x="488494" y="73266"/>
                </a:moveTo>
                <a:lnTo>
                  <a:pt x="512919" y="0"/>
                </a:lnTo>
                <a:cubicBezTo>
                  <a:pt x="390795" y="4070"/>
                  <a:pt x="268529" y="5036"/>
                  <a:pt x="146548" y="12211"/>
                </a:cubicBezTo>
                <a:cubicBezTo>
                  <a:pt x="129793" y="13196"/>
                  <a:pt x="114483" y="24422"/>
                  <a:pt x="97699" y="24422"/>
                </a:cubicBezTo>
                <a:cubicBezTo>
                  <a:pt x="64879" y="24422"/>
                  <a:pt x="0" y="12211"/>
                  <a:pt x="0" y="12211"/>
                </a:cubicBezTo>
                <a:lnTo>
                  <a:pt x="512919" y="12211"/>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98" name="Google Shape;98;p7"/>
          <p:cNvCxnSpPr>
            <a:endCxn id="66" idx="0"/>
          </p:cNvCxnSpPr>
          <p:nvPr/>
        </p:nvCxnSpPr>
        <p:spPr>
          <a:xfrm rot="5400000">
            <a:off x="2751473" y="3862397"/>
            <a:ext cx="2473200" cy="347700"/>
          </a:xfrm>
          <a:prstGeom prst="bentConnector3">
            <a:avLst>
              <a:gd fmla="val -65" name="adj1"/>
            </a:avLst>
          </a:prstGeom>
          <a:noFill/>
          <a:ln cap="flat" cmpd="sng" w="19050">
            <a:solidFill>
              <a:schemeClr val="dk1"/>
            </a:solidFill>
            <a:prstDash val="solid"/>
            <a:round/>
            <a:headEnd len="med" w="med" type="none"/>
            <a:tailEnd len="med" w="med" type="stealth"/>
          </a:ln>
        </p:spPr>
      </p:cxnSp>
      <p:sp>
        <p:nvSpPr>
          <p:cNvPr id="99" name="Google Shape;99;p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
                                        </p:tgtEl>
                                        <p:attrNameLst>
                                          <p:attrName>style.visibility</p:attrName>
                                        </p:attrNameLst>
                                      </p:cBhvr>
                                      <p:to>
                                        <p:strVal val="visible"/>
                                      </p:to>
                                    </p:set>
                                    <p:animEffect filter="fade" transition="in">
                                      <p:cBhvr>
                                        <p:cTn dur="1000"/>
                                        <p:tgtEl>
                                          <p:spTgt spid="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
                                        </p:tgtEl>
                                        <p:attrNameLst>
                                          <p:attrName>style.visibility</p:attrName>
                                        </p:attrNameLst>
                                      </p:cBhvr>
                                      <p:to>
                                        <p:strVal val="visible"/>
                                      </p:to>
                                    </p:set>
                                    <p:animEffect filter="fade" transition="in">
                                      <p:cBhvr>
                                        <p:cTn dur="500"/>
                                        <p:tgtEl>
                                          <p:spTgt spid="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gtEl>
                                        <p:attrNameLst>
                                          <p:attrName>style.visibility</p:attrName>
                                        </p:attrNameLst>
                                      </p:cBhvr>
                                      <p:to>
                                        <p:strVal val="visible"/>
                                      </p:to>
                                    </p:set>
                                    <p:animEffect filter="fade" transition="in">
                                      <p:cBhvr>
                                        <p:cTn dur="500"/>
                                        <p:tgtEl>
                                          <p:spTgt spid="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gtEl>
                                        <p:attrNameLst>
                                          <p:attrName>style.visibility</p:attrName>
                                        </p:attrNameLst>
                                      </p:cBhvr>
                                      <p:to>
                                        <p:strVal val="visible"/>
                                      </p:to>
                                    </p:set>
                                    <p:animEffect filter="fade" transition="in">
                                      <p:cBhvr>
                                        <p:cTn dur="500"/>
                                        <p:tgtEl>
                                          <p:spTgt spid="95"/>
                                        </p:tgtEl>
                                      </p:cBhvr>
                                    </p:animEffect>
                                  </p:childTnLst>
                                </p:cTn>
                              </p:par>
                              <p:par>
                                <p:cTn fill="hold" nodeType="withEffect" presetClass="entr" presetID="10" presetSubtype="0">
                                  <p:stCondLst>
                                    <p:cond delay="0"/>
                                  </p:stCondLst>
                                  <p:childTnLst>
                                    <p:set>
                                      <p:cBhvr>
                                        <p:cTn dur="1" fill="hold">
                                          <p:stCondLst>
                                            <p:cond delay="0"/>
                                          </p:stCondLst>
                                        </p:cTn>
                                        <p:tgtEl>
                                          <p:spTgt spid="96"/>
                                        </p:tgtEl>
                                        <p:attrNameLst>
                                          <p:attrName>style.visibility</p:attrName>
                                        </p:attrNameLst>
                                      </p:cBhvr>
                                      <p:to>
                                        <p:strVal val="visible"/>
                                      </p:to>
                                    </p:set>
                                    <p:animEffect filter="fade" transition="in">
                                      <p:cBhvr>
                                        <p:cTn dur="500"/>
                                        <p:tgtEl>
                                          <p:spTgt spid="96"/>
                                        </p:tgtEl>
                                      </p:cBhvr>
                                    </p:animEffect>
                                  </p:childTnLst>
                                </p:cTn>
                              </p:par>
                              <p:par>
                                <p:cTn fill="hold" nodeType="withEffect" presetClass="entr" presetID="10" presetSubtype="0">
                                  <p:stCondLst>
                                    <p:cond delay="0"/>
                                  </p:stCondLst>
                                  <p:childTnLst>
                                    <p:set>
                                      <p:cBhvr>
                                        <p:cTn dur="1" fill="hold">
                                          <p:stCondLst>
                                            <p:cond delay="0"/>
                                          </p:stCondLst>
                                        </p:cTn>
                                        <p:tgtEl>
                                          <p:spTgt spid="94"/>
                                        </p:tgtEl>
                                        <p:attrNameLst>
                                          <p:attrName>style.visibility</p:attrName>
                                        </p:attrNameLst>
                                      </p:cBhvr>
                                      <p:to>
                                        <p:strVal val="visible"/>
                                      </p:to>
                                    </p:set>
                                    <p:animEffect filter="fade" transition="in">
                                      <p:cBhvr>
                                        <p:cTn dur="500"/>
                                        <p:tgtEl>
                                          <p:spTgt spid="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8"/>
          <p:cNvSpPr txBox="1"/>
          <p:nvPr>
            <p:ph type="title"/>
          </p:nvPr>
        </p:nvSpPr>
        <p:spPr>
          <a:xfrm>
            <a:off x="838200" y="398812"/>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Input port functions</a:t>
            </a:r>
            <a:endParaRPr sz="4800"/>
          </a:p>
        </p:txBody>
      </p:sp>
      <p:sp>
        <p:nvSpPr>
          <p:cNvPr id="106" name="Google Shape;106;p8"/>
          <p:cNvSpPr/>
          <p:nvPr/>
        </p:nvSpPr>
        <p:spPr>
          <a:xfrm>
            <a:off x="2275508" y="1518548"/>
            <a:ext cx="4568825" cy="1836737"/>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07" name="Google Shape;107;p8"/>
          <p:cNvCxnSpPr/>
          <p:nvPr/>
        </p:nvCxnSpPr>
        <p:spPr>
          <a:xfrm>
            <a:off x="1999283" y="2444060"/>
            <a:ext cx="423863" cy="0"/>
          </a:xfrm>
          <a:prstGeom prst="straightConnector1">
            <a:avLst/>
          </a:prstGeom>
          <a:noFill/>
          <a:ln cap="flat" cmpd="sng" w="28575">
            <a:solidFill>
              <a:srgbClr val="000000"/>
            </a:solidFill>
            <a:prstDash val="solid"/>
            <a:round/>
            <a:headEnd len="med" w="med" type="none"/>
            <a:tailEnd len="med" w="med" type="triangle"/>
          </a:ln>
        </p:spPr>
      </p:cxnSp>
      <p:cxnSp>
        <p:nvCxnSpPr>
          <p:cNvPr id="108" name="Google Shape;108;p8"/>
          <p:cNvCxnSpPr/>
          <p:nvPr/>
        </p:nvCxnSpPr>
        <p:spPr>
          <a:xfrm flipH="1" rot="10800000">
            <a:off x="6601446" y="2421835"/>
            <a:ext cx="736600" cy="1588"/>
          </a:xfrm>
          <a:prstGeom prst="straightConnector1">
            <a:avLst/>
          </a:prstGeom>
          <a:noFill/>
          <a:ln cap="flat" cmpd="sng" w="28575">
            <a:solidFill>
              <a:srgbClr val="000000"/>
            </a:solidFill>
            <a:prstDash val="solid"/>
            <a:round/>
            <a:headEnd len="med" w="med" type="none"/>
            <a:tailEnd len="med" w="med" type="triangle"/>
          </a:ln>
        </p:spPr>
      </p:cxnSp>
      <p:cxnSp>
        <p:nvCxnSpPr>
          <p:cNvPr id="109" name="Google Shape;109;p8"/>
          <p:cNvCxnSpPr/>
          <p:nvPr/>
        </p:nvCxnSpPr>
        <p:spPr>
          <a:xfrm>
            <a:off x="7326933" y="902598"/>
            <a:ext cx="11113" cy="2865437"/>
          </a:xfrm>
          <a:prstGeom prst="straightConnector1">
            <a:avLst/>
          </a:prstGeom>
          <a:noFill/>
          <a:ln cap="flat" cmpd="sng" w="9525">
            <a:solidFill>
              <a:srgbClr val="C00000"/>
            </a:solidFill>
            <a:prstDash val="solid"/>
            <a:round/>
            <a:headEnd len="med" w="med" type="none"/>
            <a:tailEnd len="med" w="med" type="none"/>
          </a:ln>
        </p:spPr>
      </p:cxnSp>
      <p:sp>
        <p:nvSpPr>
          <p:cNvPr id="110" name="Google Shape;110;p8"/>
          <p:cNvSpPr/>
          <p:nvPr/>
        </p:nvSpPr>
        <p:spPr>
          <a:xfrm>
            <a:off x="7419008" y="2031310"/>
            <a:ext cx="1055688" cy="8286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switch</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fabric</a:t>
            </a:r>
            <a:endParaRPr/>
          </a:p>
        </p:txBody>
      </p:sp>
      <p:grpSp>
        <p:nvGrpSpPr>
          <p:cNvPr id="111" name="Google Shape;111;p8"/>
          <p:cNvGrpSpPr/>
          <p:nvPr/>
        </p:nvGrpSpPr>
        <p:grpSpPr>
          <a:xfrm>
            <a:off x="258938" y="2032898"/>
            <a:ext cx="3589783" cy="2064484"/>
            <a:chOff x="258938" y="2032898"/>
            <a:chExt cx="3589783" cy="2064484"/>
          </a:xfrm>
        </p:grpSpPr>
        <p:sp>
          <p:nvSpPr>
            <p:cNvPr id="112" name="Google Shape;112;p8"/>
            <p:cNvSpPr/>
            <p:nvPr/>
          </p:nvSpPr>
          <p:spPr>
            <a:xfrm>
              <a:off x="2431083" y="2032898"/>
              <a:ext cx="1417638" cy="828675"/>
            </a:xfrm>
            <a:prstGeom prst="rect">
              <a:avLst/>
            </a:prstGeom>
            <a:solidFill>
              <a:srgbClr val="FFFFFF"/>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line</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termination</a:t>
              </a:r>
              <a:endParaRPr/>
            </a:p>
          </p:txBody>
        </p:sp>
        <p:sp>
          <p:nvSpPr>
            <p:cNvPr id="113" name="Google Shape;113;p8"/>
            <p:cNvSpPr txBox="1"/>
            <p:nvPr/>
          </p:nvSpPr>
          <p:spPr>
            <a:xfrm>
              <a:off x="258938" y="3266385"/>
              <a:ext cx="2475358" cy="83099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400"/>
                <a:buFont typeface="Calibri"/>
                <a:buNone/>
              </a:pPr>
              <a:r>
                <a:rPr b="0" i="0" lang="en-US" sz="2400" u="none" cap="none" strike="noStrike">
                  <a:solidFill>
                    <a:srgbClr val="000099"/>
                  </a:solidFill>
                  <a:latin typeface="Calibri"/>
                  <a:ea typeface="Calibri"/>
                  <a:cs typeface="Calibri"/>
                  <a:sym typeface="Calibri"/>
                </a:rPr>
                <a:t>physical layer:</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bit-level reception</a:t>
              </a:r>
              <a:endParaRPr b="0" i="0" sz="2000" u="none" cap="none" strike="noStrike">
                <a:solidFill>
                  <a:srgbClr val="000000"/>
                </a:solidFill>
                <a:latin typeface="Calibri"/>
                <a:ea typeface="Calibri"/>
                <a:cs typeface="Calibri"/>
                <a:sym typeface="Calibri"/>
              </a:endParaRPr>
            </a:p>
          </p:txBody>
        </p:sp>
        <p:cxnSp>
          <p:nvCxnSpPr>
            <p:cNvPr id="114" name="Google Shape;114;p8"/>
            <p:cNvCxnSpPr/>
            <p:nvPr/>
          </p:nvCxnSpPr>
          <p:spPr>
            <a:xfrm flipH="1" rot="10800000">
              <a:off x="2743821" y="2955235"/>
              <a:ext cx="446087" cy="490538"/>
            </a:xfrm>
            <a:prstGeom prst="straightConnector1">
              <a:avLst/>
            </a:prstGeom>
            <a:noFill/>
            <a:ln cap="flat" cmpd="sng" w="19050">
              <a:solidFill>
                <a:srgbClr val="CC0000"/>
              </a:solidFill>
              <a:prstDash val="solid"/>
              <a:round/>
              <a:headEnd len="med" w="med" type="none"/>
              <a:tailEnd len="med" w="med" type="none"/>
            </a:ln>
          </p:spPr>
        </p:cxnSp>
      </p:grpSp>
      <p:grpSp>
        <p:nvGrpSpPr>
          <p:cNvPr id="115" name="Google Shape;115;p8"/>
          <p:cNvGrpSpPr/>
          <p:nvPr/>
        </p:nvGrpSpPr>
        <p:grpSpPr>
          <a:xfrm>
            <a:off x="871146" y="1664528"/>
            <a:ext cx="4336475" cy="3729630"/>
            <a:chOff x="871146" y="1664528"/>
            <a:chExt cx="4336475" cy="3729630"/>
          </a:xfrm>
        </p:grpSpPr>
        <p:sp>
          <p:nvSpPr>
            <p:cNvPr id="116" name="Google Shape;116;p8"/>
            <p:cNvSpPr/>
            <p:nvPr/>
          </p:nvSpPr>
          <p:spPr>
            <a:xfrm>
              <a:off x="4114937" y="1947588"/>
              <a:ext cx="1055688" cy="828675"/>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layer </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protocol</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(receive)</a:t>
              </a:r>
              <a:endParaRPr/>
            </a:p>
          </p:txBody>
        </p:sp>
        <p:grpSp>
          <p:nvGrpSpPr>
            <p:cNvPr id="117" name="Google Shape;117;p8"/>
            <p:cNvGrpSpPr/>
            <p:nvPr/>
          </p:nvGrpSpPr>
          <p:grpSpPr>
            <a:xfrm>
              <a:off x="871146" y="1664528"/>
              <a:ext cx="4336475" cy="3729630"/>
              <a:chOff x="871146" y="1664528"/>
              <a:chExt cx="4336475" cy="3729630"/>
            </a:xfrm>
          </p:grpSpPr>
          <p:sp>
            <p:nvSpPr>
              <p:cNvPr id="118" name="Google Shape;118;p8"/>
              <p:cNvSpPr/>
              <p:nvPr/>
            </p:nvSpPr>
            <p:spPr>
              <a:xfrm>
                <a:off x="4055096" y="1664528"/>
                <a:ext cx="1152525" cy="1409700"/>
              </a:xfrm>
              <a:prstGeom prst="rect">
                <a:avLst/>
              </a:prstGeom>
              <a:noFill/>
              <a:ln cap="flat" cmpd="sng" w="285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19" name="Google Shape;119;p8"/>
              <p:cNvCxnSpPr/>
              <p:nvPr/>
            </p:nvCxnSpPr>
            <p:spPr>
              <a:xfrm>
                <a:off x="3867771" y="2423423"/>
                <a:ext cx="190500" cy="1587"/>
              </a:xfrm>
              <a:prstGeom prst="straightConnector1">
                <a:avLst/>
              </a:prstGeom>
              <a:noFill/>
              <a:ln cap="flat" cmpd="sng" w="28575">
                <a:solidFill>
                  <a:srgbClr val="000000"/>
                </a:solidFill>
                <a:prstDash val="solid"/>
                <a:round/>
                <a:headEnd len="med" w="med" type="none"/>
                <a:tailEnd len="med" w="med" type="triangle"/>
              </a:ln>
            </p:spPr>
          </p:cxnSp>
          <p:sp>
            <p:nvSpPr>
              <p:cNvPr id="120" name="Google Shape;120;p8"/>
              <p:cNvSpPr txBox="1"/>
              <p:nvPr/>
            </p:nvSpPr>
            <p:spPr>
              <a:xfrm>
                <a:off x="871146" y="4193829"/>
                <a:ext cx="1877437" cy="1200329"/>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400"/>
                  <a:buFont typeface="Calibri"/>
                  <a:buNone/>
                </a:pPr>
                <a:r>
                  <a:rPr b="0" i="0" lang="en-US" sz="2400" u="none" cap="none" strike="noStrike">
                    <a:solidFill>
                      <a:srgbClr val="000099"/>
                    </a:solidFill>
                    <a:latin typeface="Calibri"/>
                    <a:ea typeface="Calibri"/>
                    <a:cs typeface="Calibri"/>
                    <a:sym typeface="Calibri"/>
                  </a:rPr>
                  <a:t>link layer:</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e.g., Ethernet</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(chapter 6)</a:t>
                </a:r>
                <a:endParaRPr b="0" i="0" sz="2000" u="none" cap="none" strike="noStrike">
                  <a:solidFill>
                    <a:srgbClr val="000000"/>
                  </a:solidFill>
                  <a:latin typeface="Calibri"/>
                  <a:ea typeface="Calibri"/>
                  <a:cs typeface="Calibri"/>
                  <a:sym typeface="Calibri"/>
                </a:endParaRPr>
              </a:p>
            </p:txBody>
          </p:sp>
          <p:cxnSp>
            <p:nvCxnSpPr>
              <p:cNvPr id="121" name="Google Shape;121;p8"/>
              <p:cNvCxnSpPr/>
              <p:nvPr/>
            </p:nvCxnSpPr>
            <p:spPr>
              <a:xfrm flipH="1" rot="10800000">
                <a:off x="2762871" y="3152085"/>
                <a:ext cx="1193800" cy="1338263"/>
              </a:xfrm>
              <a:prstGeom prst="straightConnector1">
                <a:avLst/>
              </a:prstGeom>
              <a:noFill/>
              <a:ln cap="flat" cmpd="sng" w="19050">
                <a:solidFill>
                  <a:srgbClr val="CC0000"/>
                </a:solidFill>
                <a:prstDash val="solid"/>
                <a:round/>
                <a:headEnd len="med" w="med" type="none"/>
                <a:tailEnd len="med" w="med" type="none"/>
              </a:ln>
            </p:spPr>
          </p:cxnSp>
        </p:grpSp>
      </p:grpSp>
      <p:grpSp>
        <p:nvGrpSpPr>
          <p:cNvPr id="122" name="Google Shape;122;p8"/>
          <p:cNvGrpSpPr/>
          <p:nvPr/>
        </p:nvGrpSpPr>
        <p:grpSpPr>
          <a:xfrm>
            <a:off x="3458817" y="1655073"/>
            <a:ext cx="8189844" cy="5023471"/>
            <a:chOff x="3458817" y="1655073"/>
            <a:chExt cx="8189844" cy="5023471"/>
          </a:xfrm>
        </p:grpSpPr>
        <p:sp>
          <p:nvSpPr>
            <p:cNvPr id="123" name="Google Shape;123;p8"/>
            <p:cNvSpPr txBox="1"/>
            <p:nvPr/>
          </p:nvSpPr>
          <p:spPr>
            <a:xfrm>
              <a:off x="5437808" y="1667773"/>
              <a:ext cx="1250950" cy="14652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lookup,</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forwarding</a:t>
              </a:r>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queueing</a:t>
              </a:r>
              <a:endParaRPr/>
            </a:p>
          </p:txBody>
        </p:sp>
        <p:grpSp>
          <p:nvGrpSpPr>
            <p:cNvPr id="124" name="Google Shape;124;p8"/>
            <p:cNvGrpSpPr/>
            <p:nvPr/>
          </p:nvGrpSpPr>
          <p:grpSpPr>
            <a:xfrm>
              <a:off x="5533058" y="2274198"/>
              <a:ext cx="993775" cy="468312"/>
              <a:chOff x="310" y="3526"/>
              <a:chExt cx="1040" cy="457"/>
            </a:xfrm>
          </p:grpSpPr>
          <p:sp>
            <p:nvSpPr>
              <p:cNvPr id="125" name="Google Shape;125;p8"/>
              <p:cNvSpPr/>
              <p:nvPr/>
            </p:nvSpPr>
            <p:spPr>
              <a:xfrm>
                <a:off x="310" y="3526"/>
                <a:ext cx="1040" cy="457"/>
              </a:xfrm>
              <a:prstGeom prst="rect">
                <a:avLst/>
              </a:prstGeom>
              <a:solidFill>
                <a:srgbClr val="FF0000"/>
              </a:solid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26" name="Google Shape;126;p8"/>
              <p:cNvCxnSpPr/>
              <p:nvPr/>
            </p:nvCxnSpPr>
            <p:spPr>
              <a:xfrm>
                <a:off x="446"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127" name="Google Shape;127;p8"/>
              <p:cNvCxnSpPr/>
              <p:nvPr/>
            </p:nvCxnSpPr>
            <p:spPr>
              <a:xfrm>
                <a:off x="558" y="3538"/>
                <a:ext cx="2" cy="435"/>
              </a:xfrm>
              <a:prstGeom prst="straightConnector1">
                <a:avLst/>
              </a:prstGeom>
              <a:noFill/>
              <a:ln cap="flat" cmpd="sng" w="38100">
                <a:solidFill>
                  <a:srgbClr val="FFFFFF"/>
                </a:solidFill>
                <a:prstDash val="solid"/>
                <a:round/>
                <a:headEnd len="med" w="med" type="none"/>
                <a:tailEnd len="med" w="med" type="none"/>
              </a:ln>
            </p:spPr>
          </p:cxnSp>
          <p:cxnSp>
            <p:nvCxnSpPr>
              <p:cNvPr id="128" name="Google Shape;128;p8"/>
              <p:cNvCxnSpPr/>
              <p:nvPr/>
            </p:nvCxnSpPr>
            <p:spPr>
              <a:xfrm>
                <a:off x="671"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129" name="Google Shape;129;p8"/>
              <p:cNvCxnSpPr/>
              <p:nvPr/>
            </p:nvCxnSpPr>
            <p:spPr>
              <a:xfrm>
                <a:off x="782"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130" name="Google Shape;130;p8"/>
              <p:cNvCxnSpPr/>
              <p:nvPr/>
            </p:nvCxnSpPr>
            <p:spPr>
              <a:xfrm>
                <a:off x="895"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131" name="Google Shape;131;p8"/>
              <p:cNvCxnSpPr/>
              <p:nvPr/>
            </p:nvCxnSpPr>
            <p:spPr>
              <a:xfrm>
                <a:off x="1006"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132" name="Google Shape;132;p8"/>
              <p:cNvCxnSpPr/>
              <p:nvPr/>
            </p:nvCxnSpPr>
            <p:spPr>
              <a:xfrm>
                <a:off x="1121"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133" name="Google Shape;133;p8"/>
              <p:cNvCxnSpPr/>
              <p:nvPr/>
            </p:nvCxnSpPr>
            <p:spPr>
              <a:xfrm>
                <a:off x="1229" y="3538"/>
                <a:ext cx="2" cy="435"/>
              </a:xfrm>
              <a:prstGeom prst="straightConnector1">
                <a:avLst/>
              </a:prstGeom>
              <a:noFill/>
              <a:ln cap="flat" cmpd="sng" w="38100">
                <a:solidFill>
                  <a:srgbClr val="FFFFFF"/>
                </a:solidFill>
                <a:prstDash val="solid"/>
                <a:round/>
                <a:headEnd len="med" w="med" type="none"/>
                <a:tailEnd len="med" w="med" type="none"/>
              </a:ln>
            </p:spPr>
          </p:cxnSp>
        </p:grpSp>
        <p:grpSp>
          <p:nvGrpSpPr>
            <p:cNvPr id="134" name="Google Shape;134;p8"/>
            <p:cNvGrpSpPr/>
            <p:nvPr/>
          </p:nvGrpSpPr>
          <p:grpSpPr>
            <a:xfrm>
              <a:off x="3458817" y="1655073"/>
              <a:ext cx="8189844" cy="5023471"/>
              <a:chOff x="3458817" y="1655073"/>
              <a:chExt cx="8189844" cy="5023471"/>
            </a:xfrm>
          </p:grpSpPr>
          <p:sp>
            <p:nvSpPr>
              <p:cNvPr id="135" name="Google Shape;135;p8"/>
              <p:cNvSpPr/>
              <p:nvPr/>
            </p:nvSpPr>
            <p:spPr>
              <a:xfrm>
                <a:off x="5406058" y="1655073"/>
                <a:ext cx="1247775" cy="1504950"/>
              </a:xfrm>
              <a:prstGeom prst="rect">
                <a:avLst/>
              </a:prstGeom>
              <a:no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36" name="Google Shape;136;p8"/>
              <p:cNvCxnSpPr/>
              <p:nvPr/>
            </p:nvCxnSpPr>
            <p:spPr>
              <a:xfrm>
                <a:off x="5210796" y="2380560"/>
                <a:ext cx="190500" cy="1588"/>
              </a:xfrm>
              <a:prstGeom prst="straightConnector1">
                <a:avLst/>
              </a:prstGeom>
              <a:noFill/>
              <a:ln cap="flat" cmpd="sng" w="28575">
                <a:solidFill>
                  <a:srgbClr val="000000"/>
                </a:solidFill>
                <a:prstDash val="solid"/>
                <a:round/>
                <a:headEnd len="med" w="med" type="none"/>
                <a:tailEnd len="med" w="med" type="triangle"/>
              </a:ln>
            </p:spPr>
          </p:cxnSp>
          <p:sp>
            <p:nvSpPr>
              <p:cNvPr id="137" name="Google Shape;137;p8"/>
              <p:cNvSpPr txBox="1"/>
              <p:nvPr/>
            </p:nvSpPr>
            <p:spPr>
              <a:xfrm>
                <a:off x="3458817" y="4011544"/>
                <a:ext cx="8189844" cy="2667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800"/>
                  <a:buFont typeface="Noto Sans Symbols"/>
                  <a:buNone/>
                </a:pPr>
                <a:r>
                  <a:rPr b="0" i="0" lang="en-US" sz="2800" u="none" cap="none" strike="noStrike">
                    <a:solidFill>
                      <a:srgbClr val="000099"/>
                    </a:solidFill>
                    <a:latin typeface="Calibri"/>
                    <a:ea typeface="Calibri"/>
                    <a:cs typeface="Calibri"/>
                    <a:sym typeface="Calibri"/>
                  </a:rPr>
                  <a:t>decentralized switching</a:t>
                </a:r>
                <a:r>
                  <a:rPr b="0" i="1" lang="en-US" sz="2800" u="none" cap="none" strike="noStrike">
                    <a:solidFill>
                      <a:srgbClr val="000099"/>
                    </a:solidFill>
                    <a:latin typeface="Calibri"/>
                    <a:ea typeface="Calibri"/>
                    <a:cs typeface="Calibri"/>
                    <a:sym typeface="Calibri"/>
                  </a:rPr>
                  <a:t>:</a:t>
                </a:r>
                <a:r>
                  <a:rPr b="0" i="0" lang="en-US" sz="2800" u="none" cap="none" strike="noStrike">
                    <a:solidFill>
                      <a:srgbClr val="000099"/>
                    </a:solidFill>
                    <a:latin typeface="Calibri"/>
                    <a:ea typeface="Calibri"/>
                    <a:cs typeface="Calibri"/>
                    <a:sym typeface="Calibri"/>
                  </a:rPr>
                  <a:t> </a:t>
                </a:r>
                <a:endParaRPr/>
              </a:p>
              <a:p>
                <a:pPr indent="-342900" lvl="0"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using header field values, lookup output port using forwarding table in input port memory </a:t>
                </a:r>
                <a:r>
                  <a:rPr b="0" i="1" lang="en-US" sz="2400" u="none" cap="none" strike="noStrike">
                    <a:solidFill>
                      <a:srgbClr val="000000"/>
                    </a:solidFill>
                    <a:latin typeface="Calibri"/>
                    <a:ea typeface="Calibri"/>
                    <a:cs typeface="Calibri"/>
                    <a:sym typeface="Calibri"/>
                  </a:rPr>
                  <a:t>(“match plus action”)</a:t>
                </a:r>
                <a:endParaRPr/>
              </a:p>
              <a:p>
                <a:pPr indent="-342900" lvl="0"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goal: complete input port processing at ‘line speed’</a:t>
                </a:r>
                <a:endParaRPr/>
              </a:p>
              <a:p>
                <a:pPr indent="-342900" lvl="0"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A3"/>
                    </a:solidFill>
                    <a:latin typeface="Calibri"/>
                    <a:ea typeface="Calibri"/>
                    <a:cs typeface="Calibri"/>
                    <a:sym typeface="Calibri"/>
                  </a:rPr>
                  <a:t>input port queuing: </a:t>
                </a:r>
                <a:r>
                  <a:rPr b="0" i="0" lang="en-US" sz="2400" u="none" cap="none" strike="noStrike">
                    <a:solidFill>
                      <a:srgbClr val="000000"/>
                    </a:solidFill>
                    <a:latin typeface="Calibri"/>
                    <a:ea typeface="Calibri"/>
                    <a:cs typeface="Calibri"/>
                    <a:sym typeface="Calibri"/>
                  </a:rPr>
                  <a:t>if datagrams arrive faster than forwarding rate into switch fabric</a:t>
                </a:r>
                <a:endParaRPr/>
              </a:p>
            </p:txBody>
          </p:sp>
          <p:cxnSp>
            <p:nvCxnSpPr>
              <p:cNvPr id="138" name="Google Shape;138;p8"/>
              <p:cNvCxnSpPr/>
              <p:nvPr/>
            </p:nvCxnSpPr>
            <p:spPr>
              <a:xfrm flipH="1" rot="10800000">
                <a:off x="5267946" y="3282260"/>
                <a:ext cx="669925" cy="790575"/>
              </a:xfrm>
              <a:prstGeom prst="straightConnector1">
                <a:avLst/>
              </a:prstGeom>
              <a:noFill/>
              <a:ln cap="flat" cmpd="sng" w="19050">
                <a:solidFill>
                  <a:srgbClr val="CC0000"/>
                </a:solidFill>
                <a:prstDash val="solid"/>
                <a:round/>
                <a:headEnd len="med" w="med" type="none"/>
                <a:tailEnd len="med" w="med" type="none"/>
              </a:ln>
            </p:spPr>
          </p:cxnSp>
        </p:grpSp>
      </p:grpSp>
      <p:sp>
        <p:nvSpPr>
          <p:cNvPr id="139" name="Google Shape;139;p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gtEl>
                                        <p:attrNameLst>
                                          <p:attrName>style.visibility</p:attrName>
                                        </p:attrNameLst>
                                      </p:cBhvr>
                                      <p:to>
                                        <p:strVal val="visible"/>
                                      </p:to>
                                    </p:set>
                                    <p:animEffect filter="fade" transition="in">
                                      <p:cBhvr>
                                        <p:cTn dur="500"/>
                                        <p:tgtEl>
                                          <p:spTgt spid="1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gtEl>
                                        <p:attrNameLst>
                                          <p:attrName>style.visibility</p:attrName>
                                        </p:attrNameLst>
                                      </p:cBhvr>
                                      <p:to>
                                        <p:strVal val="visible"/>
                                      </p:to>
                                    </p:set>
                                    <p:animEffect filter="fade" transition="in">
                                      <p:cBhvr>
                                        <p:cTn dur="500"/>
                                        <p:tgtEl>
                                          <p:spTgt spid="1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gtEl>
                                        <p:attrNameLst>
                                          <p:attrName>style.visibility</p:attrName>
                                        </p:attrNameLst>
                                      </p:cBhvr>
                                      <p:to>
                                        <p:strVal val="visible"/>
                                      </p:to>
                                    </p:set>
                                    <p:animEffect filter="fade" transition="in">
                                      <p:cBhvr>
                                        <p:cTn dur="500"/>
                                        <p:tgtEl>
                                          <p:spTgt spid="1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9"/>
          <p:cNvSpPr txBox="1"/>
          <p:nvPr>
            <p:ph type="title"/>
          </p:nvPr>
        </p:nvSpPr>
        <p:spPr>
          <a:xfrm>
            <a:off x="838200" y="398812"/>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Input port functions</a:t>
            </a:r>
            <a:endParaRPr sz="4800"/>
          </a:p>
        </p:txBody>
      </p:sp>
      <p:sp>
        <p:nvSpPr>
          <p:cNvPr id="146" name="Google Shape;146;p9"/>
          <p:cNvSpPr/>
          <p:nvPr/>
        </p:nvSpPr>
        <p:spPr>
          <a:xfrm>
            <a:off x="2275508" y="1518548"/>
            <a:ext cx="4568825" cy="1836737"/>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7" name="Google Shape;147;p9"/>
          <p:cNvSpPr/>
          <p:nvPr/>
        </p:nvSpPr>
        <p:spPr>
          <a:xfrm>
            <a:off x="2431083" y="2032898"/>
            <a:ext cx="1417638" cy="828675"/>
          </a:xfrm>
          <a:prstGeom prst="rect">
            <a:avLst/>
          </a:prstGeom>
          <a:solidFill>
            <a:srgbClr val="FFFFFF"/>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line</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termination</a:t>
            </a:r>
            <a:endParaRPr/>
          </a:p>
        </p:txBody>
      </p:sp>
      <p:sp>
        <p:nvSpPr>
          <p:cNvPr id="148" name="Google Shape;148;p9"/>
          <p:cNvSpPr/>
          <p:nvPr/>
        </p:nvSpPr>
        <p:spPr>
          <a:xfrm>
            <a:off x="5406058" y="1655073"/>
            <a:ext cx="1247775" cy="1504950"/>
          </a:xfrm>
          <a:prstGeom prst="rect">
            <a:avLst/>
          </a:prstGeom>
          <a:solidFill>
            <a:srgbClr val="FFFFFF"/>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49" name="Google Shape;149;p9"/>
          <p:cNvCxnSpPr/>
          <p:nvPr/>
        </p:nvCxnSpPr>
        <p:spPr>
          <a:xfrm>
            <a:off x="1999283" y="2444060"/>
            <a:ext cx="423863" cy="0"/>
          </a:xfrm>
          <a:prstGeom prst="straightConnector1">
            <a:avLst/>
          </a:prstGeom>
          <a:noFill/>
          <a:ln cap="flat" cmpd="sng" w="28575">
            <a:solidFill>
              <a:srgbClr val="000000"/>
            </a:solidFill>
            <a:prstDash val="solid"/>
            <a:round/>
            <a:headEnd len="med" w="med" type="none"/>
            <a:tailEnd len="med" w="med" type="triangle"/>
          </a:ln>
        </p:spPr>
      </p:cxnSp>
      <p:cxnSp>
        <p:nvCxnSpPr>
          <p:cNvPr id="150" name="Google Shape;150;p9"/>
          <p:cNvCxnSpPr/>
          <p:nvPr/>
        </p:nvCxnSpPr>
        <p:spPr>
          <a:xfrm>
            <a:off x="3867771" y="2423423"/>
            <a:ext cx="190500" cy="1587"/>
          </a:xfrm>
          <a:prstGeom prst="straightConnector1">
            <a:avLst/>
          </a:prstGeom>
          <a:noFill/>
          <a:ln cap="flat" cmpd="sng" w="28575">
            <a:solidFill>
              <a:srgbClr val="000000"/>
            </a:solidFill>
            <a:prstDash val="solid"/>
            <a:round/>
            <a:headEnd len="med" w="med" type="none"/>
            <a:tailEnd len="med" w="med" type="triangle"/>
          </a:ln>
        </p:spPr>
      </p:cxnSp>
      <p:cxnSp>
        <p:nvCxnSpPr>
          <p:cNvPr id="151" name="Google Shape;151;p9"/>
          <p:cNvCxnSpPr/>
          <p:nvPr/>
        </p:nvCxnSpPr>
        <p:spPr>
          <a:xfrm>
            <a:off x="5210796" y="2380560"/>
            <a:ext cx="190500" cy="1588"/>
          </a:xfrm>
          <a:prstGeom prst="straightConnector1">
            <a:avLst/>
          </a:prstGeom>
          <a:noFill/>
          <a:ln cap="flat" cmpd="sng" w="28575">
            <a:solidFill>
              <a:srgbClr val="000000"/>
            </a:solidFill>
            <a:prstDash val="solid"/>
            <a:round/>
            <a:headEnd len="med" w="med" type="none"/>
            <a:tailEnd len="med" w="med" type="triangle"/>
          </a:ln>
        </p:spPr>
      </p:cxnSp>
      <p:cxnSp>
        <p:nvCxnSpPr>
          <p:cNvPr id="152" name="Google Shape;152;p9"/>
          <p:cNvCxnSpPr/>
          <p:nvPr/>
        </p:nvCxnSpPr>
        <p:spPr>
          <a:xfrm flipH="1" rot="10800000">
            <a:off x="6601446" y="2421835"/>
            <a:ext cx="736600" cy="1588"/>
          </a:xfrm>
          <a:prstGeom prst="straightConnector1">
            <a:avLst/>
          </a:prstGeom>
          <a:noFill/>
          <a:ln cap="flat" cmpd="sng" w="28575">
            <a:solidFill>
              <a:srgbClr val="000000"/>
            </a:solidFill>
            <a:prstDash val="solid"/>
            <a:round/>
            <a:headEnd len="med" w="med" type="none"/>
            <a:tailEnd len="med" w="med" type="triangle"/>
          </a:ln>
        </p:spPr>
      </p:cxnSp>
      <p:sp>
        <p:nvSpPr>
          <p:cNvPr id="153" name="Google Shape;153;p9"/>
          <p:cNvSpPr txBox="1"/>
          <p:nvPr/>
        </p:nvSpPr>
        <p:spPr>
          <a:xfrm>
            <a:off x="5437808" y="1667773"/>
            <a:ext cx="1250950" cy="14652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lookup,</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forwarding</a:t>
            </a:r>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queueing</a:t>
            </a:r>
            <a:endParaRPr/>
          </a:p>
        </p:txBody>
      </p:sp>
      <p:sp>
        <p:nvSpPr>
          <p:cNvPr id="154" name="Google Shape;154;p9"/>
          <p:cNvSpPr txBox="1"/>
          <p:nvPr/>
        </p:nvSpPr>
        <p:spPr>
          <a:xfrm>
            <a:off x="3458817" y="4011544"/>
            <a:ext cx="8189844" cy="2667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000099"/>
              </a:buClr>
              <a:buSzPts val="2800"/>
              <a:buFont typeface="Noto Sans Symbols"/>
              <a:buNone/>
            </a:pPr>
            <a:r>
              <a:rPr b="0" i="0" lang="en-US" sz="2800" u="none" cap="none" strike="noStrike">
                <a:solidFill>
                  <a:srgbClr val="000099"/>
                </a:solidFill>
                <a:latin typeface="Calibri"/>
                <a:ea typeface="Calibri"/>
                <a:cs typeface="Calibri"/>
                <a:sym typeface="Calibri"/>
              </a:rPr>
              <a:t>decentralized switching</a:t>
            </a:r>
            <a:r>
              <a:rPr b="0" i="1" lang="en-US" sz="2800" u="none" cap="none" strike="noStrike">
                <a:solidFill>
                  <a:srgbClr val="000099"/>
                </a:solidFill>
                <a:latin typeface="Calibri"/>
                <a:ea typeface="Calibri"/>
                <a:cs typeface="Calibri"/>
                <a:sym typeface="Calibri"/>
              </a:rPr>
              <a:t>:</a:t>
            </a:r>
            <a:r>
              <a:rPr b="0" i="0" lang="en-US" sz="2800" u="none" cap="none" strike="noStrike">
                <a:solidFill>
                  <a:srgbClr val="000099"/>
                </a:solidFill>
                <a:latin typeface="Calibri"/>
                <a:ea typeface="Calibri"/>
                <a:cs typeface="Calibri"/>
                <a:sym typeface="Calibri"/>
              </a:rPr>
              <a:t> </a:t>
            </a:r>
            <a:endParaRPr/>
          </a:p>
          <a:p>
            <a:pPr indent="-342900" lvl="0"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using header field values, lookup output port using forwarding table in input port memory </a:t>
            </a:r>
            <a:r>
              <a:rPr b="0" i="1" lang="en-US" sz="2400" u="none" cap="none" strike="noStrike">
                <a:solidFill>
                  <a:srgbClr val="000000"/>
                </a:solidFill>
                <a:latin typeface="Calibri"/>
                <a:ea typeface="Calibri"/>
                <a:cs typeface="Calibri"/>
                <a:sym typeface="Calibri"/>
              </a:rPr>
              <a:t>(“match plus action”)</a:t>
            </a:r>
            <a:endParaRPr/>
          </a:p>
          <a:p>
            <a:pPr indent="-342900" lvl="0"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CC0000"/>
                </a:solidFill>
                <a:latin typeface="Calibri"/>
                <a:ea typeface="Calibri"/>
                <a:cs typeface="Calibri"/>
                <a:sym typeface="Calibri"/>
              </a:rPr>
              <a:t>destination-based forwarding: </a:t>
            </a:r>
            <a:r>
              <a:rPr b="0" i="0" lang="en-US" sz="2400" u="none" cap="none" strike="noStrike">
                <a:solidFill>
                  <a:srgbClr val="000000"/>
                </a:solidFill>
                <a:latin typeface="Calibri"/>
                <a:ea typeface="Calibri"/>
                <a:cs typeface="Calibri"/>
                <a:sym typeface="Calibri"/>
              </a:rPr>
              <a:t>forward based only on destination IP address (traditional)</a:t>
            </a:r>
            <a:endParaRPr b="0" i="0" sz="2400" u="none" cap="none" strike="noStrike">
              <a:solidFill>
                <a:srgbClr val="000000"/>
              </a:solidFill>
              <a:latin typeface="Calibri"/>
              <a:ea typeface="Calibri"/>
              <a:cs typeface="Calibri"/>
              <a:sym typeface="Calibri"/>
            </a:endParaRPr>
          </a:p>
          <a:p>
            <a:pPr indent="-342900" lvl="0" marL="3429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CC0000"/>
                </a:solidFill>
                <a:latin typeface="Calibri"/>
                <a:ea typeface="Calibri"/>
                <a:cs typeface="Calibri"/>
                <a:sym typeface="Calibri"/>
              </a:rPr>
              <a:t>generalized forwarding: </a:t>
            </a:r>
            <a:r>
              <a:rPr b="0" i="0" lang="en-US" sz="2400" u="none" cap="none" strike="noStrike">
                <a:solidFill>
                  <a:srgbClr val="000000"/>
                </a:solidFill>
                <a:latin typeface="Calibri"/>
                <a:ea typeface="Calibri"/>
                <a:cs typeface="Calibri"/>
                <a:sym typeface="Calibri"/>
              </a:rPr>
              <a:t>forward based on any set of header field values</a:t>
            </a:r>
            <a:endParaRPr/>
          </a:p>
        </p:txBody>
      </p:sp>
      <p:sp>
        <p:nvSpPr>
          <p:cNvPr id="155" name="Google Shape;155;p9"/>
          <p:cNvSpPr txBox="1"/>
          <p:nvPr/>
        </p:nvSpPr>
        <p:spPr>
          <a:xfrm>
            <a:off x="258938" y="3266385"/>
            <a:ext cx="2475358" cy="83099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400"/>
              <a:buFont typeface="Calibri"/>
              <a:buNone/>
            </a:pPr>
            <a:r>
              <a:rPr b="0" i="0" lang="en-US" sz="2400" u="none" cap="none" strike="noStrike">
                <a:solidFill>
                  <a:srgbClr val="000099"/>
                </a:solidFill>
                <a:latin typeface="Calibri"/>
                <a:ea typeface="Calibri"/>
                <a:cs typeface="Calibri"/>
                <a:sym typeface="Calibri"/>
              </a:rPr>
              <a:t>physical layer:</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bit-level reception</a:t>
            </a:r>
            <a:endParaRPr b="0" i="0" sz="2000" u="none" cap="none" strike="noStrike">
              <a:solidFill>
                <a:srgbClr val="000000"/>
              </a:solidFill>
              <a:latin typeface="Calibri"/>
              <a:ea typeface="Calibri"/>
              <a:cs typeface="Calibri"/>
              <a:sym typeface="Calibri"/>
            </a:endParaRPr>
          </a:p>
        </p:txBody>
      </p:sp>
      <p:cxnSp>
        <p:nvCxnSpPr>
          <p:cNvPr id="156" name="Google Shape;156;p9"/>
          <p:cNvCxnSpPr/>
          <p:nvPr/>
        </p:nvCxnSpPr>
        <p:spPr>
          <a:xfrm>
            <a:off x="7326933" y="902598"/>
            <a:ext cx="11113" cy="2865437"/>
          </a:xfrm>
          <a:prstGeom prst="straightConnector1">
            <a:avLst/>
          </a:prstGeom>
          <a:noFill/>
          <a:ln cap="flat" cmpd="sng" w="9525">
            <a:solidFill>
              <a:srgbClr val="C00000"/>
            </a:solidFill>
            <a:prstDash val="solid"/>
            <a:round/>
            <a:headEnd len="med" w="med" type="none"/>
            <a:tailEnd len="med" w="med" type="none"/>
          </a:ln>
        </p:spPr>
      </p:cxnSp>
      <p:sp>
        <p:nvSpPr>
          <p:cNvPr id="157" name="Google Shape;157;p9"/>
          <p:cNvSpPr/>
          <p:nvPr/>
        </p:nvSpPr>
        <p:spPr>
          <a:xfrm>
            <a:off x="7419008" y="2031310"/>
            <a:ext cx="1055688" cy="8286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switch</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fabric</a:t>
            </a:r>
            <a:endParaRPr/>
          </a:p>
        </p:txBody>
      </p:sp>
      <p:grpSp>
        <p:nvGrpSpPr>
          <p:cNvPr id="158" name="Google Shape;158;p9"/>
          <p:cNvGrpSpPr/>
          <p:nvPr/>
        </p:nvGrpSpPr>
        <p:grpSpPr>
          <a:xfrm>
            <a:off x="5533058" y="2274198"/>
            <a:ext cx="993775" cy="468312"/>
            <a:chOff x="310" y="3526"/>
            <a:chExt cx="1040" cy="457"/>
          </a:xfrm>
        </p:grpSpPr>
        <p:sp>
          <p:nvSpPr>
            <p:cNvPr id="159" name="Google Shape;159;p9"/>
            <p:cNvSpPr/>
            <p:nvPr/>
          </p:nvSpPr>
          <p:spPr>
            <a:xfrm>
              <a:off x="310" y="3526"/>
              <a:ext cx="1040" cy="457"/>
            </a:xfrm>
            <a:prstGeom prst="rect">
              <a:avLst/>
            </a:prstGeom>
            <a:solidFill>
              <a:srgbClr val="FF0000"/>
            </a:solid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60" name="Google Shape;160;p9"/>
            <p:cNvCxnSpPr/>
            <p:nvPr/>
          </p:nvCxnSpPr>
          <p:spPr>
            <a:xfrm>
              <a:off x="446"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161" name="Google Shape;161;p9"/>
            <p:cNvCxnSpPr/>
            <p:nvPr/>
          </p:nvCxnSpPr>
          <p:spPr>
            <a:xfrm>
              <a:off x="558" y="3538"/>
              <a:ext cx="2" cy="435"/>
            </a:xfrm>
            <a:prstGeom prst="straightConnector1">
              <a:avLst/>
            </a:prstGeom>
            <a:noFill/>
            <a:ln cap="flat" cmpd="sng" w="38100">
              <a:solidFill>
                <a:srgbClr val="FFFFFF"/>
              </a:solidFill>
              <a:prstDash val="solid"/>
              <a:round/>
              <a:headEnd len="med" w="med" type="none"/>
              <a:tailEnd len="med" w="med" type="none"/>
            </a:ln>
          </p:spPr>
        </p:cxnSp>
        <p:cxnSp>
          <p:nvCxnSpPr>
            <p:cNvPr id="162" name="Google Shape;162;p9"/>
            <p:cNvCxnSpPr/>
            <p:nvPr/>
          </p:nvCxnSpPr>
          <p:spPr>
            <a:xfrm>
              <a:off x="671"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163" name="Google Shape;163;p9"/>
            <p:cNvCxnSpPr/>
            <p:nvPr/>
          </p:nvCxnSpPr>
          <p:spPr>
            <a:xfrm>
              <a:off x="782"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164" name="Google Shape;164;p9"/>
            <p:cNvCxnSpPr/>
            <p:nvPr/>
          </p:nvCxnSpPr>
          <p:spPr>
            <a:xfrm>
              <a:off x="895"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165" name="Google Shape;165;p9"/>
            <p:cNvCxnSpPr/>
            <p:nvPr/>
          </p:nvCxnSpPr>
          <p:spPr>
            <a:xfrm>
              <a:off x="1006"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166" name="Google Shape;166;p9"/>
            <p:cNvCxnSpPr/>
            <p:nvPr/>
          </p:nvCxnSpPr>
          <p:spPr>
            <a:xfrm>
              <a:off x="1121"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167" name="Google Shape;167;p9"/>
            <p:cNvCxnSpPr/>
            <p:nvPr/>
          </p:nvCxnSpPr>
          <p:spPr>
            <a:xfrm>
              <a:off x="1229" y="3538"/>
              <a:ext cx="2" cy="435"/>
            </a:xfrm>
            <a:prstGeom prst="straightConnector1">
              <a:avLst/>
            </a:prstGeom>
            <a:noFill/>
            <a:ln cap="flat" cmpd="sng" w="38100">
              <a:solidFill>
                <a:srgbClr val="FFFFFF"/>
              </a:solidFill>
              <a:prstDash val="solid"/>
              <a:round/>
              <a:headEnd len="med" w="med" type="none"/>
              <a:tailEnd len="med" w="med" type="none"/>
            </a:ln>
          </p:spPr>
        </p:cxnSp>
      </p:grpSp>
      <p:cxnSp>
        <p:nvCxnSpPr>
          <p:cNvPr id="168" name="Google Shape;168;p9"/>
          <p:cNvCxnSpPr/>
          <p:nvPr/>
        </p:nvCxnSpPr>
        <p:spPr>
          <a:xfrm flipH="1" rot="10800000">
            <a:off x="2743821" y="2955235"/>
            <a:ext cx="446087" cy="490538"/>
          </a:xfrm>
          <a:prstGeom prst="straightConnector1">
            <a:avLst/>
          </a:prstGeom>
          <a:noFill/>
          <a:ln cap="flat" cmpd="sng" w="19050">
            <a:solidFill>
              <a:srgbClr val="CC0000"/>
            </a:solidFill>
            <a:prstDash val="solid"/>
            <a:round/>
            <a:headEnd len="med" w="med" type="none"/>
            <a:tailEnd len="med" w="med" type="none"/>
          </a:ln>
        </p:spPr>
      </p:cxnSp>
      <p:cxnSp>
        <p:nvCxnSpPr>
          <p:cNvPr id="169" name="Google Shape;169;p9"/>
          <p:cNvCxnSpPr/>
          <p:nvPr/>
        </p:nvCxnSpPr>
        <p:spPr>
          <a:xfrm flipH="1" rot="10800000">
            <a:off x="5267946" y="3282260"/>
            <a:ext cx="669925" cy="790575"/>
          </a:xfrm>
          <a:prstGeom prst="straightConnector1">
            <a:avLst/>
          </a:prstGeom>
          <a:noFill/>
          <a:ln cap="flat" cmpd="sng" w="19050">
            <a:solidFill>
              <a:srgbClr val="CC0000"/>
            </a:solidFill>
            <a:prstDash val="solid"/>
            <a:round/>
            <a:headEnd len="med" w="med" type="none"/>
            <a:tailEnd len="med" w="med" type="none"/>
          </a:ln>
        </p:spPr>
      </p:cxnSp>
      <p:grpSp>
        <p:nvGrpSpPr>
          <p:cNvPr id="170" name="Google Shape;170;p9"/>
          <p:cNvGrpSpPr/>
          <p:nvPr/>
        </p:nvGrpSpPr>
        <p:grpSpPr>
          <a:xfrm>
            <a:off x="871146" y="1664528"/>
            <a:ext cx="4336475" cy="3729630"/>
            <a:chOff x="871146" y="1664528"/>
            <a:chExt cx="4336475" cy="3729630"/>
          </a:xfrm>
        </p:grpSpPr>
        <p:sp>
          <p:nvSpPr>
            <p:cNvPr id="171" name="Google Shape;171;p9"/>
            <p:cNvSpPr/>
            <p:nvPr/>
          </p:nvSpPr>
          <p:spPr>
            <a:xfrm>
              <a:off x="4114937" y="1947588"/>
              <a:ext cx="1055688" cy="828675"/>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layer </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protocol</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(receive)</a:t>
              </a:r>
              <a:endParaRPr/>
            </a:p>
          </p:txBody>
        </p:sp>
        <p:grpSp>
          <p:nvGrpSpPr>
            <p:cNvPr id="172" name="Google Shape;172;p9"/>
            <p:cNvGrpSpPr/>
            <p:nvPr/>
          </p:nvGrpSpPr>
          <p:grpSpPr>
            <a:xfrm>
              <a:off x="871146" y="1664528"/>
              <a:ext cx="4336475" cy="3729630"/>
              <a:chOff x="871146" y="1664528"/>
              <a:chExt cx="4336475" cy="3729630"/>
            </a:xfrm>
          </p:grpSpPr>
          <p:sp>
            <p:nvSpPr>
              <p:cNvPr id="173" name="Google Shape;173;p9"/>
              <p:cNvSpPr/>
              <p:nvPr/>
            </p:nvSpPr>
            <p:spPr>
              <a:xfrm>
                <a:off x="4055096" y="1664528"/>
                <a:ext cx="1152525" cy="1409700"/>
              </a:xfrm>
              <a:prstGeom prst="rect">
                <a:avLst/>
              </a:prstGeom>
              <a:noFill/>
              <a:ln cap="flat" cmpd="sng" w="285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74" name="Google Shape;174;p9"/>
              <p:cNvCxnSpPr/>
              <p:nvPr/>
            </p:nvCxnSpPr>
            <p:spPr>
              <a:xfrm>
                <a:off x="3867771" y="2423423"/>
                <a:ext cx="190500" cy="1587"/>
              </a:xfrm>
              <a:prstGeom prst="straightConnector1">
                <a:avLst/>
              </a:prstGeom>
              <a:noFill/>
              <a:ln cap="flat" cmpd="sng" w="28575">
                <a:solidFill>
                  <a:srgbClr val="000000"/>
                </a:solidFill>
                <a:prstDash val="solid"/>
                <a:round/>
                <a:headEnd len="med" w="med" type="none"/>
                <a:tailEnd len="med" w="med" type="triangle"/>
              </a:ln>
            </p:spPr>
          </p:cxnSp>
          <p:sp>
            <p:nvSpPr>
              <p:cNvPr id="175" name="Google Shape;175;p9"/>
              <p:cNvSpPr txBox="1"/>
              <p:nvPr/>
            </p:nvSpPr>
            <p:spPr>
              <a:xfrm>
                <a:off x="871146" y="4193829"/>
                <a:ext cx="1877437" cy="1200329"/>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99"/>
                  </a:buClr>
                  <a:buSzPts val="2400"/>
                  <a:buFont typeface="Calibri"/>
                  <a:buNone/>
                </a:pPr>
                <a:r>
                  <a:rPr b="0" i="0" lang="en-US" sz="2400" u="none" cap="none" strike="noStrike">
                    <a:solidFill>
                      <a:srgbClr val="000099"/>
                    </a:solidFill>
                    <a:latin typeface="Calibri"/>
                    <a:ea typeface="Calibri"/>
                    <a:cs typeface="Calibri"/>
                    <a:sym typeface="Calibri"/>
                  </a:rPr>
                  <a:t>link layer:</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e.g., Ethernet</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(chapter 6)</a:t>
                </a:r>
                <a:endParaRPr b="0" i="0" sz="2000" u="none" cap="none" strike="noStrike">
                  <a:solidFill>
                    <a:srgbClr val="000000"/>
                  </a:solidFill>
                  <a:latin typeface="Calibri"/>
                  <a:ea typeface="Calibri"/>
                  <a:cs typeface="Calibri"/>
                  <a:sym typeface="Calibri"/>
                </a:endParaRPr>
              </a:p>
            </p:txBody>
          </p:sp>
          <p:cxnSp>
            <p:nvCxnSpPr>
              <p:cNvPr id="176" name="Google Shape;176;p9"/>
              <p:cNvCxnSpPr/>
              <p:nvPr/>
            </p:nvCxnSpPr>
            <p:spPr>
              <a:xfrm flipH="1" rot="10800000">
                <a:off x="2762871" y="3152085"/>
                <a:ext cx="1193800" cy="1338263"/>
              </a:xfrm>
              <a:prstGeom prst="straightConnector1">
                <a:avLst/>
              </a:prstGeom>
              <a:noFill/>
              <a:ln cap="flat" cmpd="sng" w="19050">
                <a:solidFill>
                  <a:srgbClr val="CC0000"/>
                </a:solidFill>
                <a:prstDash val="solid"/>
                <a:round/>
                <a:headEnd len="med" w="med" type="none"/>
                <a:tailEnd len="med" w="med" type="none"/>
              </a:ln>
            </p:spPr>
          </p:cxnSp>
        </p:grpSp>
      </p:grpSp>
      <p:sp>
        <p:nvSpPr>
          <p:cNvPr id="177" name="Google Shape;177;p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0"/>
          <p:cNvSpPr txBox="1"/>
          <p:nvPr/>
        </p:nvSpPr>
        <p:spPr>
          <a:xfrm>
            <a:off x="1188002" y="6033604"/>
            <a:ext cx="732072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2400"/>
              <a:buFont typeface="Calibri"/>
              <a:buNone/>
            </a:pPr>
            <a:r>
              <a:rPr b="0" i="1" lang="en-US" sz="2400" u="none" cap="none" strike="noStrike">
                <a:solidFill>
                  <a:srgbClr val="CC0000"/>
                </a:solidFill>
                <a:latin typeface="Calibri"/>
                <a:ea typeface="Calibri"/>
                <a:cs typeface="Calibri"/>
                <a:sym typeface="Calibri"/>
              </a:rPr>
              <a:t>Q:</a:t>
            </a:r>
            <a:r>
              <a:rPr b="0" i="0" lang="en-US" sz="2400" u="none" cap="none" strike="noStrike">
                <a:solidFill>
                  <a:srgbClr val="000000"/>
                </a:solidFill>
                <a:latin typeface="Calibri"/>
                <a:ea typeface="Calibri"/>
                <a:cs typeface="Calibri"/>
                <a:sym typeface="Calibri"/>
              </a:rPr>
              <a:t> but what happens if ranges don’t divide up so nicely? </a:t>
            </a:r>
            <a:endParaRPr b="0" i="0" sz="2400" u="none" cap="none" strike="noStrike">
              <a:solidFill>
                <a:srgbClr val="000000"/>
              </a:solidFill>
              <a:latin typeface="Calibri"/>
              <a:ea typeface="Calibri"/>
              <a:cs typeface="Calibri"/>
              <a:sym typeface="Calibri"/>
            </a:endParaRPr>
          </a:p>
        </p:txBody>
      </p:sp>
      <p:pic>
        <p:nvPicPr>
          <p:cNvPr id="184" name="Google Shape;184;p10"/>
          <p:cNvPicPr preferRelativeResize="0"/>
          <p:nvPr/>
        </p:nvPicPr>
        <p:blipFill rotWithShape="1">
          <a:blip r:embed="rId3">
            <a:alphaModFix/>
          </a:blip>
          <a:srcRect b="0" l="0" r="0" t="0"/>
          <a:stretch/>
        </p:blipFill>
        <p:spPr>
          <a:xfrm>
            <a:off x="1056411" y="3154505"/>
            <a:ext cx="9375866" cy="2779571"/>
          </a:xfrm>
          <a:prstGeom prst="rect">
            <a:avLst/>
          </a:prstGeom>
          <a:noFill/>
          <a:ln>
            <a:noFill/>
          </a:ln>
        </p:spPr>
      </p:pic>
      <p:grpSp>
        <p:nvGrpSpPr>
          <p:cNvPr id="185" name="Google Shape;185;p10"/>
          <p:cNvGrpSpPr/>
          <p:nvPr/>
        </p:nvGrpSpPr>
        <p:grpSpPr>
          <a:xfrm>
            <a:off x="898734" y="1108364"/>
            <a:ext cx="9699993" cy="2044580"/>
            <a:chOff x="898734" y="1108364"/>
            <a:chExt cx="9699993" cy="2044580"/>
          </a:xfrm>
        </p:grpSpPr>
        <p:pic>
          <p:nvPicPr>
            <p:cNvPr id="186" name="Google Shape;186;p10"/>
            <p:cNvPicPr preferRelativeResize="0"/>
            <p:nvPr/>
          </p:nvPicPr>
          <p:blipFill rotWithShape="1">
            <a:blip r:embed="rId4">
              <a:alphaModFix/>
            </a:blip>
            <a:srcRect b="0" l="0" r="0" t="0"/>
            <a:stretch/>
          </p:blipFill>
          <p:spPr>
            <a:xfrm>
              <a:off x="898734" y="1186912"/>
              <a:ext cx="9594790" cy="1966032"/>
            </a:xfrm>
            <a:prstGeom prst="rect">
              <a:avLst/>
            </a:prstGeom>
            <a:noFill/>
            <a:ln>
              <a:noFill/>
            </a:ln>
          </p:spPr>
        </p:pic>
        <p:sp>
          <p:nvSpPr>
            <p:cNvPr id="187" name="Google Shape;187;p10"/>
            <p:cNvSpPr/>
            <p:nvPr/>
          </p:nvSpPr>
          <p:spPr>
            <a:xfrm>
              <a:off x="1039091" y="1108364"/>
              <a:ext cx="9559636" cy="23552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88" name="Google Shape;188;p10"/>
          <p:cNvSpPr txBox="1"/>
          <p:nvPr>
            <p:ph type="title"/>
          </p:nvPr>
        </p:nvSpPr>
        <p:spPr>
          <a:xfrm>
            <a:off x="838200" y="34580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Destination-based forwarding</a:t>
            </a:r>
            <a:endParaRPr/>
          </a:p>
        </p:txBody>
      </p:sp>
      <p:grpSp>
        <p:nvGrpSpPr>
          <p:cNvPr id="189" name="Google Shape;189;p10"/>
          <p:cNvGrpSpPr/>
          <p:nvPr/>
        </p:nvGrpSpPr>
        <p:grpSpPr>
          <a:xfrm>
            <a:off x="1038514" y="2679128"/>
            <a:ext cx="9093336" cy="1283278"/>
            <a:chOff x="1038514" y="2679128"/>
            <a:chExt cx="9093336" cy="1283278"/>
          </a:xfrm>
        </p:grpSpPr>
        <p:pic>
          <p:nvPicPr>
            <p:cNvPr id="190" name="Google Shape;190;p10"/>
            <p:cNvPicPr preferRelativeResize="0"/>
            <p:nvPr/>
          </p:nvPicPr>
          <p:blipFill rotWithShape="1">
            <a:blip r:embed="rId5">
              <a:alphaModFix/>
            </a:blip>
            <a:srcRect b="0" l="0" r="0" t="0"/>
            <a:stretch/>
          </p:blipFill>
          <p:spPr>
            <a:xfrm>
              <a:off x="1038514" y="2679128"/>
              <a:ext cx="9093336" cy="1283278"/>
            </a:xfrm>
            <a:prstGeom prst="rect">
              <a:avLst/>
            </a:prstGeom>
            <a:noFill/>
            <a:ln>
              <a:noFill/>
            </a:ln>
          </p:spPr>
        </p:pic>
        <p:sp>
          <p:nvSpPr>
            <p:cNvPr id="191" name="Google Shape;191;p10"/>
            <p:cNvSpPr txBox="1"/>
            <p:nvPr/>
          </p:nvSpPr>
          <p:spPr>
            <a:xfrm>
              <a:off x="8451272" y="3131128"/>
              <a:ext cx="886691" cy="4308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200"/>
                <a:buFont typeface="Calibri"/>
                <a:buNone/>
              </a:pPr>
              <a:r>
                <a:rPr b="0" i="0" lang="en-US" sz="2200" u="none" cap="none" strike="noStrike">
                  <a:solidFill>
                    <a:srgbClr val="000000"/>
                  </a:solidFill>
                  <a:latin typeface="Calibri"/>
                  <a:ea typeface="Calibri"/>
                  <a:cs typeface="Calibri"/>
                  <a:sym typeface="Calibri"/>
                </a:rPr>
                <a:t>3</a:t>
              </a:r>
              <a:endParaRPr/>
            </a:p>
          </p:txBody>
        </p:sp>
      </p:grpSp>
      <p:sp>
        <p:nvSpPr>
          <p:cNvPr id="192" name="Google Shape;192;p1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500"/>
                                        <p:tgtEl>
                                          <p:spTgt spid="1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1"/>
          <p:cNvSpPr txBox="1"/>
          <p:nvPr>
            <p:ph type="title"/>
          </p:nvPr>
        </p:nvSpPr>
        <p:spPr>
          <a:xfrm>
            <a:off x="838200" y="34580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Longest prefix matching</a:t>
            </a:r>
            <a:endParaRPr/>
          </a:p>
        </p:txBody>
      </p:sp>
      <p:sp>
        <p:nvSpPr>
          <p:cNvPr id="199" name="Google Shape;199;p11"/>
          <p:cNvSpPr/>
          <p:nvPr/>
        </p:nvSpPr>
        <p:spPr>
          <a:xfrm>
            <a:off x="991564" y="1533870"/>
            <a:ext cx="9199355" cy="1620147"/>
          </a:xfrm>
          <a:prstGeom prst="rect">
            <a:avLst/>
          </a:prstGeom>
          <a:solidFill>
            <a:schemeClr val="lt1"/>
          </a:solid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0" name="Google Shape;200;p11"/>
          <p:cNvSpPr txBox="1"/>
          <p:nvPr/>
        </p:nvSpPr>
        <p:spPr>
          <a:xfrm>
            <a:off x="1128092" y="1821969"/>
            <a:ext cx="9248359" cy="1209562"/>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3000"/>
              <a:buFont typeface="Calibri"/>
              <a:buNone/>
            </a:pPr>
            <a:r>
              <a:rPr b="0" i="0" lang="en-US" sz="3000" u="none" cap="none" strike="noStrike">
                <a:solidFill>
                  <a:srgbClr val="000000"/>
                </a:solidFill>
                <a:latin typeface="Calibri"/>
                <a:ea typeface="Calibri"/>
                <a:cs typeface="Calibri"/>
                <a:sym typeface="Calibri"/>
              </a:rPr>
              <a:t>when looking for forwarding table entry for given destination address, use </a:t>
            </a:r>
            <a:r>
              <a:rPr b="0" i="1" lang="en-US" sz="3000" u="none" cap="none" strike="noStrike">
                <a:solidFill>
                  <a:srgbClr val="000099"/>
                </a:solidFill>
                <a:latin typeface="Calibri"/>
                <a:ea typeface="Calibri"/>
                <a:cs typeface="Calibri"/>
                <a:sym typeface="Calibri"/>
              </a:rPr>
              <a:t>longest</a:t>
            </a:r>
            <a:r>
              <a:rPr b="0" i="0" lang="en-US" sz="3000" u="none" cap="none" strike="noStrike">
                <a:solidFill>
                  <a:srgbClr val="000000"/>
                </a:solidFill>
                <a:latin typeface="Calibri"/>
                <a:ea typeface="Calibri"/>
                <a:cs typeface="Calibri"/>
                <a:sym typeface="Calibri"/>
              </a:rPr>
              <a:t> address prefix that matches destination address.</a:t>
            </a:r>
            <a:endParaRPr/>
          </a:p>
        </p:txBody>
      </p:sp>
      <p:sp>
        <p:nvSpPr>
          <p:cNvPr id="201" name="Google Shape;201;p11"/>
          <p:cNvSpPr txBox="1"/>
          <p:nvPr/>
        </p:nvSpPr>
        <p:spPr>
          <a:xfrm>
            <a:off x="1115390" y="1235421"/>
            <a:ext cx="3675878" cy="5847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200"/>
              <a:buFont typeface="Calibri"/>
              <a:buNone/>
            </a:pPr>
            <a:r>
              <a:rPr b="0" i="0" lang="en-US" sz="3200" u="none" cap="none" strike="noStrike">
                <a:solidFill>
                  <a:srgbClr val="C00000"/>
                </a:solidFill>
                <a:latin typeface="Calibri"/>
                <a:ea typeface="Calibri"/>
                <a:cs typeface="Calibri"/>
                <a:sym typeface="Calibri"/>
              </a:rPr>
              <a:t>longest prefix match</a:t>
            </a:r>
            <a:endParaRPr/>
          </a:p>
        </p:txBody>
      </p:sp>
      <p:grpSp>
        <p:nvGrpSpPr>
          <p:cNvPr id="202" name="Google Shape;202;p11"/>
          <p:cNvGrpSpPr/>
          <p:nvPr/>
        </p:nvGrpSpPr>
        <p:grpSpPr>
          <a:xfrm>
            <a:off x="2674601" y="3416024"/>
            <a:ext cx="7479325" cy="2180038"/>
            <a:chOff x="2674601" y="3416024"/>
            <a:chExt cx="7479325" cy="2180038"/>
          </a:xfrm>
        </p:grpSpPr>
        <p:sp>
          <p:nvSpPr>
            <p:cNvPr id="203" name="Google Shape;203;p11"/>
            <p:cNvSpPr/>
            <p:nvPr/>
          </p:nvSpPr>
          <p:spPr>
            <a:xfrm>
              <a:off x="2674601" y="3464838"/>
              <a:ext cx="4941530" cy="2131224"/>
            </a:xfrm>
            <a:prstGeom prst="rect">
              <a:avLst/>
            </a:prstGeom>
            <a:noFill/>
            <a:ln>
              <a:noFill/>
            </a:ln>
          </p:spPr>
          <p:txBody>
            <a:bodyPr anchorCtr="0" anchor="ctr" bIns="45700" lIns="91425" spcFirstLastPara="1" rIns="91425" wrap="square" tIns="45700">
              <a:noAutofit/>
            </a:bodyPr>
            <a:lstStyle/>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Destination Address Range                        </a:t>
              </a:r>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a:t>
              </a:r>
              <a:endParaRPr b="0" i="0" sz="2000" u="none" cap="none" strike="noStrike">
                <a:solidFill>
                  <a:srgbClr val="000000"/>
                </a:solidFill>
                <a:latin typeface="Comic Sans MS"/>
                <a:ea typeface="Comic Sans MS"/>
                <a:cs typeface="Comic Sans MS"/>
                <a:sym typeface="Comic Sans MS"/>
              </a:endParaRPr>
            </a:p>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otherwise  </a:t>
              </a:r>
              <a:r>
                <a:rPr b="0" i="0" lang="en-US" sz="1800" u="none" cap="none" strike="noStrike">
                  <a:solidFill>
                    <a:srgbClr val="000000"/>
                  </a:solidFill>
                  <a:latin typeface="Times"/>
                  <a:ea typeface="Times"/>
                  <a:cs typeface="Times"/>
                  <a:sym typeface="Times"/>
                </a:rPr>
                <a:t>           </a:t>
              </a:r>
              <a:endParaRPr/>
            </a:p>
          </p:txBody>
        </p:sp>
        <p:sp>
          <p:nvSpPr>
            <p:cNvPr id="204" name="Google Shape;204;p11"/>
            <p:cNvSpPr/>
            <p:nvPr/>
          </p:nvSpPr>
          <p:spPr>
            <a:xfrm>
              <a:off x="2675214" y="3473174"/>
              <a:ext cx="7459662" cy="2106613"/>
            </a:xfrm>
            <a:prstGeom prst="rect">
              <a:avLst/>
            </a:prstGeom>
            <a:noFill/>
            <a:ln cap="flat" cmpd="sng" w="19050">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05" name="Google Shape;205;p11"/>
            <p:cNvCxnSpPr/>
            <p:nvPr/>
          </p:nvCxnSpPr>
          <p:spPr>
            <a:xfrm>
              <a:off x="2675214" y="3908149"/>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206" name="Google Shape;206;p11"/>
            <p:cNvCxnSpPr/>
            <p:nvPr/>
          </p:nvCxnSpPr>
          <p:spPr>
            <a:xfrm>
              <a:off x="2705376" y="43383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207" name="Google Shape;207;p11"/>
            <p:cNvCxnSpPr/>
            <p:nvPr/>
          </p:nvCxnSpPr>
          <p:spPr>
            <a:xfrm>
              <a:off x="2679976" y="47574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208" name="Google Shape;208;p11"/>
            <p:cNvCxnSpPr/>
            <p:nvPr/>
          </p:nvCxnSpPr>
          <p:spPr>
            <a:xfrm>
              <a:off x="2676801" y="5187674"/>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209" name="Google Shape;209;p11"/>
            <p:cNvCxnSpPr/>
            <p:nvPr/>
          </p:nvCxnSpPr>
          <p:spPr>
            <a:xfrm>
              <a:off x="8109371" y="3444875"/>
              <a:ext cx="0" cy="2117725"/>
            </a:xfrm>
            <a:prstGeom prst="straightConnector1">
              <a:avLst/>
            </a:prstGeom>
            <a:noFill/>
            <a:ln cap="flat" cmpd="sng" w="19050">
              <a:solidFill>
                <a:srgbClr val="000099"/>
              </a:solidFill>
              <a:prstDash val="solid"/>
              <a:round/>
              <a:headEnd len="med" w="med" type="none"/>
              <a:tailEnd len="med" w="med" type="none"/>
            </a:ln>
          </p:spPr>
        </p:cxnSp>
        <p:sp>
          <p:nvSpPr>
            <p:cNvPr id="210" name="Google Shape;210;p11"/>
            <p:cNvSpPr txBox="1"/>
            <p:nvPr/>
          </p:nvSpPr>
          <p:spPr>
            <a:xfrm>
              <a:off x="8158439" y="3416024"/>
              <a:ext cx="1543050" cy="21558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interface</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a:t>
              </a:r>
              <a:endParaRPr/>
            </a:p>
          </p:txBody>
        </p:sp>
        <p:sp>
          <p:nvSpPr>
            <p:cNvPr id="211" name="Google Shape;211;p11"/>
            <p:cNvSpPr txBox="1"/>
            <p:nvPr/>
          </p:nvSpPr>
          <p:spPr>
            <a:xfrm>
              <a:off x="6763327" y="40039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212" name="Google Shape;212;p11"/>
            <p:cNvSpPr txBox="1"/>
            <p:nvPr/>
          </p:nvSpPr>
          <p:spPr>
            <a:xfrm>
              <a:off x="6089074" y="4005707"/>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213" name="Google Shape;213;p11"/>
            <p:cNvSpPr txBox="1"/>
            <p:nvPr/>
          </p:nvSpPr>
          <p:spPr>
            <a:xfrm>
              <a:off x="6760005" y="48167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214" name="Google Shape;214;p11"/>
            <p:cNvSpPr txBox="1"/>
            <p:nvPr/>
          </p:nvSpPr>
          <p:spPr>
            <a:xfrm>
              <a:off x="6083018" y="4846641"/>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215" name="Google Shape;215;p11"/>
            <p:cNvSpPr txBox="1"/>
            <p:nvPr/>
          </p:nvSpPr>
          <p:spPr>
            <a:xfrm>
              <a:off x="6760005" y="44230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grpSp>
      <p:grpSp>
        <p:nvGrpSpPr>
          <p:cNvPr id="216" name="Google Shape;216;p11"/>
          <p:cNvGrpSpPr/>
          <p:nvPr/>
        </p:nvGrpSpPr>
        <p:grpSpPr>
          <a:xfrm>
            <a:off x="789703" y="5747609"/>
            <a:ext cx="9305341" cy="903606"/>
            <a:chOff x="789703" y="5747609"/>
            <a:chExt cx="9305341" cy="903606"/>
          </a:xfrm>
        </p:grpSpPr>
        <p:sp>
          <p:nvSpPr>
            <p:cNvPr id="217" name="Google Shape;217;p11"/>
            <p:cNvSpPr/>
            <p:nvPr/>
          </p:nvSpPr>
          <p:spPr>
            <a:xfrm>
              <a:off x="2672981" y="6281883"/>
              <a:ext cx="5561138" cy="3693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11001000  00010111  00011000  10101010 </a:t>
              </a:r>
              <a:endParaRPr/>
            </a:p>
          </p:txBody>
        </p:sp>
        <p:sp>
          <p:nvSpPr>
            <p:cNvPr id="218" name="Google Shape;218;p11"/>
            <p:cNvSpPr txBox="1"/>
            <p:nvPr/>
          </p:nvSpPr>
          <p:spPr>
            <a:xfrm>
              <a:off x="789703" y="5882891"/>
              <a:ext cx="163628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examples</a:t>
              </a:r>
              <a:r>
                <a:rPr b="0" i="0" lang="en-US" sz="2400" u="none" cap="none" strike="noStrike">
                  <a:solidFill>
                    <a:srgbClr val="000099"/>
                  </a:solidFill>
                  <a:latin typeface="Calibri"/>
                  <a:ea typeface="Calibri"/>
                  <a:cs typeface="Calibri"/>
                  <a:sym typeface="Calibri"/>
                </a:rPr>
                <a:t>:</a:t>
              </a:r>
              <a:endParaRPr/>
            </a:p>
          </p:txBody>
        </p:sp>
        <p:sp>
          <p:nvSpPr>
            <p:cNvPr id="219" name="Google Shape;219;p11"/>
            <p:cNvSpPr txBox="1"/>
            <p:nvPr/>
          </p:nvSpPr>
          <p:spPr>
            <a:xfrm>
              <a:off x="8186060" y="5747609"/>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220" name="Google Shape;220;p11"/>
            <p:cNvSpPr txBox="1"/>
            <p:nvPr/>
          </p:nvSpPr>
          <p:spPr>
            <a:xfrm>
              <a:off x="8178869" y="6233982"/>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221" name="Google Shape;221;p11"/>
            <p:cNvSpPr txBox="1"/>
            <p:nvPr/>
          </p:nvSpPr>
          <p:spPr>
            <a:xfrm>
              <a:off x="2672165" y="5802809"/>
              <a:ext cx="556113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11001000  00010111  00010110  10100001 </a:t>
              </a:r>
              <a:endParaRPr/>
            </a:p>
          </p:txBody>
        </p:sp>
      </p:grpSp>
      <p:sp>
        <p:nvSpPr>
          <p:cNvPr id="222" name="Google Shape;222;p1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500"/>
                                        <p:tgtEl>
                                          <p:spTgt spid="2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gtEl>
                                        <p:attrNameLst>
                                          <p:attrName>style.visibility</p:attrName>
                                        </p:attrNameLst>
                                      </p:cBhvr>
                                      <p:to>
                                        <p:strVal val="visible"/>
                                      </p:to>
                                    </p:set>
                                    <p:animEffect filter="fade" transition="in">
                                      <p:cBhvr>
                                        <p:cTn dur="500"/>
                                        <p:tgtEl>
                                          <p:spTgt spid="2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2"/>
          <p:cNvSpPr txBox="1"/>
          <p:nvPr>
            <p:ph type="title"/>
          </p:nvPr>
        </p:nvSpPr>
        <p:spPr>
          <a:xfrm>
            <a:off x="838200" y="34580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Longest prefix matching</a:t>
            </a:r>
            <a:endParaRPr/>
          </a:p>
        </p:txBody>
      </p:sp>
      <p:sp>
        <p:nvSpPr>
          <p:cNvPr id="229" name="Google Shape;229;p12"/>
          <p:cNvSpPr/>
          <p:nvPr/>
        </p:nvSpPr>
        <p:spPr>
          <a:xfrm>
            <a:off x="991564" y="1533870"/>
            <a:ext cx="9199355" cy="1620147"/>
          </a:xfrm>
          <a:prstGeom prst="rect">
            <a:avLst/>
          </a:prstGeom>
          <a:solidFill>
            <a:schemeClr val="lt1"/>
          </a:solid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0" name="Google Shape;230;p12"/>
          <p:cNvSpPr txBox="1"/>
          <p:nvPr/>
        </p:nvSpPr>
        <p:spPr>
          <a:xfrm>
            <a:off x="1128092" y="1821969"/>
            <a:ext cx="9248359" cy="1209562"/>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3000"/>
              <a:buFont typeface="Calibri"/>
              <a:buNone/>
            </a:pPr>
            <a:r>
              <a:rPr b="0" i="0" lang="en-US" sz="3000" u="none" cap="none" strike="noStrike">
                <a:solidFill>
                  <a:srgbClr val="000000"/>
                </a:solidFill>
                <a:latin typeface="Calibri"/>
                <a:ea typeface="Calibri"/>
                <a:cs typeface="Calibri"/>
                <a:sym typeface="Calibri"/>
              </a:rPr>
              <a:t>when looking for forwarding table entry for given destination address, use </a:t>
            </a:r>
            <a:r>
              <a:rPr b="0" i="1" lang="en-US" sz="3000" u="none" cap="none" strike="noStrike">
                <a:solidFill>
                  <a:srgbClr val="000099"/>
                </a:solidFill>
                <a:latin typeface="Calibri"/>
                <a:ea typeface="Calibri"/>
                <a:cs typeface="Calibri"/>
                <a:sym typeface="Calibri"/>
              </a:rPr>
              <a:t>longest</a:t>
            </a:r>
            <a:r>
              <a:rPr b="0" i="0" lang="en-US" sz="3000" u="none" cap="none" strike="noStrike">
                <a:solidFill>
                  <a:srgbClr val="000000"/>
                </a:solidFill>
                <a:latin typeface="Calibri"/>
                <a:ea typeface="Calibri"/>
                <a:cs typeface="Calibri"/>
                <a:sym typeface="Calibri"/>
              </a:rPr>
              <a:t> address prefix that matches destination address.</a:t>
            </a:r>
            <a:endParaRPr/>
          </a:p>
        </p:txBody>
      </p:sp>
      <p:sp>
        <p:nvSpPr>
          <p:cNvPr id="231" name="Google Shape;231;p12"/>
          <p:cNvSpPr txBox="1"/>
          <p:nvPr/>
        </p:nvSpPr>
        <p:spPr>
          <a:xfrm>
            <a:off x="1115390" y="1235421"/>
            <a:ext cx="3675878" cy="5847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200"/>
              <a:buFont typeface="Calibri"/>
              <a:buNone/>
            </a:pPr>
            <a:r>
              <a:rPr b="0" i="0" lang="en-US" sz="3200" u="none" cap="none" strike="noStrike">
                <a:solidFill>
                  <a:srgbClr val="C00000"/>
                </a:solidFill>
                <a:latin typeface="Calibri"/>
                <a:ea typeface="Calibri"/>
                <a:cs typeface="Calibri"/>
                <a:sym typeface="Calibri"/>
              </a:rPr>
              <a:t>longest prefix match</a:t>
            </a:r>
            <a:endParaRPr/>
          </a:p>
        </p:txBody>
      </p:sp>
      <p:sp>
        <p:nvSpPr>
          <p:cNvPr id="232" name="Google Shape;232;p12"/>
          <p:cNvSpPr/>
          <p:nvPr/>
        </p:nvSpPr>
        <p:spPr>
          <a:xfrm>
            <a:off x="2674601" y="3464838"/>
            <a:ext cx="4941530" cy="2131224"/>
          </a:xfrm>
          <a:prstGeom prst="rect">
            <a:avLst/>
          </a:prstGeom>
          <a:noFill/>
          <a:ln>
            <a:noFill/>
          </a:ln>
        </p:spPr>
        <p:txBody>
          <a:bodyPr anchorCtr="0" anchor="ctr" bIns="45700" lIns="91425" spcFirstLastPara="1" rIns="91425" wrap="square" tIns="45700">
            <a:noAutofit/>
          </a:bodyPr>
          <a:lstStyle/>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Destination Address Range                        </a:t>
            </a:r>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a:t>
            </a:r>
            <a:endParaRPr b="0" i="0" sz="2000" u="none" cap="none" strike="noStrike">
              <a:solidFill>
                <a:srgbClr val="000000"/>
              </a:solidFill>
              <a:latin typeface="Comic Sans MS"/>
              <a:ea typeface="Comic Sans MS"/>
              <a:cs typeface="Comic Sans MS"/>
              <a:sym typeface="Comic Sans MS"/>
            </a:endParaRPr>
          </a:p>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otherwise  </a:t>
            </a:r>
            <a:r>
              <a:rPr b="0" i="0" lang="en-US" sz="1800" u="none" cap="none" strike="noStrike">
                <a:solidFill>
                  <a:srgbClr val="000000"/>
                </a:solidFill>
                <a:latin typeface="Times"/>
                <a:ea typeface="Times"/>
                <a:cs typeface="Times"/>
                <a:sym typeface="Times"/>
              </a:rPr>
              <a:t>           </a:t>
            </a:r>
            <a:endParaRPr/>
          </a:p>
        </p:txBody>
      </p:sp>
      <p:sp>
        <p:nvSpPr>
          <p:cNvPr id="233" name="Google Shape;233;p12"/>
          <p:cNvSpPr/>
          <p:nvPr/>
        </p:nvSpPr>
        <p:spPr>
          <a:xfrm>
            <a:off x="2675214" y="3473174"/>
            <a:ext cx="7459662" cy="2106613"/>
          </a:xfrm>
          <a:prstGeom prst="rect">
            <a:avLst/>
          </a:prstGeom>
          <a:noFill/>
          <a:ln cap="flat" cmpd="sng" w="19050">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34" name="Google Shape;234;p12"/>
          <p:cNvCxnSpPr/>
          <p:nvPr/>
        </p:nvCxnSpPr>
        <p:spPr>
          <a:xfrm>
            <a:off x="2675214" y="3908149"/>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235" name="Google Shape;235;p12"/>
          <p:cNvCxnSpPr/>
          <p:nvPr/>
        </p:nvCxnSpPr>
        <p:spPr>
          <a:xfrm>
            <a:off x="2705376" y="43383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236" name="Google Shape;236;p12"/>
          <p:cNvCxnSpPr/>
          <p:nvPr/>
        </p:nvCxnSpPr>
        <p:spPr>
          <a:xfrm>
            <a:off x="2679976" y="47574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237" name="Google Shape;237;p12"/>
          <p:cNvCxnSpPr/>
          <p:nvPr/>
        </p:nvCxnSpPr>
        <p:spPr>
          <a:xfrm>
            <a:off x="2676801" y="5187674"/>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238" name="Google Shape;238;p12"/>
          <p:cNvCxnSpPr/>
          <p:nvPr/>
        </p:nvCxnSpPr>
        <p:spPr>
          <a:xfrm>
            <a:off x="8109371" y="3444875"/>
            <a:ext cx="0" cy="2117725"/>
          </a:xfrm>
          <a:prstGeom prst="straightConnector1">
            <a:avLst/>
          </a:prstGeom>
          <a:noFill/>
          <a:ln cap="flat" cmpd="sng" w="19050">
            <a:solidFill>
              <a:srgbClr val="000099"/>
            </a:solidFill>
            <a:prstDash val="solid"/>
            <a:round/>
            <a:headEnd len="med" w="med" type="none"/>
            <a:tailEnd len="med" w="med" type="none"/>
          </a:ln>
        </p:spPr>
      </p:cxnSp>
      <p:sp>
        <p:nvSpPr>
          <p:cNvPr id="239" name="Google Shape;239;p12"/>
          <p:cNvSpPr txBox="1"/>
          <p:nvPr/>
        </p:nvSpPr>
        <p:spPr>
          <a:xfrm>
            <a:off x="8158439" y="3416024"/>
            <a:ext cx="1543050" cy="21558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interface</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a:t>
            </a:r>
            <a:endParaRPr/>
          </a:p>
        </p:txBody>
      </p:sp>
      <p:sp>
        <p:nvSpPr>
          <p:cNvPr id="240" name="Google Shape;240;p12"/>
          <p:cNvSpPr/>
          <p:nvPr/>
        </p:nvSpPr>
        <p:spPr>
          <a:xfrm>
            <a:off x="2672981" y="6281883"/>
            <a:ext cx="5561138" cy="3693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11001000  00010111  00011000  10101010 </a:t>
            </a:r>
            <a:endParaRPr/>
          </a:p>
        </p:txBody>
      </p:sp>
      <p:sp>
        <p:nvSpPr>
          <p:cNvPr id="241" name="Google Shape;241;p12"/>
          <p:cNvSpPr txBox="1"/>
          <p:nvPr/>
        </p:nvSpPr>
        <p:spPr>
          <a:xfrm>
            <a:off x="789703" y="5882891"/>
            <a:ext cx="163628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examples</a:t>
            </a:r>
            <a:r>
              <a:rPr b="0" i="0" lang="en-US" sz="2400" u="none" cap="none" strike="noStrike">
                <a:solidFill>
                  <a:srgbClr val="000099"/>
                </a:solidFill>
                <a:latin typeface="Calibri"/>
                <a:ea typeface="Calibri"/>
                <a:cs typeface="Calibri"/>
                <a:sym typeface="Calibri"/>
              </a:rPr>
              <a:t>:</a:t>
            </a:r>
            <a:endParaRPr/>
          </a:p>
        </p:txBody>
      </p:sp>
      <p:sp>
        <p:nvSpPr>
          <p:cNvPr id="242" name="Google Shape;242;p12"/>
          <p:cNvSpPr txBox="1"/>
          <p:nvPr/>
        </p:nvSpPr>
        <p:spPr>
          <a:xfrm>
            <a:off x="8186060" y="5747609"/>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243" name="Google Shape;243;p12"/>
          <p:cNvSpPr txBox="1"/>
          <p:nvPr/>
        </p:nvSpPr>
        <p:spPr>
          <a:xfrm>
            <a:off x="8178869" y="6233982"/>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244" name="Google Shape;244;p12"/>
          <p:cNvSpPr txBox="1"/>
          <p:nvPr/>
        </p:nvSpPr>
        <p:spPr>
          <a:xfrm>
            <a:off x="6763327" y="40039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245" name="Google Shape;245;p12"/>
          <p:cNvSpPr txBox="1"/>
          <p:nvPr/>
        </p:nvSpPr>
        <p:spPr>
          <a:xfrm>
            <a:off x="6089074" y="4005707"/>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246" name="Google Shape;246;p12"/>
          <p:cNvSpPr txBox="1"/>
          <p:nvPr/>
        </p:nvSpPr>
        <p:spPr>
          <a:xfrm>
            <a:off x="6760005" y="48167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247" name="Google Shape;247;p12"/>
          <p:cNvSpPr txBox="1"/>
          <p:nvPr/>
        </p:nvSpPr>
        <p:spPr>
          <a:xfrm>
            <a:off x="6083018" y="4846641"/>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248" name="Google Shape;248;p12"/>
          <p:cNvSpPr txBox="1"/>
          <p:nvPr/>
        </p:nvSpPr>
        <p:spPr>
          <a:xfrm>
            <a:off x="6760005" y="44230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249" name="Google Shape;249;p12"/>
          <p:cNvSpPr txBox="1"/>
          <p:nvPr/>
        </p:nvSpPr>
        <p:spPr>
          <a:xfrm>
            <a:off x="2672165" y="5802809"/>
            <a:ext cx="556113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11001000  00010111  00010110  10100001 </a:t>
            </a:r>
            <a:endParaRPr/>
          </a:p>
        </p:txBody>
      </p:sp>
      <p:grpSp>
        <p:nvGrpSpPr>
          <p:cNvPr id="250" name="Google Shape;250;p12"/>
          <p:cNvGrpSpPr/>
          <p:nvPr/>
        </p:nvGrpSpPr>
        <p:grpSpPr>
          <a:xfrm>
            <a:off x="803563" y="3297382"/>
            <a:ext cx="9670473" cy="3560618"/>
            <a:chOff x="803563" y="3297382"/>
            <a:chExt cx="9670473" cy="3560618"/>
          </a:xfrm>
        </p:grpSpPr>
        <p:sp>
          <p:nvSpPr>
            <p:cNvPr id="251" name="Google Shape;251;p12"/>
            <p:cNvSpPr/>
            <p:nvPr/>
          </p:nvSpPr>
          <p:spPr>
            <a:xfrm>
              <a:off x="845127" y="3297382"/>
              <a:ext cx="9628909" cy="1122218"/>
            </a:xfrm>
            <a:custGeom>
              <a:rect b="b" l="l" r="r" t="t"/>
              <a:pathLst>
                <a:path extrusionOk="0" h="1122218" w="9628909">
                  <a:moveTo>
                    <a:pt x="110837" y="0"/>
                  </a:moveTo>
                  <a:lnTo>
                    <a:pt x="9628909" y="13854"/>
                  </a:lnTo>
                  <a:lnTo>
                    <a:pt x="9628909" y="1122218"/>
                  </a:lnTo>
                  <a:lnTo>
                    <a:pt x="5389418" y="1108364"/>
                  </a:lnTo>
                  <a:lnTo>
                    <a:pt x="5375564" y="665017"/>
                  </a:lnTo>
                  <a:lnTo>
                    <a:pt x="1856509" y="651163"/>
                  </a:lnTo>
                  <a:lnTo>
                    <a:pt x="1870364" y="1122218"/>
                  </a:lnTo>
                  <a:lnTo>
                    <a:pt x="0" y="1080654"/>
                  </a:lnTo>
                  <a:lnTo>
                    <a:pt x="110837" y="0"/>
                  </a:lnTo>
                  <a:close/>
                </a:path>
              </a:pathLst>
            </a:custGeom>
            <a:solidFill>
              <a:schemeClr val="lt1">
                <a:alpha val="80784"/>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2" name="Google Shape;252;p12"/>
            <p:cNvSpPr/>
            <p:nvPr/>
          </p:nvSpPr>
          <p:spPr>
            <a:xfrm>
              <a:off x="1634837" y="4364180"/>
              <a:ext cx="8756072" cy="1399309"/>
            </a:xfrm>
            <a:prstGeom prst="rect">
              <a:avLst/>
            </a:prstGeom>
            <a:solidFill>
              <a:schemeClr val="lt1">
                <a:alpha val="80784"/>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3" name="Google Shape;253;p12"/>
            <p:cNvSpPr/>
            <p:nvPr/>
          </p:nvSpPr>
          <p:spPr>
            <a:xfrm flipH="1" rot="10800000">
              <a:off x="803563" y="5735782"/>
              <a:ext cx="9628909" cy="1122218"/>
            </a:xfrm>
            <a:custGeom>
              <a:rect b="b" l="l" r="r" t="t"/>
              <a:pathLst>
                <a:path extrusionOk="0" h="1122218" w="9628909">
                  <a:moveTo>
                    <a:pt x="110837" y="0"/>
                  </a:moveTo>
                  <a:lnTo>
                    <a:pt x="9628909" y="13854"/>
                  </a:lnTo>
                  <a:lnTo>
                    <a:pt x="9628909" y="1122218"/>
                  </a:lnTo>
                  <a:lnTo>
                    <a:pt x="5389246" y="1094510"/>
                  </a:lnTo>
                  <a:cubicBezTo>
                    <a:pt x="5390952" y="952610"/>
                    <a:pt x="5392657" y="810711"/>
                    <a:pt x="5394363" y="668811"/>
                  </a:cubicBezTo>
                  <a:lnTo>
                    <a:pt x="1856509" y="651163"/>
                  </a:lnTo>
                  <a:lnTo>
                    <a:pt x="1870364" y="1122218"/>
                  </a:lnTo>
                  <a:lnTo>
                    <a:pt x="0" y="1080654"/>
                  </a:lnTo>
                  <a:lnTo>
                    <a:pt x="110837" y="0"/>
                  </a:lnTo>
                  <a:close/>
                </a:path>
              </a:pathLst>
            </a:cu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254" name="Google Shape;254;p12"/>
          <p:cNvGrpSpPr/>
          <p:nvPr/>
        </p:nvGrpSpPr>
        <p:grpSpPr>
          <a:xfrm>
            <a:off x="2701636" y="3972790"/>
            <a:ext cx="3505199" cy="2150919"/>
            <a:chOff x="2701636" y="3972790"/>
            <a:chExt cx="3505199" cy="2150919"/>
          </a:xfrm>
        </p:grpSpPr>
        <p:sp>
          <p:nvSpPr>
            <p:cNvPr id="255" name="Google Shape;255;p12"/>
            <p:cNvSpPr/>
            <p:nvPr/>
          </p:nvSpPr>
          <p:spPr>
            <a:xfrm>
              <a:off x="2701636" y="5791200"/>
              <a:ext cx="3491346" cy="332509"/>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6" name="Google Shape;256;p12"/>
            <p:cNvSpPr/>
            <p:nvPr/>
          </p:nvSpPr>
          <p:spPr>
            <a:xfrm>
              <a:off x="2715489" y="3972790"/>
              <a:ext cx="3491346" cy="332509"/>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7" name="Google Shape;257;p12"/>
            <p:cNvSpPr/>
            <p:nvPr/>
          </p:nvSpPr>
          <p:spPr>
            <a:xfrm>
              <a:off x="4419600" y="4350327"/>
              <a:ext cx="290946" cy="1427018"/>
            </a:xfrm>
            <a:prstGeom prst="upDown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8" name="Google Shape;258;p12"/>
            <p:cNvSpPr txBox="1"/>
            <p:nvPr/>
          </p:nvSpPr>
          <p:spPr>
            <a:xfrm>
              <a:off x="4031673" y="4738255"/>
              <a:ext cx="1066061"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match!</a:t>
              </a:r>
              <a:endParaRPr/>
            </a:p>
          </p:txBody>
        </p:sp>
      </p:grpSp>
      <p:sp>
        <p:nvSpPr>
          <p:cNvPr id="259" name="Google Shape;259;p1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500"/>
                                        <p:tgtEl>
                                          <p:spTgt spid="254"/>
                                        </p:tgtEl>
                                      </p:cBhvr>
                                    </p:animEffect>
                                  </p:childTnLst>
                                </p:cTn>
                              </p:par>
                              <p:par>
                                <p:cTn fill="hold" nodeType="with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500"/>
                                        <p:tgtEl>
                                          <p:spTgt spid="2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3"/>
          <p:cNvSpPr txBox="1"/>
          <p:nvPr>
            <p:ph type="title"/>
          </p:nvPr>
        </p:nvSpPr>
        <p:spPr>
          <a:xfrm>
            <a:off x="838200" y="34580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Longest prefix matching</a:t>
            </a:r>
            <a:endParaRPr/>
          </a:p>
        </p:txBody>
      </p:sp>
      <p:sp>
        <p:nvSpPr>
          <p:cNvPr id="266" name="Google Shape;266;p13"/>
          <p:cNvSpPr/>
          <p:nvPr/>
        </p:nvSpPr>
        <p:spPr>
          <a:xfrm>
            <a:off x="991564" y="1533870"/>
            <a:ext cx="9199355" cy="1620147"/>
          </a:xfrm>
          <a:prstGeom prst="rect">
            <a:avLst/>
          </a:prstGeom>
          <a:solidFill>
            <a:schemeClr val="lt1"/>
          </a:solid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7" name="Google Shape;267;p13"/>
          <p:cNvSpPr txBox="1"/>
          <p:nvPr/>
        </p:nvSpPr>
        <p:spPr>
          <a:xfrm>
            <a:off x="1128092" y="1821969"/>
            <a:ext cx="9248359" cy="1209562"/>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3000"/>
              <a:buFont typeface="Calibri"/>
              <a:buNone/>
            </a:pPr>
            <a:r>
              <a:rPr b="0" i="0" lang="en-US" sz="3000" u="none" cap="none" strike="noStrike">
                <a:solidFill>
                  <a:srgbClr val="000000"/>
                </a:solidFill>
                <a:latin typeface="Calibri"/>
                <a:ea typeface="Calibri"/>
                <a:cs typeface="Calibri"/>
                <a:sym typeface="Calibri"/>
              </a:rPr>
              <a:t>when looking for forwarding table entry for given destination address, use </a:t>
            </a:r>
            <a:r>
              <a:rPr b="0" i="1" lang="en-US" sz="3000" u="none" cap="none" strike="noStrike">
                <a:solidFill>
                  <a:srgbClr val="000099"/>
                </a:solidFill>
                <a:latin typeface="Calibri"/>
                <a:ea typeface="Calibri"/>
                <a:cs typeface="Calibri"/>
                <a:sym typeface="Calibri"/>
              </a:rPr>
              <a:t>longest</a:t>
            </a:r>
            <a:r>
              <a:rPr b="0" i="0" lang="en-US" sz="3000" u="none" cap="none" strike="noStrike">
                <a:solidFill>
                  <a:srgbClr val="000000"/>
                </a:solidFill>
                <a:latin typeface="Calibri"/>
                <a:ea typeface="Calibri"/>
                <a:cs typeface="Calibri"/>
                <a:sym typeface="Calibri"/>
              </a:rPr>
              <a:t> address prefix that matches destination address.</a:t>
            </a:r>
            <a:endParaRPr/>
          </a:p>
        </p:txBody>
      </p:sp>
      <p:sp>
        <p:nvSpPr>
          <p:cNvPr id="268" name="Google Shape;268;p13"/>
          <p:cNvSpPr txBox="1"/>
          <p:nvPr/>
        </p:nvSpPr>
        <p:spPr>
          <a:xfrm>
            <a:off x="1115390" y="1235421"/>
            <a:ext cx="3675878" cy="5847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200"/>
              <a:buFont typeface="Calibri"/>
              <a:buNone/>
            </a:pPr>
            <a:r>
              <a:rPr b="0" i="0" lang="en-US" sz="3200" u="none" cap="none" strike="noStrike">
                <a:solidFill>
                  <a:srgbClr val="C00000"/>
                </a:solidFill>
                <a:latin typeface="Calibri"/>
                <a:ea typeface="Calibri"/>
                <a:cs typeface="Calibri"/>
                <a:sym typeface="Calibri"/>
              </a:rPr>
              <a:t>longest prefix match</a:t>
            </a:r>
            <a:endParaRPr/>
          </a:p>
        </p:txBody>
      </p:sp>
      <p:sp>
        <p:nvSpPr>
          <p:cNvPr id="269" name="Google Shape;269;p13"/>
          <p:cNvSpPr/>
          <p:nvPr/>
        </p:nvSpPr>
        <p:spPr>
          <a:xfrm>
            <a:off x="2674601" y="3464838"/>
            <a:ext cx="4941530" cy="2131224"/>
          </a:xfrm>
          <a:prstGeom prst="rect">
            <a:avLst/>
          </a:prstGeom>
          <a:noFill/>
          <a:ln>
            <a:noFill/>
          </a:ln>
        </p:spPr>
        <p:txBody>
          <a:bodyPr anchorCtr="0" anchor="ctr" bIns="45700" lIns="91425" spcFirstLastPara="1" rIns="91425" wrap="square" tIns="45700">
            <a:noAutofit/>
          </a:bodyPr>
          <a:lstStyle/>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Destination Address Range                        </a:t>
            </a:r>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a:t>
            </a:r>
            <a:endParaRPr b="0" i="0" sz="2000" u="none" cap="none" strike="noStrike">
              <a:solidFill>
                <a:srgbClr val="000000"/>
              </a:solidFill>
              <a:latin typeface="Comic Sans MS"/>
              <a:ea typeface="Comic Sans MS"/>
              <a:cs typeface="Comic Sans MS"/>
              <a:sym typeface="Comic Sans MS"/>
            </a:endParaRPr>
          </a:p>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otherwise  </a:t>
            </a:r>
            <a:r>
              <a:rPr b="0" i="0" lang="en-US" sz="1800" u="none" cap="none" strike="noStrike">
                <a:solidFill>
                  <a:srgbClr val="000000"/>
                </a:solidFill>
                <a:latin typeface="Times"/>
                <a:ea typeface="Times"/>
                <a:cs typeface="Times"/>
                <a:sym typeface="Times"/>
              </a:rPr>
              <a:t>           </a:t>
            </a:r>
            <a:endParaRPr/>
          </a:p>
        </p:txBody>
      </p:sp>
      <p:sp>
        <p:nvSpPr>
          <p:cNvPr id="270" name="Google Shape;270;p13"/>
          <p:cNvSpPr/>
          <p:nvPr/>
        </p:nvSpPr>
        <p:spPr>
          <a:xfrm>
            <a:off x="2675214" y="3473174"/>
            <a:ext cx="7459662" cy="2106613"/>
          </a:xfrm>
          <a:prstGeom prst="rect">
            <a:avLst/>
          </a:prstGeom>
          <a:noFill/>
          <a:ln cap="flat" cmpd="sng" w="19050">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271" name="Google Shape;271;p13"/>
          <p:cNvCxnSpPr/>
          <p:nvPr/>
        </p:nvCxnSpPr>
        <p:spPr>
          <a:xfrm>
            <a:off x="2675214" y="3908149"/>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272" name="Google Shape;272;p13"/>
          <p:cNvCxnSpPr/>
          <p:nvPr/>
        </p:nvCxnSpPr>
        <p:spPr>
          <a:xfrm>
            <a:off x="2705376" y="43383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273" name="Google Shape;273;p13"/>
          <p:cNvCxnSpPr/>
          <p:nvPr/>
        </p:nvCxnSpPr>
        <p:spPr>
          <a:xfrm>
            <a:off x="2679976" y="47574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274" name="Google Shape;274;p13"/>
          <p:cNvCxnSpPr/>
          <p:nvPr/>
        </p:nvCxnSpPr>
        <p:spPr>
          <a:xfrm>
            <a:off x="2676801" y="5187674"/>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275" name="Google Shape;275;p13"/>
          <p:cNvCxnSpPr/>
          <p:nvPr/>
        </p:nvCxnSpPr>
        <p:spPr>
          <a:xfrm>
            <a:off x="8109371" y="3444875"/>
            <a:ext cx="0" cy="2117725"/>
          </a:xfrm>
          <a:prstGeom prst="straightConnector1">
            <a:avLst/>
          </a:prstGeom>
          <a:noFill/>
          <a:ln cap="flat" cmpd="sng" w="19050">
            <a:solidFill>
              <a:srgbClr val="000099"/>
            </a:solidFill>
            <a:prstDash val="solid"/>
            <a:round/>
            <a:headEnd len="med" w="med" type="none"/>
            <a:tailEnd len="med" w="med" type="none"/>
          </a:ln>
        </p:spPr>
      </p:cxnSp>
      <p:sp>
        <p:nvSpPr>
          <p:cNvPr id="276" name="Google Shape;276;p13"/>
          <p:cNvSpPr txBox="1"/>
          <p:nvPr/>
        </p:nvSpPr>
        <p:spPr>
          <a:xfrm>
            <a:off x="8158439" y="3416024"/>
            <a:ext cx="1543050" cy="21558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interface</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a:t>
            </a:r>
            <a:endParaRPr/>
          </a:p>
        </p:txBody>
      </p:sp>
      <p:sp>
        <p:nvSpPr>
          <p:cNvPr id="277" name="Google Shape;277;p13"/>
          <p:cNvSpPr/>
          <p:nvPr/>
        </p:nvSpPr>
        <p:spPr>
          <a:xfrm>
            <a:off x="2672981" y="6281883"/>
            <a:ext cx="5561138" cy="3693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11001000  00010111  00011000  10101010 </a:t>
            </a:r>
            <a:endParaRPr/>
          </a:p>
        </p:txBody>
      </p:sp>
      <p:sp>
        <p:nvSpPr>
          <p:cNvPr id="278" name="Google Shape;278;p13"/>
          <p:cNvSpPr txBox="1"/>
          <p:nvPr/>
        </p:nvSpPr>
        <p:spPr>
          <a:xfrm>
            <a:off x="789703" y="5882891"/>
            <a:ext cx="163628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examples</a:t>
            </a:r>
            <a:r>
              <a:rPr b="0" i="0" lang="en-US" sz="2400" u="none" cap="none" strike="noStrike">
                <a:solidFill>
                  <a:srgbClr val="000099"/>
                </a:solidFill>
                <a:latin typeface="Calibri"/>
                <a:ea typeface="Calibri"/>
                <a:cs typeface="Calibri"/>
                <a:sym typeface="Calibri"/>
              </a:rPr>
              <a:t>:</a:t>
            </a:r>
            <a:endParaRPr/>
          </a:p>
        </p:txBody>
      </p:sp>
      <p:sp>
        <p:nvSpPr>
          <p:cNvPr id="279" name="Google Shape;279;p13"/>
          <p:cNvSpPr txBox="1"/>
          <p:nvPr/>
        </p:nvSpPr>
        <p:spPr>
          <a:xfrm>
            <a:off x="8186060" y="5747609"/>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280" name="Google Shape;280;p13"/>
          <p:cNvSpPr txBox="1"/>
          <p:nvPr/>
        </p:nvSpPr>
        <p:spPr>
          <a:xfrm>
            <a:off x="8178869" y="6233982"/>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281" name="Google Shape;281;p13"/>
          <p:cNvSpPr txBox="1"/>
          <p:nvPr/>
        </p:nvSpPr>
        <p:spPr>
          <a:xfrm>
            <a:off x="6763327" y="40039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282" name="Google Shape;282;p13"/>
          <p:cNvSpPr txBox="1"/>
          <p:nvPr/>
        </p:nvSpPr>
        <p:spPr>
          <a:xfrm>
            <a:off x="6089074" y="4005707"/>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283" name="Google Shape;283;p13"/>
          <p:cNvSpPr txBox="1"/>
          <p:nvPr/>
        </p:nvSpPr>
        <p:spPr>
          <a:xfrm>
            <a:off x="6760005" y="48167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284" name="Google Shape;284;p13"/>
          <p:cNvSpPr txBox="1"/>
          <p:nvPr/>
        </p:nvSpPr>
        <p:spPr>
          <a:xfrm>
            <a:off x="6083018" y="4846641"/>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285" name="Google Shape;285;p13"/>
          <p:cNvSpPr txBox="1"/>
          <p:nvPr/>
        </p:nvSpPr>
        <p:spPr>
          <a:xfrm>
            <a:off x="6760005" y="44230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286" name="Google Shape;286;p13"/>
          <p:cNvSpPr txBox="1"/>
          <p:nvPr/>
        </p:nvSpPr>
        <p:spPr>
          <a:xfrm>
            <a:off x="2672165" y="5802809"/>
            <a:ext cx="556113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11001000  00010111  00010110  10100001 </a:t>
            </a:r>
            <a:endParaRPr/>
          </a:p>
        </p:txBody>
      </p:sp>
      <p:grpSp>
        <p:nvGrpSpPr>
          <p:cNvPr id="287" name="Google Shape;287;p13"/>
          <p:cNvGrpSpPr/>
          <p:nvPr/>
        </p:nvGrpSpPr>
        <p:grpSpPr>
          <a:xfrm>
            <a:off x="858982" y="3297383"/>
            <a:ext cx="9628910" cy="3560617"/>
            <a:chOff x="858982" y="3297383"/>
            <a:chExt cx="9628910" cy="3560617"/>
          </a:xfrm>
        </p:grpSpPr>
        <p:sp>
          <p:nvSpPr>
            <p:cNvPr id="288" name="Google Shape;288;p13"/>
            <p:cNvSpPr/>
            <p:nvPr/>
          </p:nvSpPr>
          <p:spPr>
            <a:xfrm>
              <a:off x="858982" y="3297383"/>
              <a:ext cx="9628910" cy="1944054"/>
            </a:xfrm>
            <a:custGeom>
              <a:rect b="b" l="l" r="r" t="t"/>
              <a:pathLst>
                <a:path extrusionOk="0" h="1944054" w="9628910">
                  <a:moveTo>
                    <a:pt x="96983" y="0"/>
                  </a:moveTo>
                  <a:lnTo>
                    <a:pt x="9615055" y="13854"/>
                  </a:lnTo>
                  <a:lnTo>
                    <a:pt x="9628910" y="1925782"/>
                  </a:lnTo>
                  <a:lnTo>
                    <a:pt x="5349662" y="1944054"/>
                  </a:lnTo>
                  <a:lnTo>
                    <a:pt x="5341431" y="1505726"/>
                  </a:lnTo>
                  <a:lnTo>
                    <a:pt x="1856509" y="1482436"/>
                  </a:lnTo>
                  <a:lnTo>
                    <a:pt x="1801092" y="1939637"/>
                  </a:lnTo>
                  <a:lnTo>
                    <a:pt x="0" y="1884218"/>
                  </a:lnTo>
                  <a:lnTo>
                    <a:pt x="96983" y="0"/>
                  </a:lnTo>
                  <a:close/>
                </a:path>
              </a:pathLst>
            </a:custGeom>
            <a:solidFill>
              <a:schemeClr val="lt1">
                <a:alpha val="80784"/>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9" name="Google Shape;289;p13"/>
            <p:cNvSpPr/>
            <p:nvPr/>
          </p:nvSpPr>
          <p:spPr>
            <a:xfrm>
              <a:off x="2299855" y="5112326"/>
              <a:ext cx="8118764" cy="1052948"/>
            </a:xfrm>
            <a:prstGeom prst="rect">
              <a:avLst/>
            </a:prstGeom>
            <a:solidFill>
              <a:schemeClr val="lt1">
                <a:alpha val="80784"/>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0" name="Google Shape;290;p13"/>
            <p:cNvSpPr/>
            <p:nvPr/>
          </p:nvSpPr>
          <p:spPr>
            <a:xfrm flipH="1" rot="10800000">
              <a:off x="900546" y="5915892"/>
              <a:ext cx="9531927" cy="942108"/>
            </a:xfrm>
            <a:custGeom>
              <a:rect b="b" l="l" r="r" t="t"/>
              <a:pathLst>
                <a:path extrusionOk="0" h="942108" w="9531927">
                  <a:moveTo>
                    <a:pt x="13855" y="0"/>
                  </a:moveTo>
                  <a:lnTo>
                    <a:pt x="9531927" y="13854"/>
                  </a:lnTo>
                  <a:lnTo>
                    <a:pt x="9531927" y="665018"/>
                  </a:lnTo>
                  <a:lnTo>
                    <a:pt x="5289224" y="652972"/>
                  </a:lnTo>
                  <a:lnTo>
                    <a:pt x="5298661" y="198982"/>
                  </a:lnTo>
                  <a:lnTo>
                    <a:pt x="1717964" y="221672"/>
                  </a:lnTo>
                  <a:cubicBezTo>
                    <a:pt x="1717964" y="397163"/>
                    <a:pt x="1759528" y="711200"/>
                    <a:pt x="1759528" y="886691"/>
                  </a:cubicBezTo>
                  <a:lnTo>
                    <a:pt x="0" y="942108"/>
                  </a:lnTo>
                  <a:lnTo>
                    <a:pt x="13855" y="0"/>
                  </a:lnTo>
                  <a:close/>
                </a:path>
              </a:pathLst>
            </a:cu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291" name="Google Shape;291;p13"/>
          <p:cNvGrpSpPr/>
          <p:nvPr/>
        </p:nvGrpSpPr>
        <p:grpSpPr>
          <a:xfrm>
            <a:off x="2701636" y="4804081"/>
            <a:ext cx="3505199" cy="1804550"/>
            <a:chOff x="2701636" y="4319159"/>
            <a:chExt cx="3505199" cy="1804550"/>
          </a:xfrm>
        </p:grpSpPr>
        <p:sp>
          <p:nvSpPr>
            <p:cNvPr id="292" name="Google Shape;292;p13"/>
            <p:cNvSpPr/>
            <p:nvPr/>
          </p:nvSpPr>
          <p:spPr>
            <a:xfrm>
              <a:off x="2701636" y="5791200"/>
              <a:ext cx="3491346" cy="332509"/>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3" name="Google Shape;293;p13"/>
            <p:cNvSpPr/>
            <p:nvPr/>
          </p:nvSpPr>
          <p:spPr>
            <a:xfrm>
              <a:off x="2715489" y="4319159"/>
              <a:ext cx="3491346" cy="332509"/>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4" name="Google Shape;294;p13"/>
            <p:cNvSpPr/>
            <p:nvPr/>
          </p:nvSpPr>
          <p:spPr>
            <a:xfrm>
              <a:off x="4419600" y="4682823"/>
              <a:ext cx="290945" cy="1094521"/>
            </a:xfrm>
            <a:prstGeom prst="upDown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5" name="Google Shape;295;p13"/>
            <p:cNvSpPr txBox="1"/>
            <p:nvPr/>
          </p:nvSpPr>
          <p:spPr>
            <a:xfrm>
              <a:off x="4031673" y="5029209"/>
              <a:ext cx="1066061"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match!</a:t>
              </a:r>
              <a:endParaRPr/>
            </a:p>
          </p:txBody>
        </p:sp>
      </p:grpSp>
      <p:sp>
        <p:nvSpPr>
          <p:cNvPr id="296" name="Google Shape;296;p1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500"/>
                                        <p:tgtEl>
                                          <p:spTgt spid="291"/>
                                        </p:tgtEl>
                                      </p:cBhvr>
                                    </p:animEffect>
                                  </p:childTnLst>
                                </p:cTn>
                              </p:par>
                              <p:par>
                                <p:cTn fill="hold" nodeType="with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500"/>
                                        <p:tgtEl>
                                          <p:spTgt spid="2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14"/>
          <p:cNvSpPr txBox="1"/>
          <p:nvPr>
            <p:ph type="title"/>
          </p:nvPr>
        </p:nvSpPr>
        <p:spPr>
          <a:xfrm>
            <a:off x="838200" y="34580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Longest prefix matching</a:t>
            </a:r>
            <a:endParaRPr/>
          </a:p>
        </p:txBody>
      </p:sp>
      <p:sp>
        <p:nvSpPr>
          <p:cNvPr id="303" name="Google Shape;303;p14"/>
          <p:cNvSpPr/>
          <p:nvPr/>
        </p:nvSpPr>
        <p:spPr>
          <a:xfrm>
            <a:off x="991564" y="1533870"/>
            <a:ext cx="9199355" cy="1620147"/>
          </a:xfrm>
          <a:prstGeom prst="rect">
            <a:avLst/>
          </a:prstGeom>
          <a:solidFill>
            <a:schemeClr val="lt1"/>
          </a:solid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4" name="Google Shape;304;p14"/>
          <p:cNvSpPr txBox="1"/>
          <p:nvPr/>
        </p:nvSpPr>
        <p:spPr>
          <a:xfrm>
            <a:off x="1128092" y="1821969"/>
            <a:ext cx="9248359" cy="1209562"/>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000000"/>
              </a:buClr>
              <a:buSzPts val="3000"/>
              <a:buFont typeface="Calibri"/>
              <a:buNone/>
            </a:pPr>
            <a:r>
              <a:rPr b="0" i="0" lang="en-US" sz="3000" u="none" cap="none" strike="noStrike">
                <a:solidFill>
                  <a:srgbClr val="000000"/>
                </a:solidFill>
                <a:latin typeface="Calibri"/>
                <a:ea typeface="Calibri"/>
                <a:cs typeface="Calibri"/>
                <a:sym typeface="Calibri"/>
              </a:rPr>
              <a:t>when looking for forwarding table entry for given destination address, use </a:t>
            </a:r>
            <a:r>
              <a:rPr b="0" i="1" lang="en-US" sz="3000" u="none" cap="none" strike="noStrike">
                <a:solidFill>
                  <a:srgbClr val="000099"/>
                </a:solidFill>
                <a:latin typeface="Calibri"/>
                <a:ea typeface="Calibri"/>
                <a:cs typeface="Calibri"/>
                <a:sym typeface="Calibri"/>
              </a:rPr>
              <a:t>longest</a:t>
            </a:r>
            <a:r>
              <a:rPr b="0" i="0" lang="en-US" sz="3000" u="none" cap="none" strike="noStrike">
                <a:solidFill>
                  <a:srgbClr val="000000"/>
                </a:solidFill>
                <a:latin typeface="Calibri"/>
                <a:ea typeface="Calibri"/>
                <a:cs typeface="Calibri"/>
                <a:sym typeface="Calibri"/>
              </a:rPr>
              <a:t> address prefix that matches destination address.</a:t>
            </a:r>
            <a:endParaRPr/>
          </a:p>
        </p:txBody>
      </p:sp>
      <p:sp>
        <p:nvSpPr>
          <p:cNvPr id="305" name="Google Shape;305;p14"/>
          <p:cNvSpPr txBox="1"/>
          <p:nvPr/>
        </p:nvSpPr>
        <p:spPr>
          <a:xfrm>
            <a:off x="1115390" y="1235421"/>
            <a:ext cx="3675878" cy="5847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200"/>
              <a:buFont typeface="Calibri"/>
              <a:buNone/>
            </a:pPr>
            <a:r>
              <a:rPr b="0" i="0" lang="en-US" sz="3200" u="none" cap="none" strike="noStrike">
                <a:solidFill>
                  <a:srgbClr val="C00000"/>
                </a:solidFill>
                <a:latin typeface="Calibri"/>
                <a:ea typeface="Calibri"/>
                <a:cs typeface="Calibri"/>
                <a:sym typeface="Calibri"/>
              </a:rPr>
              <a:t>longest prefix match</a:t>
            </a:r>
            <a:endParaRPr/>
          </a:p>
        </p:txBody>
      </p:sp>
      <p:sp>
        <p:nvSpPr>
          <p:cNvPr id="306" name="Google Shape;306;p14"/>
          <p:cNvSpPr/>
          <p:nvPr/>
        </p:nvSpPr>
        <p:spPr>
          <a:xfrm>
            <a:off x="2674601" y="3464838"/>
            <a:ext cx="4941530" cy="2131224"/>
          </a:xfrm>
          <a:prstGeom prst="rect">
            <a:avLst/>
          </a:prstGeom>
          <a:noFill/>
          <a:ln>
            <a:noFill/>
          </a:ln>
        </p:spPr>
        <p:txBody>
          <a:bodyPr anchorCtr="0" anchor="ctr" bIns="45700" lIns="91425" spcFirstLastPara="1" rIns="91425" wrap="square" tIns="45700">
            <a:noAutofit/>
          </a:bodyPr>
          <a:lstStyle/>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Destination Address Range                        </a:t>
            </a:r>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a:t>
            </a:r>
            <a:endParaRPr b="0" i="0" sz="2000" u="none" cap="none" strike="noStrike">
              <a:solidFill>
                <a:srgbClr val="000000"/>
              </a:solidFill>
              <a:latin typeface="Courier New"/>
              <a:ea typeface="Courier New"/>
              <a:cs typeface="Courier New"/>
              <a:sym typeface="Courier New"/>
            </a:endParaRPr>
          </a:p>
          <a:p>
            <a:pPr indent="0" lvl="0" marL="0" marR="0" rtl="0" algn="just">
              <a:lnSpc>
                <a:spcPct val="15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a:t>
            </a:r>
            <a:endParaRPr b="0" i="0" sz="2000" u="none" cap="none" strike="noStrike">
              <a:solidFill>
                <a:srgbClr val="000000"/>
              </a:solidFill>
              <a:latin typeface="Comic Sans MS"/>
              <a:ea typeface="Comic Sans MS"/>
              <a:cs typeface="Comic Sans MS"/>
              <a:sym typeface="Comic Sans MS"/>
            </a:endParaRPr>
          </a:p>
          <a:p>
            <a:pPr indent="0" lvl="0" marL="0" marR="0" rtl="0" algn="just">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otherwise  </a:t>
            </a:r>
            <a:r>
              <a:rPr b="0" i="0" lang="en-US" sz="1800" u="none" cap="none" strike="noStrike">
                <a:solidFill>
                  <a:srgbClr val="000000"/>
                </a:solidFill>
                <a:latin typeface="Times"/>
                <a:ea typeface="Times"/>
                <a:cs typeface="Times"/>
                <a:sym typeface="Times"/>
              </a:rPr>
              <a:t>           </a:t>
            </a:r>
            <a:endParaRPr/>
          </a:p>
        </p:txBody>
      </p:sp>
      <p:sp>
        <p:nvSpPr>
          <p:cNvPr id="307" name="Google Shape;307;p14"/>
          <p:cNvSpPr/>
          <p:nvPr/>
        </p:nvSpPr>
        <p:spPr>
          <a:xfrm>
            <a:off x="2675214" y="3473174"/>
            <a:ext cx="7459662" cy="2106613"/>
          </a:xfrm>
          <a:prstGeom prst="rect">
            <a:avLst/>
          </a:prstGeom>
          <a:noFill/>
          <a:ln cap="flat" cmpd="sng" w="19050">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308" name="Google Shape;308;p14"/>
          <p:cNvCxnSpPr/>
          <p:nvPr/>
        </p:nvCxnSpPr>
        <p:spPr>
          <a:xfrm>
            <a:off x="2675214" y="3908149"/>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309" name="Google Shape;309;p14"/>
          <p:cNvCxnSpPr/>
          <p:nvPr/>
        </p:nvCxnSpPr>
        <p:spPr>
          <a:xfrm>
            <a:off x="2705376" y="43383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310" name="Google Shape;310;p14"/>
          <p:cNvCxnSpPr/>
          <p:nvPr/>
        </p:nvCxnSpPr>
        <p:spPr>
          <a:xfrm>
            <a:off x="2679976" y="4757462"/>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311" name="Google Shape;311;p14"/>
          <p:cNvCxnSpPr/>
          <p:nvPr/>
        </p:nvCxnSpPr>
        <p:spPr>
          <a:xfrm>
            <a:off x="2676801" y="5187674"/>
            <a:ext cx="7448550" cy="0"/>
          </a:xfrm>
          <a:prstGeom prst="straightConnector1">
            <a:avLst/>
          </a:prstGeom>
          <a:noFill/>
          <a:ln cap="flat" cmpd="sng" w="19050">
            <a:solidFill>
              <a:srgbClr val="000099"/>
            </a:solidFill>
            <a:prstDash val="solid"/>
            <a:round/>
            <a:headEnd len="med" w="med" type="none"/>
            <a:tailEnd len="med" w="med" type="none"/>
          </a:ln>
        </p:spPr>
      </p:cxnSp>
      <p:cxnSp>
        <p:nvCxnSpPr>
          <p:cNvPr id="312" name="Google Shape;312;p14"/>
          <p:cNvCxnSpPr/>
          <p:nvPr/>
        </p:nvCxnSpPr>
        <p:spPr>
          <a:xfrm>
            <a:off x="8109371" y="3444875"/>
            <a:ext cx="0" cy="2117725"/>
          </a:xfrm>
          <a:prstGeom prst="straightConnector1">
            <a:avLst/>
          </a:prstGeom>
          <a:noFill/>
          <a:ln cap="flat" cmpd="sng" w="19050">
            <a:solidFill>
              <a:srgbClr val="000099"/>
            </a:solidFill>
            <a:prstDash val="solid"/>
            <a:round/>
            <a:headEnd len="med" w="med" type="none"/>
            <a:tailEnd len="med" w="med" type="none"/>
          </a:ln>
        </p:spPr>
      </p:cxnSp>
      <p:sp>
        <p:nvSpPr>
          <p:cNvPr id="313" name="Google Shape;313;p14"/>
          <p:cNvSpPr txBox="1"/>
          <p:nvPr/>
        </p:nvSpPr>
        <p:spPr>
          <a:xfrm>
            <a:off x="8158439" y="3416024"/>
            <a:ext cx="1543050" cy="215582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Link interface</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a:t>
            </a:r>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a:t>
            </a:r>
            <a:endParaRPr/>
          </a:p>
        </p:txBody>
      </p:sp>
      <p:sp>
        <p:nvSpPr>
          <p:cNvPr id="314" name="Google Shape;314;p14"/>
          <p:cNvSpPr/>
          <p:nvPr/>
        </p:nvSpPr>
        <p:spPr>
          <a:xfrm>
            <a:off x="2672981" y="6281883"/>
            <a:ext cx="5561138" cy="3693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11001000  00010111  00011000  10101010 </a:t>
            </a:r>
            <a:endParaRPr/>
          </a:p>
        </p:txBody>
      </p:sp>
      <p:sp>
        <p:nvSpPr>
          <p:cNvPr id="315" name="Google Shape;315;p14"/>
          <p:cNvSpPr txBox="1"/>
          <p:nvPr/>
        </p:nvSpPr>
        <p:spPr>
          <a:xfrm>
            <a:off x="789703" y="5882891"/>
            <a:ext cx="163628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2800"/>
              <a:buFont typeface="Calibri"/>
              <a:buNone/>
            </a:pPr>
            <a:r>
              <a:rPr b="0" i="0" lang="en-US" sz="2800" u="none" cap="none" strike="noStrike">
                <a:solidFill>
                  <a:srgbClr val="000099"/>
                </a:solidFill>
                <a:latin typeface="Calibri"/>
                <a:ea typeface="Calibri"/>
                <a:cs typeface="Calibri"/>
                <a:sym typeface="Calibri"/>
              </a:rPr>
              <a:t>examples</a:t>
            </a:r>
            <a:r>
              <a:rPr b="0" i="0" lang="en-US" sz="2400" u="none" cap="none" strike="noStrike">
                <a:solidFill>
                  <a:srgbClr val="000099"/>
                </a:solidFill>
                <a:latin typeface="Calibri"/>
                <a:ea typeface="Calibri"/>
                <a:cs typeface="Calibri"/>
                <a:sym typeface="Calibri"/>
              </a:rPr>
              <a:t>:</a:t>
            </a:r>
            <a:endParaRPr/>
          </a:p>
        </p:txBody>
      </p:sp>
      <p:sp>
        <p:nvSpPr>
          <p:cNvPr id="316" name="Google Shape;316;p14"/>
          <p:cNvSpPr txBox="1"/>
          <p:nvPr/>
        </p:nvSpPr>
        <p:spPr>
          <a:xfrm>
            <a:off x="8186060" y="5747609"/>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317" name="Google Shape;317;p14"/>
          <p:cNvSpPr txBox="1"/>
          <p:nvPr/>
        </p:nvSpPr>
        <p:spPr>
          <a:xfrm>
            <a:off x="8178869" y="6233982"/>
            <a:ext cx="190898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A3"/>
              </a:buClr>
              <a:buSzPts val="2000"/>
              <a:buFont typeface="Calibri"/>
              <a:buNone/>
            </a:pPr>
            <a:r>
              <a:rPr b="0" i="0" lang="en-US" sz="2000" u="none" cap="none" strike="noStrike">
                <a:solidFill>
                  <a:srgbClr val="0000A3"/>
                </a:solidFill>
                <a:latin typeface="Calibri"/>
                <a:ea typeface="Calibri"/>
                <a:cs typeface="Calibri"/>
                <a:sym typeface="Calibri"/>
              </a:rPr>
              <a:t>which interface?</a:t>
            </a:r>
            <a:endParaRPr/>
          </a:p>
        </p:txBody>
      </p:sp>
      <p:sp>
        <p:nvSpPr>
          <p:cNvPr id="318" name="Google Shape;318;p14"/>
          <p:cNvSpPr txBox="1"/>
          <p:nvPr/>
        </p:nvSpPr>
        <p:spPr>
          <a:xfrm>
            <a:off x="6763327" y="40039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319" name="Google Shape;319;p14"/>
          <p:cNvSpPr txBox="1"/>
          <p:nvPr/>
        </p:nvSpPr>
        <p:spPr>
          <a:xfrm>
            <a:off x="6089074" y="4005707"/>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320" name="Google Shape;320;p14"/>
          <p:cNvSpPr txBox="1"/>
          <p:nvPr/>
        </p:nvSpPr>
        <p:spPr>
          <a:xfrm>
            <a:off x="6760005" y="48167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321" name="Google Shape;321;p14"/>
          <p:cNvSpPr txBox="1"/>
          <p:nvPr/>
        </p:nvSpPr>
        <p:spPr>
          <a:xfrm>
            <a:off x="6083018" y="4846641"/>
            <a:ext cx="5957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322" name="Google Shape;322;p14"/>
          <p:cNvSpPr txBox="1"/>
          <p:nvPr/>
        </p:nvSpPr>
        <p:spPr>
          <a:xfrm>
            <a:off x="6760005" y="4423065"/>
            <a:ext cx="17456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a:t>
            </a:r>
            <a:endParaRPr/>
          </a:p>
        </p:txBody>
      </p:sp>
      <p:sp>
        <p:nvSpPr>
          <p:cNvPr id="323" name="Google Shape;323;p14"/>
          <p:cNvSpPr txBox="1"/>
          <p:nvPr/>
        </p:nvSpPr>
        <p:spPr>
          <a:xfrm>
            <a:off x="2672165" y="5802809"/>
            <a:ext cx="556113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ourier New"/>
              <a:buNone/>
            </a:pPr>
            <a:r>
              <a:rPr b="0" i="0" lang="en-US" sz="1800" u="none" cap="none" strike="noStrike">
                <a:solidFill>
                  <a:srgbClr val="000000"/>
                </a:solidFill>
                <a:latin typeface="Courier New"/>
                <a:ea typeface="Courier New"/>
                <a:cs typeface="Courier New"/>
                <a:sym typeface="Courier New"/>
              </a:rPr>
              <a:t>11001000  00010111  00010110  10100001 </a:t>
            </a:r>
            <a:endParaRPr/>
          </a:p>
        </p:txBody>
      </p:sp>
      <p:grpSp>
        <p:nvGrpSpPr>
          <p:cNvPr id="324" name="Google Shape;324;p14"/>
          <p:cNvGrpSpPr/>
          <p:nvPr/>
        </p:nvGrpSpPr>
        <p:grpSpPr>
          <a:xfrm>
            <a:off x="858981" y="3297382"/>
            <a:ext cx="9615055" cy="3560618"/>
            <a:chOff x="858981" y="3297382"/>
            <a:chExt cx="9615055" cy="3560618"/>
          </a:xfrm>
        </p:grpSpPr>
        <p:sp>
          <p:nvSpPr>
            <p:cNvPr id="325" name="Google Shape;325;p14"/>
            <p:cNvSpPr/>
            <p:nvPr/>
          </p:nvSpPr>
          <p:spPr>
            <a:xfrm>
              <a:off x="858981" y="3297382"/>
              <a:ext cx="9615055" cy="1884218"/>
            </a:xfrm>
            <a:custGeom>
              <a:rect b="b" l="l" r="r" t="t"/>
              <a:pathLst>
                <a:path extrusionOk="0" h="1884218" w="9615055">
                  <a:moveTo>
                    <a:pt x="96983" y="0"/>
                  </a:moveTo>
                  <a:lnTo>
                    <a:pt x="9615055" y="13854"/>
                  </a:lnTo>
                  <a:lnTo>
                    <a:pt x="9545783" y="1510146"/>
                  </a:lnTo>
                  <a:lnTo>
                    <a:pt x="5787719" y="1504503"/>
                  </a:lnTo>
                  <a:cubicBezTo>
                    <a:pt x="5789210" y="1356363"/>
                    <a:pt x="5790700" y="1208222"/>
                    <a:pt x="5792191" y="1060082"/>
                  </a:cubicBezTo>
                  <a:lnTo>
                    <a:pt x="1829949" y="1063004"/>
                  </a:lnTo>
                  <a:cubicBezTo>
                    <a:pt x="1832537" y="1313651"/>
                    <a:pt x="1835125" y="1571887"/>
                    <a:pt x="1826330" y="1818740"/>
                  </a:cubicBezTo>
                  <a:lnTo>
                    <a:pt x="0" y="1884218"/>
                  </a:lnTo>
                  <a:lnTo>
                    <a:pt x="96983" y="0"/>
                  </a:lnTo>
                  <a:close/>
                </a:path>
              </a:pathLst>
            </a:custGeom>
            <a:solidFill>
              <a:schemeClr val="lt1">
                <a:alpha val="80784"/>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6" name="Google Shape;326;p14"/>
            <p:cNvSpPr/>
            <p:nvPr/>
          </p:nvSpPr>
          <p:spPr>
            <a:xfrm>
              <a:off x="2299855" y="4764472"/>
              <a:ext cx="8118764" cy="1343892"/>
            </a:xfrm>
            <a:prstGeom prst="rect">
              <a:avLst/>
            </a:prstGeom>
            <a:solidFill>
              <a:schemeClr val="lt1">
                <a:alpha val="80784"/>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7" name="Google Shape;327;p14"/>
            <p:cNvSpPr/>
            <p:nvPr/>
          </p:nvSpPr>
          <p:spPr>
            <a:xfrm flipH="1" rot="10800000">
              <a:off x="900546" y="5915892"/>
              <a:ext cx="9531927" cy="942108"/>
            </a:xfrm>
            <a:custGeom>
              <a:rect b="b" l="l" r="r" t="t"/>
              <a:pathLst>
                <a:path extrusionOk="0" h="942108" w="9531927">
                  <a:moveTo>
                    <a:pt x="13855" y="0"/>
                  </a:moveTo>
                  <a:lnTo>
                    <a:pt x="9531927" y="13854"/>
                  </a:lnTo>
                  <a:lnTo>
                    <a:pt x="9531927" y="665018"/>
                  </a:lnTo>
                  <a:lnTo>
                    <a:pt x="5760279" y="625263"/>
                  </a:lnTo>
                  <a:lnTo>
                    <a:pt x="5728152" y="185128"/>
                  </a:lnTo>
                  <a:lnTo>
                    <a:pt x="1717964" y="221672"/>
                  </a:lnTo>
                  <a:cubicBezTo>
                    <a:pt x="1717964" y="397163"/>
                    <a:pt x="1759528" y="711200"/>
                    <a:pt x="1759528" y="886691"/>
                  </a:cubicBezTo>
                  <a:lnTo>
                    <a:pt x="0" y="942108"/>
                  </a:lnTo>
                  <a:lnTo>
                    <a:pt x="13855" y="0"/>
                  </a:lnTo>
                  <a:close/>
                </a:path>
              </a:pathLst>
            </a:cu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328" name="Google Shape;328;p14"/>
          <p:cNvGrpSpPr/>
          <p:nvPr/>
        </p:nvGrpSpPr>
        <p:grpSpPr>
          <a:xfrm>
            <a:off x="2701635" y="4388439"/>
            <a:ext cx="3934692" cy="2261743"/>
            <a:chOff x="2701635" y="3903517"/>
            <a:chExt cx="3934692" cy="2261743"/>
          </a:xfrm>
        </p:grpSpPr>
        <p:sp>
          <p:nvSpPr>
            <p:cNvPr id="329" name="Google Shape;329;p14"/>
            <p:cNvSpPr/>
            <p:nvPr/>
          </p:nvSpPr>
          <p:spPr>
            <a:xfrm>
              <a:off x="2701635" y="5791200"/>
              <a:ext cx="3934691" cy="374060"/>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0" name="Google Shape;330;p14"/>
            <p:cNvSpPr/>
            <p:nvPr/>
          </p:nvSpPr>
          <p:spPr>
            <a:xfrm>
              <a:off x="2715489" y="3903517"/>
              <a:ext cx="3920838" cy="349816"/>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1" name="Google Shape;331;p14"/>
            <p:cNvSpPr/>
            <p:nvPr/>
          </p:nvSpPr>
          <p:spPr>
            <a:xfrm>
              <a:off x="4419600" y="4294897"/>
              <a:ext cx="346364" cy="1482448"/>
            </a:xfrm>
            <a:prstGeom prst="upDownArrow">
              <a:avLst>
                <a:gd fmla="val 50000" name="adj1"/>
                <a:gd fmla="val 50000" name="adj2"/>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32" name="Google Shape;332;p14"/>
            <p:cNvSpPr txBox="1"/>
            <p:nvPr/>
          </p:nvSpPr>
          <p:spPr>
            <a:xfrm>
              <a:off x="4045528" y="4807539"/>
              <a:ext cx="1066061" cy="46166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match!</a:t>
              </a:r>
              <a:endParaRPr/>
            </a:p>
          </p:txBody>
        </p:sp>
      </p:grpSp>
      <p:sp>
        <p:nvSpPr>
          <p:cNvPr id="333" name="Google Shape;333;p1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28"/>
                                        </p:tgtEl>
                                        <p:attrNameLst>
                                          <p:attrName>style.visibility</p:attrName>
                                        </p:attrNameLst>
                                      </p:cBhvr>
                                      <p:to>
                                        <p:strVal val="visible"/>
                                      </p:to>
                                    </p:set>
                                    <p:animEffect filter="fade" transition="in">
                                      <p:cBhvr>
                                        <p:cTn dur="500"/>
                                        <p:tgtEl>
                                          <p:spTgt spid="328"/>
                                        </p:tgtEl>
                                      </p:cBhvr>
                                    </p:animEffect>
                                  </p:childTnLst>
                                </p:cTn>
                              </p:par>
                              <p:par>
                                <p:cTn fill="hold" nodeType="withEffect" presetClass="entr" presetID="10" presetSubtype="0">
                                  <p:stCondLst>
                                    <p:cond delay="0"/>
                                  </p:stCondLst>
                                  <p:childTnLst>
                                    <p:set>
                                      <p:cBhvr>
                                        <p:cTn dur="1" fill="hold">
                                          <p:stCondLst>
                                            <p:cond delay="0"/>
                                          </p:stCondLst>
                                        </p:cTn>
                                        <p:tgtEl>
                                          <p:spTgt spid="324"/>
                                        </p:tgtEl>
                                        <p:attrNameLst>
                                          <p:attrName>style.visibility</p:attrName>
                                        </p:attrNameLst>
                                      </p:cBhvr>
                                      <p:to>
                                        <p:strVal val="visible"/>
                                      </p:to>
                                    </p:set>
                                    <p:animEffect filter="fade" transition="in">
                                      <p:cBhvr>
                                        <p:cTn dur="500"/>
                                        <p:tgtEl>
                                          <p:spTgt spid="3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15"/>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p>
            <a:pPr indent="-287338" lvl="0" marL="352425" rtl="0" algn="l">
              <a:lnSpc>
                <a:spcPct val="90000"/>
              </a:lnSpc>
              <a:spcBef>
                <a:spcPts val="0"/>
              </a:spcBef>
              <a:spcAft>
                <a:spcPts val="0"/>
              </a:spcAft>
              <a:buSzPts val="3200"/>
              <a:buChar char="▪"/>
            </a:pPr>
            <a:r>
              <a:rPr lang="en-US" sz="3200"/>
              <a:t>we’ll see</a:t>
            </a:r>
            <a:r>
              <a:rPr i="1" lang="en-US" sz="3200">
                <a:solidFill>
                  <a:srgbClr val="000090"/>
                </a:solidFill>
              </a:rPr>
              <a:t> why </a:t>
            </a:r>
            <a:r>
              <a:rPr lang="en-US" sz="3200"/>
              <a:t>longest prefix matching is used shortly, when we study addressing</a:t>
            </a:r>
            <a:endParaRPr/>
          </a:p>
          <a:p>
            <a:pPr indent="-287338" lvl="0" marL="352425" rtl="0" algn="l">
              <a:lnSpc>
                <a:spcPct val="90000"/>
              </a:lnSpc>
              <a:spcBef>
                <a:spcPts val="1000"/>
              </a:spcBef>
              <a:spcAft>
                <a:spcPts val="0"/>
              </a:spcAft>
              <a:buSzPts val="3200"/>
              <a:buChar char="▪"/>
            </a:pPr>
            <a:r>
              <a:rPr lang="en-US" sz="3200"/>
              <a:t>longest prefix matching: often performed using ternary content addressable memories (TCAMs)</a:t>
            </a:r>
            <a:endParaRPr/>
          </a:p>
          <a:p>
            <a:pPr indent="-231775" lvl="1" marL="695325" rtl="0" algn="l">
              <a:lnSpc>
                <a:spcPct val="90000"/>
              </a:lnSpc>
              <a:spcBef>
                <a:spcPts val="500"/>
              </a:spcBef>
              <a:spcAft>
                <a:spcPts val="0"/>
              </a:spcAft>
              <a:buSzPts val="2800"/>
              <a:buChar char="•"/>
            </a:pPr>
            <a:r>
              <a:rPr i="1" lang="en-US" sz="2800">
                <a:solidFill>
                  <a:srgbClr val="CC0000"/>
                </a:solidFill>
              </a:rPr>
              <a:t>content addressable: </a:t>
            </a:r>
            <a:r>
              <a:rPr lang="en-US" sz="2800"/>
              <a:t>present address to TCAM: retrieve address in one clock cycle, regardless of table size</a:t>
            </a:r>
            <a:endParaRPr/>
          </a:p>
          <a:p>
            <a:pPr indent="-231775" lvl="1" marL="695325" rtl="0" algn="l">
              <a:lnSpc>
                <a:spcPct val="90000"/>
              </a:lnSpc>
              <a:spcBef>
                <a:spcPts val="500"/>
              </a:spcBef>
              <a:spcAft>
                <a:spcPts val="0"/>
              </a:spcAft>
              <a:buSzPts val="2800"/>
              <a:buChar char="•"/>
            </a:pPr>
            <a:r>
              <a:rPr lang="en-US" sz="2800"/>
              <a:t>Cisco Catalyst:  ~1M routing table entries in TCAM</a:t>
            </a:r>
            <a:endParaRPr/>
          </a:p>
          <a:p>
            <a:pPr indent="-44450" lvl="0" marL="352425" rtl="0" algn="l">
              <a:lnSpc>
                <a:spcPct val="90000"/>
              </a:lnSpc>
              <a:spcBef>
                <a:spcPts val="1000"/>
              </a:spcBef>
              <a:spcAft>
                <a:spcPts val="0"/>
              </a:spcAft>
              <a:buSzPts val="2800"/>
              <a:buNone/>
            </a:pPr>
            <a:r>
              <a:t/>
            </a:r>
            <a:endParaRPr/>
          </a:p>
        </p:txBody>
      </p:sp>
      <p:sp>
        <p:nvSpPr>
          <p:cNvPr id="340" name="Google Shape;340;p15"/>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Longest prefix matching</a:t>
            </a:r>
            <a:endParaRPr/>
          </a:p>
        </p:txBody>
      </p:sp>
      <p:sp>
        <p:nvSpPr>
          <p:cNvPr id="341" name="Google Shape;341;p1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16"/>
          <p:cNvSpPr txBox="1"/>
          <p:nvPr>
            <p:ph idx="1" type="body"/>
          </p:nvPr>
        </p:nvSpPr>
        <p:spPr>
          <a:xfrm>
            <a:off x="811696" y="1379472"/>
            <a:ext cx="11035748" cy="634860"/>
          </a:xfrm>
          <a:prstGeom prst="rect">
            <a:avLst/>
          </a:prstGeom>
          <a:noFill/>
          <a:ln>
            <a:noFill/>
          </a:ln>
        </p:spPr>
        <p:txBody>
          <a:bodyPr anchorCtr="0" anchor="t" bIns="45700" lIns="91425" spcFirstLastPara="1" rIns="91425" wrap="square" tIns="45700">
            <a:normAutofit/>
          </a:bodyPr>
          <a:lstStyle/>
          <a:p>
            <a:pPr indent="-287338" lvl="0" marL="352425" rtl="0" algn="l">
              <a:lnSpc>
                <a:spcPct val="90000"/>
              </a:lnSpc>
              <a:spcBef>
                <a:spcPts val="0"/>
              </a:spcBef>
              <a:spcAft>
                <a:spcPts val="0"/>
              </a:spcAft>
              <a:buSzPts val="3200"/>
              <a:buFont typeface="Noto Sans Symbols"/>
              <a:buChar char="▪"/>
            </a:pPr>
            <a:r>
              <a:rPr lang="en-US" sz="3200"/>
              <a:t>transfer packet from input link to appropriate output link</a:t>
            </a:r>
            <a:endParaRPr/>
          </a:p>
          <a:p>
            <a:pPr indent="-109538" lvl="0" marL="352425" rtl="0" algn="l">
              <a:lnSpc>
                <a:spcPct val="90000"/>
              </a:lnSpc>
              <a:spcBef>
                <a:spcPts val="1000"/>
              </a:spcBef>
              <a:spcAft>
                <a:spcPts val="0"/>
              </a:spcAft>
              <a:buSzPts val="2800"/>
              <a:buFont typeface="Noto Sans Symbols"/>
              <a:buNone/>
            </a:pPr>
            <a:r>
              <a:t/>
            </a:r>
            <a:endParaRPr/>
          </a:p>
        </p:txBody>
      </p:sp>
      <p:sp>
        <p:nvSpPr>
          <p:cNvPr id="348" name="Google Shape;348;p16"/>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Switching fabrics</a:t>
            </a:r>
            <a:endParaRPr sz="4800"/>
          </a:p>
        </p:txBody>
      </p:sp>
      <p:grpSp>
        <p:nvGrpSpPr>
          <p:cNvPr id="349" name="Google Shape;349;p16"/>
          <p:cNvGrpSpPr/>
          <p:nvPr/>
        </p:nvGrpSpPr>
        <p:grpSpPr>
          <a:xfrm>
            <a:off x="4510432" y="3943350"/>
            <a:ext cx="1609725" cy="2343150"/>
            <a:chOff x="2418" y="1882"/>
            <a:chExt cx="1014" cy="1476"/>
          </a:xfrm>
        </p:grpSpPr>
        <p:sp>
          <p:nvSpPr>
            <p:cNvPr id="350" name="Google Shape;350;p16"/>
            <p:cNvSpPr/>
            <p:nvPr/>
          </p:nvSpPr>
          <p:spPr>
            <a:xfrm>
              <a:off x="2418" y="1882"/>
              <a:ext cx="1014" cy="1476"/>
            </a:xfrm>
            <a:prstGeom prst="rect">
              <a:avLst/>
            </a:prstGeom>
            <a:solidFill>
              <a:schemeClr val="lt1"/>
            </a:solidFill>
            <a:ln cap="flat" cmpd="sng" w="28575">
              <a:solidFill>
                <a:srgbClr val="FF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1" name="Google Shape;351;p16"/>
            <p:cNvSpPr txBox="1"/>
            <p:nvPr/>
          </p:nvSpPr>
          <p:spPr>
            <a:xfrm>
              <a:off x="2485" y="2418"/>
              <a:ext cx="876" cy="503"/>
            </a:xfrm>
            <a:prstGeom prst="rect">
              <a:avLst/>
            </a:prstGeom>
            <a:noFill/>
            <a:ln>
              <a:noFill/>
            </a:ln>
            <a:effectLst>
              <a:outerShdw blurRad="50800" rotWithShape="0" algn="tl" dir="2700000" dist="38100">
                <a:srgbClr val="000000">
                  <a:alpha val="40000"/>
                </a:srgbClr>
              </a:outerShdw>
            </a:effectLst>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high-speed </a:t>
              </a:r>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switching</a:t>
              </a:r>
              <a:endParaRPr/>
            </a:p>
            <a:p>
              <a:pPr indent="0" lvl="0" marL="0" marR="0" rtl="0" algn="ctr">
                <a:lnSpc>
                  <a:spcPct val="85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fabric</a:t>
              </a:r>
              <a:endParaRPr/>
            </a:p>
          </p:txBody>
        </p:sp>
      </p:grpSp>
      <p:sp>
        <p:nvSpPr>
          <p:cNvPr id="352" name="Google Shape;352;p16"/>
          <p:cNvSpPr txBox="1"/>
          <p:nvPr/>
        </p:nvSpPr>
        <p:spPr>
          <a:xfrm>
            <a:off x="2216772" y="4857819"/>
            <a:ext cx="149271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N input ports</a:t>
            </a:r>
            <a:endParaRPr/>
          </a:p>
        </p:txBody>
      </p:sp>
      <p:grpSp>
        <p:nvGrpSpPr>
          <p:cNvPr id="353" name="Google Shape;353;p16"/>
          <p:cNvGrpSpPr/>
          <p:nvPr/>
        </p:nvGrpSpPr>
        <p:grpSpPr>
          <a:xfrm>
            <a:off x="6149007" y="5709203"/>
            <a:ext cx="1472095" cy="386798"/>
            <a:chOff x="-51" y="2454"/>
            <a:chExt cx="1482" cy="357"/>
          </a:xfrm>
        </p:grpSpPr>
        <p:grpSp>
          <p:nvGrpSpPr>
            <p:cNvPr id="354" name="Google Shape;354;p16"/>
            <p:cNvGrpSpPr/>
            <p:nvPr/>
          </p:nvGrpSpPr>
          <p:grpSpPr>
            <a:xfrm flipH="1">
              <a:off x="173" y="2454"/>
              <a:ext cx="1084" cy="357"/>
              <a:chOff x="171" y="2454"/>
              <a:chExt cx="1084" cy="357"/>
            </a:xfrm>
          </p:grpSpPr>
          <p:sp>
            <p:nvSpPr>
              <p:cNvPr id="355" name="Google Shape;355;p16"/>
              <p:cNvSpPr/>
              <p:nvPr/>
            </p:nvSpPr>
            <p:spPr>
              <a:xfrm>
                <a:off x="171" y="2454"/>
                <a:ext cx="1084" cy="357"/>
              </a:xfrm>
              <a:prstGeom prst="rect">
                <a:avLst/>
              </a:prstGeom>
              <a:solidFill>
                <a:schemeClr val="lt1"/>
              </a:solidFill>
              <a:ln cap="flat" cmpd="sng" w="158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6" name="Google Shape;356;p16"/>
              <p:cNvSpPr/>
              <p:nvPr/>
            </p:nvSpPr>
            <p:spPr>
              <a:xfrm>
                <a:off x="216" y="2554"/>
                <a:ext cx="337" cy="161"/>
              </a:xfrm>
              <a:prstGeom prst="rect">
                <a:avLst/>
              </a:prstGeom>
              <a:solidFill>
                <a:schemeClr val="lt1"/>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7" name="Google Shape;357;p16"/>
              <p:cNvSpPr/>
              <p:nvPr/>
            </p:nvSpPr>
            <p:spPr>
              <a:xfrm>
                <a:off x="602" y="2490"/>
                <a:ext cx="274" cy="274"/>
              </a:xfrm>
              <a:prstGeom prst="rect">
                <a:avLst/>
              </a:prstGeom>
              <a:solidFill>
                <a:schemeClr val="lt1"/>
              </a:solidFill>
              <a:ln cap="flat" cmpd="sng" w="19050">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8" name="Google Shape;358;p16"/>
              <p:cNvSpPr/>
              <p:nvPr/>
            </p:nvSpPr>
            <p:spPr>
              <a:xfrm>
                <a:off x="923" y="2488"/>
                <a:ext cx="274" cy="274"/>
              </a:xfrm>
              <a:prstGeom prst="rect">
                <a:avLst/>
              </a:prstGeom>
              <a:solidFill>
                <a:schemeClr val="lt1"/>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359" name="Google Shape;359;p16"/>
            <p:cNvCxnSpPr/>
            <p:nvPr/>
          </p:nvCxnSpPr>
          <p:spPr>
            <a:xfrm>
              <a:off x="-51" y="2634"/>
              <a:ext cx="1482" cy="0"/>
            </a:xfrm>
            <a:prstGeom prst="straightConnector1">
              <a:avLst/>
            </a:prstGeom>
            <a:noFill/>
            <a:ln cap="flat" cmpd="sng" w="28575">
              <a:solidFill>
                <a:schemeClr val="dk1"/>
              </a:solidFill>
              <a:prstDash val="solid"/>
              <a:round/>
              <a:headEnd len="med" w="med" type="none"/>
              <a:tailEnd len="med" w="med" type="triangle"/>
            </a:ln>
          </p:spPr>
        </p:cxnSp>
      </p:grpSp>
      <p:sp>
        <p:nvSpPr>
          <p:cNvPr id="360" name="Google Shape;360;p16"/>
          <p:cNvSpPr txBox="1"/>
          <p:nvPr/>
        </p:nvSpPr>
        <p:spPr>
          <a:xfrm>
            <a:off x="6689378" y="4864446"/>
            <a:ext cx="163378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N output ports</a:t>
            </a:r>
            <a:endParaRPr/>
          </a:p>
        </p:txBody>
      </p:sp>
      <p:grpSp>
        <p:nvGrpSpPr>
          <p:cNvPr id="361" name="Google Shape;361;p16"/>
          <p:cNvGrpSpPr/>
          <p:nvPr/>
        </p:nvGrpSpPr>
        <p:grpSpPr>
          <a:xfrm>
            <a:off x="6155633" y="4072559"/>
            <a:ext cx="1472095" cy="386798"/>
            <a:chOff x="-51" y="2454"/>
            <a:chExt cx="1482" cy="357"/>
          </a:xfrm>
        </p:grpSpPr>
        <p:grpSp>
          <p:nvGrpSpPr>
            <p:cNvPr id="362" name="Google Shape;362;p16"/>
            <p:cNvGrpSpPr/>
            <p:nvPr/>
          </p:nvGrpSpPr>
          <p:grpSpPr>
            <a:xfrm flipH="1">
              <a:off x="173" y="2454"/>
              <a:ext cx="1084" cy="357"/>
              <a:chOff x="171" y="2454"/>
              <a:chExt cx="1084" cy="357"/>
            </a:xfrm>
          </p:grpSpPr>
          <p:sp>
            <p:nvSpPr>
              <p:cNvPr id="363" name="Google Shape;363;p16"/>
              <p:cNvSpPr/>
              <p:nvPr/>
            </p:nvSpPr>
            <p:spPr>
              <a:xfrm>
                <a:off x="171" y="2454"/>
                <a:ext cx="1084" cy="357"/>
              </a:xfrm>
              <a:prstGeom prst="rect">
                <a:avLst/>
              </a:prstGeom>
              <a:solidFill>
                <a:schemeClr val="lt1"/>
              </a:solidFill>
              <a:ln cap="flat" cmpd="sng" w="158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4" name="Google Shape;364;p16"/>
              <p:cNvSpPr/>
              <p:nvPr/>
            </p:nvSpPr>
            <p:spPr>
              <a:xfrm>
                <a:off x="216" y="2554"/>
                <a:ext cx="337" cy="161"/>
              </a:xfrm>
              <a:prstGeom prst="rect">
                <a:avLst/>
              </a:prstGeom>
              <a:solidFill>
                <a:schemeClr val="lt1"/>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5" name="Google Shape;365;p16"/>
              <p:cNvSpPr/>
              <p:nvPr/>
            </p:nvSpPr>
            <p:spPr>
              <a:xfrm>
                <a:off x="602" y="2490"/>
                <a:ext cx="274" cy="274"/>
              </a:xfrm>
              <a:prstGeom prst="rect">
                <a:avLst/>
              </a:prstGeom>
              <a:solidFill>
                <a:schemeClr val="lt1"/>
              </a:solidFill>
              <a:ln cap="flat" cmpd="sng" w="19050">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6" name="Google Shape;366;p16"/>
              <p:cNvSpPr/>
              <p:nvPr/>
            </p:nvSpPr>
            <p:spPr>
              <a:xfrm>
                <a:off x="923" y="2488"/>
                <a:ext cx="274" cy="274"/>
              </a:xfrm>
              <a:prstGeom prst="rect">
                <a:avLst/>
              </a:prstGeom>
              <a:solidFill>
                <a:schemeClr val="lt1"/>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367" name="Google Shape;367;p16"/>
            <p:cNvCxnSpPr/>
            <p:nvPr/>
          </p:nvCxnSpPr>
          <p:spPr>
            <a:xfrm>
              <a:off x="-51" y="2634"/>
              <a:ext cx="1482" cy="0"/>
            </a:xfrm>
            <a:prstGeom prst="straightConnector1">
              <a:avLst/>
            </a:prstGeom>
            <a:noFill/>
            <a:ln cap="flat" cmpd="sng" w="28575">
              <a:solidFill>
                <a:schemeClr val="dk1"/>
              </a:solidFill>
              <a:prstDash val="solid"/>
              <a:round/>
              <a:headEnd len="med" w="med" type="none"/>
              <a:tailEnd len="med" w="med" type="triangle"/>
            </a:ln>
          </p:spPr>
        </p:cxnSp>
      </p:grpSp>
      <p:sp>
        <p:nvSpPr>
          <p:cNvPr id="368" name="Google Shape;368;p16"/>
          <p:cNvSpPr txBox="1"/>
          <p:nvPr/>
        </p:nvSpPr>
        <p:spPr>
          <a:xfrm rot="5400000">
            <a:off x="6248400" y="4708389"/>
            <a:ext cx="927649"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000"/>
              <a:buFont typeface="Calibri"/>
              <a:buNone/>
            </a:pPr>
            <a:r>
              <a:rPr b="0" i="0" lang="en-US" sz="4000" u="none" cap="none" strike="noStrike">
                <a:solidFill>
                  <a:srgbClr val="000000"/>
                </a:solidFill>
                <a:latin typeface="Calibri"/>
                <a:ea typeface="Calibri"/>
                <a:cs typeface="Calibri"/>
                <a:sym typeface="Calibri"/>
              </a:rPr>
              <a:t>. . . </a:t>
            </a:r>
            <a:endParaRPr/>
          </a:p>
        </p:txBody>
      </p:sp>
      <p:sp>
        <p:nvSpPr>
          <p:cNvPr id="369" name="Google Shape;369;p16"/>
          <p:cNvSpPr txBox="1"/>
          <p:nvPr/>
        </p:nvSpPr>
        <p:spPr>
          <a:xfrm rot="5400000">
            <a:off x="3472070" y="4715016"/>
            <a:ext cx="927649"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000"/>
              <a:buFont typeface="Calibri"/>
              <a:buNone/>
            </a:pPr>
            <a:r>
              <a:rPr b="0" i="0" lang="en-US" sz="4000" u="none" cap="none" strike="noStrike">
                <a:solidFill>
                  <a:srgbClr val="000000"/>
                </a:solidFill>
                <a:latin typeface="Calibri"/>
                <a:ea typeface="Calibri"/>
                <a:cs typeface="Calibri"/>
                <a:sym typeface="Calibri"/>
              </a:rPr>
              <a:t>. . . </a:t>
            </a:r>
            <a:endParaRPr/>
          </a:p>
        </p:txBody>
      </p:sp>
      <p:grpSp>
        <p:nvGrpSpPr>
          <p:cNvPr id="370" name="Google Shape;370;p16"/>
          <p:cNvGrpSpPr/>
          <p:nvPr/>
        </p:nvGrpSpPr>
        <p:grpSpPr>
          <a:xfrm flipH="1" rot="10800000">
            <a:off x="3242010" y="4065933"/>
            <a:ext cx="1076755" cy="386798"/>
            <a:chOff x="171" y="2454"/>
            <a:chExt cx="1084" cy="357"/>
          </a:xfrm>
        </p:grpSpPr>
        <p:sp>
          <p:nvSpPr>
            <p:cNvPr id="371" name="Google Shape;371;p16"/>
            <p:cNvSpPr/>
            <p:nvPr/>
          </p:nvSpPr>
          <p:spPr>
            <a:xfrm>
              <a:off x="171" y="2454"/>
              <a:ext cx="1084" cy="357"/>
            </a:xfrm>
            <a:prstGeom prst="rect">
              <a:avLst/>
            </a:prstGeom>
            <a:solidFill>
              <a:schemeClr val="lt1"/>
            </a:solidFill>
            <a:ln cap="flat" cmpd="sng" w="158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2" name="Google Shape;372;p16"/>
            <p:cNvSpPr/>
            <p:nvPr/>
          </p:nvSpPr>
          <p:spPr>
            <a:xfrm>
              <a:off x="216" y="2554"/>
              <a:ext cx="337" cy="161"/>
            </a:xfrm>
            <a:prstGeom prst="rect">
              <a:avLst/>
            </a:prstGeom>
            <a:solidFill>
              <a:schemeClr val="lt1"/>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3" name="Google Shape;373;p16"/>
            <p:cNvSpPr/>
            <p:nvPr/>
          </p:nvSpPr>
          <p:spPr>
            <a:xfrm>
              <a:off x="602" y="2490"/>
              <a:ext cx="274" cy="274"/>
            </a:xfrm>
            <a:prstGeom prst="rect">
              <a:avLst/>
            </a:prstGeom>
            <a:solidFill>
              <a:schemeClr val="lt1"/>
            </a:solidFill>
            <a:ln cap="flat" cmpd="sng" w="19050">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4" name="Google Shape;374;p16"/>
            <p:cNvSpPr/>
            <p:nvPr/>
          </p:nvSpPr>
          <p:spPr>
            <a:xfrm>
              <a:off x="923" y="2488"/>
              <a:ext cx="274" cy="274"/>
            </a:xfrm>
            <a:prstGeom prst="rect">
              <a:avLst/>
            </a:prstGeom>
            <a:solidFill>
              <a:schemeClr val="lt1"/>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375" name="Google Shape;375;p16"/>
          <p:cNvCxnSpPr/>
          <p:nvPr/>
        </p:nvCxnSpPr>
        <p:spPr>
          <a:xfrm>
            <a:off x="3021494" y="4260957"/>
            <a:ext cx="1472095" cy="0"/>
          </a:xfrm>
          <a:prstGeom prst="straightConnector1">
            <a:avLst/>
          </a:prstGeom>
          <a:noFill/>
          <a:ln cap="flat" cmpd="sng" w="28575">
            <a:solidFill>
              <a:schemeClr val="dk1"/>
            </a:solidFill>
            <a:prstDash val="solid"/>
            <a:round/>
            <a:headEnd len="med" w="med" type="none"/>
            <a:tailEnd len="med" w="med" type="triangle"/>
          </a:ln>
        </p:spPr>
      </p:cxnSp>
      <p:grpSp>
        <p:nvGrpSpPr>
          <p:cNvPr id="376" name="Google Shape;376;p16"/>
          <p:cNvGrpSpPr/>
          <p:nvPr/>
        </p:nvGrpSpPr>
        <p:grpSpPr>
          <a:xfrm flipH="1" rot="10800000">
            <a:off x="3248636" y="5729080"/>
            <a:ext cx="1076755" cy="386798"/>
            <a:chOff x="171" y="2454"/>
            <a:chExt cx="1084" cy="357"/>
          </a:xfrm>
        </p:grpSpPr>
        <p:sp>
          <p:nvSpPr>
            <p:cNvPr id="377" name="Google Shape;377;p16"/>
            <p:cNvSpPr/>
            <p:nvPr/>
          </p:nvSpPr>
          <p:spPr>
            <a:xfrm>
              <a:off x="171" y="2454"/>
              <a:ext cx="1084" cy="357"/>
            </a:xfrm>
            <a:prstGeom prst="rect">
              <a:avLst/>
            </a:prstGeom>
            <a:solidFill>
              <a:schemeClr val="lt1"/>
            </a:solidFill>
            <a:ln cap="flat" cmpd="sng" w="158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8" name="Google Shape;378;p16"/>
            <p:cNvSpPr/>
            <p:nvPr/>
          </p:nvSpPr>
          <p:spPr>
            <a:xfrm>
              <a:off x="216" y="2554"/>
              <a:ext cx="337" cy="161"/>
            </a:xfrm>
            <a:prstGeom prst="rect">
              <a:avLst/>
            </a:prstGeom>
            <a:solidFill>
              <a:schemeClr val="lt1"/>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9" name="Google Shape;379;p16"/>
            <p:cNvSpPr/>
            <p:nvPr/>
          </p:nvSpPr>
          <p:spPr>
            <a:xfrm>
              <a:off x="602" y="2490"/>
              <a:ext cx="274" cy="274"/>
            </a:xfrm>
            <a:prstGeom prst="rect">
              <a:avLst/>
            </a:prstGeom>
            <a:solidFill>
              <a:schemeClr val="lt1"/>
            </a:solidFill>
            <a:ln cap="flat" cmpd="sng" w="19050">
              <a:solidFill>
                <a:srgbClr val="3C6CD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80" name="Google Shape;380;p16"/>
            <p:cNvSpPr/>
            <p:nvPr/>
          </p:nvSpPr>
          <p:spPr>
            <a:xfrm>
              <a:off x="923" y="2488"/>
              <a:ext cx="274" cy="274"/>
            </a:xfrm>
            <a:prstGeom prst="rect">
              <a:avLst/>
            </a:prstGeom>
            <a:solidFill>
              <a:schemeClr val="lt1"/>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381" name="Google Shape;381;p16"/>
          <p:cNvCxnSpPr/>
          <p:nvPr/>
        </p:nvCxnSpPr>
        <p:spPr>
          <a:xfrm>
            <a:off x="3028120" y="5924104"/>
            <a:ext cx="1472095" cy="0"/>
          </a:xfrm>
          <a:prstGeom prst="straightConnector1">
            <a:avLst/>
          </a:prstGeom>
          <a:noFill/>
          <a:ln cap="flat" cmpd="sng" w="28575">
            <a:solidFill>
              <a:schemeClr val="dk1"/>
            </a:solidFill>
            <a:prstDash val="solid"/>
            <a:round/>
            <a:headEnd len="med" w="med" type="none"/>
            <a:tailEnd len="med" w="med" type="triangle"/>
          </a:ln>
        </p:spPr>
      </p:cxnSp>
      <p:sp>
        <p:nvSpPr>
          <p:cNvPr id="382" name="Google Shape;382;p16"/>
          <p:cNvSpPr txBox="1"/>
          <p:nvPr/>
        </p:nvSpPr>
        <p:spPr>
          <a:xfrm>
            <a:off x="805070" y="1889680"/>
            <a:ext cx="11035748" cy="2317887"/>
          </a:xfrm>
          <a:prstGeom prst="rect">
            <a:avLst/>
          </a:prstGeom>
          <a:noFill/>
          <a:ln>
            <a:noFill/>
          </a:ln>
        </p:spPr>
        <p:txBody>
          <a:bodyPr anchorCtr="0" anchor="t" bIns="45700" lIns="91425" spcFirstLastPara="1" rIns="91425" wrap="square" tIns="45700">
            <a:normAutofit/>
          </a:bodyPr>
          <a:lstStyle/>
          <a:p>
            <a:pPr indent="-287338"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A3"/>
                </a:solidFill>
                <a:latin typeface="Calibri"/>
                <a:ea typeface="Calibri"/>
                <a:cs typeface="Calibri"/>
                <a:sym typeface="Calibri"/>
              </a:rPr>
              <a:t>switching rate: </a:t>
            </a:r>
            <a:r>
              <a:rPr b="0" i="0" lang="en-US" sz="3200" u="none" cap="none" strike="noStrike">
                <a:solidFill>
                  <a:srgbClr val="000000"/>
                </a:solidFill>
                <a:latin typeface="Calibri"/>
                <a:ea typeface="Calibri"/>
                <a:cs typeface="Calibri"/>
                <a:sym typeface="Calibri"/>
              </a:rPr>
              <a:t>rate at which packets can be transfer from inputs to outputs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often measured as multiple of input/output line rate</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 inputs: switching rate N times line rate desirable</a:t>
            </a:r>
            <a:endParaRPr/>
          </a:p>
        </p:txBody>
      </p:sp>
      <p:sp>
        <p:nvSpPr>
          <p:cNvPr id="383" name="Google Shape;383;p16"/>
          <p:cNvSpPr txBox="1"/>
          <p:nvPr/>
        </p:nvSpPr>
        <p:spPr>
          <a:xfrm>
            <a:off x="2756452" y="4081670"/>
            <a:ext cx="3097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a:t>
            </a:r>
            <a:endParaRPr/>
          </a:p>
        </p:txBody>
      </p:sp>
      <p:sp>
        <p:nvSpPr>
          <p:cNvPr id="384" name="Google Shape;384;p16"/>
          <p:cNvSpPr txBox="1"/>
          <p:nvPr/>
        </p:nvSpPr>
        <p:spPr>
          <a:xfrm>
            <a:off x="2749826" y="5718314"/>
            <a:ext cx="3097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a:t>
            </a:r>
            <a:endParaRPr/>
          </a:p>
        </p:txBody>
      </p:sp>
      <p:sp>
        <p:nvSpPr>
          <p:cNvPr id="385" name="Google Shape;385;p16"/>
          <p:cNvSpPr txBox="1"/>
          <p:nvPr/>
        </p:nvSpPr>
        <p:spPr>
          <a:xfrm>
            <a:off x="7593495" y="4081671"/>
            <a:ext cx="3097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a:t>
            </a:r>
            <a:endParaRPr/>
          </a:p>
        </p:txBody>
      </p:sp>
      <p:sp>
        <p:nvSpPr>
          <p:cNvPr id="386" name="Google Shape;386;p16"/>
          <p:cNvSpPr txBox="1"/>
          <p:nvPr/>
        </p:nvSpPr>
        <p:spPr>
          <a:xfrm>
            <a:off x="7586868" y="5718315"/>
            <a:ext cx="3097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a:t>
            </a:r>
            <a:endParaRPr/>
          </a:p>
        </p:txBody>
      </p:sp>
      <p:sp>
        <p:nvSpPr>
          <p:cNvPr id="387" name="Google Shape;387;p16"/>
          <p:cNvSpPr txBox="1"/>
          <p:nvPr/>
        </p:nvSpPr>
        <p:spPr>
          <a:xfrm>
            <a:off x="4611758" y="4094922"/>
            <a:ext cx="1331180"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(rate: NR, ideally)</a:t>
            </a:r>
            <a:endParaRPr/>
          </a:p>
        </p:txBody>
      </p:sp>
      <p:sp>
        <p:nvSpPr>
          <p:cNvPr id="388" name="Google Shape;388;p1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
                                        </p:tgtEl>
                                        <p:attrNameLst>
                                          <p:attrName>style.visibility</p:attrName>
                                        </p:attrNameLst>
                                      </p:cBhvr>
                                      <p:to>
                                        <p:strVal val="visible"/>
                                      </p:to>
                                    </p:set>
                                    <p:animEffect filter="fade" transition="in">
                                      <p:cBhvr>
                                        <p:cTn dur="500"/>
                                        <p:tgtEl>
                                          <p:spTgt spid="382"/>
                                        </p:tgtEl>
                                      </p:cBhvr>
                                    </p:animEffect>
                                  </p:childTnLst>
                                </p:cTn>
                              </p:par>
                              <p:par>
                                <p:cTn fill="hold" nodeType="with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500"/>
                                        <p:tgtEl>
                                          <p:spTgt spid="3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17"/>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Switching fabrics</a:t>
            </a:r>
            <a:endParaRPr sz="4800"/>
          </a:p>
        </p:txBody>
      </p:sp>
      <p:grpSp>
        <p:nvGrpSpPr>
          <p:cNvPr id="395" name="Google Shape;395;p17"/>
          <p:cNvGrpSpPr/>
          <p:nvPr/>
        </p:nvGrpSpPr>
        <p:grpSpPr>
          <a:xfrm>
            <a:off x="4769281" y="4484392"/>
            <a:ext cx="1093120" cy="215900"/>
            <a:chOff x="876" y="2800"/>
            <a:chExt cx="788" cy="175"/>
          </a:xfrm>
        </p:grpSpPr>
        <p:sp>
          <p:nvSpPr>
            <p:cNvPr id="396" name="Google Shape;396;p17"/>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7" name="Google Shape;397;p17"/>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8" name="Google Shape;398;p17"/>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9" name="Google Shape;399;p17"/>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00" name="Google Shape;400;p17"/>
            <p:cNvCxnSpPr/>
            <p:nvPr/>
          </p:nvCxnSpPr>
          <p:spPr>
            <a:xfrm>
              <a:off x="876" y="2887"/>
              <a:ext cx="788" cy="0"/>
            </a:xfrm>
            <a:prstGeom prst="straightConnector1">
              <a:avLst/>
            </a:prstGeom>
            <a:noFill/>
            <a:ln cap="flat" cmpd="sng" w="19050">
              <a:solidFill>
                <a:srgbClr val="000000"/>
              </a:solidFill>
              <a:prstDash val="solid"/>
              <a:round/>
              <a:headEnd len="med" w="med" type="none"/>
              <a:tailEnd len="med" w="med" type="triangle"/>
            </a:ln>
          </p:spPr>
        </p:cxnSp>
      </p:grpSp>
      <p:grpSp>
        <p:nvGrpSpPr>
          <p:cNvPr id="401" name="Google Shape;401;p17"/>
          <p:cNvGrpSpPr/>
          <p:nvPr/>
        </p:nvGrpSpPr>
        <p:grpSpPr>
          <a:xfrm>
            <a:off x="4767694" y="4879680"/>
            <a:ext cx="1094506" cy="215900"/>
            <a:chOff x="876" y="2800"/>
            <a:chExt cx="789" cy="175"/>
          </a:xfrm>
        </p:grpSpPr>
        <p:sp>
          <p:nvSpPr>
            <p:cNvPr id="402" name="Google Shape;402;p17"/>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3" name="Google Shape;403;p17"/>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4" name="Google Shape;404;p17"/>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5" name="Google Shape;405;p17"/>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06" name="Google Shape;406;p17"/>
            <p:cNvCxnSpPr/>
            <p:nvPr/>
          </p:nvCxnSpPr>
          <p:spPr>
            <a:xfrm>
              <a:off x="876" y="2887"/>
              <a:ext cx="789" cy="0"/>
            </a:xfrm>
            <a:prstGeom prst="straightConnector1">
              <a:avLst/>
            </a:prstGeom>
            <a:noFill/>
            <a:ln cap="flat" cmpd="sng" w="19050">
              <a:solidFill>
                <a:srgbClr val="000000"/>
              </a:solidFill>
              <a:prstDash val="solid"/>
              <a:round/>
              <a:headEnd len="med" w="med" type="none"/>
              <a:tailEnd len="med" w="med" type="triangle"/>
            </a:ln>
          </p:spPr>
        </p:cxnSp>
      </p:grpSp>
      <p:grpSp>
        <p:nvGrpSpPr>
          <p:cNvPr id="407" name="Google Shape;407;p17"/>
          <p:cNvGrpSpPr/>
          <p:nvPr/>
        </p:nvGrpSpPr>
        <p:grpSpPr>
          <a:xfrm>
            <a:off x="4762932" y="5306717"/>
            <a:ext cx="1079248" cy="215900"/>
            <a:chOff x="876" y="2800"/>
            <a:chExt cx="778" cy="175"/>
          </a:xfrm>
        </p:grpSpPr>
        <p:sp>
          <p:nvSpPr>
            <p:cNvPr id="408" name="Google Shape;408;p17"/>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9" name="Google Shape;409;p17"/>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0" name="Google Shape;410;p17"/>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1" name="Google Shape;411;p17"/>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12" name="Google Shape;412;p17"/>
            <p:cNvCxnSpPr/>
            <p:nvPr/>
          </p:nvCxnSpPr>
          <p:spPr>
            <a:xfrm>
              <a:off x="876" y="2887"/>
              <a:ext cx="778" cy="0"/>
            </a:xfrm>
            <a:prstGeom prst="straightConnector1">
              <a:avLst/>
            </a:prstGeom>
            <a:noFill/>
            <a:ln cap="flat" cmpd="sng" w="19050">
              <a:solidFill>
                <a:srgbClr val="000000"/>
              </a:solidFill>
              <a:prstDash val="solid"/>
              <a:round/>
              <a:headEnd len="med" w="med" type="none"/>
              <a:tailEnd len="med" w="med" type="triangle"/>
            </a:ln>
          </p:spPr>
        </p:cxnSp>
      </p:grpSp>
      <p:cxnSp>
        <p:nvCxnSpPr>
          <p:cNvPr id="413" name="Google Shape;413;p17"/>
          <p:cNvCxnSpPr/>
          <p:nvPr/>
        </p:nvCxnSpPr>
        <p:spPr>
          <a:xfrm>
            <a:off x="5888461" y="4492509"/>
            <a:ext cx="0" cy="1003300"/>
          </a:xfrm>
          <a:prstGeom prst="straightConnector1">
            <a:avLst/>
          </a:prstGeom>
          <a:noFill/>
          <a:ln cap="flat" cmpd="sng" w="76200">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grpSp>
        <p:nvGrpSpPr>
          <p:cNvPr id="414" name="Google Shape;414;p17"/>
          <p:cNvGrpSpPr/>
          <p:nvPr/>
        </p:nvGrpSpPr>
        <p:grpSpPr>
          <a:xfrm>
            <a:off x="5956300" y="4501349"/>
            <a:ext cx="1030288" cy="215900"/>
            <a:chOff x="367" y="3463"/>
            <a:chExt cx="649" cy="136"/>
          </a:xfrm>
        </p:grpSpPr>
        <p:sp>
          <p:nvSpPr>
            <p:cNvPr id="415" name="Google Shape;415;p17"/>
            <p:cNvSpPr/>
            <p:nvPr/>
          </p:nvSpPr>
          <p:spPr>
            <a:xfrm>
              <a:off x="498" y="3463"/>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6" name="Google Shape;416;p17"/>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7" name="Google Shape;417;p17"/>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8" name="Google Shape;418;p17"/>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19" name="Google Shape;419;p17"/>
            <p:cNvCxnSpPr/>
            <p:nvPr/>
          </p:nvCxnSpPr>
          <p:spPr>
            <a:xfrm>
              <a:off x="367" y="3527"/>
              <a:ext cx="649" cy="0"/>
            </a:xfrm>
            <a:prstGeom prst="straightConnector1">
              <a:avLst/>
            </a:prstGeom>
            <a:noFill/>
            <a:ln cap="flat" cmpd="sng" w="19050">
              <a:solidFill>
                <a:srgbClr val="000000"/>
              </a:solidFill>
              <a:prstDash val="solid"/>
              <a:round/>
              <a:headEnd len="med" w="med" type="none"/>
              <a:tailEnd len="med" w="med" type="triangle"/>
            </a:ln>
          </p:spPr>
        </p:cxnSp>
      </p:grpSp>
      <p:grpSp>
        <p:nvGrpSpPr>
          <p:cNvPr id="420" name="Google Shape;420;p17"/>
          <p:cNvGrpSpPr/>
          <p:nvPr/>
        </p:nvGrpSpPr>
        <p:grpSpPr>
          <a:xfrm>
            <a:off x="5946775" y="4893462"/>
            <a:ext cx="1044574" cy="215900"/>
            <a:chOff x="358" y="3463"/>
            <a:chExt cx="658" cy="136"/>
          </a:xfrm>
        </p:grpSpPr>
        <p:sp>
          <p:nvSpPr>
            <p:cNvPr id="421" name="Google Shape;421;p17"/>
            <p:cNvSpPr/>
            <p:nvPr/>
          </p:nvSpPr>
          <p:spPr>
            <a:xfrm>
              <a:off x="498" y="3463"/>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2" name="Google Shape;422;p17"/>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3" name="Google Shape;423;p17"/>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4" name="Google Shape;424;p17"/>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25" name="Google Shape;425;p17"/>
            <p:cNvCxnSpPr/>
            <p:nvPr/>
          </p:nvCxnSpPr>
          <p:spPr>
            <a:xfrm>
              <a:off x="358" y="3527"/>
              <a:ext cx="658" cy="0"/>
            </a:xfrm>
            <a:prstGeom prst="straightConnector1">
              <a:avLst/>
            </a:prstGeom>
            <a:noFill/>
            <a:ln cap="flat" cmpd="sng" w="19050">
              <a:solidFill>
                <a:srgbClr val="000000"/>
              </a:solidFill>
              <a:prstDash val="solid"/>
              <a:round/>
              <a:headEnd len="med" w="med" type="none"/>
              <a:tailEnd len="med" w="med" type="triangle"/>
            </a:ln>
          </p:spPr>
        </p:cxnSp>
      </p:grpSp>
      <p:grpSp>
        <p:nvGrpSpPr>
          <p:cNvPr id="426" name="Google Shape;426;p17"/>
          <p:cNvGrpSpPr/>
          <p:nvPr/>
        </p:nvGrpSpPr>
        <p:grpSpPr>
          <a:xfrm>
            <a:off x="5945368" y="5315556"/>
            <a:ext cx="1046163" cy="215900"/>
            <a:chOff x="357" y="3463"/>
            <a:chExt cx="659" cy="136"/>
          </a:xfrm>
        </p:grpSpPr>
        <p:sp>
          <p:nvSpPr>
            <p:cNvPr id="427" name="Google Shape;427;p17"/>
            <p:cNvSpPr/>
            <p:nvPr/>
          </p:nvSpPr>
          <p:spPr>
            <a:xfrm>
              <a:off x="498" y="3463"/>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8" name="Google Shape;428;p17"/>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9" name="Google Shape;429;p17"/>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0" name="Google Shape;430;p17"/>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31" name="Google Shape;431;p17"/>
            <p:cNvCxnSpPr/>
            <p:nvPr/>
          </p:nvCxnSpPr>
          <p:spPr>
            <a:xfrm>
              <a:off x="357" y="3527"/>
              <a:ext cx="659" cy="0"/>
            </a:xfrm>
            <a:prstGeom prst="straightConnector1">
              <a:avLst/>
            </a:prstGeom>
            <a:noFill/>
            <a:ln cap="flat" cmpd="sng" w="19050">
              <a:solidFill>
                <a:srgbClr val="000000"/>
              </a:solidFill>
              <a:prstDash val="solid"/>
              <a:round/>
              <a:headEnd len="med" w="med" type="none"/>
              <a:tailEnd len="med" w="med" type="triangle"/>
            </a:ln>
          </p:spPr>
        </p:cxnSp>
      </p:grpSp>
      <p:sp>
        <p:nvSpPr>
          <p:cNvPr id="432" name="Google Shape;432;p17"/>
          <p:cNvSpPr txBox="1"/>
          <p:nvPr/>
        </p:nvSpPr>
        <p:spPr>
          <a:xfrm>
            <a:off x="5664477" y="5835029"/>
            <a:ext cx="5524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bus</a:t>
            </a:r>
            <a:endParaRPr/>
          </a:p>
        </p:txBody>
      </p:sp>
      <p:grpSp>
        <p:nvGrpSpPr>
          <p:cNvPr id="433" name="Google Shape;433;p17"/>
          <p:cNvGrpSpPr/>
          <p:nvPr/>
        </p:nvGrpSpPr>
        <p:grpSpPr>
          <a:xfrm>
            <a:off x="1186899" y="4439064"/>
            <a:ext cx="2798763" cy="1752600"/>
            <a:chOff x="1968777" y="4452316"/>
            <a:chExt cx="2798763" cy="1752600"/>
          </a:xfrm>
        </p:grpSpPr>
        <p:grpSp>
          <p:nvGrpSpPr>
            <p:cNvPr id="434" name="Google Shape;434;p17"/>
            <p:cNvGrpSpPr/>
            <p:nvPr/>
          </p:nvGrpSpPr>
          <p:grpSpPr>
            <a:xfrm>
              <a:off x="2121177" y="4534866"/>
              <a:ext cx="890588" cy="215900"/>
              <a:chOff x="876" y="2800"/>
              <a:chExt cx="642" cy="175"/>
            </a:xfrm>
          </p:grpSpPr>
          <p:sp>
            <p:nvSpPr>
              <p:cNvPr id="435" name="Google Shape;435;p17"/>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6" name="Google Shape;436;p17"/>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7" name="Google Shape;437;p17"/>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8" name="Google Shape;438;p17"/>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39" name="Google Shape;439;p17"/>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440" name="Google Shape;440;p17"/>
            <p:cNvGrpSpPr/>
            <p:nvPr/>
          </p:nvGrpSpPr>
          <p:grpSpPr>
            <a:xfrm>
              <a:off x="2097365" y="4930154"/>
              <a:ext cx="890587" cy="215900"/>
              <a:chOff x="876" y="2800"/>
              <a:chExt cx="642" cy="175"/>
            </a:xfrm>
          </p:grpSpPr>
          <p:sp>
            <p:nvSpPr>
              <p:cNvPr id="441" name="Google Shape;441;p17"/>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2" name="Google Shape;442;p17"/>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3" name="Google Shape;443;p17"/>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4" name="Google Shape;444;p17"/>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45" name="Google Shape;445;p17"/>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446" name="Google Shape;446;p17"/>
            <p:cNvGrpSpPr/>
            <p:nvPr/>
          </p:nvGrpSpPr>
          <p:grpSpPr>
            <a:xfrm>
              <a:off x="2092602" y="5357191"/>
              <a:ext cx="890588" cy="215900"/>
              <a:chOff x="876" y="2800"/>
              <a:chExt cx="642" cy="175"/>
            </a:xfrm>
          </p:grpSpPr>
          <p:sp>
            <p:nvSpPr>
              <p:cNvPr id="447" name="Google Shape;447;p17"/>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8" name="Google Shape;448;p17"/>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9" name="Google Shape;449;p17"/>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0" name="Google Shape;450;p17"/>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51" name="Google Shape;451;p17"/>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sp>
          <p:nvSpPr>
            <p:cNvPr id="452" name="Google Shape;452;p17"/>
            <p:cNvSpPr/>
            <p:nvPr/>
          </p:nvSpPr>
          <p:spPr>
            <a:xfrm>
              <a:off x="2980015" y="4452316"/>
              <a:ext cx="704850" cy="1176338"/>
            </a:xfrm>
            <a:prstGeom prst="rect">
              <a:avLst/>
            </a:prstGeom>
            <a:solidFill>
              <a:srgbClr val="FFFFFF"/>
            </a:solidFill>
            <a:ln cap="flat" cmpd="sng" w="28575">
              <a:solidFill>
                <a:srgbClr val="FF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453" name="Google Shape;453;p17"/>
            <p:cNvGrpSpPr/>
            <p:nvPr/>
          </p:nvGrpSpPr>
          <p:grpSpPr>
            <a:xfrm>
              <a:off x="3689627" y="4533279"/>
              <a:ext cx="890588" cy="215900"/>
              <a:chOff x="455" y="3463"/>
              <a:chExt cx="561" cy="136"/>
            </a:xfrm>
          </p:grpSpPr>
          <p:sp>
            <p:nvSpPr>
              <p:cNvPr id="454" name="Google Shape;454;p17"/>
              <p:cNvSpPr/>
              <p:nvPr/>
            </p:nvSpPr>
            <p:spPr>
              <a:xfrm>
                <a:off x="498" y="3463"/>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5" name="Google Shape;455;p17"/>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6" name="Google Shape;456;p17"/>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7" name="Google Shape;457;p17"/>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58" name="Google Shape;458;p17"/>
              <p:cNvCxnSpPr/>
              <p:nvPr/>
            </p:nvCxnSpPr>
            <p:spPr>
              <a:xfrm flipH="1" rot="10800000">
                <a:off x="455" y="3527"/>
                <a:ext cx="561" cy="4"/>
              </a:xfrm>
              <a:prstGeom prst="straightConnector1">
                <a:avLst/>
              </a:prstGeom>
              <a:noFill/>
              <a:ln cap="flat" cmpd="sng" w="19050">
                <a:solidFill>
                  <a:srgbClr val="000000"/>
                </a:solidFill>
                <a:prstDash val="solid"/>
                <a:round/>
                <a:headEnd len="med" w="med" type="none"/>
                <a:tailEnd len="med" w="med" type="triangle"/>
              </a:ln>
            </p:spPr>
          </p:cxnSp>
        </p:grpSp>
        <p:grpSp>
          <p:nvGrpSpPr>
            <p:cNvPr id="459" name="Google Shape;459;p17"/>
            <p:cNvGrpSpPr/>
            <p:nvPr/>
          </p:nvGrpSpPr>
          <p:grpSpPr>
            <a:xfrm>
              <a:off x="3694390" y="4925391"/>
              <a:ext cx="890587" cy="215900"/>
              <a:chOff x="455" y="3463"/>
              <a:chExt cx="561" cy="136"/>
            </a:xfrm>
          </p:grpSpPr>
          <p:sp>
            <p:nvSpPr>
              <p:cNvPr id="460" name="Google Shape;460;p17"/>
              <p:cNvSpPr/>
              <p:nvPr/>
            </p:nvSpPr>
            <p:spPr>
              <a:xfrm>
                <a:off x="498" y="3463"/>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1" name="Google Shape;461;p17"/>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2" name="Google Shape;462;p17"/>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3" name="Google Shape;463;p17"/>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64" name="Google Shape;464;p17"/>
              <p:cNvCxnSpPr/>
              <p:nvPr/>
            </p:nvCxnSpPr>
            <p:spPr>
              <a:xfrm flipH="1" rot="10800000">
                <a:off x="455" y="3527"/>
                <a:ext cx="561" cy="4"/>
              </a:xfrm>
              <a:prstGeom prst="straightConnector1">
                <a:avLst/>
              </a:prstGeom>
              <a:noFill/>
              <a:ln cap="flat" cmpd="sng" w="19050">
                <a:solidFill>
                  <a:srgbClr val="000000"/>
                </a:solidFill>
                <a:prstDash val="solid"/>
                <a:round/>
                <a:headEnd len="med" w="med" type="none"/>
                <a:tailEnd len="med" w="med" type="triangle"/>
              </a:ln>
            </p:spPr>
          </p:cxnSp>
        </p:grpSp>
        <p:grpSp>
          <p:nvGrpSpPr>
            <p:cNvPr id="465" name="Google Shape;465;p17"/>
            <p:cNvGrpSpPr/>
            <p:nvPr/>
          </p:nvGrpSpPr>
          <p:grpSpPr>
            <a:xfrm>
              <a:off x="3689627" y="5352429"/>
              <a:ext cx="890588" cy="215900"/>
              <a:chOff x="455" y="3463"/>
              <a:chExt cx="561" cy="136"/>
            </a:xfrm>
          </p:grpSpPr>
          <p:sp>
            <p:nvSpPr>
              <p:cNvPr id="466" name="Google Shape;466;p17"/>
              <p:cNvSpPr/>
              <p:nvPr/>
            </p:nvSpPr>
            <p:spPr>
              <a:xfrm>
                <a:off x="498" y="3463"/>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7" name="Google Shape;467;p17"/>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8" name="Google Shape;468;p17"/>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9" name="Google Shape;469;p17"/>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70" name="Google Shape;470;p17"/>
              <p:cNvCxnSpPr/>
              <p:nvPr/>
            </p:nvCxnSpPr>
            <p:spPr>
              <a:xfrm flipH="1" rot="10800000">
                <a:off x="455" y="3527"/>
                <a:ext cx="561" cy="4"/>
              </a:xfrm>
              <a:prstGeom prst="straightConnector1">
                <a:avLst/>
              </a:prstGeom>
              <a:noFill/>
              <a:ln cap="flat" cmpd="sng" w="19050">
                <a:solidFill>
                  <a:srgbClr val="000000"/>
                </a:solidFill>
                <a:prstDash val="solid"/>
                <a:round/>
                <a:headEnd len="med" w="med" type="none"/>
                <a:tailEnd len="med" w="med" type="triangle"/>
              </a:ln>
            </p:spPr>
          </p:cxnSp>
        </p:grpSp>
        <p:sp>
          <p:nvSpPr>
            <p:cNvPr id="471" name="Google Shape;471;p17"/>
            <p:cNvSpPr txBox="1"/>
            <p:nvPr/>
          </p:nvSpPr>
          <p:spPr>
            <a:xfrm>
              <a:off x="2813327" y="5838204"/>
              <a:ext cx="10096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memory</a:t>
              </a:r>
              <a:endParaRPr/>
            </a:p>
          </p:txBody>
        </p:sp>
        <p:sp>
          <p:nvSpPr>
            <p:cNvPr id="472" name="Google Shape;472;p17"/>
            <p:cNvSpPr txBox="1"/>
            <p:nvPr/>
          </p:nvSpPr>
          <p:spPr>
            <a:xfrm>
              <a:off x="2911752" y="4769816"/>
              <a:ext cx="823913"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memory</a:t>
              </a:r>
              <a:endParaRPr/>
            </a:p>
          </p:txBody>
        </p:sp>
        <p:sp>
          <p:nvSpPr>
            <p:cNvPr id="473" name="Google Shape;473;p17"/>
            <p:cNvSpPr/>
            <p:nvPr/>
          </p:nvSpPr>
          <p:spPr>
            <a:xfrm>
              <a:off x="1968777" y="4577729"/>
              <a:ext cx="2798763" cy="412750"/>
            </a:xfrm>
            <a:custGeom>
              <a:rect b="b" l="l" r="r" t="t"/>
              <a:pathLst>
                <a:path extrusionOk="0" h="260" w="1763">
                  <a:moveTo>
                    <a:pt x="0" y="0"/>
                  </a:moveTo>
                  <a:lnTo>
                    <a:pt x="689" y="0"/>
                  </a:lnTo>
                  <a:lnTo>
                    <a:pt x="1054" y="260"/>
                  </a:lnTo>
                  <a:lnTo>
                    <a:pt x="1763" y="260"/>
                  </a:lnTo>
                </a:path>
              </a:pathLst>
            </a:custGeom>
            <a:noFill/>
            <a:ln cap="flat" cmpd="sng" w="38100">
              <a:solidFill>
                <a:srgbClr val="0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474" name="Google Shape;474;p17"/>
          <p:cNvSpPr/>
          <p:nvPr/>
        </p:nvSpPr>
        <p:spPr>
          <a:xfrm>
            <a:off x="5019952" y="4547566"/>
            <a:ext cx="2006600" cy="400050"/>
          </a:xfrm>
          <a:custGeom>
            <a:rect b="b" l="l" r="r" t="t"/>
            <a:pathLst>
              <a:path extrusionOk="0" h="252" w="1264">
                <a:moveTo>
                  <a:pt x="0" y="2"/>
                </a:moveTo>
                <a:lnTo>
                  <a:pt x="622" y="0"/>
                </a:lnTo>
                <a:lnTo>
                  <a:pt x="616" y="246"/>
                </a:lnTo>
                <a:lnTo>
                  <a:pt x="1264" y="252"/>
                </a:lnTo>
              </a:path>
            </a:pathLst>
          </a:custGeom>
          <a:noFill/>
          <a:ln cap="flat" cmpd="sng" w="38100">
            <a:solidFill>
              <a:srgbClr val="0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nvGrpSpPr>
          <p:cNvPr id="475" name="Google Shape;475;p17"/>
          <p:cNvGrpSpPr/>
          <p:nvPr/>
        </p:nvGrpSpPr>
        <p:grpSpPr>
          <a:xfrm>
            <a:off x="7258217" y="4512159"/>
            <a:ext cx="2851744" cy="2066925"/>
            <a:chOff x="6675121" y="4485654"/>
            <a:chExt cx="2851744" cy="2066925"/>
          </a:xfrm>
        </p:grpSpPr>
        <p:grpSp>
          <p:nvGrpSpPr>
            <p:cNvPr id="476" name="Google Shape;476;p17"/>
            <p:cNvGrpSpPr/>
            <p:nvPr/>
          </p:nvGrpSpPr>
          <p:grpSpPr>
            <a:xfrm>
              <a:off x="7469465" y="4485654"/>
              <a:ext cx="890587" cy="215900"/>
              <a:chOff x="876" y="2800"/>
              <a:chExt cx="642" cy="175"/>
            </a:xfrm>
          </p:grpSpPr>
          <p:sp>
            <p:nvSpPr>
              <p:cNvPr id="477" name="Google Shape;477;p17"/>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8" name="Google Shape;478;p17"/>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9" name="Google Shape;479;p17"/>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0" name="Google Shape;480;p17"/>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81" name="Google Shape;481;p17"/>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482" name="Google Shape;482;p17"/>
            <p:cNvGrpSpPr/>
            <p:nvPr/>
          </p:nvGrpSpPr>
          <p:grpSpPr>
            <a:xfrm>
              <a:off x="7445652" y="4880941"/>
              <a:ext cx="890588" cy="215900"/>
              <a:chOff x="876" y="2800"/>
              <a:chExt cx="642" cy="175"/>
            </a:xfrm>
          </p:grpSpPr>
          <p:sp>
            <p:nvSpPr>
              <p:cNvPr id="483" name="Google Shape;483;p17"/>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4" name="Google Shape;484;p17"/>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5" name="Google Shape;485;p17"/>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6" name="Google Shape;486;p17"/>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87" name="Google Shape;487;p17"/>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488" name="Google Shape;488;p17"/>
            <p:cNvGrpSpPr/>
            <p:nvPr/>
          </p:nvGrpSpPr>
          <p:grpSpPr>
            <a:xfrm>
              <a:off x="7440890" y="5307979"/>
              <a:ext cx="890587" cy="215900"/>
              <a:chOff x="876" y="2800"/>
              <a:chExt cx="642" cy="175"/>
            </a:xfrm>
          </p:grpSpPr>
          <p:sp>
            <p:nvSpPr>
              <p:cNvPr id="489" name="Google Shape;489;p17"/>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0" name="Google Shape;490;p17"/>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1" name="Google Shape;491;p17"/>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2" name="Google Shape;492;p17"/>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493" name="Google Shape;493;p17"/>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494" name="Google Shape;494;p17"/>
            <p:cNvGrpSpPr/>
            <p:nvPr/>
          </p:nvGrpSpPr>
          <p:grpSpPr>
            <a:xfrm rot="5400000">
              <a:off x="8561665" y="5501654"/>
              <a:ext cx="895350" cy="1035050"/>
              <a:chOff x="2952" y="2778"/>
              <a:chExt cx="564" cy="652"/>
            </a:xfrm>
          </p:grpSpPr>
          <p:grpSp>
            <p:nvGrpSpPr>
              <p:cNvPr id="495" name="Google Shape;495;p17"/>
              <p:cNvGrpSpPr/>
              <p:nvPr/>
            </p:nvGrpSpPr>
            <p:grpSpPr>
              <a:xfrm>
                <a:off x="2952" y="2778"/>
                <a:ext cx="561" cy="136"/>
                <a:chOff x="453" y="3465"/>
                <a:chExt cx="561" cy="136"/>
              </a:xfrm>
            </p:grpSpPr>
            <p:sp>
              <p:nvSpPr>
                <p:cNvPr id="496" name="Google Shape;496;p17"/>
                <p:cNvSpPr/>
                <p:nvPr/>
              </p:nvSpPr>
              <p:spPr>
                <a:xfrm>
                  <a:off x="496" y="3465"/>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7" name="Google Shape;497;p17"/>
                <p:cNvSpPr/>
                <p:nvPr/>
              </p:nvSpPr>
              <p:spPr>
                <a:xfrm>
                  <a:off x="769" y="3504"/>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8" name="Google Shape;498;p17"/>
                <p:cNvSpPr/>
                <p:nvPr/>
              </p:nvSpPr>
              <p:spPr>
                <a:xfrm>
                  <a:off x="642" y="3479"/>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9" name="Google Shape;499;p17"/>
                <p:cNvSpPr/>
                <p:nvPr/>
              </p:nvSpPr>
              <p:spPr>
                <a:xfrm>
                  <a:off x="515" y="3484"/>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500" name="Google Shape;500;p17"/>
                <p:cNvCxnSpPr/>
                <p:nvPr/>
              </p:nvCxnSpPr>
              <p:spPr>
                <a:xfrm flipH="1" rot="10800000">
                  <a:off x="453" y="3529"/>
                  <a:ext cx="561" cy="4"/>
                </a:xfrm>
                <a:prstGeom prst="straightConnector1">
                  <a:avLst/>
                </a:prstGeom>
                <a:noFill/>
                <a:ln cap="flat" cmpd="sng" w="19050">
                  <a:solidFill>
                    <a:srgbClr val="000000"/>
                  </a:solidFill>
                  <a:prstDash val="solid"/>
                  <a:round/>
                  <a:headEnd len="med" w="med" type="none"/>
                  <a:tailEnd len="med" w="med" type="triangle"/>
                </a:ln>
              </p:spPr>
            </p:cxnSp>
          </p:grpSp>
          <p:grpSp>
            <p:nvGrpSpPr>
              <p:cNvPr id="501" name="Google Shape;501;p17"/>
              <p:cNvGrpSpPr/>
              <p:nvPr/>
            </p:nvGrpSpPr>
            <p:grpSpPr>
              <a:xfrm>
                <a:off x="2955" y="3025"/>
                <a:ext cx="561" cy="136"/>
                <a:chOff x="453" y="3465"/>
                <a:chExt cx="561" cy="136"/>
              </a:xfrm>
            </p:grpSpPr>
            <p:sp>
              <p:nvSpPr>
                <p:cNvPr id="502" name="Google Shape;502;p17"/>
                <p:cNvSpPr/>
                <p:nvPr/>
              </p:nvSpPr>
              <p:spPr>
                <a:xfrm>
                  <a:off x="496" y="3465"/>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3" name="Google Shape;503;p17"/>
                <p:cNvSpPr/>
                <p:nvPr/>
              </p:nvSpPr>
              <p:spPr>
                <a:xfrm>
                  <a:off x="769" y="3504"/>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4" name="Google Shape;504;p17"/>
                <p:cNvSpPr/>
                <p:nvPr/>
              </p:nvSpPr>
              <p:spPr>
                <a:xfrm>
                  <a:off x="642" y="3479"/>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5" name="Google Shape;505;p17"/>
                <p:cNvSpPr/>
                <p:nvPr/>
              </p:nvSpPr>
              <p:spPr>
                <a:xfrm>
                  <a:off x="515" y="3484"/>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506" name="Google Shape;506;p17"/>
                <p:cNvCxnSpPr/>
                <p:nvPr/>
              </p:nvCxnSpPr>
              <p:spPr>
                <a:xfrm flipH="1" rot="10800000">
                  <a:off x="453" y="3529"/>
                  <a:ext cx="561" cy="4"/>
                </a:xfrm>
                <a:prstGeom prst="straightConnector1">
                  <a:avLst/>
                </a:prstGeom>
                <a:noFill/>
                <a:ln cap="flat" cmpd="sng" w="19050">
                  <a:solidFill>
                    <a:srgbClr val="000000"/>
                  </a:solidFill>
                  <a:prstDash val="solid"/>
                  <a:round/>
                  <a:headEnd len="med" w="med" type="none"/>
                  <a:tailEnd len="med" w="med" type="triangle"/>
                </a:ln>
              </p:spPr>
            </p:cxnSp>
          </p:grpSp>
          <p:grpSp>
            <p:nvGrpSpPr>
              <p:cNvPr id="507" name="Google Shape;507;p17"/>
              <p:cNvGrpSpPr/>
              <p:nvPr/>
            </p:nvGrpSpPr>
            <p:grpSpPr>
              <a:xfrm>
                <a:off x="2952" y="3294"/>
                <a:ext cx="561" cy="136"/>
                <a:chOff x="453" y="3465"/>
                <a:chExt cx="561" cy="136"/>
              </a:xfrm>
            </p:grpSpPr>
            <p:sp>
              <p:nvSpPr>
                <p:cNvPr id="508" name="Google Shape;508;p17"/>
                <p:cNvSpPr/>
                <p:nvPr/>
              </p:nvSpPr>
              <p:spPr>
                <a:xfrm>
                  <a:off x="496" y="3465"/>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9" name="Google Shape;509;p17"/>
                <p:cNvSpPr/>
                <p:nvPr/>
              </p:nvSpPr>
              <p:spPr>
                <a:xfrm>
                  <a:off x="769" y="3504"/>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0" name="Google Shape;510;p17"/>
                <p:cNvSpPr/>
                <p:nvPr/>
              </p:nvSpPr>
              <p:spPr>
                <a:xfrm>
                  <a:off x="642" y="3479"/>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1" name="Google Shape;511;p17"/>
                <p:cNvSpPr/>
                <p:nvPr/>
              </p:nvSpPr>
              <p:spPr>
                <a:xfrm>
                  <a:off x="515" y="3484"/>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512" name="Google Shape;512;p17"/>
                <p:cNvCxnSpPr/>
                <p:nvPr/>
              </p:nvCxnSpPr>
              <p:spPr>
                <a:xfrm flipH="1" rot="10800000">
                  <a:off x="453" y="3529"/>
                  <a:ext cx="561" cy="4"/>
                </a:xfrm>
                <a:prstGeom prst="straightConnector1">
                  <a:avLst/>
                </a:prstGeom>
                <a:noFill/>
                <a:ln cap="flat" cmpd="sng" w="19050">
                  <a:solidFill>
                    <a:srgbClr val="000000"/>
                  </a:solidFill>
                  <a:prstDash val="solid"/>
                  <a:round/>
                  <a:headEnd len="med" w="med" type="none"/>
                  <a:tailEnd len="med" w="med" type="triangle"/>
                </a:ln>
              </p:spPr>
            </p:cxnSp>
          </p:grpSp>
        </p:grpSp>
        <p:cxnSp>
          <p:nvCxnSpPr>
            <p:cNvPr id="513" name="Google Shape;513;p17"/>
            <p:cNvCxnSpPr/>
            <p:nvPr/>
          </p:nvCxnSpPr>
          <p:spPr>
            <a:xfrm>
              <a:off x="8360052" y="4592016"/>
              <a:ext cx="1063625" cy="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514" name="Google Shape;514;p17"/>
            <p:cNvCxnSpPr/>
            <p:nvPr/>
          </p:nvCxnSpPr>
          <p:spPr>
            <a:xfrm flipH="1" rot="10800000">
              <a:off x="8321952" y="4979366"/>
              <a:ext cx="1111250" cy="3175"/>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515" name="Google Shape;515;p17"/>
            <p:cNvCxnSpPr/>
            <p:nvPr/>
          </p:nvCxnSpPr>
          <p:spPr>
            <a:xfrm>
              <a:off x="8321952" y="5411166"/>
              <a:ext cx="1101725" cy="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516" name="Google Shape;516;p17"/>
            <p:cNvCxnSpPr/>
            <p:nvPr/>
          </p:nvCxnSpPr>
          <p:spPr>
            <a:xfrm rot="10800000">
              <a:off x="8604527" y="4592016"/>
              <a:ext cx="0" cy="97790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517" name="Google Shape;517;p17"/>
            <p:cNvCxnSpPr/>
            <p:nvPr/>
          </p:nvCxnSpPr>
          <p:spPr>
            <a:xfrm rot="10800000">
              <a:off x="9026802" y="4592016"/>
              <a:ext cx="0" cy="97790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518" name="Google Shape;518;p17"/>
            <p:cNvCxnSpPr/>
            <p:nvPr/>
          </p:nvCxnSpPr>
          <p:spPr>
            <a:xfrm rot="10800000">
              <a:off x="9423677" y="4582491"/>
              <a:ext cx="0" cy="97790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sp>
          <p:nvSpPr>
            <p:cNvPr id="519" name="Google Shape;519;p17"/>
            <p:cNvSpPr/>
            <p:nvPr/>
          </p:nvSpPr>
          <p:spPr>
            <a:xfrm>
              <a:off x="8563252" y="4553916"/>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0" name="Google Shape;520;p17"/>
            <p:cNvSpPr/>
            <p:nvPr/>
          </p:nvSpPr>
          <p:spPr>
            <a:xfrm>
              <a:off x="8563252" y="493809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1" name="Google Shape;521;p17"/>
            <p:cNvSpPr/>
            <p:nvPr/>
          </p:nvSpPr>
          <p:spPr>
            <a:xfrm>
              <a:off x="8556902" y="536354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2" name="Google Shape;522;p17"/>
            <p:cNvSpPr/>
            <p:nvPr/>
          </p:nvSpPr>
          <p:spPr>
            <a:xfrm>
              <a:off x="8988702" y="4553916"/>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3" name="Google Shape;523;p17"/>
            <p:cNvSpPr/>
            <p:nvPr/>
          </p:nvSpPr>
          <p:spPr>
            <a:xfrm>
              <a:off x="8988702" y="493809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4" name="Google Shape;524;p17"/>
            <p:cNvSpPr/>
            <p:nvPr/>
          </p:nvSpPr>
          <p:spPr>
            <a:xfrm>
              <a:off x="8982352" y="536354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5" name="Google Shape;525;p17"/>
            <p:cNvSpPr/>
            <p:nvPr/>
          </p:nvSpPr>
          <p:spPr>
            <a:xfrm>
              <a:off x="9379227" y="4553916"/>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6" name="Google Shape;526;p17"/>
            <p:cNvSpPr/>
            <p:nvPr/>
          </p:nvSpPr>
          <p:spPr>
            <a:xfrm>
              <a:off x="9379227" y="493809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7" name="Google Shape;527;p17"/>
            <p:cNvSpPr/>
            <p:nvPr/>
          </p:nvSpPr>
          <p:spPr>
            <a:xfrm>
              <a:off x="9372877" y="536354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8" name="Google Shape;528;p17"/>
            <p:cNvSpPr txBox="1"/>
            <p:nvPr/>
          </p:nvSpPr>
          <p:spPr>
            <a:xfrm>
              <a:off x="6675121" y="5767934"/>
              <a:ext cx="1749197"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interconnection</a:t>
              </a: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network</a:t>
              </a:r>
              <a:endParaRPr/>
            </a:p>
          </p:txBody>
        </p:sp>
        <p:sp>
          <p:nvSpPr>
            <p:cNvPr id="529" name="Google Shape;529;p17"/>
            <p:cNvSpPr/>
            <p:nvPr/>
          </p:nvSpPr>
          <p:spPr>
            <a:xfrm>
              <a:off x="7417077" y="4538041"/>
              <a:ext cx="1543050" cy="2014538"/>
            </a:xfrm>
            <a:custGeom>
              <a:rect b="b" l="l" r="r" t="t"/>
              <a:pathLst>
                <a:path extrusionOk="0" h="1266" w="972">
                  <a:moveTo>
                    <a:pt x="0" y="3"/>
                  </a:moveTo>
                  <a:lnTo>
                    <a:pt x="969" y="0"/>
                  </a:lnTo>
                  <a:lnTo>
                    <a:pt x="972" y="1266"/>
                  </a:lnTo>
                </a:path>
              </a:pathLst>
            </a:custGeom>
            <a:noFill/>
            <a:ln cap="flat" cmpd="sng" w="38100">
              <a:solidFill>
                <a:srgbClr val="0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530" name="Google Shape;530;p17"/>
          <p:cNvSpPr txBox="1"/>
          <p:nvPr/>
        </p:nvSpPr>
        <p:spPr>
          <a:xfrm>
            <a:off x="818322" y="3691974"/>
            <a:ext cx="11035748" cy="654737"/>
          </a:xfrm>
          <a:prstGeom prst="rect">
            <a:avLst/>
          </a:prstGeom>
          <a:noFill/>
          <a:ln>
            <a:noFill/>
          </a:ln>
        </p:spPr>
        <p:txBody>
          <a:bodyPr anchorCtr="0" anchor="t" bIns="45700" lIns="91425" spcFirstLastPara="1" rIns="91425" wrap="square" tIns="45700">
            <a:normAutofit/>
          </a:bodyPr>
          <a:lstStyle/>
          <a:p>
            <a:pPr indent="-287338"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three major types of switching fabrics:</a:t>
            </a:r>
            <a:endParaRPr/>
          </a:p>
        </p:txBody>
      </p:sp>
      <p:sp>
        <p:nvSpPr>
          <p:cNvPr id="531" name="Google Shape;531;p17"/>
          <p:cNvSpPr txBox="1"/>
          <p:nvPr>
            <p:ph idx="1" type="body"/>
          </p:nvPr>
        </p:nvSpPr>
        <p:spPr>
          <a:xfrm>
            <a:off x="811696" y="1379472"/>
            <a:ext cx="11035748" cy="634860"/>
          </a:xfrm>
          <a:prstGeom prst="rect">
            <a:avLst/>
          </a:prstGeom>
          <a:noFill/>
          <a:ln>
            <a:noFill/>
          </a:ln>
        </p:spPr>
        <p:txBody>
          <a:bodyPr anchorCtr="0" anchor="t" bIns="45700" lIns="91425" spcFirstLastPara="1" rIns="91425" wrap="square" tIns="45700">
            <a:normAutofit/>
          </a:bodyPr>
          <a:lstStyle/>
          <a:p>
            <a:pPr indent="-287338" lvl="0" marL="352425" rtl="0" algn="l">
              <a:lnSpc>
                <a:spcPct val="90000"/>
              </a:lnSpc>
              <a:spcBef>
                <a:spcPts val="0"/>
              </a:spcBef>
              <a:spcAft>
                <a:spcPts val="0"/>
              </a:spcAft>
              <a:buSzPts val="3200"/>
              <a:buFont typeface="Noto Sans Symbols"/>
              <a:buChar char="▪"/>
            </a:pPr>
            <a:r>
              <a:rPr lang="en-US" sz="3200"/>
              <a:t>transfer packet from input link to appropriate output link</a:t>
            </a:r>
            <a:endParaRPr/>
          </a:p>
          <a:p>
            <a:pPr indent="-109538" lvl="0" marL="352425" rtl="0" algn="l">
              <a:lnSpc>
                <a:spcPct val="90000"/>
              </a:lnSpc>
              <a:spcBef>
                <a:spcPts val="1000"/>
              </a:spcBef>
              <a:spcAft>
                <a:spcPts val="0"/>
              </a:spcAft>
              <a:buSzPts val="2800"/>
              <a:buFont typeface="Noto Sans Symbols"/>
              <a:buNone/>
            </a:pPr>
            <a:r>
              <a:t/>
            </a:r>
            <a:endParaRPr/>
          </a:p>
        </p:txBody>
      </p:sp>
      <p:sp>
        <p:nvSpPr>
          <p:cNvPr id="532" name="Google Shape;532;p17"/>
          <p:cNvSpPr txBox="1"/>
          <p:nvPr/>
        </p:nvSpPr>
        <p:spPr>
          <a:xfrm>
            <a:off x="805070" y="1889680"/>
            <a:ext cx="11035748" cy="2317887"/>
          </a:xfrm>
          <a:prstGeom prst="rect">
            <a:avLst/>
          </a:prstGeom>
          <a:noFill/>
          <a:ln>
            <a:noFill/>
          </a:ln>
        </p:spPr>
        <p:txBody>
          <a:bodyPr anchorCtr="0" anchor="t" bIns="45700" lIns="91425" spcFirstLastPara="1" rIns="91425" wrap="square" tIns="45700">
            <a:normAutofit/>
          </a:bodyPr>
          <a:lstStyle/>
          <a:p>
            <a:pPr indent="-287338"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A3"/>
                </a:solidFill>
                <a:latin typeface="Calibri"/>
                <a:ea typeface="Calibri"/>
                <a:cs typeface="Calibri"/>
                <a:sym typeface="Calibri"/>
              </a:rPr>
              <a:t>switching rate: </a:t>
            </a:r>
            <a:r>
              <a:rPr b="0" i="0" lang="en-US" sz="3200" u="none" cap="none" strike="noStrike">
                <a:solidFill>
                  <a:srgbClr val="000000"/>
                </a:solidFill>
                <a:latin typeface="Calibri"/>
                <a:ea typeface="Calibri"/>
                <a:cs typeface="Calibri"/>
                <a:sym typeface="Calibri"/>
              </a:rPr>
              <a:t>rate at which packets can be transfer from inputs to outputs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often measured as multiple of input/output line rate</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 inputs: switching rate N times line rate desirable</a:t>
            </a:r>
            <a:endParaRPr/>
          </a:p>
        </p:txBody>
      </p:sp>
      <p:sp>
        <p:nvSpPr>
          <p:cNvPr id="533" name="Google Shape;533;p1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18"/>
          <p:cNvSpPr txBox="1"/>
          <p:nvPr>
            <p:ph idx="1" type="body"/>
          </p:nvPr>
        </p:nvSpPr>
        <p:spPr>
          <a:xfrm>
            <a:off x="811695" y="1472236"/>
            <a:ext cx="11287539" cy="2768460"/>
          </a:xfrm>
          <a:prstGeom prst="rect">
            <a:avLst/>
          </a:prstGeom>
          <a:noFill/>
          <a:ln>
            <a:noFill/>
          </a:ln>
        </p:spPr>
        <p:txBody>
          <a:bodyPr anchorCtr="0" anchor="t" bIns="45700" lIns="91425" spcFirstLastPara="1" rIns="91425" wrap="square" tIns="45700">
            <a:normAutofit/>
          </a:bodyPr>
          <a:lstStyle/>
          <a:p>
            <a:pPr indent="-234950" lvl="0" marL="234950" rtl="0" algn="l">
              <a:lnSpc>
                <a:spcPct val="90000"/>
              </a:lnSpc>
              <a:spcBef>
                <a:spcPts val="0"/>
              </a:spcBef>
              <a:spcAft>
                <a:spcPts val="0"/>
              </a:spcAft>
              <a:buSzPts val="3200"/>
              <a:buNone/>
            </a:pPr>
            <a:r>
              <a:rPr lang="en-US" sz="3200">
                <a:solidFill>
                  <a:srgbClr val="C00000"/>
                </a:solidFill>
              </a:rPr>
              <a:t>first generation routers:</a:t>
            </a:r>
            <a:endParaRPr/>
          </a:p>
          <a:p>
            <a:pPr indent="-287338" lvl="0" marL="404813" rtl="0" algn="l">
              <a:lnSpc>
                <a:spcPct val="90000"/>
              </a:lnSpc>
              <a:spcBef>
                <a:spcPts val="1000"/>
              </a:spcBef>
              <a:spcAft>
                <a:spcPts val="0"/>
              </a:spcAft>
              <a:buSzPts val="2800"/>
              <a:buChar char="▪"/>
            </a:pPr>
            <a:r>
              <a:rPr lang="en-US"/>
              <a:t>traditional computers with switching under direct control of CPU</a:t>
            </a:r>
            <a:endParaRPr/>
          </a:p>
          <a:p>
            <a:pPr indent="-287338" lvl="0" marL="404813" rtl="0" algn="l">
              <a:lnSpc>
                <a:spcPct val="90000"/>
              </a:lnSpc>
              <a:spcBef>
                <a:spcPts val="1000"/>
              </a:spcBef>
              <a:spcAft>
                <a:spcPts val="0"/>
              </a:spcAft>
              <a:buSzPts val="2800"/>
              <a:buChar char="▪"/>
            </a:pPr>
            <a:r>
              <a:rPr lang="en-US"/>
              <a:t>packet copied to system’s memory</a:t>
            </a:r>
            <a:endParaRPr/>
          </a:p>
          <a:p>
            <a:pPr indent="-287338" lvl="0" marL="404813" rtl="0" algn="l">
              <a:lnSpc>
                <a:spcPct val="90000"/>
              </a:lnSpc>
              <a:spcBef>
                <a:spcPts val="1000"/>
              </a:spcBef>
              <a:spcAft>
                <a:spcPts val="0"/>
              </a:spcAft>
              <a:buSzPts val="2800"/>
              <a:buChar char="▪"/>
            </a:pPr>
            <a:r>
              <a:rPr lang="en-US"/>
              <a:t>speed limited by memory bandwidth (2 bus crossings per datagram)</a:t>
            </a:r>
            <a:endParaRPr sz="2000"/>
          </a:p>
        </p:txBody>
      </p:sp>
      <p:sp>
        <p:nvSpPr>
          <p:cNvPr id="540" name="Google Shape;540;p18"/>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Switching via memory</a:t>
            </a:r>
            <a:endParaRPr sz="4800"/>
          </a:p>
        </p:txBody>
      </p:sp>
      <p:grpSp>
        <p:nvGrpSpPr>
          <p:cNvPr id="541" name="Google Shape;541;p18"/>
          <p:cNvGrpSpPr/>
          <p:nvPr/>
        </p:nvGrpSpPr>
        <p:grpSpPr>
          <a:xfrm>
            <a:off x="2991749" y="4058753"/>
            <a:ext cx="6611937" cy="1787525"/>
            <a:chOff x="983" y="2540"/>
            <a:chExt cx="4165" cy="1126"/>
          </a:xfrm>
        </p:grpSpPr>
        <p:sp>
          <p:nvSpPr>
            <p:cNvPr id="542" name="Google Shape;542;p18"/>
            <p:cNvSpPr/>
            <p:nvPr/>
          </p:nvSpPr>
          <p:spPr>
            <a:xfrm>
              <a:off x="983" y="2542"/>
              <a:ext cx="766" cy="702"/>
            </a:xfrm>
            <a:prstGeom prst="rect">
              <a:avLst/>
            </a:prstGeom>
            <a:solidFill>
              <a:srgbClr val="FFFFFF"/>
            </a:solidFill>
            <a:ln cap="flat" cmpd="sng" w="285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3" name="Google Shape;543;p18"/>
            <p:cNvSpPr txBox="1"/>
            <p:nvPr/>
          </p:nvSpPr>
          <p:spPr>
            <a:xfrm>
              <a:off x="991" y="2557"/>
              <a:ext cx="708" cy="682"/>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input</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port</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(e.g.,</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Ethernet)</a:t>
              </a:r>
              <a:endParaRPr/>
            </a:p>
          </p:txBody>
        </p:sp>
        <p:sp>
          <p:nvSpPr>
            <p:cNvPr id="544" name="Google Shape;544;p18"/>
            <p:cNvSpPr txBox="1"/>
            <p:nvPr/>
          </p:nvSpPr>
          <p:spPr>
            <a:xfrm>
              <a:off x="2324" y="2773"/>
              <a:ext cx="636" cy="214"/>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memory</a:t>
              </a:r>
              <a:endParaRPr/>
            </a:p>
          </p:txBody>
        </p:sp>
        <p:sp>
          <p:nvSpPr>
            <p:cNvPr id="545" name="Google Shape;545;p18"/>
            <p:cNvSpPr/>
            <p:nvPr/>
          </p:nvSpPr>
          <p:spPr>
            <a:xfrm>
              <a:off x="2072" y="2542"/>
              <a:ext cx="1173" cy="688"/>
            </a:xfrm>
            <a:prstGeom prst="rect">
              <a:avLst/>
            </a:prstGeom>
            <a:no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6" name="Google Shape;546;p18"/>
            <p:cNvSpPr/>
            <p:nvPr/>
          </p:nvSpPr>
          <p:spPr>
            <a:xfrm>
              <a:off x="3557" y="2540"/>
              <a:ext cx="766" cy="702"/>
            </a:xfrm>
            <a:prstGeom prst="rect">
              <a:avLst/>
            </a:prstGeom>
            <a:solidFill>
              <a:srgbClr val="FFFFFF"/>
            </a:solidFill>
            <a:ln cap="flat" cmpd="sng" w="285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7" name="Google Shape;547;p18"/>
            <p:cNvSpPr txBox="1"/>
            <p:nvPr/>
          </p:nvSpPr>
          <p:spPr>
            <a:xfrm>
              <a:off x="3565" y="2555"/>
              <a:ext cx="708" cy="682"/>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output</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port</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(e.g.,</a:t>
              </a:r>
              <a:endParaRPr/>
            </a:p>
            <a:p>
              <a:pPr indent="0" lvl="0" marL="0" marR="0" rtl="0" algn="ctr">
                <a:lnSpc>
                  <a:spcPct val="9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Ethernet)</a:t>
              </a:r>
              <a:endParaRPr/>
            </a:p>
          </p:txBody>
        </p:sp>
        <p:cxnSp>
          <p:nvCxnSpPr>
            <p:cNvPr id="548" name="Google Shape;548;p18"/>
            <p:cNvCxnSpPr/>
            <p:nvPr/>
          </p:nvCxnSpPr>
          <p:spPr>
            <a:xfrm>
              <a:off x="983" y="3561"/>
              <a:ext cx="3337" cy="0"/>
            </a:xfrm>
            <a:prstGeom prst="straightConnector1">
              <a:avLst/>
            </a:prstGeom>
            <a:noFill/>
            <a:ln cap="flat" cmpd="sng" w="28575">
              <a:solidFill>
                <a:srgbClr val="000000"/>
              </a:solidFill>
              <a:prstDash val="solid"/>
              <a:round/>
              <a:headEnd len="med" w="med" type="none"/>
              <a:tailEnd len="med" w="med" type="none"/>
            </a:ln>
          </p:spPr>
        </p:cxnSp>
        <p:cxnSp>
          <p:nvCxnSpPr>
            <p:cNvPr id="549" name="Google Shape;549;p18"/>
            <p:cNvCxnSpPr/>
            <p:nvPr/>
          </p:nvCxnSpPr>
          <p:spPr>
            <a:xfrm>
              <a:off x="1370" y="3252"/>
              <a:ext cx="0" cy="316"/>
            </a:xfrm>
            <a:prstGeom prst="straightConnector1">
              <a:avLst/>
            </a:prstGeom>
            <a:noFill/>
            <a:ln cap="flat" cmpd="sng" w="28575">
              <a:solidFill>
                <a:srgbClr val="3333CC"/>
              </a:solidFill>
              <a:prstDash val="solid"/>
              <a:round/>
              <a:headEnd len="med" w="med" type="none"/>
              <a:tailEnd len="med" w="med" type="none"/>
            </a:ln>
          </p:spPr>
        </p:cxnSp>
        <p:cxnSp>
          <p:nvCxnSpPr>
            <p:cNvPr id="550" name="Google Shape;550;p18"/>
            <p:cNvCxnSpPr/>
            <p:nvPr/>
          </p:nvCxnSpPr>
          <p:spPr>
            <a:xfrm>
              <a:off x="3939" y="3242"/>
              <a:ext cx="0" cy="316"/>
            </a:xfrm>
            <a:prstGeom prst="straightConnector1">
              <a:avLst/>
            </a:prstGeom>
            <a:noFill/>
            <a:ln cap="flat" cmpd="sng" w="28575">
              <a:solidFill>
                <a:srgbClr val="3333CC"/>
              </a:solidFill>
              <a:prstDash val="solid"/>
              <a:round/>
              <a:headEnd len="med" w="med" type="none"/>
              <a:tailEnd len="med" w="med" type="none"/>
            </a:ln>
          </p:spPr>
        </p:cxnSp>
        <p:cxnSp>
          <p:nvCxnSpPr>
            <p:cNvPr id="551" name="Google Shape;551;p18"/>
            <p:cNvCxnSpPr/>
            <p:nvPr/>
          </p:nvCxnSpPr>
          <p:spPr>
            <a:xfrm>
              <a:off x="2665" y="3240"/>
              <a:ext cx="0" cy="316"/>
            </a:xfrm>
            <a:prstGeom prst="straightConnector1">
              <a:avLst/>
            </a:prstGeom>
            <a:noFill/>
            <a:ln cap="flat" cmpd="sng" w="28575">
              <a:solidFill>
                <a:srgbClr val="FF0000"/>
              </a:solidFill>
              <a:prstDash val="solid"/>
              <a:round/>
              <a:headEnd len="med" w="med" type="none"/>
              <a:tailEnd len="med" w="med" type="none"/>
            </a:ln>
          </p:spPr>
        </p:cxnSp>
        <p:sp>
          <p:nvSpPr>
            <p:cNvPr id="552" name="Google Shape;552;p18"/>
            <p:cNvSpPr txBox="1"/>
            <p:nvPr/>
          </p:nvSpPr>
          <p:spPr>
            <a:xfrm>
              <a:off x="4304" y="3435"/>
              <a:ext cx="844" cy="2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system bus</a:t>
              </a:r>
              <a:endParaRPr/>
            </a:p>
          </p:txBody>
        </p:sp>
      </p:grpSp>
      <p:pic>
        <p:nvPicPr>
          <p:cNvPr id="553" name="Google Shape;553;p18"/>
          <p:cNvPicPr preferRelativeResize="0"/>
          <p:nvPr/>
        </p:nvPicPr>
        <p:blipFill rotWithShape="1">
          <a:blip r:embed="rId3">
            <a:alphaModFix/>
          </a:blip>
          <a:srcRect b="0" l="0" r="0" t="0"/>
          <a:stretch/>
        </p:blipFill>
        <p:spPr>
          <a:xfrm>
            <a:off x="2556774" y="4252428"/>
            <a:ext cx="533400" cy="684213"/>
          </a:xfrm>
          <a:prstGeom prst="rect">
            <a:avLst/>
          </a:prstGeom>
          <a:noFill/>
          <a:ln>
            <a:noFill/>
          </a:ln>
        </p:spPr>
      </p:pic>
      <p:pic>
        <p:nvPicPr>
          <p:cNvPr id="554" name="Google Shape;554;p18"/>
          <p:cNvPicPr preferRelativeResize="0"/>
          <p:nvPr/>
        </p:nvPicPr>
        <p:blipFill rotWithShape="1">
          <a:blip r:embed="rId3">
            <a:alphaModFix/>
          </a:blip>
          <a:srcRect b="0" l="0" r="0" t="0"/>
          <a:stretch/>
        </p:blipFill>
        <p:spPr>
          <a:xfrm>
            <a:off x="8195574" y="4215916"/>
            <a:ext cx="533400" cy="684212"/>
          </a:xfrm>
          <a:prstGeom prst="rect">
            <a:avLst/>
          </a:prstGeom>
          <a:noFill/>
          <a:ln>
            <a:noFill/>
          </a:ln>
        </p:spPr>
      </p:pic>
      <p:sp>
        <p:nvSpPr>
          <p:cNvPr id="555" name="Google Shape;555;p18"/>
          <p:cNvSpPr/>
          <p:nvPr/>
        </p:nvSpPr>
        <p:spPr>
          <a:xfrm>
            <a:off x="1809061" y="4487378"/>
            <a:ext cx="434975" cy="222250"/>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6" name="Google Shape;556;p18"/>
          <p:cNvSpPr/>
          <p:nvPr/>
        </p:nvSpPr>
        <p:spPr>
          <a:xfrm>
            <a:off x="1821761" y="4496903"/>
            <a:ext cx="446088" cy="212725"/>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7" name="Google Shape;557;p1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56"/>
                                        </p:tgtEl>
                                        <p:attrNameLst>
                                          <p:attrName>style.visibility</p:attrName>
                                        </p:attrNameLst>
                                      </p:cBhvr>
                                      <p:to>
                                        <p:strVal val="visible"/>
                                      </p:to>
                                    </p:set>
                                    <p:animEffect filter="fade" transition="in">
                                      <p:cBhvr>
                                        <p:cTn dur="500"/>
                                        <p:tgtEl>
                                          <p:spTgt spid="556"/>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555"/>
                                        </p:tgtEl>
                                      </p:cBhvr>
                                    </p:animEffect>
                                    <p:set>
                                      <p:cBhvr>
                                        <p:cTn dur="1" fill="hold">
                                          <p:stCondLst>
                                            <p:cond delay="500"/>
                                          </p:stCondLst>
                                        </p:cTn>
                                        <p:tgtEl>
                                          <p:spTgt spid="55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19"/>
          <p:cNvSpPr txBox="1"/>
          <p:nvPr>
            <p:ph idx="1" type="body"/>
          </p:nvPr>
        </p:nvSpPr>
        <p:spPr>
          <a:xfrm>
            <a:off x="771940" y="1405975"/>
            <a:ext cx="10574934" cy="2768460"/>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3200"/>
              <a:buFont typeface="Noto Sans Symbols"/>
              <a:buChar char="▪"/>
            </a:pPr>
            <a:r>
              <a:rPr lang="en-US" sz="3200"/>
              <a:t>datagram from input port memory to output port memory via a shared bus</a:t>
            </a:r>
            <a:endParaRPr/>
          </a:p>
          <a:p>
            <a:pPr indent="-222250" lvl="0" marL="352425" rtl="0" algn="l">
              <a:lnSpc>
                <a:spcPct val="90000"/>
              </a:lnSpc>
              <a:spcBef>
                <a:spcPts val="1000"/>
              </a:spcBef>
              <a:spcAft>
                <a:spcPts val="0"/>
              </a:spcAft>
              <a:buSzPts val="3200"/>
              <a:buFont typeface="Noto Sans Symbols"/>
              <a:buChar char="▪"/>
            </a:pPr>
            <a:r>
              <a:rPr i="1" lang="en-US" sz="3200">
                <a:solidFill>
                  <a:srgbClr val="CC0000"/>
                </a:solidFill>
              </a:rPr>
              <a:t>bus contention:</a:t>
            </a:r>
            <a:r>
              <a:rPr lang="en-US" sz="3200"/>
              <a:t>  switching speed limited by bus bandwidth</a:t>
            </a:r>
            <a:endParaRPr/>
          </a:p>
          <a:p>
            <a:pPr indent="-222250" lvl="0" marL="352425" rtl="0" algn="l">
              <a:lnSpc>
                <a:spcPct val="90000"/>
              </a:lnSpc>
              <a:spcBef>
                <a:spcPts val="1000"/>
              </a:spcBef>
              <a:spcAft>
                <a:spcPts val="0"/>
              </a:spcAft>
              <a:buSzPts val="3200"/>
              <a:buFont typeface="Noto Sans Symbols"/>
              <a:buChar char="▪"/>
            </a:pPr>
            <a:r>
              <a:rPr lang="en-US" sz="3200"/>
              <a:t>32 Gbps bus, Cisco 5600: sufficient speed for access routers</a:t>
            </a:r>
            <a:endParaRPr/>
          </a:p>
        </p:txBody>
      </p:sp>
      <p:sp>
        <p:nvSpPr>
          <p:cNvPr id="564" name="Google Shape;564;p19"/>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Switching via a bus</a:t>
            </a:r>
            <a:endParaRPr sz="4800"/>
          </a:p>
        </p:txBody>
      </p:sp>
      <p:grpSp>
        <p:nvGrpSpPr>
          <p:cNvPr id="565" name="Google Shape;565;p19"/>
          <p:cNvGrpSpPr/>
          <p:nvPr/>
        </p:nvGrpSpPr>
        <p:grpSpPr>
          <a:xfrm>
            <a:off x="4078698" y="4298863"/>
            <a:ext cx="5296665" cy="1766337"/>
            <a:chOff x="4336991" y="4484392"/>
            <a:chExt cx="2903568" cy="1047064"/>
          </a:xfrm>
        </p:grpSpPr>
        <p:grpSp>
          <p:nvGrpSpPr>
            <p:cNvPr id="566" name="Google Shape;566;p19"/>
            <p:cNvGrpSpPr/>
            <p:nvPr/>
          </p:nvGrpSpPr>
          <p:grpSpPr>
            <a:xfrm>
              <a:off x="4769281" y="4484392"/>
              <a:ext cx="1093120" cy="215900"/>
              <a:chOff x="876" y="2800"/>
              <a:chExt cx="788" cy="175"/>
            </a:xfrm>
          </p:grpSpPr>
          <p:sp>
            <p:nvSpPr>
              <p:cNvPr id="567" name="Google Shape;567;p19"/>
              <p:cNvSpPr/>
              <p:nvPr/>
            </p:nvSpPr>
            <p:spPr>
              <a:xfrm>
                <a:off x="925" y="2800"/>
                <a:ext cx="485" cy="175"/>
              </a:xfrm>
              <a:prstGeom prst="rect">
                <a:avLst/>
              </a:prstGeom>
              <a:solidFill>
                <a:srgbClr val="FFFFFF"/>
              </a:solidFill>
              <a:ln cap="flat" cmpd="sng" w="2540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8" name="Google Shape;568;p19"/>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9" name="Google Shape;569;p19"/>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0" name="Google Shape;570;p19"/>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571" name="Google Shape;571;p19"/>
              <p:cNvCxnSpPr/>
              <p:nvPr/>
            </p:nvCxnSpPr>
            <p:spPr>
              <a:xfrm>
                <a:off x="876" y="2887"/>
                <a:ext cx="788" cy="0"/>
              </a:xfrm>
              <a:prstGeom prst="straightConnector1">
                <a:avLst/>
              </a:prstGeom>
              <a:noFill/>
              <a:ln cap="flat" cmpd="sng" w="19050">
                <a:solidFill>
                  <a:srgbClr val="000000"/>
                </a:solidFill>
                <a:prstDash val="solid"/>
                <a:round/>
                <a:headEnd len="med" w="med" type="none"/>
                <a:tailEnd len="med" w="med" type="triangle"/>
              </a:ln>
            </p:spPr>
          </p:cxnSp>
        </p:grpSp>
        <p:grpSp>
          <p:nvGrpSpPr>
            <p:cNvPr id="572" name="Google Shape;572;p19"/>
            <p:cNvGrpSpPr/>
            <p:nvPr/>
          </p:nvGrpSpPr>
          <p:grpSpPr>
            <a:xfrm>
              <a:off x="4767694" y="4879680"/>
              <a:ext cx="1094506" cy="215900"/>
              <a:chOff x="876" y="2800"/>
              <a:chExt cx="789" cy="175"/>
            </a:xfrm>
          </p:grpSpPr>
          <p:sp>
            <p:nvSpPr>
              <p:cNvPr id="573" name="Google Shape;573;p19"/>
              <p:cNvSpPr/>
              <p:nvPr/>
            </p:nvSpPr>
            <p:spPr>
              <a:xfrm>
                <a:off x="925" y="2800"/>
                <a:ext cx="485" cy="175"/>
              </a:xfrm>
              <a:prstGeom prst="rect">
                <a:avLst/>
              </a:prstGeom>
              <a:solidFill>
                <a:srgbClr val="FFFFFF"/>
              </a:solidFill>
              <a:ln cap="flat" cmpd="sng" w="2540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4" name="Google Shape;574;p19"/>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5" name="Google Shape;575;p19"/>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6" name="Google Shape;576;p19"/>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577" name="Google Shape;577;p19"/>
              <p:cNvCxnSpPr/>
              <p:nvPr/>
            </p:nvCxnSpPr>
            <p:spPr>
              <a:xfrm>
                <a:off x="876" y="2887"/>
                <a:ext cx="789" cy="0"/>
              </a:xfrm>
              <a:prstGeom prst="straightConnector1">
                <a:avLst/>
              </a:prstGeom>
              <a:noFill/>
              <a:ln cap="flat" cmpd="sng" w="19050">
                <a:solidFill>
                  <a:srgbClr val="000000"/>
                </a:solidFill>
                <a:prstDash val="solid"/>
                <a:round/>
                <a:headEnd len="med" w="med" type="none"/>
                <a:tailEnd len="med" w="med" type="triangle"/>
              </a:ln>
            </p:spPr>
          </p:cxnSp>
        </p:grpSp>
        <p:grpSp>
          <p:nvGrpSpPr>
            <p:cNvPr id="578" name="Google Shape;578;p19"/>
            <p:cNvGrpSpPr/>
            <p:nvPr/>
          </p:nvGrpSpPr>
          <p:grpSpPr>
            <a:xfrm>
              <a:off x="4762932" y="5306717"/>
              <a:ext cx="1079248" cy="215900"/>
              <a:chOff x="876" y="2800"/>
              <a:chExt cx="778" cy="175"/>
            </a:xfrm>
          </p:grpSpPr>
          <p:sp>
            <p:nvSpPr>
              <p:cNvPr id="579" name="Google Shape;579;p19"/>
              <p:cNvSpPr/>
              <p:nvPr/>
            </p:nvSpPr>
            <p:spPr>
              <a:xfrm>
                <a:off x="925" y="2800"/>
                <a:ext cx="485" cy="175"/>
              </a:xfrm>
              <a:prstGeom prst="rect">
                <a:avLst/>
              </a:prstGeom>
              <a:solidFill>
                <a:srgbClr val="FFFFFF"/>
              </a:solidFill>
              <a:ln cap="flat" cmpd="sng" w="2540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0" name="Google Shape;580;p19"/>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1" name="Google Shape;581;p19"/>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2" name="Google Shape;582;p19"/>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583" name="Google Shape;583;p19"/>
              <p:cNvCxnSpPr/>
              <p:nvPr/>
            </p:nvCxnSpPr>
            <p:spPr>
              <a:xfrm>
                <a:off x="876" y="2887"/>
                <a:ext cx="778" cy="0"/>
              </a:xfrm>
              <a:prstGeom prst="straightConnector1">
                <a:avLst/>
              </a:prstGeom>
              <a:noFill/>
              <a:ln cap="flat" cmpd="sng" w="19050">
                <a:solidFill>
                  <a:srgbClr val="000000"/>
                </a:solidFill>
                <a:prstDash val="solid"/>
                <a:round/>
                <a:headEnd len="med" w="med" type="none"/>
                <a:tailEnd len="med" w="med" type="triangle"/>
              </a:ln>
            </p:spPr>
          </p:cxnSp>
        </p:grpSp>
        <p:cxnSp>
          <p:nvCxnSpPr>
            <p:cNvPr id="584" name="Google Shape;584;p19"/>
            <p:cNvCxnSpPr/>
            <p:nvPr/>
          </p:nvCxnSpPr>
          <p:spPr>
            <a:xfrm>
              <a:off x="5888461" y="4492509"/>
              <a:ext cx="0" cy="1003300"/>
            </a:xfrm>
            <a:prstGeom prst="straightConnector1">
              <a:avLst/>
            </a:prstGeom>
            <a:noFill/>
            <a:ln cap="flat" cmpd="sng" w="76200">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grpSp>
          <p:nvGrpSpPr>
            <p:cNvPr id="585" name="Google Shape;585;p19"/>
            <p:cNvGrpSpPr/>
            <p:nvPr/>
          </p:nvGrpSpPr>
          <p:grpSpPr>
            <a:xfrm>
              <a:off x="5956300" y="4501349"/>
              <a:ext cx="1030288" cy="215900"/>
              <a:chOff x="367" y="3463"/>
              <a:chExt cx="649" cy="136"/>
            </a:xfrm>
          </p:grpSpPr>
          <p:sp>
            <p:nvSpPr>
              <p:cNvPr id="586" name="Google Shape;586;p19"/>
              <p:cNvSpPr/>
              <p:nvPr/>
            </p:nvSpPr>
            <p:spPr>
              <a:xfrm>
                <a:off x="498" y="3463"/>
                <a:ext cx="424" cy="136"/>
              </a:xfrm>
              <a:prstGeom prst="rect">
                <a:avLst/>
              </a:prstGeom>
              <a:solidFill>
                <a:srgbClr val="FFFFFF"/>
              </a:solidFill>
              <a:ln cap="flat" cmpd="sng" w="2540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7" name="Google Shape;587;p19"/>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8" name="Google Shape;588;p19"/>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9" name="Google Shape;589;p19"/>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590" name="Google Shape;590;p19"/>
              <p:cNvCxnSpPr/>
              <p:nvPr/>
            </p:nvCxnSpPr>
            <p:spPr>
              <a:xfrm>
                <a:off x="367" y="3527"/>
                <a:ext cx="649" cy="0"/>
              </a:xfrm>
              <a:prstGeom prst="straightConnector1">
                <a:avLst/>
              </a:prstGeom>
              <a:noFill/>
              <a:ln cap="flat" cmpd="sng" w="19050">
                <a:solidFill>
                  <a:srgbClr val="000000"/>
                </a:solidFill>
                <a:prstDash val="solid"/>
                <a:round/>
                <a:headEnd len="med" w="med" type="none"/>
                <a:tailEnd len="med" w="med" type="triangle"/>
              </a:ln>
            </p:spPr>
          </p:cxnSp>
        </p:grpSp>
        <p:grpSp>
          <p:nvGrpSpPr>
            <p:cNvPr id="591" name="Google Shape;591;p19"/>
            <p:cNvGrpSpPr/>
            <p:nvPr/>
          </p:nvGrpSpPr>
          <p:grpSpPr>
            <a:xfrm>
              <a:off x="5946775" y="4893462"/>
              <a:ext cx="1044574" cy="215900"/>
              <a:chOff x="358" y="3463"/>
              <a:chExt cx="658" cy="136"/>
            </a:xfrm>
          </p:grpSpPr>
          <p:sp>
            <p:nvSpPr>
              <p:cNvPr id="592" name="Google Shape;592;p19"/>
              <p:cNvSpPr/>
              <p:nvPr/>
            </p:nvSpPr>
            <p:spPr>
              <a:xfrm>
                <a:off x="498" y="3463"/>
                <a:ext cx="424" cy="136"/>
              </a:xfrm>
              <a:prstGeom prst="rect">
                <a:avLst/>
              </a:prstGeom>
              <a:solidFill>
                <a:srgbClr val="FFFFFF"/>
              </a:solidFill>
              <a:ln cap="flat" cmpd="sng" w="2540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3" name="Google Shape;593;p19"/>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4" name="Google Shape;594;p19"/>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5" name="Google Shape;595;p19"/>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596" name="Google Shape;596;p19"/>
              <p:cNvCxnSpPr/>
              <p:nvPr/>
            </p:nvCxnSpPr>
            <p:spPr>
              <a:xfrm>
                <a:off x="358" y="3527"/>
                <a:ext cx="658" cy="0"/>
              </a:xfrm>
              <a:prstGeom prst="straightConnector1">
                <a:avLst/>
              </a:prstGeom>
              <a:noFill/>
              <a:ln cap="flat" cmpd="sng" w="19050">
                <a:solidFill>
                  <a:srgbClr val="000000"/>
                </a:solidFill>
                <a:prstDash val="solid"/>
                <a:round/>
                <a:headEnd len="med" w="med" type="none"/>
                <a:tailEnd len="med" w="med" type="triangle"/>
              </a:ln>
            </p:spPr>
          </p:cxnSp>
        </p:grpSp>
        <p:grpSp>
          <p:nvGrpSpPr>
            <p:cNvPr id="597" name="Google Shape;597;p19"/>
            <p:cNvGrpSpPr/>
            <p:nvPr/>
          </p:nvGrpSpPr>
          <p:grpSpPr>
            <a:xfrm>
              <a:off x="5945368" y="5315556"/>
              <a:ext cx="1046163" cy="215900"/>
              <a:chOff x="357" y="3463"/>
              <a:chExt cx="659" cy="136"/>
            </a:xfrm>
          </p:grpSpPr>
          <p:sp>
            <p:nvSpPr>
              <p:cNvPr id="598" name="Google Shape;598;p19"/>
              <p:cNvSpPr/>
              <p:nvPr/>
            </p:nvSpPr>
            <p:spPr>
              <a:xfrm>
                <a:off x="498" y="3463"/>
                <a:ext cx="424" cy="136"/>
              </a:xfrm>
              <a:prstGeom prst="rect">
                <a:avLst/>
              </a:prstGeom>
              <a:solidFill>
                <a:srgbClr val="FFFFFF"/>
              </a:solidFill>
              <a:ln cap="flat" cmpd="sng" w="2540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9" name="Google Shape;599;p19"/>
              <p:cNvSpPr/>
              <p:nvPr/>
            </p:nvSpPr>
            <p:spPr>
              <a:xfrm>
                <a:off x="771" y="3500"/>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0" name="Google Shape;600;p19"/>
              <p:cNvSpPr/>
              <p:nvPr/>
            </p:nvSpPr>
            <p:spPr>
              <a:xfrm>
                <a:off x="644" y="3477"/>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1" name="Google Shape;601;p19"/>
              <p:cNvSpPr/>
              <p:nvPr/>
            </p:nvSpPr>
            <p:spPr>
              <a:xfrm>
                <a:off x="517" y="3480"/>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602" name="Google Shape;602;p19"/>
              <p:cNvCxnSpPr/>
              <p:nvPr/>
            </p:nvCxnSpPr>
            <p:spPr>
              <a:xfrm>
                <a:off x="357" y="3527"/>
                <a:ext cx="659" cy="0"/>
              </a:xfrm>
              <a:prstGeom prst="straightConnector1">
                <a:avLst/>
              </a:prstGeom>
              <a:noFill/>
              <a:ln cap="flat" cmpd="sng" w="19050">
                <a:solidFill>
                  <a:srgbClr val="000000"/>
                </a:solidFill>
                <a:prstDash val="solid"/>
                <a:round/>
                <a:headEnd len="med" w="med" type="none"/>
                <a:tailEnd len="med" w="med" type="triangle"/>
              </a:ln>
            </p:spPr>
          </p:cxnSp>
        </p:grpSp>
        <p:sp>
          <p:nvSpPr>
            <p:cNvPr id="603" name="Google Shape;603;p19"/>
            <p:cNvSpPr/>
            <p:nvPr/>
          </p:nvSpPr>
          <p:spPr>
            <a:xfrm>
              <a:off x="4336991" y="4553666"/>
              <a:ext cx="2903568" cy="396590"/>
            </a:xfrm>
            <a:custGeom>
              <a:rect b="b" l="l" r="r" t="t"/>
              <a:pathLst>
                <a:path extrusionOk="0" h="10156" w="10000">
                  <a:moveTo>
                    <a:pt x="0" y="3"/>
                  </a:moveTo>
                  <a:lnTo>
                    <a:pt x="5351" y="0"/>
                  </a:lnTo>
                  <a:cubicBezTo>
                    <a:pt x="5359" y="3359"/>
                    <a:pt x="5357" y="6797"/>
                    <a:pt x="5365" y="10156"/>
                  </a:cubicBezTo>
                  <a:lnTo>
                    <a:pt x="10000" y="9777"/>
                  </a:lnTo>
                </a:path>
              </a:pathLst>
            </a:cu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sp>
        <p:nvSpPr>
          <p:cNvPr id="604" name="Google Shape;604;p1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20"/>
          <p:cNvSpPr txBox="1"/>
          <p:nvPr>
            <p:ph idx="1" type="body"/>
          </p:nvPr>
        </p:nvSpPr>
        <p:spPr>
          <a:xfrm>
            <a:off x="771940" y="1405975"/>
            <a:ext cx="6477000" cy="5100842"/>
          </a:xfrm>
          <a:prstGeom prst="rect">
            <a:avLst/>
          </a:prstGeom>
          <a:noFill/>
          <a:ln>
            <a:noFill/>
          </a:ln>
        </p:spPr>
        <p:txBody>
          <a:bodyPr anchorCtr="0" anchor="t" bIns="45700" lIns="91425" spcFirstLastPara="1" rIns="91425" wrap="square" tIns="45700">
            <a:normAutofit/>
          </a:bodyPr>
          <a:lstStyle/>
          <a:p>
            <a:pPr indent="-287338" lvl="0" marL="352425" rtl="0" algn="l">
              <a:lnSpc>
                <a:spcPct val="90000"/>
              </a:lnSpc>
              <a:spcBef>
                <a:spcPts val="0"/>
              </a:spcBef>
              <a:spcAft>
                <a:spcPts val="0"/>
              </a:spcAft>
              <a:buSzPts val="3200"/>
              <a:buFont typeface="Noto Sans Symbols"/>
              <a:buChar char="▪"/>
            </a:pPr>
            <a:r>
              <a:rPr lang="en-US" sz="3200"/>
              <a:t>Crossbar, Clos networks, other interconnection nets initially developed to connect processors in multiprocessor</a:t>
            </a:r>
            <a:endParaRPr/>
          </a:p>
        </p:txBody>
      </p:sp>
      <p:sp>
        <p:nvSpPr>
          <p:cNvPr id="611" name="Google Shape;611;p20"/>
          <p:cNvSpPr txBox="1"/>
          <p:nvPr>
            <p:ph type="title"/>
          </p:nvPr>
        </p:nvSpPr>
        <p:spPr>
          <a:xfrm>
            <a:off x="838200" y="398813"/>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Switching via interconnection network</a:t>
            </a:r>
            <a:endParaRPr/>
          </a:p>
        </p:txBody>
      </p:sp>
      <p:grpSp>
        <p:nvGrpSpPr>
          <p:cNvPr id="612" name="Google Shape;612;p20"/>
          <p:cNvGrpSpPr/>
          <p:nvPr/>
        </p:nvGrpSpPr>
        <p:grpSpPr>
          <a:xfrm>
            <a:off x="8083826" y="1590262"/>
            <a:ext cx="2315645" cy="1855304"/>
            <a:chOff x="7417077" y="4485654"/>
            <a:chExt cx="2109788" cy="2066925"/>
          </a:xfrm>
        </p:grpSpPr>
        <p:grpSp>
          <p:nvGrpSpPr>
            <p:cNvPr id="613" name="Google Shape;613;p20"/>
            <p:cNvGrpSpPr/>
            <p:nvPr/>
          </p:nvGrpSpPr>
          <p:grpSpPr>
            <a:xfrm>
              <a:off x="7469465" y="4485654"/>
              <a:ext cx="890587" cy="215900"/>
              <a:chOff x="876" y="2800"/>
              <a:chExt cx="642" cy="175"/>
            </a:xfrm>
          </p:grpSpPr>
          <p:sp>
            <p:nvSpPr>
              <p:cNvPr id="614" name="Google Shape;614;p20"/>
              <p:cNvSpPr/>
              <p:nvPr/>
            </p:nvSpPr>
            <p:spPr>
              <a:xfrm>
                <a:off x="925" y="2800"/>
                <a:ext cx="485" cy="175"/>
              </a:xfrm>
              <a:prstGeom prst="rect">
                <a:avLst/>
              </a:prstGeom>
              <a:solidFill>
                <a:srgbClr val="FFFFFF"/>
              </a:solidFill>
              <a:ln cap="flat" cmpd="sng" w="285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5" name="Google Shape;615;p20"/>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6" name="Google Shape;616;p20"/>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7" name="Google Shape;617;p20"/>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618" name="Google Shape;618;p20"/>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619" name="Google Shape;619;p20"/>
            <p:cNvGrpSpPr/>
            <p:nvPr/>
          </p:nvGrpSpPr>
          <p:grpSpPr>
            <a:xfrm>
              <a:off x="7445652" y="4880941"/>
              <a:ext cx="890588" cy="215900"/>
              <a:chOff x="876" y="2800"/>
              <a:chExt cx="642" cy="175"/>
            </a:xfrm>
          </p:grpSpPr>
          <p:sp>
            <p:nvSpPr>
              <p:cNvPr id="620" name="Google Shape;620;p20"/>
              <p:cNvSpPr/>
              <p:nvPr/>
            </p:nvSpPr>
            <p:spPr>
              <a:xfrm>
                <a:off x="925" y="2800"/>
                <a:ext cx="485" cy="175"/>
              </a:xfrm>
              <a:prstGeom prst="rect">
                <a:avLst/>
              </a:prstGeom>
              <a:solidFill>
                <a:srgbClr val="FFFFFF"/>
              </a:solidFill>
              <a:ln cap="flat" cmpd="sng" w="285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1" name="Google Shape;621;p20"/>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2" name="Google Shape;622;p20"/>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3" name="Google Shape;623;p20"/>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624" name="Google Shape;624;p20"/>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625" name="Google Shape;625;p20"/>
            <p:cNvGrpSpPr/>
            <p:nvPr/>
          </p:nvGrpSpPr>
          <p:grpSpPr>
            <a:xfrm>
              <a:off x="7440890" y="5307979"/>
              <a:ext cx="890587" cy="215900"/>
              <a:chOff x="876" y="2800"/>
              <a:chExt cx="642" cy="175"/>
            </a:xfrm>
          </p:grpSpPr>
          <p:sp>
            <p:nvSpPr>
              <p:cNvPr id="626" name="Google Shape;626;p20"/>
              <p:cNvSpPr/>
              <p:nvPr/>
            </p:nvSpPr>
            <p:spPr>
              <a:xfrm>
                <a:off x="925" y="2800"/>
                <a:ext cx="485" cy="175"/>
              </a:xfrm>
              <a:prstGeom prst="rect">
                <a:avLst/>
              </a:prstGeom>
              <a:solidFill>
                <a:srgbClr val="FFFFFF"/>
              </a:solidFill>
              <a:ln cap="flat" cmpd="sng" w="285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7" name="Google Shape;627;p20"/>
              <p:cNvSpPr/>
              <p:nvPr/>
            </p:nvSpPr>
            <p:spPr>
              <a:xfrm>
                <a:off x="945" y="2849"/>
                <a:ext cx="151" cy="78"/>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8" name="Google Shape;628;p20"/>
              <p:cNvSpPr/>
              <p:nvPr/>
            </p:nvSpPr>
            <p:spPr>
              <a:xfrm>
                <a:off x="1117" y="2818"/>
                <a:ext cx="124" cy="13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9" name="Google Shape;629;p20"/>
              <p:cNvSpPr/>
              <p:nvPr/>
            </p:nvSpPr>
            <p:spPr>
              <a:xfrm>
                <a:off x="1263" y="2815"/>
                <a:ext cx="125" cy="13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630" name="Google Shape;630;p20"/>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631" name="Google Shape;631;p20"/>
            <p:cNvGrpSpPr/>
            <p:nvPr/>
          </p:nvGrpSpPr>
          <p:grpSpPr>
            <a:xfrm rot="5400000">
              <a:off x="8561665" y="5501654"/>
              <a:ext cx="895350" cy="1035050"/>
              <a:chOff x="2952" y="2778"/>
              <a:chExt cx="564" cy="652"/>
            </a:xfrm>
          </p:grpSpPr>
          <p:grpSp>
            <p:nvGrpSpPr>
              <p:cNvPr id="632" name="Google Shape;632;p20"/>
              <p:cNvGrpSpPr/>
              <p:nvPr/>
            </p:nvGrpSpPr>
            <p:grpSpPr>
              <a:xfrm>
                <a:off x="2952" y="2778"/>
                <a:ext cx="561" cy="136"/>
                <a:chOff x="453" y="3465"/>
                <a:chExt cx="561" cy="136"/>
              </a:xfrm>
            </p:grpSpPr>
            <p:sp>
              <p:nvSpPr>
                <p:cNvPr id="633" name="Google Shape;633;p20"/>
                <p:cNvSpPr/>
                <p:nvPr/>
              </p:nvSpPr>
              <p:spPr>
                <a:xfrm>
                  <a:off x="496" y="3465"/>
                  <a:ext cx="424" cy="136"/>
                </a:xfrm>
                <a:prstGeom prst="rect">
                  <a:avLst/>
                </a:prstGeom>
                <a:solidFill>
                  <a:srgbClr val="FFFFFF"/>
                </a:solidFill>
                <a:ln cap="flat" cmpd="sng" w="285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4" name="Google Shape;634;p20"/>
                <p:cNvSpPr/>
                <p:nvPr/>
              </p:nvSpPr>
              <p:spPr>
                <a:xfrm>
                  <a:off x="769" y="3504"/>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5" name="Google Shape;635;p20"/>
                <p:cNvSpPr/>
                <p:nvPr/>
              </p:nvSpPr>
              <p:spPr>
                <a:xfrm>
                  <a:off x="642" y="3479"/>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6" name="Google Shape;636;p20"/>
                <p:cNvSpPr/>
                <p:nvPr/>
              </p:nvSpPr>
              <p:spPr>
                <a:xfrm>
                  <a:off x="515" y="3484"/>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637" name="Google Shape;637;p20"/>
                <p:cNvCxnSpPr/>
                <p:nvPr/>
              </p:nvCxnSpPr>
              <p:spPr>
                <a:xfrm flipH="1" rot="10800000">
                  <a:off x="453" y="3529"/>
                  <a:ext cx="561" cy="4"/>
                </a:xfrm>
                <a:prstGeom prst="straightConnector1">
                  <a:avLst/>
                </a:prstGeom>
                <a:noFill/>
                <a:ln cap="flat" cmpd="sng" w="19050">
                  <a:solidFill>
                    <a:srgbClr val="000000"/>
                  </a:solidFill>
                  <a:prstDash val="solid"/>
                  <a:round/>
                  <a:headEnd len="med" w="med" type="none"/>
                  <a:tailEnd len="med" w="med" type="triangle"/>
                </a:ln>
              </p:spPr>
            </p:cxnSp>
          </p:grpSp>
          <p:grpSp>
            <p:nvGrpSpPr>
              <p:cNvPr id="638" name="Google Shape;638;p20"/>
              <p:cNvGrpSpPr/>
              <p:nvPr/>
            </p:nvGrpSpPr>
            <p:grpSpPr>
              <a:xfrm>
                <a:off x="2955" y="3025"/>
                <a:ext cx="561" cy="136"/>
                <a:chOff x="453" y="3465"/>
                <a:chExt cx="561" cy="136"/>
              </a:xfrm>
            </p:grpSpPr>
            <p:sp>
              <p:nvSpPr>
                <p:cNvPr id="639" name="Google Shape;639;p20"/>
                <p:cNvSpPr/>
                <p:nvPr/>
              </p:nvSpPr>
              <p:spPr>
                <a:xfrm>
                  <a:off x="496" y="3465"/>
                  <a:ext cx="424" cy="136"/>
                </a:xfrm>
                <a:prstGeom prst="rect">
                  <a:avLst/>
                </a:prstGeom>
                <a:solidFill>
                  <a:srgbClr val="FFFFFF"/>
                </a:solidFill>
                <a:ln cap="flat" cmpd="sng" w="285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0" name="Google Shape;640;p20"/>
                <p:cNvSpPr/>
                <p:nvPr/>
              </p:nvSpPr>
              <p:spPr>
                <a:xfrm>
                  <a:off x="769" y="3504"/>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1" name="Google Shape;641;p20"/>
                <p:cNvSpPr/>
                <p:nvPr/>
              </p:nvSpPr>
              <p:spPr>
                <a:xfrm>
                  <a:off x="642" y="3479"/>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2" name="Google Shape;642;p20"/>
                <p:cNvSpPr/>
                <p:nvPr/>
              </p:nvSpPr>
              <p:spPr>
                <a:xfrm>
                  <a:off x="515" y="3484"/>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643" name="Google Shape;643;p20"/>
                <p:cNvCxnSpPr/>
                <p:nvPr/>
              </p:nvCxnSpPr>
              <p:spPr>
                <a:xfrm flipH="1" rot="10800000">
                  <a:off x="453" y="3529"/>
                  <a:ext cx="561" cy="4"/>
                </a:xfrm>
                <a:prstGeom prst="straightConnector1">
                  <a:avLst/>
                </a:prstGeom>
                <a:noFill/>
                <a:ln cap="flat" cmpd="sng" w="19050">
                  <a:solidFill>
                    <a:srgbClr val="000000"/>
                  </a:solidFill>
                  <a:prstDash val="solid"/>
                  <a:round/>
                  <a:headEnd len="med" w="med" type="none"/>
                  <a:tailEnd len="med" w="med" type="triangle"/>
                </a:ln>
              </p:spPr>
            </p:cxnSp>
          </p:grpSp>
          <p:grpSp>
            <p:nvGrpSpPr>
              <p:cNvPr id="644" name="Google Shape;644;p20"/>
              <p:cNvGrpSpPr/>
              <p:nvPr/>
            </p:nvGrpSpPr>
            <p:grpSpPr>
              <a:xfrm>
                <a:off x="2952" y="3294"/>
                <a:ext cx="561" cy="136"/>
                <a:chOff x="453" y="3465"/>
                <a:chExt cx="561" cy="136"/>
              </a:xfrm>
            </p:grpSpPr>
            <p:sp>
              <p:nvSpPr>
                <p:cNvPr id="645" name="Google Shape;645;p20"/>
                <p:cNvSpPr/>
                <p:nvPr/>
              </p:nvSpPr>
              <p:spPr>
                <a:xfrm>
                  <a:off x="496" y="3465"/>
                  <a:ext cx="424" cy="136"/>
                </a:xfrm>
                <a:prstGeom prst="rect">
                  <a:avLst/>
                </a:prstGeom>
                <a:solidFill>
                  <a:srgbClr val="FFFFFF"/>
                </a:solidFill>
                <a:ln cap="flat" cmpd="sng" w="28575">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6" name="Google Shape;646;p20"/>
                <p:cNvSpPr/>
                <p:nvPr/>
              </p:nvSpPr>
              <p:spPr>
                <a:xfrm>
                  <a:off x="769" y="3504"/>
                  <a:ext cx="132" cy="61"/>
                </a:xfrm>
                <a:prstGeom prst="rect">
                  <a:avLst/>
                </a:prstGeom>
                <a:solidFill>
                  <a:srgbClr val="FFFFFF"/>
                </a:solidFill>
                <a:ln cap="flat" cmpd="sng" w="1905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7" name="Google Shape;647;p20"/>
                <p:cNvSpPr/>
                <p:nvPr/>
              </p:nvSpPr>
              <p:spPr>
                <a:xfrm>
                  <a:off x="642" y="3479"/>
                  <a:ext cx="108" cy="104"/>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48" name="Google Shape;648;p20"/>
                <p:cNvSpPr/>
                <p:nvPr/>
              </p:nvSpPr>
              <p:spPr>
                <a:xfrm>
                  <a:off x="515" y="3484"/>
                  <a:ext cx="108" cy="105"/>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649" name="Google Shape;649;p20"/>
                <p:cNvCxnSpPr/>
                <p:nvPr/>
              </p:nvCxnSpPr>
              <p:spPr>
                <a:xfrm flipH="1" rot="10800000">
                  <a:off x="453" y="3529"/>
                  <a:ext cx="561" cy="4"/>
                </a:xfrm>
                <a:prstGeom prst="straightConnector1">
                  <a:avLst/>
                </a:prstGeom>
                <a:noFill/>
                <a:ln cap="flat" cmpd="sng" w="19050">
                  <a:solidFill>
                    <a:srgbClr val="000000"/>
                  </a:solidFill>
                  <a:prstDash val="solid"/>
                  <a:round/>
                  <a:headEnd len="med" w="med" type="none"/>
                  <a:tailEnd len="med" w="med" type="triangle"/>
                </a:ln>
              </p:spPr>
            </p:cxnSp>
          </p:grpSp>
        </p:grpSp>
        <p:cxnSp>
          <p:nvCxnSpPr>
            <p:cNvPr id="650" name="Google Shape;650;p20"/>
            <p:cNvCxnSpPr/>
            <p:nvPr/>
          </p:nvCxnSpPr>
          <p:spPr>
            <a:xfrm>
              <a:off x="8360052" y="4592016"/>
              <a:ext cx="1063625" cy="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651" name="Google Shape;651;p20"/>
            <p:cNvCxnSpPr/>
            <p:nvPr/>
          </p:nvCxnSpPr>
          <p:spPr>
            <a:xfrm flipH="1" rot="10800000">
              <a:off x="8321952" y="4979366"/>
              <a:ext cx="1111250" cy="3175"/>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652" name="Google Shape;652;p20"/>
            <p:cNvCxnSpPr/>
            <p:nvPr/>
          </p:nvCxnSpPr>
          <p:spPr>
            <a:xfrm>
              <a:off x="8321952" y="5411166"/>
              <a:ext cx="1101725" cy="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653" name="Google Shape;653;p20"/>
            <p:cNvCxnSpPr/>
            <p:nvPr/>
          </p:nvCxnSpPr>
          <p:spPr>
            <a:xfrm rot="10800000">
              <a:off x="8604527" y="4592016"/>
              <a:ext cx="0" cy="97790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654" name="Google Shape;654;p20"/>
            <p:cNvCxnSpPr/>
            <p:nvPr/>
          </p:nvCxnSpPr>
          <p:spPr>
            <a:xfrm rot="10800000">
              <a:off x="9026802" y="4592016"/>
              <a:ext cx="0" cy="97790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cxnSp>
          <p:nvCxnSpPr>
            <p:cNvPr id="655" name="Google Shape;655;p20"/>
            <p:cNvCxnSpPr/>
            <p:nvPr/>
          </p:nvCxnSpPr>
          <p:spPr>
            <a:xfrm rot="10800000">
              <a:off x="9423677" y="4582491"/>
              <a:ext cx="0" cy="977900"/>
            </a:xfrm>
            <a:prstGeom prst="straightConnector1">
              <a:avLst/>
            </a:prstGeom>
            <a:noFill/>
            <a:ln cap="flat" cmpd="sng" w="28575">
              <a:solidFill>
                <a:srgbClr val="FF0000"/>
              </a:solidFill>
              <a:prstDash val="solid"/>
              <a:round/>
              <a:headEnd len="med" w="med" type="none"/>
              <a:tailEnd len="med" w="med" type="none"/>
            </a:ln>
            <a:effectLst>
              <a:outerShdw blurRad="50800" rotWithShape="0" algn="tl" dir="2700000" dist="38100">
                <a:srgbClr val="000000">
                  <a:alpha val="40000"/>
                </a:srgbClr>
              </a:outerShdw>
            </a:effectLst>
          </p:spPr>
        </p:cxnSp>
        <p:sp>
          <p:nvSpPr>
            <p:cNvPr id="656" name="Google Shape;656;p20"/>
            <p:cNvSpPr/>
            <p:nvPr/>
          </p:nvSpPr>
          <p:spPr>
            <a:xfrm>
              <a:off x="8563252" y="4553916"/>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7" name="Google Shape;657;p20"/>
            <p:cNvSpPr/>
            <p:nvPr/>
          </p:nvSpPr>
          <p:spPr>
            <a:xfrm>
              <a:off x="8563252" y="493809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8" name="Google Shape;658;p20"/>
            <p:cNvSpPr/>
            <p:nvPr/>
          </p:nvSpPr>
          <p:spPr>
            <a:xfrm>
              <a:off x="8556902" y="536354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9" name="Google Shape;659;p20"/>
            <p:cNvSpPr/>
            <p:nvPr/>
          </p:nvSpPr>
          <p:spPr>
            <a:xfrm>
              <a:off x="8988702" y="4553916"/>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0" name="Google Shape;660;p20"/>
            <p:cNvSpPr/>
            <p:nvPr/>
          </p:nvSpPr>
          <p:spPr>
            <a:xfrm>
              <a:off x="8988702" y="493809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1" name="Google Shape;661;p20"/>
            <p:cNvSpPr/>
            <p:nvPr/>
          </p:nvSpPr>
          <p:spPr>
            <a:xfrm>
              <a:off x="8982352" y="536354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2" name="Google Shape;662;p20"/>
            <p:cNvSpPr/>
            <p:nvPr/>
          </p:nvSpPr>
          <p:spPr>
            <a:xfrm>
              <a:off x="9379227" y="4553916"/>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3" name="Google Shape;663;p20"/>
            <p:cNvSpPr/>
            <p:nvPr/>
          </p:nvSpPr>
          <p:spPr>
            <a:xfrm>
              <a:off x="9379227" y="493809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4" name="Google Shape;664;p20"/>
            <p:cNvSpPr/>
            <p:nvPr/>
          </p:nvSpPr>
          <p:spPr>
            <a:xfrm>
              <a:off x="9372877" y="5363541"/>
              <a:ext cx="88900" cy="88900"/>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5" name="Google Shape;665;p20"/>
            <p:cNvSpPr/>
            <p:nvPr/>
          </p:nvSpPr>
          <p:spPr>
            <a:xfrm>
              <a:off x="7417077" y="4538041"/>
              <a:ext cx="1543050" cy="2014538"/>
            </a:xfrm>
            <a:custGeom>
              <a:rect b="b" l="l" r="r" t="t"/>
              <a:pathLst>
                <a:path extrusionOk="0" h="1266" w="972">
                  <a:moveTo>
                    <a:pt x="0" y="3"/>
                  </a:moveTo>
                  <a:lnTo>
                    <a:pt x="969" y="0"/>
                  </a:lnTo>
                  <a:lnTo>
                    <a:pt x="972" y="1266"/>
                  </a:lnTo>
                </a:path>
              </a:pathLst>
            </a:custGeom>
            <a:noFill/>
            <a:ln cap="flat" cmpd="sng" w="38100">
              <a:solidFill>
                <a:srgbClr val="00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grpSp>
      <p:grpSp>
        <p:nvGrpSpPr>
          <p:cNvPr id="666" name="Google Shape;666;p20"/>
          <p:cNvGrpSpPr/>
          <p:nvPr/>
        </p:nvGrpSpPr>
        <p:grpSpPr>
          <a:xfrm>
            <a:off x="8097079" y="4019964"/>
            <a:ext cx="3244414" cy="2535302"/>
            <a:chOff x="8097079" y="4019964"/>
            <a:chExt cx="3244414" cy="2535302"/>
          </a:xfrm>
        </p:grpSpPr>
        <p:grpSp>
          <p:nvGrpSpPr>
            <p:cNvPr id="667" name="Google Shape;667;p20"/>
            <p:cNvGrpSpPr/>
            <p:nvPr/>
          </p:nvGrpSpPr>
          <p:grpSpPr>
            <a:xfrm>
              <a:off x="8169965" y="4019964"/>
              <a:ext cx="2682875" cy="1949450"/>
              <a:chOff x="7772400" y="4086225"/>
              <a:chExt cx="2682875" cy="1949450"/>
            </a:xfrm>
          </p:grpSpPr>
          <p:sp>
            <p:nvSpPr>
              <p:cNvPr id="668" name="Google Shape;668;p20"/>
              <p:cNvSpPr/>
              <p:nvPr/>
            </p:nvSpPr>
            <p:spPr>
              <a:xfrm>
                <a:off x="7778750" y="4194175"/>
                <a:ext cx="2676525" cy="479425"/>
              </a:xfrm>
              <a:custGeom>
                <a:rect b="b" l="l" r="r" t="t"/>
                <a:pathLst>
                  <a:path extrusionOk="0" h="479425" w="2676525">
                    <a:moveTo>
                      <a:pt x="0" y="476250"/>
                    </a:moveTo>
                    <a:lnTo>
                      <a:pt x="622300" y="479425"/>
                    </a:lnTo>
                    <a:lnTo>
                      <a:pt x="1028700" y="0"/>
                    </a:lnTo>
                    <a:lnTo>
                      <a:pt x="1644650" y="0"/>
                    </a:lnTo>
                    <a:lnTo>
                      <a:pt x="2054225" y="469900"/>
                    </a:lnTo>
                    <a:lnTo>
                      <a:pt x="2676525" y="466725"/>
                    </a:lnTo>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69" name="Google Shape;669;p20"/>
              <p:cNvSpPr/>
              <p:nvPr/>
            </p:nvSpPr>
            <p:spPr>
              <a:xfrm flipH="1" rot="10800000">
                <a:off x="7775575" y="5454650"/>
                <a:ext cx="2676525" cy="479425"/>
              </a:xfrm>
              <a:custGeom>
                <a:rect b="b" l="l" r="r" t="t"/>
                <a:pathLst>
                  <a:path extrusionOk="0" h="479425" w="2676525">
                    <a:moveTo>
                      <a:pt x="0" y="476250"/>
                    </a:moveTo>
                    <a:lnTo>
                      <a:pt x="622300" y="479425"/>
                    </a:lnTo>
                    <a:lnTo>
                      <a:pt x="1028700" y="0"/>
                    </a:lnTo>
                    <a:lnTo>
                      <a:pt x="1644650" y="0"/>
                    </a:lnTo>
                    <a:lnTo>
                      <a:pt x="2054225" y="469900"/>
                    </a:lnTo>
                    <a:lnTo>
                      <a:pt x="2676525" y="466725"/>
                    </a:lnTo>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0" name="Google Shape;670;p20"/>
              <p:cNvSpPr/>
              <p:nvPr/>
            </p:nvSpPr>
            <p:spPr>
              <a:xfrm>
                <a:off x="7781925" y="4699000"/>
                <a:ext cx="2673350" cy="57150"/>
              </a:xfrm>
              <a:custGeom>
                <a:rect b="b" l="l" r="r" t="t"/>
                <a:pathLst>
                  <a:path extrusionOk="0" h="57150" w="2673350">
                    <a:moveTo>
                      <a:pt x="0" y="57150"/>
                    </a:moveTo>
                    <a:lnTo>
                      <a:pt x="619125" y="57150"/>
                    </a:lnTo>
                    <a:lnTo>
                      <a:pt x="1025525" y="0"/>
                    </a:lnTo>
                    <a:lnTo>
                      <a:pt x="1638300" y="3175"/>
                    </a:lnTo>
                    <a:lnTo>
                      <a:pt x="2047875" y="47625"/>
                    </a:lnTo>
                    <a:lnTo>
                      <a:pt x="2673350" y="47625"/>
                    </a:lnTo>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1" name="Google Shape;671;p20"/>
              <p:cNvSpPr/>
              <p:nvPr/>
            </p:nvSpPr>
            <p:spPr>
              <a:xfrm flipH="1" rot="10800000">
                <a:off x="7772400" y="5381625"/>
                <a:ext cx="2673350" cy="57150"/>
              </a:xfrm>
              <a:custGeom>
                <a:rect b="b" l="l" r="r" t="t"/>
                <a:pathLst>
                  <a:path extrusionOk="0" h="57150" w="2673350">
                    <a:moveTo>
                      <a:pt x="0" y="57150"/>
                    </a:moveTo>
                    <a:lnTo>
                      <a:pt x="619125" y="57150"/>
                    </a:lnTo>
                    <a:lnTo>
                      <a:pt x="1025525" y="0"/>
                    </a:lnTo>
                    <a:lnTo>
                      <a:pt x="1638300" y="3175"/>
                    </a:lnTo>
                    <a:lnTo>
                      <a:pt x="2047875" y="47625"/>
                    </a:lnTo>
                    <a:lnTo>
                      <a:pt x="2673350" y="47625"/>
                    </a:lnTo>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2" name="Google Shape;672;p20"/>
              <p:cNvSpPr/>
              <p:nvPr/>
            </p:nvSpPr>
            <p:spPr>
              <a:xfrm>
                <a:off x="7781925" y="4832350"/>
                <a:ext cx="2670175" cy="431800"/>
              </a:xfrm>
              <a:custGeom>
                <a:rect b="b" l="l" r="r" t="t"/>
                <a:pathLst>
                  <a:path extrusionOk="0" h="431800" w="2670175">
                    <a:moveTo>
                      <a:pt x="0" y="9525"/>
                    </a:moveTo>
                    <a:lnTo>
                      <a:pt x="619125" y="12700"/>
                    </a:lnTo>
                    <a:lnTo>
                      <a:pt x="1028700" y="431800"/>
                    </a:lnTo>
                    <a:lnTo>
                      <a:pt x="1647825" y="431800"/>
                    </a:lnTo>
                    <a:lnTo>
                      <a:pt x="2047875" y="0"/>
                    </a:lnTo>
                    <a:lnTo>
                      <a:pt x="2670175" y="0"/>
                    </a:lnTo>
                    <a:lnTo>
                      <a:pt x="2670175" y="0"/>
                    </a:lnTo>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3" name="Google Shape;673;p20"/>
              <p:cNvSpPr/>
              <p:nvPr/>
            </p:nvSpPr>
            <p:spPr>
              <a:xfrm flipH="1" rot="10800000">
                <a:off x="7772400" y="4870450"/>
                <a:ext cx="2670175" cy="431800"/>
              </a:xfrm>
              <a:custGeom>
                <a:rect b="b" l="l" r="r" t="t"/>
                <a:pathLst>
                  <a:path extrusionOk="0" h="431800" w="2670175">
                    <a:moveTo>
                      <a:pt x="0" y="9525"/>
                    </a:moveTo>
                    <a:lnTo>
                      <a:pt x="619125" y="12700"/>
                    </a:lnTo>
                    <a:lnTo>
                      <a:pt x="1028700" y="431800"/>
                    </a:lnTo>
                    <a:lnTo>
                      <a:pt x="1647825" y="431800"/>
                    </a:lnTo>
                    <a:lnTo>
                      <a:pt x="2047875" y="0"/>
                    </a:lnTo>
                    <a:lnTo>
                      <a:pt x="2670175" y="0"/>
                    </a:lnTo>
                    <a:lnTo>
                      <a:pt x="2670175" y="0"/>
                    </a:lnTo>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4" name="Google Shape;674;p20"/>
              <p:cNvSpPr/>
              <p:nvPr/>
            </p:nvSpPr>
            <p:spPr>
              <a:xfrm>
                <a:off x="7778750" y="4911725"/>
                <a:ext cx="2667000" cy="860425"/>
              </a:xfrm>
              <a:custGeom>
                <a:rect b="b" l="l" r="r" t="t"/>
                <a:pathLst>
                  <a:path extrusionOk="0" h="860425" w="2667000">
                    <a:moveTo>
                      <a:pt x="0" y="12700"/>
                    </a:moveTo>
                    <a:lnTo>
                      <a:pt x="622300" y="15875"/>
                    </a:lnTo>
                    <a:lnTo>
                      <a:pt x="1022350" y="860425"/>
                    </a:lnTo>
                    <a:lnTo>
                      <a:pt x="1654175" y="857250"/>
                    </a:lnTo>
                    <a:lnTo>
                      <a:pt x="2057400" y="0"/>
                    </a:lnTo>
                    <a:lnTo>
                      <a:pt x="2667000" y="3175"/>
                    </a:lnTo>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5" name="Google Shape;675;p20"/>
              <p:cNvSpPr/>
              <p:nvPr/>
            </p:nvSpPr>
            <p:spPr>
              <a:xfrm flipH="1" rot="10800000">
                <a:off x="7772400" y="4362450"/>
                <a:ext cx="2667000" cy="860425"/>
              </a:xfrm>
              <a:custGeom>
                <a:rect b="b" l="l" r="r" t="t"/>
                <a:pathLst>
                  <a:path extrusionOk="0" h="860425" w="2667000">
                    <a:moveTo>
                      <a:pt x="0" y="12700"/>
                    </a:moveTo>
                    <a:lnTo>
                      <a:pt x="622300" y="15875"/>
                    </a:lnTo>
                    <a:lnTo>
                      <a:pt x="1022350" y="860425"/>
                    </a:lnTo>
                    <a:lnTo>
                      <a:pt x="1654175" y="857250"/>
                    </a:lnTo>
                    <a:lnTo>
                      <a:pt x="2057400" y="0"/>
                    </a:lnTo>
                    <a:lnTo>
                      <a:pt x="2667000" y="3175"/>
                    </a:lnTo>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6" name="Google Shape;676;p20"/>
              <p:cNvSpPr/>
              <p:nvPr/>
            </p:nvSpPr>
            <p:spPr>
              <a:xfrm>
                <a:off x="7896225" y="4606925"/>
                <a:ext cx="381000" cy="381000"/>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7" name="Google Shape;677;p20"/>
              <p:cNvSpPr/>
              <p:nvPr/>
            </p:nvSpPr>
            <p:spPr>
              <a:xfrm>
                <a:off x="7893050" y="5153025"/>
                <a:ext cx="381000" cy="381000"/>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8" name="Google Shape;678;p20"/>
              <p:cNvSpPr/>
              <p:nvPr/>
            </p:nvSpPr>
            <p:spPr>
              <a:xfrm>
                <a:off x="8921750" y="4086225"/>
                <a:ext cx="381000" cy="381000"/>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79" name="Google Shape;679;p20"/>
              <p:cNvSpPr/>
              <p:nvPr/>
            </p:nvSpPr>
            <p:spPr>
              <a:xfrm>
                <a:off x="8912225" y="4587875"/>
                <a:ext cx="381000" cy="381000"/>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0" name="Google Shape;680;p20"/>
              <p:cNvSpPr/>
              <p:nvPr/>
            </p:nvSpPr>
            <p:spPr>
              <a:xfrm>
                <a:off x="8915400" y="5143500"/>
                <a:ext cx="381000" cy="381000"/>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1" name="Google Shape;681;p20"/>
              <p:cNvSpPr/>
              <p:nvPr/>
            </p:nvSpPr>
            <p:spPr>
              <a:xfrm>
                <a:off x="8921750" y="5654675"/>
                <a:ext cx="381000" cy="381000"/>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2" name="Google Shape;682;p20"/>
              <p:cNvSpPr/>
              <p:nvPr/>
            </p:nvSpPr>
            <p:spPr>
              <a:xfrm>
                <a:off x="9944100" y="5153025"/>
                <a:ext cx="381000" cy="381000"/>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3" name="Google Shape;683;p20"/>
              <p:cNvSpPr/>
              <p:nvPr/>
            </p:nvSpPr>
            <p:spPr>
              <a:xfrm>
                <a:off x="9944100" y="4587875"/>
                <a:ext cx="381000" cy="381000"/>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684" name="Google Shape;684;p20"/>
            <p:cNvSpPr txBox="1"/>
            <p:nvPr/>
          </p:nvSpPr>
          <p:spPr>
            <a:xfrm>
              <a:off x="8097079" y="5989983"/>
              <a:ext cx="3244414" cy="565283"/>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8x8 multistage switch </a:t>
              </a:r>
              <a:endParaRPr/>
            </a:p>
            <a:p>
              <a:pPr indent="0" lvl="0" marL="0" marR="0" rtl="0" algn="ctr">
                <a:lnSpc>
                  <a:spcPct val="85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built from smaller-sized switches</a:t>
              </a:r>
              <a:endParaRPr/>
            </a:p>
          </p:txBody>
        </p:sp>
      </p:grpSp>
      <p:sp>
        <p:nvSpPr>
          <p:cNvPr id="685" name="Google Shape;685;p20"/>
          <p:cNvSpPr txBox="1"/>
          <p:nvPr/>
        </p:nvSpPr>
        <p:spPr>
          <a:xfrm>
            <a:off x="9006580" y="3438940"/>
            <a:ext cx="1359155" cy="329834"/>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3x3 crossbar</a:t>
            </a:r>
            <a:endParaRPr/>
          </a:p>
        </p:txBody>
      </p:sp>
      <p:sp>
        <p:nvSpPr>
          <p:cNvPr id="686" name="Google Shape;686;p20"/>
          <p:cNvSpPr txBox="1"/>
          <p:nvPr/>
        </p:nvSpPr>
        <p:spPr>
          <a:xfrm>
            <a:off x="788873" y="3242734"/>
            <a:ext cx="6477000" cy="1093740"/>
          </a:xfrm>
          <a:prstGeom prst="rect">
            <a:avLst/>
          </a:prstGeom>
          <a:noFill/>
          <a:ln>
            <a:noFill/>
          </a:ln>
        </p:spPr>
        <p:txBody>
          <a:bodyPr anchorCtr="0" anchor="t" bIns="45700" lIns="91425" spcFirstLastPara="1" rIns="91425" wrap="square" tIns="45700">
            <a:normAutofit/>
          </a:bodyPr>
          <a:lstStyle/>
          <a:p>
            <a:pPr indent="-287338"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A3"/>
                </a:solidFill>
                <a:latin typeface="Calibri"/>
                <a:ea typeface="Calibri"/>
                <a:cs typeface="Calibri"/>
                <a:sym typeface="Calibri"/>
              </a:rPr>
              <a:t>multistage switch: </a:t>
            </a:r>
            <a:r>
              <a:rPr b="0" i="1" lang="en-US" sz="3200" u="none" cap="none" strike="noStrike">
                <a:solidFill>
                  <a:srgbClr val="000000"/>
                </a:solidFill>
                <a:latin typeface="Calibri"/>
                <a:ea typeface="Calibri"/>
                <a:cs typeface="Calibri"/>
                <a:sym typeface="Calibri"/>
              </a:rPr>
              <a:t>nxn</a:t>
            </a:r>
            <a:r>
              <a:rPr b="0" i="0" lang="en-US" sz="3200" u="none" cap="none" strike="noStrike">
                <a:solidFill>
                  <a:srgbClr val="000000"/>
                </a:solidFill>
                <a:latin typeface="Calibri"/>
                <a:ea typeface="Calibri"/>
                <a:cs typeface="Calibri"/>
                <a:sym typeface="Calibri"/>
              </a:rPr>
              <a:t> switch from multiple stages of smaller switches</a:t>
            </a:r>
            <a:endParaRPr/>
          </a:p>
        </p:txBody>
      </p:sp>
      <p:sp>
        <p:nvSpPr>
          <p:cNvPr id="687" name="Google Shape;687;p20"/>
          <p:cNvSpPr txBox="1"/>
          <p:nvPr/>
        </p:nvSpPr>
        <p:spPr>
          <a:xfrm>
            <a:off x="775016" y="4281825"/>
            <a:ext cx="6477000" cy="2118976"/>
          </a:xfrm>
          <a:prstGeom prst="rect">
            <a:avLst/>
          </a:prstGeom>
          <a:noFill/>
          <a:ln>
            <a:noFill/>
          </a:ln>
        </p:spPr>
        <p:txBody>
          <a:bodyPr anchorCtr="0" anchor="t" bIns="45700" lIns="91425" spcFirstLastPara="1" rIns="91425" wrap="square" tIns="45700">
            <a:normAutofit/>
          </a:bodyPr>
          <a:lstStyle/>
          <a:p>
            <a:pPr indent="-287338"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A3"/>
                </a:solidFill>
                <a:latin typeface="Calibri"/>
                <a:ea typeface="Calibri"/>
                <a:cs typeface="Calibri"/>
                <a:sym typeface="Calibri"/>
              </a:rPr>
              <a:t>exploiting parallelism: </a:t>
            </a:r>
            <a:endParaRPr/>
          </a:p>
          <a:p>
            <a:pPr indent="-287338" lvl="1" marL="693738"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fragment datagram into fixed length cells on entry</a:t>
            </a:r>
            <a:endParaRPr/>
          </a:p>
          <a:p>
            <a:pPr indent="-287338" lvl="1" marL="693738"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switch cells through the fabric, reassemble datagram at exit</a:t>
            </a:r>
            <a:endParaRPr/>
          </a:p>
        </p:txBody>
      </p:sp>
      <p:sp>
        <p:nvSpPr>
          <p:cNvPr id="688" name="Google Shape;688;p20"/>
          <p:cNvSpPr txBox="1"/>
          <p:nvPr/>
        </p:nvSpPr>
        <p:spPr>
          <a:xfrm>
            <a:off x="9006580" y="3438940"/>
            <a:ext cx="1359155" cy="329834"/>
          </a:xfrm>
          <a:prstGeom prst="rect">
            <a:avLst/>
          </a:prstGeom>
          <a:noFill/>
          <a:ln>
            <a:noFill/>
          </a:ln>
        </p:spPr>
        <p:txBody>
          <a:bodyPr anchorCtr="0" anchor="t" bIns="45700" lIns="91425" spcFirstLastPara="1" rIns="91425" wrap="square" tIns="45700">
            <a:spAutoFit/>
          </a:bodyPr>
          <a:lstStyle/>
          <a:p>
            <a:pPr indent="0" lvl="0" marL="0" marR="0" rtl="0" algn="ctr">
              <a:lnSpc>
                <a:spcPct val="85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3x3 crossbar</a:t>
            </a:r>
            <a:endParaRPr/>
          </a:p>
        </p:txBody>
      </p:sp>
      <p:sp>
        <p:nvSpPr>
          <p:cNvPr id="689" name="Google Shape;689;p20"/>
          <p:cNvSpPr/>
          <p:nvPr/>
        </p:nvSpPr>
        <p:spPr>
          <a:xfrm>
            <a:off x="7278457" y="4508938"/>
            <a:ext cx="290819" cy="19018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0" name="Google Shape;690;p20"/>
          <p:cNvSpPr/>
          <p:nvPr/>
        </p:nvSpPr>
        <p:spPr>
          <a:xfrm>
            <a:off x="7571262" y="4508366"/>
            <a:ext cx="290819" cy="19018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1" name="Google Shape;691;p20"/>
          <p:cNvSpPr/>
          <p:nvPr/>
        </p:nvSpPr>
        <p:spPr>
          <a:xfrm>
            <a:off x="7862810" y="4508366"/>
            <a:ext cx="290819" cy="190180"/>
          </a:xfrm>
          <a:prstGeom prst="rect">
            <a:avLst/>
          </a:prstGeom>
          <a:solidFill>
            <a:srgbClr val="00CC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2" name="Google Shape;692;p2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6"/>
                                        </p:tgtEl>
                                        <p:attrNameLst>
                                          <p:attrName>style.visibility</p:attrName>
                                        </p:attrNameLst>
                                      </p:cBhvr>
                                      <p:to>
                                        <p:strVal val="visible"/>
                                      </p:to>
                                    </p:set>
                                    <p:animEffect filter="fade" transition="in">
                                      <p:cBhvr>
                                        <p:cTn dur="500"/>
                                        <p:tgtEl>
                                          <p:spTgt spid="686"/>
                                        </p:tgtEl>
                                      </p:cBhvr>
                                    </p:animEffect>
                                  </p:childTnLst>
                                </p:cTn>
                              </p:par>
                              <p:par>
                                <p:cTn fill="hold" nodeType="withEffect" presetClass="entr" presetID="10" presetSubtype="0">
                                  <p:stCondLst>
                                    <p:cond delay="0"/>
                                  </p:stCondLst>
                                  <p:childTnLst>
                                    <p:set>
                                      <p:cBhvr>
                                        <p:cTn dur="1" fill="hold">
                                          <p:stCondLst>
                                            <p:cond delay="0"/>
                                          </p:stCondLst>
                                        </p:cTn>
                                        <p:tgtEl>
                                          <p:spTgt spid="666"/>
                                        </p:tgtEl>
                                        <p:attrNameLst>
                                          <p:attrName>style.visibility</p:attrName>
                                        </p:attrNameLst>
                                      </p:cBhvr>
                                      <p:to>
                                        <p:strVal val="visible"/>
                                      </p:to>
                                    </p:set>
                                    <p:animEffect filter="fade" transition="in">
                                      <p:cBhvr>
                                        <p:cTn dur="500"/>
                                        <p:tgtEl>
                                          <p:spTgt spid="6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7"/>
                                        </p:tgtEl>
                                        <p:attrNameLst>
                                          <p:attrName>style.visibility</p:attrName>
                                        </p:attrNameLst>
                                      </p:cBhvr>
                                      <p:to>
                                        <p:strVal val="visible"/>
                                      </p:to>
                                    </p:set>
                                    <p:animEffect filter="fade" transition="in">
                                      <p:cBhvr>
                                        <p:cTn dur="500"/>
                                        <p:tgtEl>
                                          <p:spTgt spid="6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9"/>
                                        </p:tgtEl>
                                        <p:attrNameLst>
                                          <p:attrName>style.visibility</p:attrName>
                                        </p:attrNameLst>
                                      </p:cBhvr>
                                      <p:to>
                                        <p:strVal val="visible"/>
                                      </p:to>
                                    </p:set>
                                    <p:animEffect filter="fade" transition="in">
                                      <p:cBhvr>
                                        <p:cTn dur="500"/>
                                        <p:tgtEl>
                                          <p:spTgt spid="689"/>
                                        </p:tgtEl>
                                      </p:cBhvr>
                                    </p:animEffect>
                                  </p:childTnLst>
                                </p:cTn>
                              </p:par>
                              <p:par>
                                <p:cTn fill="hold" nodeType="withEffect" presetClass="entr" presetID="10" presetSubtype="0">
                                  <p:stCondLst>
                                    <p:cond delay="0"/>
                                  </p:stCondLst>
                                  <p:childTnLst>
                                    <p:set>
                                      <p:cBhvr>
                                        <p:cTn dur="1" fill="hold">
                                          <p:stCondLst>
                                            <p:cond delay="0"/>
                                          </p:stCondLst>
                                        </p:cTn>
                                        <p:tgtEl>
                                          <p:spTgt spid="690"/>
                                        </p:tgtEl>
                                        <p:attrNameLst>
                                          <p:attrName>style.visibility</p:attrName>
                                        </p:attrNameLst>
                                      </p:cBhvr>
                                      <p:to>
                                        <p:strVal val="visible"/>
                                      </p:to>
                                    </p:set>
                                    <p:animEffect filter="fade" transition="in">
                                      <p:cBhvr>
                                        <p:cTn dur="500"/>
                                        <p:tgtEl>
                                          <p:spTgt spid="690"/>
                                        </p:tgtEl>
                                      </p:cBhvr>
                                    </p:animEffect>
                                  </p:childTnLst>
                                </p:cTn>
                              </p:par>
                              <p:par>
                                <p:cTn fill="hold" nodeType="withEffect" presetClass="entr" presetID="10" presetSubtype="0">
                                  <p:stCondLst>
                                    <p:cond delay="0"/>
                                  </p:stCondLst>
                                  <p:childTnLst>
                                    <p:set>
                                      <p:cBhvr>
                                        <p:cTn dur="1" fill="hold">
                                          <p:stCondLst>
                                            <p:cond delay="0"/>
                                          </p:stCondLst>
                                        </p:cTn>
                                        <p:tgtEl>
                                          <p:spTgt spid="691"/>
                                        </p:tgtEl>
                                        <p:attrNameLst>
                                          <p:attrName>style.visibility</p:attrName>
                                        </p:attrNameLst>
                                      </p:cBhvr>
                                      <p:to>
                                        <p:strVal val="visible"/>
                                      </p:to>
                                    </p:set>
                                    <p:animEffect filter="fade" transition="in">
                                      <p:cBhvr>
                                        <p:cTn dur="500"/>
                                        <p:tgtEl>
                                          <p:spTgt spid="6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21"/>
          <p:cNvSpPr txBox="1"/>
          <p:nvPr>
            <p:ph idx="1" type="body"/>
          </p:nvPr>
        </p:nvSpPr>
        <p:spPr>
          <a:xfrm>
            <a:off x="924646" y="1287519"/>
            <a:ext cx="10585173" cy="1026189"/>
          </a:xfrm>
          <a:prstGeom prst="rect">
            <a:avLst/>
          </a:prstGeom>
          <a:noFill/>
          <a:ln>
            <a:noFill/>
          </a:ln>
        </p:spPr>
        <p:txBody>
          <a:bodyPr anchorCtr="0" anchor="t" bIns="45700" lIns="91425" spcFirstLastPara="1" rIns="91425" wrap="square" tIns="45700">
            <a:normAutofit/>
          </a:bodyPr>
          <a:lstStyle/>
          <a:p>
            <a:pPr indent="-287338" lvl="0" marL="352425" rtl="0" algn="l">
              <a:lnSpc>
                <a:spcPct val="90000"/>
              </a:lnSpc>
              <a:spcBef>
                <a:spcPts val="0"/>
              </a:spcBef>
              <a:spcAft>
                <a:spcPts val="0"/>
              </a:spcAft>
              <a:buSzPts val="3200"/>
              <a:buFont typeface="Noto Sans Symbols"/>
              <a:buChar char="▪"/>
            </a:pPr>
            <a:r>
              <a:rPr lang="en-US" sz="3200"/>
              <a:t>scaling, using multiple switching “planes” in parallel: </a:t>
            </a:r>
            <a:endParaRPr/>
          </a:p>
          <a:p>
            <a:pPr indent="-287338" lvl="1" marL="695325" rtl="0" algn="l">
              <a:lnSpc>
                <a:spcPct val="90000"/>
              </a:lnSpc>
              <a:spcBef>
                <a:spcPts val="500"/>
              </a:spcBef>
              <a:spcAft>
                <a:spcPts val="0"/>
              </a:spcAft>
              <a:buSzPts val="2800"/>
              <a:buFont typeface="Noto Sans Symbols"/>
              <a:buChar char="▪"/>
            </a:pPr>
            <a:r>
              <a:rPr lang="en-US" sz="2800"/>
              <a:t>speedup, scaleup via parallelism</a:t>
            </a:r>
            <a:endParaRPr/>
          </a:p>
        </p:txBody>
      </p:sp>
      <p:sp>
        <p:nvSpPr>
          <p:cNvPr id="699" name="Google Shape;699;p21"/>
          <p:cNvSpPr txBox="1"/>
          <p:nvPr>
            <p:ph type="title"/>
          </p:nvPr>
        </p:nvSpPr>
        <p:spPr>
          <a:xfrm>
            <a:off x="838200" y="398813"/>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Switching via interconnection network</a:t>
            </a:r>
            <a:endParaRPr/>
          </a:p>
        </p:txBody>
      </p:sp>
      <p:grpSp>
        <p:nvGrpSpPr>
          <p:cNvPr id="700" name="Google Shape;700;p21"/>
          <p:cNvGrpSpPr/>
          <p:nvPr/>
        </p:nvGrpSpPr>
        <p:grpSpPr>
          <a:xfrm>
            <a:off x="5465885" y="2987580"/>
            <a:ext cx="6504470" cy="2842592"/>
            <a:chOff x="2502527" y="2166731"/>
            <a:chExt cx="6504470" cy="2842592"/>
          </a:xfrm>
        </p:grpSpPr>
        <p:grpSp>
          <p:nvGrpSpPr>
            <p:cNvPr id="701" name="Google Shape;701;p21"/>
            <p:cNvGrpSpPr/>
            <p:nvPr/>
          </p:nvGrpSpPr>
          <p:grpSpPr>
            <a:xfrm>
              <a:off x="2661555" y="4446106"/>
              <a:ext cx="977484" cy="193795"/>
              <a:chOff x="876" y="2800"/>
              <a:chExt cx="642" cy="175"/>
            </a:xfrm>
          </p:grpSpPr>
          <p:sp>
            <p:nvSpPr>
              <p:cNvPr id="702" name="Google Shape;702;p21"/>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3" name="Google Shape;703;p21"/>
              <p:cNvSpPr/>
              <p:nvPr/>
            </p:nvSpPr>
            <p:spPr>
              <a:xfrm>
                <a:off x="945" y="2849"/>
                <a:ext cx="151" cy="78"/>
              </a:xfrm>
              <a:prstGeom prst="rect">
                <a:avLst/>
              </a:prstGeom>
              <a:solidFill>
                <a:srgbClr val="FFFFFF"/>
              </a:solidFill>
              <a:ln cap="flat" cmpd="sng" w="1270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4" name="Google Shape;704;p21"/>
              <p:cNvSpPr/>
              <p:nvPr/>
            </p:nvSpPr>
            <p:spPr>
              <a:xfrm>
                <a:off x="1117" y="2818"/>
                <a:ext cx="124" cy="134"/>
              </a:xfrm>
              <a:prstGeom prst="rect">
                <a:avLst/>
              </a:prstGeom>
              <a:solidFill>
                <a:srgbClr val="FFFFFF"/>
              </a:solidFill>
              <a:ln cap="flat" cmpd="sng" w="1270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5" name="Google Shape;705;p21"/>
              <p:cNvSpPr/>
              <p:nvPr/>
            </p:nvSpPr>
            <p:spPr>
              <a:xfrm>
                <a:off x="1263" y="2821"/>
                <a:ext cx="125" cy="135"/>
              </a:xfrm>
              <a:prstGeom prst="rect">
                <a:avLst/>
              </a:prstGeom>
              <a:solidFill>
                <a:srgbClr val="FFFF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706" name="Google Shape;706;p21"/>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707" name="Google Shape;707;p21"/>
            <p:cNvGrpSpPr/>
            <p:nvPr/>
          </p:nvGrpSpPr>
          <p:grpSpPr>
            <a:xfrm>
              <a:off x="2575415" y="4611758"/>
              <a:ext cx="977484" cy="193795"/>
              <a:chOff x="876" y="2800"/>
              <a:chExt cx="642" cy="175"/>
            </a:xfrm>
          </p:grpSpPr>
          <p:sp>
            <p:nvSpPr>
              <p:cNvPr id="708" name="Google Shape;708;p21"/>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9" name="Google Shape;709;p21"/>
              <p:cNvSpPr/>
              <p:nvPr/>
            </p:nvSpPr>
            <p:spPr>
              <a:xfrm>
                <a:off x="945" y="2849"/>
                <a:ext cx="151" cy="78"/>
              </a:xfrm>
              <a:prstGeom prst="rect">
                <a:avLst/>
              </a:prstGeom>
              <a:solidFill>
                <a:srgbClr val="FFFFFF"/>
              </a:solidFill>
              <a:ln cap="flat" cmpd="sng" w="1270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0" name="Google Shape;710;p21"/>
              <p:cNvSpPr/>
              <p:nvPr/>
            </p:nvSpPr>
            <p:spPr>
              <a:xfrm>
                <a:off x="1117" y="2818"/>
                <a:ext cx="124" cy="134"/>
              </a:xfrm>
              <a:prstGeom prst="rect">
                <a:avLst/>
              </a:prstGeom>
              <a:solidFill>
                <a:srgbClr val="FFFFFF"/>
              </a:solidFill>
              <a:ln cap="flat" cmpd="sng" w="1270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1" name="Google Shape;711;p21"/>
              <p:cNvSpPr/>
              <p:nvPr/>
            </p:nvSpPr>
            <p:spPr>
              <a:xfrm>
                <a:off x="1263" y="2821"/>
                <a:ext cx="125" cy="135"/>
              </a:xfrm>
              <a:prstGeom prst="rect">
                <a:avLst/>
              </a:prstGeom>
              <a:solidFill>
                <a:srgbClr val="FFFF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712" name="Google Shape;712;p21"/>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713" name="Google Shape;713;p21"/>
            <p:cNvGrpSpPr/>
            <p:nvPr/>
          </p:nvGrpSpPr>
          <p:grpSpPr>
            <a:xfrm>
              <a:off x="4623758" y="2166731"/>
              <a:ext cx="2290665" cy="2842592"/>
              <a:chOff x="4199689" y="2922105"/>
              <a:chExt cx="2290665" cy="2842592"/>
            </a:xfrm>
          </p:grpSpPr>
          <p:grpSp>
            <p:nvGrpSpPr>
              <p:cNvPr id="714" name="Google Shape;714;p21"/>
              <p:cNvGrpSpPr/>
              <p:nvPr/>
            </p:nvGrpSpPr>
            <p:grpSpPr>
              <a:xfrm>
                <a:off x="4802662" y="2922105"/>
                <a:ext cx="1687692" cy="1311965"/>
                <a:chOff x="1416732" y="5221357"/>
                <a:chExt cx="1687692" cy="1311965"/>
              </a:xfrm>
            </p:grpSpPr>
            <p:cxnSp>
              <p:nvCxnSpPr>
                <p:cNvPr id="715" name="Google Shape;715;p21"/>
                <p:cNvCxnSpPr/>
                <p:nvPr/>
              </p:nvCxnSpPr>
              <p:spPr>
                <a:xfrm>
                  <a:off x="1629149" y="5306714"/>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16" name="Google Shape;716;p21"/>
                <p:cNvCxnSpPr/>
                <p:nvPr/>
              </p:nvCxnSpPr>
              <p:spPr>
                <a:xfrm>
                  <a:off x="1629814" y="5415191"/>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17" name="Google Shape;717;p21"/>
                <p:cNvCxnSpPr/>
                <p:nvPr/>
              </p:nvCxnSpPr>
              <p:spPr>
                <a:xfrm>
                  <a:off x="1626486" y="645803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18" name="Google Shape;718;p21"/>
                <p:cNvCxnSpPr/>
                <p:nvPr/>
              </p:nvCxnSpPr>
              <p:spPr>
                <a:xfrm>
                  <a:off x="1627151" y="635887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19" name="Google Shape;719;p21"/>
                <p:cNvCxnSpPr/>
                <p:nvPr/>
              </p:nvCxnSpPr>
              <p:spPr>
                <a:xfrm>
                  <a:off x="1627152" y="625106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20" name="Google Shape;720;p21"/>
                <p:cNvCxnSpPr/>
                <p:nvPr/>
              </p:nvCxnSpPr>
              <p:spPr>
                <a:xfrm>
                  <a:off x="1627817" y="615190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21" name="Google Shape;721;p21"/>
                <p:cNvCxnSpPr/>
                <p:nvPr/>
              </p:nvCxnSpPr>
              <p:spPr>
                <a:xfrm>
                  <a:off x="1623825" y="5604859"/>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22" name="Google Shape;722;p21"/>
                <p:cNvCxnSpPr/>
                <p:nvPr/>
              </p:nvCxnSpPr>
              <p:spPr>
                <a:xfrm>
                  <a:off x="1624490" y="5505699"/>
                  <a:ext cx="1385576" cy="0"/>
                </a:xfrm>
                <a:prstGeom prst="straightConnector1">
                  <a:avLst/>
                </a:prstGeom>
                <a:noFill/>
                <a:ln cap="flat" cmpd="sng" w="9525">
                  <a:solidFill>
                    <a:schemeClr val="dk1"/>
                  </a:solidFill>
                  <a:prstDash val="solid"/>
                  <a:miter lim="800000"/>
                  <a:headEnd len="sm" w="sm" type="none"/>
                  <a:tailEnd len="sm" w="sm" type="none"/>
                </a:ln>
              </p:spPr>
            </p:cxnSp>
            <p:grpSp>
              <p:nvGrpSpPr>
                <p:cNvPr id="723" name="Google Shape;723;p21"/>
                <p:cNvGrpSpPr/>
                <p:nvPr/>
              </p:nvGrpSpPr>
              <p:grpSpPr>
                <a:xfrm>
                  <a:off x="1749287" y="5221357"/>
                  <a:ext cx="1200970" cy="1311965"/>
                  <a:chOff x="4426226" y="4479235"/>
                  <a:chExt cx="1200970" cy="1311965"/>
                </a:xfrm>
              </p:grpSpPr>
              <p:sp>
                <p:nvSpPr>
                  <p:cNvPr id="724" name="Google Shape;724;p21"/>
                  <p:cNvSpPr/>
                  <p:nvPr/>
                </p:nvSpPr>
                <p:spPr>
                  <a:xfrm>
                    <a:off x="4426226" y="4479235"/>
                    <a:ext cx="1166191" cy="1311965"/>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25" name="Google Shape;725;p21"/>
                  <p:cNvSpPr txBox="1"/>
                  <p:nvPr/>
                </p:nvSpPr>
                <p:spPr>
                  <a:xfrm>
                    <a:off x="4426226" y="4479235"/>
                    <a:ext cx="120097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fabric plane 0</a:t>
                    </a:r>
                    <a:endParaRPr/>
                  </a:p>
                </p:txBody>
              </p:sp>
            </p:grpSp>
            <p:sp>
              <p:nvSpPr>
                <p:cNvPr id="726" name="Google Shape;726;p21"/>
                <p:cNvSpPr txBox="1"/>
                <p:nvPr/>
              </p:nvSpPr>
              <p:spPr>
                <a:xfrm rot="-5400000">
                  <a:off x="1369604" y="5690044"/>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727" name="Google Shape;727;p21"/>
                <p:cNvSpPr txBox="1"/>
                <p:nvPr/>
              </p:nvSpPr>
              <p:spPr>
                <a:xfrm rot="-5400000">
                  <a:off x="2687964" y="5686717"/>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grpSp>
            <p:nvGrpSpPr>
              <p:cNvPr id="728" name="Google Shape;728;p21"/>
              <p:cNvGrpSpPr/>
              <p:nvPr/>
            </p:nvGrpSpPr>
            <p:grpSpPr>
              <a:xfrm>
                <a:off x="4716523" y="3140766"/>
                <a:ext cx="1687692" cy="1311965"/>
                <a:chOff x="1416732" y="5221357"/>
                <a:chExt cx="1687692" cy="1311965"/>
              </a:xfrm>
            </p:grpSpPr>
            <p:cxnSp>
              <p:nvCxnSpPr>
                <p:cNvPr id="729" name="Google Shape;729;p21"/>
                <p:cNvCxnSpPr/>
                <p:nvPr/>
              </p:nvCxnSpPr>
              <p:spPr>
                <a:xfrm>
                  <a:off x="1629149" y="5306714"/>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30" name="Google Shape;730;p21"/>
                <p:cNvCxnSpPr/>
                <p:nvPr/>
              </p:nvCxnSpPr>
              <p:spPr>
                <a:xfrm>
                  <a:off x="1629814" y="5415191"/>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31" name="Google Shape;731;p21"/>
                <p:cNvCxnSpPr/>
                <p:nvPr/>
              </p:nvCxnSpPr>
              <p:spPr>
                <a:xfrm>
                  <a:off x="1626486" y="645803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32" name="Google Shape;732;p21"/>
                <p:cNvCxnSpPr/>
                <p:nvPr/>
              </p:nvCxnSpPr>
              <p:spPr>
                <a:xfrm>
                  <a:off x="1627151" y="635887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33" name="Google Shape;733;p21"/>
                <p:cNvCxnSpPr/>
                <p:nvPr/>
              </p:nvCxnSpPr>
              <p:spPr>
                <a:xfrm>
                  <a:off x="1627152" y="625106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34" name="Google Shape;734;p21"/>
                <p:cNvCxnSpPr/>
                <p:nvPr/>
              </p:nvCxnSpPr>
              <p:spPr>
                <a:xfrm>
                  <a:off x="1627817" y="615190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35" name="Google Shape;735;p21"/>
                <p:cNvCxnSpPr/>
                <p:nvPr/>
              </p:nvCxnSpPr>
              <p:spPr>
                <a:xfrm>
                  <a:off x="1623825" y="5604859"/>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36" name="Google Shape;736;p21"/>
                <p:cNvCxnSpPr/>
                <p:nvPr/>
              </p:nvCxnSpPr>
              <p:spPr>
                <a:xfrm>
                  <a:off x="1624490" y="5505699"/>
                  <a:ext cx="1385576" cy="0"/>
                </a:xfrm>
                <a:prstGeom prst="straightConnector1">
                  <a:avLst/>
                </a:prstGeom>
                <a:noFill/>
                <a:ln cap="flat" cmpd="sng" w="9525">
                  <a:solidFill>
                    <a:schemeClr val="dk1"/>
                  </a:solidFill>
                  <a:prstDash val="solid"/>
                  <a:miter lim="800000"/>
                  <a:headEnd len="sm" w="sm" type="none"/>
                  <a:tailEnd len="sm" w="sm" type="none"/>
                </a:ln>
              </p:spPr>
            </p:cxnSp>
            <p:grpSp>
              <p:nvGrpSpPr>
                <p:cNvPr id="737" name="Google Shape;737;p21"/>
                <p:cNvGrpSpPr/>
                <p:nvPr/>
              </p:nvGrpSpPr>
              <p:grpSpPr>
                <a:xfrm>
                  <a:off x="1749287" y="5221357"/>
                  <a:ext cx="1175002" cy="1311965"/>
                  <a:chOff x="4426226" y="4479235"/>
                  <a:chExt cx="1175002" cy="1311965"/>
                </a:xfrm>
              </p:grpSpPr>
              <p:sp>
                <p:nvSpPr>
                  <p:cNvPr id="738" name="Google Shape;738;p21"/>
                  <p:cNvSpPr/>
                  <p:nvPr/>
                </p:nvSpPr>
                <p:spPr>
                  <a:xfrm>
                    <a:off x="4426226" y="4479235"/>
                    <a:ext cx="1166191" cy="1311965"/>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39" name="Google Shape;739;p21"/>
                  <p:cNvSpPr txBox="1"/>
                  <p:nvPr/>
                </p:nvSpPr>
                <p:spPr>
                  <a:xfrm>
                    <a:off x="4426226" y="4479235"/>
                    <a:ext cx="117500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fabric plane 1</a:t>
                    </a:r>
                    <a:endParaRPr/>
                  </a:p>
                </p:txBody>
              </p:sp>
            </p:grpSp>
            <p:sp>
              <p:nvSpPr>
                <p:cNvPr id="740" name="Google Shape;740;p21"/>
                <p:cNvSpPr txBox="1"/>
                <p:nvPr/>
              </p:nvSpPr>
              <p:spPr>
                <a:xfrm rot="-5400000">
                  <a:off x="1369604" y="5690044"/>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741" name="Google Shape;741;p21"/>
                <p:cNvSpPr txBox="1"/>
                <p:nvPr/>
              </p:nvSpPr>
              <p:spPr>
                <a:xfrm rot="-5400000">
                  <a:off x="2687964" y="5686717"/>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grpSp>
            <p:nvGrpSpPr>
              <p:cNvPr id="742" name="Google Shape;742;p21"/>
              <p:cNvGrpSpPr/>
              <p:nvPr/>
            </p:nvGrpSpPr>
            <p:grpSpPr>
              <a:xfrm>
                <a:off x="4630384" y="3359427"/>
                <a:ext cx="1687692" cy="1311965"/>
                <a:chOff x="1416732" y="5221357"/>
                <a:chExt cx="1687692" cy="1311965"/>
              </a:xfrm>
            </p:grpSpPr>
            <p:cxnSp>
              <p:nvCxnSpPr>
                <p:cNvPr id="743" name="Google Shape;743;p21"/>
                <p:cNvCxnSpPr/>
                <p:nvPr/>
              </p:nvCxnSpPr>
              <p:spPr>
                <a:xfrm>
                  <a:off x="1629149" y="5306714"/>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44" name="Google Shape;744;p21"/>
                <p:cNvCxnSpPr/>
                <p:nvPr/>
              </p:nvCxnSpPr>
              <p:spPr>
                <a:xfrm>
                  <a:off x="1629814" y="5415191"/>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45" name="Google Shape;745;p21"/>
                <p:cNvCxnSpPr/>
                <p:nvPr/>
              </p:nvCxnSpPr>
              <p:spPr>
                <a:xfrm>
                  <a:off x="1626486" y="645803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46" name="Google Shape;746;p21"/>
                <p:cNvCxnSpPr/>
                <p:nvPr/>
              </p:nvCxnSpPr>
              <p:spPr>
                <a:xfrm>
                  <a:off x="1627151" y="635887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47" name="Google Shape;747;p21"/>
                <p:cNvCxnSpPr/>
                <p:nvPr/>
              </p:nvCxnSpPr>
              <p:spPr>
                <a:xfrm>
                  <a:off x="1627152" y="625106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48" name="Google Shape;748;p21"/>
                <p:cNvCxnSpPr/>
                <p:nvPr/>
              </p:nvCxnSpPr>
              <p:spPr>
                <a:xfrm>
                  <a:off x="1627817" y="615190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49" name="Google Shape;749;p21"/>
                <p:cNvCxnSpPr/>
                <p:nvPr/>
              </p:nvCxnSpPr>
              <p:spPr>
                <a:xfrm>
                  <a:off x="1623825" y="5604859"/>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50" name="Google Shape;750;p21"/>
                <p:cNvCxnSpPr/>
                <p:nvPr/>
              </p:nvCxnSpPr>
              <p:spPr>
                <a:xfrm>
                  <a:off x="1624490" y="5505699"/>
                  <a:ext cx="1385576" cy="0"/>
                </a:xfrm>
                <a:prstGeom prst="straightConnector1">
                  <a:avLst/>
                </a:prstGeom>
                <a:noFill/>
                <a:ln cap="flat" cmpd="sng" w="9525">
                  <a:solidFill>
                    <a:schemeClr val="dk1"/>
                  </a:solidFill>
                  <a:prstDash val="solid"/>
                  <a:miter lim="800000"/>
                  <a:headEnd len="sm" w="sm" type="none"/>
                  <a:tailEnd len="sm" w="sm" type="none"/>
                </a:ln>
              </p:spPr>
            </p:cxnSp>
            <p:grpSp>
              <p:nvGrpSpPr>
                <p:cNvPr id="751" name="Google Shape;751;p21"/>
                <p:cNvGrpSpPr/>
                <p:nvPr/>
              </p:nvGrpSpPr>
              <p:grpSpPr>
                <a:xfrm>
                  <a:off x="1749287" y="5221357"/>
                  <a:ext cx="1175002" cy="1311965"/>
                  <a:chOff x="4426226" y="4479235"/>
                  <a:chExt cx="1175002" cy="1311965"/>
                </a:xfrm>
              </p:grpSpPr>
              <p:sp>
                <p:nvSpPr>
                  <p:cNvPr id="752" name="Google Shape;752;p21"/>
                  <p:cNvSpPr/>
                  <p:nvPr/>
                </p:nvSpPr>
                <p:spPr>
                  <a:xfrm>
                    <a:off x="4426226" y="4479235"/>
                    <a:ext cx="1166191" cy="1311965"/>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3" name="Google Shape;753;p21"/>
                  <p:cNvSpPr txBox="1"/>
                  <p:nvPr/>
                </p:nvSpPr>
                <p:spPr>
                  <a:xfrm>
                    <a:off x="4426226" y="4479235"/>
                    <a:ext cx="117500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fabric plane 2</a:t>
                    </a:r>
                    <a:endParaRPr/>
                  </a:p>
                </p:txBody>
              </p:sp>
            </p:grpSp>
            <p:sp>
              <p:nvSpPr>
                <p:cNvPr id="754" name="Google Shape;754;p21"/>
                <p:cNvSpPr txBox="1"/>
                <p:nvPr/>
              </p:nvSpPr>
              <p:spPr>
                <a:xfrm rot="-5400000">
                  <a:off x="1369604" y="5690044"/>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755" name="Google Shape;755;p21"/>
                <p:cNvSpPr txBox="1"/>
                <p:nvPr/>
              </p:nvSpPr>
              <p:spPr>
                <a:xfrm rot="-5400000">
                  <a:off x="2687964" y="5686717"/>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grpSp>
            <p:nvGrpSpPr>
              <p:cNvPr id="756" name="Google Shape;756;p21"/>
              <p:cNvGrpSpPr/>
              <p:nvPr/>
            </p:nvGrpSpPr>
            <p:grpSpPr>
              <a:xfrm>
                <a:off x="4544245" y="3578088"/>
                <a:ext cx="1687692" cy="1311965"/>
                <a:chOff x="1416732" y="5221357"/>
                <a:chExt cx="1687692" cy="1311965"/>
              </a:xfrm>
            </p:grpSpPr>
            <p:cxnSp>
              <p:nvCxnSpPr>
                <p:cNvPr id="757" name="Google Shape;757;p21"/>
                <p:cNvCxnSpPr/>
                <p:nvPr/>
              </p:nvCxnSpPr>
              <p:spPr>
                <a:xfrm>
                  <a:off x="1629149" y="5306714"/>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58" name="Google Shape;758;p21"/>
                <p:cNvCxnSpPr/>
                <p:nvPr/>
              </p:nvCxnSpPr>
              <p:spPr>
                <a:xfrm>
                  <a:off x="1629814" y="5415191"/>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59" name="Google Shape;759;p21"/>
                <p:cNvCxnSpPr/>
                <p:nvPr/>
              </p:nvCxnSpPr>
              <p:spPr>
                <a:xfrm>
                  <a:off x="1626486" y="645803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60" name="Google Shape;760;p21"/>
                <p:cNvCxnSpPr/>
                <p:nvPr/>
              </p:nvCxnSpPr>
              <p:spPr>
                <a:xfrm>
                  <a:off x="1627151" y="635887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61" name="Google Shape;761;p21"/>
                <p:cNvCxnSpPr/>
                <p:nvPr/>
              </p:nvCxnSpPr>
              <p:spPr>
                <a:xfrm>
                  <a:off x="1627152" y="625106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62" name="Google Shape;762;p21"/>
                <p:cNvCxnSpPr/>
                <p:nvPr/>
              </p:nvCxnSpPr>
              <p:spPr>
                <a:xfrm>
                  <a:off x="1627817" y="615190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63" name="Google Shape;763;p21"/>
                <p:cNvCxnSpPr/>
                <p:nvPr/>
              </p:nvCxnSpPr>
              <p:spPr>
                <a:xfrm>
                  <a:off x="1623825" y="5604859"/>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64" name="Google Shape;764;p21"/>
                <p:cNvCxnSpPr/>
                <p:nvPr/>
              </p:nvCxnSpPr>
              <p:spPr>
                <a:xfrm>
                  <a:off x="1624490" y="5505699"/>
                  <a:ext cx="1385576" cy="0"/>
                </a:xfrm>
                <a:prstGeom prst="straightConnector1">
                  <a:avLst/>
                </a:prstGeom>
                <a:noFill/>
                <a:ln cap="flat" cmpd="sng" w="9525">
                  <a:solidFill>
                    <a:schemeClr val="dk1"/>
                  </a:solidFill>
                  <a:prstDash val="solid"/>
                  <a:miter lim="800000"/>
                  <a:headEnd len="sm" w="sm" type="none"/>
                  <a:tailEnd len="sm" w="sm" type="none"/>
                </a:ln>
              </p:spPr>
            </p:cxnSp>
            <p:grpSp>
              <p:nvGrpSpPr>
                <p:cNvPr id="765" name="Google Shape;765;p21"/>
                <p:cNvGrpSpPr/>
                <p:nvPr/>
              </p:nvGrpSpPr>
              <p:grpSpPr>
                <a:xfrm>
                  <a:off x="1749287" y="5221357"/>
                  <a:ext cx="1175002" cy="1311965"/>
                  <a:chOff x="4426226" y="4479235"/>
                  <a:chExt cx="1175002" cy="1311965"/>
                </a:xfrm>
              </p:grpSpPr>
              <p:sp>
                <p:nvSpPr>
                  <p:cNvPr id="766" name="Google Shape;766;p21"/>
                  <p:cNvSpPr/>
                  <p:nvPr/>
                </p:nvSpPr>
                <p:spPr>
                  <a:xfrm>
                    <a:off x="4426226" y="4479235"/>
                    <a:ext cx="1166191" cy="1311965"/>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7" name="Google Shape;767;p21"/>
                  <p:cNvSpPr txBox="1"/>
                  <p:nvPr/>
                </p:nvSpPr>
                <p:spPr>
                  <a:xfrm>
                    <a:off x="4426226" y="4479235"/>
                    <a:ext cx="117500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fabric plane 3</a:t>
                    </a:r>
                    <a:endParaRPr/>
                  </a:p>
                </p:txBody>
              </p:sp>
            </p:grpSp>
            <p:sp>
              <p:nvSpPr>
                <p:cNvPr id="768" name="Google Shape;768;p21"/>
                <p:cNvSpPr txBox="1"/>
                <p:nvPr/>
              </p:nvSpPr>
              <p:spPr>
                <a:xfrm rot="-5400000">
                  <a:off x="1369604" y="5690044"/>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769" name="Google Shape;769;p21"/>
                <p:cNvSpPr txBox="1"/>
                <p:nvPr/>
              </p:nvSpPr>
              <p:spPr>
                <a:xfrm rot="-5400000">
                  <a:off x="2687964" y="5686717"/>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grpSp>
            <p:nvGrpSpPr>
              <p:cNvPr id="770" name="Google Shape;770;p21"/>
              <p:cNvGrpSpPr/>
              <p:nvPr/>
            </p:nvGrpSpPr>
            <p:grpSpPr>
              <a:xfrm>
                <a:off x="4458106" y="3796749"/>
                <a:ext cx="1687692" cy="1311965"/>
                <a:chOff x="1416732" y="5221357"/>
                <a:chExt cx="1687692" cy="1311965"/>
              </a:xfrm>
            </p:grpSpPr>
            <p:cxnSp>
              <p:nvCxnSpPr>
                <p:cNvPr id="771" name="Google Shape;771;p21"/>
                <p:cNvCxnSpPr/>
                <p:nvPr/>
              </p:nvCxnSpPr>
              <p:spPr>
                <a:xfrm>
                  <a:off x="1629149" y="5306714"/>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72" name="Google Shape;772;p21"/>
                <p:cNvCxnSpPr/>
                <p:nvPr/>
              </p:nvCxnSpPr>
              <p:spPr>
                <a:xfrm>
                  <a:off x="1629814" y="5415191"/>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73" name="Google Shape;773;p21"/>
                <p:cNvCxnSpPr/>
                <p:nvPr/>
              </p:nvCxnSpPr>
              <p:spPr>
                <a:xfrm>
                  <a:off x="1626486" y="645803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74" name="Google Shape;774;p21"/>
                <p:cNvCxnSpPr/>
                <p:nvPr/>
              </p:nvCxnSpPr>
              <p:spPr>
                <a:xfrm>
                  <a:off x="1627151" y="635887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75" name="Google Shape;775;p21"/>
                <p:cNvCxnSpPr/>
                <p:nvPr/>
              </p:nvCxnSpPr>
              <p:spPr>
                <a:xfrm>
                  <a:off x="1627152" y="625106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76" name="Google Shape;776;p21"/>
                <p:cNvCxnSpPr/>
                <p:nvPr/>
              </p:nvCxnSpPr>
              <p:spPr>
                <a:xfrm>
                  <a:off x="1627817" y="615190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77" name="Google Shape;777;p21"/>
                <p:cNvCxnSpPr/>
                <p:nvPr/>
              </p:nvCxnSpPr>
              <p:spPr>
                <a:xfrm>
                  <a:off x="1623825" y="5604859"/>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78" name="Google Shape;778;p21"/>
                <p:cNvCxnSpPr/>
                <p:nvPr/>
              </p:nvCxnSpPr>
              <p:spPr>
                <a:xfrm>
                  <a:off x="1624490" y="5505699"/>
                  <a:ext cx="1385576" cy="0"/>
                </a:xfrm>
                <a:prstGeom prst="straightConnector1">
                  <a:avLst/>
                </a:prstGeom>
                <a:noFill/>
                <a:ln cap="flat" cmpd="sng" w="9525">
                  <a:solidFill>
                    <a:schemeClr val="dk1"/>
                  </a:solidFill>
                  <a:prstDash val="solid"/>
                  <a:miter lim="800000"/>
                  <a:headEnd len="sm" w="sm" type="none"/>
                  <a:tailEnd len="sm" w="sm" type="none"/>
                </a:ln>
              </p:spPr>
            </p:cxnSp>
            <p:grpSp>
              <p:nvGrpSpPr>
                <p:cNvPr id="779" name="Google Shape;779;p21"/>
                <p:cNvGrpSpPr/>
                <p:nvPr/>
              </p:nvGrpSpPr>
              <p:grpSpPr>
                <a:xfrm>
                  <a:off x="1749287" y="5221357"/>
                  <a:ext cx="1175002" cy="1311965"/>
                  <a:chOff x="4426226" y="4479235"/>
                  <a:chExt cx="1175002" cy="1311965"/>
                </a:xfrm>
              </p:grpSpPr>
              <p:sp>
                <p:nvSpPr>
                  <p:cNvPr id="780" name="Google Shape;780;p21"/>
                  <p:cNvSpPr/>
                  <p:nvPr/>
                </p:nvSpPr>
                <p:spPr>
                  <a:xfrm>
                    <a:off x="4426226" y="4479235"/>
                    <a:ext cx="1166191" cy="1311965"/>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1" name="Google Shape;781;p21"/>
                  <p:cNvSpPr txBox="1"/>
                  <p:nvPr/>
                </p:nvSpPr>
                <p:spPr>
                  <a:xfrm>
                    <a:off x="4426226" y="4479235"/>
                    <a:ext cx="117500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fabric plane 4</a:t>
                    </a:r>
                    <a:endParaRPr/>
                  </a:p>
                </p:txBody>
              </p:sp>
            </p:grpSp>
            <p:sp>
              <p:nvSpPr>
                <p:cNvPr id="782" name="Google Shape;782;p21"/>
                <p:cNvSpPr txBox="1"/>
                <p:nvPr/>
              </p:nvSpPr>
              <p:spPr>
                <a:xfrm rot="-5400000">
                  <a:off x="1369604" y="5690044"/>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783" name="Google Shape;783;p21"/>
                <p:cNvSpPr txBox="1"/>
                <p:nvPr/>
              </p:nvSpPr>
              <p:spPr>
                <a:xfrm rot="-5400000">
                  <a:off x="2687964" y="5686717"/>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grpSp>
            <p:nvGrpSpPr>
              <p:cNvPr id="784" name="Google Shape;784;p21"/>
              <p:cNvGrpSpPr/>
              <p:nvPr/>
            </p:nvGrpSpPr>
            <p:grpSpPr>
              <a:xfrm>
                <a:off x="4371967" y="4015410"/>
                <a:ext cx="1687692" cy="1311965"/>
                <a:chOff x="1416732" y="5221357"/>
                <a:chExt cx="1687692" cy="1311965"/>
              </a:xfrm>
            </p:grpSpPr>
            <p:cxnSp>
              <p:nvCxnSpPr>
                <p:cNvPr id="785" name="Google Shape;785;p21"/>
                <p:cNvCxnSpPr/>
                <p:nvPr/>
              </p:nvCxnSpPr>
              <p:spPr>
                <a:xfrm>
                  <a:off x="1629149" y="5306714"/>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86" name="Google Shape;786;p21"/>
                <p:cNvCxnSpPr/>
                <p:nvPr/>
              </p:nvCxnSpPr>
              <p:spPr>
                <a:xfrm>
                  <a:off x="1629814" y="5415191"/>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87" name="Google Shape;787;p21"/>
                <p:cNvCxnSpPr/>
                <p:nvPr/>
              </p:nvCxnSpPr>
              <p:spPr>
                <a:xfrm>
                  <a:off x="1626486" y="645803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88" name="Google Shape;788;p21"/>
                <p:cNvCxnSpPr/>
                <p:nvPr/>
              </p:nvCxnSpPr>
              <p:spPr>
                <a:xfrm>
                  <a:off x="1627151" y="635887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89" name="Google Shape;789;p21"/>
                <p:cNvCxnSpPr/>
                <p:nvPr/>
              </p:nvCxnSpPr>
              <p:spPr>
                <a:xfrm>
                  <a:off x="1627152" y="625106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90" name="Google Shape;790;p21"/>
                <p:cNvCxnSpPr/>
                <p:nvPr/>
              </p:nvCxnSpPr>
              <p:spPr>
                <a:xfrm>
                  <a:off x="1627817" y="615190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91" name="Google Shape;791;p21"/>
                <p:cNvCxnSpPr/>
                <p:nvPr/>
              </p:nvCxnSpPr>
              <p:spPr>
                <a:xfrm>
                  <a:off x="1623825" y="5604859"/>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792" name="Google Shape;792;p21"/>
                <p:cNvCxnSpPr/>
                <p:nvPr/>
              </p:nvCxnSpPr>
              <p:spPr>
                <a:xfrm>
                  <a:off x="1624490" y="5505699"/>
                  <a:ext cx="1385576" cy="0"/>
                </a:xfrm>
                <a:prstGeom prst="straightConnector1">
                  <a:avLst/>
                </a:prstGeom>
                <a:noFill/>
                <a:ln cap="flat" cmpd="sng" w="9525">
                  <a:solidFill>
                    <a:schemeClr val="dk1"/>
                  </a:solidFill>
                  <a:prstDash val="solid"/>
                  <a:miter lim="800000"/>
                  <a:headEnd len="sm" w="sm" type="none"/>
                  <a:tailEnd len="sm" w="sm" type="none"/>
                </a:ln>
              </p:spPr>
            </p:cxnSp>
            <p:grpSp>
              <p:nvGrpSpPr>
                <p:cNvPr id="793" name="Google Shape;793;p21"/>
                <p:cNvGrpSpPr/>
                <p:nvPr/>
              </p:nvGrpSpPr>
              <p:grpSpPr>
                <a:xfrm>
                  <a:off x="1749287" y="5221357"/>
                  <a:ext cx="1175002" cy="1311965"/>
                  <a:chOff x="4426226" y="4479235"/>
                  <a:chExt cx="1175002" cy="1311965"/>
                </a:xfrm>
              </p:grpSpPr>
              <p:sp>
                <p:nvSpPr>
                  <p:cNvPr id="794" name="Google Shape;794;p21"/>
                  <p:cNvSpPr/>
                  <p:nvPr/>
                </p:nvSpPr>
                <p:spPr>
                  <a:xfrm>
                    <a:off x="4426226" y="4479235"/>
                    <a:ext cx="1166191" cy="1311965"/>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95" name="Google Shape;795;p21"/>
                  <p:cNvSpPr txBox="1"/>
                  <p:nvPr/>
                </p:nvSpPr>
                <p:spPr>
                  <a:xfrm>
                    <a:off x="4426226" y="4479235"/>
                    <a:ext cx="117500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fabric plane 5</a:t>
                    </a:r>
                    <a:endParaRPr/>
                  </a:p>
                </p:txBody>
              </p:sp>
            </p:grpSp>
            <p:sp>
              <p:nvSpPr>
                <p:cNvPr id="796" name="Google Shape;796;p21"/>
                <p:cNvSpPr txBox="1"/>
                <p:nvPr/>
              </p:nvSpPr>
              <p:spPr>
                <a:xfrm rot="-5400000">
                  <a:off x="1369604" y="5690044"/>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797" name="Google Shape;797;p21"/>
                <p:cNvSpPr txBox="1"/>
                <p:nvPr/>
              </p:nvSpPr>
              <p:spPr>
                <a:xfrm rot="-5400000">
                  <a:off x="2687964" y="5686717"/>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grpSp>
            <p:nvGrpSpPr>
              <p:cNvPr id="798" name="Google Shape;798;p21"/>
              <p:cNvGrpSpPr/>
              <p:nvPr/>
            </p:nvGrpSpPr>
            <p:grpSpPr>
              <a:xfrm>
                <a:off x="4285828" y="4234071"/>
                <a:ext cx="1687692" cy="1311965"/>
                <a:chOff x="1416732" y="5221357"/>
                <a:chExt cx="1687692" cy="1311965"/>
              </a:xfrm>
            </p:grpSpPr>
            <p:cxnSp>
              <p:nvCxnSpPr>
                <p:cNvPr id="799" name="Google Shape;799;p21"/>
                <p:cNvCxnSpPr/>
                <p:nvPr/>
              </p:nvCxnSpPr>
              <p:spPr>
                <a:xfrm>
                  <a:off x="1629149" y="5306714"/>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800" name="Google Shape;800;p21"/>
                <p:cNvCxnSpPr/>
                <p:nvPr/>
              </p:nvCxnSpPr>
              <p:spPr>
                <a:xfrm>
                  <a:off x="1629814" y="5415191"/>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801" name="Google Shape;801;p21"/>
                <p:cNvCxnSpPr/>
                <p:nvPr/>
              </p:nvCxnSpPr>
              <p:spPr>
                <a:xfrm>
                  <a:off x="1626486" y="645803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802" name="Google Shape;802;p21"/>
                <p:cNvCxnSpPr/>
                <p:nvPr/>
              </p:nvCxnSpPr>
              <p:spPr>
                <a:xfrm>
                  <a:off x="1627151" y="635887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803" name="Google Shape;803;p21"/>
                <p:cNvCxnSpPr/>
                <p:nvPr/>
              </p:nvCxnSpPr>
              <p:spPr>
                <a:xfrm>
                  <a:off x="1627152" y="625106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804" name="Google Shape;804;p21"/>
                <p:cNvCxnSpPr/>
                <p:nvPr/>
              </p:nvCxnSpPr>
              <p:spPr>
                <a:xfrm>
                  <a:off x="1627817" y="615190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805" name="Google Shape;805;p21"/>
                <p:cNvCxnSpPr/>
                <p:nvPr/>
              </p:nvCxnSpPr>
              <p:spPr>
                <a:xfrm>
                  <a:off x="1623825" y="5604859"/>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806" name="Google Shape;806;p21"/>
                <p:cNvCxnSpPr/>
                <p:nvPr/>
              </p:nvCxnSpPr>
              <p:spPr>
                <a:xfrm>
                  <a:off x="1624490" y="5505699"/>
                  <a:ext cx="1385576" cy="0"/>
                </a:xfrm>
                <a:prstGeom prst="straightConnector1">
                  <a:avLst/>
                </a:prstGeom>
                <a:noFill/>
                <a:ln cap="flat" cmpd="sng" w="9525">
                  <a:solidFill>
                    <a:schemeClr val="dk1"/>
                  </a:solidFill>
                  <a:prstDash val="solid"/>
                  <a:miter lim="800000"/>
                  <a:headEnd len="sm" w="sm" type="none"/>
                  <a:tailEnd len="sm" w="sm" type="none"/>
                </a:ln>
              </p:spPr>
            </p:cxnSp>
            <p:grpSp>
              <p:nvGrpSpPr>
                <p:cNvPr id="807" name="Google Shape;807;p21"/>
                <p:cNvGrpSpPr/>
                <p:nvPr/>
              </p:nvGrpSpPr>
              <p:grpSpPr>
                <a:xfrm>
                  <a:off x="1749287" y="5221357"/>
                  <a:ext cx="1175002" cy="1311965"/>
                  <a:chOff x="4426226" y="4479235"/>
                  <a:chExt cx="1175002" cy="1311965"/>
                </a:xfrm>
              </p:grpSpPr>
              <p:sp>
                <p:nvSpPr>
                  <p:cNvPr id="808" name="Google Shape;808;p21"/>
                  <p:cNvSpPr/>
                  <p:nvPr/>
                </p:nvSpPr>
                <p:spPr>
                  <a:xfrm>
                    <a:off x="4426226" y="4479235"/>
                    <a:ext cx="1166191" cy="1311965"/>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09" name="Google Shape;809;p21"/>
                  <p:cNvSpPr txBox="1"/>
                  <p:nvPr/>
                </p:nvSpPr>
                <p:spPr>
                  <a:xfrm>
                    <a:off x="4426226" y="4479235"/>
                    <a:ext cx="117500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fabric plane 6</a:t>
                    </a:r>
                    <a:endParaRPr/>
                  </a:p>
                </p:txBody>
              </p:sp>
            </p:grpSp>
            <p:sp>
              <p:nvSpPr>
                <p:cNvPr id="810" name="Google Shape;810;p21"/>
                <p:cNvSpPr txBox="1"/>
                <p:nvPr/>
              </p:nvSpPr>
              <p:spPr>
                <a:xfrm rot="-5400000">
                  <a:off x="1369604" y="5690044"/>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811" name="Google Shape;811;p21"/>
                <p:cNvSpPr txBox="1"/>
                <p:nvPr/>
              </p:nvSpPr>
              <p:spPr>
                <a:xfrm rot="-5400000">
                  <a:off x="2687964" y="5686717"/>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grpSp>
            <p:nvGrpSpPr>
              <p:cNvPr id="812" name="Google Shape;812;p21"/>
              <p:cNvGrpSpPr/>
              <p:nvPr/>
            </p:nvGrpSpPr>
            <p:grpSpPr>
              <a:xfrm>
                <a:off x="4199689" y="4452732"/>
                <a:ext cx="1687692" cy="1311965"/>
                <a:chOff x="1416732" y="5221357"/>
                <a:chExt cx="1687692" cy="1311965"/>
              </a:xfrm>
            </p:grpSpPr>
            <p:cxnSp>
              <p:nvCxnSpPr>
                <p:cNvPr id="813" name="Google Shape;813;p21"/>
                <p:cNvCxnSpPr/>
                <p:nvPr/>
              </p:nvCxnSpPr>
              <p:spPr>
                <a:xfrm>
                  <a:off x="1629149" y="5306714"/>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814" name="Google Shape;814;p21"/>
                <p:cNvCxnSpPr/>
                <p:nvPr/>
              </p:nvCxnSpPr>
              <p:spPr>
                <a:xfrm>
                  <a:off x="1629814" y="5415191"/>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815" name="Google Shape;815;p21"/>
                <p:cNvCxnSpPr/>
                <p:nvPr/>
              </p:nvCxnSpPr>
              <p:spPr>
                <a:xfrm>
                  <a:off x="1626486" y="645803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816" name="Google Shape;816;p21"/>
                <p:cNvCxnSpPr/>
                <p:nvPr/>
              </p:nvCxnSpPr>
              <p:spPr>
                <a:xfrm>
                  <a:off x="1627151" y="6358873"/>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817" name="Google Shape;817;p21"/>
                <p:cNvCxnSpPr/>
                <p:nvPr/>
              </p:nvCxnSpPr>
              <p:spPr>
                <a:xfrm>
                  <a:off x="1627152" y="625106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818" name="Google Shape;818;p21"/>
                <p:cNvCxnSpPr/>
                <p:nvPr/>
              </p:nvCxnSpPr>
              <p:spPr>
                <a:xfrm>
                  <a:off x="1627817" y="6151902"/>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819" name="Google Shape;819;p21"/>
                <p:cNvCxnSpPr/>
                <p:nvPr/>
              </p:nvCxnSpPr>
              <p:spPr>
                <a:xfrm>
                  <a:off x="1623825" y="5604859"/>
                  <a:ext cx="1385576" cy="0"/>
                </a:xfrm>
                <a:prstGeom prst="straightConnector1">
                  <a:avLst/>
                </a:prstGeom>
                <a:noFill/>
                <a:ln cap="flat" cmpd="sng" w="9525">
                  <a:solidFill>
                    <a:schemeClr val="dk1"/>
                  </a:solidFill>
                  <a:prstDash val="solid"/>
                  <a:miter lim="800000"/>
                  <a:headEnd len="sm" w="sm" type="none"/>
                  <a:tailEnd len="sm" w="sm" type="none"/>
                </a:ln>
              </p:spPr>
            </p:cxnSp>
            <p:cxnSp>
              <p:nvCxnSpPr>
                <p:cNvPr id="820" name="Google Shape;820;p21"/>
                <p:cNvCxnSpPr/>
                <p:nvPr/>
              </p:nvCxnSpPr>
              <p:spPr>
                <a:xfrm>
                  <a:off x="1624490" y="5505699"/>
                  <a:ext cx="1385576" cy="0"/>
                </a:xfrm>
                <a:prstGeom prst="straightConnector1">
                  <a:avLst/>
                </a:prstGeom>
                <a:noFill/>
                <a:ln cap="flat" cmpd="sng" w="9525">
                  <a:solidFill>
                    <a:schemeClr val="dk1"/>
                  </a:solidFill>
                  <a:prstDash val="solid"/>
                  <a:miter lim="800000"/>
                  <a:headEnd len="sm" w="sm" type="none"/>
                  <a:tailEnd len="sm" w="sm" type="none"/>
                </a:ln>
              </p:spPr>
            </p:cxnSp>
            <p:grpSp>
              <p:nvGrpSpPr>
                <p:cNvPr id="821" name="Google Shape;821;p21"/>
                <p:cNvGrpSpPr/>
                <p:nvPr/>
              </p:nvGrpSpPr>
              <p:grpSpPr>
                <a:xfrm>
                  <a:off x="1749287" y="5221357"/>
                  <a:ext cx="1200970" cy="1311965"/>
                  <a:chOff x="4426226" y="4479235"/>
                  <a:chExt cx="1200970" cy="1311965"/>
                </a:xfrm>
              </p:grpSpPr>
              <p:sp>
                <p:nvSpPr>
                  <p:cNvPr id="822" name="Google Shape;822;p21"/>
                  <p:cNvSpPr/>
                  <p:nvPr/>
                </p:nvSpPr>
                <p:spPr>
                  <a:xfrm>
                    <a:off x="4426226" y="4479235"/>
                    <a:ext cx="1166191" cy="1311965"/>
                  </a:xfrm>
                  <a:prstGeom prst="rect">
                    <a:avLst/>
                  </a:prstGeom>
                  <a:solidFill>
                    <a:schemeClr val="lt1"/>
                  </a:solidFill>
                  <a:ln cap="flat" cmpd="sng" w="1270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3" name="Google Shape;823;p21"/>
                  <p:cNvSpPr txBox="1"/>
                  <p:nvPr/>
                </p:nvSpPr>
                <p:spPr>
                  <a:xfrm>
                    <a:off x="4426226" y="4479235"/>
                    <a:ext cx="120097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fabric plane 7</a:t>
                    </a:r>
                    <a:endParaRPr/>
                  </a:p>
                </p:txBody>
              </p:sp>
            </p:grpSp>
            <p:sp>
              <p:nvSpPr>
                <p:cNvPr id="824" name="Google Shape;824;p21"/>
                <p:cNvSpPr txBox="1"/>
                <p:nvPr/>
              </p:nvSpPr>
              <p:spPr>
                <a:xfrm rot="-5400000">
                  <a:off x="1369604" y="5690044"/>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sp>
              <p:nvSpPr>
                <p:cNvPr id="825" name="Google Shape;825;p21"/>
                <p:cNvSpPr txBox="1"/>
                <p:nvPr/>
              </p:nvSpPr>
              <p:spPr>
                <a:xfrm rot="-5400000">
                  <a:off x="2687964" y="5686717"/>
                  <a:ext cx="4635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 .</a:t>
                  </a:r>
                  <a:endParaRPr/>
                </a:p>
              </p:txBody>
            </p:sp>
          </p:grpSp>
        </p:grpSp>
        <p:grpSp>
          <p:nvGrpSpPr>
            <p:cNvPr id="826" name="Google Shape;826;p21"/>
            <p:cNvGrpSpPr/>
            <p:nvPr/>
          </p:nvGrpSpPr>
          <p:grpSpPr>
            <a:xfrm>
              <a:off x="7458844" y="4535520"/>
              <a:ext cx="799405" cy="236966"/>
              <a:chOff x="453" y="3465"/>
              <a:chExt cx="561" cy="136"/>
            </a:xfrm>
          </p:grpSpPr>
          <p:sp>
            <p:nvSpPr>
              <p:cNvPr id="827" name="Google Shape;827;p21"/>
              <p:cNvSpPr/>
              <p:nvPr/>
            </p:nvSpPr>
            <p:spPr>
              <a:xfrm>
                <a:off x="496" y="3465"/>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8" name="Google Shape;828;p21"/>
              <p:cNvSpPr/>
              <p:nvPr/>
            </p:nvSpPr>
            <p:spPr>
              <a:xfrm>
                <a:off x="769" y="3504"/>
                <a:ext cx="132" cy="61"/>
              </a:xfrm>
              <a:prstGeom prst="rect">
                <a:avLst/>
              </a:prstGeom>
              <a:solidFill>
                <a:srgbClr val="FFFFFF"/>
              </a:solidFill>
              <a:ln cap="flat" cmpd="sng" w="158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9" name="Google Shape;829;p21"/>
              <p:cNvSpPr/>
              <p:nvPr/>
            </p:nvSpPr>
            <p:spPr>
              <a:xfrm>
                <a:off x="642" y="3481"/>
                <a:ext cx="108" cy="104"/>
              </a:xfrm>
              <a:prstGeom prst="rect">
                <a:avLst/>
              </a:prstGeom>
              <a:solidFill>
                <a:srgbClr val="FFFFFF"/>
              </a:solidFill>
              <a:ln cap="flat" cmpd="sng" w="158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0" name="Google Shape;830;p21"/>
              <p:cNvSpPr/>
              <p:nvPr/>
            </p:nvSpPr>
            <p:spPr>
              <a:xfrm>
                <a:off x="515" y="3478"/>
                <a:ext cx="108" cy="105"/>
              </a:xfrm>
              <a:prstGeom prst="rect">
                <a:avLst/>
              </a:prstGeom>
              <a:solidFill>
                <a:srgbClr val="FFFFFF"/>
              </a:solidFill>
              <a:ln cap="flat" cmpd="sng" w="158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831" name="Google Shape;831;p21"/>
              <p:cNvCxnSpPr/>
              <p:nvPr/>
            </p:nvCxnSpPr>
            <p:spPr>
              <a:xfrm flipH="1" rot="10800000">
                <a:off x="453" y="3529"/>
                <a:ext cx="561" cy="4"/>
              </a:xfrm>
              <a:prstGeom prst="straightConnector1">
                <a:avLst/>
              </a:prstGeom>
              <a:noFill/>
              <a:ln cap="flat" cmpd="sng" w="19050">
                <a:solidFill>
                  <a:srgbClr val="000000"/>
                </a:solidFill>
                <a:prstDash val="solid"/>
                <a:round/>
                <a:headEnd len="med" w="med" type="none"/>
                <a:tailEnd len="med" w="med" type="triangle"/>
              </a:ln>
            </p:spPr>
          </p:cxnSp>
        </p:grpSp>
        <p:cxnSp>
          <p:nvCxnSpPr>
            <p:cNvPr id="832" name="Google Shape;832;p21"/>
            <p:cNvCxnSpPr/>
            <p:nvPr/>
          </p:nvCxnSpPr>
          <p:spPr>
            <a:xfrm flipH="1">
              <a:off x="4374532" y="2250005"/>
              <a:ext cx="1064231" cy="292455"/>
            </a:xfrm>
            <a:prstGeom prst="straightConnector1">
              <a:avLst/>
            </a:prstGeom>
            <a:noFill/>
            <a:ln cap="flat" cmpd="sng" w="9525">
              <a:solidFill>
                <a:schemeClr val="accent1"/>
              </a:solidFill>
              <a:prstDash val="solid"/>
              <a:miter lim="800000"/>
              <a:headEnd len="sm" w="sm" type="none"/>
              <a:tailEnd len="sm" w="sm" type="none"/>
            </a:ln>
          </p:spPr>
        </p:cxnSp>
        <p:cxnSp>
          <p:nvCxnSpPr>
            <p:cNvPr id="833" name="Google Shape;833;p21"/>
            <p:cNvCxnSpPr/>
            <p:nvPr/>
          </p:nvCxnSpPr>
          <p:spPr>
            <a:xfrm flipH="1">
              <a:off x="4379613" y="2473015"/>
              <a:ext cx="975008" cy="70021"/>
            </a:xfrm>
            <a:prstGeom prst="straightConnector1">
              <a:avLst/>
            </a:prstGeom>
            <a:noFill/>
            <a:ln cap="flat" cmpd="sng" w="9525">
              <a:solidFill>
                <a:schemeClr val="accent1"/>
              </a:solidFill>
              <a:prstDash val="solid"/>
              <a:miter lim="800000"/>
              <a:headEnd len="sm" w="sm" type="none"/>
              <a:tailEnd len="sm" w="sm" type="none"/>
            </a:ln>
          </p:spPr>
        </p:cxnSp>
        <p:cxnSp>
          <p:nvCxnSpPr>
            <p:cNvPr id="834" name="Google Shape;834;p21"/>
            <p:cNvCxnSpPr/>
            <p:nvPr/>
          </p:nvCxnSpPr>
          <p:spPr>
            <a:xfrm rot="10800000">
              <a:off x="4374532" y="2542460"/>
              <a:ext cx="887706" cy="145327"/>
            </a:xfrm>
            <a:prstGeom prst="straightConnector1">
              <a:avLst/>
            </a:prstGeom>
            <a:noFill/>
            <a:ln cap="flat" cmpd="sng" w="9525">
              <a:solidFill>
                <a:schemeClr val="accent1"/>
              </a:solidFill>
              <a:prstDash val="solid"/>
              <a:miter lim="800000"/>
              <a:headEnd len="sm" w="sm" type="none"/>
              <a:tailEnd len="sm" w="sm" type="none"/>
            </a:ln>
          </p:spPr>
        </p:cxnSp>
        <p:cxnSp>
          <p:nvCxnSpPr>
            <p:cNvPr id="835" name="Google Shape;835;p21"/>
            <p:cNvCxnSpPr/>
            <p:nvPr/>
          </p:nvCxnSpPr>
          <p:spPr>
            <a:xfrm rot="10800000">
              <a:off x="4383143" y="2539506"/>
              <a:ext cx="803404" cy="366008"/>
            </a:xfrm>
            <a:prstGeom prst="straightConnector1">
              <a:avLst/>
            </a:prstGeom>
            <a:noFill/>
            <a:ln cap="flat" cmpd="sng" w="9525">
              <a:solidFill>
                <a:schemeClr val="accent1"/>
              </a:solidFill>
              <a:prstDash val="solid"/>
              <a:miter lim="800000"/>
              <a:headEnd len="sm" w="sm" type="none"/>
              <a:tailEnd len="sm" w="sm" type="none"/>
            </a:ln>
          </p:spPr>
        </p:cxnSp>
        <p:cxnSp>
          <p:nvCxnSpPr>
            <p:cNvPr id="836" name="Google Shape;836;p21"/>
            <p:cNvCxnSpPr/>
            <p:nvPr/>
          </p:nvCxnSpPr>
          <p:spPr>
            <a:xfrm rot="10800000">
              <a:off x="4374532" y="2542460"/>
              <a:ext cx="721772" cy="582522"/>
            </a:xfrm>
            <a:prstGeom prst="straightConnector1">
              <a:avLst/>
            </a:prstGeom>
            <a:noFill/>
            <a:ln cap="flat" cmpd="sng" w="9525">
              <a:solidFill>
                <a:schemeClr val="accent1"/>
              </a:solidFill>
              <a:prstDash val="solid"/>
              <a:miter lim="800000"/>
              <a:headEnd len="sm" w="sm" type="none"/>
              <a:tailEnd len="sm" w="sm" type="none"/>
            </a:ln>
          </p:spPr>
        </p:cxnSp>
        <p:cxnSp>
          <p:nvCxnSpPr>
            <p:cNvPr id="837" name="Google Shape;837;p21"/>
            <p:cNvCxnSpPr/>
            <p:nvPr/>
          </p:nvCxnSpPr>
          <p:spPr>
            <a:xfrm rot="10800000">
              <a:off x="4379613" y="2543036"/>
              <a:ext cx="630409" cy="796730"/>
            </a:xfrm>
            <a:prstGeom prst="straightConnector1">
              <a:avLst/>
            </a:prstGeom>
            <a:noFill/>
            <a:ln cap="flat" cmpd="sng" w="9525">
              <a:solidFill>
                <a:schemeClr val="accent1"/>
              </a:solidFill>
              <a:prstDash val="solid"/>
              <a:miter lim="800000"/>
              <a:headEnd len="sm" w="sm" type="none"/>
              <a:tailEnd len="sm" w="sm" type="none"/>
            </a:ln>
          </p:spPr>
        </p:cxnSp>
        <p:cxnSp>
          <p:nvCxnSpPr>
            <p:cNvPr id="838" name="Google Shape;838;p21"/>
            <p:cNvCxnSpPr/>
            <p:nvPr/>
          </p:nvCxnSpPr>
          <p:spPr>
            <a:xfrm rot="10800000">
              <a:off x="4374532" y="2542460"/>
              <a:ext cx="554878" cy="1023846"/>
            </a:xfrm>
            <a:prstGeom prst="straightConnector1">
              <a:avLst/>
            </a:prstGeom>
            <a:noFill/>
            <a:ln cap="flat" cmpd="sng" w="9525">
              <a:solidFill>
                <a:schemeClr val="accent1"/>
              </a:solidFill>
              <a:prstDash val="solid"/>
              <a:miter lim="800000"/>
              <a:headEnd len="sm" w="sm" type="none"/>
              <a:tailEnd len="sm" w="sm" type="none"/>
            </a:ln>
          </p:spPr>
        </p:cxnSp>
        <p:cxnSp>
          <p:nvCxnSpPr>
            <p:cNvPr id="839" name="Google Shape;839;p21"/>
            <p:cNvCxnSpPr/>
            <p:nvPr/>
          </p:nvCxnSpPr>
          <p:spPr>
            <a:xfrm rot="10800000">
              <a:off x="4374532" y="2542460"/>
              <a:ext cx="463674" cy="1239796"/>
            </a:xfrm>
            <a:prstGeom prst="straightConnector1">
              <a:avLst/>
            </a:prstGeom>
            <a:noFill/>
            <a:ln cap="flat" cmpd="sng" w="9525">
              <a:solidFill>
                <a:schemeClr val="accent1"/>
              </a:solidFill>
              <a:prstDash val="solid"/>
              <a:miter lim="800000"/>
              <a:headEnd len="sm" w="sm" type="none"/>
              <a:tailEnd len="sm" w="sm" type="none"/>
            </a:ln>
          </p:spPr>
        </p:cxnSp>
        <p:cxnSp>
          <p:nvCxnSpPr>
            <p:cNvPr id="840" name="Google Shape;840;p21"/>
            <p:cNvCxnSpPr/>
            <p:nvPr/>
          </p:nvCxnSpPr>
          <p:spPr>
            <a:xfrm rot="10800000">
              <a:off x="6814697" y="3196191"/>
              <a:ext cx="643514" cy="1458085"/>
            </a:xfrm>
            <a:prstGeom prst="straightConnector1">
              <a:avLst/>
            </a:prstGeom>
            <a:noFill/>
            <a:ln cap="flat" cmpd="sng" w="9525">
              <a:solidFill>
                <a:schemeClr val="accent1"/>
              </a:solidFill>
              <a:prstDash val="solid"/>
              <a:miter lim="800000"/>
              <a:headEnd len="sm" w="sm" type="none"/>
              <a:tailEnd len="sm" w="sm" type="none"/>
            </a:ln>
          </p:spPr>
        </p:cxnSp>
        <p:cxnSp>
          <p:nvCxnSpPr>
            <p:cNvPr id="841" name="Google Shape;841;p21"/>
            <p:cNvCxnSpPr>
              <a:stCxn id="831" idx="0"/>
            </p:cNvCxnSpPr>
            <p:nvPr/>
          </p:nvCxnSpPr>
          <p:spPr>
            <a:xfrm rot="10800000">
              <a:off x="6730444" y="3415603"/>
              <a:ext cx="728400" cy="1238400"/>
            </a:xfrm>
            <a:prstGeom prst="straightConnector1">
              <a:avLst/>
            </a:prstGeom>
            <a:noFill/>
            <a:ln cap="flat" cmpd="sng" w="9525">
              <a:solidFill>
                <a:schemeClr val="accent1"/>
              </a:solidFill>
              <a:prstDash val="solid"/>
              <a:miter lim="800000"/>
              <a:headEnd len="sm" w="sm" type="none"/>
              <a:tailEnd len="sm" w="sm" type="none"/>
            </a:ln>
          </p:spPr>
        </p:cxnSp>
        <p:cxnSp>
          <p:nvCxnSpPr>
            <p:cNvPr id="842" name="Google Shape;842;p21"/>
            <p:cNvCxnSpPr>
              <a:stCxn id="831" idx="0"/>
            </p:cNvCxnSpPr>
            <p:nvPr/>
          </p:nvCxnSpPr>
          <p:spPr>
            <a:xfrm rot="10800000">
              <a:off x="6653344" y="3638803"/>
              <a:ext cx="805500" cy="1015200"/>
            </a:xfrm>
            <a:prstGeom prst="straightConnector1">
              <a:avLst/>
            </a:prstGeom>
            <a:noFill/>
            <a:ln cap="flat" cmpd="sng" w="9525">
              <a:solidFill>
                <a:schemeClr val="accent1"/>
              </a:solidFill>
              <a:prstDash val="solid"/>
              <a:miter lim="800000"/>
              <a:headEnd len="sm" w="sm" type="none"/>
              <a:tailEnd len="sm" w="sm" type="none"/>
            </a:ln>
          </p:spPr>
        </p:cxnSp>
        <p:cxnSp>
          <p:nvCxnSpPr>
            <p:cNvPr id="843" name="Google Shape;843;p21"/>
            <p:cNvCxnSpPr>
              <a:stCxn id="831" idx="0"/>
            </p:cNvCxnSpPr>
            <p:nvPr/>
          </p:nvCxnSpPr>
          <p:spPr>
            <a:xfrm rot="10800000">
              <a:off x="6569344" y="3858103"/>
              <a:ext cx="889500" cy="795900"/>
            </a:xfrm>
            <a:prstGeom prst="straightConnector1">
              <a:avLst/>
            </a:prstGeom>
            <a:noFill/>
            <a:ln cap="flat" cmpd="sng" w="9525">
              <a:solidFill>
                <a:schemeClr val="accent1"/>
              </a:solidFill>
              <a:prstDash val="solid"/>
              <a:miter lim="800000"/>
              <a:headEnd len="sm" w="sm" type="none"/>
              <a:tailEnd len="sm" w="sm" type="none"/>
            </a:ln>
          </p:spPr>
        </p:cxnSp>
        <p:cxnSp>
          <p:nvCxnSpPr>
            <p:cNvPr id="844" name="Google Shape;844;p21"/>
            <p:cNvCxnSpPr>
              <a:stCxn id="831" idx="0"/>
            </p:cNvCxnSpPr>
            <p:nvPr/>
          </p:nvCxnSpPr>
          <p:spPr>
            <a:xfrm rot="10800000">
              <a:off x="6478144" y="4074103"/>
              <a:ext cx="980700" cy="579900"/>
            </a:xfrm>
            <a:prstGeom prst="straightConnector1">
              <a:avLst/>
            </a:prstGeom>
            <a:noFill/>
            <a:ln cap="flat" cmpd="sng" w="9525">
              <a:solidFill>
                <a:schemeClr val="accent1"/>
              </a:solidFill>
              <a:prstDash val="solid"/>
              <a:miter lim="800000"/>
              <a:headEnd len="sm" w="sm" type="none"/>
              <a:tailEnd len="sm" w="sm" type="none"/>
            </a:ln>
          </p:spPr>
        </p:cxnSp>
        <p:cxnSp>
          <p:nvCxnSpPr>
            <p:cNvPr id="845" name="Google Shape;845;p21"/>
            <p:cNvCxnSpPr>
              <a:stCxn id="831" idx="0"/>
            </p:cNvCxnSpPr>
            <p:nvPr/>
          </p:nvCxnSpPr>
          <p:spPr>
            <a:xfrm rot="10800000">
              <a:off x="6390544" y="4290103"/>
              <a:ext cx="1068300" cy="363900"/>
            </a:xfrm>
            <a:prstGeom prst="straightConnector1">
              <a:avLst/>
            </a:prstGeom>
            <a:noFill/>
            <a:ln cap="flat" cmpd="sng" w="9525">
              <a:solidFill>
                <a:schemeClr val="accent1"/>
              </a:solidFill>
              <a:prstDash val="solid"/>
              <a:miter lim="800000"/>
              <a:headEnd len="sm" w="sm" type="none"/>
              <a:tailEnd len="sm" w="sm" type="none"/>
            </a:ln>
          </p:spPr>
        </p:cxnSp>
        <p:cxnSp>
          <p:nvCxnSpPr>
            <p:cNvPr id="846" name="Google Shape;846;p21"/>
            <p:cNvCxnSpPr>
              <a:stCxn id="831" idx="0"/>
            </p:cNvCxnSpPr>
            <p:nvPr/>
          </p:nvCxnSpPr>
          <p:spPr>
            <a:xfrm rot="10800000">
              <a:off x="6299344" y="4509403"/>
              <a:ext cx="1159500" cy="144600"/>
            </a:xfrm>
            <a:prstGeom prst="straightConnector1">
              <a:avLst/>
            </a:prstGeom>
            <a:noFill/>
            <a:ln cap="flat" cmpd="sng" w="9525">
              <a:solidFill>
                <a:schemeClr val="accent1"/>
              </a:solidFill>
              <a:prstDash val="solid"/>
              <a:miter lim="800000"/>
              <a:headEnd len="sm" w="sm" type="none"/>
              <a:tailEnd len="sm" w="sm" type="none"/>
            </a:ln>
          </p:spPr>
        </p:cxnSp>
        <p:cxnSp>
          <p:nvCxnSpPr>
            <p:cNvPr id="847" name="Google Shape;847;p21"/>
            <p:cNvCxnSpPr/>
            <p:nvPr/>
          </p:nvCxnSpPr>
          <p:spPr>
            <a:xfrm flipH="1">
              <a:off x="6218650" y="4657807"/>
              <a:ext cx="1228969" cy="78279"/>
            </a:xfrm>
            <a:prstGeom prst="straightConnector1">
              <a:avLst/>
            </a:prstGeom>
            <a:noFill/>
            <a:ln cap="flat" cmpd="sng" w="9525">
              <a:solidFill>
                <a:schemeClr val="accent1"/>
              </a:solidFill>
              <a:prstDash val="solid"/>
              <a:miter lim="800000"/>
              <a:headEnd len="sm" w="sm" type="none"/>
              <a:tailEnd len="sm" w="sm" type="none"/>
            </a:ln>
          </p:spPr>
        </p:cxnSp>
        <p:grpSp>
          <p:nvGrpSpPr>
            <p:cNvPr id="848" name="Google Shape;848;p21"/>
            <p:cNvGrpSpPr/>
            <p:nvPr/>
          </p:nvGrpSpPr>
          <p:grpSpPr>
            <a:xfrm>
              <a:off x="2502527" y="4777410"/>
              <a:ext cx="977484" cy="193795"/>
              <a:chOff x="876" y="2800"/>
              <a:chExt cx="642" cy="175"/>
            </a:xfrm>
          </p:grpSpPr>
          <p:sp>
            <p:nvSpPr>
              <p:cNvPr id="849" name="Google Shape;849;p21"/>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50" name="Google Shape;850;p21"/>
              <p:cNvSpPr/>
              <p:nvPr/>
            </p:nvSpPr>
            <p:spPr>
              <a:xfrm>
                <a:off x="945" y="2849"/>
                <a:ext cx="151" cy="78"/>
              </a:xfrm>
              <a:prstGeom prst="rect">
                <a:avLst/>
              </a:prstGeom>
              <a:solidFill>
                <a:srgbClr val="FFFFFF"/>
              </a:solidFill>
              <a:ln cap="flat" cmpd="sng" w="1270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51" name="Google Shape;851;p21"/>
              <p:cNvSpPr/>
              <p:nvPr/>
            </p:nvSpPr>
            <p:spPr>
              <a:xfrm>
                <a:off x="1117" y="2821"/>
                <a:ext cx="124" cy="134"/>
              </a:xfrm>
              <a:prstGeom prst="rect">
                <a:avLst/>
              </a:prstGeom>
              <a:solidFill>
                <a:srgbClr val="FFFFFF"/>
              </a:solidFill>
              <a:ln cap="flat" cmpd="sng" w="1270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52" name="Google Shape;852;p21"/>
              <p:cNvSpPr/>
              <p:nvPr/>
            </p:nvSpPr>
            <p:spPr>
              <a:xfrm>
                <a:off x="1263" y="2821"/>
                <a:ext cx="125" cy="135"/>
              </a:xfrm>
              <a:prstGeom prst="rect">
                <a:avLst/>
              </a:prstGeom>
              <a:solidFill>
                <a:srgbClr val="FFFF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853" name="Google Shape;853;p21"/>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854" name="Google Shape;854;p21"/>
            <p:cNvGrpSpPr/>
            <p:nvPr/>
          </p:nvGrpSpPr>
          <p:grpSpPr>
            <a:xfrm>
              <a:off x="3507269" y="2955235"/>
              <a:ext cx="216590" cy="413440"/>
              <a:chOff x="3507269" y="2955235"/>
              <a:chExt cx="216590" cy="413440"/>
            </a:xfrm>
          </p:grpSpPr>
          <p:sp>
            <p:nvSpPr>
              <p:cNvPr id="855" name="Google Shape;855;p21"/>
              <p:cNvSpPr/>
              <p:nvPr/>
            </p:nvSpPr>
            <p:spPr>
              <a:xfrm>
                <a:off x="3631094" y="2955235"/>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6" name="Google Shape;856;p21"/>
              <p:cNvSpPr/>
              <p:nvPr/>
            </p:nvSpPr>
            <p:spPr>
              <a:xfrm>
                <a:off x="3570769" y="3117160"/>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7" name="Google Shape;857;p21"/>
              <p:cNvSpPr/>
              <p:nvPr/>
            </p:nvSpPr>
            <p:spPr>
              <a:xfrm>
                <a:off x="3507269" y="3275910"/>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858" name="Google Shape;858;p21"/>
            <p:cNvGrpSpPr/>
            <p:nvPr/>
          </p:nvGrpSpPr>
          <p:grpSpPr>
            <a:xfrm>
              <a:off x="3177069" y="3850585"/>
              <a:ext cx="216590" cy="413440"/>
              <a:chOff x="3507269" y="2955235"/>
              <a:chExt cx="216590" cy="413440"/>
            </a:xfrm>
          </p:grpSpPr>
          <p:sp>
            <p:nvSpPr>
              <p:cNvPr id="859" name="Google Shape;859;p21"/>
              <p:cNvSpPr/>
              <p:nvPr/>
            </p:nvSpPr>
            <p:spPr>
              <a:xfrm>
                <a:off x="3631094" y="2955235"/>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0" name="Google Shape;860;p21"/>
              <p:cNvSpPr/>
              <p:nvPr/>
            </p:nvSpPr>
            <p:spPr>
              <a:xfrm>
                <a:off x="3570769" y="3117160"/>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1" name="Google Shape;861;p21"/>
              <p:cNvSpPr/>
              <p:nvPr/>
            </p:nvSpPr>
            <p:spPr>
              <a:xfrm>
                <a:off x="3507269" y="3275910"/>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862" name="Google Shape;862;p21"/>
            <p:cNvGrpSpPr/>
            <p:nvPr/>
          </p:nvGrpSpPr>
          <p:grpSpPr>
            <a:xfrm>
              <a:off x="3399128" y="2453587"/>
              <a:ext cx="977484" cy="193795"/>
              <a:chOff x="876" y="2800"/>
              <a:chExt cx="642" cy="175"/>
            </a:xfrm>
          </p:grpSpPr>
          <p:sp>
            <p:nvSpPr>
              <p:cNvPr id="863" name="Google Shape;863;p21"/>
              <p:cNvSpPr/>
              <p:nvPr/>
            </p:nvSpPr>
            <p:spPr>
              <a:xfrm>
                <a:off x="925" y="2800"/>
                <a:ext cx="485" cy="175"/>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4" name="Google Shape;864;p21"/>
              <p:cNvSpPr/>
              <p:nvPr/>
            </p:nvSpPr>
            <p:spPr>
              <a:xfrm>
                <a:off x="945" y="2849"/>
                <a:ext cx="151" cy="78"/>
              </a:xfrm>
              <a:prstGeom prst="rect">
                <a:avLst/>
              </a:prstGeom>
              <a:solidFill>
                <a:srgbClr val="FFFFFF"/>
              </a:solidFill>
              <a:ln cap="flat" cmpd="sng" w="12700">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5" name="Google Shape;865;p21"/>
              <p:cNvSpPr/>
              <p:nvPr/>
            </p:nvSpPr>
            <p:spPr>
              <a:xfrm>
                <a:off x="1117" y="2821"/>
                <a:ext cx="124" cy="134"/>
              </a:xfrm>
              <a:prstGeom prst="rect">
                <a:avLst/>
              </a:prstGeom>
              <a:solidFill>
                <a:srgbClr val="FFFFFF"/>
              </a:solidFill>
              <a:ln cap="flat" cmpd="sng" w="1270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6" name="Google Shape;866;p21"/>
              <p:cNvSpPr/>
              <p:nvPr/>
            </p:nvSpPr>
            <p:spPr>
              <a:xfrm>
                <a:off x="1263" y="2821"/>
                <a:ext cx="125" cy="135"/>
              </a:xfrm>
              <a:prstGeom prst="rect">
                <a:avLst/>
              </a:prstGeom>
              <a:solidFill>
                <a:srgbClr val="FFFF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867" name="Google Shape;867;p21"/>
              <p:cNvCxnSpPr/>
              <p:nvPr/>
            </p:nvCxnSpPr>
            <p:spPr>
              <a:xfrm flipH="1" rot="10800000">
                <a:off x="876" y="2882"/>
                <a:ext cx="642" cy="5"/>
              </a:xfrm>
              <a:prstGeom prst="straightConnector1">
                <a:avLst/>
              </a:prstGeom>
              <a:noFill/>
              <a:ln cap="flat" cmpd="sng" w="19050">
                <a:solidFill>
                  <a:srgbClr val="000000"/>
                </a:solidFill>
                <a:prstDash val="solid"/>
                <a:round/>
                <a:headEnd len="med" w="med" type="none"/>
                <a:tailEnd len="med" w="med" type="triangle"/>
              </a:ln>
            </p:spPr>
          </p:cxnSp>
        </p:grpSp>
        <p:grpSp>
          <p:nvGrpSpPr>
            <p:cNvPr id="868" name="Google Shape;868;p21"/>
            <p:cNvGrpSpPr/>
            <p:nvPr/>
          </p:nvGrpSpPr>
          <p:grpSpPr>
            <a:xfrm>
              <a:off x="8205165" y="3160644"/>
              <a:ext cx="216590" cy="413440"/>
              <a:chOff x="3507269" y="2955235"/>
              <a:chExt cx="216590" cy="413440"/>
            </a:xfrm>
          </p:grpSpPr>
          <p:sp>
            <p:nvSpPr>
              <p:cNvPr id="869" name="Google Shape;869;p21"/>
              <p:cNvSpPr/>
              <p:nvPr/>
            </p:nvSpPr>
            <p:spPr>
              <a:xfrm>
                <a:off x="3631094" y="2955235"/>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0" name="Google Shape;870;p21"/>
              <p:cNvSpPr/>
              <p:nvPr/>
            </p:nvSpPr>
            <p:spPr>
              <a:xfrm>
                <a:off x="3570769" y="3117160"/>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1" name="Google Shape;871;p21"/>
              <p:cNvSpPr/>
              <p:nvPr/>
            </p:nvSpPr>
            <p:spPr>
              <a:xfrm>
                <a:off x="3507269" y="3275910"/>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872" name="Google Shape;872;p21"/>
            <p:cNvGrpSpPr/>
            <p:nvPr/>
          </p:nvGrpSpPr>
          <p:grpSpPr>
            <a:xfrm>
              <a:off x="7874965" y="4055994"/>
              <a:ext cx="216590" cy="413440"/>
              <a:chOff x="3507269" y="2955235"/>
              <a:chExt cx="216590" cy="413440"/>
            </a:xfrm>
          </p:grpSpPr>
          <p:sp>
            <p:nvSpPr>
              <p:cNvPr id="873" name="Google Shape;873;p21"/>
              <p:cNvSpPr/>
              <p:nvPr/>
            </p:nvSpPr>
            <p:spPr>
              <a:xfrm>
                <a:off x="3631094" y="2955235"/>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4" name="Google Shape;874;p21"/>
              <p:cNvSpPr/>
              <p:nvPr/>
            </p:nvSpPr>
            <p:spPr>
              <a:xfrm>
                <a:off x="3570769" y="3117160"/>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5" name="Google Shape;875;p21"/>
              <p:cNvSpPr/>
              <p:nvPr/>
            </p:nvSpPr>
            <p:spPr>
              <a:xfrm>
                <a:off x="3507269" y="3275910"/>
                <a:ext cx="92765" cy="92765"/>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876" name="Google Shape;876;p21"/>
            <p:cNvGrpSpPr/>
            <p:nvPr/>
          </p:nvGrpSpPr>
          <p:grpSpPr>
            <a:xfrm>
              <a:off x="8207592" y="2673589"/>
              <a:ext cx="799405" cy="236966"/>
              <a:chOff x="453" y="3465"/>
              <a:chExt cx="561" cy="136"/>
            </a:xfrm>
          </p:grpSpPr>
          <p:sp>
            <p:nvSpPr>
              <p:cNvPr id="877" name="Google Shape;877;p21"/>
              <p:cNvSpPr/>
              <p:nvPr/>
            </p:nvSpPr>
            <p:spPr>
              <a:xfrm>
                <a:off x="496" y="3465"/>
                <a:ext cx="424" cy="136"/>
              </a:xfrm>
              <a:prstGeom prst="rect">
                <a:avLst/>
              </a:prstGeom>
              <a:solidFill>
                <a:srgbClr val="FFFFFF"/>
              </a:solidFill>
              <a:ln cap="flat" cmpd="sng" w="19050">
                <a:solidFill>
                  <a:srgbClr val="5F5F5F"/>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8" name="Google Shape;878;p21"/>
              <p:cNvSpPr/>
              <p:nvPr/>
            </p:nvSpPr>
            <p:spPr>
              <a:xfrm>
                <a:off x="769" y="3504"/>
                <a:ext cx="132" cy="61"/>
              </a:xfrm>
              <a:prstGeom prst="rect">
                <a:avLst/>
              </a:prstGeom>
              <a:solidFill>
                <a:srgbClr val="FFFFFF"/>
              </a:solidFill>
              <a:ln cap="flat" cmpd="sng" w="158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9" name="Google Shape;879;p21"/>
              <p:cNvSpPr/>
              <p:nvPr/>
            </p:nvSpPr>
            <p:spPr>
              <a:xfrm>
                <a:off x="642" y="3481"/>
                <a:ext cx="108" cy="104"/>
              </a:xfrm>
              <a:prstGeom prst="rect">
                <a:avLst/>
              </a:prstGeom>
              <a:solidFill>
                <a:srgbClr val="FFFFFF"/>
              </a:solidFill>
              <a:ln cap="flat" cmpd="sng" w="158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80" name="Google Shape;880;p21"/>
              <p:cNvSpPr/>
              <p:nvPr/>
            </p:nvSpPr>
            <p:spPr>
              <a:xfrm>
                <a:off x="515" y="3478"/>
                <a:ext cx="108" cy="105"/>
              </a:xfrm>
              <a:prstGeom prst="rect">
                <a:avLst/>
              </a:prstGeom>
              <a:solidFill>
                <a:srgbClr val="FFFFFF"/>
              </a:solidFill>
              <a:ln cap="flat" cmpd="sng" w="158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881" name="Google Shape;881;p21"/>
              <p:cNvCxnSpPr/>
              <p:nvPr/>
            </p:nvCxnSpPr>
            <p:spPr>
              <a:xfrm flipH="1" rot="10800000">
                <a:off x="453" y="3529"/>
                <a:ext cx="561" cy="4"/>
              </a:xfrm>
              <a:prstGeom prst="straightConnector1">
                <a:avLst/>
              </a:prstGeom>
              <a:noFill/>
              <a:ln cap="flat" cmpd="sng" w="19050">
                <a:solidFill>
                  <a:srgbClr val="000000"/>
                </a:solidFill>
                <a:prstDash val="solid"/>
                <a:round/>
                <a:headEnd len="med" w="med" type="none"/>
                <a:tailEnd len="med" w="med" type="triangle"/>
              </a:ln>
            </p:spPr>
          </p:cxnSp>
        </p:grpSp>
      </p:grpSp>
      <p:sp>
        <p:nvSpPr>
          <p:cNvPr id="882" name="Google Shape;882;p21"/>
          <p:cNvSpPr txBox="1"/>
          <p:nvPr/>
        </p:nvSpPr>
        <p:spPr>
          <a:xfrm>
            <a:off x="942537" y="2612461"/>
            <a:ext cx="4009292" cy="3568178"/>
          </a:xfrm>
          <a:prstGeom prst="rect">
            <a:avLst/>
          </a:prstGeom>
          <a:noFill/>
          <a:ln>
            <a:noFill/>
          </a:ln>
        </p:spPr>
        <p:txBody>
          <a:bodyPr anchorCtr="0" anchor="t" bIns="45700" lIns="91425" spcFirstLastPara="1" rIns="91425" wrap="square" tIns="45700">
            <a:normAutofit/>
          </a:bodyPr>
          <a:lstStyle/>
          <a:p>
            <a:pPr indent="-287338"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Cisco CRS router:</a:t>
            </a:r>
            <a:endParaRPr/>
          </a:p>
          <a:p>
            <a:pPr indent="-287338"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basic unit: 8 switching planes</a:t>
            </a:r>
            <a:endParaRPr/>
          </a:p>
          <a:p>
            <a:pPr indent="-287338"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each plane: 3-stage interconnection network</a:t>
            </a:r>
            <a:endParaRPr/>
          </a:p>
          <a:p>
            <a:pPr indent="-287338" lvl="1" marL="695325" marR="0" rtl="0" algn="l">
              <a:lnSpc>
                <a:spcPct val="90000"/>
              </a:lnSpc>
              <a:spcBef>
                <a:spcPts val="500"/>
              </a:spcBef>
              <a:spcAft>
                <a:spcPts val="0"/>
              </a:spcAft>
              <a:buClr>
                <a:srgbClr val="0000A8"/>
              </a:buClr>
              <a:buSzPts val="2800"/>
              <a:buFont typeface="Noto Sans Symbols"/>
              <a:buChar char="▪"/>
            </a:pPr>
            <a:r>
              <a:rPr b="0" i="0" lang="en-US" sz="2800" u="none" cap="none" strike="noStrike">
                <a:solidFill>
                  <a:srgbClr val="000000"/>
                </a:solidFill>
                <a:latin typeface="Calibri"/>
                <a:ea typeface="Calibri"/>
                <a:cs typeface="Calibri"/>
                <a:sym typeface="Calibri"/>
              </a:rPr>
              <a:t>up to 100’s Tbps switching capacity</a:t>
            </a:r>
            <a:endParaRPr/>
          </a:p>
        </p:txBody>
      </p:sp>
      <p:pic>
        <p:nvPicPr>
          <p:cNvPr id="883" name="Google Shape;883;p21"/>
          <p:cNvPicPr preferRelativeResize="0"/>
          <p:nvPr/>
        </p:nvPicPr>
        <p:blipFill rotWithShape="1">
          <a:blip r:embed="rId3">
            <a:alphaModFix/>
          </a:blip>
          <a:srcRect b="0" l="0" r="0" t="0"/>
          <a:stretch/>
        </p:blipFill>
        <p:spPr>
          <a:xfrm>
            <a:off x="8036909" y="4890993"/>
            <a:ext cx="937683" cy="733606"/>
          </a:xfrm>
          <a:prstGeom prst="rect">
            <a:avLst/>
          </a:prstGeom>
          <a:noFill/>
          <a:ln>
            <a:noFill/>
          </a:ln>
        </p:spPr>
      </p:pic>
      <p:sp>
        <p:nvSpPr>
          <p:cNvPr id="884" name="Google Shape;884;p2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2"/>
                                        </p:tgtEl>
                                        <p:attrNameLst>
                                          <p:attrName>style.visibility</p:attrName>
                                        </p:attrNameLst>
                                      </p:cBhvr>
                                      <p:to>
                                        <p:strVal val="visible"/>
                                      </p:to>
                                    </p:set>
                                    <p:animEffect filter="fade" transition="in">
                                      <p:cBhvr>
                                        <p:cTn dur="500"/>
                                        <p:tgtEl>
                                          <p:spTgt spid="8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p22"/>
          <p:cNvSpPr txBox="1"/>
          <p:nvPr>
            <p:ph idx="1" type="body"/>
          </p:nvPr>
        </p:nvSpPr>
        <p:spPr>
          <a:xfrm>
            <a:off x="852267" y="1386402"/>
            <a:ext cx="10515600" cy="1356798"/>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If switch fabric slower than input ports combined -&gt; queueing may occur at input queues </a:t>
            </a:r>
            <a:endParaRPr/>
          </a:p>
          <a:p>
            <a:pPr indent="-231775" lvl="1" marL="695325" rtl="0" algn="l">
              <a:lnSpc>
                <a:spcPct val="90000"/>
              </a:lnSpc>
              <a:spcBef>
                <a:spcPts val="500"/>
              </a:spcBef>
              <a:spcAft>
                <a:spcPts val="0"/>
              </a:spcAft>
              <a:buSzPts val="2800"/>
              <a:buChar char="•"/>
            </a:pPr>
            <a:r>
              <a:rPr lang="en-US" sz="2800"/>
              <a:t>queueing delay and loss due to input buffer overflow!</a:t>
            </a:r>
            <a:endParaRPr/>
          </a:p>
          <a:p>
            <a:pPr indent="-44450" lvl="0" marL="352425" rtl="0" algn="l">
              <a:lnSpc>
                <a:spcPct val="90000"/>
              </a:lnSpc>
              <a:spcBef>
                <a:spcPts val="1000"/>
              </a:spcBef>
              <a:spcAft>
                <a:spcPts val="0"/>
              </a:spcAft>
              <a:buSzPts val="2800"/>
              <a:buNone/>
            </a:pPr>
            <a:r>
              <a:t/>
            </a:r>
            <a:endParaRPr/>
          </a:p>
        </p:txBody>
      </p:sp>
      <p:sp>
        <p:nvSpPr>
          <p:cNvPr id="891" name="Google Shape;891;p22"/>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Input port queuing</a:t>
            </a:r>
            <a:endParaRPr/>
          </a:p>
        </p:txBody>
      </p:sp>
      <p:sp>
        <p:nvSpPr>
          <p:cNvPr id="892" name="Google Shape;892;p22"/>
          <p:cNvSpPr txBox="1"/>
          <p:nvPr/>
        </p:nvSpPr>
        <p:spPr>
          <a:xfrm>
            <a:off x="1800666" y="5728188"/>
            <a:ext cx="4459458" cy="9233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output port contention: only one red datagram can be transferred. lower red packet is </a:t>
            </a:r>
            <a:r>
              <a:rPr b="0" i="1" lang="en-US" sz="2000" u="none" cap="none" strike="noStrike">
                <a:solidFill>
                  <a:srgbClr val="C00000"/>
                </a:solidFill>
                <a:latin typeface="Calibri"/>
                <a:ea typeface="Calibri"/>
                <a:cs typeface="Calibri"/>
                <a:sym typeface="Calibri"/>
              </a:rPr>
              <a:t>blocked</a:t>
            </a:r>
            <a:endParaRPr/>
          </a:p>
        </p:txBody>
      </p:sp>
      <p:grpSp>
        <p:nvGrpSpPr>
          <p:cNvPr id="893" name="Google Shape;893;p22"/>
          <p:cNvGrpSpPr/>
          <p:nvPr/>
        </p:nvGrpSpPr>
        <p:grpSpPr>
          <a:xfrm>
            <a:off x="2528548" y="3841801"/>
            <a:ext cx="3027362" cy="1817687"/>
            <a:chOff x="2908374" y="3743325"/>
            <a:chExt cx="3027362" cy="1817687"/>
          </a:xfrm>
        </p:grpSpPr>
        <p:grpSp>
          <p:nvGrpSpPr>
            <p:cNvPr id="894" name="Google Shape;894;p22"/>
            <p:cNvGrpSpPr/>
            <p:nvPr/>
          </p:nvGrpSpPr>
          <p:grpSpPr>
            <a:xfrm>
              <a:off x="2908374" y="3751262"/>
              <a:ext cx="3027362" cy="1809750"/>
              <a:chOff x="523" y="976"/>
              <a:chExt cx="2099" cy="1356"/>
            </a:xfrm>
          </p:grpSpPr>
          <p:sp>
            <p:nvSpPr>
              <p:cNvPr id="895" name="Google Shape;895;p22"/>
              <p:cNvSpPr/>
              <p:nvPr/>
            </p:nvSpPr>
            <p:spPr>
              <a:xfrm>
                <a:off x="1208" y="976"/>
                <a:ext cx="745" cy="13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896" name="Google Shape;896;p22"/>
              <p:cNvGrpSpPr/>
              <p:nvPr/>
            </p:nvGrpSpPr>
            <p:grpSpPr>
              <a:xfrm>
                <a:off x="804" y="997"/>
                <a:ext cx="251" cy="1293"/>
                <a:chOff x="748" y="997"/>
                <a:chExt cx="251" cy="1293"/>
              </a:xfrm>
            </p:grpSpPr>
            <p:sp>
              <p:nvSpPr>
                <p:cNvPr id="897" name="Google Shape;897;p22"/>
                <p:cNvSpPr/>
                <p:nvPr/>
              </p:nvSpPr>
              <p:spPr>
                <a:xfrm>
                  <a:off x="759" y="997"/>
                  <a:ext cx="240"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98" name="Google Shape;898;p22"/>
                <p:cNvSpPr/>
                <p:nvPr/>
              </p:nvSpPr>
              <p:spPr>
                <a:xfrm>
                  <a:off x="750" y="1472"/>
                  <a:ext cx="240"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99" name="Google Shape;899;p22"/>
                <p:cNvSpPr/>
                <p:nvPr/>
              </p:nvSpPr>
              <p:spPr>
                <a:xfrm>
                  <a:off x="748" y="1938"/>
                  <a:ext cx="240"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900" name="Google Shape;900;p22"/>
              <p:cNvGrpSpPr/>
              <p:nvPr/>
            </p:nvGrpSpPr>
            <p:grpSpPr>
              <a:xfrm>
                <a:off x="2109" y="1002"/>
                <a:ext cx="249" cy="1295"/>
                <a:chOff x="748" y="997"/>
                <a:chExt cx="249" cy="1295"/>
              </a:xfrm>
            </p:grpSpPr>
            <p:sp>
              <p:nvSpPr>
                <p:cNvPr id="901" name="Google Shape;901;p22"/>
                <p:cNvSpPr/>
                <p:nvPr/>
              </p:nvSpPr>
              <p:spPr>
                <a:xfrm>
                  <a:off x="759" y="997"/>
                  <a:ext cx="238" cy="352"/>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2" name="Google Shape;902;p22"/>
                <p:cNvSpPr/>
                <p:nvPr/>
              </p:nvSpPr>
              <p:spPr>
                <a:xfrm>
                  <a:off x="750" y="1472"/>
                  <a:ext cx="238" cy="352"/>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3" name="Google Shape;903;p22"/>
                <p:cNvSpPr/>
                <p:nvPr/>
              </p:nvSpPr>
              <p:spPr>
                <a:xfrm>
                  <a:off x="748" y="1940"/>
                  <a:ext cx="238" cy="352"/>
                </a:xfrm>
                <a:prstGeom prst="rect">
                  <a:avLst/>
                </a:prstGeom>
                <a:solidFill>
                  <a:srgbClr val="FFFFFF"/>
                </a:solidFill>
                <a:ln cap="flat" cmpd="sng" w="19050">
                  <a:solidFill>
                    <a:srgbClr val="008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904" name="Google Shape;904;p22"/>
              <p:cNvCxnSpPr/>
              <p:nvPr/>
            </p:nvCxnSpPr>
            <p:spPr>
              <a:xfrm>
                <a:off x="1946" y="1181"/>
                <a:ext cx="162" cy="0"/>
              </a:xfrm>
              <a:prstGeom prst="straightConnector1">
                <a:avLst/>
              </a:prstGeom>
              <a:noFill/>
              <a:ln cap="flat" cmpd="sng" w="19050">
                <a:solidFill>
                  <a:srgbClr val="000000"/>
                </a:solidFill>
                <a:prstDash val="solid"/>
                <a:round/>
                <a:headEnd len="med" w="med" type="none"/>
                <a:tailEnd len="med" w="med" type="none"/>
              </a:ln>
            </p:spPr>
          </p:cxnSp>
          <p:cxnSp>
            <p:nvCxnSpPr>
              <p:cNvPr id="905" name="Google Shape;905;p22"/>
              <p:cNvCxnSpPr/>
              <p:nvPr/>
            </p:nvCxnSpPr>
            <p:spPr>
              <a:xfrm>
                <a:off x="1940" y="1644"/>
                <a:ext cx="163" cy="0"/>
              </a:xfrm>
              <a:prstGeom prst="straightConnector1">
                <a:avLst/>
              </a:prstGeom>
              <a:noFill/>
              <a:ln cap="flat" cmpd="sng" w="19050">
                <a:solidFill>
                  <a:srgbClr val="000000"/>
                </a:solidFill>
                <a:prstDash val="solid"/>
                <a:round/>
                <a:headEnd len="med" w="med" type="none"/>
                <a:tailEnd len="med" w="med" type="none"/>
              </a:ln>
            </p:spPr>
          </p:cxnSp>
          <p:cxnSp>
            <p:nvCxnSpPr>
              <p:cNvPr id="906" name="Google Shape;906;p22"/>
              <p:cNvCxnSpPr/>
              <p:nvPr/>
            </p:nvCxnSpPr>
            <p:spPr>
              <a:xfrm>
                <a:off x="1940" y="2119"/>
                <a:ext cx="163" cy="0"/>
              </a:xfrm>
              <a:prstGeom prst="straightConnector1">
                <a:avLst/>
              </a:prstGeom>
              <a:noFill/>
              <a:ln cap="flat" cmpd="sng" w="19050">
                <a:solidFill>
                  <a:srgbClr val="000000"/>
                </a:solidFill>
                <a:prstDash val="solid"/>
                <a:round/>
                <a:headEnd len="med" w="med" type="none"/>
                <a:tailEnd len="med" w="med" type="none"/>
              </a:ln>
            </p:spPr>
          </p:cxnSp>
          <p:cxnSp>
            <p:nvCxnSpPr>
              <p:cNvPr id="907" name="Google Shape;907;p22"/>
              <p:cNvCxnSpPr/>
              <p:nvPr/>
            </p:nvCxnSpPr>
            <p:spPr>
              <a:xfrm>
                <a:off x="1044" y="1164"/>
                <a:ext cx="163" cy="0"/>
              </a:xfrm>
              <a:prstGeom prst="straightConnector1">
                <a:avLst/>
              </a:prstGeom>
              <a:noFill/>
              <a:ln cap="flat" cmpd="sng" w="19050">
                <a:solidFill>
                  <a:srgbClr val="000000"/>
                </a:solidFill>
                <a:prstDash val="solid"/>
                <a:round/>
                <a:headEnd len="med" w="med" type="none"/>
                <a:tailEnd len="med" w="med" type="none"/>
              </a:ln>
            </p:spPr>
          </p:cxnSp>
          <p:cxnSp>
            <p:nvCxnSpPr>
              <p:cNvPr id="908" name="Google Shape;908;p22"/>
              <p:cNvCxnSpPr/>
              <p:nvPr/>
            </p:nvCxnSpPr>
            <p:spPr>
              <a:xfrm>
                <a:off x="1038" y="1629"/>
                <a:ext cx="162" cy="0"/>
              </a:xfrm>
              <a:prstGeom prst="straightConnector1">
                <a:avLst/>
              </a:prstGeom>
              <a:noFill/>
              <a:ln cap="flat" cmpd="sng" w="19050">
                <a:solidFill>
                  <a:srgbClr val="000000"/>
                </a:solidFill>
                <a:prstDash val="solid"/>
                <a:round/>
                <a:headEnd len="med" w="med" type="none"/>
                <a:tailEnd len="med" w="med" type="none"/>
              </a:ln>
            </p:spPr>
          </p:cxnSp>
          <p:cxnSp>
            <p:nvCxnSpPr>
              <p:cNvPr id="909" name="Google Shape;909;p22"/>
              <p:cNvCxnSpPr/>
              <p:nvPr/>
            </p:nvCxnSpPr>
            <p:spPr>
              <a:xfrm>
                <a:off x="1038" y="2102"/>
                <a:ext cx="162" cy="0"/>
              </a:xfrm>
              <a:prstGeom prst="straightConnector1">
                <a:avLst/>
              </a:prstGeom>
              <a:noFill/>
              <a:ln cap="flat" cmpd="sng" w="19050">
                <a:solidFill>
                  <a:srgbClr val="000000"/>
                </a:solidFill>
                <a:prstDash val="solid"/>
                <a:round/>
                <a:headEnd len="med" w="med" type="none"/>
                <a:tailEnd len="med" w="med" type="none"/>
              </a:ln>
            </p:spPr>
          </p:cxnSp>
          <p:grpSp>
            <p:nvGrpSpPr>
              <p:cNvPr id="910" name="Google Shape;910;p22"/>
              <p:cNvGrpSpPr/>
              <p:nvPr/>
            </p:nvGrpSpPr>
            <p:grpSpPr>
              <a:xfrm>
                <a:off x="523" y="1169"/>
                <a:ext cx="288" cy="939"/>
                <a:chOff x="-60" y="1148"/>
                <a:chExt cx="168" cy="939"/>
              </a:xfrm>
            </p:grpSpPr>
            <p:cxnSp>
              <p:nvCxnSpPr>
                <p:cNvPr id="911" name="Google Shape;911;p22"/>
                <p:cNvCxnSpPr/>
                <p:nvPr/>
              </p:nvCxnSpPr>
              <p:spPr>
                <a:xfrm>
                  <a:off x="-54" y="1148"/>
                  <a:ext cx="162" cy="0"/>
                </a:xfrm>
                <a:prstGeom prst="straightConnector1">
                  <a:avLst/>
                </a:prstGeom>
                <a:noFill/>
                <a:ln cap="flat" cmpd="sng" w="19050">
                  <a:solidFill>
                    <a:srgbClr val="000000"/>
                  </a:solidFill>
                  <a:prstDash val="solid"/>
                  <a:round/>
                  <a:headEnd len="med" w="med" type="none"/>
                  <a:tailEnd len="med" w="med" type="none"/>
                </a:ln>
              </p:spPr>
            </p:cxnSp>
            <p:cxnSp>
              <p:nvCxnSpPr>
                <p:cNvPr id="912" name="Google Shape;912;p22"/>
                <p:cNvCxnSpPr/>
                <p:nvPr/>
              </p:nvCxnSpPr>
              <p:spPr>
                <a:xfrm>
                  <a:off x="-60" y="1613"/>
                  <a:ext cx="162" cy="0"/>
                </a:xfrm>
                <a:prstGeom prst="straightConnector1">
                  <a:avLst/>
                </a:prstGeom>
                <a:noFill/>
                <a:ln cap="flat" cmpd="sng" w="19050">
                  <a:solidFill>
                    <a:srgbClr val="000000"/>
                  </a:solidFill>
                  <a:prstDash val="solid"/>
                  <a:round/>
                  <a:headEnd len="med" w="med" type="none"/>
                  <a:tailEnd len="med" w="med" type="none"/>
                </a:ln>
              </p:spPr>
            </p:cxnSp>
            <p:cxnSp>
              <p:nvCxnSpPr>
                <p:cNvPr id="913" name="Google Shape;913;p22"/>
                <p:cNvCxnSpPr/>
                <p:nvPr/>
              </p:nvCxnSpPr>
              <p:spPr>
                <a:xfrm>
                  <a:off x="-60" y="2087"/>
                  <a:ext cx="162" cy="0"/>
                </a:xfrm>
                <a:prstGeom prst="straightConnector1">
                  <a:avLst/>
                </a:prstGeom>
                <a:noFill/>
                <a:ln cap="flat" cmpd="sng" w="19050">
                  <a:solidFill>
                    <a:srgbClr val="000000"/>
                  </a:solidFill>
                  <a:prstDash val="solid"/>
                  <a:round/>
                  <a:headEnd len="med" w="med" type="none"/>
                  <a:tailEnd len="med" w="med" type="none"/>
                </a:ln>
              </p:spPr>
            </p:cxnSp>
          </p:grpSp>
          <p:grpSp>
            <p:nvGrpSpPr>
              <p:cNvPr id="914" name="Google Shape;914;p22"/>
              <p:cNvGrpSpPr/>
              <p:nvPr/>
            </p:nvGrpSpPr>
            <p:grpSpPr>
              <a:xfrm>
                <a:off x="2334" y="1173"/>
                <a:ext cx="288" cy="939"/>
                <a:chOff x="-60" y="1148"/>
                <a:chExt cx="168" cy="939"/>
              </a:xfrm>
            </p:grpSpPr>
            <p:cxnSp>
              <p:nvCxnSpPr>
                <p:cNvPr id="915" name="Google Shape;915;p22"/>
                <p:cNvCxnSpPr/>
                <p:nvPr/>
              </p:nvCxnSpPr>
              <p:spPr>
                <a:xfrm>
                  <a:off x="-54" y="1148"/>
                  <a:ext cx="162" cy="0"/>
                </a:xfrm>
                <a:prstGeom prst="straightConnector1">
                  <a:avLst/>
                </a:prstGeom>
                <a:noFill/>
                <a:ln cap="flat" cmpd="sng" w="19050">
                  <a:solidFill>
                    <a:srgbClr val="000000"/>
                  </a:solidFill>
                  <a:prstDash val="solid"/>
                  <a:round/>
                  <a:headEnd len="med" w="med" type="none"/>
                  <a:tailEnd len="med" w="med" type="triangle"/>
                </a:ln>
              </p:spPr>
            </p:cxnSp>
            <p:cxnSp>
              <p:nvCxnSpPr>
                <p:cNvPr id="916" name="Google Shape;916;p22"/>
                <p:cNvCxnSpPr/>
                <p:nvPr/>
              </p:nvCxnSpPr>
              <p:spPr>
                <a:xfrm>
                  <a:off x="-60" y="1615"/>
                  <a:ext cx="162" cy="0"/>
                </a:xfrm>
                <a:prstGeom prst="straightConnector1">
                  <a:avLst/>
                </a:prstGeom>
                <a:noFill/>
                <a:ln cap="flat" cmpd="sng" w="19050">
                  <a:solidFill>
                    <a:srgbClr val="000000"/>
                  </a:solidFill>
                  <a:prstDash val="solid"/>
                  <a:round/>
                  <a:headEnd len="med" w="med" type="none"/>
                  <a:tailEnd len="med" w="med" type="triangle"/>
                </a:ln>
              </p:spPr>
            </p:cxnSp>
            <p:cxnSp>
              <p:nvCxnSpPr>
                <p:cNvPr id="917" name="Google Shape;917;p22"/>
                <p:cNvCxnSpPr/>
                <p:nvPr/>
              </p:nvCxnSpPr>
              <p:spPr>
                <a:xfrm>
                  <a:off x="-60" y="2087"/>
                  <a:ext cx="162" cy="0"/>
                </a:xfrm>
                <a:prstGeom prst="straightConnector1">
                  <a:avLst/>
                </a:prstGeom>
                <a:noFill/>
                <a:ln cap="flat" cmpd="sng" w="19050">
                  <a:solidFill>
                    <a:srgbClr val="000000"/>
                  </a:solidFill>
                  <a:prstDash val="solid"/>
                  <a:round/>
                  <a:headEnd len="med" w="med" type="none"/>
                  <a:tailEnd len="med" w="med" type="triangle"/>
                </a:ln>
              </p:spPr>
            </p:cxnSp>
          </p:grpSp>
        </p:grpSp>
        <p:sp>
          <p:nvSpPr>
            <p:cNvPr id="918" name="Google Shape;918;p22"/>
            <p:cNvSpPr/>
            <p:nvPr/>
          </p:nvSpPr>
          <p:spPr>
            <a:xfrm>
              <a:off x="3360811" y="3748087"/>
              <a:ext cx="252413" cy="130175"/>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9" name="Google Shape;919;p22"/>
            <p:cNvSpPr/>
            <p:nvPr/>
          </p:nvSpPr>
          <p:spPr>
            <a:xfrm>
              <a:off x="3346524" y="4479925"/>
              <a:ext cx="252412" cy="131762"/>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0" name="Google Shape;920;p22"/>
            <p:cNvSpPr/>
            <p:nvPr/>
          </p:nvSpPr>
          <p:spPr>
            <a:xfrm>
              <a:off x="3344936" y="5114925"/>
              <a:ext cx="252413" cy="130175"/>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1" name="Google Shape;921;p22"/>
            <p:cNvSpPr/>
            <p:nvPr/>
          </p:nvSpPr>
          <p:spPr>
            <a:xfrm>
              <a:off x="3002036" y="3743325"/>
              <a:ext cx="252413" cy="131762"/>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2" name="Google Shape;922;p22"/>
            <p:cNvSpPr/>
            <p:nvPr/>
          </p:nvSpPr>
          <p:spPr>
            <a:xfrm>
              <a:off x="2997274" y="5103812"/>
              <a:ext cx="252412" cy="131763"/>
            </a:xfrm>
            <a:prstGeom prst="rect">
              <a:avLst/>
            </a:prstGeom>
            <a:solidFill>
              <a:srgbClr val="00CC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923" name="Google Shape;923;p22"/>
            <p:cNvCxnSpPr/>
            <p:nvPr/>
          </p:nvCxnSpPr>
          <p:spPr>
            <a:xfrm>
              <a:off x="3652911" y="3803650"/>
              <a:ext cx="1479550" cy="1587"/>
            </a:xfrm>
            <a:prstGeom prst="straightConnector1">
              <a:avLst/>
            </a:prstGeom>
            <a:noFill/>
            <a:ln cap="flat" cmpd="sng" w="28575">
              <a:solidFill>
                <a:srgbClr val="FF0000"/>
              </a:solidFill>
              <a:prstDash val="dash"/>
              <a:round/>
              <a:headEnd len="med" w="med" type="none"/>
              <a:tailEnd len="med" w="med" type="triangle"/>
            </a:ln>
          </p:spPr>
        </p:cxnSp>
        <p:sp>
          <p:nvSpPr>
            <p:cNvPr id="924" name="Google Shape;924;p22"/>
            <p:cNvSpPr/>
            <p:nvPr/>
          </p:nvSpPr>
          <p:spPr>
            <a:xfrm>
              <a:off x="3697361" y="4202112"/>
              <a:ext cx="1395413" cy="979488"/>
            </a:xfrm>
            <a:custGeom>
              <a:rect b="b" l="l" r="r" t="t"/>
              <a:pathLst>
                <a:path extrusionOk="0" h="735" w="967">
                  <a:moveTo>
                    <a:pt x="0" y="733"/>
                  </a:moveTo>
                  <a:lnTo>
                    <a:pt x="522" y="735"/>
                  </a:lnTo>
                  <a:lnTo>
                    <a:pt x="967" y="0"/>
                  </a:lnTo>
                </a:path>
              </a:pathLst>
            </a:custGeom>
            <a:noFill/>
            <a:ln cap="flat" cmpd="sng" w="28575">
              <a:solidFill>
                <a:srgbClr val="FF0000"/>
              </a:solidFill>
              <a:prstDash val="dash"/>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25" name="Google Shape;925;p22"/>
            <p:cNvSpPr txBox="1"/>
            <p:nvPr/>
          </p:nvSpPr>
          <p:spPr>
            <a:xfrm>
              <a:off x="4046611" y="4548187"/>
              <a:ext cx="747713" cy="581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switch</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fabric</a:t>
              </a:r>
              <a:endParaRPr/>
            </a:p>
          </p:txBody>
        </p:sp>
        <p:cxnSp>
          <p:nvCxnSpPr>
            <p:cNvPr id="926" name="Google Shape;926;p22"/>
            <p:cNvCxnSpPr/>
            <p:nvPr/>
          </p:nvCxnSpPr>
          <p:spPr>
            <a:xfrm>
              <a:off x="3643386" y="4548187"/>
              <a:ext cx="1458913" cy="19050"/>
            </a:xfrm>
            <a:prstGeom prst="straightConnector1">
              <a:avLst/>
            </a:prstGeom>
            <a:noFill/>
            <a:ln cap="flat" cmpd="sng" w="28575">
              <a:solidFill>
                <a:srgbClr val="000099"/>
              </a:solidFill>
              <a:prstDash val="dash"/>
              <a:round/>
              <a:headEnd len="med" w="med" type="none"/>
              <a:tailEnd len="med" w="med" type="triangle"/>
            </a:ln>
          </p:spPr>
        </p:cxnSp>
      </p:grpSp>
      <p:grpSp>
        <p:nvGrpSpPr>
          <p:cNvPr id="927" name="Google Shape;927;p22"/>
          <p:cNvGrpSpPr/>
          <p:nvPr/>
        </p:nvGrpSpPr>
        <p:grpSpPr>
          <a:xfrm>
            <a:off x="7144970" y="3842241"/>
            <a:ext cx="3587750" cy="2570163"/>
            <a:chOff x="2950" y="2025"/>
            <a:chExt cx="2260" cy="1619"/>
          </a:xfrm>
        </p:grpSpPr>
        <p:grpSp>
          <p:nvGrpSpPr>
            <p:cNvPr id="928" name="Google Shape;928;p22"/>
            <p:cNvGrpSpPr/>
            <p:nvPr/>
          </p:nvGrpSpPr>
          <p:grpSpPr>
            <a:xfrm>
              <a:off x="3074" y="2047"/>
              <a:ext cx="1907" cy="1140"/>
              <a:chOff x="523" y="976"/>
              <a:chExt cx="2099" cy="1356"/>
            </a:xfrm>
          </p:grpSpPr>
          <p:sp>
            <p:nvSpPr>
              <p:cNvPr id="929" name="Google Shape;929;p22"/>
              <p:cNvSpPr/>
              <p:nvPr/>
            </p:nvSpPr>
            <p:spPr>
              <a:xfrm>
                <a:off x="1208" y="976"/>
                <a:ext cx="745" cy="13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930" name="Google Shape;930;p22"/>
              <p:cNvGrpSpPr/>
              <p:nvPr/>
            </p:nvGrpSpPr>
            <p:grpSpPr>
              <a:xfrm>
                <a:off x="804" y="997"/>
                <a:ext cx="251" cy="1293"/>
                <a:chOff x="748" y="997"/>
                <a:chExt cx="251" cy="1293"/>
              </a:xfrm>
            </p:grpSpPr>
            <p:sp>
              <p:nvSpPr>
                <p:cNvPr id="931" name="Google Shape;931;p22"/>
                <p:cNvSpPr/>
                <p:nvPr/>
              </p:nvSpPr>
              <p:spPr>
                <a:xfrm>
                  <a:off x="759" y="997"/>
                  <a:ext cx="240"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2" name="Google Shape;932;p22"/>
                <p:cNvSpPr/>
                <p:nvPr/>
              </p:nvSpPr>
              <p:spPr>
                <a:xfrm>
                  <a:off x="750" y="1472"/>
                  <a:ext cx="240"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3" name="Google Shape;933;p22"/>
                <p:cNvSpPr/>
                <p:nvPr/>
              </p:nvSpPr>
              <p:spPr>
                <a:xfrm>
                  <a:off x="748" y="1938"/>
                  <a:ext cx="240"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934" name="Google Shape;934;p22"/>
              <p:cNvGrpSpPr/>
              <p:nvPr/>
            </p:nvGrpSpPr>
            <p:grpSpPr>
              <a:xfrm>
                <a:off x="2109" y="1002"/>
                <a:ext cx="249" cy="1295"/>
                <a:chOff x="748" y="997"/>
                <a:chExt cx="249" cy="1295"/>
              </a:xfrm>
            </p:grpSpPr>
            <p:sp>
              <p:nvSpPr>
                <p:cNvPr id="935" name="Google Shape;935;p22"/>
                <p:cNvSpPr/>
                <p:nvPr/>
              </p:nvSpPr>
              <p:spPr>
                <a:xfrm>
                  <a:off x="759" y="997"/>
                  <a:ext cx="238" cy="352"/>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6" name="Google Shape;936;p22"/>
                <p:cNvSpPr/>
                <p:nvPr/>
              </p:nvSpPr>
              <p:spPr>
                <a:xfrm>
                  <a:off x="750" y="1472"/>
                  <a:ext cx="238" cy="352"/>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7" name="Google Shape;937;p22"/>
                <p:cNvSpPr/>
                <p:nvPr/>
              </p:nvSpPr>
              <p:spPr>
                <a:xfrm>
                  <a:off x="748" y="1940"/>
                  <a:ext cx="238" cy="352"/>
                </a:xfrm>
                <a:prstGeom prst="rect">
                  <a:avLst/>
                </a:prstGeom>
                <a:solidFill>
                  <a:srgbClr val="FFFFFF"/>
                </a:solidFill>
                <a:ln cap="flat" cmpd="sng" w="19050">
                  <a:solidFill>
                    <a:srgbClr val="008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938" name="Google Shape;938;p22"/>
              <p:cNvCxnSpPr/>
              <p:nvPr/>
            </p:nvCxnSpPr>
            <p:spPr>
              <a:xfrm>
                <a:off x="1946" y="1181"/>
                <a:ext cx="162" cy="0"/>
              </a:xfrm>
              <a:prstGeom prst="straightConnector1">
                <a:avLst/>
              </a:prstGeom>
              <a:noFill/>
              <a:ln cap="flat" cmpd="sng" w="19050">
                <a:solidFill>
                  <a:srgbClr val="000000"/>
                </a:solidFill>
                <a:prstDash val="solid"/>
                <a:round/>
                <a:headEnd len="med" w="med" type="none"/>
                <a:tailEnd len="med" w="med" type="none"/>
              </a:ln>
            </p:spPr>
          </p:cxnSp>
          <p:cxnSp>
            <p:nvCxnSpPr>
              <p:cNvPr id="939" name="Google Shape;939;p22"/>
              <p:cNvCxnSpPr/>
              <p:nvPr/>
            </p:nvCxnSpPr>
            <p:spPr>
              <a:xfrm>
                <a:off x="1940" y="1644"/>
                <a:ext cx="163" cy="0"/>
              </a:xfrm>
              <a:prstGeom prst="straightConnector1">
                <a:avLst/>
              </a:prstGeom>
              <a:noFill/>
              <a:ln cap="flat" cmpd="sng" w="19050">
                <a:solidFill>
                  <a:srgbClr val="000000"/>
                </a:solidFill>
                <a:prstDash val="solid"/>
                <a:round/>
                <a:headEnd len="med" w="med" type="none"/>
                <a:tailEnd len="med" w="med" type="none"/>
              </a:ln>
            </p:spPr>
          </p:cxnSp>
          <p:cxnSp>
            <p:nvCxnSpPr>
              <p:cNvPr id="940" name="Google Shape;940;p22"/>
              <p:cNvCxnSpPr/>
              <p:nvPr/>
            </p:nvCxnSpPr>
            <p:spPr>
              <a:xfrm>
                <a:off x="1940" y="2119"/>
                <a:ext cx="163" cy="0"/>
              </a:xfrm>
              <a:prstGeom prst="straightConnector1">
                <a:avLst/>
              </a:prstGeom>
              <a:noFill/>
              <a:ln cap="flat" cmpd="sng" w="19050">
                <a:solidFill>
                  <a:srgbClr val="000000"/>
                </a:solidFill>
                <a:prstDash val="solid"/>
                <a:round/>
                <a:headEnd len="med" w="med" type="none"/>
                <a:tailEnd len="med" w="med" type="none"/>
              </a:ln>
            </p:spPr>
          </p:cxnSp>
          <p:cxnSp>
            <p:nvCxnSpPr>
              <p:cNvPr id="941" name="Google Shape;941;p22"/>
              <p:cNvCxnSpPr/>
              <p:nvPr/>
            </p:nvCxnSpPr>
            <p:spPr>
              <a:xfrm>
                <a:off x="1044" y="1164"/>
                <a:ext cx="163" cy="0"/>
              </a:xfrm>
              <a:prstGeom prst="straightConnector1">
                <a:avLst/>
              </a:prstGeom>
              <a:noFill/>
              <a:ln cap="flat" cmpd="sng" w="19050">
                <a:solidFill>
                  <a:srgbClr val="000000"/>
                </a:solidFill>
                <a:prstDash val="solid"/>
                <a:round/>
                <a:headEnd len="med" w="med" type="none"/>
                <a:tailEnd len="med" w="med" type="none"/>
              </a:ln>
            </p:spPr>
          </p:cxnSp>
          <p:cxnSp>
            <p:nvCxnSpPr>
              <p:cNvPr id="942" name="Google Shape;942;p22"/>
              <p:cNvCxnSpPr/>
              <p:nvPr/>
            </p:nvCxnSpPr>
            <p:spPr>
              <a:xfrm>
                <a:off x="1038" y="1629"/>
                <a:ext cx="162" cy="0"/>
              </a:xfrm>
              <a:prstGeom prst="straightConnector1">
                <a:avLst/>
              </a:prstGeom>
              <a:noFill/>
              <a:ln cap="flat" cmpd="sng" w="19050">
                <a:solidFill>
                  <a:srgbClr val="000000"/>
                </a:solidFill>
                <a:prstDash val="solid"/>
                <a:round/>
                <a:headEnd len="med" w="med" type="none"/>
                <a:tailEnd len="med" w="med" type="none"/>
              </a:ln>
            </p:spPr>
          </p:cxnSp>
          <p:cxnSp>
            <p:nvCxnSpPr>
              <p:cNvPr id="943" name="Google Shape;943;p22"/>
              <p:cNvCxnSpPr/>
              <p:nvPr/>
            </p:nvCxnSpPr>
            <p:spPr>
              <a:xfrm>
                <a:off x="1038" y="2102"/>
                <a:ext cx="162" cy="0"/>
              </a:xfrm>
              <a:prstGeom prst="straightConnector1">
                <a:avLst/>
              </a:prstGeom>
              <a:noFill/>
              <a:ln cap="flat" cmpd="sng" w="19050">
                <a:solidFill>
                  <a:srgbClr val="000000"/>
                </a:solidFill>
                <a:prstDash val="solid"/>
                <a:round/>
                <a:headEnd len="med" w="med" type="none"/>
                <a:tailEnd len="med" w="med" type="none"/>
              </a:ln>
            </p:spPr>
          </p:cxnSp>
          <p:grpSp>
            <p:nvGrpSpPr>
              <p:cNvPr id="944" name="Google Shape;944;p22"/>
              <p:cNvGrpSpPr/>
              <p:nvPr/>
            </p:nvGrpSpPr>
            <p:grpSpPr>
              <a:xfrm>
                <a:off x="523" y="1169"/>
                <a:ext cx="288" cy="939"/>
                <a:chOff x="-60" y="1148"/>
                <a:chExt cx="168" cy="939"/>
              </a:xfrm>
            </p:grpSpPr>
            <p:cxnSp>
              <p:nvCxnSpPr>
                <p:cNvPr id="945" name="Google Shape;945;p22"/>
                <p:cNvCxnSpPr/>
                <p:nvPr/>
              </p:nvCxnSpPr>
              <p:spPr>
                <a:xfrm>
                  <a:off x="-54" y="1148"/>
                  <a:ext cx="162" cy="0"/>
                </a:xfrm>
                <a:prstGeom prst="straightConnector1">
                  <a:avLst/>
                </a:prstGeom>
                <a:noFill/>
                <a:ln cap="flat" cmpd="sng" w="19050">
                  <a:solidFill>
                    <a:srgbClr val="000000"/>
                  </a:solidFill>
                  <a:prstDash val="solid"/>
                  <a:round/>
                  <a:headEnd len="med" w="med" type="none"/>
                  <a:tailEnd len="med" w="med" type="none"/>
                </a:ln>
              </p:spPr>
            </p:cxnSp>
            <p:cxnSp>
              <p:nvCxnSpPr>
                <p:cNvPr id="946" name="Google Shape;946;p22"/>
                <p:cNvCxnSpPr/>
                <p:nvPr/>
              </p:nvCxnSpPr>
              <p:spPr>
                <a:xfrm>
                  <a:off x="-60" y="1613"/>
                  <a:ext cx="162" cy="0"/>
                </a:xfrm>
                <a:prstGeom prst="straightConnector1">
                  <a:avLst/>
                </a:prstGeom>
                <a:noFill/>
                <a:ln cap="flat" cmpd="sng" w="19050">
                  <a:solidFill>
                    <a:srgbClr val="000000"/>
                  </a:solidFill>
                  <a:prstDash val="solid"/>
                  <a:round/>
                  <a:headEnd len="med" w="med" type="none"/>
                  <a:tailEnd len="med" w="med" type="none"/>
                </a:ln>
              </p:spPr>
            </p:cxnSp>
            <p:cxnSp>
              <p:nvCxnSpPr>
                <p:cNvPr id="947" name="Google Shape;947;p22"/>
                <p:cNvCxnSpPr/>
                <p:nvPr/>
              </p:nvCxnSpPr>
              <p:spPr>
                <a:xfrm>
                  <a:off x="-60" y="2087"/>
                  <a:ext cx="162" cy="0"/>
                </a:xfrm>
                <a:prstGeom prst="straightConnector1">
                  <a:avLst/>
                </a:prstGeom>
                <a:noFill/>
                <a:ln cap="flat" cmpd="sng" w="19050">
                  <a:solidFill>
                    <a:srgbClr val="000000"/>
                  </a:solidFill>
                  <a:prstDash val="solid"/>
                  <a:round/>
                  <a:headEnd len="med" w="med" type="none"/>
                  <a:tailEnd len="med" w="med" type="none"/>
                </a:ln>
              </p:spPr>
            </p:cxnSp>
          </p:grpSp>
          <p:grpSp>
            <p:nvGrpSpPr>
              <p:cNvPr id="948" name="Google Shape;948;p22"/>
              <p:cNvGrpSpPr/>
              <p:nvPr/>
            </p:nvGrpSpPr>
            <p:grpSpPr>
              <a:xfrm>
                <a:off x="2334" y="1173"/>
                <a:ext cx="288" cy="939"/>
                <a:chOff x="-60" y="1148"/>
                <a:chExt cx="168" cy="939"/>
              </a:xfrm>
            </p:grpSpPr>
            <p:cxnSp>
              <p:nvCxnSpPr>
                <p:cNvPr id="949" name="Google Shape;949;p22"/>
                <p:cNvCxnSpPr/>
                <p:nvPr/>
              </p:nvCxnSpPr>
              <p:spPr>
                <a:xfrm>
                  <a:off x="-54" y="1148"/>
                  <a:ext cx="162" cy="0"/>
                </a:xfrm>
                <a:prstGeom prst="straightConnector1">
                  <a:avLst/>
                </a:prstGeom>
                <a:noFill/>
                <a:ln cap="flat" cmpd="sng" w="19050">
                  <a:solidFill>
                    <a:srgbClr val="000000"/>
                  </a:solidFill>
                  <a:prstDash val="solid"/>
                  <a:round/>
                  <a:headEnd len="med" w="med" type="none"/>
                  <a:tailEnd len="med" w="med" type="triangle"/>
                </a:ln>
              </p:spPr>
            </p:cxnSp>
            <p:cxnSp>
              <p:nvCxnSpPr>
                <p:cNvPr id="950" name="Google Shape;950;p22"/>
                <p:cNvCxnSpPr/>
                <p:nvPr/>
              </p:nvCxnSpPr>
              <p:spPr>
                <a:xfrm>
                  <a:off x="-60" y="1615"/>
                  <a:ext cx="162" cy="0"/>
                </a:xfrm>
                <a:prstGeom prst="straightConnector1">
                  <a:avLst/>
                </a:prstGeom>
                <a:noFill/>
                <a:ln cap="flat" cmpd="sng" w="19050">
                  <a:solidFill>
                    <a:srgbClr val="000000"/>
                  </a:solidFill>
                  <a:prstDash val="solid"/>
                  <a:round/>
                  <a:headEnd len="med" w="med" type="none"/>
                  <a:tailEnd len="med" w="med" type="triangle"/>
                </a:ln>
              </p:spPr>
            </p:cxnSp>
            <p:cxnSp>
              <p:nvCxnSpPr>
                <p:cNvPr id="951" name="Google Shape;951;p22"/>
                <p:cNvCxnSpPr/>
                <p:nvPr/>
              </p:nvCxnSpPr>
              <p:spPr>
                <a:xfrm>
                  <a:off x="-60" y="2087"/>
                  <a:ext cx="162" cy="0"/>
                </a:xfrm>
                <a:prstGeom prst="straightConnector1">
                  <a:avLst/>
                </a:prstGeom>
                <a:noFill/>
                <a:ln cap="flat" cmpd="sng" w="19050">
                  <a:solidFill>
                    <a:srgbClr val="000000"/>
                  </a:solidFill>
                  <a:prstDash val="solid"/>
                  <a:round/>
                  <a:headEnd len="med" w="med" type="none"/>
                  <a:tailEnd len="med" w="med" type="triangle"/>
                </a:ln>
              </p:spPr>
            </p:cxnSp>
          </p:grpSp>
        </p:grpSp>
        <p:sp>
          <p:nvSpPr>
            <p:cNvPr id="952" name="Google Shape;952;p22"/>
            <p:cNvSpPr txBox="1"/>
            <p:nvPr/>
          </p:nvSpPr>
          <p:spPr>
            <a:xfrm>
              <a:off x="2950" y="3237"/>
              <a:ext cx="2260" cy="407"/>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one packet time later: green packet experiences HOL blocking</a:t>
              </a:r>
              <a:endParaRPr b="0" i="1" sz="2000" u="none" cap="none" strike="noStrike">
                <a:solidFill>
                  <a:srgbClr val="000000"/>
                </a:solidFill>
                <a:latin typeface="Calibri"/>
                <a:ea typeface="Calibri"/>
                <a:cs typeface="Calibri"/>
                <a:sym typeface="Calibri"/>
              </a:endParaRPr>
            </a:p>
          </p:txBody>
        </p:sp>
        <p:sp>
          <p:nvSpPr>
            <p:cNvPr id="953" name="Google Shape;953;p22"/>
            <p:cNvSpPr txBox="1"/>
            <p:nvPr/>
          </p:nvSpPr>
          <p:spPr>
            <a:xfrm>
              <a:off x="3778" y="2507"/>
              <a:ext cx="471" cy="36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switch</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fabric</a:t>
              </a:r>
              <a:endParaRPr/>
            </a:p>
          </p:txBody>
        </p:sp>
        <p:sp>
          <p:nvSpPr>
            <p:cNvPr id="954" name="Google Shape;954;p22"/>
            <p:cNvSpPr/>
            <p:nvPr/>
          </p:nvSpPr>
          <p:spPr>
            <a:xfrm>
              <a:off x="4551" y="2025"/>
              <a:ext cx="159" cy="83"/>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5" name="Google Shape;955;p22"/>
            <p:cNvSpPr/>
            <p:nvPr/>
          </p:nvSpPr>
          <p:spPr>
            <a:xfrm>
              <a:off x="3363" y="2050"/>
              <a:ext cx="159" cy="82"/>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6" name="Google Shape;956;p22"/>
            <p:cNvSpPr/>
            <p:nvPr/>
          </p:nvSpPr>
          <p:spPr>
            <a:xfrm>
              <a:off x="3360" y="2916"/>
              <a:ext cx="159" cy="83"/>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7" name="Google Shape;957;p22"/>
            <p:cNvSpPr/>
            <p:nvPr/>
          </p:nvSpPr>
          <p:spPr>
            <a:xfrm>
              <a:off x="3585" y="2324"/>
              <a:ext cx="878" cy="618"/>
            </a:xfrm>
            <a:custGeom>
              <a:rect b="b" l="l" r="r" t="t"/>
              <a:pathLst>
                <a:path extrusionOk="0" h="735" w="967">
                  <a:moveTo>
                    <a:pt x="0" y="733"/>
                  </a:moveTo>
                  <a:lnTo>
                    <a:pt x="522" y="735"/>
                  </a:lnTo>
                  <a:lnTo>
                    <a:pt x="967" y="0"/>
                  </a:lnTo>
                </a:path>
              </a:pathLst>
            </a:custGeom>
            <a:noFill/>
            <a:ln cap="flat" cmpd="sng" w="28575">
              <a:solidFill>
                <a:srgbClr val="FF0000"/>
              </a:solidFill>
              <a:prstDash val="dash"/>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8" name="Google Shape;958;p22"/>
            <p:cNvSpPr/>
            <p:nvPr/>
          </p:nvSpPr>
          <p:spPr>
            <a:xfrm>
              <a:off x="3573" y="2134"/>
              <a:ext cx="860" cy="437"/>
            </a:xfrm>
            <a:custGeom>
              <a:rect b="b" l="l" r="r" t="t"/>
              <a:pathLst>
                <a:path extrusionOk="0" h="437" w="860">
                  <a:moveTo>
                    <a:pt x="0" y="3"/>
                  </a:moveTo>
                  <a:lnTo>
                    <a:pt x="468" y="0"/>
                  </a:lnTo>
                  <a:lnTo>
                    <a:pt x="860" y="437"/>
                  </a:lnTo>
                </a:path>
              </a:pathLst>
            </a:custGeom>
            <a:noFill/>
            <a:ln cap="flat" cmpd="sng" w="28575">
              <a:solidFill>
                <a:srgbClr val="000099"/>
              </a:solidFill>
              <a:prstDash val="dash"/>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959" name="Google Shape;959;p22"/>
            <p:cNvSpPr/>
            <p:nvPr/>
          </p:nvSpPr>
          <p:spPr>
            <a:xfrm>
              <a:off x="3141" y="2890"/>
              <a:ext cx="159" cy="83"/>
            </a:xfrm>
            <a:prstGeom prst="rect">
              <a:avLst/>
            </a:prstGeom>
            <a:solidFill>
              <a:srgbClr val="00CC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0" name="Google Shape;960;p22"/>
            <p:cNvSpPr/>
            <p:nvPr/>
          </p:nvSpPr>
          <p:spPr>
            <a:xfrm>
              <a:off x="4542" y="2518"/>
              <a:ext cx="159" cy="83"/>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961" name="Google Shape;961;p22"/>
          <p:cNvSpPr txBox="1"/>
          <p:nvPr/>
        </p:nvSpPr>
        <p:spPr>
          <a:xfrm>
            <a:off x="835334" y="2690269"/>
            <a:ext cx="10515600" cy="984265"/>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CC0000"/>
                </a:solidFill>
                <a:latin typeface="Calibri"/>
                <a:ea typeface="Calibri"/>
                <a:cs typeface="Calibri"/>
                <a:sym typeface="Calibri"/>
              </a:rPr>
              <a:t>Head-of-the-Line (HOL) blocking:</a:t>
            </a:r>
            <a:r>
              <a:rPr b="0" i="0" lang="en-US" sz="2800" u="none" cap="none" strike="noStrike">
                <a:solidFill>
                  <a:srgbClr val="000000"/>
                </a:solidFill>
                <a:latin typeface="Calibri"/>
                <a:ea typeface="Calibri"/>
                <a:cs typeface="Calibri"/>
                <a:sym typeface="Calibri"/>
              </a:rPr>
              <a:t> queued datagram at front of queue prevents others in queue from moving forward</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962" name="Google Shape;962;p2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7"/>
                                        </p:tgtEl>
                                        <p:attrNameLst>
                                          <p:attrName>style.visibility</p:attrName>
                                        </p:attrNameLst>
                                      </p:cBhvr>
                                      <p:to>
                                        <p:strVal val="visible"/>
                                      </p:to>
                                    </p:set>
                                    <p:animEffect filter="fade" transition="in">
                                      <p:cBhvr>
                                        <p:cTn dur="500"/>
                                        <p:tgtEl>
                                          <p:spTgt spid="927"/>
                                        </p:tgtEl>
                                      </p:cBhvr>
                                    </p:animEffect>
                                  </p:childTnLst>
                                </p:cTn>
                              </p:par>
                              <p:par>
                                <p:cTn fill="hold" nodeType="withEffect" presetClass="entr" presetID="10" presetSubtype="0">
                                  <p:stCondLst>
                                    <p:cond delay="0"/>
                                  </p:stCondLst>
                                  <p:childTnLst>
                                    <p:set>
                                      <p:cBhvr>
                                        <p:cTn dur="1" fill="hold">
                                          <p:stCondLst>
                                            <p:cond delay="0"/>
                                          </p:stCondLst>
                                        </p:cTn>
                                        <p:tgtEl>
                                          <p:spTgt spid="961"/>
                                        </p:tgtEl>
                                        <p:attrNameLst>
                                          <p:attrName>style.visibility</p:attrName>
                                        </p:attrNameLst>
                                      </p:cBhvr>
                                      <p:to>
                                        <p:strVal val="visible"/>
                                      </p:to>
                                    </p:set>
                                    <p:animEffect filter="fade" transition="in">
                                      <p:cBhvr>
                                        <p:cTn dur="500"/>
                                        <p:tgtEl>
                                          <p:spTgt spid="9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p23"/>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Output port queuing</a:t>
            </a:r>
            <a:endParaRPr/>
          </a:p>
        </p:txBody>
      </p:sp>
      <p:sp>
        <p:nvSpPr>
          <p:cNvPr id="969" name="Google Shape;969;p23"/>
          <p:cNvSpPr txBox="1"/>
          <p:nvPr/>
        </p:nvSpPr>
        <p:spPr>
          <a:xfrm>
            <a:off x="888773" y="3417068"/>
            <a:ext cx="5977544" cy="1413266"/>
          </a:xfrm>
          <a:prstGeom prst="rect">
            <a:avLst/>
          </a:prstGeom>
          <a:noFill/>
          <a:ln>
            <a:noFill/>
          </a:ln>
        </p:spPr>
        <p:txBody>
          <a:bodyPr anchorCtr="0" anchor="t" bIns="45700" lIns="91425" spcFirstLastPara="1" rIns="91425" wrap="square" tIns="45700">
            <a:normAutofit fontScale="92500" lnSpcReduction="10000"/>
          </a:bodyPr>
          <a:lstStyle/>
          <a:p>
            <a:pPr indent="-222250" lvl="0" marL="352425" marR="0" rtl="0" algn="l">
              <a:lnSpc>
                <a:spcPct val="90000"/>
              </a:lnSpc>
              <a:spcBef>
                <a:spcPts val="0"/>
              </a:spcBef>
              <a:spcAft>
                <a:spcPts val="0"/>
              </a:spcAft>
              <a:buClr>
                <a:srgbClr val="0000A3"/>
              </a:buClr>
              <a:buSzPct val="100000"/>
              <a:buFont typeface="Noto Sans Symbols"/>
              <a:buChar char="▪"/>
            </a:pPr>
            <a:r>
              <a:rPr b="0" i="1" lang="en-US" sz="2800" u="none" cap="none" strike="noStrike">
                <a:solidFill>
                  <a:srgbClr val="CC0000"/>
                </a:solidFill>
                <a:latin typeface="Calibri"/>
                <a:ea typeface="Calibri"/>
                <a:cs typeface="Calibri"/>
                <a:sym typeface="Calibri"/>
              </a:rPr>
              <a:t>Buffering</a:t>
            </a:r>
            <a:r>
              <a:rPr b="0" i="0" lang="en-US" sz="2800" u="none" cap="none" strike="noStrike">
                <a:solidFill>
                  <a:srgbClr val="000000"/>
                </a:solidFill>
                <a:latin typeface="Calibri"/>
                <a:ea typeface="Calibri"/>
                <a:cs typeface="Calibri"/>
                <a:sym typeface="Calibri"/>
              </a:rPr>
              <a:t> required when datagrams arrive from fabric faster than link transmission rate. </a:t>
            </a:r>
            <a:r>
              <a:rPr b="0" i="1" lang="en-US" sz="2800" u="none" cap="none" strike="noStrike">
                <a:solidFill>
                  <a:srgbClr val="C00000"/>
                </a:solidFill>
                <a:latin typeface="Calibri"/>
                <a:ea typeface="Calibri"/>
                <a:cs typeface="Calibri"/>
                <a:sym typeface="Calibri"/>
              </a:rPr>
              <a:t>Drop policy: </a:t>
            </a:r>
            <a:r>
              <a:rPr b="0" i="0" lang="en-US" sz="2800" u="none" cap="none" strike="noStrike">
                <a:solidFill>
                  <a:srgbClr val="000000"/>
                </a:solidFill>
                <a:latin typeface="Calibri"/>
                <a:ea typeface="Calibri"/>
                <a:cs typeface="Calibri"/>
                <a:sym typeface="Calibri"/>
              </a:rPr>
              <a:t>which datagrams to drop if no free buffers?</a:t>
            </a:r>
            <a:endParaRPr/>
          </a:p>
        </p:txBody>
      </p:sp>
      <p:sp>
        <p:nvSpPr>
          <p:cNvPr id="970" name="Google Shape;970;p23"/>
          <p:cNvSpPr txBox="1"/>
          <p:nvPr/>
        </p:nvSpPr>
        <p:spPr>
          <a:xfrm>
            <a:off x="938650" y="5182135"/>
            <a:ext cx="5131875" cy="1289003"/>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1" lang="en-US" sz="2800" u="none" cap="none" strike="noStrike">
                <a:solidFill>
                  <a:srgbClr val="CC0000"/>
                </a:solidFill>
                <a:latin typeface="Calibri"/>
                <a:ea typeface="Calibri"/>
                <a:cs typeface="Calibri"/>
                <a:sym typeface="Calibri"/>
              </a:rPr>
              <a:t>Scheduling discipline</a:t>
            </a:r>
            <a:r>
              <a:rPr b="0" i="0" lang="en-US" sz="2800" u="none" cap="none" strike="noStrike">
                <a:solidFill>
                  <a:srgbClr val="000000"/>
                </a:solidFill>
                <a:latin typeface="Calibri"/>
                <a:ea typeface="Calibri"/>
                <a:cs typeface="Calibri"/>
                <a:sym typeface="Calibri"/>
              </a:rPr>
              <a:t> chooses among queued datagrams for transmission</a:t>
            </a:r>
            <a:endParaRPr/>
          </a:p>
        </p:txBody>
      </p:sp>
      <p:grpSp>
        <p:nvGrpSpPr>
          <p:cNvPr id="971" name="Google Shape;971;p23"/>
          <p:cNvGrpSpPr/>
          <p:nvPr/>
        </p:nvGrpSpPr>
        <p:grpSpPr>
          <a:xfrm>
            <a:off x="6900841" y="3768360"/>
            <a:ext cx="5036234" cy="1255728"/>
            <a:chOff x="6302327" y="3768360"/>
            <a:chExt cx="5036234" cy="1255728"/>
          </a:xfrm>
        </p:grpSpPr>
        <p:sp>
          <p:nvSpPr>
            <p:cNvPr id="972" name="Google Shape;972;p23"/>
            <p:cNvSpPr txBox="1"/>
            <p:nvPr/>
          </p:nvSpPr>
          <p:spPr>
            <a:xfrm>
              <a:off x="7385539" y="3768360"/>
              <a:ext cx="3953022" cy="125572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Datagrams can be lost due to congestion, lack of buffers</a:t>
              </a:r>
              <a:endParaRPr/>
            </a:p>
          </p:txBody>
        </p:sp>
        <p:sp>
          <p:nvSpPr>
            <p:cNvPr id="973" name="Google Shape;973;p23"/>
            <p:cNvSpPr/>
            <p:nvPr/>
          </p:nvSpPr>
          <p:spPr>
            <a:xfrm>
              <a:off x="6302327" y="4135902"/>
              <a:ext cx="978408" cy="484632"/>
            </a:xfrm>
            <a:prstGeom prst="rightArrow">
              <a:avLst>
                <a:gd fmla="val 50000" name="adj1"/>
                <a:gd fmla="val 50000" name="adj2"/>
              </a:avLst>
            </a:prstGeom>
            <a:gradFill>
              <a:gsLst>
                <a:gs pos="0">
                  <a:srgbClr val="C00000"/>
                </a:gs>
                <a:gs pos="100000">
                  <a:srgbClr val="FFFFFF"/>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974" name="Google Shape;974;p23"/>
          <p:cNvGrpSpPr/>
          <p:nvPr/>
        </p:nvGrpSpPr>
        <p:grpSpPr>
          <a:xfrm>
            <a:off x="6875475" y="5201260"/>
            <a:ext cx="5319932" cy="1255728"/>
            <a:chOff x="6243711" y="5201260"/>
            <a:chExt cx="5319932" cy="1255728"/>
          </a:xfrm>
        </p:grpSpPr>
        <p:sp>
          <p:nvSpPr>
            <p:cNvPr id="975" name="Google Shape;975;p23"/>
            <p:cNvSpPr txBox="1"/>
            <p:nvPr/>
          </p:nvSpPr>
          <p:spPr>
            <a:xfrm>
              <a:off x="7371470" y="5201260"/>
              <a:ext cx="4192173" cy="125572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Priority scheduling – who gets best performance, network neutrality</a:t>
              </a:r>
              <a:endParaRPr/>
            </a:p>
          </p:txBody>
        </p:sp>
        <p:sp>
          <p:nvSpPr>
            <p:cNvPr id="976" name="Google Shape;976;p23"/>
            <p:cNvSpPr/>
            <p:nvPr/>
          </p:nvSpPr>
          <p:spPr>
            <a:xfrm>
              <a:off x="6243711" y="5512190"/>
              <a:ext cx="978408" cy="484632"/>
            </a:xfrm>
            <a:prstGeom prst="rightArrow">
              <a:avLst>
                <a:gd fmla="val 50000" name="adj1"/>
                <a:gd fmla="val 50000" name="adj2"/>
              </a:avLst>
            </a:prstGeom>
            <a:gradFill>
              <a:gsLst>
                <a:gs pos="0">
                  <a:srgbClr val="C00000"/>
                </a:gs>
                <a:gs pos="100000">
                  <a:srgbClr val="FFFFFF"/>
                </a:gs>
              </a:gsLst>
              <a:lin ang="10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977" name="Google Shape;977;p23"/>
          <p:cNvGrpSpPr/>
          <p:nvPr/>
        </p:nvGrpSpPr>
        <p:grpSpPr>
          <a:xfrm>
            <a:off x="8496886" y="307717"/>
            <a:ext cx="2967544" cy="1552790"/>
            <a:chOff x="8496886" y="307717"/>
            <a:chExt cx="2967544" cy="1552790"/>
          </a:xfrm>
        </p:grpSpPr>
        <p:pic>
          <p:nvPicPr>
            <p:cNvPr id="978" name="Google Shape;978;p23"/>
            <p:cNvPicPr preferRelativeResize="0"/>
            <p:nvPr/>
          </p:nvPicPr>
          <p:blipFill rotWithShape="1">
            <a:blip r:embed="rId3">
              <a:alphaModFix/>
            </a:blip>
            <a:srcRect b="0" l="0" r="0" t="0"/>
            <a:stretch/>
          </p:blipFill>
          <p:spPr>
            <a:xfrm>
              <a:off x="9214340" y="307717"/>
              <a:ext cx="1359144" cy="1190491"/>
            </a:xfrm>
            <a:prstGeom prst="rect">
              <a:avLst/>
            </a:prstGeom>
            <a:noFill/>
            <a:ln>
              <a:noFill/>
            </a:ln>
          </p:spPr>
        </p:pic>
        <p:sp>
          <p:nvSpPr>
            <p:cNvPr id="979" name="Google Shape;979;p23"/>
            <p:cNvSpPr txBox="1"/>
            <p:nvPr/>
          </p:nvSpPr>
          <p:spPr>
            <a:xfrm>
              <a:off x="8496886" y="1491175"/>
              <a:ext cx="296754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This is a really important slide</a:t>
              </a:r>
              <a:endParaRPr/>
            </a:p>
          </p:txBody>
        </p:sp>
      </p:grpSp>
      <p:grpSp>
        <p:nvGrpSpPr>
          <p:cNvPr id="980" name="Google Shape;980;p23"/>
          <p:cNvGrpSpPr/>
          <p:nvPr/>
        </p:nvGrpSpPr>
        <p:grpSpPr>
          <a:xfrm>
            <a:off x="1178949" y="1396538"/>
            <a:ext cx="7113685" cy="1695796"/>
            <a:chOff x="763318" y="1529542"/>
            <a:chExt cx="7113685" cy="1695796"/>
          </a:xfrm>
        </p:grpSpPr>
        <p:sp>
          <p:nvSpPr>
            <p:cNvPr id="981" name="Google Shape;981;p23"/>
            <p:cNvSpPr/>
            <p:nvPr/>
          </p:nvSpPr>
          <p:spPr>
            <a:xfrm>
              <a:off x="2505123" y="1529542"/>
              <a:ext cx="4568825" cy="1679171"/>
            </a:xfrm>
            <a:prstGeom prst="rect">
              <a:avLst/>
            </a:prstGeom>
            <a:solidFill>
              <a:srgbClr val="FFFFFF"/>
            </a:solidFill>
            <a:ln cap="flat" cmpd="sng" w="19050">
              <a:solidFill>
                <a:srgbClr val="5F5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982" name="Google Shape;982;p23"/>
            <p:cNvSpPr/>
            <p:nvPr/>
          </p:nvSpPr>
          <p:spPr>
            <a:xfrm>
              <a:off x="5427711" y="1946056"/>
              <a:ext cx="1417637" cy="828675"/>
            </a:xfrm>
            <a:prstGeom prst="rect">
              <a:avLst/>
            </a:prstGeom>
            <a:solidFill>
              <a:srgbClr val="FFFFFF"/>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line</a:t>
              </a:r>
              <a:endParaRPr/>
            </a:p>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termination</a:t>
              </a:r>
              <a:endParaRPr/>
            </a:p>
          </p:txBody>
        </p:sp>
        <p:sp>
          <p:nvSpPr>
            <p:cNvPr id="983" name="Google Shape;983;p23"/>
            <p:cNvSpPr/>
            <p:nvPr/>
          </p:nvSpPr>
          <p:spPr>
            <a:xfrm>
              <a:off x="4118023" y="1673006"/>
              <a:ext cx="1152525" cy="1409700"/>
            </a:xfrm>
            <a:prstGeom prst="rect">
              <a:avLst/>
            </a:prstGeom>
            <a:solidFill>
              <a:srgbClr val="FFFFFF"/>
            </a:solidFill>
            <a:ln cap="flat" cmpd="sng" w="285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cxnSp>
          <p:nvCxnSpPr>
            <p:cNvPr id="984" name="Google Shape;984;p23"/>
            <p:cNvCxnSpPr/>
            <p:nvPr/>
          </p:nvCxnSpPr>
          <p:spPr>
            <a:xfrm>
              <a:off x="3940223" y="2392143"/>
              <a:ext cx="190500" cy="1588"/>
            </a:xfrm>
            <a:prstGeom prst="straightConnector1">
              <a:avLst/>
            </a:prstGeom>
            <a:noFill/>
            <a:ln cap="flat" cmpd="sng" w="28575">
              <a:solidFill>
                <a:srgbClr val="000000"/>
              </a:solidFill>
              <a:prstDash val="solid"/>
              <a:round/>
              <a:headEnd len="med" w="med" type="none"/>
              <a:tailEnd len="med" w="med" type="triangle"/>
            </a:ln>
          </p:spPr>
        </p:cxnSp>
        <p:cxnSp>
          <p:nvCxnSpPr>
            <p:cNvPr id="985" name="Google Shape;985;p23"/>
            <p:cNvCxnSpPr/>
            <p:nvPr/>
          </p:nvCxnSpPr>
          <p:spPr>
            <a:xfrm>
              <a:off x="5273723" y="2349281"/>
              <a:ext cx="190500" cy="1587"/>
            </a:xfrm>
            <a:prstGeom prst="straightConnector1">
              <a:avLst/>
            </a:prstGeom>
            <a:noFill/>
            <a:ln cap="flat" cmpd="sng" w="28575">
              <a:solidFill>
                <a:srgbClr val="000000"/>
              </a:solidFill>
              <a:prstDash val="solid"/>
              <a:round/>
              <a:headEnd len="med" w="med" type="none"/>
              <a:tailEnd len="med" w="med" type="triangle"/>
            </a:ln>
          </p:spPr>
        </p:cxnSp>
        <p:sp>
          <p:nvSpPr>
            <p:cNvPr id="986" name="Google Shape;986;p23"/>
            <p:cNvSpPr/>
            <p:nvPr/>
          </p:nvSpPr>
          <p:spPr>
            <a:xfrm>
              <a:off x="4151361" y="1982568"/>
              <a:ext cx="1055687" cy="8286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link </a:t>
              </a:r>
              <a:endParaRPr/>
            </a:p>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layer </a:t>
              </a:r>
              <a:endParaRPr/>
            </a:p>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protocol</a:t>
              </a:r>
              <a:endParaRPr/>
            </a:p>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(send)</a:t>
              </a:r>
              <a:endParaRPr/>
            </a:p>
          </p:txBody>
        </p:sp>
        <p:sp>
          <p:nvSpPr>
            <p:cNvPr id="987" name="Google Shape;987;p23"/>
            <p:cNvSpPr/>
            <p:nvPr/>
          </p:nvSpPr>
          <p:spPr>
            <a:xfrm>
              <a:off x="763318" y="1925822"/>
              <a:ext cx="1055688" cy="8286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switch</a:t>
              </a:r>
              <a:endParaRPr/>
            </a:p>
            <a:p>
              <a:pPr indent="0" lvl="0" marL="0" marR="0" rtl="0" algn="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fabric</a:t>
              </a:r>
              <a:endParaRPr b="0" i="0" sz="2000" u="none" cap="none" strike="noStrike">
                <a:solidFill>
                  <a:srgbClr val="000000"/>
                </a:solidFill>
                <a:latin typeface="Tahoma"/>
                <a:ea typeface="Tahoma"/>
                <a:cs typeface="Tahoma"/>
                <a:sym typeface="Tahoma"/>
              </a:endParaRPr>
            </a:p>
            <a:p>
              <a:pPr indent="0" lvl="0" marL="0" marR="0" rtl="0" algn="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a:t>
              </a:r>
              <a:r>
                <a:rPr b="0" i="0" lang="en-US" sz="1800" u="none" cap="none" strike="noStrike">
                  <a:solidFill>
                    <a:srgbClr val="000000"/>
                  </a:solidFill>
                  <a:latin typeface="Tahoma"/>
                  <a:ea typeface="Tahoma"/>
                  <a:cs typeface="Tahoma"/>
                  <a:sym typeface="Tahoma"/>
                </a:rPr>
                <a:t>rate: </a:t>
              </a:r>
              <a:r>
                <a:rPr b="0" i="0" lang="en-US" sz="2000" u="none" cap="none" strike="noStrike">
                  <a:solidFill>
                    <a:srgbClr val="000000"/>
                  </a:solidFill>
                  <a:latin typeface="Tahoma"/>
                  <a:ea typeface="Tahoma"/>
                  <a:cs typeface="Tahoma"/>
                  <a:sym typeface="Tahoma"/>
                </a:rPr>
                <a:t>NR)</a:t>
              </a:r>
              <a:endParaRPr/>
            </a:p>
          </p:txBody>
        </p:sp>
        <p:grpSp>
          <p:nvGrpSpPr>
            <p:cNvPr id="988" name="Google Shape;988;p23"/>
            <p:cNvGrpSpPr/>
            <p:nvPr/>
          </p:nvGrpSpPr>
          <p:grpSpPr>
            <a:xfrm>
              <a:off x="2657523" y="1623793"/>
              <a:ext cx="1247775" cy="1504950"/>
              <a:chOff x="3180" y="909"/>
              <a:chExt cx="786" cy="948"/>
            </a:xfrm>
          </p:grpSpPr>
          <p:sp>
            <p:nvSpPr>
              <p:cNvPr id="989" name="Google Shape;989;p23"/>
              <p:cNvSpPr/>
              <p:nvPr/>
            </p:nvSpPr>
            <p:spPr>
              <a:xfrm>
                <a:off x="3180" y="909"/>
                <a:ext cx="786" cy="948"/>
              </a:xfrm>
              <a:prstGeom prst="rect">
                <a:avLst/>
              </a:prstGeom>
              <a:solidFill>
                <a:srgbClr val="FFFFFF"/>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990" name="Google Shape;990;p23"/>
              <p:cNvSpPr txBox="1"/>
              <p:nvPr/>
            </p:nvSpPr>
            <p:spPr>
              <a:xfrm>
                <a:off x="3232" y="917"/>
                <a:ext cx="724" cy="92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datagram</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buffer</a:t>
                </a:r>
                <a:endParaRPr/>
              </a:p>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queueing</a:t>
                </a:r>
                <a:endParaRPr/>
              </a:p>
            </p:txBody>
          </p:sp>
          <p:grpSp>
            <p:nvGrpSpPr>
              <p:cNvPr id="991" name="Google Shape;991;p23"/>
              <p:cNvGrpSpPr/>
              <p:nvPr/>
            </p:nvGrpSpPr>
            <p:grpSpPr>
              <a:xfrm>
                <a:off x="3260" y="1299"/>
                <a:ext cx="626" cy="295"/>
                <a:chOff x="310" y="3526"/>
                <a:chExt cx="1040" cy="457"/>
              </a:xfrm>
            </p:grpSpPr>
            <p:sp>
              <p:nvSpPr>
                <p:cNvPr id="992" name="Google Shape;992;p23"/>
                <p:cNvSpPr/>
                <p:nvPr/>
              </p:nvSpPr>
              <p:spPr>
                <a:xfrm>
                  <a:off x="310" y="3526"/>
                  <a:ext cx="1040" cy="457"/>
                </a:xfrm>
                <a:prstGeom prst="rect">
                  <a:avLst/>
                </a:prstGeom>
                <a:solidFill>
                  <a:srgbClr val="FF0000"/>
                </a:solid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cxnSp>
              <p:nvCxnSpPr>
                <p:cNvPr id="993" name="Google Shape;993;p23"/>
                <p:cNvCxnSpPr/>
                <p:nvPr/>
              </p:nvCxnSpPr>
              <p:spPr>
                <a:xfrm>
                  <a:off x="446"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994" name="Google Shape;994;p23"/>
                <p:cNvCxnSpPr/>
                <p:nvPr/>
              </p:nvCxnSpPr>
              <p:spPr>
                <a:xfrm>
                  <a:off x="558" y="3538"/>
                  <a:ext cx="2" cy="435"/>
                </a:xfrm>
                <a:prstGeom prst="straightConnector1">
                  <a:avLst/>
                </a:prstGeom>
                <a:noFill/>
                <a:ln cap="flat" cmpd="sng" w="38100">
                  <a:solidFill>
                    <a:srgbClr val="FFFFFF"/>
                  </a:solidFill>
                  <a:prstDash val="solid"/>
                  <a:round/>
                  <a:headEnd len="med" w="med" type="none"/>
                  <a:tailEnd len="med" w="med" type="none"/>
                </a:ln>
              </p:spPr>
            </p:cxnSp>
            <p:cxnSp>
              <p:nvCxnSpPr>
                <p:cNvPr id="995" name="Google Shape;995;p23"/>
                <p:cNvCxnSpPr/>
                <p:nvPr/>
              </p:nvCxnSpPr>
              <p:spPr>
                <a:xfrm>
                  <a:off x="671"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996" name="Google Shape;996;p23"/>
                <p:cNvCxnSpPr/>
                <p:nvPr/>
              </p:nvCxnSpPr>
              <p:spPr>
                <a:xfrm>
                  <a:off x="782"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997" name="Google Shape;997;p23"/>
                <p:cNvCxnSpPr/>
                <p:nvPr/>
              </p:nvCxnSpPr>
              <p:spPr>
                <a:xfrm>
                  <a:off x="895"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998" name="Google Shape;998;p23"/>
                <p:cNvCxnSpPr/>
                <p:nvPr/>
              </p:nvCxnSpPr>
              <p:spPr>
                <a:xfrm>
                  <a:off x="1006"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999" name="Google Shape;999;p23"/>
                <p:cNvCxnSpPr/>
                <p:nvPr/>
              </p:nvCxnSpPr>
              <p:spPr>
                <a:xfrm>
                  <a:off x="1121"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1000" name="Google Shape;1000;p23"/>
                <p:cNvCxnSpPr/>
                <p:nvPr/>
              </p:nvCxnSpPr>
              <p:spPr>
                <a:xfrm>
                  <a:off x="1229" y="3538"/>
                  <a:ext cx="2" cy="435"/>
                </a:xfrm>
                <a:prstGeom prst="straightConnector1">
                  <a:avLst/>
                </a:prstGeom>
                <a:noFill/>
                <a:ln cap="flat" cmpd="sng" w="38100">
                  <a:solidFill>
                    <a:srgbClr val="FFFFFF"/>
                  </a:solidFill>
                  <a:prstDash val="solid"/>
                  <a:round/>
                  <a:headEnd len="med" w="med" type="none"/>
                  <a:tailEnd len="med" w="med" type="none"/>
                </a:ln>
              </p:spPr>
            </p:cxnSp>
          </p:grpSp>
        </p:grpSp>
        <p:cxnSp>
          <p:nvCxnSpPr>
            <p:cNvPr id="1001" name="Google Shape;1001;p23"/>
            <p:cNvCxnSpPr/>
            <p:nvPr/>
          </p:nvCxnSpPr>
          <p:spPr>
            <a:xfrm>
              <a:off x="1878016" y="1579418"/>
              <a:ext cx="0" cy="1645920"/>
            </a:xfrm>
            <a:prstGeom prst="straightConnector1">
              <a:avLst/>
            </a:prstGeom>
            <a:noFill/>
            <a:ln cap="flat" cmpd="sng" w="28575">
              <a:solidFill>
                <a:srgbClr val="000000"/>
              </a:solidFill>
              <a:prstDash val="solid"/>
              <a:round/>
              <a:headEnd len="med" w="med" type="none"/>
              <a:tailEnd len="med" w="med" type="none"/>
            </a:ln>
          </p:spPr>
        </p:cxnSp>
        <p:cxnSp>
          <p:nvCxnSpPr>
            <p:cNvPr id="1002" name="Google Shape;1002;p23"/>
            <p:cNvCxnSpPr/>
            <p:nvPr/>
          </p:nvCxnSpPr>
          <p:spPr>
            <a:xfrm>
              <a:off x="1860598" y="2435006"/>
              <a:ext cx="925513" cy="0"/>
            </a:xfrm>
            <a:prstGeom prst="straightConnector1">
              <a:avLst/>
            </a:prstGeom>
            <a:noFill/>
            <a:ln cap="flat" cmpd="sng" w="28575">
              <a:solidFill>
                <a:srgbClr val="000000"/>
              </a:solidFill>
              <a:prstDash val="solid"/>
              <a:round/>
              <a:headEnd len="med" w="med" type="none"/>
              <a:tailEnd len="med" w="med" type="triangle"/>
            </a:ln>
          </p:spPr>
        </p:cxnSp>
        <p:cxnSp>
          <p:nvCxnSpPr>
            <p:cNvPr id="1003" name="Google Shape;1003;p23"/>
            <p:cNvCxnSpPr/>
            <p:nvPr/>
          </p:nvCxnSpPr>
          <p:spPr>
            <a:xfrm>
              <a:off x="6846225" y="2394066"/>
              <a:ext cx="1030778" cy="0"/>
            </a:xfrm>
            <a:prstGeom prst="straightConnector1">
              <a:avLst/>
            </a:prstGeom>
            <a:noFill/>
            <a:ln cap="flat" cmpd="sng" w="34925">
              <a:solidFill>
                <a:schemeClr val="dk1"/>
              </a:solidFill>
              <a:prstDash val="solid"/>
              <a:miter lim="800000"/>
              <a:headEnd len="sm" w="sm" type="none"/>
              <a:tailEnd len="med" w="med" type="triangle"/>
            </a:ln>
          </p:spPr>
        </p:cxnSp>
        <p:sp>
          <p:nvSpPr>
            <p:cNvPr id="1004" name="Google Shape;1004;p23"/>
            <p:cNvSpPr txBox="1"/>
            <p:nvPr/>
          </p:nvSpPr>
          <p:spPr>
            <a:xfrm flipH="1">
              <a:off x="7215448" y="2377441"/>
              <a:ext cx="31588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R</a:t>
              </a:r>
              <a:endParaRPr/>
            </a:p>
          </p:txBody>
        </p:sp>
      </p:grpSp>
      <p:sp>
        <p:nvSpPr>
          <p:cNvPr id="1005" name="Google Shape;1005;p2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1"/>
                                        </p:tgtEl>
                                        <p:attrNameLst>
                                          <p:attrName>style.visibility</p:attrName>
                                        </p:attrNameLst>
                                      </p:cBhvr>
                                      <p:to>
                                        <p:strVal val="visible"/>
                                      </p:to>
                                    </p:set>
                                    <p:animEffect filter="fade" transition="in">
                                      <p:cBhvr>
                                        <p:cTn dur="500"/>
                                        <p:tgtEl>
                                          <p:spTgt spid="9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0"/>
                                        </p:tgtEl>
                                        <p:attrNameLst>
                                          <p:attrName>style.visibility</p:attrName>
                                        </p:attrNameLst>
                                      </p:cBhvr>
                                      <p:to>
                                        <p:strVal val="visible"/>
                                      </p:to>
                                    </p:set>
                                    <p:animEffect filter="fade" transition="in">
                                      <p:cBhvr>
                                        <p:cTn dur="500"/>
                                        <p:tgtEl>
                                          <p:spTgt spid="9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4"/>
                                        </p:tgtEl>
                                        <p:attrNameLst>
                                          <p:attrName>style.visibility</p:attrName>
                                        </p:attrNameLst>
                                      </p:cBhvr>
                                      <p:to>
                                        <p:strVal val="visible"/>
                                      </p:to>
                                    </p:set>
                                    <p:animEffect filter="fade" transition="in">
                                      <p:cBhvr>
                                        <p:cTn dur="500"/>
                                        <p:tgtEl>
                                          <p:spTgt spid="9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7"/>
                                        </p:tgtEl>
                                        <p:attrNameLst>
                                          <p:attrName>style.visibility</p:attrName>
                                        </p:attrNameLst>
                                      </p:cBhvr>
                                      <p:to>
                                        <p:strVal val="visible"/>
                                      </p:to>
                                    </p:set>
                                    <p:animEffect filter="fade" transition="in">
                                      <p:cBhvr>
                                        <p:cTn dur="500"/>
                                        <p:tgtEl>
                                          <p:spTgt spid="9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p24"/>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Output port queuing</a:t>
            </a:r>
            <a:endParaRPr/>
          </a:p>
        </p:txBody>
      </p:sp>
      <p:grpSp>
        <p:nvGrpSpPr>
          <p:cNvPr id="1012" name="Google Shape;1012;p24"/>
          <p:cNvGrpSpPr/>
          <p:nvPr/>
        </p:nvGrpSpPr>
        <p:grpSpPr>
          <a:xfrm>
            <a:off x="2375414" y="1576437"/>
            <a:ext cx="7412037" cy="2870200"/>
            <a:chOff x="550" y="931"/>
            <a:chExt cx="4669" cy="1808"/>
          </a:xfrm>
        </p:grpSpPr>
        <p:grpSp>
          <p:nvGrpSpPr>
            <p:cNvPr id="1013" name="Google Shape;1013;p24"/>
            <p:cNvGrpSpPr/>
            <p:nvPr/>
          </p:nvGrpSpPr>
          <p:grpSpPr>
            <a:xfrm>
              <a:off x="699" y="948"/>
              <a:ext cx="2099" cy="1356"/>
              <a:chOff x="523" y="976"/>
              <a:chExt cx="2099" cy="1356"/>
            </a:xfrm>
          </p:grpSpPr>
          <p:sp>
            <p:nvSpPr>
              <p:cNvPr id="1014" name="Google Shape;1014;p24"/>
              <p:cNvSpPr/>
              <p:nvPr/>
            </p:nvSpPr>
            <p:spPr>
              <a:xfrm>
                <a:off x="1208" y="976"/>
                <a:ext cx="745" cy="13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015" name="Google Shape;1015;p24"/>
              <p:cNvGrpSpPr/>
              <p:nvPr/>
            </p:nvGrpSpPr>
            <p:grpSpPr>
              <a:xfrm>
                <a:off x="804" y="997"/>
                <a:ext cx="249" cy="1295"/>
                <a:chOff x="748" y="997"/>
                <a:chExt cx="249" cy="1295"/>
              </a:xfrm>
            </p:grpSpPr>
            <p:sp>
              <p:nvSpPr>
                <p:cNvPr id="1016" name="Google Shape;1016;p24"/>
                <p:cNvSpPr/>
                <p:nvPr/>
              </p:nvSpPr>
              <p:spPr>
                <a:xfrm>
                  <a:off x="759" y="997"/>
                  <a:ext cx="238"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7" name="Google Shape;1017;p24"/>
                <p:cNvSpPr/>
                <p:nvPr/>
              </p:nvSpPr>
              <p:spPr>
                <a:xfrm>
                  <a:off x="750" y="1472"/>
                  <a:ext cx="238"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8" name="Google Shape;1018;p24"/>
                <p:cNvSpPr/>
                <p:nvPr/>
              </p:nvSpPr>
              <p:spPr>
                <a:xfrm>
                  <a:off x="748" y="1940"/>
                  <a:ext cx="238"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019" name="Google Shape;1019;p24"/>
              <p:cNvGrpSpPr/>
              <p:nvPr/>
            </p:nvGrpSpPr>
            <p:grpSpPr>
              <a:xfrm>
                <a:off x="2109" y="1002"/>
                <a:ext cx="249" cy="1295"/>
                <a:chOff x="748" y="997"/>
                <a:chExt cx="249" cy="1295"/>
              </a:xfrm>
            </p:grpSpPr>
            <p:sp>
              <p:nvSpPr>
                <p:cNvPr id="1020" name="Google Shape;1020;p24"/>
                <p:cNvSpPr/>
                <p:nvPr/>
              </p:nvSpPr>
              <p:spPr>
                <a:xfrm>
                  <a:off x="759" y="997"/>
                  <a:ext cx="238" cy="352"/>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21" name="Google Shape;1021;p24"/>
                <p:cNvSpPr/>
                <p:nvPr/>
              </p:nvSpPr>
              <p:spPr>
                <a:xfrm>
                  <a:off x="750" y="1472"/>
                  <a:ext cx="238" cy="352"/>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22" name="Google Shape;1022;p24"/>
                <p:cNvSpPr/>
                <p:nvPr/>
              </p:nvSpPr>
              <p:spPr>
                <a:xfrm>
                  <a:off x="748" y="1940"/>
                  <a:ext cx="238" cy="352"/>
                </a:xfrm>
                <a:prstGeom prst="rect">
                  <a:avLst/>
                </a:prstGeom>
                <a:solidFill>
                  <a:srgbClr val="FFFFFF"/>
                </a:solidFill>
                <a:ln cap="flat" cmpd="sng" w="19050">
                  <a:solidFill>
                    <a:srgbClr val="008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1023" name="Google Shape;1023;p24"/>
              <p:cNvCxnSpPr/>
              <p:nvPr/>
            </p:nvCxnSpPr>
            <p:spPr>
              <a:xfrm>
                <a:off x="1946" y="1180"/>
                <a:ext cx="162" cy="0"/>
              </a:xfrm>
              <a:prstGeom prst="straightConnector1">
                <a:avLst/>
              </a:prstGeom>
              <a:noFill/>
              <a:ln cap="flat" cmpd="sng" w="19050">
                <a:solidFill>
                  <a:srgbClr val="000000"/>
                </a:solidFill>
                <a:prstDash val="solid"/>
                <a:round/>
                <a:headEnd len="med" w="med" type="none"/>
                <a:tailEnd len="med" w="med" type="none"/>
              </a:ln>
            </p:spPr>
          </p:cxnSp>
          <p:cxnSp>
            <p:nvCxnSpPr>
              <p:cNvPr id="1024" name="Google Shape;1024;p24"/>
              <p:cNvCxnSpPr/>
              <p:nvPr/>
            </p:nvCxnSpPr>
            <p:spPr>
              <a:xfrm>
                <a:off x="1940" y="1645"/>
                <a:ext cx="162" cy="0"/>
              </a:xfrm>
              <a:prstGeom prst="straightConnector1">
                <a:avLst/>
              </a:prstGeom>
              <a:noFill/>
              <a:ln cap="flat" cmpd="sng" w="19050">
                <a:solidFill>
                  <a:srgbClr val="000000"/>
                </a:solidFill>
                <a:prstDash val="solid"/>
                <a:round/>
                <a:headEnd len="med" w="med" type="none"/>
                <a:tailEnd len="med" w="med" type="none"/>
              </a:ln>
            </p:spPr>
          </p:cxnSp>
          <p:cxnSp>
            <p:nvCxnSpPr>
              <p:cNvPr id="1025" name="Google Shape;1025;p24"/>
              <p:cNvCxnSpPr/>
              <p:nvPr/>
            </p:nvCxnSpPr>
            <p:spPr>
              <a:xfrm>
                <a:off x="1940" y="2119"/>
                <a:ext cx="162" cy="0"/>
              </a:xfrm>
              <a:prstGeom prst="straightConnector1">
                <a:avLst/>
              </a:prstGeom>
              <a:noFill/>
              <a:ln cap="flat" cmpd="sng" w="19050">
                <a:solidFill>
                  <a:srgbClr val="000000"/>
                </a:solidFill>
                <a:prstDash val="solid"/>
                <a:round/>
                <a:headEnd len="med" w="med" type="none"/>
                <a:tailEnd len="med" w="med" type="none"/>
              </a:ln>
            </p:spPr>
          </p:cxnSp>
          <p:cxnSp>
            <p:nvCxnSpPr>
              <p:cNvPr id="1026" name="Google Shape;1026;p24"/>
              <p:cNvCxnSpPr/>
              <p:nvPr/>
            </p:nvCxnSpPr>
            <p:spPr>
              <a:xfrm>
                <a:off x="1044" y="1164"/>
                <a:ext cx="162" cy="0"/>
              </a:xfrm>
              <a:prstGeom prst="straightConnector1">
                <a:avLst/>
              </a:prstGeom>
              <a:noFill/>
              <a:ln cap="flat" cmpd="sng" w="19050">
                <a:solidFill>
                  <a:srgbClr val="000000"/>
                </a:solidFill>
                <a:prstDash val="solid"/>
                <a:round/>
                <a:headEnd len="med" w="med" type="none"/>
                <a:tailEnd len="med" w="med" type="none"/>
              </a:ln>
            </p:spPr>
          </p:cxnSp>
          <p:cxnSp>
            <p:nvCxnSpPr>
              <p:cNvPr id="1027" name="Google Shape;1027;p24"/>
              <p:cNvCxnSpPr/>
              <p:nvPr/>
            </p:nvCxnSpPr>
            <p:spPr>
              <a:xfrm>
                <a:off x="1038" y="1629"/>
                <a:ext cx="162" cy="0"/>
              </a:xfrm>
              <a:prstGeom prst="straightConnector1">
                <a:avLst/>
              </a:prstGeom>
              <a:noFill/>
              <a:ln cap="flat" cmpd="sng" w="19050">
                <a:solidFill>
                  <a:srgbClr val="000000"/>
                </a:solidFill>
                <a:prstDash val="solid"/>
                <a:round/>
                <a:headEnd len="med" w="med" type="none"/>
                <a:tailEnd len="med" w="med" type="none"/>
              </a:ln>
            </p:spPr>
          </p:cxnSp>
          <p:cxnSp>
            <p:nvCxnSpPr>
              <p:cNvPr id="1028" name="Google Shape;1028;p24"/>
              <p:cNvCxnSpPr/>
              <p:nvPr/>
            </p:nvCxnSpPr>
            <p:spPr>
              <a:xfrm>
                <a:off x="1038" y="2103"/>
                <a:ext cx="162" cy="0"/>
              </a:xfrm>
              <a:prstGeom prst="straightConnector1">
                <a:avLst/>
              </a:prstGeom>
              <a:noFill/>
              <a:ln cap="flat" cmpd="sng" w="19050">
                <a:solidFill>
                  <a:srgbClr val="000000"/>
                </a:solidFill>
                <a:prstDash val="solid"/>
                <a:round/>
                <a:headEnd len="med" w="med" type="none"/>
                <a:tailEnd len="med" w="med" type="none"/>
              </a:ln>
            </p:spPr>
          </p:cxnSp>
          <p:grpSp>
            <p:nvGrpSpPr>
              <p:cNvPr id="1029" name="Google Shape;1029;p24"/>
              <p:cNvGrpSpPr/>
              <p:nvPr/>
            </p:nvGrpSpPr>
            <p:grpSpPr>
              <a:xfrm>
                <a:off x="523" y="1169"/>
                <a:ext cx="288" cy="939"/>
                <a:chOff x="-60" y="1148"/>
                <a:chExt cx="168" cy="939"/>
              </a:xfrm>
            </p:grpSpPr>
            <p:cxnSp>
              <p:nvCxnSpPr>
                <p:cNvPr id="1030" name="Google Shape;1030;p24"/>
                <p:cNvCxnSpPr/>
                <p:nvPr/>
              </p:nvCxnSpPr>
              <p:spPr>
                <a:xfrm>
                  <a:off x="-54" y="1148"/>
                  <a:ext cx="162" cy="0"/>
                </a:xfrm>
                <a:prstGeom prst="straightConnector1">
                  <a:avLst/>
                </a:prstGeom>
                <a:noFill/>
                <a:ln cap="flat" cmpd="sng" w="19050">
                  <a:solidFill>
                    <a:srgbClr val="000000"/>
                  </a:solidFill>
                  <a:prstDash val="solid"/>
                  <a:round/>
                  <a:headEnd len="med" w="med" type="none"/>
                  <a:tailEnd len="med" w="med" type="none"/>
                </a:ln>
              </p:spPr>
            </p:cxnSp>
            <p:cxnSp>
              <p:nvCxnSpPr>
                <p:cNvPr id="1031" name="Google Shape;1031;p24"/>
                <p:cNvCxnSpPr/>
                <p:nvPr/>
              </p:nvCxnSpPr>
              <p:spPr>
                <a:xfrm>
                  <a:off x="-60" y="1613"/>
                  <a:ext cx="162" cy="0"/>
                </a:xfrm>
                <a:prstGeom prst="straightConnector1">
                  <a:avLst/>
                </a:prstGeom>
                <a:noFill/>
                <a:ln cap="flat" cmpd="sng" w="19050">
                  <a:solidFill>
                    <a:srgbClr val="000000"/>
                  </a:solidFill>
                  <a:prstDash val="solid"/>
                  <a:round/>
                  <a:headEnd len="med" w="med" type="none"/>
                  <a:tailEnd len="med" w="med" type="none"/>
                </a:ln>
              </p:spPr>
            </p:cxnSp>
            <p:cxnSp>
              <p:nvCxnSpPr>
                <p:cNvPr id="1032" name="Google Shape;1032;p24"/>
                <p:cNvCxnSpPr/>
                <p:nvPr/>
              </p:nvCxnSpPr>
              <p:spPr>
                <a:xfrm>
                  <a:off x="-60" y="2087"/>
                  <a:ext cx="162" cy="0"/>
                </a:xfrm>
                <a:prstGeom prst="straightConnector1">
                  <a:avLst/>
                </a:prstGeom>
                <a:noFill/>
                <a:ln cap="flat" cmpd="sng" w="19050">
                  <a:solidFill>
                    <a:srgbClr val="000000"/>
                  </a:solidFill>
                  <a:prstDash val="solid"/>
                  <a:round/>
                  <a:headEnd len="med" w="med" type="none"/>
                  <a:tailEnd len="med" w="med" type="none"/>
                </a:ln>
              </p:spPr>
            </p:cxnSp>
          </p:grpSp>
          <p:grpSp>
            <p:nvGrpSpPr>
              <p:cNvPr id="1033" name="Google Shape;1033;p24"/>
              <p:cNvGrpSpPr/>
              <p:nvPr/>
            </p:nvGrpSpPr>
            <p:grpSpPr>
              <a:xfrm>
                <a:off x="2334" y="1173"/>
                <a:ext cx="288" cy="939"/>
                <a:chOff x="-60" y="1148"/>
                <a:chExt cx="168" cy="939"/>
              </a:xfrm>
            </p:grpSpPr>
            <p:cxnSp>
              <p:nvCxnSpPr>
                <p:cNvPr id="1034" name="Google Shape;1034;p24"/>
                <p:cNvCxnSpPr/>
                <p:nvPr/>
              </p:nvCxnSpPr>
              <p:spPr>
                <a:xfrm>
                  <a:off x="-54" y="1148"/>
                  <a:ext cx="162" cy="0"/>
                </a:xfrm>
                <a:prstGeom prst="straightConnector1">
                  <a:avLst/>
                </a:prstGeom>
                <a:noFill/>
                <a:ln cap="flat" cmpd="sng" w="19050">
                  <a:solidFill>
                    <a:srgbClr val="000000"/>
                  </a:solidFill>
                  <a:prstDash val="solid"/>
                  <a:round/>
                  <a:headEnd len="med" w="med" type="none"/>
                  <a:tailEnd len="med" w="med" type="triangle"/>
                </a:ln>
              </p:spPr>
            </p:cxnSp>
            <p:cxnSp>
              <p:nvCxnSpPr>
                <p:cNvPr id="1035" name="Google Shape;1035;p24"/>
                <p:cNvCxnSpPr/>
                <p:nvPr/>
              </p:nvCxnSpPr>
              <p:spPr>
                <a:xfrm>
                  <a:off x="-60" y="1613"/>
                  <a:ext cx="162" cy="0"/>
                </a:xfrm>
                <a:prstGeom prst="straightConnector1">
                  <a:avLst/>
                </a:prstGeom>
                <a:noFill/>
                <a:ln cap="flat" cmpd="sng" w="19050">
                  <a:solidFill>
                    <a:srgbClr val="000000"/>
                  </a:solidFill>
                  <a:prstDash val="solid"/>
                  <a:round/>
                  <a:headEnd len="med" w="med" type="none"/>
                  <a:tailEnd len="med" w="med" type="triangle"/>
                </a:ln>
              </p:spPr>
            </p:cxnSp>
            <p:cxnSp>
              <p:nvCxnSpPr>
                <p:cNvPr id="1036" name="Google Shape;1036;p24"/>
                <p:cNvCxnSpPr/>
                <p:nvPr/>
              </p:nvCxnSpPr>
              <p:spPr>
                <a:xfrm>
                  <a:off x="-60" y="2087"/>
                  <a:ext cx="162" cy="0"/>
                </a:xfrm>
                <a:prstGeom prst="straightConnector1">
                  <a:avLst/>
                </a:prstGeom>
                <a:noFill/>
                <a:ln cap="flat" cmpd="sng" w="19050">
                  <a:solidFill>
                    <a:srgbClr val="000000"/>
                  </a:solidFill>
                  <a:prstDash val="solid"/>
                  <a:round/>
                  <a:headEnd len="med" w="med" type="none"/>
                  <a:tailEnd len="med" w="med" type="triangle"/>
                </a:ln>
              </p:spPr>
            </p:cxnSp>
          </p:grpSp>
        </p:grpSp>
        <p:grpSp>
          <p:nvGrpSpPr>
            <p:cNvPr id="1037" name="Google Shape;1037;p24"/>
            <p:cNvGrpSpPr/>
            <p:nvPr/>
          </p:nvGrpSpPr>
          <p:grpSpPr>
            <a:xfrm>
              <a:off x="3120" y="931"/>
              <a:ext cx="2099" cy="1356"/>
              <a:chOff x="523" y="976"/>
              <a:chExt cx="2099" cy="1356"/>
            </a:xfrm>
          </p:grpSpPr>
          <p:sp>
            <p:nvSpPr>
              <p:cNvPr id="1038" name="Google Shape;1038;p24"/>
              <p:cNvSpPr/>
              <p:nvPr/>
            </p:nvSpPr>
            <p:spPr>
              <a:xfrm>
                <a:off x="1208" y="976"/>
                <a:ext cx="745" cy="1356"/>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039" name="Google Shape;1039;p24"/>
              <p:cNvGrpSpPr/>
              <p:nvPr/>
            </p:nvGrpSpPr>
            <p:grpSpPr>
              <a:xfrm>
                <a:off x="804" y="997"/>
                <a:ext cx="249" cy="1295"/>
                <a:chOff x="748" y="997"/>
                <a:chExt cx="249" cy="1295"/>
              </a:xfrm>
            </p:grpSpPr>
            <p:sp>
              <p:nvSpPr>
                <p:cNvPr id="1040" name="Google Shape;1040;p24"/>
                <p:cNvSpPr/>
                <p:nvPr/>
              </p:nvSpPr>
              <p:spPr>
                <a:xfrm>
                  <a:off x="759" y="997"/>
                  <a:ext cx="238"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1" name="Google Shape;1041;p24"/>
                <p:cNvSpPr/>
                <p:nvPr/>
              </p:nvSpPr>
              <p:spPr>
                <a:xfrm>
                  <a:off x="750" y="1472"/>
                  <a:ext cx="238"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2" name="Google Shape;1042;p24"/>
                <p:cNvSpPr/>
                <p:nvPr/>
              </p:nvSpPr>
              <p:spPr>
                <a:xfrm>
                  <a:off x="748" y="1940"/>
                  <a:ext cx="238" cy="352"/>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043" name="Google Shape;1043;p24"/>
              <p:cNvGrpSpPr/>
              <p:nvPr/>
            </p:nvGrpSpPr>
            <p:grpSpPr>
              <a:xfrm>
                <a:off x="2109" y="1002"/>
                <a:ext cx="249" cy="1295"/>
                <a:chOff x="748" y="997"/>
                <a:chExt cx="249" cy="1295"/>
              </a:xfrm>
            </p:grpSpPr>
            <p:sp>
              <p:nvSpPr>
                <p:cNvPr id="1044" name="Google Shape;1044;p24"/>
                <p:cNvSpPr/>
                <p:nvPr/>
              </p:nvSpPr>
              <p:spPr>
                <a:xfrm>
                  <a:off x="759" y="997"/>
                  <a:ext cx="238" cy="352"/>
                </a:xfrm>
                <a:prstGeom prst="rect">
                  <a:avLst/>
                </a:prstGeom>
                <a:solidFill>
                  <a:srgbClr val="FFFFFF"/>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5" name="Google Shape;1045;p24"/>
                <p:cNvSpPr/>
                <p:nvPr/>
              </p:nvSpPr>
              <p:spPr>
                <a:xfrm>
                  <a:off x="750" y="1472"/>
                  <a:ext cx="238" cy="352"/>
                </a:xfrm>
                <a:prstGeom prst="rect">
                  <a:avLst/>
                </a:prstGeom>
                <a:solidFill>
                  <a:srgbClr val="FFFFFF"/>
                </a:solidFill>
                <a:ln cap="flat" cmpd="sng" w="19050">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6" name="Google Shape;1046;p24"/>
                <p:cNvSpPr/>
                <p:nvPr/>
              </p:nvSpPr>
              <p:spPr>
                <a:xfrm>
                  <a:off x="748" y="1940"/>
                  <a:ext cx="238" cy="352"/>
                </a:xfrm>
                <a:prstGeom prst="rect">
                  <a:avLst/>
                </a:prstGeom>
                <a:solidFill>
                  <a:srgbClr val="FFFFFF"/>
                </a:solidFill>
                <a:ln cap="flat" cmpd="sng" w="19050">
                  <a:solidFill>
                    <a:srgbClr val="008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cxnSp>
            <p:nvCxnSpPr>
              <p:cNvPr id="1047" name="Google Shape;1047;p24"/>
              <p:cNvCxnSpPr/>
              <p:nvPr/>
            </p:nvCxnSpPr>
            <p:spPr>
              <a:xfrm>
                <a:off x="1946" y="1180"/>
                <a:ext cx="162" cy="0"/>
              </a:xfrm>
              <a:prstGeom prst="straightConnector1">
                <a:avLst/>
              </a:prstGeom>
              <a:noFill/>
              <a:ln cap="flat" cmpd="sng" w="19050">
                <a:solidFill>
                  <a:srgbClr val="000000"/>
                </a:solidFill>
                <a:prstDash val="solid"/>
                <a:round/>
                <a:headEnd len="med" w="med" type="none"/>
                <a:tailEnd len="med" w="med" type="none"/>
              </a:ln>
            </p:spPr>
          </p:cxnSp>
          <p:cxnSp>
            <p:nvCxnSpPr>
              <p:cNvPr id="1048" name="Google Shape;1048;p24"/>
              <p:cNvCxnSpPr/>
              <p:nvPr/>
            </p:nvCxnSpPr>
            <p:spPr>
              <a:xfrm>
                <a:off x="1940" y="1645"/>
                <a:ext cx="162" cy="0"/>
              </a:xfrm>
              <a:prstGeom prst="straightConnector1">
                <a:avLst/>
              </a:prstGeom>
              <a:noFill/>
              <a:ln cap="flat" cmpd="sng" w="19050">
                <a:solidFill>
                  <a:srgbClr val="000000"/>
                </a:solidFill>
                <a:prstDash val="solid"/>
                <a:round/>
                <a:headEnd len="med" w="med" type="none"/>
                <a:tailEnd len="med" w="med" type="none"/>
              </a:ln>
            </p:spPr>
          </p:cxnSp>
          <p:cxnSp>
            <p:nvCxnSpPr>
              <p:cNvPr id="1049" name="Google Shape;1049;p24"/>
              <p:cNvCxnSpPr/>
              <p:nvPr/>
            </p:nvCxnSpPr>
            <p:spPr>
              <a:xfrm>
                <a:off x="1940" y="2119"/>
                <a:ext cx="162" cy="0"/>
              </a:xfrm>
              <a:prstGeom prst="straightConnector1">
                <a:avLst/>
              </a:prstGeom>
              <a:noFill/>
              <a:ln cap="flat" cmpd="sng" w="19050">
                <a:solidFill>
                  <a:srgbClr val="000000"/>
                </a:solidFill>
                <a:prstDash val="solid"/>
                <a:round/>
                <a:headEnd len="med" w="med" type="none"/>
                <a:tailEnd len="med" w="med" type="none"/>
              </a:ln>
            </p:spPr>
          </p:cxnSp>
          <p:cxnSp>
            <p:nvCxnSpPr>
              <p:cNvPr id="1050" name="Google Shape;1050;p24"/>
              <p:cNvCxnSpPr/>
              <p:nvPr/>
            </p:nvCxnSpPr>
            <p:spPr>
              <a:xfrm>
                <a:off x="1044" y="1164"/>
                <a:ext cx="162" cy="0"/>
              </a:xfrm>
              <a:prstGeom prst="straightConnector1">
                <a:avLst/>
              </a:prstGeom>
              <a:noFill/>
              <a:ln cap="flat" cmpd="sng" w="19050">
                <a:solidFill>
                  <a:srgbClr val="000000"/>
                </a:solidFill>
                <a:prstDash val="solid"/>
                <a:round/>
                <a:headEnd len="med" w="med" type="none"/>
                <a:tailEnd len="med" w="med" type="none"/>
              </a:ln>
            </p:spPr>
          </p:cxnSp>
          <p:cxnSp>
            <p:nvCxnSpPr>
              <p:cNvPr id="1051" name="Google Shape;1051;p24"/>
              <p:cNvCxnSpPr/>
              <p:nvPr/>
            </p:nvCxnSpPr>
            <p:spPr>
              <a:xfrm>
                <a:off x="1038" y="1629"/>
                <a:ext cx="162" cy="0"/>
              </a:xfrm>
              <a:prstGeom prst="straightConnector1">
                <a:avLst/>
              </a:prstGeom>
              <a:noFill/>
              <a:ln cap="flat" cmpd="sng" w="19050">
                <a:solidFill>
                  <a:srgbClr val="000000"/>
                </a:solidFill>
                <a:prstDash val="solid"/>
                <a:round/>
                <a:headEnd len="med" w="med" type="none"/>
                <a:tailEnd len="med" w="med" type="none"/>
              </a:ln>
            </p:spPr>
          </p:cxnSp>
          <p:cxnSp>
            <p:nvCxnSpPr>
              <p:cNvPr id="1052" name="Google Shape;1052;p24"/>
              <p:cNvCxnSpPr/>
              <p:nvPr/>
            </p:nvCxnSpPr>
            <p:spPr>
              <a:xfrm>
                <a:off x="1038" y="2103"/>
                <a:ext cx="162" cy="0"/>
              </a:xfrm>
              <a:prstGeom prst="straightConnector1">
                <a:avLst/>
              </a:prstGeom>
              <a:noFill/>
              <a:ln cap="flat" cmpd="sng" w="19050">
                <a:solidFill>
                  <a:srgbClr val="000000"/>
                </a:solidFill>
                <a:prstDash val="solid"/>
                <a:round/>
                <a:headEnd len="med" w="med" type="none"/>
                <a:tailEnd len="med" w="med" type="none"/>
              </a:ln>
            </p:spPr>
          </p:cxnSp>
          <p:grpSp>
            <p:nvGrpSpPr>
              <p:cNvPr id="1053" name="Google Shape;1053;p24"/>
              <p:cNvGrpSpPr/>
              <p:nvPr/>
            </p:nvGrpSpPr>
            <p:grpSpPr>
              <a:xfrm>
                <a:off x="523" y="1169"/>
                <a:ext cx="288" cy="939"/>
                <a:chOff x="-60" y="1148"/>
                <a:chExt cx="168" cy="939"/>
              </a:xfrm>
            </p:grpSpPr>
            <p:cxnSp>
              <p:nvCxnSpPr>
                <p:cNvPr id="1054" name="Google Shape;1054;p24"/>
                <p:cNvCxnSpPr/>
                <p:nvPr/>
              </p:nvCxnSpPr>
              <p:spPr>
                <a:xfrm>
                  <a:off x="-54" y="1148"/>
                  <a:ext cx="162" cy="0"/>
                </a:xfrm>
                <a:prstGeom prst="straightConnector1">
                  <a:avLst/>
                </a:prstGeom>
                <a:noFill/>
                <a:ln cap="flat" cmpd="sng" w="19050">
                  <a:solidFill>
                    <a:srgbClr val="000000"/>
                  </a:solidFill>
                  <a:prstDash val="solid"/>
                  <a:round/>
                  <a:headEnd len="med" w="med" type="none"/>
                  <a:tailEnd len="med" w="med" type="none"/>
                </a:ln>
              </p:spPr>
            </p:cxnSp>
            <p:cxnSp>
              <p:nvCxnSpPr>
                <p:cNvPr id="1055" name="Google Shape;1055;p24"/>
                <p:cNvCxnSpPr/>
                <p:nvPr/>
              </p:nvCxnSpPr>
              <p:spPr>
                <a:xfrm>
                  <a:off x="-60" y="1613"/>
                  <a:ext cx="162" cy="0"/>
                </a:xfrm>
                <a:prstGeom prst="straightConnector1">
                  <a:avLst/>
                </a:prstGeom>
                <a:noFill/>
                <a:ln cap="flat" cmpd="sng" w="19050">
                  <a:solidFill>
                    <a:srgbClr val="000000"/>
                  </a:solidFill>
                  <a:prstDash val="solid"/>
                  <a:round/>
                  <a:headEnd len="med" w="med" type="none"/>
                  <a:tailEnd len="med" w="med" type="none"/>
                </a:ln>
              </p:spPr>
            </p:cxnSp>
            <p:cxnSp>
              <p:nvCxnSpPr>
                <p:cNvPr id="1056" name="Google Shape;1056;p24"/>
                <p:cNvCxnSpPr/>
                <p:nvPr/>
              </p:nvCxnSpPr>
              <p:spPr>
                <a:xfrm>
                  <a:off x="-60" y="2087"/>
                  <a:ext cx="162" cy="0"/>
                </a:xfrm>
                <a:prstGeom prst="straightConnector1">
                  <a:avLst/>
                </a:prstGeom>
                <a:noFill/>
                <a:ln cap="flat" cmpd="sng" w="19050">
                  <a:solidFill>
                    <a:srgbClr val="000000"/>
                  </a:solidFill>
                  <a:prstDash val="solid"/>
                  <a:round/>
                  <a:headEnd len="med" w="med" type="none"/>
                  <a:tailEnd len="med" w="med" type="none"/>
                </a:ln>
              </p:spPr>
            </p:cxnSp>
          </p:grpSp>
          <p:grpSp>
            <p:nvGrpSpPr>
              <p:cNvPr id="1057" name="Google Shape;1057;p24"/>
              <p:cNvGrpSpPr/>
              <p:nvPr/>
            </p:nvGrpSpPr>
            <p:grpSpPr>
              <a:xfrm>
                <a:off x="2334" y="1173"/>
                <a:ext cx="288" cy="939"/>
                <a:chOff x="-60" y="1148"/>
                <a:chExt cx="168" cy="939"/>
              </a:xfrm>
            </p:grpSpPr>
            <p:cxnSp>
              <p:nvCxnSpPr>
                <p:cNvPr id="1058" name="Google Shape;1058;p24"/>
                <p:cNvCxnSpPr/>
                <p:nvPr/>
              </p:nvCxnSpPr>
              <p:spPr>
                <a:xfrm>
                  <a:off x="-54" y="1148"/>
                  <a:ext cx="162" cy="0"/>
                </a:xfrm>
                <a:prstGeom prst="straightConnector1">
                  <a:avLst/>
                </a:prstGeom>
                <a:noFill/>
                <a:ln cap="flat" cmpd="sng" w="19050">
                  <a:solidFill>
                    <a:srgbClr val="000000"/>
                  </a:solidFill>
                  <a:prstDash val="solid"/>
                  <a:round/>
                  <a:headEnd len="med" w="med" type="none"/>
                  <a:tailEnd len="med" w="med" type="triangle"/>
                </a:ln>
              </p:spPr>
            </p:cxnSp>
            <p:cxnSp>
              <p:nvCxnSpPr>
                <p:cNvPr id="1059" name="Google Shape;1059;p24"/>
                <p:cNvCxnSpPr/>
                <p:nvPr/>
              </p:nvCxnSpPr>
              <p:spPr>
                <a:xfrm>
                  <a:off x="-60" y="1613"/>
                  <a:ext cx="162" cy="0"/>
                </a:xfrm>
                <a:prstGeom prst="straightConnector1">
                  <a:avLst/>
                </a:prstGeom>
                <a:noFill/>
                <a:ln cap="flat" cmpd="sng" w="19050">
                  <a:solidFill>
                    <a:srgbClr val="000000"/>
                  </a:solidFill>
                  <a:prstDash val="solid"/>
                  <a:round/>
                  <a:headEnd len="med" w="med" type="none"/>
                  <a:tailEnd len="med" w="med" type="triangle"/>
                </a:ln>
              </p:spPr>
            </p:cxnSp>
            <p:cxnSp>
              <p:nvCxnSpPr>
                <p:cNvPr id="1060" name="Google Shape;1060;p24"/>
                <p:cNvCxnSpPr/>
                <p:nvPr/>
              </p:nvCxnSpPr>
              <p:spPr>
                <a:xfrm>
                  <a:off x="-60" y="2087"/>
                  <a:ext cx="162" cy="0"/>
                </a:xfrm>
                <a:prstGeom prst="straightConnector1">
                  <a:avLst/>
                </a:prstGeom>
                <a:noFill/>
                <a:ln cap="flat" cmpd="sng" w="19050">
                  <a:solidFill>
                    <a:srgbClr val="000000"/>
                  </a:solidFill>
                  <a:prstDash val="solid"/>
                  <a:round/>
                  <a:headEnd len="med" w="med" type="none"/>
                  <a:tailEnd len="med" w="med" type="triangle"/>
                </a:ln>
              </p:spPr>
            </p:cxnSp>
          </p:grpSp>
        </p:grpSp>
        <p:sp>
          <p:nvSpPr>
            <p:cNvPr id="1061" name="Google Shape;1061;p24"/>
            <p:cNvSpPr/>
            <p:nvPr/>
          </p:nvSpPr>
          <p:spPr>
            <a:xfrm>
              <a:off x="1012" y="1012"/>
              <a:ext cx="175" cy="98"/>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2" name="Google Shape;1062;p24"/>
            <p:cNvSpPr/>
            <p:nvPr/>
          </p:nvSpPr>
          <p:spPr>
            <a:xfrm>
              <a:off x="1003" y="1494"/>
              <a:ext cx="175" cy="98"/>
            </a:xfrm>
            <a:prstGeom prst="rect">
              <a:avLst/>
            </a:prstGeom>
            <a:solidFill>
              <a:srgbClr val="0000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3" name="Google Shape;1063;p24"/>
            <p:cNvSpPr/>
            <p:nvPr/>
          </p:nvSpPr>
          <p:spPr>
            <a:xfrm>
              <a:off x="994" y="1969"/>
              <a:ext cx="175" cy="98"/>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4" name="Google Shape;1064;p24"/>
            <p:cNvSpPr/>
            <p:nvPr/>
          </p:nvSpPr>
          <p:spPr>
            <a:xfrm>
              <a:off x="764" y="1017"/>
              <a:ext cx="175" cy="98"/>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5" name="Google Shape;1065;p24"/>
            <p:cNvSpPr/>
            <p:nvPr/>
          </p:nvSpPr>
          <p:spPr>
            <a:xfrm>
              <a:off x="760" y="1953"/>
              <a:ext cx="175" cy="98"/>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066" name="Google Shape;1066;p24"/>
            <p:cNvCxnSpPr/>
            <p:nvPr/>
          </p:nvCxnSpPr>
          <p:spPr>
            <a:xfrm>
              <a:off x="1215" y="1054"/>
              <a:ext cx="1026" cy="1"/>
            </a:xfrm>
            <a:prstGeom prst="straightConnector1">
              <a:avLst/>
            </a:prstGeom>
            <a:noFill/>
            <a:ln cap="flat" cmpd="sng" w="28575">
              <a:solidFill>
                <a:srgbClr val="FF0000"/>
              </a:solidFill>
              <a:prstDash val="dash"/>
              <a:round/>
              <a:headEnd len="med" w="med" type="none"/>
              <a:tailEnd len="med" w="med" type="triangle"/>
            </a:ln>
          </p:spPr>
        </p:cxnSp>
        <p:sp>
          <p:nvSpPr>
            <p:cNvPr id="1067" name="Google Shape;1067;p24"/>
            <p:cNvSpPr/>
            <p:nvPr/>
          </p:nvSpPr>
          <p:spPr>
            <a:xfrm>
              <a:off x="1246" y="1285"/>
              <a:ext cx="967" cy="735"/>
            </a:xfrm>
            <a:custGeom>
              <a:rect b="b" l="l" r="r" t="t"/>
              <a:pathLst>
                <a:path extrusionOk="0" h="735" w="967">
                  <a:moveTo>
                    <a:pt x="0" y="733"/>
                  </a:moveTo>
                  <a:lnTo>
                    <a:pt x="522" y="735"/>
                  </a:lnTo>
                  <a:lnTo>
                    <a:pt x="967" y="0"/>
                  </a:lnTo>
                </a:path>
              </a:pathLst>
            </a:custGeom>
            <a:noFill/>
            <a:ln cap="flat" cmpd="sng" w="28575">
              <a:solidFill>
                <a:srgbClr val="FF0000"/>
              </a:solidFill>
              <a:prstDash val="dash"/>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68" name="Google Shape;1068;p24"/>
            <p:cNvSpPr txBox="1"/>
            <p:nvPr/>
          </p:nvSpPr>
          <p:spPr>
            <a:xfrm>
              <a:off x="933" y="2335"/>
              <a:ext cx="1549" cy="40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at </a:t>
              </a:r>
              <a:r>
                <a:rPr b="0" i="1" lang="en-US" sz="1800" u="none" cap="none" strike="noStrike">
                  <a:solidFill>
                    <a:srgbClr val="000000"/>
                  </a:solidFill>
                  <a:latin typeface="Arial"/>
                  <a:ea typeface="Arial"/>
                  <a:cs typeface="Arial"/>
                  <a:sym typeface="Arial"/>
                </a:rPr>
                <a:t>t,</a:t>
              </a:r>
              <a:r>
                <a:rPr b="0" i="0" lang="en-US" sz="1800" u="none" cap="none" strike="noStrike">
                  <a:solidFill>
                    <a:srgbClr val="000000"/>
                  </a:solidFill>
                  <a:latin typeface="Arial"/>
                  <a:ea typeface="Arial"/>
                  <a:cs typeface="Arial"/>
                  <a:sym typeface="Arial"/>
                </a:rPr>
                <a:t> packets more</a:t>
              </a:r>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from input to output</a:t>
              </a:r>
              <a:endParaRPr b="0" i="1" sz="1800" u="none" cap="none" strike="noStrike">
                <a:solidFill>
                  <a:srgbClr val="000000"/>
                </a:solidFill>
                <a:latin typeface="Arial"/>
                <a:ea typeface="Arial"/>
                <a:cs typeface="Arial"/>
                <a:sym typeface="Arial"/>
              </a:endParaRPr>
            </a:p>
          </p:txBody>
        </p:sp>
        <p:sp>
          <p:nvSpPr>
            <p:cNvPr id="1069" name="Google Shape;1069;p24"/>
            <p:cNvSpPr txBox="1"/>
            <p:nvPr/>
          </p:nvSpPr>
          <p:spPr>
            <a:xfrm>
              <a:off x="3354" y="2325"/>
              <a:ext cx="1549"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one packet time later</a:t>
              </a:r>
              <a:endParaRPr b="0" i="1" sz="1800" u="none" cap="none" strike="noStrike">
                <a:solidFill>
                  <a:srgbClr val="000000"/>
                </a:solidFill>
                <a:latin typeface="Arial"/>
                <a:ea typeface="Arial"/>
                <a:cs typeface="Arial"/>
                <a:sym typeface="Arial"/>
              </a:endParaRPr>
            </a:p>
          </p:txBody>
        </p:sp>
        <p:sp>
          <p:nvSpPr>
            <p:cNvPr id="1070" name="Google Shape;1070;p24"/>
            <p:cNvSpPr txBox="1"/>
            <p:nvPr/>
          </p:nvSpPr>
          <p:spPr>
            <a:xfrm>
              <a:off x="1488" y="1545"/>
              <a:ext cx="471" cy="36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switch</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fabric</a:t>
              </a:r>
              <a:endParaRPr/>
            </a:p>
          </p:txBody>
        </p:sp>
        <p:sp>
          <p:nvSpPr>
            <p:cNvPr id="1071" name="Google Shape;1071;p24"/>
            <p:cNvSpPr txBox="1"/>
            <p:nvPr/>
          </p:nvSpPr>
          <p:spPr>
            <a:xfrm>
              <a:off x="3895" y="1479"/>
              <a:ext cx="471" cy="36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switch</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fabric</a:t>
              </a:r>
              <a:endParaRPr/>
            </a:p>
          </p:txBody>
        </p:sp>
        <p:sp>
          <p:nvSpPr>
            <p:cNvPr id="1072" name="Google Shape;1072;p24"/>
            <p:cNvSpPr/>
            <p:nvPr/>
          </p:nvSpPr>
          <p:spPr>
            <a:xfrm>
              <a:off x="4746" y="972"/>
              <a:ext cx="175" cy="98"/>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3" name="Google Shape;1073;p24"/>
            <p:cNvSpPr/>
            <p:nvPr/>
          </p:nvSpPr>
          <p:spPr>
            <a:xfrm>
              <a:off x="4746" y="1497"/>
              <a:ext cx="175" cy="98"/>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4" name="Google Shape;1074;p24"/>
            <p:cNvSpPr/>
            <p:nvPr/>
          </p:nvSpPr>
          <p:spPr>
            <a:xfrm>
              <a:off x="4743" y="1099"/>
              <a:ext cx="175" cy="98"/>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5" name="Google Shape;1075;p24"/>
            <p:cNvSpPr/>
            <p:nvPr/>
          </p:nvSpPr>
          <p:spPr>
            <a:xfrm>
              <a:off x="3445" y="1001"/>
              <a:ext cx="175" cy="98"/>
            </a:xfrm>
            <a:prstGeom prst="rect">
              <a:avLst/>
            </a:prstGeom>
            <a:solidFill>
              <a:srgbClr val="00CC9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6" name="Google Shape;1076;p24"/>
            <p:cNvSpPr/>
            <p:nvPr/>
          </p:nvSpPr>
          <p:spPr>
            <a:xfrm>
              <a:off x="3434" y="1965"/>
              <a:ext cx="175" cy="98"/>
            </a:xfrm>
            <a:prstGeom prst="rect">
              <a:avLst/>
            </a:prstGeom>
            <a:solidFill>
              <a:srgbClr val="FF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7" name="Google Shape;1077;p24"/>
            <p:cNvSpPr/>
            <p:nvPr/>
          </p:nvSpPr>
          <p:spPr>
            <a:xfrm>
              <a:off x="3682" y="1261"/>
              <a:ext cx="967" cy="735"/>
            </a:xfrm>
            <a:custGeom>
              <a:rect b="b" l="l" r="r" t="t"/>
              <a:pathLst>
                <a:path extrusionOk="0" h="735" w="967">
                  <a:moveTo>
                    <a:pt x="0" y="733"/>
                  </a:moveTo>
                  <a:lnTo>
                    <a:pt x="522" y="735"/>
                  </a:lnTo>
                  <a:lnTo>
                    <a:pt x="967" y="0"/>
                  </a:lnTo>
                </a:path>
              </a:pathLst>
            </a:custGeom>
            <a:noFill/>
            <a:ln cap="flat" cmpd="sng" w="28575">
              <a:solidFill>
                <a:srgbClr val="FF0000"/>
              </a:solidFill>
              <a:prstDash val="dash"/>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sp>
          <p:nvSpPr>
            <p:cNvPr id="1078" name="Google Shape;1078;p24"/>
            <p:cNvSpPr/>
            <p:nvPr/>
          </p:nvSpPr>
          <p:spPr>
            <a:xfrm>
              <a:off x="3669" y="1051"/>
              <a:ext cx="988" cy="951"/>
            </a:xfrm>
            <a:custGeom>
              <a:rect b="b" l="l" r="r" t="t"/>
              <a:pathLst>
                <a:path extrusionOk="0" h="480" w="1002">
                  <a:moveTo>
                    <a:pt x="0" y="2"/>
                  </a:moveTo>
                  <a:lnTo>
                    <a:pt x="522" y="0"/>
                  </a:lnTo>
                  <a:lnTo>
                    <a:pt x="1002" y="480"/>
                  </a:lnTo>
                </a:path>
              </a:pathLst>
            </a:custGeom>
            <a:noFill/>
            <a:ln cap="flat" cmpd="sng" w="28575">
              <a:solidFill>
                <a:srgbClr val="008000"/>
              </a:solidFill>
              <a:prstDash val="dash"/>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Arial"/>
                <a:ea typeface="Arial"/>
                <a:cs typeface="Arial"/>
                <a:sym typeface="Arial"/>
              </a:endParaRPr>
            </a:p>
          </p:txBody>
        </p:sp>
        <p:cxnSp>
          <p:nvCxnSpPr>
            <p:cNvPr id="1079" name="Google Shape;1079;p24"/>
            <p:cNvCxnSpPr/>
            <p:nvPr/>
          </p:nvCxnSpPr>
          <p:spPr>
            <a:xfrm>
              <a:off x="1208" y="1545"/>
              <a:ext cx="1012" cy="14"/>
            </a:xfrm>
            <a:prstGeom prst="straightConnector1">
              <a:avLst/>
            </a:prstGeom>
            <a:noFill/>
            <a:ln cap="flat" cmpd="sng" w="28575">
              <a:solidFill>
                <a:srgbClr val="3333CC"/>
              </a:solidFill>
              <a:prstDash val="dash"/>
              <a:round/>
              <a:headEnd len="med" w="med" type="none"/>
              <a:tailEnd len="med" w="med" type="triangle"/>
            </a:ln>
          </p:spPr>
        </p:cxnSp>
        <p:sp>
          <p:nvSpPr>
            <p:cNvPr id="1080" name="Google Shape;1080;p24"/>
            <p:cNvSpPr/>
            <p:nvPr/>
          </p:nvSpPr>
          <p:spPr>
            <a:xfrm>
              <a:off x="550" y="1010"/>
              <a:ext cx="175" cy="98"/>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1" name="Google Shape;1081;p24"/>
            <p:cNvSpPr/>
            <p:nvPr/>
          </p:nvSpPr>
          <p:spPr>
            <a:xfrm>
              <a:off x="3194" y="997"/>
              <a:ext cx="175" cy="98"/>
            </a:xfrm>
            <a:prstGeom prst="rect">
              <a:avLst/>
            </a:prstGeom>
            <a:solidFill>
              <a:srgbClr val="3333CC"/>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082" name="Google Shape;1082;p24"/>
          <p:cNvSpPr txBox="1"/>
          <p:nvPr/>
        </p:nvSpPr>
        <p:spPr>
          <a:xfrm>
            <a:off x="900868" y="4672501"/>
            <a:ext cx="10057863" cy="1756434"/>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buffering when arrival rate via switch exceeds output line speed</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1" lang="en-US" sz="2800" u="none" cap="none" strike="noStrike">
                <a:solidFill>
                  <a:srgbClr val="CC0000"/>
                </a:solidFill>
                <a:latin typeface="Calibri"/>
                <a:ea typeface="Calibri"/>
                <a:cs typeface="Calibri"/>
                <a:sym typeface="Calibri"/>
              </a:rPr>
              <a:t>queueing (delay) and loss due to output port buffer overflow!</a:t>
            </a:r>
            <a:endParaRPr b="0" i="0" sz="2800" u="none" cap="none" strike="noStrike">
              <a:solidFill>
                <a:srgbClr val="CC0000"/>
              </a:solidFill>
              <a:latin typeface="Calibri"/>
              <a:ea typeface="Calibri"/>
              <a:cs typeface="Calibri"/>
              <a:sym typeface="Calibri"/>
            </a:endParaRPr>
          </a:p>
        </p:txBody>
      </p:sp>
      <p:sp>
        <p:nvSpPr>
          <p:cNvPr id="1083" name="Google Shape;1083;p2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sp>
        <p:nvSpPr>
          <p:cNvPr id="1089" name="Google Shape;1089;p25"/>
          <p:cNvSpPr txBox="1"/>
          <p:nvPr>
            <p:ph idx="1" type="body"/>
          </p:nvPr>
        </p:nvSpPr>
        <p:spPr>
          <a:xfrm>
            <a:off x="852267" y="1386402"/>
            <a:ext cx="10515600" cy="2271198"/>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2800"/>
              <a:buChar char="▪"/>
            </a:pPr>
            <a:r>
              <a:rPr lang="en-US"/>
              <a:t>RFC 3439 rule of thumb: average buffering equal to “typical” RTT (say 250 msec) times link capacity C</a:t>
            </a:r>
            <a:endParaRPr/>
          </a:p>
          <a:p>
            <a:pPr indent="-231775" lvl="1" marL="695325" rtl="0" algn="l">
              <a:lnSpc>
                <a:spcPct val="90000"/>
              </a:lnSpc>
              <a:spcBef>
                <a:spcPts val="500"/>
              </a:spcBef>
              <a:spcAft>
                <a:spcPts val="0"/>
              </a:spcAft>
              <a:buSzPts val="2400"/>
              <a:buChar char="•"/>
            </a:pPr>
            <a:r>
              <a:rPr lang="en-US"/>
              <a:t>e.g., C = 10 Gbps link: 2.5 Gbit buffer</a:t>
            </a:r>
            <a:endParaRPr/>
          </a:p>
        </p:txBody>
      </p:sp>
      <p:sp>
        <p:nvSpPr>
          <p:cNvPr id="1090" name="Google Shape;1090;p25"/>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How much buffering?</a:t>
            </a:r>
            <a:endParaRPr/>
          </a:p>
        </p:txBody>
      </p:sp>
      <p:sp>
        <p:nvSpPr>
          <p:cNvPr id="1091" name="Google Shape;1091;p25"/>
          <p:cNvSpPr txBox="1"/>
          <p:nvPr/>
        </p:nvSpPr>
        <p:spPr>
          <a:xfrm>
            <a:off x="878059" y="4169460"/>
            <a:ext cx="10515600" cy="2271198"/>
          </a:xfrm>
          <a:prstGeom prst="rect">
            <a:avLst/>
          </a:prstGeom>
          <a:noFill/>
          <a:ln>
            <a:noFill/>
          </a:ln>
        </p:spPr>
        <p:txBody>
          <a:bodyPr anchorCtr="0" anchor="t" bIns="45700" lIns="91425" spcFirstLastPara="1" rIns="91425" wrap="square" tIns="45700">
            <a:no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but</a:t>
            </a:r>
            <a:r>
              <a:rPr b="0" i="1" lang="en-US" sz="2800" u="none" cap="none" strike="noStrike">
                <a:solidFill>
                  <a:srgbClr val="000000"/>
                </a:solidFill>
                <a:latin typeface="Calibri"/>
                <a:ea typeface="Calibri"/>
                <a:cs typeface="Calibri"/>
                <a:sym typeface="Calibri"/>
              </a:rPr>
              <a:t> too </a:t>
            </a:r>
            <a:r>
              <a:rPr b="0" i="0" lang="en-US" sz="2800" u="none" cap="none" strike="noStrike">
                <a:solidFill>
                  <a:srgbClr val="000000"/>
                </a:solidFill>
                <a:latin typeface="Calibri"/>
                <a:ea typeface="Calibri"/>
                <a:cs typeface="Calibri"/>
                <a:sym typeface="Calibri"/>
              </a:rPr>
              <a:t>much buffering can increase delays (particularly in home routers)</a:t>
            </a:r>
            <a:endParaRPr/>
          </a:p>
          <a:p>
            <a:pPr indent="-231775" lvl="1" marL="695325" marR="0" rtl="0" algn="l">
              <a:lnSpc>
                <a:spcPct val="90000"/>
              </a:lnSpc>
              <a:spcBef>
                <a:spcPts val="500"/>
              </a:spcBef>
              <a:spcAft>
                <a:spcPts val="0"/>
              </a:spcAft>
              <a:buClr>
                <a:srgbClr val="0000A8"/>
              </a:buClr>
              <a:buSzPts val="2600"/>
              <a:buFont typeface="Arial"/>
              <a:buChar char="•"/>
            </a:pPr>
            <a:r>
              <a:rPr b="0" i="0" lang="en-US" sz="2600" u="none" cap="none" strike="noStrike">
                <a:solidFill>
                  <a:srgbClr val="000000"/>
                </a:solidFill>
                <a:latin typeface="Calibri"/>
                <a:ea typeface="Calibri"/>
                <a:cs typeface="Calibri"/>
                <a:sym typeface="Calibri"/>
              </a:rPr>
              <a:t>long RTTs: poor performance for realtime apps, sluggish TCP response </a:t>
            </a:r>
            <a:endParaRPr b="0" i="0" sz="2600" u="none" cap="none" strike="noStrike">
              <a:solidFill>
                <a:srgbClr val="000000"/>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ts val="2600"/>
              <a:buFont typeface="Arial"/>
              <a:buChar char="•"/>
            </a:pPr>
            <a:r>
              <a:rPr b="0" i="0" lang="en-US" sz="2600" u="none" cap="none" strike="noStrike">
                <a:solidFill>
                  <a:srgbClr val="000000"/>
                </a:solidFill>
                <a:latin typeface="Calibri"/>
                <a:ea typeface="Calibri"/>
                <a:cs typeface="Calibri"/>
                <a:sym typeface="Calibri"/>
              </a:rPr>
              <a:t>recall delay-based congestion control: “keep bottleneck link just full enough (busy) but no fuller”</a:t>
            </a:r>
            <a:endParaRPr b="0" i="0" sz="2600" u="none" cap="none" strike="noStrike">
              <a:solidFill>
                <a:srgbClr val="000000"/>
              </a:solidFill>
              <a:latin typeface="Calibri"/>
              <a:ea typeface="Calibri"/>
              <a:cs typeface="Calibri"/>
              <a:sym typeface="Calibri"/>
            </a:endParaRPr>
          </a:p>
        </p:txBody>
      </p:sp>
      <p:grpSp>
        <p:nvGrpSpPr>
          <p:cNvPr id="1092" name="Google Shape;1092;p25"/>
          <p:cNvGrpSpPr/>
          <p:nvPr/>
        </p:nvGrpSpPr>
        <p:grpSpPr>
          <a:xfrm>
            <a:off x="878057" y="2664217"/>
            <a:ext cx="10515600" cy="1389648"/>
            <a:chOff x="878057" y="2664217"/>
            <a:chExt cx="10515600" cy="1389648"/>
          </a:xfrm>
        </p:grpSpPr>
        <p:grpSp>
          <p:nvGrpSpPr>
            <p:cNvPr id="1093" name="Google Shape;1093;p25"/>
            <p:cNvGrpSpPr/>
            <p:nvPr/>
          </p:nvGrpSpPr>
          <p:grpSpPr>
            <a:xfrm>
              <a:off x="4293797" y="2944202"/>
              <a:ext cx="1165225" cy="1109663"/>
              <a:chOff x="1923" y="2801"/>
              <a:chExt cx="734" cy="699"/>
            </a:xfrm>
          </p:grpSpPr>
          <p:sp>
            <p:nvSpPr>
              <p:cNvPr id="1094" name="Google Shape;1094;p25"/>
              <p:cNvSpPr txBox="1"/>
              <p:nvPr/>
            </p:nvSpPr>
            <p:spPr>
              <a:xfrm>
                <a:off x="1923" y="2918"/>
                <a:ext cx="734"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RTT  C</a:t>
                </a:r>
                <a:endParaRPr/>
              </a:p>
            </p:txBody>
          </p:sp>
          <p:sp>
            <p:nvSpPr>
              <p:cNvPr id="1095" name="Google Shape;1095;p25"/>
              <p:cNvSpPr txBox="1"/>
              <p:nvPr/>
            </p:nvSpPr>
            <p:spPr>
              <a:xfrm>
                <a:off x="2309" y="2801"/>
                <a:ext cx="187" cy="3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a:t>
                </a:r>
                <a:endParaRPr/>
              </a:p>
            </p:txBody>
          </p:sp>
          <p:cxnSp>
            <p:nvCxnSpPr>
              <p:cNvPr id="1096" name="Google Shape;1096;p25"/>
              <p:cNvCxnSpPr/>
              <p:nvPr/>
            </p:nvCxnSpPr>
            <p:spPr>
              <a:xfrm>
                <a:off x="1929" y="3168"/>
                <a:ext cx="619" cy="0"/>
              </a:xfrm>
              <a:prstGeom prst="straightConnector1">
                <a:avLst/>
              </a:prstGeom>
              <a:noFill/>
              <a:ln cap="flat" cmpd="sng" w="9525">
                <a:solidFill>
                  <a:schemeClr val="dk1"/>
                </a:solidFill>
                <a:prstDash val="solid"/>
                <a:round/>
                <a:headEnd len="med" w="med" type="none"/>
                <a:tailEnd len="med" w="med" type="none"/>
              </a:ln>
            </p:spPr>
          </p:cxnSp>
          <p:sp>
            <p:nvSpPr>
              <p:cNvPr id="1097" name="Google Shape;1097;p25"/>
              <p:cNvSpPr txBox="1"/>
              <p:nvPr/>
            </p:nvSpPr>
            <p:spPr>
              <a:xfrm>
                <a:off x="2091" y="3212"/>
                <a:ext cx="255"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N</a:t>
                </a:r>
                <a:endParaRPr/>
              </a:p>
            </p:txBody>
          </p:sp>
          <p:sp>
            <p:nvSpPr>
              <p:cNvPr id="1098" name="Google Shape;1098;p25"/>
              <p:cNvSpPr/>
              <p:nvPr/>
            </p:nvSpPr>
            <p:spPr>
              <a:xfrm>
                <a:off x="2062" y="3218"/>
                <a:ext cx="279" cy="209"/>
              </a:xfrm>
              <a:custGeom>
                <a:rect b="b" l="l" r="r" t="t"/>
                <a:pathLst>
                  <a:path extrusionOk="0" h="209" w="279">
                    <a:moveTo>
                      <a:pt x="0" y="148"/>
                    </a:moveTo>
                    <a:lnTo>
                      <a:pt x="26" y="105"/>
                    </a:lnTo>
                    <a:lnTo>
                      <a:pt x="44" y="209"/>
                    </a:lnTo>
                    <a:lnTo>
                      <a:pt x="61" y="0"/>
                    </a:lnTo>
                    <a:lnTo>
                      <a:pt x="279" y="0"/>
                    </a:lnTo>
                  </a:path>
                </a:pathLst>
              </a:custGeom>
              <a:noFill/>
              <a:ln cap="flat" cmpd="sng" w="952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099" name="Google Shape;1099;p25"/>
            <p:cNvSpPr txBox="1"/>
            <p:nvPr/>
          </p:nvSpPr>
          <p:spPr>
            <a:xfrm>
              <a:off x="878057" y="2664217"/>
              <a:ext cx="10515600" cy="7683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more recent recommendation: with </a:t>
              </a:r>
              <a:r>
                <a:rPr b="0" i="1" lang="en-US" sz="2800" u="none" cap="none" strike="noStrike">
                  <a:solidFill>
                    <a:srgbClr val="00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flows, buffering equal to </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grpSp>
      <p:sp>
        <p:nvSpPr>
          <p:cNvPr id="1100" name="Google Shape;1100;p2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2"/>
                                        </p:tgtEl>
                                        <p:attrNameLst>
                                          <p:attrName>style.visibility</p:attrName>
                                        </p:attrNameLst>
                                      </p:cBhvr>
                                      <p:to>
                                        <p:strVal val="visible"/>
                                      </p:to>
                                    </p:set>
                                    <p:animEffect filter="fade" transition="in">
                                      <p:cBhvr>
                                        <p:cTn dur="500"/>
                                        <p:tgtEl>
                                          <p:spTgt spid="10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1"/>
                                        </p:tgtEl>
                                        <p:attrNameLst>
                                          <p:attrName>style.visibility</p:attrName>
                                        </p:attrNameLst>
                                      </p:cBhvr>
                                      <p:to>
                                        <p:strVal val="visible"/>
                                      </p:to>
                                    </p:set>
                                    <p:animEffect filter="fade" transition="in">
                                      <p:cBhvr>
                                        <p:cTn dur="500"/>
                                        <p:tgtEl>
                                          <p:spTgt spid="10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5" name="Shape 1105"/>
        <p:cNvGrpSpPr/>
        <p:nvPr/>
      </p:nvGrpSpPr>
      <p:grpSpPr>
        <a:xfrm>
          <a:off x="0" y="0"/>
          <a:ext cx="0" cy="0"/>
          <a:chOff x="0" y="0"/>
          <a:chExt cx="0" cy="0"/>
        </a:xfrm>
      </p:grpSpPr>
      <p:sp>
        <p:nvSpPr>
          <p:cNvPr id="1106" name="Google Shape;1106;p26"/>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Buffer Management</a:t>
            </a:r>
            <a:endParaRPr/>
          </a:p>
        </p:txBody>
      </p:sp>
      <p:sp>
        <p:nvSpPr>
          <p:cNvPr id="1107" name="Google Shape;1107;p26"/>
          <p:cNvSpPr txBox="1"/>
          <p:nvPr/>
        </p:nvSpPr>
        <p:spPr>
          <a:xfrm>
            <a:off x="6654018" y="1463040"/>
            <a:ext cx="4966481" cy="5009198"/>
          </a:xfrm>
          <a:prstGeom prst="rect">
            <a:avLst/>
          </a:prstGeom>
          <a:noFill/>
          <a:ln>
            <a:noFill/>
          </a:ln>
        </p:spPr>
        <p:txBody>
          <a:bodyPr anchorCtr="0" anchor="t" bIns="45700" lIns="91425" spcFirstLastPara="1" rIns="91425" wrap="square" tIns="45700">
            <a:normAutofit/>
          </a:bodyPr>
          <a:lstStyle/>
          <a:p>
            <a:pPr indent="-223838" lvl="0" marL="236538"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00000"/>
                </a:solidFill>
                <a:latin typeface="Calibri"/>
                <a:ea typeface="Calibri"/>
                <a:cs typeface="Calibri"/>
                <a:sym typeface="Calibri"/>
              </a:rPr>
              <a:t>buffer management: </a:t>
            </a:r>
            <a:endParaRPr/>
          </a:p>
          <a:p>
            <a:pPr indent="-282575" lvl="0" marL="29527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drop: </a:t>
            </a:r>
            <a:r>
              <a:rPr b="0" i="0" lang="en-US" sz="2800" u="none" cap="none" strike="noStrike">
                <a:solidFill>
                  <a:srgbClr val="000000"/>
                </a:solidFill>
                <a:latin typeface="Calibri"/>
                <a:ea typeface="Calibri"/>
                <a:cs typeface="Calibri"/>
                <a:sym typeface="Calibri"/>
              </a:rPr>
              <a:t>which packet to add, drop when buffers are full</a:t>
            </a:r>
            <a:endParaRPr b="0" i="0" sz="3200" u="none" cap="none" strike="noStrike">
              <a:solidFill>
                <a:srgbClr val="000000"/>
              </a:solidFill>
              <a:latin typeface="Calibri"/>
              <a:ea typeface="Calibri"/>
              <a:cs typeface="Calibri"/>
              <a:sym typeface="Calibri"/>
            </a:endParaRPr>
          </a:p>
          <a:p>
            <a:pPr indent="-231775" lvl="1" marL="695325" marR="0" rtl="0" algn="l">
              <a:lnSpc>
                <a:spcPct val="81250"/>
              </a:lnSpc>
              <a:spcBef>
                <a:spcPts val="500"/>
              </a:spcBef>
              <a:spcAft>
                <a:spcPts val="0"/>
              </a:spcAft>
              <a:buClr>
                <a:srgbClr val="0000A8"/>
              </a:buClr>
              <a:buSzPts val="2800"/>
              <a:buFont typeface="Arial"/>
              <a:buChar char="•"/>
            </a:pPr>
            <a:r>
              <a:rPr b="0" i="0" lang="en-US" sz="2800" u="none" cap="none" strike="noStrike">
                <a:solidFill>
                  <a:srgbClr val="000099"/>
                </a:solidFill>
                <a:latin typeface="Calibri"/>
                <a:ea typeface="Calibri"/>
                <a:cs typeface="Calibri"/>
                <a:sym typeface="Calibri"/>
              </a:rPr>
              <a:t>tail drop: </a:t>
            </a:r>
            <a:r>
              <a:rPr b="0" i="0" lang="en-US" sz="2800" u="none" cap="none" strike="noStrike">
                <a:solidFill>
                  <a:srgbClr val="000000"/>
                </a:solidFill>
                <a:latin typeface="Calibri"/>
                <a:ea typeface="Calibri"/>
                <a:cs typeface="Calibri"/>
                <a:sym typeface="Calibri"/>
              </a:rPr>
              <a:t>drop arriving packet</a:t>
            </a:r>
            <a:endParaRPr/>
          </a:p>
          <a:p>
            <a:pPr indent="-231775" lvl="1" marL="695325" marR="0" rtl="0" algn="l">
              <a:lnSpc>
                <a:spcPct val="81250"/>
              </a:lnSpc>
              <a:spcBef>
                <a:spcPts val="500"/>
              </a:spcBef>
              <a:spcAft>
                <a:spcPts val="0"/>
              </a:spcAft>
              <a:buClr>
                <a:srgbClr val="0000A8"/>
              </a:buClr>
              <a:buSzPts val="2800"/>
              <a:buFont typeface="Arial"/>
              <a:buChar char="•"/>
            </a:pPr>
            <a:r>
              <a:rPr b="0" i="0" lang="en-US" sz="2800" u="none" cap="none" strike="noStrike">
                <a:solidFill>
                  <a:srgbClr val="000099"/>
                </a:solidFill>
                <a:latin typeface="Calibri"/>
                <a:ea typeface="Calibri"/>
                <a:cs typeface="Calibri"/>
                <a:sym typeface="Calibri"/>
              </a:rPr>
              <a:t>priority: </a:t>
            </a:r>
            <a:r>
              <a:rPr b="0" i="0" lang="en-US" sz="2800" u="none" cap="none" strike="noStrike">
                <a:solidFill>
                  <a:srgbClr val="000000"/>
                </a:solidFill>
                <a:latin typeface="Calibri"/>
                <a:ea typeface="Calibri"/>
                <a:cs typeface="Calibri"/>
                <a:sym typeface="Calibri"/>
              </a:rPr>
              <a:t>drop/remove on priority basis</a:t>
            </a:r>
            <a:endParaRPr/>
          </a:p>
        </p:txBody>
      </p:sp>
      <p:sp>
        <p:nvSpPr>
          <p:cNvPr id="1108" name="Google Shape;1108;p26"/>
          <p:cNvSpPr/>
          <p:nvPr/>
        </p:nvSpPr>
        <p:spPr>
          <a:xfrm>
            <a:off x="1367869" y="1895285"/>
            <a:ext cx="3509501" cy="1819532"/>
          </a:xfrm>
          <a:prstGeom prst="rect">
            <a:avLst/>
          </a:prstGeom>
          <a:solidFill>
            <a:srgbClr val="FFFFFF"/>
          </a:solidFill>
          <a:ln cap="flat" cmpd="sng" w="19050">
            <a:solidFill>
              <a:srgbClr val="5F5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1109" name="Google Shape;1109;p26"/>
          <p:cNvSpPr/>
          <p:nvPr/>
        </p:nvSpPr>
        <p:spPr>
          <a:xfrm>
            <a:off x="3816974" y="2504234"/>
            <a:ext cx="974671" cy="621068"/>
          </a:xfrm>
          <a:prstGeom prst="rect">
            <a:avLst/>
          </a:prstGeom>
          <a:solidFill>
            <a:srgbClr val="FFFFFF"/>
          </a:solidFill>
          <a:ln cap="flat" cmpd="sng" w="28575">
            <a:solidFill>
              <a:srgbClr val="0066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line</a:t>
            </a:r>
            <a:endParaRPr/>
          </a:p>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termination</a:t>
            </a:r>
            <a:endParaRPr b="0" i="0" sz="1600" u="none" cap="none" strike="noStrike">
              <a:solidFill>
                <a:srgbClr val="000000"/>
              </a:solidFill>
              <a:latin typeface="Tahoma"/>
              <a:ea typeface="Tahoma"/>
              <a:cs typeface="Tahoma"/>
              <a:sym typeface="Tahoma"/>
            </a:endParaRPr>
          </a:p>
        </p:txBody>
      </p:sp>
      <p:sp>
        <p:nvSpPr>
          <p:cNvPr id="1110" name="Google Shape;1110;p26"/>
          <p:cNvSpPr/>
          <p:nvPr/>
        </p:nvSpPr>
        <p:spPr>
          <a:xfrm>
            <a:off x="2719466" y="2266379"/>
            <a:ext cx="965806" cy="1100138"/>
          </a:xfrm>
          <a:prstGeom prst="rect">
            <a:avLst/>
          </a:prstGeom>
          <a:solidFill>
            <a:srgbClr val="FFFFFF"/>
          </a:solidFill>
          <a:ln cap="flat" cmpd="sng" w="28575">
            <a:solidFill>
              <a:srgbClr val="3333C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cxnSp>
        <p:nvCxnSpPr>
          <p:cNvPr id="1111" name="Google Shape;1111;p26"/>
          <p:cNvCxnSpPr/>
          <p:nvPr/>
        </p:nvCxnSpPr>
        <p:spPr>
          <a:xfrm>
            <a:off x="2570471" y="2839629"/>
            <a:ext cx="159637" cy="1488"/>
          </a:xfrm>
          <a:prstGeom prst="straightConnector1">
            <a:avLst/>
          </a:prstGeom>
          <a:noFill/>
          <a:ln cap="flat" cmpd="sng" w="28575">
            <a:solidFill>
              <a:srgbClr val="000000"/>
            </a:solidFill>
            <a:prstDash val="solid"/>
            <a:round/>
            <a:headEnd len="med" w="med" type="none"/>
            <a:tailEnd len="med" w="med" type="triangle"/>
          </a:ln>
        </p:spPr>
      </p:cxnSp>
      <p:cxnSp>
        <p:nvCxnSpPr>
          <p:cNvPr id="1112" name="Google Shape;1112;p26"/>
          <p:cNvCxnSpPr/>
          <p:nvPr/>
        </p:nvCxnSpPr>
        <p:spPr>
          <a:xfrm>
            <a:off x="3687933" y="2834779"/>
            <a:ext cx="159637" cy="1487"/>
          </a:xfrm>
          <a:prstGeom prst="straightConnector1">
            <a:avLst/>
          </a:prstGeom>
          <a:noFill/>
          <a:ln cap="flat" cmpd="sng" w="28575">
            <a:solidFill>
              <a:srgbClr val="000000"/>
            </a:solidFill>
            <a:prstDash val="solid"/>
            <a:round/>
            <a:headEnd len="med" w="med" type="none"/>
            <a:tailEnd len="med" w="med" type="triangle"/>
          </a:ln>
        </p:spPr>
      </p:cxnSp>
      <p:sp>
        <p:nvSpPr>
          <p:cNvPr id="1113" name="Google Shape;1113;p26"/>
          <p:cNvSpPr/>
          <p:nvPr/>
        </p:nvSpPr>
        <p:spPr>
          <a:xfrm>
            <a:off x="2747403" y="2416579"/>
            <a:ext cx="884657" cy="77654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link </a:t>
            </a:r>
            <a:endParaRPr/>
          </a:p>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layer </a:t>
            </a:r>
            <a:endParaRPr/>
          </a:p>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protocol</a:t>
            </a:r>
            <a:endParaRPr/>
          </a:p>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(send)</a:t>
            </a:r>
            <a:endParaRPr/>
          </a:p>
        </p:txBody>
      </p:sp>
      <p:sp>
        <p:nvSpPr>
          <p:cNvPr id="1114" name="Google Shape;1114;p26"/>
          <p:cNvSpPr/>
          <p:nvPr/>
        </p:nvSpPr>
        <p:spPr>
          <a:xfrm>
            <a:off x="332969" y="2208898"/>
            <a:ext cx="884658" cy="77654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switch</a:t>
            </a:r>
            <a:endParaRPr/>
          </a:p>
          <a:p>
            <a:pPr indent="0" lvl="0" marL="0" marR="0" rtl="0" algn="ctr">
              <a:lnSpc>
                <a:spcPct val="90000"/>
              </a:lnSpc>
              <a:spcBef>
                <a:spcPts val="0"/>
              </a:spcBef>
              <a:spcAft>
                <a:spcPts val="0"/>
              </a:spcAft>
              <a:buClr>
                <a:srgbClr val="000000"/>
              </a:buClr>
              <a:buSzPts val="1600"/>
              <a:buFont typeface="Tahoma"/>
              <a:buNone/>
            </a:pPr>
            <a:r>
              <a:rPr b="0" i="0" lang="en-US" sz="1600" u="none" cap="none" strike="noStrike">
                <a:solidFill>
                  <a:srgbClr val="000000"/>
                </a:solidFill>
                <a:latin typeface="Tahoma"/>
                <a:ea typeface="Tahoma"/>
                <a:cs typeface="Tahoma"/>
                <a:sym typeface="Tahoma"/>
              </a:rPr>
              <a:t>fabric</a:t>
            </a:r>
            <a:endParaRPr/>
          </a:p>
        </p:txBody>
      </p:sp>
      <p:grpSp>
        <p:nvGrpSpPr>
          <p:cNvPr id="1115" name="Google Shape;1115;p26"/>
          <p:cNvGrpSpPr/>
          <p:nvPr/>
        </p:nvGrpSpPr>
        <p:grpSpPr>
          <a:xfrm>
            <a:off x="1431729" y="2004504"/>
            <a:ext cx="1187971" cy="1614085"/>
            <a:chOff x="3132" y="858"/>
            <a:chExt cx="893" cy="1085"/>
          </a:xfrm>
        </p:grpSpPr>
        <p:sp>
          <p:nvSpPr>
            <p:cNvPr id="1116" name="Google Shape;1116;p26"/>
            <p:cNvSpPr/>
            <p:nvPr/>
          </p:nvSpPr>
          <p:spPr>
            <a:xfrm>
              <a:off x="3180" y="858"/>
              <a:ext cx="786" cy="1085"/>
            </a:xfrm>
            <a:prstGeom prst="rect">
              <a:avLst/>
            </a:prstGeom>
            <a:solidFill>
              <a:srgbClr val="FFFFFF"/>
            </a:solid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sp>
          <p:nvSpPr>
            <p:cNvPr id="1117" name="Google Shape;1117;p26"/>
            <p:cNvSpPr txBox="1"/>
            <p:nvPr/>
          </p:nvSpPr>
          <p:spPr>
            <a:xfrm>
              <a:off x="3132" y="883"/>
              <a:ext cx="893" cy="105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datagram</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buffer</a:t>
              </a:r>
              <a:endParaRPr/>
            </a:p>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queueing </a:t>
              </a:r>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scheduling</a:t>
              </a:r>
              <a:endParaRPr/>
            </a:p>
          </p:txBody>
        </p:sp>
        <p:grpSp>
          <p:nvGrpSpPr>
            <p:cNvPr id="1118" name="Google Shape;1118;p26"/>
            <p:cNvGrpSpPr/>
            <p:nvPr/>
          </p:nvGrpSpPr>
          <p:grpSpPr>
            <a:xfrm>
              <a:off x="3260" y="1299"/>
              <a:ext cx="626" cy="295"/>
              <a:chOff x="310" y="3526"/>
              <a:chExt cx="1040" cy="457"/>
            </a:xfrm>
          </p:grpSpPr>
          <p:sp>
            <p:nvSpPr>
              <p:cNvPr id="1119" name="Google Shape;1119;p26"/>
              <p:cNvSpPr/>
              <p:nvPr/>
            </p:nvSpPr>
            <p:spPr>
              <a:xfrm>
                <a:off x="310" y="3526"/>
                <a:ext cx="1040" cy="457"/>
              </a:xfrm>
              <a:prstGeom prst="rect">
                <a:avLst/>
              </a:prstGeom>
              <a:solidFill>
                <a:srgbClr val="FF0000"/>
              </a:solid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Tahoma"/>
                  <a:ea typeface="Tahoma"/>
                  <a:cs typeface="Tahoma"/>
                  <a:sym typeface="Tahoma"/>
                </a:endParaRPr>
              </a:p>
            </p:txBody>
          </p:sp>
          <p:cxnSp>
            <p:nvCxnSpPr>
              <p:cNvPr id="1120" name="Google Shape;1120;p26"/>
              <p:cNvCxnSpPr/>
              <p:nvPr/>
            </p:nvCxnSpPr>
            <p:spPr>
              <a:xfrm>
                <a:off x="446"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1121" name="Google Shape;1121;p26"/>
              <p:cNvCxnSpPr/>
              <p:nvPr/>
            </p:nvCxnSpPr>
            <p:spPr>
              <a:xfrm>
                <a:off x="558" y="3538"/>
                <a:ext cx="2" cy="435"/>
              </a:xfrm>
              <a:prstGeom prst="straightConnector1">
                <a:avLst/>
              </a:prstGeom>
              <a:noFill/>
              <a:ln cap="flat" cmpd="sng" w="38100">
                <a:solidFill>
                  <a:srgbClr val="FFFFFF"/>
                </a:solidFill>
                <a:prstDash val="solid"/>
                <a:round/>
                <a:headEnd len="med" w="med" type="none"/>
                <a:tailEnd len="med" w="med" type="none"/>
              </a:ln>
            </p:spPr>
          </p:cxnSp>
          <p:cxnSp>
            <p:nvCxnSpPr>
              <p:cNvPr id="1122" name="Google Shape;1122;p26"/>
              <p:cNvCxnSpPr/>
              <p:nvPr/>
            </p:nvCxnSpPr>
            <p:spPr>
              <a:xfrm>
                <a:off x="671"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1123" name="Google Shape;1123;p26"/>
              <p:cNvCxnSpPr/>
              <p:nvPr/>
            </p:nvCxnSpPr>
            <p:spPr>
              <a:xfrm>
                <a:off x="782"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1124" name="Google Shape;1124;p26"/>
              <p:cNvCxnSpPr/>
              <p:nvPr/>
            </p:nvCxnSpPr>
            <p:spPr>
              <a:xfrm>
                <a:off x="895"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1125" name="Google Shape;1125;p26"/>
              <p:cNvCxnSpPr/>
              <p:nvPr/>
            </p:nvCxnSpPr>
            <p:spPr>
              <a:xfrm>
                <a:off x="1006" y="3534"/>
                <a:ext cx="2" cy="437"/>
              </a:xfrm>
              <a:prstGeom prst="straightConnector1">
                <a:avLst/>
              </a:prstGeom>
              <a:noFill/>
              <a:ln cap="flat" cmpd="sng" w="38100">
                <a:solidFill>
                  <a:srgbClr val="FFFFFF"/>
                </a:solidFill>
                <a:prstDash val="solid"/>
                <a:round/>
                <a:headEnd len="med" w="med" type="none"/>
                <a:tailEnd len="med" w="med" type="none"/>
              </a:ln>
            </p:spPr>
          </p:cxnSp>
          <p:cxnSp>
            <p:nvCxnSpPr>
              <p:cNvPr id="1126" name="Google Shape;1126;p26"/>
              <p:cNvCxnSpPr/>
              <p:nvPr/>
            </p:nvCxnSpPr>
            <p:spPr>
              <a:xfrm>
                <a:off x="1121" y="3535"/>
                <a:ext cx="2" cy="437"/>
              </a:xfrm>
              <a:prstGeom prst="straightConnector1">
                <a:avLst/>
              </a:prstGeom>
              <a:noFill/>
              <a:ln cap="flat" cmpd="sng" w="38100">
                <a:solidFill>
                  <a:srgbClr val="FFFFFF"/>
                </a:solidFill>
                <a:prstDash val="solid"/>
                <a:round/>
                <a:headEnd len="med" w="med" type="none"/>
                <a:tailEnd len="med" w="med" type="none"/>
              </a:ln>
            </p:spPr>
          </p:cxnSp>
          <p:cxnSp>
            <p:nvCxnSpPr>
              <p:cNvPr id="1127" name="Google Shape;1127;p26"/>
              <p:cNvCxnSpPr/>
              <p:nvPr/>
            </p:nvCxnSpPr>
            <p:spPr>
              <a:xfrm>
                <a:off x="1229" y="3538"/>
                <a:ext cx="2" cy="435"/>
              </a:xfrm>
              <a:prstGeom prst="straightConnector1">
                <a:avLst/>
              </a:prstGeom>
              <a:noFill/>
              <a:ln cap="flat" cmpd="sng" w="38100">
                <a:solidFill>
                  <a:srgbClr val="FFFFFF"/>
                </a:solidFill>
                <a:prstDash val="solid"/>
                <a:round/>
                <a:headEnd len="med" w="med" type="none"/>
                <a:tailEnd len="med" w="med" type="none"/>
              </a:ln>
            </p:spPr>
          </p:cxnSp>
        </p:grpSp>
      </p:grpSp>
      <p:cxnSp>
        <p:nvCxnSpPr>
          <p:cNvPr id="1128" name="Google Shape;1128;p26"/>
          <p:cNvCxnSpPr/>
          <p:nvPr/>
        </p:nvCxnSpPr>
        <p:spPr>
          <a:xfrm>
            <a:off x="1105881" y="1811700"/>
            <a:ext cx="9312" cy="2057400"/>
          </a:xfrm>
          <a:prstGeom prst="straightConnector1">
            <a:avLst/>
          </a:prstGeom>
          <a:noFill/>
          <a:ln cap="flat" cmpd="sng" w="28575">
            <a:solidFill>
              <a:srgbClr val="000000"/>
            </a:solidFill>
            <a:prstDash val="solid"/>
            <a:round/>
            <a:headEnd len="med" w="med" type="none"/>
            <a:tailEnd len="med" w="med" type="none"/>
          </a:ln>
        </p:spPr>
      </p:cxnSp>
      <p:cxnSp>
        <p:nvCxnSpPr>
          <p:cNvPr id="1129" name="Google Shape;1129;p26"/>
          <p:cNvCxnSpPr/>
          <p:nvPr/>
        </p:nvCxnSpPr>
        <p:spPr>
          <a:xfrm>
            <a:off x="1099229" y="2826268"/>
            <a:ext cx="415247" cy="0"/>
          </a:xfrm>
          <a:prstGeom prst="straightConnector1">
            <a:avLst/>
          </a:prstGeom>
          <a:noFill/>
          <a:ln cap="flat" cmpd="sng" w="28575">
            <a:solidFill>
              <a:srgbClr val="000000"/>
            </a:solidFill>
            <a:prstDash val="solid"/>
            <a:round/>
            <a:headEnd len="med" w="med" type="none"/>
            <a:tailEnd len="med" w="med" type="triangle"/>
          </a:ln>
        </p:spPr>
      </p:cxnSp>
      <p:cxnSp>
        <p:nvCxnSpPr>
          <p:cNvPr id="1130" name="Google Shape;1130;p26"/>
          <p:cNvCxnSpPr/>
          <p:nvPr/>
        </p:nvCxnSpPr>
        <p:spPr>
          <a:xfrm>
            <a:off x="4802005" y="2800351"/>
            <a:ext cx="442913" cy="0"/>
          </a:xfrm>
          <a:prstGeom prst="straightConnector1">
            <a:avLst/>
          </a:prstGeom>
          <a:noFill/>
          <a:ln cap="flat" cmpd="sng" w="25400">
            <a:solidFill>
              <a:schemeClr val="dk1"/>
            </a:solidFill>
            <a:prstDash val="solid"/>
            <a:miter lim="800000"/>
            <a:headEnd len="sm" w="sm" type="none"/>
            <a:tailEnd len="med" w="med" type="triangle"/>
          </a:ln>
        </p:spPr>
      </p:cxnSp>
      <p:sp>
        <p:nvSpPr>
          <p:cNvPr id="1131" name="Google Shape;1131;p26"/>
          <p:cNvSpPr txBox="1"/>
          <p:nvPr/>
        </p:nvSpPr>
        <p:spPr>
          <a:xfrm>
            <a:off x="6549241" y="4457354"/>
            <a:ext cx="4966481" cy="1213485"/>
          </a:xfrm>
          <a:prstGeom prst="rect">
            <a:avLst/>
          </a:prstGeom>
          <a:noFill/>
          <a:ln>
            <a:noFill/>
          </a:ln>
        </p:spPr>
        <p:txBody>
          <a:bodyPr anchorCtr="0" anchor="t" bIns="45700" lIns="91425" spcFirstLastPara="1" rIns="91425" wrap="square" tIns="45700">
            <a:normAutofit lnSpcReduction="10000"/>
          </a:bodyPr>
          <a:lstStyle/>
          <a:p>
            <a:pPr indent="-277813" lvl="0" marL="40798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C00000"/>
                </a:solidFill>
                <a:latin typeface="Calibri"/>
                <a:ea typeface="Calibri"/>
                <a:cs typeface="Calibri"/>
                <a:sym typeface="Calibri"/>
              </a:rPr>
              <a:t>marking: </a:t>
            </a:r>
            <a:r>
              <a:rPr b="0" i="0" lang="en-US" sz="2800" u="none" cap="none" strike="noStrike">
                <a:solidFill>
                  <a:srgbClr val="000000"/>
                </a:solidFill>
                <a:latin typeface="Calibri"/>
                <a:ea typeface="Calibri"/>
                <a:cs typeface="Calibri"/>
                <a:sym typeface="Calibri"/>
              </a:rPr>
              <a:t>which packets to mark to signal congestion (ECN, RED)</a:t>
            </a:r>
            <a:endParaRPr/>
          </a:p>
          <a:p>
            <a:pPr indent="-390525" lvl="0" marL="403225" marR="0" rtl="0" algn="l">
              <a:lnSpc>
                <a:spcPct val="90000"/>
              </a:lnSpc>
              <a:spcBef>
                <a:spcPts val="1000"/>
              </a:spcBef>
              <a:spcAft>
                <a:spcPts val="0"/>
              </a:spcAft>
              <a:buClr>
                <a:srgbClr val="0000A3"/>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1132" name="Google Shape;1132;p26"/>
          <p:cNvSpPr txBox="1"/>
          <p:nvPr/>
        </p:nvSpPr>
        <p:spPr>
          <a:xfrm>
            <a:off x="4854633" y="2377440"/>
            <a:ext cx="35137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nvGrpSpPr>
          <p:cNvPr id="1133" name="Google Shape;1133;p26"/>
          <p:cNvGrpSpPr/>
          <p:nvPr/>
        </p:nvGrpSpPr>
        <p:grpSpPr>
          <a:xfrm>
            <a:off x="913621" y="4556937"/>
            <a:ext cx="4335126" cy="1693461"/>
            <a:chOff x="614363" y="4257679"/>
            <a:chExt cx="4335126" cy="1693461"/>
          </a:xfrm>
        </p:grpSpPr>
        <p:grpSp>
          <p:nvGrpSpPr>
            <p:cNvPr id="1134" name="Google Shape;1134;p26"/>
            <p:cNvGrpSpPr/>
            <p:nvPr/>
          </p:nvGrpSpPr>
          <p:grpSpPr>
            <a:xfrm>
              <a:off x="614363" y="4257679"/>
              <a:ext cx="4335126" cy="1693461"/>
              <a:chOff x="614363" y="4257679"/>
              <a:chExt cx="4335126" cy="1693461"/>
            </a:xfrm>
          </p:grpSpPr>
          <p:grpSp>
            <p:nvGrpSpPr>
              <p:cNvPr id="1135" name="Google Shape;1135;p26"/>
              <p:cNvGrpSpPr/>
              <p:nvPr/>
            </p:nvGrpSpPr>
            <p:grpSpPr>
              <a:xfrm>
                <a:off x="1468086" y="4855765"/>
                <a:ext cx="939800" cy="565150"/>
                <a:chOff x="1670312" y="2562997"/>
                <a:chExt cx="940317" cy="565219"/>
              </a:xfrm>
            </p:grpSpPr>
            <p:grpSp>
              <p:nvGrpSpPr>
                <p:cNvPr id="1136" name="Google Shape;1136;p26"/>
                <p:cNvGrpSpPr/>
                <p:nvPr/>
              </p:nvGrpSpPr>
              <p:grpSpPr>
                <a:xfrm>
                  <a:off x="1670312" y="2562997"/>
                  <a:ext cx="929822" cy="565219"/>
                  <a:chOff x="1670312" y="2562997"/>
                  <a:chExt cx="929822" cy="565219"/>
                </a:xfrm>
              </p:grpSpPr>
              <p:sp>
                <p:nvSpPr>
                  <p:cNvPr id="1137" name="Google Shape;1137;p26"/>
                  <p:cNvSpPr/>
                  <p:nvPr/>
                </p:nvSpPr>
                <p:spPr>
                  <a:xfrm>
                    <a:off x="1670312" y="2562997"/>
                    <a:ext cx="929822" cy="563157"/>
                  </a:xfrm>
                  <a:prstGeom prst="rect">
                    <a:avLst/>
                  </a:prstGeom>
                  <a:noFill/>
                  <a:ln cap="flat" cmpd="sng" w="190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138" name="Google Shape;1138;p26"/>
                  <p:cNvCxnSpPr/>
                  <p:nvPr/>
                </p:nvCxnSpPr>
                <p:spPr>
                  <a:xfrm flipH="1">
                    <a:off x="1786358" y="256753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139" name="Google Shape;1139;p26"/>
                  <p:cNvCxnSpPr/>
                  <p:nvPr/>
                </p:nvCxnSpPr>
                <p:spPr>
                  <a:xfrm flipH="1">
                    <a:off x="1911544" y="2566974"/>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140" name="Google Shape;1140;p26"/>
                  <p:cNvCxnSpPr/>
                  <p:nvPr/>
                </p:nvCxnSpPr>
                <p:spPr>
                  <a:xfrm flipH="1">
                    <a:off x="2027659" y="257032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141" name="Google Shape;1141;p26"/>
                  <p:cNvCxnSpPr/>
                  <p:nvPr/>
                </p:nvCxnSpPr>
                <p:spPr>
                  <a:xfrm flipH="1">
                    <a:off x="2134843" y="2564600"/>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142" name="Google Shape;1142;p26"/>
                  <p:cNvCxnSpPr/>
                  <p:nvPr/>
                </p:nvCxnSpPr>
                <p:spPr>
                  <a:xfrm flipH="1">
                    <a:off x="2244397" y="256669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143" name="Google Shape;1143;p26"/>
                  <p:cNvCxnSpPr/>
                  <p:nvPr/>
                </p:nvCxnSpPr>
                <p:spPr>
                  <a:xfrm flipH="1">
                    <a:off x="2365675" y="2568786"/>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144" name="Google Shape;1144;p26"/>
                  <p:cNvCxnSpPr/>
                  <p:nvPr/>
                </p:nvCxnSpPr>
                <p:spPr>
                  <a:xfrm flipH="1">
                    <a:off x="2483045" y="2566971"/>
                    <a:ext cx="4536" cy="557893"/>
                  </a:xfrm>
                  <a:prstGeom prst="straightConnector1">
                    <a:avLst/>
                  </a:prstGeom>
                  <a:noFill/>
                  <a:ln cap="flat" cmpd="sng" w="19050">
                    <a:solidFill>
                      <a:schemeClr val="dk1"/>
                    </a:solidFill>
                    <a:prstDash val="solid"/>
                    <a:round/>
                    <a:headEnd len="med" w="med" type="none"/>
                    <a:tailEnd len="med" w="med" type="none"/>
                  </a:ln>
                </p:spPr>
              </p:cxnSp>
            </p:grpSp>
            <p:sp>
              <p:nvSpPr>
                <p:cNvPr id="1145" name="Google Shape;1145;p26"/>
                <p:cNvSpPr/>
                <p:nvPr/>
              </p:nvSpPr>
              <p:spPr>
                <a:xfrm>
                  <a:off x="1916862" y="2571262"/>
                  <a:ext cx="693767" cy="552560"/>
                </a:xfrm>
                <a:prstGeom prst="rect">
                  <a:avLst/>
                </a:prstGeom>
                <a:solidFill>
                  <a:srgbClr val="FF0000">
                    <a:alpha val="7058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146" name="Google Shape;1146;p26"/>
              <p:cNvSpPr/>
              <p:nvPr/>
            </p:nvSpPr>
            <p:spPr>
              <a:xfrm>
                <a:off x="2851137" y="4827190"/>
                <a:ext cx="631825" cy="628650"/>
              </a:xfrm>
              <a:prstGeom prst="ellipse">
                <a:avLst/>
              </a:prstGeom>
              <a:solidFill>
                <a:srgbClr val="FFFFFF"/>
              </a:solidFill>
              <a:ln cap="flat" cmpd="sng" w="28575">
                <a:solidFill>
                  <a:srgbClr val="3333CC"/>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147" name="Google Shape;1147;p26"/>
              <p:cNvCxnSpPr/>
              <p:nvPr/>
            </p:nvCxnSpPr>
            <p:spPr>
              <a:xfrm>
                <a:off x="785813" y="5138340"/>
                <a:ext cx="628651" cy="0"/>
              </a:xfrm>
              <a:prstGeom prst="straightConnector1">
                <a:avLst/>
              </a:prstGeom>
              <a:noFill/>
              <a:ln cap="flat" cmpd="sng" w="25400">
                <a:solidFill>
                  <a:srgbClr val="000099"/>
                </a:solidFill>
                <a:prstDash val="solid"/>
                <a:round/>
                <a:headEnd len="med" w="med" type="none"/>
                <a:tailEnd len="med" w="med" type="triangle"/>
              </a:ln>
            </p:spPr>
          </p:cxnSp>
          <p:sp>
            <p:nvSpPr>
              <p:cNvPr id="1148" name="Google Shape;1148;p26"/>
              <p:cNvSpPr txBox="1"/>
              <p:nvPr/>
            </p:nvSpPr>
            <p:spPr>
              <a:xfrm>
                <a:off x="1282351" y="5422502"/>
                <a:ext cx="1273175"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queue</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(waiting area)</a:t>
                </a:r>
                <a:endParaRPr/>
              </a:p>
            </p:txBody>
          </p:sp>
          <p:sp>
            <p:nvSpPr>
              <p:cNvPr id="1149" name="Google Shape;1149;p26"/>
              <p:cNvSpPr txBox="1"/>
              <p:nvPr/>
            </p:nvSpPr>
            <p:spPr>
              <a:xfrm>
                <a:off x="641008" y="5182790"/>
                <a:ext cx="763588" cy="5222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packet</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arrivals</a:t>
                </a:r>
                <a:endParaRPr/>
              </a:p>
            </p:txBody>
          </p:sp>
          <p:cxnSp>
            <p:nvCxnSpPr>
              <p:cNvPr id="1150" name="Google Shape;1150;p26"/>
              <p:cNvCxnSpPr>
                <a:stCxn id="1146" idx="6"/>
              </p:cNvCxnSpPr>
              <p:nvPr/>
            </p:nvCxnSpPr>
            <p:spPr>
              <a:xfrm>
                <a:off x="3482962" y="5141515"/>
                <a:ext cx="560400" cy="0"/>
              </a:xfrm>
              <a:prstGeom prst="straightConnector1">
                <a:avLst/>
              </a:prstGeom>
              <a:noFill/>
              <a:ln cap="flat" cmpd="sng" w="25400">
                <a:solidFill>
                  <a:srgbClr val="186600"/>
                </a:solidFill>
                <a:prstDash val="solid"/>
                <a:round/>
                <a:headEnd len="med" w="med" type="none"/>
                <a:tailEnd len="med" w="med" type="triangle"/>
              </a:ln>
            </p:spPr>
          </p:cxnSp>
          <p:sp>
            <p:nvSpPr>
              <p:cNvPr id="1151" name="Google Shape;1151;p26"/>
              <p:cNvSpPr txBox="1"/>
              <p:nvPr/>
            </p:nvSpPr>
            <p:spPr>
              <a:xfrm>
                <a:off x="3906501" y="4931965"/>
                <a:ext cx="1042988" cy="522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packet</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departures</a:t>
                </a:r>
                <a:endParaRPr/>
              </a:p>
            </p:txBody>
          </p:sp>
          <p:sp>
            <p:nvSpPr>
              <p:cNvPr id="1152" name="Google Shape;1152;p26"/>
              <p:cNvSpPr txBox="1"/>
              <p:nvPr/>
            </p:nvSpPr>
            <p:spPr>
              <a:xfrm>
                <a:off x="2715794" y="5427265"/>
                <a:ext cx="852488"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link</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(server)</a:t>
                </a:r>
                <a:endParaRPr/>
              </a:p>
            </p:txBody>
          </p:sp>
          <p:cxnSp>
            <p:nvCxnSpPr>
              <p:cNvPr id="1153" name="Google Shape;1153;p26"/>
              <p:cNvCxnSpPr>
                <a:stCxn id="1145" idx="3"/>
                <a:endCxn id="1146" idx="2"/>
              </p:cNvCxnSpPr>
              <p:nvPr/>
            </p:nvCxnSpPr>
            <p:spPr>
              <a:xfrm>
                <a:off x="2407886" y="5140275"/>
                <a:ext cx="443400" cy="1200"/>
              </a:xfrm>
              <a:prstGeom prst="straightConnector1">
                <a:avLst/>
              </a:prstGeom>
              <a:noFill/>
              <a:ln cap="flat" cmpd="sng" w="25400">
                <a:solidFill>
                  <a:schemeClr val="dk1"/>
                </a:solidFill>
                <a:prstDash val="solid"/>
                <a:round/>
                <a:headEnd len="med" w="med" type="none"/>
                <a:tailEnd len="med" w="med" type="none"/>
              </a:ln>
            </p:spPr>
          </p:cxnSp>
          <p:sp>
            <p:nvSpPr>
              <p:cNvPr id="1154" name="Google Shape;1154;p26"/>
              <p:cNvSpPr txBox="1"/>
              <p:nvPr/>
            </p:nvSpPr>
            <p:spPr>
              <a:xfrm>
                <a:off x="614363" y="4257679"/>
                <a:ext cx="280365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Abstraction</a:t>
                </a:r>
                <a:r>
                  <a:rPr b="0" i="0" lang="en-US" sz="2400" u="none" cap="none" strike="noStrike">
                    <a:solidFill>
                      <a:srgbClr val="000000"/>
                    </a:solidFill>
                    <a:latin typeface="Calibri"/>
                    <a:ea typeface="Calibri"/>
                    <a:cs typeface="Calibri"/>
                    <a:sym typeface="Calibri"/>
                  </a:rPr>
                  <a:t>: queue</a:t>
                </a:r>
                <a:endParaRPr/>
              </a:p>
            </p:txBody>
          </p:sp>
        </p:grpSp>
        <p:sp>
          <p:nvSpPr>
            <p:cNvPr id="1155" name="Google Shape;1155;p26"/>
            <p:cNvSpPr txBox="1"/>
            <p:nvPr/>
          </p:nvSpPr>
          <p:spPr>
            <a:xfrm>
              <a:off x="2978728" y="4907280"/>
              <a:ext cx="35137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sp>
        <p:nvSpPr>
          <p:cNvPr id="1156" name="Google Shape;1156;p26"/>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3"/>
                                        </p:tgtEl>
                                        <p:attrNameLst>
                                          <p:attrName>style.visibility</p:attrName>
                                        </p:attrNameLst>
                                      </p:cBhvr>
                                      <p:to>
                                        <p:strVal val="visible"/>
                                      </p:to>
                                    </p:set>
                                    <p:animEffect filter="fade" transition="in">
                                      <p:cBhvr>
                                        <p:cTn dur="500"/>
                                        <p:tgtEl>
                                          <p:spTgt spid="11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gtEl>
                                        <p:attrNameLst>
                                          <p:attrName>style.visibility</p:attrName>
                                        </p:attrNameLst>
                                      </p:cBhvr>
                                      <p:to>
                                        <p:strVal val="visible"/>
                                      </p:to>
                                    </p:set>
                                    <p:animEffect filter="fade" transition="in">
                                      <p:cBhvr>
                                        <p:cTn dur="500"/>
                                        <p:tgtEl>
                                          <p:spTgt spid="11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1"/>
                                        </p:tgtEl>
                                        <p:attrNameLst>
                                          <p:attrName>style.visibility</p:attrName>
                                        </p:attrNameLst>
                                      </p:cBhvr>
                                      <p:to>
                                        <p:strVal val="visible"/>
                                      </p:to>
                                    </p:set>
                                    <p:animEffect filter="fade" transition="in">
                                      <p:cBhvr>
                                        <p:cTn dur="500"/>
                                        <p:tgtEl>
                                          <p:spTgt spid="11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sp>
        <p:nvSpPr>
          <p:cNvPr id="1162" name="Google Shape;1162;p27"/>
          <p:cNvSpPr txBox="1"/>
          <p:nvPr>
            <p:ph idx="1" type="body"/>
          </p:nvPr>
        </p:nvSpPr>
        <p:spPr>
          <a:xfrm>
            <a:off x="767861" y="1498943"/>
            <a:ext cx="5084299" cy="3776441"/>
          </a:xfrm>
          <a:prstGeom prst="rect">
            <a:avLst/>
          </a:prstGeom>
          <a:noFill/>
          <a:ln>
            <a:noFill/>
          </a:ln>
        </p:spPr>
        <p:txBody>
          <a:bodyPr anchorCtr="0" anchor="t" bIns="45700" lIns="91425" spcFirstLastPara="1" rIns="91425" wrap="square" tIns="45700">
            <a:normAutofit/>
          </a:bodyPr>
          <a:lstStyle/>
          <a:p>
            <a:pPr indent="0" lvl="0" marL="130175" rtl="0" algn="l">
              <a:lnSpc>
                <a:spcPct val="90000"/>
              </a:lnSpc>
              <a:spcBef>
                <a:spcPts val="0"/>
              </a:spcBef>
              <a:spcAft>
                <a:spcPts val="0"/>
              </a:spcAft>
              <a:buSzPts val="3200"/>
              <a:buNone/>
            </a:pPr>
            <a:r>
              <a:rPr lang="en-US" sz="3200">
                <a:solidFill>
                  <a:srgbClr val="C00000"/>
                </a:solidFill>
              </a:rPr>
              <a:t>packet scheduling: </a:t>
            </a:r>
            <a:r>
              <a:rPr lang="en-US"/>
              <a:t>deciding which packet to send next on link</a:t>
            </a:r>
            <a:endParaRPr/>
          </a:p>
          <a:p>
            <a:pPr indent="-231775" lvl="1" marL="695325" rtl="0" algn="l">
              <a:lnSpc>
                <a:spcPct val="90000"/>
              </a:lnSpc>
              <a:spcBef>
                <a:spcPts val="0"/>
              </a:spcBef>
              <a:spcAft>
                <a:spcPts val="0"/>
              </a:spcAft>
              <a:buSzPts val="2800"/>
              <a:buChar char="•"/>
            </a:pPr>
            <a:r>
              <a:rPr lang="en-US" sz="2800"/>
              <a:t>first come, first served</a:t>
            </a:r>
            <a:endParaRPr/>
          </a:p>
          <a:p>
            <a:pPr indent="-231775" lvl="1" marL="695325" rtl="0" algn="l">
              <a:lnSpc>
                <a:spcPct val="90000"/>
              </a:lnSpc>
              <a:spcBef>
                <a:spcPts val="0"/>
              </a:spcBef>
              <a:spcAft>
                <a:spcPts val="0"/>
              </a:spcAft>
              <a:buSzPts val="2800"/>
              <a:buChar char="•"/>
            </a:pPr>
            <a:r>
              <a:rPr lang="en-US" sz="2800"/>
              <a:t>priority</a:t>
            </a:r>
            <a:endParaRPr/>
          </a:p>
          <a:p>
            <a:pPr indent="-231775" lvl="1" marL="695325" rtl="0" algn="l">
              <a:lnSpc>
                <a:spcPct val="90000"/>
              </a:lnSpc>
              <a:spcBef>
                <a:spcPts val="0"/>
              </a:spcBef>
              <a:spcAft>
                <a:spcPts val="0"/>
              </a:spcAft>
              <a:buSzPts val="2800"/>
              <a:buChar char="•"/>
            </a:pPr>
            <a:r>
              <a:rPr lang="en-US" sz="2800"/>
              <a:t>round robin</a:t>
            </a:r>
            <a:endParaRPr/>
          </a:p>
          <a:p>
            <a:pPr indent="-231775" lvl="1" marL="695325" rtl="0" algn="l">
              <a:lnSpc>
                <a:spcPct val="90000"/>
              </a:lnSpc>
              <a:spcBef>
                <a:spcPts val="0"/>
              </a:spcBef>
              <a:spcAft>
                <a:spcPts val="0"/>
              </a:spcAft>
              <a:buSzPts val="2800"/>
              <a:buChar char="•"/>
            </a:pPr>
            <a:r>
              <a:rPr lang="en-US" sz="2800"/>
              <a:t>weighted fair queueing</a:t>
            </a:r>
            <a:endParaRPr/>
          </a:p>
        </p:txBody>
      </p:sp>
      <p:sp>
        <p:nvSpPr>
          <p:cNvPr id="1163" name="Google Shape;1163;p27"/>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Packet Scheduling: FCFS</a:t>
            </a:r>
            <a:endParaRPr/>
          </a:p>
        </p:txBody>
      </p:sp>
      <p:sp>
        <p:nvSpPr>
          <p:cNvPr id="1164" name="Google Shape;1164;p27"/>
          <p:cNvSpPr txBox="1"/>
          <p:nvPr/>
        </p:nvSpPr>
        <p:spPr>
          <a:xfrm>
            <a:off x="6682593" y="1534478"/>
            <a:ext cx="4966481" cy="3278293"/>
          </a:xfrm>
          <a:prstGeom prst="rect">
            <a:avLst/>
          </a:prstGeom>
          <a:noFill/>
          <a:ln>
            <a:noFill/>
          </a:ln>
        </p:spPr>
        <p:txBody>
          <a:bodyPr anchorCtr="0" anchor="t" bIns="45700" lIns="91425" spcFirstLastPara="1" rIns="91425" wrap="square" tIns="45700">
            <a:normAutofit/>
          </a:bodyPr>
          <a:lstStyle/>
          <a:p>
            <a:pPr indent="-223838" lvl="0" marL="236538"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00000"/>
                </a:solidFill>
                <a:latin typeface="Calibri"/>
                <a:ea typeface="Calibri"/>
                <a:cs typeface="Calibri"/>
                <a:sym typeface="Calibri"/>
              </a:rPr>
              <a:t>FCFS: </a:t>
            </a:r>
            <a:r>
              <a:rPr b="0" i="0" lang="en-US" sz="3200" u="none" cap="none" strike="noStrike">
                <a:solidFill>
                  <a:srgbClr val="000000"/>
                </a:solidFill>
                <a:latin typeface="Calibri"/>
                <a:ea typeface="Calibri"/>
                <a:cs typeface="Calibri"/>
                <a:sym typeface="Calibri"/>
              </a:rPr>
              <a:t>packets transmitted in order of arrival to output port</a:t>
            </a:r>
            <a:endParaRPr/>
          </a:p>
          <a:p>
            <a:pPr indent="-254000" lvl="0" marL="520700" marR="0" rtl="0" algn="l">
              <a:lnSpc>
                <a:spcPct val="100000"/>
              </a:lnSpc>
              <a:spcBef>
                <a:spcPts val="4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also known as: First-in-first-out (FIFO) </a:t>
            </a:r>
            <a:endParaRPr/>
          </a:p>
          <a:p>
            <a:pPr indent="-254000" lvl="0" marL="520700" marR="0" rtl="0" algn="l">
              <a:lnSpc>
                <a:spcPct val="100000"/>
              </a:lnSpc>
              <a:spcBef>
                <a:spcPts val="4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real world examples?</a:t>
            </a:r>
            <a:endParaRPr/>
          </a:p>
          <a:p>
            <a:pPr indent="-390525" lvl="0" marL="403225" marR="0" rtl="0" algn="l">
              <a:lnSpc>
                <a:spcPct val="90000"/>
              </a:lnSpc>
              <a:spcBef>
                <a:spcPts val="1000"/>
              </a:spcBef>
              <a:spcAft>
                <a:spcPts val="0"/>
              </a:spcAft>
              <a:buClr>
                <a:srgbClr val="0000A3"/>
              </a:buClr>
              <a:buSzPts val="3200"/>
              <a:buFont typeface="Noto Sans Symbols"/>
              <a:buNone/>
            </a:pPr>
            <a:r>
              <a:t/>
            </a:r>
            <a:endParaRPr b="0" i="0" sz="3200" u="none" cap="none" strike="noStrike">
              <a:solidFill>
                <a:srgbClr val="000000"/>
              </a:solidFill>
              <a:latin typeface="Calibri"/>
              <a:ea typeface="Calibri"/>
              <a:cs typeface="Calibri"/>
              <a:sym typeface="Calibri"/>
            </a:endParaRPr>
          </a:p>
        </p:txBody>
      </p:sp>
      <p:grpSp>
        <p:nvGrpSpPr>
          <p:cNvPr id="1165" name="Google Shape;1165;p27"/>
          <p:cNvGrpSpPr/>
          <p:nvPr/>
        </p:nvGrpSpPr>
        <p:grpSpPr>
          <a:xfrm>
            <a:off x="913621" y="4556937"/>
            <a:ext cx="4335126" cy="1693461"/>
            <a:chOff x="614363" y="4257679"/>
            <a:chExt cx="4335126" cy="1693461"/>
          </a:xfrm>
        </p:grpSpPr>
        <p:grpSp>
          <p:nvGrpSpPr>
            <p:cNvPr id="1166" name="Google Shape;1166;p27"/>
            <p:cNvGrpSpPr/>
            <p:nvPr/>
          </p:nvGrpSpPr>
          <p:grpSpPr>
            <a:xfrm>
              <a:off x="614363" y="4257679"/>
              <a:ext cx="4335126" cy="1693461"/>
              <a:chOff x="614363" y="4257679"/>
              <a:chExt cx="4335126" cy="1693461"/>
            </a:xfrm>
          </p:grpSpPr>
          <p:grpSp>
            <p:nvGrpSpPr>
              <p:cNvPr id="1167" name="Google Shape;1167;p27"/>
              <p:cNvGrpSpPr/>
              <p:nvPr/>
            </p:nvGrpSpPr>
            <p:grpSpPr>
              <a:xfrm>
                <a:off x="1468086" y="4855765"/>
                <a:ext cx="939800" cy="565150"/>
                <a:chOff x="1670312" y="2562997"/>
                <a:chExt cx="940317" cy="565219"/>
              </a:xfrm>
            </p:grpSpPr>
            <p:grpSp>
              <p:nvGrpSpPr>
                <p:cNvPr id="1168" name="Google Shape;1168;p27"/>
                <p:cNvGrpSpPr/>
                <p:nvPr/>
              </p:nvGrpSpPr>
              <p:grpSpPr>
                <a:xfrm>
                  <a:off x="1670312" y="2562997"/>
                  <a:ext cx="929822" cy="565219"/>
                  <a:chOff x="1670312" y="2562997"/>
                  <a:chExt cx="929822" cy="565219"/>
                </a:xfrm>
              </p:grpSpPr>
              <p:sp>
                <p:nvSpPr>
                  <p:cNvPr id="1169" name="Google Shape;1169;p27"/>
                  <p:cNvSpPr/>
                  <p:nvPr/>
                </p:nvSpPr>
                <p:spPr>
                  <a:xfrm>
                    <a:off x="1670312" y="2562997"/>
                    <a:ext cx="929822" cy="563157"/>
                  </a:xfrm>
                  <a:prstGeom prst="rect">
                    <a:avLst/>
                  </a:prstGeom>
                  <a:noFill/>
                  <a:ln cap="flat" cmpd="sng" w="190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170" name="Google Shape;1170;p27"/>
                  <p:cNvCxnSpPr/>
                  <p:nvPr/>
                </p:nvCxnSpPr>
                <p:spPr>
                  <a:xfrm flipH="1">
                    <a:off x="1786358" y="256753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171" name="Google Shape;1171;p27"/>
                  <p:cNvCxnSpPr/>
                  <p:nvPr/>
                </p:nvCxnSpPr>
                <p:spPr>
                  <a:xfrm flipH="1">
                    <a:off x="1911544" y="2566974"/>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172" name="Google Shape;1172;p27"/>
                  <p:cNvCxnSpPr/>
                  <p:nvPr/>
                </p:nvCxnSpPr>
                <p:spPr>
                  <a:xfrm flipH="1">
                    <a:off x="2027659" y="257032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173" name="Google Shape;1173;p27"/>
                  <p:cNvCxnSpPr/>
                  <p:nvPr/>
                </p:nvCxnSpPr>
                <p:spPr>
                  <a:xfrm flipH="1">
                    <a:off x="2134843" y="2564600"/>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174" name="Google Shape;1174;p27"/>
                  <p:cNvCxnSpPr/>
                  <p:nvPr/>
                </p:nvCxnSpPr>
                <p:spPr>
                  <a:xfrm flipH="1">
                    <a:off x="2244397" y="256669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175" name="Google Shape;1175;p27"/>
                  <p:cNvCxnSpPr/>
                  <p:nvPr/>
                </p:nvCxnSpPr>
                <p:spPr>
                  <a:xfrm flipH="1">
                    <a:off x="2365675" y="2568786"/>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176" name="Google Shape;1176;p27"/>
                  <p:cNvCxnSpPr/>
                  <p:nvPr/>
                </p:nvCxnSpPr>
                <p:spPr>
                  <a:xfrm flipH="1">
                    <a:off x="2483045" y="2566971"/>
                    <a:ext cx="4536" cy="557893"/>
                  </a:xfrm>
                  <a:prstGeom prst="straightConnector1">
                    <a:avLst/>
                  </a:prstGeom>
                  <a:noFill/>
                  <a:ln cap="flat" cmpd="sng" w="19050">
                    <a:solidFill>
                      <a:schemeClr val="dk1"/>
                    </a:solidFill>
                    <a:prstDash val="solid"/>
                    <a:round/>
                    <a:headEnd len="med" w="med" type="none"/>
                    <a:tailEnd len="med" w="med" type="none"/>
                  </a:ln>
                </p:spPr>
              </p:cxnSp>
            </p:grpSp>
            <p:sp>
              <p:nvSpPr>
                <p:cNvPr id="1177" name="Google Shape;1177;p27"/>
                <p:cNvSpPr/>
                <p:nvPr/>
              </p:nvSpPr>
              <p:spPr>
                <a:xfrm>
                  <a:off x="1916862" y="2571262"/>
                  <a:ext cx="693767" cy="552560"/>
                </a:xfrm>
                <a:prstGeom prst="rect">
                  <a:avLst/>
                </a:prstGeom>
                <a:solidFill>
                  <a:srgbClr val="FF0000">
                    <a:alpha val="7058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178" name="Google Shape;1178;p27"/>
              <p:cNvSpPr/>
              <p:nvPr/>
            </p:nvSpPr>
            <p:spPr>
              <a:xfrm>
                <a:off x="2851137" y="4827190"/>
                <a:ext cx="631825" cy="628650"/>
              </a:xfrm>
              <a:prstGeom prst="ellipse">
                <a:avLst/>
              </a:prstGeom>
              <a:solidFill>
                <a:srgbClr val="FFFFFF"/>
              </a:solidFill>
              <a:ln cap="flat" cmpd="sng" w="28575">
                <a:solidFill>
                  <a:srgbClr val="3333CC"/>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179" name="Google Shape;1179;p27"/>
              <p:cNvCxnSpPr/>
              <p:nvPr/>
            </p:nvCxnSpPr>
            <p:spPr>
              <a:xfrm>
                <a:off x="785813" y="5138340"/>
                <a:ext cx="628651" cy="0"/>
              </a:xfrm>
              <a:prstGeom prst="straightConnector1">
                <a:avLst/>
              </a:prstGeom>
              <a:noFill/>
              <a:ln cap="flat" cmpd="sng" w="25400">
                <a:solidFill>
                  <a:srgbClr val="000099"/>
                </a:solidFill>
                <a:prstDash val="solid"/>
                <a:round/>
                <a:headEnd len="med" w="med" type="none"/>
                <a:tailEnd len="med" w="med" type="triangle"/>
              </a:ln>
            </p:spPr>
          </p:cxnSp>
          <p:sp>
            <p:nvSpPr>
              <p:cNvPr id="1180" name="Google Shape;1180;p27"/>
              <p:cNvSpPr txBox="1"/>
              <p:nvPr/>
            </p:nvSpPr>
            <p:spPr>
              <a:xfrm>
                <a:off x="1282351" y="5422502"/>
                <a:ext cx="1273175"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queue</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(waiting area)</a:t>
                </a:r>
                <a:endParaRPr/>
              </a:p>
            </p:txBody>
          </p:sp>
          <p:sp>
            <p:nvSpPr>
              <p:cNvPr id="1181" name="Google Shape;1181;p27"/>
              <p:cNvSpPr txBox="1"/>
              <p:nvPr/>
            </p:nvSpPr>
            <p:spPr>
              <a:xfrm>
                <a:off x="641008" y="5182790"/>
                <a:ext cx="763588" cy="5222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packet</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arrivals</a:t>
                </a:r>
                <a:endParaRPr/>
              </a:p>
            </p:txBody>
          </p:sp>
          <p:cxnSp>
            <p:nvCxnSpPr>
              <p:cNvPr id="1182" name="Google Shape;1182;p27"/>
              <p:cNvCxnSpPr>
                <a:stCxn id="1178" idx="6"/>
              </p:cNvCxnSpPr>
              <p:nvPr/>
            </p:nvCxnSpPr>
            <p:spPr>
              <a:xfrm>
                <a:off x="3482962" y="5141515"/>
                <a:ext cx="560400" cy="0"/>
              </a:xfrm>
              <a:prstGeom prst="straightConnector1">
                <a:avLst/>
              </a:prstGeom>
              <a:noFill/>
              <a:ln cap="flat" cmpd="sng" w="25400">
                <a:solidFill>
                  <a:srgbClr val="186600"/>
                </a:solidFill>
                <a:prstDash val="solid"/>
                <a:round/>
                <a:headEnd len="med" w="med" type="none"/>
                <a:tailEnd len="med" w="med" type="triangle"/>
              </a:ln>
            </p:spPr>
          </p:cxnSp>
          <p:sp>
            <p:nvSpPr>
              <p:cNvPr id="1183" name="Google Shape;1183;p27"/>
              <p:cNvSpPr txBox="1"/>
              <p:nvPr/>
            </p:nvSpPr>
            <p:spPr>
              <a:xfrm>
                <a:off x="3906501" y="4931965"/>
                <a:ext cx="1042988" cy="522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packet</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departures</a:t>
                </a:r>
                <a:endParaRPr/>
              </a:p>
            </p:txBody>
          </p:sp>
          <p:sp>
            <p:nvSpPr>
              <p:cNvPr id="1184" name="Google Shape;1184;p27"/>
              <p:cNvSpPr txBox="1"/>
              <p:nvPr/>
            </p:nvSpPr>
            <p:spPr>
              <a:xfrm>
                <a:off x="2715794" y="5427265"/>
                <a:ext cx="852488"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link</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(server)</a:t>
                </a:r>
                <a:endParaRPr/>
              </a:p>
            </p:txBody>
          </p:sp>
          <p:cxnSp>
            <p:nvCxnSpPr>
              <p:cNvPr id="1185" name="Google Shape;1185;p27"/>
              <p:cNvCxnSpPr>
                <a:stCxn id="1177" idx="3"/>
                <a:endCxn id="1178" idx="2"/>
              </p:cNvCxnSpPr>
              <p:nvPr/>
            </p:nvCxnSpPr>
            <p:spPr>
              <a:xfrm>
                <a:off x="2407886" y="5140275"/>
                <a:ext cx="443400" cy="1200"/>
              </a:xfrm>
              <a:prstGeom prst="straightConnector1">
                <a:avLst/>
              </a:prstGeom>
              <a:noFill/>
              <a:ln cap="flat" cmpd="sng" w="25400">
                <a:solidFill>
                  <a:schemeClr val="dk1"/>
                </a:solidFill>
                <a:prstDash val="solid"/>
                <a:round/>
                <a:headEnd len="med" w="med" type="none"/>
                <a:tailEnd len="med" w="med" type="none"/>
              </a:ln>
            </p:spPr>
          </p:cxnSp>
          <p:sp>
            <p:nvSpPr>
              <p:cNvPr id="1186" name="Google Shape;1186;p27"/>
              <p:cNvSpPr txBox="1"/>
              <p:nvPr/>
            </p:nvSpPr>
            <p:spPr>
              <a:xfrm>
                <a:off x="614363" y="4257679"/>
                <a:ext cx="280365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Abstraction</a:t>
                </a:r>
                <a:r>
                  <a:rPr b="0" i="0" lang="en-US" sz="2400" u="none" cap="none" strike="noStrike">
                    <a:solidFill>
                      <a:srgbClr val="000000"/>
                    </a:solidFill>
                    <a:latin typeface="Calibri"/>
                    <a:ea typeface="Calibri"/>
                    <a:cs typeface="Calibri"/>
                    <a:sym typeface="Calibri"/>
                  </a:rPr>
                  <a:t>: queue</a:t>
                </a:r>
                <a:endParaRPr/>
              </a:p>
            </p:txBody>
          </p:sp>
        </p:grpSp>
        <p:sp>
          <p:nvSpPr>
            <p:cNvPr id="1187" name="Google Shape;1187;p27"/>
            <p:cNvSpPr txBox="1"/>
            <p:nvPr/>
          </p:nvSpPr>
          <p:spPr>
            <a:xfrm>
              <a:off x="2978728" y="4907280"/>
              <a:ext cx="35137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sp>
        <p:nvSpPr>
          <p:cNvPr id="1188" name="Google Shape;1188;p27"/>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4"/>
                                        </p:tgtEl>
                                        <p:attrNameLst>
                                          <p:attrName>style.visibility</p:attrName>
                                        </p:attrNameLst>
                                      </p:cBhvr>
                                      <p:to>
                                        <p:strVal val="visible"/>
                                      </p:to>
                                    </p:set>
                                    <p:animEffect filter="fade" transition="in">
                                      <p:cBhvr>
                                        <p:cTn dur="500"/>
                                        <p:tgtEl>
                                          <p:spTgt spid="11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3" name="Shape 1193"/>
        <p:cNvGrpSpPr/>
        <p:nvPr/>
      </p:nvGrpSpPr>
      <p:grpSpPr>
        <a:xfrm>
          <a:off x="0" y="0"/>
          <a:ext cx="0" cy="0"/>
          <a:chOff x="0" y="0"/>
          <a:chExt cx="0" cy="0"/>
        </a:xfrm>
      </p:grpSpPr>
      <p:sp>
        <p:nvSpPr>
          <p:cNvPr id="1194" name="Google Shape;1194;p28"/>
          <p:cNvSpPr txBox="1"/>
          <p:nvPr>
            <p:ph idx="1" type="body"/>
          </p:nvPr>
        </p:nvSpPr>
        <p:spPr>
          <a:xfrm>
            <a:off x="767861" y="1498943"/>
            <a:ext cx="5084299" cy="2681171"/>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3200"/>
              <a:buNone/>
            </a:pPr>
            <a:r>
              <a:rPr i="1" lang="en-US" sz="3200">
                <a:solidFill>
                  <a:srgbClr val="CC0000"/>
                </a:solidFill>
              </a:rPr>
              <a:t>Priority scheduling: </a:t>
            </a:r>
            <a:endParaRPr/>
          </a:p>
          <a:p>
            <a:pPr indent="-277813" lvl="0" marL="515938" rtl="0" algn="l">
              <a:lnSpc>
                <a:spcPct val="90000"/>
              </a:lnSpc>
              <a:spcBef>
                <a:spcPts val="1000"/>
              </a:spcBef>
              <a:spcAft>
                <a:spcPts val="0"/>
              </a:spcAft>
              <a:buSzPts val="3200"/>
              <a:buChar char="▪"/>
            </a:pPr>
            <a:r>
              <a:rPr lang="en-US" sz="3200"/>
              <a:t>arriving traffic classified, queued by class</a:t>
            </a:r>
            <a:endParaRPr/>
          </a:p>
          <a:p>
            <a:pPr indent="-223837" lvl="1" marL="804863" rtl="0" algn="l">
              <a:lnSpc>
                <a:spcPct val="90000"/>
              </a:lnSpc>
              <a:spcBef>
                <a:spcPts val="500"/>
              </a:spcBef>
              <a:spcAft>
                <a:spcPts val="0"/>
              </a:spcAft>
              <a:buSzPts val="2800"/>
              <a:buChar char="•"/>
            </a:pPr>
            <a:r>
              <a:rPr lang="en-US" sz="2800"/>
              <a:t>any header fields can be used for classification</a:t>
            </a:r>
            <a:endParaRPr/>
          </a:p>
        </p:txBody>
      </p:sp>
      <p:sp>
        <p:nvSpPr>
          <p:cNvPr id="1195" name="Google Shape;1195;p28"/>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Scheduling policies: priority</a:t>
            </a:r>
            <a:endParaRPr/>
          </a:p>
        </p:txBody>
      </p:sp>
      <p:grpSp>
        <p:nvGrpSpPr>
          <p:cNvPr id="1196" name="Google Shape;1196;p28"/>
          <p:cNvGrpSpPr/>
          <p:nvPr/>
        </p:nvGrpSpPr>
        <p:grpSpPr>
          <a:xfrm>
            <a:off x="8435655" y="2539998"/>
            <a:ext cx="932498" cy="580347"/>
            <a:chOff x="1670312" y="2557567"/>
            <a:chExt cx="932470" cy="580220"/>
          </a:xfrm>
        </p:grpSpPr>
        <p:sp>
          <p:nvSpPr>
            <p:cNvPr id="1197" name="Google Shape;1197;p28"/>
            <p:cNvSpPr/>
            <p:nvPr/>
          </p:nvSpPr>
          <p:spPr>
            <a:xfrm>
              <a:off x="2254738" y="2557567"/>
              <a:ext cx="348044" cy="580220"/>
            </a:xfrm>
            <a:prstGeom prst="rect">
              <a:avLst/>
            </a:prstGeom>
            <a:solidFill>
              <a:srgbClr val="00B05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omic Sans MS"/>
                <a:ea typeface="Comic Sans MS"/>
                <a:cs typeface="Comic Sans MS"/>
                <a:sym typeface="Comic Sans MS"/>
              </a:endParaRPr>
            </a:p>
          </p:txBody>
        </p:sp>
        <p:grpSp>
          <p:nvGrpSpPr>
            <p:cNvPr id="1198" name="Google Shape;1198;p28"/>
            <p:cNvGrpSpPr/>
            <p:nvPr/>
          </p:nvGrpSpPr>
          <p:grpSpPr>
            <a:xfrm>
              <a:off x="1670312" y="2562997"/>
              <a:ext cx="929822" cy="565219"/>
              <a:chOff x="1670312" y="2562997"/>
              <a:chExt cx="929822" cy="565219"/>
            </a:xfrm>
          </p:grpSpPr>
          <p:sp>
            <p:nvSpPr>
              <p:cNvPr id="1199" name="Google Shape;1199;p28"/>
              <p:cNvSpPr/>
              <p:nvPr/>
            </p:nvSpPr>
            <p:spPr>
              <a:xfrm>
                <a:off x="1670312" y="2562997"/>
                <a:ext cx="929822" cy="563157"/>
              </a:xfrm>
              <a:prstGeom prst="rect">
                <a:avLst/>
              </a:prstGeom>
              <a:noFill/>
              <a:ln cap="flat" cmpd="sng" w="19050">
                <a:solidFill>
                  <a:srgbClr val="00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200" name="Google Shape;1200;p28"/>
              <p:cNvCxnSpPr/>
              <p:nvPr/>
            </p:nvCxnSpPr>
            <p:spPr>
              <a:xfrm flipH="1">
                <a:off x="1786358" y="2567533"/>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1201" name="Google Shape;1201;p28"/>
              <p:cNvCxnSpPr/>
              <p:nvPr/>
            </p:nvCxnSpPr>
            <p:spPr>
              <a:xfrm flipH="1">
                <a:off x="1911544" y="2566974"/>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1202" name="Google Shape;1202;p28"/>
              <p:cNvCxnSpPr/>
              <p:nvPr/>
            </p:nvCxnSpPr>
            <p:spPr>
              <a:xfrm flipH="1">
                <a:off x="2027659" y="2570323"/>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1203" name="Google Shape;1203;p28"/>
              <p:cNvCxnSpPr/>
              <p:nvPr/>
            </p:nvCxnSpPr>
            <p:spPr>
              <a:xfrm flipH="1">
                <a:off x="2134843" y="2564600"/>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1204" name="Google Shape;1204;p28"/>
              <p:cNvCxnSpPr/>
              <p:nvPr/>
            </p:nvCxnSpPr>
            <p:spPr>
              <a:xfrm flipH="1">
                <a:off x="2244397" y="2566693"/>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1205" name="Google Shape;1205;p28"/>
              <p:cNvCxnSpPr/>
              <p:nvPr/>
            </p:nvCxnSpPr>
            <p:spPr>
              <a:xfrm flipH="1">
                <a:off x="2365675" y="2568786"/>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1206" name="Google Shape;1206;p28"/>
              <p:cNvCxnSpPr/>
              <p:nvPr/>
            </p:nvCxnSpPr>
            <p:spPr>
              <a:xfrm flipH="1">
                <a:off x="2483045" y="2566971"/>
                <a:ext cx="4536" cy="557893"/>
              </a:xfrm>
              <a:prstGeom prst="straightConnector1">
                <a:avLst/>
              </a:prstGeom>
              <a:noFill/>
              <a:ln cap="flat" cmpd="sng" w="19050">
                <a:solidFill>
                  <a:srgbClr val="000000"/>
                </a:solidFill>
                <a:prstDash val="solid"/>
                <a:round/>
                <a:headEnd len="med" w="med" type="none"/>
                <a:tailEnd len="med" w="med" type="none"/>
              </a:ln>
            </p:spPr>
          </p:cxnSp>
        </p:grpSp>
      </p:grpSp>
      <p:grpSp>
        <p:nvGrpSpPr>
          <p:cNvPr id="1207" name="Google Shape;1207;p28"/>
          <p:cNvGrpSpPr/>
          <p:nvPr/>
        </p:nvGrpSpPr>
        <p:grpSpPr>
          <a:xfrm>
            <a:off x="8402535" y="1868555"/>
            <a:ext cx="940346" cy="566869"/>
            <a:chOff x="1670312" y="2561471"/>
            <a:chExt cx="940317" cy="566745"/>
          </a:xfrm>
        </p:grpSpPr>
        <p:sp>
          <p:nvSpPr>
            <p:cNvPr id="1208" name="Google Shape;1208;p28"/>
            <p:cNvSpPr/>
            <p:nvPr/>
          </p:nvSpPr>
          <p:spPr>
            <a:xfrm>
              <a:off x="1916862" y="2561471"/>
              <a:ext cx="693767" cy="561283"/>
            </a:xfrm>
            <a:prstGeom prst="rect">
              <a:avLst/>
            </a:prstGeom>
            <a:solidFill>
              <a:srgbClr val="FF0000">
                <a:alpha val="70588"/>
              </a:srgbClr>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209" name="Google Shape;1209;p28"/>
            <p:cNvGrpSpPr/>
            <p:nvPr/>
          </p:nvGrpSpPr>
          <p:grpSpPr>
            <a:xfrm>
              <a:off x="1670312" y="2562997"/>
              <a:ext cx="929822" cy="565219"/>
              <a:chOff x="1670312" y="2562997"/>
              <a:chExt cx="929822" cy="565219"/>
            </a:xfrm>
          </p:grpSpPr>
          <p:sp>
            <p:nvSpPr>
              <p:cNvPr id="1210" name="Google Shape;1210;p28"/>
              <p:cNvSpPr/>
              <p:nvPr/>
            </p:nvSpPr>
            <p:spPr>
              <a:xfrm>
                <a:off x="1670312" y="2562997"/>
                <a:ext cx="929822" cy="563157"/>
              </a:xfrm>
              <a:prstGeom prst="rect">
                <a:avLst/>
              </a:prstGeom>
              <a:noFill/>
              <a:ln cap="flat" cmpd="sng" w="1905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211" name="Google Shape;1211;p28"/>
              <p:cNvCxnSpPr/>
              <p:nvPr/>
            </p:nvCxnSpPr>
            <p:spPr>
              <a:xfrm flipH="1">
                <a:off x="1786358" y="2567533"/>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1212" name="Google Shape;1212;p28"/>
              <p:cNvCxnSpPr/>
              <p:nvPr/>
            </p:nvCxnSpPr>
            <p:spPr>
              <a:xfrm flipH="1">
                <a:off x="1911544" y="2566974"/>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1213" name="Google Shape;1213;p28"/>
              <p:cNvCxnSpPr/>
              <p:nvPr/>
            </p:nvCxnSpPr>
            <p:spPr>
              <a:xfrm flipH="1">
                <a:off x="2027659" y="2570323"/>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1214" name="Google Shape;1214;p28"/>
              <p:cNvCxnSpPr/>
              <p:nvPr/>
            </p:nvCxnSpPr>
            <p:spPr>
              <a:xfrm flipH="1">
                <a:off x="2134843" y="2564600"/>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1215" name="Google Shape;1215;p28"/>
              <p:cNvCxnSpPr/>
              <p:nvPr/>
            </p:nvCxnSpPr>
            <p:spPr>
              <a:xfrm flipH="1">
                <a:off x="2244397" y="2566693"/>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1216" name="Google Shape;1216;p28"/>
              <p:cNvCxnSpPr/>
              <p:nvPr/>
            </p:nvCxnSpPr>
            <p:spPr>
              <a:xfrm flipH="1">
                <a:off x="2365675" y="2568786"/>
                <a:ext cx="4536" cy="557893"/>
              </a:xfrm>
              <a:prstGeom prst="straightConnector1">
                <a:avLst/>
              </a:prstGeom>
              <a:noFill/>
              <a:ln cap="flat" cmpd="sng" w="19050">
                <a:solidFill>
                  <a:srgbClr val="000000"/>
                </a:solidFill>
                <a:prstDash val="solid"/>
                <a:round/>
                <a:headEnd len="med" w="med" type="none"/>
                <a:tailEnd len="med" w="med" type="none"/>
              </a:ln>
            </p:spPr>
          </p:cxnSp>
          <p:cxnSp>
            <p:nvCxnSpPr>
              <p:cNvPr id="1217" name="Google Shape;1217;p28"/>
              <p:cNvCxnSpPr/>
              <p:nvPr/>
            </p:nvCxnSpPr>
            <p:spPr>
              <a:xfrm flipH="1">
                <a:off x="2483045" y="2566971"/>
                <a:ext cx="4536" cy="557893"/>
              </a:xfrm>
              <a:prstGeom prst="straightConnector1">
                <a:avLst/>
              </a:prstGeom>
              <a:noFill/>
              <a:ln cap="flat" cmpd="sng" w="19050">
                <a:solidFill>
                  <a:srgbClr val="000000"/>
                </a:solidFill>
                <a:prstDash val="solid"/>
                <a:round/>
                <a:headEnd len="med" w="med" type="none"/>
                <a:tailEnd len="med" w="med" type="none"/>
              </a:ln>
            </p:spPr>
          </p:cxnSp>
        </p:grpSp>
      </p:grpSp>
      <p:sp>
        <p:nvSpPr>
          <p:cNvPr id="1218" name="Google Shape;1218;p28"/>
          <p:cNvSpPr/>
          <p:nvPr/>
        </p:nvSpPr>
        <p:spPr>
          <a:xfrm rot="5400000">
            <a:off x="7601944" y="2250962"/>
            <a:ext cx="575153" cy="430249"/>
          </a:xfrm>
          <a:prstGeom prst="triangle">
            <a:avLst>
              <a:gd fmla="val 50000" name="adj"/>
            </a:avLst>
          </a:prstGeom>
          <a:solidFill>
            <a:schemeClr val="lt1"/>
          </a:solidFill>
          <a:ln cap="flat" cmpd="sng" w="19050">
            <a:solidFill>
              <a:srgbClr val="00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9" name="Google Shape;1219;p28"/>
          <p:cNvSpPr/>
          <p:nvPr/>
        </p:nvSpPr>
        <p:spPr>
          <a:xfrm>
            <a:off x="9472762" y="2171496"/>
            <a:ext cx="632958" cy="628951"/>
          </a:xfrm>
          <a:prstGeom prst="ellipse">
            <a:avLst/>
          </a:prstGeom>
          <a:solidFill>
            <a:schemeClr val="lt1"/>
          </a:solidFill>
          <a:ln cap="flat" cmpd="sng" w="19050">
            <a:solidFill>
              <a:srgbClr val="000000"/>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220" name="Google Shape;1220;p28"/>
          <p:cNvCxnSpPr>
            <a:stCxn id="1218" idx="0"/>
            <a:endCxn id="1210" idx="1"/>
          </p:cNvCxnSpPr>
          <p:nvPr/>
        </p:nvCxnSpPr>
        <p:spPr>
          <a:xfrm flipH="1" rot="10800000">
            <a:off x="8104645" y="2151687"/>
            <a:ext cx="297900" cy="314400"/>
          </a:xfrm>
          <a:prstGeom prst="straightConnector1">
            <a:avLst/>
          </a:prstGeom>
          <a:noFill/>
          <a:ln cap="flat" cmpd="sng" w="19050">
            <a:solidFill>
              <a:srgbClr val="FF0000"/>
            </a:solidFill>
            <a:prstDash val="solid"/>
            <a:round/>
            <a:headEnd len="med" w="med" type="none"/>
            <a:tailEnd len="med" w="med" type="triangle"/>
          </a:ln>
        </p:spPr>
      </p:cxnSp>
      <p:cxnSp>
        <p:nvCxnSpPr>
          <p:cNvPr id="1221" name="Google Shape;1221;p28"/>
          <p:cNvCxnSpPr>
            <a:stCxn id="1218" idx="0"/>
            <a:endCxn id="1199" idx="1"/>
          </p:cNvCxnSpPr>
          <p:nvPr/>
        </p:nvCxnSpPr>
        <p:spPr>
          <a:xfrm>
            <a:off x="8104645" y="2466087"/>
            <a:ext cx="330900" cy="360900"/>
          </a:xfrm>
          <a:prstGeom prst="straightConnector1">
            <a:avLst/>
          </a:prstGeom>
          <a:noFill/>
          <a:ln cap="flat" cmpd="sng" w="19050">
            <a:solidFill>
              <a:srgbClr val="00B050"/>
            </a:solidFill>
            <a:prstDash val="solid"/>
            <a:round/>
            <a:headEnd len="med" w="med" type="none"/>
            <a:tailEnd len="med" w="med" type="triangle"/>
          </a:ln>
        </p:spPr>
      </p:cxnSp>
      <p:cxnSp>
        <p:nvCxnSpPr>
          <p:cNvPr id="1222" name="Google Shape;1222;p28"/>
          <p:cNvCxnSpPr>
            <a:endCxn id="1219" idx="1"/>
          </p:cNvCxnSpPr>
          <p:nvPr/>
        </p:nvCxnSpPr>
        <p:spPr>
          <a:xfrm>
            <a:off x="9341057" y="2139104"/>
            <a:ext cx="224400" cy="124500"/>
          </a:xfrm>
          <a:prstGeom prst="straightConnector1">
            <a:avLst/>
          </a:prstGeom>
          <a:noFill/>
          <a:ln cap="flat" cmpd="sng" w="19050">
            <a:solidFill>
              <a:srgbClr val="FF0000"/>
            </a:solidFill>
            <a:prstDash val="solid"/>
            <a:round/>
            <a:headEnd len="med" w="med" type="none"/>
            <a:tailEnd len="med" w="med" type="triangle"/>
          </a:ln>
        </p:spPr>
      </p:cxnSp>
      <p:cxnSp>
        <p:nvCxnSpPr>
          <p:cNvPr id="1223" name="Google Shape;1223;p28"/>
          <p:cNvCxnSpPr/>
          <p:nvPr/>
        </p:nvCxnSpPr>
        <p:spPr>
          <a:xfrm flipH="1" rot="10800000">
            <a:off x="9364554" y="2686901"/>
            <a:ext cx="185647" cy="157163"/>
          </a:xfrm>
          <a:prstGeom prst="straightConnector1">
            <a:avLst/>
          </a:prstGeom>
          <a:noFill/>
          <a:ln cap="flat" cmpd="sng" w="19050">
            <a:solidFill>
              <a:srgbClr val="00B050"/>
            </a:solidFill>
            <a:prstDash val="solid"/>
            <a:round/>
            <a:headEnd len="med" w="med" type="none"/>
            <a:tailEnd len="med" w="med" type="triangle"/>
          </a:ln>
        </p:spPr>
      </p:cxnSp>
      <p:cxnSp>
        <p:nvCxnSpPr>
          <p:cNvPr id="1224" name="Google Shape;1224;p28"/>
          <p:cNvCxnSpPr/>
          <p:nvPr/>
        </p:nvCxnSpPr>
        <p:spPr>
          <a:xfrm>
            <a:off x="10101254" y="2497723"/>
            <a:ext cx="390980" cy="1168"/>
          </a:xfrm>
          <a:prstGeom prst="straightConnector1">
            <a:avLst/>
          </a:prstGeom>
          <a:noFill/>
          <a:ln cap="flat" cmpd="sng" w="19050">
            <a:solidFill>
              <a:srgbClr val="000000"/>
            </a:solidFill>
            <a:prstDash val="solid"/>
            <a:round/>
            <a:headEnd len="med" w="med" type="none"/>
            <a:tailEnd len="med" w="med" type="triangle"/>
          </a:ln>
        </p:spPr>
      </p:cxnSp>
      <p:sp>
        <p:nvSpPr>
          <p:cNvPr id="1225" name="Google Shape;1225;p28"/>
          <p:cNvSpPr txBox="1"/>
          <p:nvPr/>
        </p:nvSpPr>
        <p:spPr>
          <a:xfrm>
            <a:off x="7902013" y="1532962"/>
            <a:ext cx="1656223"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high priority queue</a:t>
            </a:r>
            <a:endParaRPr/>
          </a:p>
        </p:txBody>
      </p:sp>
      <p:sp>
        <p:nvSpPr>
          <p:cNvPr id="1226" name="Google Shape;1226;p28"/>
          <p:cNvSpPr txBox="1"/>
          <p:nvPr/>
        </p:nvSpPr>
        <p:spPr>
          <a:xfrm>
            <a:off x="7997776" y="3161687"/>
            <a:ext cx="1587294"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low priority queue</a:t>
            </a:r>
            <a:endParaRPr/>
          </a:p>
        </p:txBody>
      </p:sp>
      <p:sp>
        <p:nvSpPr>
          <p:cNvPr id="1227" name="Google Shape;1227;p28"/>
          <p:cNvSpPr txBox="1"/>
          <p:nvPr/>
        </p:nvSpPr>
        <p:spPr>
          <a:xfrm>
            <a:off x="6916660" y="2012062"/>
            <a:ext cx="763273" cy="30784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arrivals</a:t>
            </a:r>
            <a:endParaRPr/>
          </a:p>
        </p:txBody>
      </p:sp>
      <p:sp>
        <p:nvSpPr>
          <p:cNvPr id="1228" name="Google Shape;1228;p28"/>
          <p:cNvSpPr txBox="1"/>
          <p:nvPr/>
        </p:nvSpPr>
        <p:spPr>
          <a:xfrm>
            <a:off x="7443654" y="2744465"/>
            <a:ext cx="787419" cy="30784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classify</a:t>
            </a:r>
            <a:endParaRPr/>
          </a:p>
        </p:txBody>
      </p:sp>
      <p:sp>
        <p:nvSpPr>
          <p:cNvPr id="1229" name="Google Shape;1229;p28"/>
          <p:cNvSpPr txBox="1"/>
          <p:nvPr/>
        </p:nvSpPr>
        <p:spPr>
          <a:xfrm>
            <a:off x="10247672" y="2765634"/>
            <a:ext cx="1043018" cy="30784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departures</a:t>
            </a:r>
            <a:endParaRPr/>
          </a:p>
        </p:txBody>
      </p:sp>
      <p:sp>
        <p:nvSpPr>
          <p:cNvPr id="1230" name="Google Shape;1230;p28"/>
          <p:cNvSpPr txBox="1"/>
          <p:nvPr/>
        </p:nvSpPr>
        <p:spPr>
          <a:xfrm>
            <a:off x="9575698" y="2771503"/>
            <a:ext cx="453970"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link</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a:p>
        </p:txBody>
      </p:sp>
      <p:grpSp>
        <p:nvGrpSpPr>
          <p:cNvPr id="1231" name="Google Shape;1231;p28"/>
          <p:cNvGrpSpPr/>
          <p:nvPr/>
        </p:nvGrpSpPr>
        <p:grpSpPr>
          <a:xfrm>
            <a:off x="7832648" y="4587146"/>
            <a:ext cx="347662" cy="754063"/>
            <a:chOff x="2797204" y="2989241"/>
            <a:chExt cx="347099" cy="755477"/>
          </a:xfrm>
        </p:grpSpPr>
        <p:sp>
          <p:nvSpPr>
            <p:cNvPr id="1232" name="Google Shape;1232;p28"/>
            <p:cNvSpPr/>
            <p:nvPr/>
          </p:nvSpPr>
          <p:spPr>
            <a:xfrm>
              <a:off x="2797204" y="2989241"/>
              <a:ext cx="347099" cy="755477"/>
            </a:xfrm>
            <a:prstGeom prst="rect">
              <a:avLst/>
            </a:prstGeom>
            <a:solidFill>
              <a:srgbClr val="FF0000"/>
            </a:solidFill>
            <a:ln cap="flat" cmpd="sng" w="158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233" name="Google Shape;1233;p28"/>
            <p:cNvGrpSpPr/>
            <p:nvPr/>
          </p:nvGrpSpPr>
          <p:grpSpPr>
            <a:xfrm>
              <a:off x="2821701" y="3197503"/>
              <a:ext cx="298780" cy="338554"/>
              <a:chOff x="2821701" y="3197503"/>
              <a:chExt cx="298780" cy="338554"/>
            </a:xfrm>
          </p:grpSpPr>
          <p:sp>
            <p:nvSpPr>
              <p:cNvPr id="1234" name="Google Shape;1234;p28"/>
              <p:cNvSpPr/>
              <p:nvPr/>
            </p:nvSpPr>
            <p:spPr>
              <a:xfrm>
                <a:off x="2862541" y="3271013"/>
                <a:ext cx="220510" cy="200099"/>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35" name="Google Shape;1235;p28"/>
              <p:cNvSpPr txBox="1"/>
              <p:nvPr/>
            </p:nvSpPr>
            <p:spPr>
              <a:xfrm>
                <a:off x="2821701" y="3197503"/>
                <a:ext cx="29878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a:t>
                </a:r>
                <a:endParaRPr/>
              </a:p>
            </p:txBody>
          </p:sp>
        </p:grpSp>
      </p:grpSp>
      <p:grpSp>
        <p:nvGrpSpPr>
          <p:cNvPr id="1236" name="Google Shape;1236;p28"/>
          <p:cNvGrpSpPr/>
          <p:nvPr/>
        </p:nvGrpSpPr>
        <p:grpSpPr>
          <a:xfrm>
            <a:off x="8181898" y="4591909"/>
            <a:ext cx="346075" cy="755650"/>
            <a:chOff x="2797204" y="2989241"/>
            <a:chExt cx="347099" cy="755477"/>
          </a:xfrm>
        </p:grpSpPr>
        <p:sp>
          <p:nvSpPr>
            <p:cNvPr id="1237" name="Google Shape;1237;p28"/>
            <p:cNvSpPr/>
            <p:nvPr/>
          </p:nvSpPr>
          <p:spPr>
            <a:xfrm>
              <a:off x="2797204" y="2989241"/>
              <a:ext cx="347099" cy="755477"/>
            </a:xfrm>
            <a:prstGeom prst="rect">
              <a:avLst/>
            </a:prstGeom>
            <a:solidFill>
              <a:srgbClr val="FF0000"/>
            </a:solidFill>
            <a:ln cap="flat" cmpd="sng" w="158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238" name="Google Shape;1238;p28"/>
            <p:cNvGrpSpPr/>
            <p:nvPr/>
          </p:nvGrpSpPr>
          <p:grpSpPr>
            <a:xfrm>
              <a:off x="2821701" y="3197503"/>
              <a:ext cx="298780" cy="338554"/>
              <a:chOff x="2821701" y="3197503"/>
              <a:chExt cx="298780" cy="338554"/>
            </a:xfrm>
          </p:grpSpPr>
          <p:sp>
            <p:nvSpPr>
              <p:cNvPr id="1239" name="Google Shape;1239;p28"/>
              <p:cNvSpPr/>
              <p:nvPr/>
            </p:nvSpPr>
            <p:spPr>
              <a:xfrm>
                <a:off x="2862541" y="3271013"/>
                <a:ext cx="220510" cy="200099"/>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0" name="Google Shape;1240;p28"/>
              <p:cNvSpPr txBox="1"/>
              <p:nvPr/>
            </p:nvSpPr>
            <p:spPr>
              <a:xfrm>
                <a:off x="2821701" y="3197503"/>
                <a:ext cx="29878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3</a:t>
                </a:r>
                <a:endParaRPr/>
              </a:p>
            </p:txBody>
          </p:sp>
        </p:grpSp>
      </p:grpSp>
      <p:grpSp>
        <p:nvGrpSpPr>
          <p:cNvPr id="1241" name="Google Shape;1241;p28"/>
          <p:cNvGrpSpPr/>
          <p:nvPr/>
        </p:nvGrpSpPr>
        <p:grpSpPr>
          <a:xfrm>
            <a:off x="8532735" y="4587146"/>
            <a:ext cx="346075" cy="755650"/>
            <a:chOff x="997686" y="3954289"/>
            <a:chExt cx="347099" cy="755477"/>
          </a:xfrm>
        </p:grpSpPr>
        <p:sp>
          <p:nvSpPr>
            <p:cNvPr id="1242" name="Google Shape;1242;p28"/>
            <p:cNvSpPr/>
            <p:nvPr/>
          </p:nvSpPr>
          <p:spPr>
            <a:xfrm>
              <a:off x="997686" y="3954289"/>
              <a:ext cx="347099" cy="755477"/>
            </a:xfrm>
            <a:prstGeom prst="rect">
              <a:avLst/>
            </a:prstGeom>
            <a:solidFill>
              <a:srgbClr val="00B050"/>
            </a:solidFill>
            <a:ln cap="flat" cmpd="sng" w="158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243" name="Google Shape;1243;p28"/>
            <p:cNvGrpSpPr/>
            <p:nvPr/>
          </p:nvGrpSpPr>
          <p:grpSpPr>
            <a:xfrm>
              <a:off x="1022183" y="4162551"/>
              <a:ext cx="298780" cy="338554"/>
              <a:chOff x="2821701" y="3197503"/>
              <a:chExt cx="298780" cy="338554"/>
            </a:xfrm>
          </p:grpSpPr>
          <p:sp>
            <p:nvSpPr>
              <p:cNvPr id="1244" name="Google Shape;1244;p28"/>
              <p:cNvSpPr/>
              <p:nvPr/>
            </p:nvSpPr>
            <p:spPr>
              <a:xfrm>
                <a:off x="2862541" y="3271013"/>
                <a:ext cx="220510" cy="200099"/>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5" name="Google Shape;1245;p28"/>
              <p:cNvSpPr txBox="1"/>
              <p:nvPr/>
            </p:nvSpPr>
            <p:spPr>
              <a:xfrm>
                <a:off x="2821701" y="3197503"/>
                <a:ext cx="29878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a:t>
                </a:r>
                <a:endParaRPr/>
              </a:p>
            </p:txBody>
          </p:sp>
        </p:grpSp>
      </p:grpSp>
      <p:grpSp>
        <p:nvGrpSpPr>
          <p:cNvPr id="1246" name="Google Shape;1246;p28"/>
          <p:cNvGrpSpPr/>
          <p:nvPr/>
        </p:nvGrpSpPr>
        <p:grpSpPr>
          <a:xfrm>
            <a:off x="8888335" y="4585559"/>
            <a:ext cx="347663" cy="754062"/>
            <a:chOff x="2797204" y="2989241"/>
            <a:chExt cx="347099" cy="755477"/>
          </a:xfrm>
        </p:grpSpPr>
        <p:sp>
          <p:nvSpPr>
            <p:cNvPr id="1247" name="Google Shape;1247;p28"/>
            <p:cNvSpPr/>
            <p:nvPr/>
          </p:nvSpPr>
          <p:spPr>
            <a:xfrm>
              <a:off x="2797204" y="2989241"/>
              <a:ext cx="347099" cy="755477"/>
            </a:xfrm>
            <a:prstGeom prst="rect">
              <a:avLst/>
            </a:prstGeom>
            <a:solidFill>
              <a:srgbClr val="FF0000"/>
            </a:solidFill>
            <a:ln cap="flat" cmpd="sng" w="158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248" name="Google Shape;1248;p28"/>
            <p:cNvGrpSpPr/>
            <p:nvPr/>
          </p:nvGrpSpPr>
          <p:grpSpPr>
            <a:xfrm>
              <a:off x="2821701" y="3197503"/>
              <a:ext cx="298780" cy="338554"/>
              <a:chOff x="2821701" y="3197503"/>
              <a:chExt cx="298780" cy="338554"/>
            </a:xfrm>
          </p:grpSpPr>
          <p:sp>
            <p:nvSpPr>
              <p:cNvPr id="1249" name="Google Shape;1249;p28"/>
              <p:cNvSpPr/>
              <p:nvPr/>
            </p:nvSpPr>
            <p:spPr>
              <a:xfrm>
                <a:off x="2862541" y="3271013"/>
                <a:ext cx="220510" cy="200099"/>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0" name="Google Shape;1250;p28"/>
              <p:cNvSpPr txBox="1"/>
              <p:nvPr/>
            </p:nvSpPr>
            <p:spPr>
              <a:xfrm>
                <a:off x="2821701" y="3197503"/>
                <a:ext cx="29878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4</a:t>
                </a:r>
                <a:endParaRPr/>
              </a:p>
            </p:txBody>
          </p:sp>
        </p:grpSp>
      </p:grpSp>
      <p:grpSp>
        <p:nvGrpSpPr>
          <p:cNvPr id="1251" name="Google Shape;1251;p28"/>
          <p:cNvGrpSpPr/>
          <p:nvPr/>
        </p:nvGrpSpPr>
        <p:grpSpPr>
          <a:xfrm>
            <a:off x="9950373" y="4593496"/>
            <a:ext cx="347662" cy="755650"/>
            <a:chOff x="997686" y="3954289"/>
            <a:chExt cx="347099" cy="755477"/>
          </a:xfrm>
        </p:grpSpPr>
        <p:sp>
          <p:nvSpPr>
            <p:cNvPr id="1252" name="Google Shape;1252;p28"/>
            <p:cNvSpPr/>
            <p:nvPr/>
          </p:nvSpPr>
          <p:spPr>
            <a:xfrm>
              <a:off x="997686" y="3954289"/>
              <a:ext cx="347099" cy="755477"/>
            </a:xfrm>
            <a:prstGeom prst="rect">
              <a:avLst/>
            </a:prstGeom>
            <a:solidFill>
              <a:srgbClr val="00B050"/>
            </a:solidFill>
            <a:ln cap="flat" cmpd="sng" w="1587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253" name="Google Shape;1253;p28"/>
            <p:cNvGrpSpPr/>
            <p:nvPr/>
          </p:nvGrpSpPr>
          <p:grpSpPr>
            <a:xfrm>
              <a:off x="1022183" y="4162551"/>
              <a:ext cx="298780" cy="338554"/>
              <a:chOff x="2821701" y="3197503"/>
              <a:chExt cx="298780" cy="338554"/>
            </a:xfrm>
          </p:grpSpPr>
          <p:sp>
            <p:nvSpPr>
              <p:cNvPr id="1254" name="Google Shape;1254;p28"/>
              <p:cNvSpPr/>
              <p:nvPr/>
            </p:nvSpPr>
            <p:spPr>
              <a:xfrm>
                <a:off x="2862541" y="3271013"/>
                <a:ext cx="220510" cy="200099"/>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5" name="Google Shape;1255;p28"/>
              <p:cNvSpPr txBox="1"/>
              <p:nvPr/>
            </p:nvSpPr>
            <p:spPr>
              <a:xfrm>
                <a:off x="2821701" y="3197503"/>
                <a:ext cx="29878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5</a:t>
                </a:r>
                <a:endParaRPr/>
              </a:p>
            </p:txBody>
          </p:sp>
        </p:grpSp>
      </p:grpSp>
      <p:grpSp>
        <p:nvGrpSpPr>
          <p:cNvPr id="1256" name="Google Shape;1256;p28"/>
          <p:cNvGrpSpPr/>
          <p:nvPr/>
        </p:nvGrpSpPr>
        <p:grpSpPr>
          <a:xfrm>
            <a:off x="6976985" y="4182334"/>
            <a:ext cx="3978275" cy="1506537"/>
            <a:chOff x="6976985" y="4182334"/>
            <a:chExt cx="3978275" cy="1506537"/>
          </a:xfrm>
        </p:grpSpPr>
        <p:cxnSp>
          <p:nvCxnSpPr>
            <p:cNvPr id="1257" name="Google Shape;1257;p28"/>
            <p:cNvCxnSpPr/>
            <p:nvPr/>
          </p:nvCxnSpPr>
          <p:spPr>
            <a:xfrm>
              <a:off x="7723110" y="4580796"/>
              <a:ext cx="3230563" cy="0"/>
            </a:xfrm>
            <a:prstGeom prst="straightConnector1">
              <a:avLst/>
            </a:prstGeom>
            <a:noFill/>
            <a:ln cap="flat" cmpd="sng" w="25400">
              <a:solidFill>
                <a:srgbClr val="000000"/>
              </a:solidFill>
              <a:prstDash val="solid"/>
              <a:round/>
              <a:headEnd len="med" w="med" type="none"/>
              <a:tailEnd len="med" w="med" type="triangle"/>
            </a:ln>
          </p:spPr>
        </p:cxnSp>
        <p:cxnSp>
          <p:nvCxnSpPr>
            <p:cNvPr id="1258" name="Google Shape;1258;p28"/>
            <p:cNvCxnSpPr/>
            <p:nvPr/>
          </p:nvCxnSpPr>
          <p:spPr>
            <a:xfrm>
              <a:off x="7724698" y="5352321"/>
              <a:ext cx="3230562" cy="0"/>
            </a:xfrm>
            <a:prstGeom prst="straightConnector1">
              <a:avLst/>
            </a:prstGeom>
            <a:noFill/>
            <a:ln cap="flat" cmpd="sng" w="25400">
              <a:solidFill>
                <a:srgbClr val="000000"/>
              </a:solidFill>
              <a:prstDash val="solid"/>
              <a:round/>
              <a:headEnd len="med" w="med" type="none"/>
              <a:tailEnd len="med" w="med" type="triangle"/>
            </a:ln>
          </p:spPr>
        </p:cxnSp>
        <p:sp>
          <p:nvSpPr>
            <p:cNvPr id="1259" name="Google Shape;1259;p28"/>
            <p:cNvSpPr txBox="1"/>
            <p:nvPr/>
          </p:nvSpPr>
          <p:spPr>
            <a:xfrm>
              <a:off x="6976985" y="4182334"/>
              <a:ext cx="80645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000000"/>
                  </a:solidFill>
                  <a:latin typeface="Arial"/>
                  <a:ea typeface="Arial"/>
                  <a:cs typeface="Arial"/>
                  <a:sym typeface="Arial"/>
                </a:rPr>
                <a:t>arrivals</a:t>
              </a:r>
              <a:endParaRPr/>
            </a:p>
          </p:txBody>
        </p:sp>
        <p:sp>
          <p:nvSpPr>
            <p:cNvPr id="1260" name="Google Shape;1260;p28"/>
            <p:cNvSpPr txBox="1"/>
            <p:nvPr/>
          </p:nvSpPr>
          <p:spPr>
            <a:xfrm>
              <a:off x="7000798" y="5380896"/>
              <a:ext cx="1087437"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000000"/>
                  </a:solidFill>
                  <a:latin typeface="Arial"/>
                  <a:ea typeface="Arial"/>
                  <a:cs typeface="Arial"/>
                  <a:sym typeface="Arial"/>
                </a:rPr>
                <a:t>departures</a:t>
              </a:r>
              <a:endParaRPr/>
            </a:p>
          </p:txBody>
        </p:sp>
        <p:sp>
          <p:nvSpPr>
            <p:cNvPr id="1261" name="Google Shape;1261;p28"/>
            <p:cNvSpPr txBox="1"/>
            <p:nvPr/>
          </p:nvSpPr>
          <p:spPr>
            <a:xfrm>
              <a:off x="7023023" y="4687159"/>
              <a:ext cx="860425" cy="593725"/>
            </a:xfrm>
            <a:prstGeom prst="rect">
              <a:avLst/>
            </a:prstGeom>
            <a:noFill/>
            <a:ln>
              <a:noFill/>
            </a:ln>
          </p:spPr>
          <p:txBody>
            <a:bodyPr anchorCtr="0" anchor="t" bIns="45700" lIns="91425" spcFirstLastPara="1" rIns="91425" wrap="square" tIns="45700">
              <a:spAutoFit/>
            </a:bodyPr>
            <a:lstStyle/>
            <a:p>
              <a:pPr indent="0" lvl="0" marL="0" marR="0" rtl="0" algn="ctr">
                <a:lnSpc>
                  <a:spcPct val="91071"/>
                </a:lnSpc>
                <a:spcBef>
                  <a:spcPts val="0"/>
                </a:spcBef>
                <a:spcAft>
                  <a:spcPts val="0"/>
                </a:spcAft>
                <a:buClr>
                  <a:srgbClr val="000000"/>
                </a:buClr>
                <a:buSzPts val="1400"/>
                <a:buFont typeface="Arial"/>
                <a:buNone/>
              </a:pPr>
              <a:r>
                <a:rPr b="0" i="1" lang="en-US" sz="1400" u="none" cap="none" strike="noStrike">
                  <a:solidFill>
                    <a:srgbClr val="000000"/>
                  </a:solidFill>
                  <a:latin typeface="Arial"/>
                  <a:ea typeface="Arial"/>
                  <a:cs typeface="Arial"/>
                  <a:sym typeface="Arial"/>
                </a:rPr>
                <a:t>packet in service</a:t>
              </a:r>
              <a:endParaRPr/>
            </a:p>
          </p:txBody>
        </p:sp>
      </p:grpSp>
      <p:grpSp>
        <p:nvGrpSpPr>
          <p:cNvPr id="1262" name="Google Shape;1262;p28"/>
          <p:cNvGrpSpPr/>
          <p:nvPr/>
        </p:nvGrpSpPr>
        <p:grpSpPr>
          <a:xfrm>
            <a:off x="7015641" y="2371233"/>
            <a:ext cx="563235" cy="169985"/>
            <a:chOff x="6268765" y="2496876"/>
            <a:chExt cx="563235" cy="169985"/>
          </a:xfrm>
        </p:grpSpPr>
        <p:cxnSp>
          <p:nvCxnSpPr>
            <p:cNvPr id="1263" name="Google Shape;1263;p28"/>
            <p:cNvCxnSpPr/>
            <p:nvPr/>
          </p:nvCxnSpPr>
          <p:spPr>
            <a:xfrm>
              <a:off x="6268765" y="2496876"/>
              <a:ext cx="562708" cy="0"/>
            </a:xfrm>
            <a:prstGeom prst="straightConnector1">
              <a:avLst/>
            </a:prstGeom>
            <a:noFill/>
            <a:ln cap="flat" cmpd="sng" w="38100">
              <a:solidFill>
                <a:srgbClr val="FF0000"/>
              </a:solidFill>
              <a:prstDash val="solid"/>
              <a:miter lim="800000"/>
              <a:headEnd len="sm" w="sm" type="none"/>
              <a:tailEnd len="med" w="med" type="triangle"/>
            </a:ln>
          </p:spPr>
        </p:cxnSp>
        <p:cxnSp>
          <p:nvCxnSpPr>
            <p:cNvPr id="1264" name="Google Shape;1264;p28"/>
            <p:cNvCxnSpPr/>
            <p:nvPr/>
          </p:nvCxnSpPr>
          <p:spPr>
            <a:xfrm>
              <a:off x="6269292" y="2666861"/>
              <a:ext cx="562708" cy="0"/>
            </a:xfrm>
            <a:prstGeom prst="straightConnector1">
              <a:avLst/>
            </a:prstGeom>
            <a:noFill/>
            <a:ln cap="flat" cmpd="sng" w="38100">
              <a:solidFill>
                <a:srgbClr val="00B050"/>
              </a:solidFill>
              <a:prstDash val="solid"/>
              <a:miter lim="800000"/>
              <a:headEnd len="sm" w="sm" type="none"/>
              <a:tailEnd len="med" w="med" type="triangle"/>
            </a:ln>
          </p:spPr>
        </p:cxnSp>
      </p:grpSp>
      <p:grpSp>
        <p:nvGrpSpPr>
          <p:cNvPr id="1265" name="Google Shape;1265;p28"/>
          <p:cNvGrpSpPr/>
          <p:nvPr/>
        </p:nvGrpSpPr>
        <p:grpSpPr>
          <a:xfrm>
            <a:off x="10518514" y="2335168"/>
            <a:ext cx="563235" cy="352190"/>
            <a:chOff x="6268765" y="2496876"/>
            <a:chExt cx="563235" cy="169985"/>
          </a:xfrm>
        </p:grpSpPr>
        <p:cxnSp>
          <p:nvCxnSpPr>
            <p:cNvPr id="1266" name="Google Shape;1266;p28"/>
            <p:cNvCxnSpPr/>
            <p:nvPr/>
          </p:nvCxnSpPr>
          <p:spPr>
            <a:xfrm>
              <a:off x="6268765" y="2496876"/>
              <a:ext cx="562708" cy="0"/>
            </a:xfrm>
            <a:prstGeom prst="straightConnector1">
              <a:avLst/>
            </a:prstGeom>
            <a:noFill/>
            <a:ln cap="flat" cmpd="sng" w="38100">
              <a:solidFill>
                <a:srgbClr val="FF0000"/>
              </a:solidFill>
              <a:prstDash val="solid"/>
              <a:miter lim="800000"/>
              <a:headEnd len="sm" w="sm" type="none"/>
              <a:tailEnd len="med" w="med" type="triangle"/>
            </a:ln>
          </p:spPr>
        </p:cxnSp>
        <p:cxnSp>
          <p:nvCxnSpPr>
            <p:cNvPr id="1267" name="Google Shape;1267;p28"/>
            <p:cNvCxnSpPr/>
            <p:nvPr/>
          </p:nvCxnSpPr>
          <p:spPr>
            <a:xfrm>
              <a:off x="6269292" y="2666861"/>
              <a:ext cx="562708" cy="0"/>
            </a:xfrm>
            <a:prstGeom prst="straightConnector1">
              <a:avLst/>
            </a:prstGeom>
            <a:noFill/>
            <a:ln cap="flat" cmpd="sng" w="38100">
              <a:solidFill>
                <a:srgbClr val="00B050"/>
              </a:solidFill>
              <a:prstDash val="solid"/>
              <a:miter lim="800000"/>
              <a:headEnd len="sm" w="sm" type="none"/>
              <a:tailEnd len="med" w="med" type="triangle"/>
            </a:ln>
          </p:spPr>
        </p:cxnSp>
      </p:grpSp>
      <p:sp>
        <p:nvSpPr>
          <p:cNvPr id="1268" name="Google Shape;1268;p28"/>
          <p:cNvSpPr txBox="1"/>
          <p:nvPr/>
        </p:nvSpPr>
        <p:spPr>
          <a:xfrm>
            <a:off x="767862" y="3915571"/>
            <a:ext cx="5084299" cy="1962714"/>
          </a:xfrm>
          <a:prstGeom prst="rect">
            <a:avLst/>
          </a:prstGeom>
          <a:noFill/>
          <a:ln>
            <a:noFill/>
          </a:ln>
        </p:spPr>
        <p:txBody>
          <a:bodyPr anchorCtr="0" anchor="t" bIns="45700" lIns="91425" spcFirstLastPara="1" rIns="91425" wrap="square" tIns="45700">
            <a:normAutofit/>
          </a:bodyPr>
          <a:lstStyle/>
          <a:p>
            <a:pPr indent="-280988" lvl="0" marL="515938"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send packet from highest priority queue that has buffered packets</a:t>
            </a:r>
            <a:endParaRPr/>
          </a:p>
          <a:p>
            <a:pPr indent="-227012" lvl="1" marL="804863"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FCFS within priority class</a:t>
            </a:r>
            <a:endParaRPr/>
          </a:p>
        </p:txBody>
      </p:sp>
      <p:grpSp>
        <p:nvGrpSpPr>
          <p:cNvPr id="1269" name="Google Shape;1269;p28"/>
          <p:cNvGrpSpPr/>
          <p:nvPr/>
        </p:nvGrpSpPr>
        <p:grpSpPr>
          <a:xfrm>
            <a:off x="7671174" y="3917372"/>
            <a:ext cx="298450" cy="651303"/>
            <a:chOff x="7398516" y="3578212"/>
            <a:chExt cx="298450" cy="651303"/>
          </a:xfrm>
        </p:grpSpPr>
        <p:sp>
          <p:nvSpPr>
            <p:cNvPr id="1270" name="Google Shape;1270;p28"/>
            <p:cNvSpPr/>
            <p:nvPr/>
          </p:nvSpPr>
          <p:spPr>
            <a:xfrm>
              <a:off x="7440043" y="3649200"/>
              <a:ext cx="220266" cy="200218"/>
            </a:xfrm>
            <a:prstGeom prst="ellipse">
              <a:avLst/>
            </a:prstGeom>
            <a:solidFill>
              <a:srgbClr val="FFFFFF"/>
            </a:solidFill>
            <a:ln cap="flat" cmpd="sng" w="158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1" name="Google Shape;1271;p28"/>
            <p:cNvSpPr txBox="1"/>
            <p:nvPr/>
          </p:nvSpPr>
          <p:spPr>
            <a:xfrm>
              <a:off x="7398516" y="3578212"/>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a:t>
              </a:r>
              <a:endParaRPr/>
            </a:p>
          </p:txBody>
        </p:sp>
        <p:cxnSp>
          <p:nvCxnSpPr>
            <p:cNvPr id="1272" name="Google Shape;1272;p28"/>
            <p:cNvCxnSpPr/>
            <p:nvPr/>
          </p:nvCxnSpPr>
          <p:spPr>
            <a:xfrm>
              <a:off x="7551281" y="3850455"/>
              <a:ext cx="0" cy="379060"/>
            </a:xfrm>
            <a:prstGeom prst="straightConnector1">
              <a:avLst/>
            </a:prstGeom>
            <a:noFill/>
            <a:ln cap="flat" cmpd="sng" w="25400">
              <a:solidFill>
                <a:srgbClr val="FF0000"/>
              </a:solidFill>
              <a:prstDash val="solid"/>
              <a:miter lim="800000"/>
              <a:headEnd len="sm" w="sm" type="none"/>
              <a:tailEnd len="med" w="med" type="triangle"/>
            </a:ln>
          </p:spPr>
        </p:cxnSp>
      </p:grpSp>
      <p:grpSp>
        <p:nvGrpSpPr>
          <p:cNvPr id="1273" name="Google Shape;1273;p28"/>
          <p:cNvGrpSpPr/>
          <p:nvPr/>
        </p:nvGrpSpPr>
        <p:grpSpPr>
          <a:xfrm>
            <a:off x="7966553" y="3920142"/>
            <a:ext cx="298450" cy="651303"/>
            <a:chOff x="7398516" y="3578212"/>
            <a:chExt cx="298450" cy="651303"/>
          </a:xfrm>
        </p:grpSpPr>
        <p:sp>
          <p:nvSpPr>
            <p:cNvPr id="1274" name="Google Shape;1274;p28"/>
            <p:cNvSpPr/>
            <p:nvPr/>
          </p:nvSpPr>
          <p:spPr>
            <a:xfrm>
              <a:off x="7440043" y="3649200"/>
              <a:ext cx="220266" cy="200218"/>
            </a:xfrm>
            <a:prstGeom prst="ellipse">
              <a:avLst/>
            </a:prstGeom>
            <a:solidFill>
              <a:srgbClr val="FFFFFF"/>
            </a:solidFill>
            <a:ln cap="flat" cmpd="sng" w="158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5" name="Google Shape;1275;p28"/>
            <p:cNvSpPr txBox="1"/>
            <p:nvPr/>
          </p:nvSpPr>
          <p:spPr>
            <a:xfrm>
              <a:off x="7398516" y="3578212"/>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3</a:t>
              </a:r>
              <a:endParaRPr/>
            </a:p>
          </p:txBody>
        </p:sp>
        <p:cxnSp>
          <p:nvCxnSpPr>
            <p:cNvPr id="1276" name="Google Shape;1276;p28"/>
            <p:cNvCxnSpPr/>
            <p:nvPr/>
          </p:nvCxnSpPr>
          <p:spPr>
            <a:xfrm>
              <a:off x="7551281" y="3850455"/>
              <a:ext cx="0" cy="379060"/>
            </a:xfrm>
            <a:prstGeom prst="straightConnector1">
              <a:avLst/>
            </a:prstGeom>
            <a:noFill/>
            <a:ln cap="flat" cmpd="sng" w="25400">
              <a:solidFill>
                <a:srgbClr val="FF0000"/>
              </a:solidFill>
              <a:prstDash val="solid"/>
              <a:miter lim="800000"/>
              <a:headEnd len="sm" w="sm" type="none"/>
              <a:tailEnd len="med" w="med" type="triangle"/>
            </a:ln>
          </p:spPr>
        </p:cxnSp>
      </p:grpSp>
      <p:grpSp>
        <p:nvGrpSpPr>
          <p:cNvPr id="1277" name="Google Shape;1277;p28"/>
          <p:cNvGrpSpPr/>
          <p:nvPr/>
        </p:nvGrpSpPr>
        <p:grpSpPr>
          <a:xfrm>
            <a:off x="8574489" y="3916263"/>
            <a:ext cx="298450" cy="651303"/>
            <a:chOff x="7398516" y="3578212"/>
            <a:chExt cx="298450" cy="651303"/>
          </a:xfrm>
        </p:grpSpPr>
        <p:sp>
          <p:nvSpPr>
            <p:cNvPr id="1278" name="Google Shape;1278;p28"/>
            <p:cNvSpPr/>
            <p:nvPr/>
          </p:nvSpPr>
          <p:spPr>
            <a:xfrm>
              <a:off x="7440043" y="3649200"/>
              <a:ext cx="220266" cy="200218"/>
            </a:xfrm>
            <a:prstGeom prst="ellipse">
              <a:avLst/>
            </a:prstGeom>
            <a:solidFill>
              <a:srgbClr val="FFFFFF"/>
            </a:solidFill>
            <a:ln cap="flat" cmpd="sng" w="158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9" name="Google Shape;1279;p28"/>
            <p:cNvSpPr txBox="1"/>
            <p:nvPr/>
          </p:nvSpPr>
          <p:spPr>
            <a:xfrm>
              <a:off x="7398516" y="3578212"/>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4</a:t>
              </a:r>
              <a:endParaRPr/>
            </a:p>
          </p:txBody>
        </p:sp>
        <p:cxnSp>
          <p:nvCxnSpPr>
            <p:cNvPr id="1280" name="Google Shape;1280;p28"/>
            <p:cNvCxnSpPr/>
            <p:nvPr/>
          </p:nvCxnSpPr>
          <p:spPr>
            <a:xfrm>
              <a:off x="7551281" y="3850455"/>
              <a:ext cx="0" cy="379060"/>
            </a:xfrm>
            <a:prstGeom prst="straightConnector1">
              <a:avLst/>
            </a:prstGeom>
            <a:noFill/>
            <a:ln cap="flat" cmpd="sng" w="25400">
              <a:solidFill>
                <a:srgbClr val="FF0000"/>
              </a:solidFill>
              <a:prstDash val="solid"/>
              <a:miter lim="800000"/>
              <a:headEnd len="sm" w="sm" type="none"/>
              <a:tailEnd len="med" w="med" type="triangle"/>
            </a:ln>
          </p:spPr>
        </p:cxnSp>
      </p:grpSp>
      <p:grpSp>
        <p:nvGrpSpPr>
          <p:cNvPr id="1281" name="Google Shape;1281;p28"/>
          <p:cNvGrpSpPr/>
          <p:nvPr/>
        </p:nvGrpSpPr>
        <p:grpSpPr>
          <a:xfrm>
            <a:off x="7829819" y="3644517"/>
            <a:ext cx="298450" cy="927483"/>
            <a:chOff x="6725889" y="3647842"/>
            <a:chExt cx="298450" cy="927483"/>
          </a:xfrm>
        </p:grpSpPr>
        <p:sp>
          <p:nvSpPr>
            <p:cNvPr id="1282" name="Google Shape;1282;p28"/>
            <p:cNvSpPr/>
            <p:nvPr/>
          </p:nvSpPr>
          <p:spPr>
            <a:xfrm>
              <a:off x="6759258" y="3722164"/>
              <a:ext cx="220266" cy="200238"/>
            </a:xfrm>
            <a:prstGeom prst="ellipse">
              <a:avLst/>
            </a:prstGeom>
            <a:solidFill>
              <a:srgbClr val="FFFFFF"/>
            </a:solidFill>
            <a:ln cap="flat" cmpd="sng" w="15875">
              <a:solidFill>
                <a:srgbClr val="00B0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3" name="Google Shape;1283;p28"/>
            <p:cNvSpPr txBox="1"/>
            <p:nvPr/>
          </p:nvSpPr>
          <p:spPr>
            <a:xfrm>
              <a:off x="6725889" y="3647842"/>
              <a:ext cx="298450" cy="33878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a:t>
              </a:r>
              <a:endParaRPr/>
            </a:p>
          </p:txBody>
        </p:sp>
        <p:cxnSp>
          <p:nvCxnSpPr>
            <p:cNvPr id="1284" name="Google Shape;1284;p28"/>
            <p:cNvCxnSpPr/>
            <p:nvPr/>
          </p:nvCxnSpPr>
          <p:spPr>
            <a:xfrm>
              <a:off x="6866312" y="3920282"/>
              <a:ext cx="0" cy="655043"/>
            </a:xfrm>
            <a:prstGeom prst="straightConnector1">
              <a:avLst/>
            </a:prstGeom>
            <a:noFill/>
            <a:ln cap="flat" cmpd="sng" w="25400">
              <a:solidFill>
                <a:srgbClr val="00B050"/>
              </a:solidFill>
              <a:prstDash val="solid"/>
              <a:miter lim="800000"/>
              <a:headEnd len="sm" w="sm" type="none"/>
              <a:tailEnd len="med" w="med" type="triangle"/>
            </a:ln>
          </p:spPr>
        </p:cxnSp>
      </p:grpSp>
      <p:grpSp>
        <p:nvGrpSpPr>
          <p:cNvPr id="1285" name="Google Shape;1285;p28"/>
          <p:cNvGrpSpPr/>
          <p:nvPr/>
        </p:nvGrpSpPr>
        <p:grpSpPr>
          <a:xfrm>
            <a:off x="9807544" y="3925685"/>
            <a:ext cx="298450" cy="647977"/>
            <a:chOff x="7405166" y="3581538"/>
            <a:chExt cx="298450" cy="647977"/>
          </a:xfrm>
        </p:grpSpPr>
        <p:sp>
          <p:nvSpPr>
            <p:cNvPr id="1286" name="Google Shape;1286;p28"/>
            <p:cNvSpPr/>
            <p:nvPr/>
          </p:nvSpPr>
          <p:spPr>
            <a:xfrm>
              <a:off x="7440043" y="3649200"/>
              <a:ext cx="220266" cy="200218"/>
            </a:xfrm>
            <a:prstGeom prst="ellipse">
              <a:avLst/>
            </a:prstGeom>
            <a:solidFill>
              <a:srgbClr val="FFFFFF"/>
            </a:solidFill>
            <a:ln cap="flat" cmpd="sng" w="15875">
              <a:solidFill>
                <a:srgbClr val="00B0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7" name="Google Shape;1287;p28"/>
            <p:cNvSpPr txBox="1"/>
            <p:nvPr/>
          </p:nvSpPr>
          <p:spPr>
            <a:xfrm>
              <a:off x="7405166" y="3581538"/>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5</a:t>
              </a:r>
              <a:endParaRPr/>
            </a:p>
          </p:txBody>
        </p:sp>
        <p:cxnSp>
          <p:nvCxnSpPr>
            <p:cNvPr id="1288" name="Google Shape;1288;p28"/>
            <p:cNvCxnSpPr/>
            <p:nvPr/>
          </p:nvCxnSpPr>
          <p:spPr>
            <a:xfrm>
              <a:off x="7551281" y="3850455"/>
              <a:ext cx="0" cy="379060"/>
            </a:xfrm>
            <a:prstGeom prst="straightConnector1">
              <a:avLst/>
            </a:prstGeom>
            <a:noFill/>
            <a:ln cap="flat" cmpd="sng" w="25400">
              <a:solidFill>
                <a:srgbClr val="00B050"/>
              </a:solidFill>
              <a:prstDash val="solid"/>
              <a:miter lim="800000"/>
              <a:headEnd len="sm" w="sm" type="none"/>
              <a:tailEnd len="med" w="med" type="triangle"/>
            </a:ln>
          </p:spPr>
        </p:cxnSp>
      </p:grpSp>
      <p:grpSp>
        <p:nvGrpSpPr>
          <p:cNvPr id="1289" name="Google Shape;1289;p28"/>
          <p:cNvGrpSpPr/>
          <p:nvPr/>
        </p:nvGrpSpPr>
        <p:grpSpPr>
          <a:xfrm>
            <a:off x="8029730" y="5366143"/>
            <a:ext cx="298450" cy="651728"/>
            <a:chOff x="7384663" y="5459245"/>
            <a:chExt cx="298450" cy="651728"/>
          </a:xfrm>
        </p:grpSpPr>
        <p:sp>
          <p:nvSpPr>
            <p:cNvPr id="1290" name="Google Shape;1290;p28"/>
            <p:cNvSpPr/>
            <p:nvPr/>
          </p:nvSpPr>
          <p:spPr>
            <a:xfrm>
              <a:off x="7426190" y="5843206"/>
              <a:ext cx="220266" cy="200218"/>
            </a:xfrm>
            <a:prstGeom prst="ellipse">
              <a:avLst/>
            </a:prstGeom>
            <a:solidFill>
              <a:srgbClr val="FFFFFF"/>
            </a:solidFill>
            <a:ln cap="flat" cmpd="sng" w="158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1" name="Google Shape;1291;p28"/>
            <p:cNvSpPr txBox="1"/>
            <p:nvPr/>
          </p:nvSpPr>
          <p:spPr>
            <a:xfrm>
              <a:off x="7384663" y="5772218"/>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1</a:t>
              </a:r>
              <a:endParaRPr/>
            </a:p>
          </p:txBody>
        </p:sp>
        <p:cxnSp>
          <p:nvCxnSpPr>
            <p:cNvPr id="1292" name="Google Shape;1292;p28"/>
            <p:cNvCxnSpPr/>
            <p:nvPr/>
          </p:nvCxnSpPr>
          <p:spPr>
            <a:xfrm>
              <a:off x="7537428" y="5459245"/>
              <a:ext cx="0" cy="379060"/>
            </a:xfrm>
            <a:prstGeom prst="straightConnector1">
              <a:avLst/>
            </a:prstGeom>
            <a:noFill/>
            <a:ln cap="flat" cmpd="sng" w="25400">
              <a:solidFill>
                <a:srgbClr val="FF0000"/>
              </a:solidFill>
              <a:prstDash val="solid"/>
              <a:miter lim="800000"/>
              <a:headEnd len="sm" w="sm" type="none"/>
              <a:tailEnd len="med" w="med" type="triangle"/>
            </a:ln>
          </p:spPr>
        </p:cxnSp>
      </p:grpSp>
      <p:grpSp>
        <p:nvGrpSpPr>
          <p:cNvPr id="1293" name="Google Shape;1293;p28"/>
          <p:cNvGrpSpPr/>
          <p:nvPr/>
        </p:nvGrpSpPr>
        <p:grpSpPr>
          <a:xfrm>
            <a:off x="8381636" y="5365589"/>
            <a:ext cx="298450" cy="651728"/>
            <a:chOff x="7391313" y="5459245"/>
            <a:chExt cx="298450" cy="651728"/>
          </a:xfrm>
        </p:grpSpPr>
        <p:sp>
          <p:nvSpPr>
            <p:cNvPr id="1294" name="Google Shape;1294;p28"/>
            <p:cNvSpPr/>
            <p:nvPr/>
          </p:nvSpPr>
          <p:spPr>
            <a:xfrm>
              <a:off x="7426190" y="5843206"/>
              <a:ext cx="220266" cy="200218"/>
            </a:xfrm>
            <a:prstGeom prst="ellipse">
              <a:avLst/>
            </a:prstGeom>
            <a:solidFill>
              <a:srgbClr val="FFFFFF"/>
            </a:solidFill>
            <a:ln cap="flat" cmpd="sng" w="158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5" name="Google Shape;1295;p28"/>
            <p:cNvSpPr txBox="1"/>
            <p:nvPr/>
          </p:nvSpPr>
          <p:spPr>
            <a:xfrm>
              <a:off x="7391313" y="5772218"/>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3</a:t>
              </a:r>
              <a:endParaRPr/>
            </a:p>
          </p:txBody>
        </p:sp>
        <p:cxnSp>
          <p:nvCxnSpPr>
            <p:cNvPr id="1296" name="Google Shape;1296;p28"/>
            <p:cNvCxnSpPr/>
            <p:nvPr/>
          </p:nvCxnSpPr>
          <p:spPr>
            <a:xfrm>
              <a:off x="7537428" y="5459245"/>
              <a:ext cx="0" cy="379060"/>
            </a:xfrm>
            <a:prstGeom prst="straightConnector1">
              <a:avLst/>
            </a:prstGeom>
            <a:noFill/>
            <a:ln cap="flat" cmpd="sng" w="25400">
              <a:solidFill>
                <a:srgbClr val="FF0000"/>
              </a:solidFill>
              <a:prstDash val="solid"/>
              <a:miter lim="800000"/>
              <a:headEnd len="sm" w="sm" type="none"/>
              <a:tailEnd len="med" w="med" type="triangle"/>
            </a:ln>
          </p:spPr>
        </p:cxnSp>
      </p:grpSp>
      <p:grpSp>
        <p:nvGrpSpPr>
          <p:cNvPr id="1297" name="Google Shape;1297;p28"/>
          <p:cNvGrpSpPr/>
          <p:nvPr/>
        </p:nvGrpSpPr>
        <p:grpSpPr>
          <a:xfrm>
            <a:off x="8736867" y="5365034"/>
            <a:ext cx="298450" cy="651727"/>
            <a:chOff x="7391313" y="5459245"/>
            <a:chExt cx="298450" cy="651727"/>
          </a:xfrm>
        </p:grpSpPr>
        <p:sp>
          <p:nvSpPr>
            <p:cNvPr id="1298" name="Google Shape;1298;p28"/>
            <p:cNvSpPr/>
            <p:nvPr/>
          </p:nvSpPr>
          <p:spPr>
            <a:xfrm>
              <a:off x="7426190" y="5843206"/>
              <a:ext cx="220266" cy="200218"/>
            </a:xfrm>
            <a:prstGeom prst="ellipse">
              <a:avLst/>
            </a:prstGeom>
            <a:solidFill>
              <a:srgbClr val="FFFFFF"/>
            </a:solidFill>
            <a:ln cap="flat" cmpd="sng" w="15875">
              <a:solidFill>
                <a:srgbClr val="00B0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9" name="Google Shape;1299;p28"/>
            <p:cNvSpPr txBox="1"/>
            <p:nvPr/>
          </p:nvSpPr>
          <p:spPr>
            <a:xfrm>
              <a:off x="7391313" y="5772217"/>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2</a:t>
              </a:r>
              <a:endParaRPr/>
            </a:p>
          </p:txBody>
        </p:sp>
        <p:cxnSp>
          <p:nvCxnSpPr>
            <p:cNvPr id="1300" name="Google Shape;1300;p28"/>
            <p:cNvCxnSpPr/>
            <p:nvPr/>
          </p:nvCxnSpPr>
          <p:spPr>
            <a:xfrm>
              <a:off x="7537428" y="5459245"/>
              <a:ext cx="0" cy="379060"/>
            </a:xfrm>
            <a:prstGeom prst="straightConnector1">
              <a:avLst/>
            </a:prstGeom>
            <a:noFill/>
            <a:ln cap="flat" cmpd="sng" w="25400">
              <a:solidFill>
                <a:srgbClr val="00B050"/>
              </a:solidFill>
              <a:prstDash val="solid"/>
              <a:miter lim="800000"/>
              <a:headEnd len="sm" w="sm" type="none"/>
              <a:tailEnd len="med" w="med" type="triangle"/>
            </a:ln>
          </p:spPr>
        </p:cxnSp>
      </p:grpSp>
      <p:grpSp>
        <p:nvGrpSpPr>
          <p:cNvPr id="1301" name="Google Shape;1301;p28"/>
          <p:cNvGrpSpPr/>
          <p:nvPr/>
        </p:nvGrpSpPr>
        <p:grpSpPr>
          <a:xfrm>
            <a:off x="9086001" y="5365035"/>
            <a:ext cx="298450" cy="651728"/>
            <a:chOff x="7391313" y="5459245"/>
            <a:chExt cx="298450" cy="651728"/>
          </a:xfrm>
        </p:grpSpPr>
        <p:sp>
          <p:nvSpPr>
            <p:cNvPr id="1302" name="Google Shape;1302;p28"/>
            <p:cNvSpPr/>
            <p:nvPr/>
          </p:nvSpPr>
          <p:spPr>
            <a:xfrm>
              <a:off x="7426190" y="5843206"/>
              <a:ext cx="220266" cy="200218"/>
            </a:xfrm>
            <a:prstGeom prst="ellipse">
              <a:avLst/>
            </a:prstGeom>
            <a:solidFill>
              <a:srgbClr val="FFFFFF"/>
            </a:solidFill>
            <a:ln cap="flat" cmpd="sng" w="15875">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3" name="Google Shape;1303;p28"/>
            <p:cNvSpPr txBox="1"/>
            <p:nvPr/>
          </p:nvSpPr>
          <p:spPr>
            <a:xfrm>
              <a:off x="7391313" y="5772218"/>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4</a:t>
              </a:r>
              <a:endParaRPr/>
            </a:p>
          </p:txBody>
        </p:sp>
        <p:cxnSp>
          <p:nvCxnSpPr>
            <p:cNvPr id="1304" name="Google Shape;1304;p28"/>
            <p:cNvCxnSpPr/>
            <p:nvPr/>
          </p:nvCxnSpPr>
          <p:spPr>
            <a:xfrm>
              <a:off x="7537428" y="5459245"/>
              <a:ext cx="0" cy="379060"/>
            </a:xfrm>
            <a:prstGeom prst="straightConnector1">
              <a:avLst/>
            </a:prstGeom>
            <a:noFill/>
            <a:ln cap="flat" cmpd="sng" w="25400">
              <a:solidFill>
                <a:srgbClr val="FF0000"/>
              </a:solidFill>
              <a:prstDash val="solid"/>
              <a:miter lim="800000"/>
              <a:headEnd len="sm" w="sm" type="none"/>
              <a:tailEnd len="med" w="med" type="triangle"/>
            </a:ln>
          </p:spPr>
        </p:cxnSp>
      </p:grpSp>
      <p:grpSp>
        <p:nvGrpSpPr>
          <p:cNvPr id="1305" name="Google Shape;1305;p28"/>
          <p:cNvGrpSpPr/>
          <p:nvPr/>
        </p:nvGrpSpPr>
        <p:grpSpPr>
          <a:xfrm>
            <a:off x="10159452" y="5361155"/>
            <a:ext cx="298450" cy="651727"/>
            <a:chOff x="7391313" y="5459245"/>
            <a:chExt cx="298450" cy="651727"/>
          </a:xfrm>
        </p:grpSpPr>
        <p:sp>
          <p:nvSpPr>
            <p:cNvPr id="1306" name="Google Shape;1306;p28"/>
            <p:cNvSpPr/>
            <p:nvPr/>
          </p:nvSpPr>
          <p:spPr>
            <a:xfrm>
              <a:off x="7426190" y="5843206"/>
              <a:ext cx="220266" cy="200218"/>
            </a:xfrm>
            <a:prstGeom prst="ellipse">
              <a:avLst/>
            </a:prstGeom>
            <a:solidFill>
              <a:srgbClr val="FFFFFF"/>
            </a:solidFill>
            <a:ln cap="flat" cmpd="sng" w="15875">
              <a:solidFill>
                <a:srgbClr val="00B0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7" name="Google Shape;1307;p28"/>
            <p:cNvSpPr txBox="1"/>
            <p:nvPr/>
          </p:nvSpPr>
          <p:spPr>
            <a:xfrm>
              <a:off x="7391313" y="5772217"/>
              <a:ext cx="298450" cy="338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5</a:t>
              </a:r>
              <a:endParaRPr/>
            </a:p>
          </p:txBody>
        </p:sp>
        <p:cxnSp>
          <p:nvCxnSpPr>
            <p:cNvPr id="1308" name="Google Shape;1308;p28"/>
            <p:cNvCxnSpPr/>
            <p:nvPr/>
          </p:nvCxnSpPr>
          <p:spPr>
            <a:xfrm>
              <a:off x="7537428" y="5459245"/>
              <a:ext cx="0" cy="379060"/>
            </a:xfrm>
            <a:prstGeom prst="straightConnector1">
              <a:avLst/>
            </a:prstGeom>
            <a:noFill/>
            <a:ln cap="flat" cmpd="sng" w="25400">
              <a:solidFill>
                <a:srgbClr val="00B050"/>
              </a:solidFill>
              <a:prstDash val="solid"/>
              <a:miter lim="800000"/>
              <a:headEnd len="sm" w="sm" type="none"/>
              <a:tailEnd len="med" w="med" type="triangle"/>
            </a:ln>
          </p:spPr>
        </p:cxnSp>
      </p:grpSp>
      <p:sp>
        <p:nvSpPr>
          <p:cNvPr id="1309" name="Google Shape;1309;p28"/>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8"/>
                                        </p:tgtEl>
                                        <p:attrNameLst>
                                          <p:attrName>style.visibility</p:attrName>
                                        </p:attrNameLst>
                                      </p:cBhvr>
                                      <p:to>
                                        <p:strVal val="visible"/>
                                      </p:to>
                                    </p:set>
                                    <p:animEffect filter="fade" transition="in">
                                      <p:cBhvr>
                                        <p:cTn dur="500"/>
                                        <p:tgtEl>
                                          <p:spTgt spid="12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6"/>
                                        </p:tgtEl>
                                        <p:attrNameLst>
                                          <p:attrName>style.visibility</p:attrName>
                                        </p:attrNameLst>
                                      </p:cBhvr>
                                      <p:to>
                                        <p:strVal val="visible"/>
                                      </p:to>
                                    </p:set>
                                    <p:animEffect filter="fade" transition="in">
                                      <p:cBhvr>
                                        <p:cTn dur="500"/>
                                        <p:tgtEl>
                                          <p:spTgt spid="12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9"/>
                                        </p:tgtEl>
                                        <p:attrNameLst>
                                          <p:attrName>style.visibility</p:attrName>
                                        </p:attrNameLst>
                                      </p:cBhvr>
                                      <p:to>
                                        <p:strVal val="visible"/>
                                      </p:to>
                                    </p:set>
                                    <p:animEffect filter="fade" transition="in">
                                      <p:cBhvr>
                                        <p:cTn dur="500"/>
                                        <p:tgtEl>
                                          <p:spTgt spid="126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31"/>
                                        </p:tgtEl>
                                        <p:attrNameLst>
                                          <p:attrName>style.visibility</p:attrName>
                                        </p:attrNameLst>
                                      </p:cBhvr>
                                      <p:to>
                                        <p:strVal val="visible"/>
                                      </p:to>
                                    </p:set>
                                    <p:animEffect filter="fade" transition="in">
                                      <p:cBhvr>
                                        <p:cTn dur="500"/>
                                        <p:tgtEl>
                                          <p:spTgt spid="12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1"/>
                                        </p:tgtEl>
                                        <p:attrNameLst>
                                          <p:attrName>style.visibility</p:attrName>
                                        </p:attrNameLst>
                                      </p:cBhvr>
                                      <p:to>
                                        <p:strVal val="visible"/>
                                      </p:to>
                                    </p:set>
                                    <p:animEffect filter="fade" transition="in">
                                      <p:cBhvr>
                                        <p:cTn dur="500"/>
                                        <p:tgtEl>
                                          <p:spTgt spid="1281"/>
                                        </p:tgtEl>
                                      </p:cBhvr>
                                    </p:animEffect>
                                  </p:childTnLst>
                                </p:cTn>
                              </p:par>
                            </p:childTnLst>
                          </p:cTn>
                        </p:par>
                        <p:par>
                          <p:cTn fill="hold">
                            <p:stCondLst>
                              <p:cond delay="500"/>
                            </p:stCondLst>
                            <p:childTnLst>
                              <p:par>
                                <p:cTn fill="hold" nodeType="afterEffect" presetClass="entr" presetID="10" presetSubtype="0">
                                  <p:stCondLst>
                                    <p:cond delay="500"/>
                                  </p:stCondLst>
                                  <p:childTnLst>
                                    <p:set>
                                      <p:cBhvr>
                                        <p:cTn dur="1" fill="hold">
                                          <p:stCondLst>
                                            <p:cond delay="0"/>
                                          </p:stCondLst>
                                        </p:cTn>
                                        <p:tgtEl>
                                          <p:spTgt spid="1273"/>
                                        </p:tgtEl>
                                        <p:attrNameLst>
                                          <p:attrName>style.visibility</p:attrName>
                                        </p:attrNameLst>
                                      </p:cBhvr>
                                      <p:to>
                                        <p:strVal val="visible"/>
                                      </p:to>
                                    </p:set>
                                    <p:animEffect filter="fade" transition="in">
                                      <p:cBhvr>
                                        <p:cTn dur="500"/>
                                        <p:tgtEl>
                                          <p:spTgt spid="12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9"/>
                                        </p:tgtEl>
                                        <p:attrNameLst>
                                          <p:attrName>style.visibility</p:attrName>
                                        </p:attrNameLst>
                                      </p:cBhvr>
                                      <p:to>
                                        <p:strVal val="visible"/>
                                      </p:to>
                                    </p:set>
                                    <p:animEffect filter="fade" transition="in">
                                      <p:cBhvr>
                                        <p:cTn dur="500"/>
                                        <p:tgtEl>
                                          <p:spTgt spid="128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36"/>
                                        </p:tgtEl>
                                        <p:attrNameLst>
                                          <p:attrName>style.visibility</p:attrName>
                                        </p:attrNameLst>
                                      </p:cBhvr>
                                      <p:to>
                                        <p:strVal val="visible"/>
                                      </p:to>
                                    </p:set>
                                    <p:animEffect filter="fade" transition="in">
                                      <p:cBhvr>
                                        <p:cTn dur="500"/>
                                        <p:tgtEl>
                                          <p:spTgt spid="12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3"/>
                                        </p:tgtEl>
                                        <p:attrNameLst>
                                          <p:attrName>style.visibility</p:attrName>
                                        </p:attrNameLst>
                                      </p:cBhvr>
                                      <p:to>
                                        <p:strVal val="visible"/>
                                      </p:to>
                                    </p:set>
                                    <p:animEffect filter="fade" transition="in">
                                      <p:cBhvr>
                                        <p:cTn dur="500"/>
                                        <p:tgtEl>
                                          <p:spTgt spid="129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41"/>
                                        </p:tgtEl>
                                        <p:attrNameLst>
                                          <p:attrName>style.visibility</p:attrName>
                                        </p:attrNameLst>
                                      </p:cBhvr>
                                      <p:to>
                                        <p:strVal val="visible"/>
                                      </p:to>
                                    </p:set>
                                    <p:animEffect filter="fade" transition="in">
                                      <p:cBhvr>
                                        <p:cTn dur="500"/>
                                        <p:tgtEl>
                                          <p:spTgt spid="12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7"/>
                                        </p:tgtEl>
                                        <p:attrNameLst>
                                          <p:attrName>style.visibility</p:attrName>
                                        </p:attrNameLst>
                                      </p:cBhvr>
                                      <p:to>
                                        <p:strVal val="visible"/>
                                      </p:to>
                                    </p:set>
                                    <p:animEffect filter="fade" transition="in">
                                      <p:cBhvr>
                                        <p:cTn dur="500"/>
                                        <p:tgtEl>
                                          <p:spTgt spid="127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97"/>
                                        </p:tgtEl>
                                        <p:attrNameLst>
                                          <p:attrName>style.visibility</p:attrName>
                                        </p:attrNameLst>
                                      </p:cBhvr>
                                      <p:to>
                                        <p:strVal val="visible"/>
                                      </p:to>
                                    </p:set>
                                    <p:animEffect filter="fade" transition="in">
                                      <p:cBhvr>
                                        <p:cTn dur="500"/>
                                        <p:tgtEl>
                                          <p:spTgt spid="129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46"/>
                                        </p:tgtEl>
                                        <p:attrNameLst>
                                          <p:attrName>style.visibility</p:attrName>
                                        </p:attrNameLst>
                                      </p:cBhvr>
                                      <p:to>
                                        <p:strVal val="visible"/>
                                      </p:to>
                                    </p:set>
                                    <p:animEffect filter="fade" transition="in">
                                      <p:cBhvr>
                                        <p:cTn dur="500"/>
                                        <p:tgtEl>
                                          <p:spTgt spid="1246"/>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301"/>
                                        </p:tgtEl>
                                        <p:attrNameLst>
                                          <p:attrName>style.visibility</p:attrName>
                                        </p:attrNameLst>
                                      </p:cBhvr>
                                      <p:to>
                                        <p:strVal val="visible"/>
                                      </p:to>
                                    </p:set>
                                    <p:animEffect filter="fade" transition="in">
                                      <p:cBhvr>
                                        <p:cTn dur="500"/>
                                        <p:tgtEl>
                                          <p:spTgt spid="130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285"/>
                                        </p:tgtEl>
                                        <p:attrNameLst>
                                          <p:attrName>style.visibility</p:attrName>
                                        </p:attrNameLst>
                                      </p:cBhvr>
                                      <p:to>
                                        <p:strVal val="visible"/>
                                      </p:to>
                                    </p:set>
                                    <p:animEffect filter="fade" transition="in">
                                      <p:cBhvr>
                                        <p:cTn dur="500"/>
                                        <p:tgtEl>
                                          <p:spTgt spid="1285"/>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251"/>
                                        </p:tgtEl>
                                        <p:attrNameLst>
                                          <p:attrName>style.visibility</p:attrName>
                                        </p:attrNameLst>
                                      </p:cBhvr>
                                      <p:to>
                                        <p:strVal val="visible"/>
                                      </p:to>
                                    </p:set>
                                    <p:animEffect filter="fade" transition="in">
                                      <p:cBhvr>
                                        <p:cTn dur="500"/>
                                        <p:tgtEl>
                                          <p:spTgt spid="1251"/>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305"/>
                                        </p:tgtEl>
                                        <p:attrNameLst>
                                          <p:attrName>style.visibility</p:attrName>
                                        </p:attrNameLst>
                                      </p:cBhvr>
                                      <p:to>
                                        <p:strVal val="visible"/>
                                      </p:to>
                                    </p:set>
                                    <p:animEffect filter="fade" transition="in">
                                      <p:cBhvr>
                                        <p:cTn dur="500"/>
                                        <p:tgtEl>
                                          <p:spTgt spid="13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4" name="Shape 1314"/>
        <p:cNvGrpSpPr/>
        <p:nvPr/>
      </p:nvGrpSpPr>
      <p:grpSpPr>
        <a:xfrm>
          <a:off x="0" y="0"/>
          <a:ext cx="0" cy="0"/>
          <a:chOff x="0" y="0"/>
          <a:chExt cx="0" cy="0"/>
        </a:xfrm>
      </p:grpSpPr>
      <p:sp>
        <p:nvSpPr>
          <p:cNvPr id="1315" name="Google Shape;1315;p29"/>
          <p:cNvSpPr txBox="1"/>
          <p:nvPr>
            <p:ph idx="1" type="body"/>
          </p:nvPr>
        </p:nvSpPr>
        <p:spPr>
          <a:xfrm>
            <a:off x="722890" y="1409359"/>
            <a:ext cx="5155396" cy="2513284"/>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3200"/>
              <a:buNone/>
            </a:pPr>
            <a:r>
              <a:rPr i="1" lang="en-US" sz="3200">
                <a:solidFill>
                  <a:srgbClr val="CC0000"/>
                </a:solidFill>
              </a:rPr>
              <a:t>Round Robin (RR) scheduling:</a:t>
            </a:r>
            <a:endParaRPr/>
          </a:p>
          <a:p>
            <a:pPr indent="-223837" lvl="0" marL="461963" rtl="0" algn="l">
              <a:lnSpc>
                <a:spcPct val="90000"/>
              </a:lnSpc>
              <a:spcBef>
                <a:spcPts val="1000"/>
              </a:spcBef>
              <a:spcAft>
                <a:spcPts val="0"/>
              </a:spcAft>
              <a:buSzPts val="3200"/>
              <a:buChar char="▪"/>
            </a:pPr>
            <a:r>
              <a:rPr lang="en-US" sz="3200"/>
              <a:t>arriving traffic classified, queued by class</a:t>
            </a:r>
            <a:endParaRPr/>
          </a:p>
          <a:p>
            <a:pPr indent="-223837" lvl="1" marL="804863" rtl="0" algn="l">
              <a:lnSpc>
                <a:spcPct val="90000"/>
              </a:lnSpc>
              <a:spcBef>
                <a:spcPts val="500"/>
              </a:spcBef>
              <a:spcAft>
                <a:spcPts val="0"/>
              </a:spcAft>
              <a:buSzPts val="2800"/>
              <a:buChar char="•"/>
            </a:pPr>
            <a:r>
              <a:rPr lang="en-US" sz="2800"/>
              <a:t>any header fields can be used for classification</a:t>
            </a:r>
            <a:endParaRPr/>
          </a:p>
        </p:txBody>
      </p:sp>
      <p:sp>
        <p:nvSpPr>
          <p:cNvPr id="1316" name="Google Shape;1316;p29"/>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Scheduling policies: round robin</a:t>
            </a:r>
            <a:endParaRPr/>
          </a:p>
        </p:txBody>
      </p:sp>
      <p:cxnSp>
        <p:nvCxnSpPr>
          <p:cNvPr id="1317" name="Google Shape;1317;p29"/>
          <p:cNvCxnSpPr/>
          <p:nvPr/>
        </p:nvCxnSpPr>
        <p:spPr>
          <a:xfrm>
            <a:off x="10755082" y="4071258"/>
            <a:ext cx="457200" cy="0"/>
          </a:xfrm>
          <a:prstGeom prst="straightConnector1">
            <a:avLst/>
          </a:prstGeom>
          <a:noFill/>
          <a:ln cap="flat" cmpd="sng" w="38100">
            <a:solidFill>
              <a:schemeClr val="dk1"/>
            </a:solidFill>
            <a:prstDash val="solid"/>
            <a:miter lim="800000"/>
            <a:headEnd len="sm" w="sm" type="none"/>
            <a:tailEnd len="sm" w="sm" type="none"/>
          </a:ln>
        </p:spPr>
      </p:cxnSp>
      <p:grpSp>
        <p:nvGrpSpPr>
          <p:cNvPr id="1318" name="Google Shape;1318;p29"/>
          <p:cNvGrpSpPr/>
          <p:nvPr/>
        </p:nvGrpSpPr>
        <p:grpSpPr>
          <a:xfrm>
            <a:off x="7990116" y="2719344"/>
            <a:ext cx="1274199" cy="760001"/>
            <a:chOff x="1670312" y="2562997"/>
            <a:chExt cx="940317" cy="565219"/>
          </a:xfrm>
        </p:grpSpPr>
        <p:grpSp>
          <p:nvGrpSpPr>
            <p:cNvPr id="1319" name="Google Shape;1319;p29"/>
            <p:cNvGrpSpPr/>
            <p:nvPr/>
          </p:nvGrpSpPr>
          <p:grpSpPr>
            <a:xfrm>
              <a:off x="1670312" y="2562997"/>
              <a:ext cx="929822" cy="565219"/>
              <a:chOff x="1670312" y="2562997"/>
              <a:chExt cx="929822" cy="565219"/>
            </a:xfrm>
          </p:grpSpPr>
          <p:sp>
            <p:nvSpPr>
              <p:cNvPr id="1320" name="Google Shape;1320;p29"/>
              <p:cNvSpPr/>
              <p:nvPr/>
            </p:nvSpPr>
            <p:spPr>
              <a:xfrm>
                <a:off x="1670312" y="2562997"/>
                <a:ext cx="929822" cy="563157"/>
              </a:xfrm>
              <a:prstGeom prst="rect">
                <a:avLst/>
              </a:prstGeom>
              <a:noFill/>
              <a:ln cap="flat" cmpd="sng" w="190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321" name="Google Shape;1321;p29"/>
              <p:cNvCxnSpPr/>
              <p:nvPr/>
            </p:nvCxnSpPr>
            <p:spPr>
              <a:xfrm flipH="1">
                <a:off x="1786358" y="256753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322" name="Google Shape;1322;p29"/>
              <p:cNvCxnSpPr/>
              <p:nvPr/>
            </p:nvCxnSpPr>
            <p:spPr>
              <a:xfrm flipH="1">
                <a:off x="1911544" y="2566974"/>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323" name="Google Shape;1323;p29"/>
              <p:cNvCxnSpPr/>
              <p:nvPr/>
            </p:nvCxnSpPr>
            <p:spPr>
              <a:xfrm flipH="1">
                <a:off x="2027659" y="257032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324" name="Google Shape;1324;p29"/>
              <p:cNvCxnSpPr/>
              <p:nvPr/>
            </p:nvCxnSpPr>
            <p:spPr>
              <a:xfrm flipH="1">
                <a:off x="2134843" y="2564600"/>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325" name="Google Shape;1325;p29"/>
              <p:cNvCxnSpPr/>
              <p:nvPr/>
            </p:nvCxnSpPr>
            <p:spPr>
              <a:xfrm flipH="1">
                <a:off x="2244397" y="256669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326" name="Google Shape;1326;p29"/>
              <p:cNvCxnSpPr/>
              <p:nvPr/>
            </p:nvCxnSpPr>
            <p:spPr>
              <a:xfrm flipH="1">
                <a:off x="2365675" y="2568786"/>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327" name="Google Shape;1327;p29"/>
              <p:cNvCxnSpPr/>
              <p:nvPr/>
            </p:nvCxnSpPr>
            <p:spPr>
              <a:xfrm flipH="1">
                <a:off x="2483045" y="2566971"/>
                <a:ext cx="4536" cy="557893"/>
              </a:xfrm>
              <a:prstGeom prst="straightConnector1">
                <a:avLst/>
              </a:prstGeom>
              <a:noFill/>
              <a:ln cap="flat" cmpd="sng" w="19050">
                <a:solidFill>
                  <a:schemeClr val="dk1"/>
                </a:solidFill>
                <a:prstDash val="solid"/>
                <a:round/>
                <a:headEnd len="med" w="med" type="none"/>
                <a:tailEnd len="med" w="med" type="none"/>
              </a:ln>
            </p:spPr>
          </p:cxnSp>
        </p:grpSp>
        <p:sp>
          <p:nvSpPr>
            <p:cNvPr id="1328" name="Google Shape;1328;p29"/>
            <p:cNvSpPr/>
            <p:nvPr/>
          </p:nvSpPr>
          <p:spPr>
            <a:xfrm>
              <a:off x="1916862" y="2571262"/>
              <a:ext cx="693767" cy="552560"/>
            </a:xfrm>
            <a:prstGeom prst="rect">
              <a:avLst/>
            </a:prstGeom>
            <a:solidFill>
              <a:srgbClr val="FF0000">
                <a:alpha val="7058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329" name="Google Shape;1329;p29"/>
          <p:cNvGrpSpPr/>
          <p:nvPr/>
        </p:nvGrpSpPr>
        <p:grpSpPr>
          <a:xfrm>
            <a:off x="8007879" y="3655287"/>
            <a:ext cx="1292387" cy="763274"/>
            <a:chOff x="1670312" y="2562997"/>
            <a:chExt cx="940318" cy="565219"/>
          </a:xfrm>
        </p:grpSpPr>
        <p:grpSp>
          <p:nvGrpSpPr>
            <p:cNvPr id="1330" name="Google Shape;1330;p29"/>
            <p:cNvGrpSpPr/>
            <p:nvPr/>
          </p:nvGrpSpPr>
          <p:grpSpPr>
            <a:xfrm>
              <a:off x="1670312" y="2562997"/>
              <a:ext cx="929822" cy="565219"/>
              <a:chOff x="1670312" y="2562997"/>
              <a:chExt cx="929822" cy="565219"/>
            </a:xfrm>
          </p:grpSpPr>
          <p:sp>
            <p:nvSpPr>
              <p:cNvPr id="1331" name="Google Shape;1331;p29"/>
              <p:cNvSpPr/>
              <p:nvPr/>
            </p:nvSpPr>
            <p:spPr>
              <a:xfrm>
                <a:off x="1670312" y="2562997"/>
                <a:ext cx="929822" cy="563157"/>
              </a:xfrm>
              <a:prstGeom prst="rect">
                <a:avLst/>
              </a:prstGeom>
              <a:noFill/>
              <a:ln cap="flat" cmpd="sng" w="190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332" name="Google Shape;1332;p29"/>
              <p:cNvCxnSpPr/>
              <p:nvPr/>
            </p:nvCxnSpPr>
            <p:spPr>
              <a:xfrm flipH="1">
                <a:off x="1786358" y="256753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333" name="Google Shape;1333;p29"/>
              <p:cNvCxnSpPr/>
              <p:nvPr/>
            </p:nvCxnSpPr>
            <p:spPr>
              <a:xfrm flipH="1">
                <a:off x="1911544" y="2566974"/>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334" name="Google Shape;1334;p29"/>
              <p:cNvCxnSpPr/>
              <p:nvPr/>
            </p:nvCxnSpPr>
            <p:spPr>
              <a:xfrm flipH="1">
                <a:off x="2027659" y="257032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335" name="Google Shape;1335;p29"/>
              <p:cNvCxnSpPr/>
              <p:nvPr/>
            </p:nvCxnSpPr>
            <p:spPr>
              <a:xfrm flipH="1">
                <a:off x="2134843" y="2564600"/>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336" name="Google Shape;1336;p29"/>
              <p:cNvCxnSpPr/>
              <p:nvPr/>
            </p:nvCxnSpPr>
            <p:spPr>
              <a:xfrm flipH="1">
                <a:off x="2244397" y="256669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337" name="Google Shape;1337;p29"/>
              <p:cNvCxnSpPr/>
              <p:nvPr/>
            </p:nvCxnSpPr>
            <p:spPr>
              <a:xfrm flipH="1">
                <a:off x="2365675" y="2568786"/>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338" name="Google Shape;1338;p29"/>
              <p:cNvCxnSpPr/>
              <p:nvPr/>
            </p:nvCxnSpPr>
            <p:spPr>
              <a:xfrm flipH="1">
                <a:off x="2483045" y="2566971"/>
                <a:ext cx="4536" cy="557893"/>
              </a:xfrm>
              <a:prstGeom prst="straightConnector1">
                <a:avLst/>
              </a:prstGeom>
              <a:noFill/>
              <a:ln cap="flat" cmpd="sng" w="19050">
                <a:solidFill>
                  <a:schemeClr val="dk1"/>
                </a:solidFill>
                <a:prstDash val="solid"/>
                <a:round/>
                <a:headEnd len="med" w="med" type="none"/>
                <a:tailEnd len="med" w="med" type="none"/>
              </a:ln>
            </p:spPr>
          </p:cxnSp>
        </p:grpSp>
        <p:sp>
          <p:nvSpPr>
            <p:cNvPr id="1339" name="Google Shape;1339;p29"/>
            <p:cNvSpPr/>
            <p:nvPr/>
          </p:nvSpPr>
          <p:spPr>
            <a:xfrm>
              <a:off x="2235418" y="2571262"/>
              <a:ext cx="375212" cy="552560"/>
            </a:xfrm>
            <a:prstGeom prst="rect">
              <a:avLst/>
            </a:prstGeom>
            <a:solidFill>
              <a:srgbClr val="00B050">
                <a:alpha val="7058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340" name="Google Shape;1340;p29"/>
          <p:cNvGrpSpPr/>
          <p:nvPr/>
        </p:nvGrpSpPr>
        <p:grpSpPr>
          <a:xfrm>
            <a:off x="8004017" y="4563481"/>
            <a:ext cx="1292385" cy="721744"/>
            <a:chOff x="1670312" y="2562997"/>
            <a:chExt cx="940317" cy="565219"/>
          </a:xfrm>
        </p:grpSpPr>
        <p:grpSp>
          <p:nvGrpSpPr>
            <p:cNvPr id="1341" name="Google Shape;1341;p29"/>
            <p:cNvGrpSpPr/>
            <p:nvPr/>
          </p:nvGrpSpPr>
          <p:grpSpPr>
            <a:xfrm>
              <a:off x="1670312" y="2562997"/>
              <a:ext cx="929822" cy="565219"/>
              <a:chOff x="1670312" y="2562997"/>
              <a:chExt cx="929822" cy="565219"/>
            </a:xfrm>
          </p:grpSpPr>
          <p:sp>
            <p:nvSpPr>
              <p:cNvPr id="1342" name="Google Shape;1342;p29"/>
              <p:cNvSpPr/>
              <p:nvPr/>
            </p:nvSpPr>
            <p:spPr>
              <a:xfrm>
                <a:off x="1670312" y="2562997"/>
                <a:ext cx="929822" cy="563157"/>
              </a:xfrm>
              <a:prstGeom prst="rect">
                <a:avLst/>
              </a:prstGeom>
              <a:noFill/>
              <a:ln cap="flat" cmpd="sng" w="190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343" name="Google Shape;1343;p29"/>
              <p:cNvCxnSpPr/>
              <p:nvPr/>
            </p:nvCxnSpPr>
            <p:spPr>
              <a:xfrm flipH="1">
                <a:off x="1786358" y="256753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344" name="Google Shape;1344;p29"/>
              <p:cNvCxnSpPr/>
              <p:nvPr/>
            </p:nvCxnSpPr>
            <p:spPr>
              <a:xfrm flipH="1">
                <a:off x="1911544" y="2566974"/>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345" name="Google Shape;1345;p29"/>
              <p:cNvCxnSpPr/>
              <p:nvPr/>
            </p:nvCxnSpPr>
            <p:spPr>
              <a:xfrm flipH="1">
                <a:off x="2027659" y="257032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346" name="Google Shape;1346;p29"/>
              <p:cNvCxnSpPr/>
              <p:nvPr/>
            </p:nvCxnSpPr>
            <p:spPr>
              <a:xfrm flipH="1">
                <a:off x="2134843" y="2564600"/>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347" name="Google Shape;1347;p29"/>
              <p:cNvCxnSpPr/>
              <p:nvPr/>
            </p:nvCxnSpPr>
            <p:spPr>
              <a:xfrm flipH="1">
                <a:off x="2244397" y="256669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348" name="Google Shape;1348;p29"/>
              <p:cNvCxnSpPr/>
              <p:nvPr/>
            </p:nvCxnSpPr>
            <p:spPr>
              <a:xfrm flipH="1">
                <a:off x="2365675" y="2568786"/>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349" name="Google Shape;1349;p29"/>
              <p:cNvCxnSpPr/>
              <p:nvPr/>
            </p:nvCxnSpPr>
            <p:spPr>
              <a:xfrm flipH="1">
                <a:off x="2483045" y="2566971"/>
                <a:ext cx="4536" cy="557893"/>
              </a:xfrm>
              <a:prstGeom prst="straightConnector1">
                <a:avLst/>
              </a:prstGeom>
              <a:noFill/>
              <a:ln cap="flat" cmpd="sng" w="19050">
                <a:solidFill>
                  <a:schemeClr val="dk1"/>
                </a:solidFill>
                <a:prstDash val="solid"/>
                <a:round/>
                <a:headEnd len="med" w="med" type="none"/>
                <a:tailEnd len="med" w="med" type="none"/>
              </a:ln>
            </p:spPr>
          </p:cxnSp>
        </p:grpSp>
        <p:sp>
          <p:nvSpPr>
            <p:cNvPr id="1350" name="Google Shape;1350;p29"/>
            <p:cNvSpPr/>
            <p:nvPr/>
          </p:nvSpPr>
          <p:spPr>
            <a:xfrm>
              <a:off x="2131937" y="2571262"/>
              <a:ext cx="478692" cy="552560"/>
            </a:xfrm>
            <a:prstGeom prst="rect">
              <a:avLst/>
            </a:prstGeom>
            <a:solidFill>
              <a:srgbClr val="3333CC">
                <a:alpha val="7058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351" name="Google Shape;1351;p29"/>
          <p:cNvSpPr/>
          <p:nvPr/>
        </p:nvSpPr>
        <p:spPr>
          <a:xfrm rot="5400000">
            <a:off x="6881445" y="3717354"/>
            <a:ext cx="811706" cy="665402"/>
          </a:xfrm>
          <a:prstGeom prst="triangle">
            <a:avLst>
              <a:gd fmla="val 50000" name="adj"/>
            </a:avLst>
          </a:prstGeom>
          <a:solidFill>
            <a:schemeClr val="lt1"/>
          </a:solidFill>
          <a:ln cap="flat" cmpd="sng" w="317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352" name="Google Shape;1352;p29"/>
          <p:cNvGrpSpPr/>
          <p:nvPr/>
        </p:nvGrpSpPr>
        <p:grpSpPr>
          <a:xfrm>
            <a:off x="6303665" y="3871966"/>
            <a:ext cx="567187" cy="339970"/>
            <a:chOff x="9460523" y="6049108"/>
            <a:chExt cx="567187" cy="339970"/>
          </a:xfrm>
        </p:grpSpPr>
        <p:cxnSp>
          <p:nvCxnSpPr>
            <p:cNvPr id="1353" name="Google Shape;1353;p29"/>
            <p:cNvCxnSpPr/>
            <p:nvPr/>
          </p:nvCxnSpPr>
          <p:spPr>
            <a:xfrm>
              <a:off x="9460523" y="6049108"/>
              <a:ext cx="562708" cy="0"/>
            </a:xfrm>
            <a:prstGeom prst="straightConnector1">
              <a:avLst/>
            </a:prstGeom>
            <a:noFill/>
            <a:ln cap="flat" cmpd="sng" w="38100">
              <a:solidFill>
                <a:srgbClr val="FF0000"/>
              </a:solidFill>
              <a:prstDash val="solid"/>
              <a:miter lim="800000"/>
              <a:headEnd len="sm" w="sm" type="none"/>
              <a:tailEnd len="med" w="med" type="triangle"/>
            </a:ln>
          </p:spPr>
        </p:cxnSp>
        <p:cxnSp>
          <p:nvCxnSpPr>
            <p:cNvPr id="1354" name="Google Shape;1354;p29"/>
            <p:cNvCxnSpPr/>
            <p:nvPr/>
          </p:nvCxnSpPr>
          <p:spPr>
            <a:xfrm>
              <a:off x="9461050" y="6219093"/>
              <a:ext cx="562708" cy="0"/>
            </a:xfrm>
            <a:prstGeom prst="straightConnector1">
              <a:avLst/>
            </a:prstGeom>
            <a:noFill/>
            <a:ln cap="flat" cmpd="sng" w="38100">
              <a:solidFill>
                <a:srgbClr val="00B050"/>
              </a:solidFill>
              <a:prstDash val="solid"/>
              <a:miter lim="800000"/>
              <a:headEnd len="sm" w="sm" type="none"/>
              <a:tailEnd len="med" w="med" type="triangle"/>
            </a:ln>
          </p:spPr>
        </p:cxnSp>
        <p:cxnSp>
          <p:nvCxnSpPr>
            <p:cNvPr id="1355" name="Google Shape;1355;p29"/>
            <p:cNvCxnSpPr/>
            <p:nvPr/>
          </p:nvCxnSpPr>
          <p:spPr>
            <a:xfrm>
              <a:off x="9465002" y="6389078"/>
              <a:ext cx="562708" cy="0"/>
            </a:xfrm>
            <a:prstGeom prst="straightConnector1">
              <a:avLst/>
            </a:prstGeom>
            <a:noFill/>
            <a:ln cap="flat" cmpd="sng" w="38100">
              <a:solidFill>
                <a:srgbClr val="3333CC"/>
              </a:solidFill>
              <a:prstDash val="solid"/>
              <a:miter lim="800000"/>
              <a:headEnd len="sm" w="sm" type="none"/>
              <a:tailEnd len="med" w="med" type="triangle"/>
            </a:ln>
          </p:spPr>
        </p:cxnSp>
      </p:grpSp>
      <p:grpSp>
        <p:nvGrpSpPr>
          <p:cNvPr id="1356" name="Google Shape;1356;p29"/>
          <p:cNvGrpSpPr/>
          <p:nvPr/>
        </p:nvGrpSpPr>
        <p:grpSpPr>
          <a:xfrm>
            <a:off x="11245773" y="3893738"/>
            <a:ext cx="567187" cy="339970"/>
            <a:chOff x="9460523" y="6049108"/>
            <a:chExt cx="567187" cy="339970"/>
          </a:xfrm>
        </p:grpSpPr>
        <p:cxnSp>
          <p:nvCxnSpPr>
            <p:cNvPr id="1357" name="Google Shape;1357;p29"/>
            <p:cNvCxnSpPr/>
            <p:nvPr/>
          </p:nvCxnSpPr>
          <p:spPr>
            <a:xfrm>
              <a:off x="9460523" y="6049108"/>
              <a:ext cx="562708" cy="0"/>
            </a:xfrm>
            <a:prstGeom prst="straightConnector1">
              <a:avLst/>
            </a:prstGeom>
            <a:noFill/>
            <a:ln cap="flat" cmpd="sng" w="38100">
              <a:solidFill>
                <a:srgbClr val="FF0000"/>
              </a:solidFill>
              <a:prstDash val="solid"/>
              <a:miter lim="800000"/>
              <a:headEnd len="sm" w="sm" type="none"/>
              <a:tailEnd len="med" w="med" type="triangle"/>
            </a:ln>
          </p:spPr>
        </p:cxnSp>
        <p:cxnSp>
          <p:nvCxnSpPr>
            <p:cNvPr id="1358" name="Google Shape;1358;p29"/>
            <p:cNvCxnSpPr/>
            <p:nvPr/>
          </p:nvCxnSpPr>
          <p:spPr>
            <a:xfrm>
              <a:off x="9461050" y="6219093"/>
              <a:ext cx="562708" cy="0"/>
            </a:xfrm>
            <a:prstGeom prst="straightConnector1">
              <a:avLst/>
            </a:prstGeom>
            <a:noFill/>
            <a:ln cap="flat" cmpd="sng" w="38100">
              <a:solidFill>
                <a:srgbClr val="00B050"/>
              </a:solidFill>
              <a:prstDash val="solid"/>
              <a:miter lim="800000"/>
              <a:headEnd len="sm" w="sm" type="none"/>
              <a:tailEnd len="med" w="med" type="triangle"/>
            </a:ln>
          </p:spPr>
        </p:cxnSp>
        <p:cxnSp>
          <p:nvCxnSpPr>
            <p:cNvPr id="1359" name="Google Shape;1359;p29"/>
            <p:cNvCxnSpPr/>
            <p:nvPr/>
          </p:nvCxnSpPr>
          <p:spPr>
            <a:xfrm>
              <a:off x="9465002" y="6389078"/>
              <a:ext cx="562708" cy="0"/>
            </a:xfrm>
            <a:prstGeom prst="straightConnector1">
              <a:avLst/>
            </a:prstGeom>
            <a:noFill/>
            <a:ln cap="flat" cmpd="sng" w="38100">
              <a:solidFill>
                <a:srgbClr val="3333CC"/>
              </a:solidFill>
              <a:prstDash val="solid"/>
              <a:miter lim="800000"/>
              <a:headEnd len="sm" w="sm" type="none"/>
              <a:tailEnd len="med" w="med" type="triangle"/>
            </a:ln>
          </p:spPr>
        </p:cxnSp>
      </p:grpSp>
      <p:sp>
        <p:nvSpPr>
          <p:cNvPr id="1360" name="Google Shape;1360;p29"/>
          <p:cNvSpPr txBox="1"/>
          <p:nvPr/>
        </p:nvSpPr>
        <p:spPr>
          <a:xfrm>
            <a:off x="6576771" y="4550229"/>
            <a:ext cx="990656" cy="590931"/>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classify </a:t>
            </a:r>
            <a:endParaRPr/>
          </a:p>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arrivals</a:t>
            </a:r>
            <a:endParaRPr/>
          </a:p>
        </p:txBody>
      </p:sp>
      <p:sp>
        <p:nvSpPr>
          <p:cNvPr id="1361" name="Google Shape;1361;p29"/>
          <p:cNvSpPr txBox="1"/>
          <p:nvPr/>
        </p:nvSpPr>
        <p:spPr>
          <a:xfrm>
            <a:off x="10609189" y="4515922"/>
            <a:ext cx="1332224" cy="34471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departures</a:t>
            </a:r>
            <a:endParaRPr/>
          </a:p>
        </p:txBody>
      </p:sp>
      <p:cxnSp>
        <p:nvCxnSpPr>
          <p:cNvPr id="1362" name="Google Shape;1362;p29"/>
          <p:cNvCxnSpPr>
            <a:stCxn id="1351" idx="0"/>
          </p:cNvCxnSpPr>
          <p:nvPr/>
        </p:nvCxnSpPr>
        <p:spPr>
          <a:xfrm flipH="1" rot="10800000">
            <a:off x="7619999" y="3067555"/>
            <a:ext cx="682500" cy="982500"/>
          </a:xfrm>
          <a:prstGeom prst="straightConnector1">
            <a:avLst/>
          </a:prstGeom>
          <a:noFill/>
          <a:ln cap="flat" cmpd="sng" w="38100">
            <a:solidFill>
              <a:srgbClr val="FF0000"/>
            </a:solidFill>
            <a:prstDash val="solid"/>
            <a:miter lim="800000"/>
            <a:headEnd len="sm" w="sm" type="none"/>
            <a:tailEnd len="med" w="med" type="triangle"/>
          </a:ln>
        </p:spPr>
      </p:cxnSp>
      <p:cxnSp>
        <p:nvCxnSpPr>
          <p:cNvPr id="1363" name="Google Shape;1363;p29"/>
          <p:cNvCxnSpPr/>
          <p:nvPr/>
        </p:nvCxnSpPr>
        <p:spPr>
          <a:xfrm>
            <a:off x="7635460" y="4051945"/>
            <a:ext cx="696572" cy="0"/>
          </a:xfrm>
          <a:prstGeom prst="straightConnector1">
            <a:avLst/>
          </a:prstGeom>
          <a:noFill/>
          <a:ln cap="flat" cmpd="sng" w="38100">
            <a:solidFill>
              <a:srgbClr val="00B050"/>
            </a:solidFill>
            <a:prstDash val="solid"/>
            <a:miter lim="800000"/>
            <a:headEnd len="sm" w="sm" type="none"/>
            <a:tailEnd len="med" w="med" type="triangle"/>
          </a:ln>
        </p:spPr>
      </p:cxnSp>
      <p:cxnSp>
        <p:nvCxnSpPr>
          <p:cNvPr id="1364" name="Google Shape;1364;p29"/>
          <p:cNvCxnSpPr>
            <a:stCxn id="1351" idx="0"/>
          </p:cNvCxnSpPr>
          <p:nvPr/>
        </p:nvCxnSpPr>
        <p:spPr>
          <a:xfrm>
            <a:off x="7619999" y="4050055"/>
            <a:ext cx="682200" cy="871500"/>
          </a:xfrm>
          <a:prstGeom prst="straightConnector1">
            <a:avLst/>
          </a:prstGeom>
          <a:noFill/>
          <a:ln cap="flat" cmpd="sng" w="38100">
            <a:solidFill>
              <a:srgbClr val="3333CC"/>
            </a:solidFill>
            <a:prstDash val="solid"/>
            <a:miter lim="800000"/>
            <a:headEnd len="sm" w="sm" type="none"/>
            <a:tailEnd len="med" w="med" type="triangle"/>
          </a:ln>
        </p:spPr>
      </p:cxnSp>
      <p:cxnSp>
        <p:nvCxnSpPr>
          <p:cNvPr id="1365" name="Google Shape;1365;p29"/>
          <p:cNvCxnSpPr>
            <a:stCxn id="1320" idx="3"/>
            <a:endCxn id="1366" idx="2"/>
          </p:cNvCxnSpPr>
          <p:nvPr/>
        </p:nvCxnSpPr>
        <p:spPr>
          <a:xfrm>
            <a:off x="9250094" y="3097958"/>
            <a:ext cx="664200" cy="942600"/>
          </a:xfrm>
          <a:prstGeom prst="straightConnector1">
            <a:avLst/>
          </a:prstGeom>
          <a:noFill/>
          <a:ln cap="flat" cmpd="sng" w="38100">
            <a:solidFill>
              <a:srgbClr val="FF0000"/>
            </a:solidFill>
            <a:prstDash val="solid"/>
            <a:miter lim="800000"/>
            <a:headEnd len="sm" w="sm" type="none"/>
            <a:tailEnd len="sm" w="sm" type="none"/>
          </a:ln>
        </p:spPr>
      </p:cxnSp>
      <p:cxnSp>
        <p:nvCxnSpPr>
          <p:cNvPr id="1367" name="Google Shape;1367;p29"/>
          <p:cNvCxnSpPr>
            <a:stCxn id="1342" idx="3"/>
            <a:endCxn id="1366" idx="2"/>
          </p:cNvCxnSpPr>
          <p:nvPr/>
        </p:nvCxnSpPr>
        <p:spPr>
          <a:xfrm flipH="1" rot="10800000">
            <a:off x="9281978" y="4040736"/>
            <a:ext cx="632400" cy="882300"/>
          </a:xfrm>
          <a:prstGeom prst="straightConnector1">
            <a:avLst/>
          </a:prstGeom>
          <a:noFill/>
          <a:ln cap="flat" cmpd="sng" w="38100">
            <a:solidFill>
              <a:srgbClr val="3333CC"/>
            </a:solidFill>
            <a:prstDash val="solid"/>
            <a:miter lim="800000"/>
            <a:headEnd len="sm" w="sm" type="none"/>
            <a:tailEnd len="sm" w="sm" type="none"/>
          </a:ln>
        </p:spPr>
      </p:cxnSp>
      <p:cxnSp>
        <p:nvCxnSpPr>
          <p:cNvPr id="1368" name="Google Shape;1368;p29"/>
          <p:cNvCxnSpPr>
            <a:stCxn id="1339" idx="3"/>
            <a:endCxn id="1366" idx="2"/>
          </p:cNvCxnSpPr>
          <p:nvPr/>
        </p:nvCxnSpPr>
        <p:spPr>
          <a:xfrm>
            <a:off x="9300266" y="4039538"/>
            <a:ext cx="614100" cy="1200"/>
          </a:xfrm>
          <a:prstGeom prst="straightConnector1">
            <a:avLst/>
          </a:prstGeom>
          <a:noFill/>
          <a:ln cap="flat" cmpd="sng" w="38100">
            <a:solidFill>
              <a:srgbClr val="00B050"/>
            </a:solidFill>
            <a:prstDash val="solid"/>
            <a:miter lim="800000"/>
            <a:headEnd len="sm" w="sm" type="none"/>
            <a:tailEnd len="sm" w="sm" type="none"/>
          </a:ln>
        </p:spPr>
      </p:cxnSp>
      <p:grpSp>
        <p:nvGrpSpPr>
          <p:cNvPr id="1369" name="Google Shape;1369;p29"/>
          <p:cNvGrpSpPr/>
          <p:nvPr/>
        </p:nvGrpSpPr>
        <p:grpSpPr>
          <a:xfrm>
            <a:off x="9914343" y="3604072"/>
            <a:ext cx="877582" cy="1252645"/>
            <a:chOff x="9827263" y="3125100"/>
            <a:chExt cx="877582" cy="1252645"/>
          </a:xfrm>
        </p:grpSpPr>
        <p:sp>
          <p:nvSpPr>
            <p:cNvPr id="1366" name="Google Shape;1366;p29"/>
            <p:cNvSpPr/>
            <p:nvPr/>
          </p:nvSpPr>
          <p:spPr>
            <a:xfrm>
              <a:off x="9827263" y="3125100"/>
              <a:ext cx="877582" cy="873172"/>
            </a:xfrm>
            <a:prstGeom prst="ellipse">
              <a:avLst/>
            </a:prstGeom>
            <a:solidFill>
              <a:srgbClr val="FFFFFF"/>
            </a:solidFill>
            <a:ln cap="flat" cmpd="sng" w="28575">
              <a:solidFill>
                <a:schemeClr val="dk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0" name="Google Shape;1370;p29"/>
            <p:cNvSpPr txBox="1"/>
            <p:nvPr/>
          </p:nvSpPr>
          <p:spPr>
            <a:xfrm>
              <a:off x="9952468" y="4033035"/>
              <a:ext cx="554960" cy="34471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link</a:t>
              </a:r>
              <a:endParaRPr/>
            </a:p>
          </p:txBody>
        </p:sp>
        <p:sp>
          <p:nvSpPr>
            <p:cNvPr id="1371" name="Google Shape;1371;p29"/>
            <p:cNvSpPr txBox="1"/>
            <p:nvPr/>
          </p:nvSpPr>
          <p:spPr>
            <a:xfrm>
              <a:off x="10086588" y="3391108"/>
              <a:ext cx="351378" cy="395173"/>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sp>
        <p:nvSpPr>
          <p:cNvPr id="1372" name="Google Shape;1372;p29"/>
          <p:cNvSpPr/>
          <p:nvPr/>
        </p:nvSpPr>
        <p:spPr>
          <a:xfrm>
            <a:off x="9470570" y="2939143"/>
            <a:ext cx="348343" cy="2177143"/>
          </a:xfrm>
          <a:prstGeom prst="ellipse">
            <a:avLst/>
          </a:prstGeom>
          <a:noFill/>
          <a:ln cap="flat" cmpd="sng" w="412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73" name="Google Shape;1373;p29"/>
          <p:cNvSpPr/>
          <p:nvPr/>
        </p:nvSpPr>
        <p:spPr>
          <a:xfrm>
            <a:off x="9716218" y="3095651"/>
            <a:ext cx="195532" cy="5865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374" name="Google Shape;1374;p29"/>
          <p:cNvCxnSpPr/>
          <p:nvPr/>
        </p:nvCxnSpPr>
        <p:spPr>
          <a:xfrm rot="10800000">
            <a:off x="9812751" y="3556958"/>
            <a:ext cx="0" cy="261257"/>
          </a:xfrm>
          <a:prstGeom prst="straightConnector1">
            <a:avLst/>
          </a:prstGeom>
          <a:noFill/>
          <a:ln cap="flat" cmpd="sng" w="38100">
            <a:solidFill>
              <a:schemeClr val="dk1"/>
            </a:solidFill>
            <a:prstDash val="solid"/>
            <a:miter lim="800000"/>
            <a:headEnd len="sm" w="sm" type="none"/>
            <a:tailEnd len="med" w="med" type="triangle"/>
          </a:ln>
        </p:spPr>
      </p:cxnSp>
      <p:sp>
        <p:nvSpPr>
          <p:cNvPr id="1375" name="Google Shape;1375;p29"/>
          <p:cNvSpPr txBox="1"/>
          <p:nvPr/>
        </p:nvSpPr>
        <p:spPr>
          <a:xfrm>
            <a:off x="703011" y="3920647"/>
            <a:ext cx="5155396" cy="2347632"/>
          </a:xfrm>
          <a:prstGeom prst="rect">
            <a:avLst/>
          </a:prstGeom>
          <a:noFill/>
          <a:ln>
            <a:noFill/>
          </a:ln>
        </p:spPr>
        <p:txBody>
          <a:bodyPr anchorCtr="0" anchor="t" bIns="45700" lIns="91425" spcFirstLastPara="1" rIns="91425" wrap="square" tIns="45700">
            <a:normAutofit/>
          </a:bodyPr>
          <a:lstStyle/>
          <a:p>
            <a:pPr indent="-223837" lvl="0" marL="461963"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server cyclically, repeatedly  scans class queues, sending one complete packet from each class (if available) in turn</a:t>
            </a:r>
            <a:endParaRPr/>
          </a:p>
        </p:txBody>
      </p:sp>
      <p:sp>
        <p:nvSpPr>
          <p:cNvPr id="1376" name="Google Shape;1376;p29"/>
          <p:cNvSpPr/>
          <p:nvPr/>
        </p:nvSpPr>
        <p:spPr>
          <a:xfrm>
            <a:off x="4419600" y="5203371"/>
            <a:ext cx="5203371" cy="762000"/>
          </a:xfrm>
          <a:custGeom>
            <a:rect b="b" l="l" r="r" t="t"/>
            <a:pathLst>
              <a:path extrusionOk="0" h="762000" w="5203371">
                <a:moveTo>
                  <a:pt x="0" y="762000"/>
                </a:moveTo>
                <a:lnTo>
                  <a:pt x="5203371" y="762000"/>
                </a:lnTo>
                <a:lnTo>
                  <a:pt x="5203371" y="0"/>
                </a:lnTo>
              </a:path>
            </a:pathLst>
          </a:cu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77" name="Google Shape;1377;p29"/>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5"/>
                                        </p:tgtEl>
                                        <p:attrNameLst>
                                          <p:attrName>style.visibility</p:attrName>
                                        </p:attrNameLst>
                                      </p:cBhvr>
                                      <p:to>
                                        <p:strVal val="visible"/>
                                      </p:to>
                                    </p:set>
                                    <p:animEffect filter="fade" transition="in">
                                      <p:cBhvr>
                                        <p:cTn dur="500"/>
                                        <p:tgtEl>
                                          <p:spTgt spid="137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72"/>
                                        </p:tgtEl>
                                        <p:attrNameLst>
                                          <p:attrName>style.visibility</p:attrName>
                                        </p:attrNameLst>
                                      </p:cBhvr>
                                      <p:to>
                                        <p:strVal val="visible"/>
                                      </p:to>
                                    </p:set>
                                    <p:animEffect filter="fade" transition="in">
                                      <p:cBhvr>
                                        <p:cTn dur="500"/>
                                        <p:tgtEl>
                                          <p:spTgt spid="1372"/>
                                        </p:tgtEl>
                                      </p:cBhvr>
                                    </p:animEffect>
                                  </p:childTnLst>
                                </p:cTn>
                              </p:par>
                              <p:par>
                                <p:cTn fill="hold" nodeType="withEffect" presetClass="entr" presetID="10" presetSubtype="0">
                                  <p:stCondLst>
                                    <p:cond delay="0"/>
                                  </p:stCondLst>
                                  <p:childTnLst>
                                    <p:set>
                                      <p:cBhvr>
                                        <p:cTn dur="1" fill="hold">
                                          <p:stCondLst>
                                            <p:cond delay="0"/>
                                          </p:stCondLst>
                                        </p:cTn>
                                        <p:tgtEl>
                                          <p:spTgt spid="1376"/>
                                        </p:tgtEl>
                                        <p:attrNameLst>
                                          <p:attrName>style.visibility</p:attrName>
                                        </p:attrNameLst>
                                      </p:cBhvr>
                                      <p:to>
                                        <p:strVal val="visible"/>
                                      </p:to>
                                    </p:set>
                                    <p:animEffect filter="fade" transition="in">
                                      <p:cBhvr>
                                        <p:cTn dur="500"/>
                                        <p:tgtEl>
                                          <p:spTgt spid="1376"/>
                                        </p:tgtEl>
                                      </p:cBhvr>
                                    </p:animEffect>
                                  </p:childTnLst>
                                </p:cTn>
                              </p:par>
                              <p:par>
                                <p:cTn fill="hold" nodeType="withEffect" presetClass="entr" presetID="10" presetSubtype="0">
                                  <p:stCondLst>
                                    <p:cond delay="0"/>
                                  </p:stCondLst>
                                  <p:childTnLst>
                                    <p:set>
                                      <p:cBhvr>
                                        <p:cTn dur="1" fill="hold">
                                          <p:stCondLst>
                                            <p:cond delay="0"/>
                                          </p:stCondLst>
                                        </p:cTn>
                                        <p:tgtEl>
                                          <p:spTgt spid="1374"/>
                                        </p:tgtEl>
                                        <p:attrNameLst>
                                          <p:attrName>style.visibility</p:attrName>
                                        </p:attrNameLst>
                                      </p:cBhvr>
                                      <p:to>
                                        <p:strVal val="visible"/>
                                      </p:to>
                                    </p:set>
                                    <p:animEffect filter="fade" transition="in">
                                      <p:cBhvr>
                                        <p:cTn dur="500"/>
                                        <p:tgtEl>
                                          <p:spTgt spid="13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2" name="Shape 1382"/>
        <p:cNvGrpSpPr/>
        <p:nvPr/>
      </p:nvGrpSpPr>
      <p:grpSpPr>
        <a:xfrm>
          <a:off x="0" y="0"/>
          <a:ext cx="0" cy="0"/>
          <a:chOff x="0" y="0"/>
          <a:chExt cx="0" cy="0"/>
        </a:xfrm>
      </p:grpSpPr>
      <p:sp>
        <p:nvSpPr>
          <p:cNvPr id="1383" name="Google Shape;1383;p30"/>
          <p:cNvSpPr txBox="1"/>
          <p:nvPr>
            <p:ph idx="1" type="body"/>
          </p:nvPr>
        </p:nvSpPr>
        <p:spPr>
          <a:xfrm>
            <a:off x="788205" y="1692388"/>
            <a:ext cx="5557988" cy="1116126"/>
          </a:xfrm>
          <a:prstGeom prst="rect">
            <a:avLst/>
          </a:prstGeom>
          <a:noFill/>
          <a:ln>
            <a:noFill/>
          </a:ln>
        </p:spPr>
        <p:txBody>
          <a:bodyPr anchorCtr="0" anchor="t" bIns="45700" lIns="91425" spcFirstLastPara="1" rIns="91425" wrap="square" tIns="45700">
            <a:normAutofit/>
          </a:bodyPr>
          <a:lstStyle/>
          <a:p>
            <a:pPr indent="-222250" lvl="0" marL="352425" rtl="0" algn="l">
              <a:lnSpc>
                <a:spcPct val="90000"/>
              </a:lnSpc>
              <a:spcBef>
                <a:spcPts val="0"/>
              </a:spcBef>
              <a:spcAft>
                <a:spcPts val="0"/>
              </a:spcAft>
              <a:buSzPts val="3200"/>
              <a:buNone/>
            </a:pPr>
            <a:r>
              <a:rPr i="1" lang="en-US" sz="3200">
                <a:solidFill>
                  <a:srgbClr val="CC0000"/>
                </a:solidFill>
              </a:rPr>
              <a:t>Weighted Fair Queuing (WFQ): </a:t>
            </a:r>
            <a:endParaRPr/>
          </a:p>
          <a:p>
            <a:pPr indent="-284163" lvl="0" marL="582613" rtl="0" algn="l">
              <a:lnSpc>
                <a:spcPct val="90000"/>
              </a:lnSpc>
              <a:spcBef>
                <a:spcPts val="1000"/>
              </a:spcBef>
              <a:spcAft>
                <a:spcPts val="0"/>
              </a:spcAft>
              <a:buSzPts val="3200"/>
              <a:buChar char="▪"/>
            </a:pPr>
            <a:r>
              <a:rPr lang="en-US" sz="3200"/>
              <a:t>generalized Round Robin</a:t>
            </a:r>
            <a:endParaRPr/>
          </a:p>
        </p:txBody>
      </p:sp>
      <p:sp>
        <p:nvSpPr>
          <p:cNvPr id="1384" name="Google Shape;1384;p30"/>
          <p:cNvSpPr txBox="1"/>
          <p:nvPr>
            <p:ph type="title"/>
          </p:nvPr>
        </p:nvSpPr>
        <p:spPr>
          <a:xfrm>
            <a:off x="838200" y="311144"/>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Scheduling policies: weighted fair queueing</a:t>
            </a:r>
            <a:endParaRPr/>
          </a:p>
        </p:txBody>
      </p:sp>
      <p:cxnSp>
        <p:nvCxnSpPr>
          <p:cNvPr id="1385" name="Google Shape;1385;p30"/>
          <p:cNvCxnSpPr/>
          <p:nvPr/>
        </p:nvCxnSpPr>
        <p:spPr>
          <a:xfrm>
            <a:off x="10755082" y="4071258"/>
            <a:ext cx="457200" cy="0"/>
          </a:xfrm>
          <a:prstGeom prst="straightConnector1">
            <a:avLst/>
          </a:prstGeom>
          <a:noFill/>
          <a:ln cap="flat" cmpd="sng" w="38100">
            <a:solidFill>
              <a:schemeClr val="dk1"/>
            </a:solidFill>
            <a:prstDash val="solid"/>
            <a:miter lim="800000"/>
            <a:headEnd len="sm" w="sm" type="none"/>
            <a:tailEnd len="sm" w="sm" type="none"/>
          </a:ln>
        </p:spPr>
      </p:cxnSp>
      <p:grpSp>
        <p:nvGrpSpPr>
          <p:cNvPr id="1386" name="Google Shape;1386;p30"/>
          <p:cNvGrpSpPr/>
          <p:nvPr/>
        </p:nvGrpSpPr>
        <p:grpSpPr>
          <a:xfrm>
            <a:off x="7990116" y="2719344"/>
            <a:ext cx="1310150" cy="2565881"/>
            <a:chOff x="8117411" y="2240372"/>
            <a:chExt cx="1444110" cy="2565881"/>
          </a:xfrm>
        </p:grpSpPr>
        <p:grpSp>
          <p:nvGrpSpPr>
            <p:cNvPr id="1387" name="Google Shape;1387;p30"/>
            <p:cNvGrpSpPr/>
            <p:nvPr/>
          </p:nvGrpSpPr>
          <p:grpSpPr>
            <a:xfrm>
              <a:off x="8117411" y="2240372"/>
              <a:ext cx="1404483" cy="760001"/>
              <a:chOff x="1670312" y="2562997"/>
              <a:chExt cx="940317" cy="565219"/>
            </a:xfrm>
          </p:grpSpPr>
          <p:grpSp>
            <p:nvGrpSpPr>
              <p:cNvPr id="1388" name="Google Shape;1388;p30"/>
              <p:cNvGrpSpPr/>
              <p:nvPr/>
            </p:nvGrpSpPr>
            <p:grpSpPr>
              <a:xfrm>
                <a:off x="1670312" y="2562997"/>
                <a:ext cx="929822" cy="565219"/>
                <a:chOff x="1670312" y="2562997"/>
                <a:chExt cx="929822" cy="565219"/>
              </a:xfrm>
            </p:grpSpPr>
            <p:sp>
              <p:nvSpPr>
                <p:cNvPr id="1389" name="Google Shape;1389;p30"/>
                <p:cNvSpPr/>
                <p:nvPr/>
              </p:nvSpPr>
              <p:spPr>
                <a:xfrm>
                  <a:off x="1670312" y="2562997"/>
                  <a:ext cx="929822" cy="563157"/>
                </a:xfrm>
                <a:prstGeom prst="rect">
                  <a:avLst/>
                </a:prstGeom>
                <a:noFill/>
                <a:ln cap="flat" cmpd="sng" w="190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390" name="Google Shape;1390;p30"/>
                <p:cNvCxnSpPr/>
                <p:nvPr/>
              </p:nvCxnSpPr>
              <p:spPr>
                <a:xfrm flipH="1">
                  <a:off x="1786358" y="256753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391" name="Google Shape;1391;p30"/>
                <p:cNvCxnSpPr/>
                <p:nvPr/>
              </p:nvCxnSpPr>
              <p:spPr>
                <a:xfrm flipH="1">
                  <a:off x="1911544" y="2566974"/>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392" name="Google Shape;1392;p30"/>
                <p:cNvCxnSpPr/>
                <p:nvPr/>
              </p:nvCxnSpPr>
              <p:spPr>
                <a:xfrm flipH="1">
                  <a:off x="2027659" y="257032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393" name="Google Shape;1393;p30"/>
                <p:cNvCxnSpPr/>
                <p:nvPr/>
              </p:nvCxnSpPr>
              <p:spPr>
                <a:xfrm flipH="1">
                  <a:off x="2134843" y="2564600"/>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394" name="Google Shape;1394;p30"/>
                <p:cNvCxnSpPr/>
                <p:nvPr/>
              </p:nvCxnSpPr>
              <p:spPr>
                <a:xfrm flipH="1">
                  <a:off x="2244397" y="256669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395" name="Google Shape;1395;p30"/>
                <p:cNvCxnSpPr/>
                <p:nvPr/>
              </p:nvCxnSpPr>
              <p:spPr>
                <a:xfrm flipH="1">
                  <a:off x="2365675" y="2568786"/>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396" name="Google Shape;1396;p30"/>
                <p:cNvCxnSpPr/>
                <p:nvPr/>
              </p:nvCxnSpPr>
              <p:spPr>
                <a:xfrm flipH="1">
                  <a:off x="2483045" y="2566971"/>
                  <a:ext cx="4536" cy="557893"/>
                </a:xfrm>
                <a:prstGeom prst="straightConnector1">
                  <a:avLst/>
                </a:prstGeom>
                <a:noFill/>
                <a:ln cap="flat" cmpd="sng" w="19050">
                  <a:solidFill>
                    <a:schemeClr val="dk1"/>
                  </a:solidFill>
                  <a:prstDash val="solid"/>
                  <a:round/>
                  <a:headEnd len="med" w="med" type="none"/>
                  <a:tailEnd len="med" w="med" type="none"/>
                </a:ln>
              </p:spPr>
            </p:cxnSp>
          </p:grpSp>
          <p:sp>
            <p:nvSpPr>
              <p:cNvPr id="1397" name="Google Shape;1397;p30"/>
              <p:cNvSpPr/>
              <p:nvPr/>
            </p:nvSpPr>
            <p:spPr>
              <a:xfrm>
                <a:off x="1916862" y="2571262"/>
                <a:ext cx="693767" cy="552560"/>
              </a:xfrm>
              <a:prstGeom prst="rect">
                <a:avLst/>
              </a:prstGeom>
              <a:solidFill>
                <a:srgbClr val="FF0000">
                  <a:alpha val="7058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398" name="Google Shape;1398;p30"/>
            <p:cNvGrpSpPr/>
            <p:nvPr/>
          </p:nvGrpSpPr>
          <p:grpSpPr>
            <a:xfrm>
              <a:off x="8136990" y="3176315"/>
              <a:ext cx="1424531" cy="763274"/>
              <a:chOff x="1670312" y="2562997"/>
              <a:chExt cx="940318" cy="565219"/>
            </a:xfrm>
          </p:grpSpPr>
          <p:grpSp>
            <p:nvGrpSpPr>
              <p:cNvPr id="1399" name="Google Shape;1399;p30"/>
              <p:cNvGrpSpPr/>
              <p:nvPr/>
            </p:nvGrpSpPr>
            <p:grpSpPr>
              <a:xfrm>
                <a:off x="1670312" y="2562997"/>
                <a:ext cx="929822" cy="565219"/>
                <a:chOff x="1670312" y="2562997"/>
                <a:chExt cx="929822" cy="565219"/>
              </a:xfrm>
            </p:grpSpPr>
            <p:sp>
              <p:nvSpPr>
                <p:cNvPr id="1400" name="Google Shape;1400;p30"/>
                <p:cNvSpPr/>
                <p:nvPr/>
              </p:nvSpPr>
              <p:spPr>
                <a:xfrm>
                  <a:off x="1670312" y="2562997"/>
                  <a:ext cx="929822" cy="563157"/>
                </a:xfrm>
                <a:prstGeom prst="rect">
                  <a:avLst/>
                </a:prstGeom>
                <a:noFill/>
                <a:ln cap="flat" cmpd="sng" w="190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401" name="Google Shape;1401;p30"/>
                <p:cNvCxnSpPr/>
                <p:nvPr/>
              </p:nvCxnSpPr>
              <p:spPr>
                <a:xfrm flipH="1">
                  <a:off x="1786358" y="256753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402" name="Google Shape;1402;p30"/>
                <p:cNvCxnSpPr/>
                <p:nvPr/>
              </p:nvCxnSpPr>
              <p:spPr>
                <a:xfrm flipH="1">
                  <a:off x="1911544" y="2566974"/>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403" name="Google Shape;1403;p30"/>
                <p:cNvCxnSpPr/>
                <p:nvPr/>
              </p:nvCxnSpPr>
              <p:spPr>
                <a:xfrm flipH="1">
                  <a:off x="2027659" y="257032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404" name="Google Shape;1404;p30"/>
                <p:cNvCxnSpPr/>
                <p:nvPr/>
              </p:nvCxnSpPr>
              <p:spPr>
                <a:xfrm flipH="1">
                  <a:off x="2134843" y="2564600"/>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405" name="Google Shape;1405;p30"/>
                <p:cNvCxnSpPr/>
                <p:nvPr/>
              </p:nvCxnSpPr>
              <p:spPr>
                <a:xfrm flipH="1">
                  <a:off x="2244397" y="256669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406" name="Google Shape;1406;p30"/>
                <p:cNvCxnSpPr/>
                <p:nvPr/>
              </p:nvCxnSpPr>
              <p:spPr>
                <a:xfrm flipH="1">
                  <a:off x="2365675" y="2568786"/>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407" name="Google Shape;1407;p30"/>
                <p:cNvCxnSpPr/>
                <p:nvPr/>
              </p:nvCxnSpPr>
              <p:spPr>
                <a:xfrm flipH="1">
                  <a:off x="2483045" y="2566971"/>
                  <a:ext cx="4536" cy="557893"/>
                </a:xfrm>
                <a:prstGeom prst="straightConnector1">
                  <a:avLst/>
                </a:prstGeom>
                <a:noFill/>
                <a:ln cap="flat" cmpd="sng" w="19050">
                  <a:solidFill>
                    <a:schemeClr val="dk1"/>
                  </a:solidFill>
                  <a:prstDash val="solid"/>
                  <a:round/>
                  <a:headEnd len="med" w="med" type="none"/>
                  <a:tailEnd len="med" w="med" type="none"/>
                </a:ln>
              </p:spPr>
            </p:cxnSp>
          </p:grpSp>
          <p:sp>
            <p:nvSpPr>
              <p:cNvPr id="1408" name="Google Shape;1408;p30"/>
              <p:cNvSpPr/>
              <p:nvPr/>
            </p:nvSpPr>
            <p:spPr>
              <a:xfrm>
                <a:off x="2235418" y="2571262"/>
                <a:ext cx="375212" cy="552560"/>
              </a:xfrm>
              <a:prstGeom prst="rect">
                <a:avLst/>
              </a:prstGeom>
              <a:solidFill>
                <a:srgbClr val="00B050">
                  <a:alpha val="7058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409" name="Google Shape;1409;p30"/>
            <p:cNvGrpSpPr/>
            <p:nvPr/>
          </p:nvGrpSpPr>
          <p:grpSpPr>
            <a:xfrm>
              <a:off x="8132733" y="4084509"/>
              <a:ext cx="1424529" cy="721744"/>
              <a:chOff x="1670312" y="2562997"/>
              <a:chExt cx="940317" cy="565219"/>
            </a:xfrm>
          </p:grpSpPr>
          <p:grpSp>
            <p:nvGrpSpPr>
              <p:cNvPr id="1410" name="Google Shape;1410;p30"/>
              <p:cNvGrpSpPr/>
              <p:nvPr/>
            </p:nvGrpSpPr>
            <p:grpSpPr>
              <a:xfrm>
                <a:off x="1670312" y="2562997"/>
                <a:ext cx="929822" cy="565219"/>
                <a:chOff x="1670312" y="2562997"/>
                <a:chExt cx="929822" cy="565219"/>
              </a:xfrm>
            </p:grpSpPr>
            <p:sp>
              <p:nvSpPr>
                <p:cNvPr id="1411" name="Google Shape;1411;p30"/>
                <p:cNvSpPr/>
                <p:nvPr/>
              </p:nvSpPr>
              <p:spPr>
                <a:xfrm>
                  <a:off x="1670312" y="2562997"/>
                  <a:ext cx="929822" cy="563157"/>
                </a:xfrm>
                <a:prstGeom prst="rect">
                  <a:avLst/>
                </a:prstGeom>
                <a:noFill/>
                <a:ln cap="flat" cmpd="sng" w="190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cxnSp>
              <p:nvCxnSpPr>
                <p:cNvPr id="1412" name="Google Shape;1412;p30"/>
                <p:cNvCxnSpPr/>
                <p:nvPr/>
              </p:nvCxnSpPr>
              <p:spPr>
                <a:xfrm flipH="1">
                  <a:off x="1786358" y="256753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413" name="Google Shape;1413;p30"/>
                <p:cNvCxnSpPr/>
                <p:nvPr/>
              </p:nvCxnSpPr>
              <p:spPr>
                <a:xfrm flipH="1">
                  <a:off x="1911544" y="2566974"/>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414" name="Google Shape;1414;p30"/>
                <p:cNvCxnSpPr/>
                <p:nvPr/>
              </p:nvCxnSpPr>
              <p:spPr>
                <a:xfrm flipH="1">
                  <a:off x="2027659" y="257032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415" name="Google Shape;1415;p30"/>
                <p:cNvCxnSpPr/>
                <p:nvPr/>
              </p:nvCxnSpPr>
              <p:spPr>
                <a:xfrm flipH="1">
                  <a:off x="2134843" y="2564600"/>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416" name="Google Shape;1416;p30"/>
                <p:cNvCxnSpPr/>
                <p:nvPr/>
              </p:nvCxnSpPr>
              <p:spPr>
                <a:xfrm flipH="1">
                  <a:off x="2244397" y="2566693"/>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417" name="Google Shape;1417;p30"/>
                <p:cNvCxnSpPr/>
                <p:nvPr/>
              </p:nvCxnSpPr>
              <p:spPr>
                <a:xfrm flipH="1">
                  <a:off x="2365675" y="2568786"/>
                  <a:ext cx="4536" cy="557893"/>
                </a:xfrm>
                <a:prstGeom prst="straightConnector1">
                  <a:avLst/>
                </a:prstGeom>
                <a:noFill/>
                <a:ln cap="flat" cmpd="sng" w="19050">
                  <a:solidFill>
                    <a:schemeClr val="dk1"/>
                  </a:solidFill>
                  <a:prstDash val="solid"/>
                  <a:round/>
                  <a:headEnd len="med" w="med" type="none"/>
                  <a:tailEnd len="med" w="med" type="none"/>
                </a:ln>
              </p:spPr>
            </p:cxnSp>
            <p:cxnSp>
              <p:nvCxnSpPr>
                <p:cNvPr id="1418" name="Google Shape;1418;p30"/>
                <p:cNvCxnSpPr/>
                <p:nvPr/>
              </p:nvCxnSpPr>
              <p:spPr>
                <a:xfrm flipH="1">
                  <a:off x="2483045" y="2566971"/>
                  <a:ext cx="4536" cy="557893"/>
                </a:xfrm>
                <a:prstGeom prst="straightConnector1">
                  <a:avLst/>
                </a:prstGeom>
                <a:noFill/>
                <a:ln cap="flat" cmpd="sng" w="19050">
                  <a:solidFill>
                    <a:schemeClr val="dk1"/>
                  </a:solidFill>
                  <a:prstDash val="solid"/>
                  <a:round/>
                  <a:headEnd len="med" w="med" type="none"/>
                  <a:tailEnd len="med" w="med" type="none"/>
                </a:ln>
              </p:spPr>
            </p:cxnSp>
          </p:grpSp>
          <p:sp>
            <p:nvSpPr>
              <p:cNvPr id="1419" name="Google Shape;1419;p30"/>
              <p:cNvSpPr/>
              <p:nvPr/>
            </p:nvSpPr>
            <p:spPr>
              <a:xfrm>
                <a:off x="2131937" y="2571262"/>
                <a:ext cx="478692" cy="552560"/>
              </a:xfrm>
              <a:prstGeom prst="rect">
                <a:avLst/>
              </a:prstGeom>
              <a:solidFill>
                <a:srgbClr val="3333CC">
                  <a:alpha val="7058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1420" name="Google Shape;1420;p30"/>
          <p:cNvSpPr/>
          <p:nvPr/>
        </p:nvSpPr>
        <p:spPr>
          <a:xfrm rot="5400000">
            <a:off x="6881445" y="3717354"/>
            <a:ext cx="811706" cy="665402"/>
          </a:xfrm>
          <a:prstGeom prst="triangle">
            <a:avLst>
              <a:gd fmla="val 50000" name="adj"/>
            </a:avLst>
          </a:prstGeom>
          <a:solidFill>
            <a:schemeClr val="lt1"/>
          </a:solidFill>
          <a:ln cap="flat" cmpd="sng" w="31750">
            <a:solidFill>
              <a:schemeClr val="dk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421" name="Google Shape;1421;p30"/>
          <p:cNvGrpSpPr/>
          <p:nvPr/>
        </p:nvGrpSpPr>
        <p:grpSpPr>
          <a:xfrm>
            <a:off x="6303665" y="3871966"/>
            <a:ext cx="567187" cy="339970"/>
            <a:chOff x="9460523" y="6049108"/>
            <a:chExt cx="567187" cy="339970"/>
          </a:xfrm>
        </p:grpSpPr>
        <p:cxnSp>
          <p:nvCxnSpPr>
            <p:cNvPr id="1422" name="Google Shape;1422;p30"/>
            <p:cNvCxnSpPr/>
            <p:nvPr/>
          </p:nvCxnSpPr>
          <p:spPr>
            <a:xfrm>
              <a:off x="9460523" y="6049108"/>
              <a:ext cx="562708" cy="0"/>
            </a:xfrm>
            <a:prstGeom prst="straightConnector1">
              <a:avLst/>
            </a:prstGeom>
            <a:noFill/>
            <a:ln cap="flat" cmpd="sng" w="38100">
              <a:solidFill>
                <a:srgbClr val="FF0000"/>
              </a:solidFill>
              <a:prstDash val="solid"/>
              <a:miter lim="800000"/>
              <a:headEnd len="sm" w="sm" type="none"/>
              <a:tailEnd len="med" w="med" type="triangle"/>
            </a:ln>
          </p:spPr>
        </p:cxnSp>
        <p:cxnSp>
          <p:nvCxnSpPr>
            <p:cNvPr id="1423" name="Google Shape;1423;p30"/>
            <p:cNvCxnSpPr/>
            <p:nvPr/>
          </p:nvCxnSpPr>
          <p:spPr>
            <a:xfrm>
              <a:off x="9461050" y="6219093"/>
              <a:ext cx="562708" cy="0"/>
            </a:xfrm>
            <a:prstGeom prst="straightConnector1">
              <a:avLst/>
            </a:prstGeom>
            <a:noFill/>
            <a:ln cap="flat" cmpd="sng" w="38100">
              <a:solidFill>
                <a:srgbClr val="00B050"/>
              </a:solidFill>
              <a:prstDash val="solid"/>
              <a:miter lim="800000"/>
              <a:headEnd len="sm" w="sm" type="none"/>
              <a:tailEnd len="med" w="med" type="triangle"/>
            </a:ln>
          </p:spPr>
        </p:cxnSp>
        <p:cxnSp>
          <p:nvCxnSpPr>
            <p:cNvPr id="1424" name="Google Shape;1424;p30"/>
            <p:cNvCxnSpPr/>
            <p:nvPr/>
          </p:nvCxnSpPr>
          <p:spPr>
            <a:xfrm>
              <a:off x="9465002" y="6389078"/>
              <a:ext cx="562708" cy="0"/>
            </a:xfrm>
            <a:prstGeom prst="straightConnector1">
              <a:avLst/>
            </a:prstGeom>
            <a:noFill/>
            <a:ln cap="flat" cmpd="sng" w="38100">
              <a:solidFill>
                <a:srgbClr val="3333CC"/>
              </a:solidFill>
              <a:prstDash val="solid"/>
              <a:miter lim="800000"/>
              <a:headEnd len="sm" w="sm" type="none"/>
              <a:tailEnd len="med" w="med" type="triangle"/>
            </a:ln>
          </p:spPr>
        </p:cxnSp>
      </p:grpSp>
      <p:grpSp>
        <p:nvGrpSpPr>
          <p:cNvPr id="1425" name="Google Shape;1425;p30"/>
          <p:cNvGrpSpPr/>
          <p:nvPr/>
        </p:nvGrpSpPr>
        <p:grpSpPr>
          <a:xfrm>
            <a:off x="11245773" y="3893738"/>
            <a:ext cx="567187" cy="339970"/>
            <a:chOff x="9460523" y="6049108"/>
            <a:chExt cx="567187" cy="339970"/>
          </a:xfrm>
        </p:grpSpPr>
        <p:cxnSp>
          <p:nvCxnSpPr>
            <p:cNvPr id="1426" name="Google Shape;1426;p30"/>
            <p:cNvCxnSpPr/>
            <p:nvPr/>
          </p:nvCxnSpPr>
          <p:spPr>
            <a:xfrm>
              <a:off x="9460523" y="6049108"/>
              <a:ext cx="562708" cy="0"/>
            </a:xfrm>
            <a:prstGeom prst="straightConnector1">
              <a:avLst/>
            </a:prstGeom>
            <a:noFill/>
            <a:ln cap="flat" cmpd="sng" w="38100">
              <a:solidFill>
                <a:srgbClr val="FF0000"/>
              </a:solidFill>
              <a:prstDash val="solid"/>
              <a:miter lim="800000"/>
              <a:headEnd len="sm" w="sm" type="none"/>
              <a:tailEnd len="med" w="med" type="triangle"/>
            </a:ln>
          </p:spPr>
        </p:cxnSp>
        <p:cxnSp>
          <p:nvCxnSpPr>
            <p:cNvPr id="1427" name="Google Shape;1427;p30"/>
            <p:cNvCxnSpPr/>
            <p:nvPr/>
          </p:nvCxnSpPr>
          <p:spPr>
            <a:xfrm>
              <a:off x="9461050" y="6219093"/>
              <a:ext cx="562708" cy="0"/>
            </a:xfrm>
            <a:prstGeom prst="straightConnector1">
              <a:avLst/>
            </a:prstGeom>
            <a:noFill/>
            <a:ln cap="flat" cmpd="sng" w="38100">
              <a:solidFill>
                <a:srgbClr val="00B050"/>
              </a:solidFill>
              <a:prstDash val="solid"/>
              <a:miter lim="800000"/>
              <a:headEnd len="sm" w="sm" type="none"/>
              <a:tailEnd len="med" w="med" type="triangle"/>
            </a:ln>
          </p:spPr>
        </p:cxnSp>
        <p:cxnSp>
          <p:nvCxnSpPr>
            <p:cNvPr id="1428" name="Google Shape;1428;p30"/>
            <p:cNvCxnSpPr/>
            <p:nvPr/>
          </p:nvCxnSpPr>
          <p:spPr>
            <a:xfrm>
              <a:off x="9465002" y="6389078"/>
              <a:ext cx="562708" cy="0"/>
            </a:xfrm>
            <a:prstGeom prst="straightConnector1">
              <a:avLst/>
            </a:prstGeom>
            <a:noFill/>
            <a:ln cap="flat" cmpd="sng" w="38100">
              <a:solidFill>
                <a:srgbClr val="3333CC"/>
              </a:solidFill>
              <a:prstDash val="solid"/>
              <a:miter lim="800000"/>
              <a:headEnd len="sm" w="sm" type="none"/>
              <a:tailEnd len="med" w="med" type="triangle"/>
            </a:ln>
          </p:spPr>
        </p:cxnSp>
      </p:grpSp>
      <p:sp>
        <p:nvSpPr>
          <p:cNvPr id="1429" name="Google Shape;1429;p30"/>
          <p:cNvSpPr txBox="1"/>
          <p:nvPr/>
        </p:nvSpPr>
        <p:spPr>
          <a:xfrm>
            <a:off x="6576771" y="4550229"/>
            <a:ext cx="990656" cy="590931"/>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classify </a:t>
            </a:r>
            <a:endParaRPr/>
          </a:p>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arrivals</a:t>
            </a:r>
            <a:endParaRPr/>
          </a:p>
        </p:txBody>
      </p:sp>
      <p:sp>
        <p:nvSpPr>
          <p:cNvPr id="1430" name="Google Shape;1430;p30"/>
          <p:cNvSpPr txBox="1"/>
          <p:nvPr/>
        </p:nvSpPr>
        <p:spPr>
          <a:xfrm>
            <a:off x="10609189" y="4515922"/>
            <a:ext cx="1332224" cy="34471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departures</a:t>
            </a:r>
            <a:endParaRPr/>
          </a:p>
        </p:txBody>
      </p:sp>
      <p:cxnSp>
        <p:nvCxnSpPr>
          <p:cNvPr id="1431" name="Google Shape;1431;p30"/>
          <p:cNvCxnSpPr>
            <a:stCxn id="1420" idx="0"/>
          </p:cNvCxnSpPr>
          <p:nvPr/>
        </p:nvCxnSpPr>
        <p:spPr>
          <a:xfrm flipH="1" rot="10800000">
            <a:off x="7619999" y="3067555"/>
            <a:ext cx="682500" cy="982500"/>
          </a:xfrm>
          <a:prstGeom prst="straightConnector1">
            <a:avLst/>
          </a:prstGeom>
          <a:noFill/>
          <a:ln cap="flat" cmpd="sng" w="38100">
            <a:solidFill>
              <a:srgbClr val="FF0000"/>
            </a:solidFill>
            <a:prstDash val="solid"/>
            <a:miter lim="800000"/>
            <a:headEnd len="sm" w="sm" type="none"/>
            <a:tailEnd len="med" w="med" type="triangle"/>
          </a:ln>
        </p:spPr>
      </p:cxnSp>
      <p:cxnSp>
        <p:nvCxnSpPr>
          <p:cNvPr id="1432" name="Google Shape;1432;p30"/>
          <p:cNvCxnSpPr/>
          <p:nvPr/>
        </p:nvCxnSpPr>
        <p:spPr>
          <a:xfrm>
            <a:off x="7635460" y="4051945"/>
            <a:ext cx="696572" cy="0"/>
          </a:xfrm>
          <a:prstGeom prst="straightConnector1">
            <a:avLst/>
          </a:prstGeom>
          <a:noFill/>
          <a:ln cap="flat" cmpd="sng" w="38100">
            <a:solidFill>
              <a:srgbClr val="00B050"/>
            </a:solidFill>
            <a:prstDash val="solid"/>
            <a:miter lim="800000"/>
            <a:headEnd len="sm" w="sm" type="none"/>
            <a:tailEnd len="med" w="med" type="triangle"/>
          </a:ln>
        </p:spPr>
      </p:cxnSp>
      <p:cxnSp>
        <p:nvCxnSpPr>
          <p:cNvPr id="1433" name="Google Shape;1433;p30"/>
          <p:cNvCxnSpPr>
            <a:stCxn id="1420" idx="0"/>
          </p:cNvCxnSpPr>
          <p:nvPr/>
        </p:nvCxnSpPr>
        <p:spPr>
          <a:xfrm>
            <a:off x="7619999" y="4050055"/>
            <a:ext cx="682200" cy="871500"/>
          </a:xfrm>
          <a:prstGeom prst="straightConnector1">
            <a:avLst/>
          </a:prstGeom>
          <a:noFill/>
          <a:ln cap="flat" cmpd="sng" w="38100">
            <a:solidFill>
              <a:srgbClr val="3333CC"/>
            </a:solidFill>
            <a:prstDash val="solid"/>
            <a:miter lim="800000"/>
            <a:headEnd len="sm" w="sm" type="none"/>
            <a:tailEnd len="med" w="med" type="triangle"/>
          </a:ln>
        </p:spPr>
      </p:cxnSp>
      <p:cxnSp>
        <p:nvCxnSpPr>
          <p:cNvPr id="1434" name="Google Shape;1434;p30"/>
          <p:cNvCxnSpPr>
            <a:stCxn id="1389" idx="3"/>
            <a:endCxn id="1435" idx="2"/>
          </p:cNvCxnSpPr>
          <p:nvPr/>
        </p:nvCxnSpPr>
        <p:spPr>
          <a:xfrm>
            <a:off x="9250093" y="3097958"/>
            <a:ext cx="664200" cy="942600"/>
          </a:xfrm>
          <a:prstGeom prst="straightConnector1">
            <a:avLst/>
          </a:prstGeom>
          <a:noFill/>
          <a:ln cap="flat" cmpd="sng" w="38100">
            <a:solidFill>
              <a:srgbClr val="FF0000"/>
            </a:solidFill>
            <a:prstDash val="solid"/>
            <a:miter lim="800000"/>
            <a:headEnd len="sm" w="sm" type="none"/>
            <a:tailEnd len="sm" w="sm" type="none"/>
          </a:ln>
        </p:spPr>
      </p:cxnSp>
      <p:cxnSp>
        <p:nvCxnSpPr>
          <p:cNvPr id="1436" name="Google Shape;1436;p30"/>
          <p:cNvCxnSpPr>
            <a:stCxn id="1411" idx="3"/>
            <a:endCxn id="1435" idx="2"/>
          </p:cNvCxnSpPr>
          <p:nvPr/>
        </p:nvCxnSpPr>
        <p:spPr>
          <a:xfrm flipH="1" rot="10800000">
            <a:off x="9281978" y="4040736"/>
            <a:ext cx="632400" cy="882300"/>
          </a:xfrm>
          <a:prstGeom prst="straightConnector1">
            <a:avLst/>
          </a:prstGeom>
          <a:noFill/>
          <a:ln cap="flat" cmpd="sng" w="38100">
            <a:solidFill>
              <a:srgbClr val="3333CC"/>
            </a:solidFill>
            <a:prstDash val="solid"/>
            <a:miter lim="800000"/>
            <a:headEnd len="sm" w="sm" type="none"/>
            <a:tailEnd len="sm" w="sm" type="none"/>
          </a:ln>
        </p:spPr>
      </p:cxnSp>
      <p:cxnSp>
        <p:nvCxnSpPr>
          <p:cNvPr id="1437" name="Google Shape;1437;p30"/>
          <p:cNvCxnSpPr>
            <a:stCxn id="1408" idx="3"/>
            <a:endCxn id="1435" idx="2"/>
          </p:cNvCxnSpPr>
          <p:nvPr/>
        </p:nvCxnSpPr>
        <p:spPr>
          <a:xfrm>
            <a:off x="9300266" y="4039538"/>
            <a:ext cx="614100" cy="1200"/>
          </a:xfrm>
          <a:prstGeom prst="straightConnector1">
            <a:avLst/>
          </a:prstGeom>
          <a:noFill/>
          <a:ln cap="flat" cmpd="sng" w="38100">
            <a:solidFill>
              <a:srgbClr val="00B050"/>
            </a:solidFill>
            <a:prstDash val="solid"/>
            <a:miter lim="800000"/>
            <a:headEnd len="sm" w="sm" type="none"/>
            <a:tailEnd len="sm" w="sm" type="none"/>
          </a:ln>
        </p:spPr>
      </p:cxnSp>
      <p:grpSp>
        <p:nvGrpSpPr>
          <p:cNvPr id="1438" name="Google Shape;1438;p30"/>
          <p:cNvGrpSpPr/>
          <p:nvPr/>
        </p:nvGrpSpPr>
        <p:grpSpPr>
          <a:xfrm>
            <a:off x="9914343" y="3604072"/>
            <a:ext cx="877582" cy="1252645"/>
            <a:chOff x="9827263" y="3125100"/>
            <a:chExt cx="877582" cy="1252645"/>
          </a:xfrm>
        </p:grpSpPr>
        <p:sp>
          <p:nvSpPr>
            <p:cNvPr id="1435" name="Google Shape;1435;p30"/>
            <p:cNvSpPr/>
            <p:nvPr/>
          </p:nvSpPr>
          <p:spPr>
            <a:xfrm>
              <a:off x="9827263" y="3125100"/>
              <a:ext cx="877582" cy="873172"/>
            </a:xfrm>
            <a:prstGeom prst="ellipse">
              <a:avLst/>
            </a:prstGeom>
            <a:solidFill>
              <a:srgbClr val="FFFFFF"/>
            </a:solidFill>
            <a:ln cap="flat" cmpd="sng" w="28575">
              <a:solidFill>
                <a:schemeClr val="dk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39" name="Google Shape;1439;p30"/>
            <p:cNvSpPr txBox="1"/>
            <p:nvPr/>
          </p:nvSpPr>
          <p:spPr>
            <a:xfrm>
              <a:off x="9952468" y="4033035"/>
              <a:ext cx="554960" cy="34471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link</a:t>
              </a:r>
              <a:endParaRPr/>
            </a:p>
          </p:txBody>
        </p:sp>
        <p:sp>
          <p:nvSpPr>
            <p:cNvPr id="1440" name="Google Shape;1440;p30"/>
            <p:cNvSpPr txBox="1"/>
            <p:nvPr/>
          </p:nvSpPr>
          <p:spPr>
            <a:xfrm>
              <a:off x="10086588" y="3391108"/>
              <a:ext cx="351378" cy="395173"/>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a:t>
              </a:r>
              <a:endParaRPr/>
            </a:p>
          </p:txBody>
        </p:sp>
      </p:grpSp>
      <p:grpSp>
        <p:nvGrpSpPr>
          <p:cNvPr id="1441" name="Google Shape;1441;p30"/>
          <p:cNvGrpSpPr/>
          <p:nvPr/>
        </p:nvGrpSpPr>
        <p:grpSpPr>
          <a:xfrm>
            <a:off x="8807568" y="2894368"/>
            <a:ext cx="1104182" cy="2221918"/>
            <a:chOff x="8807568" y="2894368"/>
            <a:chExt cx="1104182" cy="2221918"/>
          </a:xfrm>
        </p:grpSpPr>
        <p:grpSp>
          <p:nvGrpSpPr>
            <p:cNvPr id="1442" name="Google Shape;1442;p30"/>
            <p:cNvGrpSpPr/>
            <p:nvPr/>
          </p:nvGrpSpPr>
          <p:grpSpPr>
            <a:xfrm>
              <a:off x="9470570" y="2939143"/>
              <a:ext cx="441180" cy="2177143"/>
              <a:chOff x="9470570" y="2939143"/>
              <a:chExt cx="441180" cy="2177143"/>
            </a:xfrm>
          </p:grpSpPr>
          <p:sp>
            <p:nvSpPr>
              <p:cNvPr id="1443" name="Google Shape;1443;p30"/>
              <p:cNvSpPr/>
              <p:nvPr/>
            </p:nvSpPr>
            <p:spPr>
              <a:xfrm>
                <a:off x="9470570" y="2939143"/>
                <a:ext cx="348343" cy="2177143"/>
              </a:xfrm>
              <a:prstGeom prst="ellipse">
                <a:avLst/>
              </a:prstGeom>
              <a:noFill/>
              <a:ln cap="flat" cmpd="sng" w="412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44" name="Google Shape;1444;p30"/>
              <p:cNvSpPr/>
              <p:nvPr/>
            </p:nvSpPr>
            <p:spPr>
              <a:xfrm>
                <a:off x="9716218" y="3095651"/>
                <a:ext cx="195532" cy="5865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445" name="Google Shape;1445;p30"/>
              <p:cNvCxnSpPr/>
              <p:nvPr/>
            </p:nvCxnSpPr>
            <p:spPr>
              <a:xfrm rot="10800000">
                <a:off x="9808687" y="3573214"/>
                <a:ext cx="0" cy="261257"/>
              </a:xfrm>
              <a:prstGeom prst="straightConnector1">
                <a:avLst/>
              </a:prstGeom>
              <a:noFill/>
              <a:ln cap="flat" cmpd="sng" w="38100">
                <a:solidFill>
                  <a:schemeClr val="dk1"/>
                </a:solidFill>
                <a:prstDash val="solid"/>
                <a:miter lim="800000"/>
                <a:headEnd len="sm" w="sm" type="none"/>
                <a:tailEnd len="med" w="med" type="triangle"/>
              </a:ln>
            </p:spPr>
          </p:cxnSp>
        </p:grpSp>
        <p:grpSp>
          <p:nvGrpSpPr>
            <p:cNvPr id="1446" name="Google Shape;1446;p30"/>
            <p:cNvGrpSpPr/>
            <p:nvPr/>
          </p:nvGrpSpPr>
          <p:grpSpPr>
            <a:xfrm>
              <a:off x="8807568" y="2894368"/>
              <a:ext cx="457076" cy="2191108"/>
              <a:chOff x="8807568" y="2894368"/>
              <a:chExt cx="457076" cy="2191108"/>
            </a:xfrm>
          </p:grpSpPr>
          <p:grpSp>
            <p:nvGrpSpPr>
              <p:cNvPr id="1447" name="Google Shape;1447;p30"/>
              <p:cNvGrpSpPr/>
              <p:nvPr/>
            </p:nvGrpSpPr>
            <p:grpSpPr>
              <a:xfrm>
                <a:off x="8807568" y="2894368"/>
                <a:ext cx="428322" cy="385312"/>
                <a:chOff x="10311441" y="2346385"/>
                <a:chExt cx="428322" cy="385312"/>
              </a:xfrm>
            </p:grpSpPr>
            <p:sp>
              <p:nvSpPr>
                <p:cNvPr id="1448" name="Google Shape;1448;p30"/>
                <p:cNvSpPr/>
                <p:nvPr/>
              </p:nvSpPr>
              <p:spPr>
                <a:xfrm>
                  <a:off x="10349891" y="2392393"/>
                  <a:ext cx="329610" cy="339304"/>
                </a:xfrm>
                <a:prstGeom prst="ellipse">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49" name="Google Shape;1449;p30"/>
                <p:cNvSpPr txBox="1"/>
                <p:nvPr/>
              </p:nvSpPr>
              <p:spPr>
                <a:xfrm>
                  <a:off x="10311441" y="2346385"/>
                  <a:ext cx="42832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a:t>
                  </a:r>
                  <a:r>
                    <a:rPr b="0" baseline="-25000" i="0" lang="en-US" sz="1800" u="none" cap="none" strike="noStrike">
                      <a:solidFill>
                        <a:srgbClr val="000000"/>
                      </a:solidFill>
                      <a:latin typeface="Calibri"/>
                      <a:ea typeface="Calibri"/>
                      <a:cs typeface="Calibri"/>
                      <a:sym typeface="Calibri"/>
                    </a:rPr>
                    <a:t>1</a:t>
                  </a:r>
                  <a:endParaRPr/>
                </a:p>
              </p:txBody>
            </p:sp>
          </p:grpSp>
          <p:grpSp>
            <p:nvGrpSpPr>
              <p:cNvPr id="1450" name="Google Shape;1450;p30"/>
              <p:cNvGrpSpPr/>
              <p:nvPr/>
            </p:nvGrpSpPr>
            <p:grpSpPr>
              <a:xfrm>
                <a:off x="8827696" y="3823145"/>
                <a:ext cx="428322" cy="385312"/>
                <a:chOff x="10311441" y="2346385"/>
                <a:chExt cx="428322" cy="385312"/>
              </a:xfrm>
            </p:grpSpPr>
            <p:sp>
              <p:nvSpPr>
                <p:cNvPr id="1451" name="Google Shape;1451;p30"/>
                <p:cNvSpPr/>
                <p:nvPr/>
              </p:nvSpPr>
              <p:spPr>
                <a:xfrm>
                  <a:off x="10349891" y="2392393"/>
                  <a:ext cx="329610" cy="339304"/>
                </a:xfrm>
                <a:prstGeom prst="ellipse">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52" name="Google Shape;1452;p30"/>
                <p:cNvSpPr txBox="1"/>
                <p:nvPr/>
              </p:nvSpPr>
              <p:spPr>
                <a:xfrm>
                  <a:off x="10311441" y="2346385"/>
                  <a:ext cx="42832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a:t>
                  </a:r>
                  <a:r>
                    <a:rPr b="0" baseline="-25000" i="0" lang="en-US" sz="1800" u="none" cap="none" strike="noStrike">
                      <a:solidFill>
                        <a:srgbClr val="000000"/>
                      </a:solidFill>
                      <a:latin typeface="Calibri"/>
                      <a:ea typeface="Calibri"/>
                      <a:cs typeface="Calibri"/>
                      <a:sym typeface="Calibri"/>
                    </a:rPr>
                    <a:t>2</a:t>
                  </a:r>
                  <a:endParaRPr/>
                </a:p>
              </p:txBody>
            </p:sp>
          </p:grpSp>
          <p:grpSp>
            <p:nvGrpSpPr>
              <p:cNvPr id="1453" name="Google Shape;1453;p30"/>
              <p:cNvGrpSpPr/>
              <p:nvPr/>
            </p:nvGrpSpPr>
            <p:grpSpPr>
              <a:xfrm>
                <a:off x="8836322" y="4700164"/>
                <a:ext cx="428322" cy="385312"/>
                <a:chOff x="10311441" y="2346385"/>
                <a:chExt cx="428322" cy="385312"/>
              </a:xfrm>
            </p:grpSpPr>
            <p:sp>
              <p:nvSpPr>
                <p:cNvPr id="1454" name="Google Shape;1454;p30"/>
                <p:cNvSpPr/>
                <p:nvPr/>
              </p:nvSpPr>
              <p:spPr>
                <a:xfrm>
                  <a:off x="10349891" y="2392393"/>
                  <a:ext cx="329610" cy="339304"/>
                </a:xfrm>
                <a:prstGeom prst="ellipse">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55" name="Google Shape;1455;p30"/>
                <p:cNvSpPr txBox="1"/>
                <p:nvPr/>
              </p:nvSpPr>
              <p:spPr>
                <a:xfrm>
                  <a:off x="10311441" y="2346385"/>
                  <a:ext cx="42832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w</a:t>
                  </a:r>
                  <a:r>
                    <a:rPr b="0" baseline="-25000" i="0" lang="en-US" sz="1800" u="none" cap="none" strike="noStrike">
                      <a:solidFill>
                        <a:srgbClr val="000000"/>
                      </a:solidFill>
                      <a:latin typeface="Calibri"/>
                      <a:ea typeface="Calibri"/>
                      <a:cs typeface="Calibri"/>
                      <a:sym typeface="Calibri"/>
                    </a:rPr>
                    <a:t>3</a:t>
                  </a:r>
                  <a:endParaRPr/>
                </a:p>
              </p:txBody>
            </p:sp>
          </p:grpSp>
        </p:grpSp>
      </p:grpSp>
      <p:grpSp>
        <p:nvGrpSpPr>
          <p:cNvPr id="1456" name="Google Shape;1456;p30"/>
          <p:cNvGrpSpPr/>
          <p:nvPr/>
        </p:nvGrpSpPr>
        <p:grpSpPr>
          <a:xfrm>
            <a:off x="2830287" y="4027715"/>
            <a:ext cx="853119" cy="1129061"/>
            <a:chOff x="6422573" y="5573486"/>
            <a:chExt cx="853119" cy="1129061"/>
          </a:xfrm>
        </p:grpSpPr>
        <p:sp>
          <p:nvSpPr>
            <p:cNvPr id="1457" name="Google Shape;1457;p30"/>
            <p:cNvSpPr txBox="1"/>
            <p:nvPr/>
          </p:nvSpPr>
          <p:spPr>
            <a:xfrm>
              <a:off x="6531429" y="5573486"/>
              <a:ext cx="54053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Calibri"/>
                <a:buNone/>
              </a:pPr>
              <a:r>
                <a:rPr b="0" i="1" lang="en-US" sz="3200" u="none" cap="none" strike="noStrike">
                  <a:solidFill>
                    <a:srgbClr val="000000"/>
                  </a:solidFill>
                  <a:latin typeface="Calibri"/>
                  <a:ea typeface="Calibri"/>
                  <a:cs typeface="Calibri"/>
                  <a:sym typeface="Calibri"/>
                </a:rPr>
                <a:t>w</a:t>
              </a:r>
              <a:r>
                <a:rPr b="0" baseline="-25000" i="1" lang="en-US" sz="3200" u="none" cap="none" strike="noStrike">
                  <a:solidFill>
                    <a:srgbClr val="000000"/>
                  </a:solidFill>
                  <a:latin typeface="Calibri"/>
                  <a:ea typeface="Calibri"/>
                  <a:cs typeface="Calibri"/>
                  <a:sym typeface="Calibri"/>
                </a:rPr>
                <a:t>i</a:t>
              </a:r>
              <a:endParaRPr b="0" i="0" sz="3200" u="none" cap="none" strike="noStrike">
                <a:solidFill>
                  <a:srgbClr val="000000"/>
                </a:solidFill>
                <a:latin typeface="Calibri"/>
                <a:ea typeface="Calibri"/>
                <a:cs typeface="Calibri"/>
                <a:sym typeface="Calibri"/>
              </a:endParaRPr>
            </a:p>
          </p:txBody>
        </p:sp>
        <p:sp>
          <p:nvSpPr>
            <p:cNvPr id="1458" name="Google Shape;1458;p30"/>
            <p:cNvSpPr txBox="1"/>
            <p:nvPr/>
          </p:nvSpPr>
          <p:spPr>
            <a:xfrm>
              <a:off x="6422573" y="6117772"/>
              <a:ext cx="853119"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Noto Sans Symbols"/>
                <a:buNone/>
              </a:pPr>
              <a:r>
                <a:rPr b="0" i="0" lang="en-US" sz="3200" u="none" cap="none" strike="noStrike">
                  <a:solidFill>
                    <a:srgbClr val="000000"/>
                  </a:solidFill>
                  <a:latin typeface="Noto Sans Symbols"/>
                  <a:ea typeface="Noto Sans Symbols"/>
                  <a:cs typeface="Noto Sans Symbols"/>
                  <a:sym typeface="Noto Sans Symbols"/>
                </a:rPr>
                <a:t>Σ</a:t>
              </a:r>
              <a:r>
                <a:rPr b="0" baseline="-25000" i="1" lang="en-US" sz="2400" u="none" cap="none" strike="noStrike">
                  <a:solidFill>
                    <a:srgbClr val="000000"/>
                  </a:solidFill>
                  <a:latin typeface="Calibri"/>
                  <a:ea typeface="Calibri"/>
                  <a:cs typeface="Calibri"/>
                  <a:sym typeface="Calibri"/>
                </a:rPr>
                <a:t>j</a:t>
              </a:r>
              <a:r>
                <a:rPr b="0" i="1" lang="en-US" sz="3200" u="none" cap="none" strike="noStrike">
                  <a:solidFill>
                    <a:srgbClr val="000000"/>
                  </a:solidFill>
                  <a:latin typeface="Calibri"/>
                  <a:ea typeface="Calibri"/>
                  <a:cs typeface="Calibri"/>
                  <a:sym typeface="Calibri"/>
                </a:rPr>
                <a:t>w</a:t>
              </a:r>
              <a:r>
                <a:rPr b="0" baseline="-25000" i="1" lang="en-US" sz="3200" u="none" cap="none" strike="noStrike">
                  <a:solidFill>
                    <a:srgbClr val="000000"/>
                  </a:solidFill>
                  <a:latin typeface="Calibri"/>
                  <a:ea typeface="Calibri"/>
                  <a:cs typeface="Calibri"/>
                  <a:sym typeface="Calibri"/>
                </a:rPr>
                <a:t>j</a:t>
              </a:r>
              <a:endParaRPr b="0" i="0" sz="3200" u="none" cap="none" strike="noStrike">
                <a:solidFill>
                  <a:srgbClr val="000000"/>
                </a:solidFill>
                <a:latin typeface="Calibri"/>
                <a:ea typeface="Calibri"/>
                <a:cs typeface="Calibri"/>
                <a:sym typeface="Calibri"/>
              </a:endParaRPr>
            </a:p>
          </p:txBody>
        </p:sp>
        <p:cxnSp>
          <p:nvCxnSpPr>
            <p:cNvPr id="1459" name="Google Shape;1459;p30"/>
            <p:cNvCxnSpPr/>
            <p:nvPr/>
          </p:nvCxnSpPr>
          <p:spPr>
            <a:xfrm>
              <a:off x="6553200" y="6173453"/>
              <a:ext cx="478971" cy="0"/>
            </a:xfrm>
            <a:prstGeom prst="straightConnector1">
              <a:avLst/>
            </a:prstGeom>
            <a:noFill/>
            <a:ln cap="rnd" cmpd="sng" w="38100">
              <a:solidFill>
                <a:schemeClr val="dk1"/>
              </a:solidFill>
              <a:prstDash val="solid"/>
              <a:miter lim="800000"/>
              <a:headEnd len="sm" w="sm" type="none"/>
              <a:tailEnd len="sm" w="sm" type="none"/>
            </a:ln>
          </p:spPr>
        </p:cxnSp>
      </p:grpSp>
      <p:sp>
        <p:nvSpPr>
          <p:cNvPr id="1460" name="Google Shape;1460;p30"/>
          <p:cNvSpPr txBox="1"/>
          <p:nvPr/>
        </p:nvSpPr>
        <p:spPr>
          <a:xfrm>
            <a:off x="788204" y="5154045"/>
            <a:ext cx="5557988" cy="1050813"/>
          </a:xfrm>
          <a:prstGeom prst="rect">
            <a:avLst/>
          </a:prstGeom>
          <a:noFill/>
          <a:ln>
            <a:noFill/>
          </a:ln>
        </p:spPr>
        <p:txBody>
          <a:bodyPr anchorCtr="0" anchor="t" bIns="45700" lIns="91425" spcFirstLastPara="1" rIns="91425" wrap="square" tIns="45700">
            <a:normAutofit/>
          </a:bodyPr>
          <a:lstStyle/>
          <a:p>
            <a:pPr indent="-284163" lvl="0" marL="582613"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minimum bandwidth guarantee (per-traffic-class)</a:t>
            </a:r>
            <a:endParaRPr/>
          </a:p>
        </p:txBody>
      </p:sp>
      <p:sp>
        <p:nvSpPr>
          <p:cNvPr id="1461" name="Google Shape;1461;p30"/>
          <p:cNvSpPr txBox="1"/>
          <p:nvPr/>
        </p:nvSpPr>
        <p:spPr>
          <a:xfrm>
            <a:off x="766433" y="2740308"/>
            <a:ext cx="5557988" cy="1420926"/>
          </a:xfrm>
          <a:prstGeom prst="rect">
            <a:avLst/>
          </a:prstGeom>
          <a:noFill/>
          <a:ln>
            <a:noFill/>
          </a:ln>
        </p:spPr>
        <p:txBody>
          <a:bodyPr anchorCtr="0" anchor="t" bIns="45700" lIns="91425" spcFirstLastPara="1" rIns="91425" wrap="square" tIns="45700">
            <a:normAutofit/>
          </a:bodyPr>
          <a:lstStyle/>
          <a:p>
            <a:pPr indent="-284163" lvl="0" marL="582613"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each class, </a:t>
            </a:r>
            <a:r>
              <a:rPr b="0" i="1" lang="en-US" sz="3200" u="none" cap="none" strike="noStrike">
                <a:solidFill>
                  <a:srgbClr val="000000"/>
                </a:solidFill>
                <a:latin typeface="Calibri"/>
                <a:ea typeface="Calibri"/>
                <a:cs typeface="Calibri"/>
                <a:sym typeface="Calibri"/>
              </a:rPr>
              <a:t>i, </a:t>
            </a:r>
            <a:r>
              <a:rPr b="0" i="0" lang="en-US" sz="3200" u="none" cap="none" strike="noStrike">
                <a:solidFill>
                  <a:srgbClr val="000000"/>
                </a:solidFill>
                <a:latin typeface="Calibri"/>
                <a:ea typeface="Calibri"/>
                <a:cs typeface="Calibri"/>
                <a:sym typeface="Calibri"/>
              </a:rPr>
              <a:t>has weight, </a:t>
            </a:r>
            <a:r>
              <a:rPr b="0" i="1" lang="en-US" sz="3200" u="none" cap="none" strike="noStrike">
                <a:solidFill>
                  <a:srgbClr val="000000"/>
                </a:solidFill>
                <a:latin typeface="Calibri"/>
                <a:ea typeface="Calibri"/>
                <a:cs typeface="Calibri"/>
                <a:sym typeface="Calibri"/>
              </a:rPr>
              <a:t>w</a:t>
            </a:r>
            <a:r>
              <a:rPr b="0" baseline="-25000" i="1" lang="en-US" sz="3200" u="none" cap="none" strike="noStrike">
                <a:solidFill>
                  <a:srgbClr val="000000"/>
                </a:solidFill>
                <a:latin typeface="Calibri"/>
                <a:ea typeface="Calibri"/>
                <a:cs typeface="Calibri"/>
                <a:sym typeface="Calibri"/>
              </a:rPr>
              <a:t>i</a:t>
            </a:r>
            <a:r>
              <a:rPr b="0" i="1" lang="en-US" sz="3200" u="none" cap="none" strike="noStrike">
                <a:solidFill>
                  <a:srgbClr val="0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and</a:t>
            </a:r>
            <a:r>
              <a:rPr b="0" i="1" lang="en-US" sz="3200" u="none" cap="none" strike="noStrike">
                <a:solidFill>
                  <a:srgbClr val="0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gets weighted amount of service in each cycle:</a:t>
            </a:r>
            <a:endParaRPr/>
          </a:p>
        </p:txBody>
      </p:sp>
      <p:sp>
        <p:nvSpPr>
          <p:cNvPr id="1462" name="Google Shape;1462;p30"/>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1"/>
                                        </p:tgtEl>
                                        <p:attrNameLst>
                                          <p:attrName>style.visibility</p:attrName>
                                        </p:attrNameLst>
                                      </p:cBhvr>
                                      <p:to>
                                        <p:strVal val="visible"/>
                                      </p:to>
                                    </p:set>
                                    <p:animEffect filter="fade" transition="in">
                                      <p:cBhvr>
                                        <p:cTn dur="500"/>
                                        <p:tgtEl>
                                          <p:spTgt spid="1441"/>
                                        </p:tgtEl>
                                      </p:cBhvr>
                                    </p:animEffect>
                                  </p:childTnLst>
                                </p:cTn>
                              </p:par>
                              <p:par>
                                <p:cTn fill="hold" nodeType="withEffect" presetClass="entr" presetID="10" presetSubtype="0">
                                  <p:stCondLst>
                                    <p:cond delay="0"/>
                                  </p:stCondLst>
                                  <p:childTnLst>
                                    <p:set>
                                      <p:cBhvr>
                                        <p:cTn dur="1" fill="hold">
                                          <p:stCondLst>
                                            <p:cond delay="0"/>
                                          </p:stCondLst>
                                        </p:cTn>
                                        <p:tgtEl>
                                          <p:spTgt spid="1456"/>
                                        </p:tgtEl>
                                        <p:attrNameLst>
                                          <p:attrName>style.visibility</p:attrName>
                                        </p:attrNameLst>
                                      </p:cBhvr>
                                      <p:to>
                                        <p:strVal val="visible"/>
                                      </p:to>
                                    </p:set>
                                    <p:animEffect filter="fade" transition="in">
                                      <p:cBhvr>
                                        <p:cTn dur="500"/>
                                        <p:tgtEl>
                                          <p:spTgt spid="1456"/>
                                        </p:tgtEl>
                                      </p:cBhvr>
                                    </p:animEffect>
                                  </p:childTnLst>
                                </p:cTn>
                              </p:par>
                              <p:par>
                                <p:cTn fill="hold" nodeType="withEffect" presetClass="entr" presetID="10" presetSubtype="0">
                                  <p:stCondLst>
                                    <p:cond delay="0"/>
                                  </p:stCondLst>
                                  <p:childTnLst>
                                    <p:set>
                                      <p:cBhvr>
                                        <p:cTn dur="1" fill="hold">
                                          <p:stCondLst>
                                            <p:cond delay="0"/>
                                          </p:stCondLst>
                                        </p:cTn>
                                        <p:tgtEl>
                                          <p:spTgt spid="1461"/>
                                        </p:tgtEl>
                                        <p:attrNameLst>
                                          <p:attrName>style.visibility</p:attrName>
                                        </p:attrNameLst>
                                      </p:cBhvr>
                                      <p:to>
                                        <p:strVal val="visible"/>
                                      </p:to>
                                    </p:set>
                                    <p:animEffect filter="fade" transition="in">
                                      <p:cBhvr>
                                        <p:cTn dur="500"/>
                                        <p:tgtEl>
                                          <p:spTgt spid="14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0"/>
                                        </p:tgtEl>
                                        <p:attrNameLst>
                                          <p:attrName>style.visibility</p:attrName>
                                        </p:attrNameLst>
                                      </p:cBhvr>
                                      <p:to>
                                        <p:strVal val="visible"/>
                                      </p:to>
                                    </p:set>
                                    <p:animEffect filter="fade" transition="in">
                                      <p:cBhvr>
                                        <p:cTn dur="500"/>
                                        <p:tgtEl>
                                          <p:spTgt spid="14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7" name="Shape 1467"/>
        <p:cNvGrpSpPr/>
        <p:nvPr/>
      </p:nvGrpSpPr>
      <p:grpSpPr>
        <a:xfrm>
          <a:off x="0" y="0"/>
          <a:ext cx="0" cy="0"/>
          <a:chOff x="0" y="0"/>
          <a:chExt cx="0" cy="0"/>
        </a:xfrm>
      </p:grpSpPr>
      <p:sp>
        <p:nvSpPr>
          <p:cNvPr id="1468" name="Google Shape;1468;p3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Sidebar: Network Neutrality</a:t>
            </a:r>
            <a:endParaRPr/>
          </a:p>
        </p:txBody>
      </p:sp>
      <p:sp>
        <p:nvSpPr>
          <p:cNvPr id="1469" name="Google Shape;1469;p31"/>
          <p:cNvSpPr txBox="1"/>
          <p:nvPr>
            <p:ph idx="1" type="body"/>
          </p:nvPr>
        </p:nvSpPr>
        <p:spPr>
          <a:xfrm>
            <a:off x="793894" y="1421607"/>
            <a:ext cx="10607531" cy="4530306"/>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3600"/>
              <a:buNone/>
            </a:pPr>
            <a:r>
              <a:rPr lang="en-US" sz="3600"/>
              <a:t>What is network neutrality?</a:t>
            </a:r>
            <a:endParaRPr/>
          </a:p>
          <a:p>
            <a:pPr indent="-338138" lvl="1" marL="520700" rtl="0" algn="l">
              <a:lnSpc>
                <a:spcPct val="100000"/>
              </a:lnSpc>
              <a:spcBef>
                <a:spcPts val="500"/>
              </a:spcBef>
              <a:spcAft>
                <a:spcPts val="0"/>
              </a:spcAft>
              <a:buSzPts val="3200"/>
              <a:buFont typeface="Noto Sans Symbols"/>
              <a:buChar char="▪"/>
            </a:pPr>
            <a:r>
              <a:rPr i="1" lang="en-US" sz="3200">
                <a:solidFill>
                  <a:srgbClr val="010F90"/>
                </a:solidFill>
              </a:rPr>
              <a:t>technical: </a:t>
            </a:r>
            <a:r>
              <a:rPr lang="en-US" sz="3200"/>
              <a:t>how an ISP should share/allocation its resources</a:t>
            </a:r>
            <a:endParaRPr/>
          </a:p>
          <a:p>
            <a:pPr indent="-279400" lvl="1" marL="922338" rtl="0" algn="l">
              <a:lnSpc>
                <a:spcPct val="100000"/>
              </a:lnSpc>
              <a:spcBef>
                <a:spcPts val="500"/>
              </a:spcBef>
              <a:spcAft>
                <a:spcPts val="0"/>
              </a:spcAft>
              <a:buSzPts val="2800"/>
              <a:buChar char="•"/>
            </a:pPr>
            <a:r>
              <a:rPr lang="en-US" sz="2800"/>
              <a:t>packet scheduling, buffer management are the </a:t>
            </a:r>
            <a:r>
              <a:rPr i="1" lang="en-US" sz="2800"/>
              <a:t>mechanisms</a:t>
            </a:r>
            <a:endParaRPr/>
          </a:p>
          <a:p>
            <a:pPr indent="-282575" lvl="1" marL="465138" rtl="0" algn="l">
              <a:lnSpc>
                <a:spcPct val="100000"/>
              </a:lnSpc>
              <a:spcBef>
                <a:spcPts val="500"/>
              </a:spcBef>
              <a:spcAft>
                <a:spcPts val="0"/>
              </a:spcAft>
              <a:buSzPts val="3200"/>
              <a:buFont typeface="Noto Sans Symbols"/>
              <a:buChar char="▪"/>
            </a:pPr>
            <a:r>
              <a:rPr i="1" lang="en-US" sz="3200">
                <a:solidFill>
                  <a:srgbClr val="0000A3"/>
                </a:solidFill>
              </a:rPr>
              <a:t>social, economic  </a:t>
            </a:r>
            <a:r>
              <a:rPr lang="en-US" sz="3200"/>
              <a:t>principles </a:t>
            </a:r>
            <a:endParaRPr/>
          </a:p>
          <a:p>
            <a:pPr indent="-292100" lvl="2" marL="922338" rtl="0" algn="l">
              <a:lnSpc>
                <a:spcPct val="100000"/>
              </a:lnSpc>
              <a:spcBef>
                <a:spcPts val="500"/>
              </a:spcBef>
              <a:spcAft>
                <a:spcPts val="0"/>
              </a:spcAft>
              <a:buClr>
                <a:srgbClr val="0000A3"/>
              </a:buClr>
              <a:buSzPts val="2800"/>
              <a:buChar char="•"/>
            </a:pPr>
            <a:r>
              <a:rPr lang="en-US" sz="2800"/>
              <a:t>protecting free speech</a:t>
            </a:r>
            <a:endParaRPr/>
          </a:p>
          <a:p>
            <a:pPr indent="-292100" lvl="2" marL="922338" rtl="0" algn="l">
              <a:lnSpc>
                <a:spcPct val="100000"/>
              </a:lnSpc>
              <a:spcBef>
                <a:spcPts val="500"/>
              </a:spcBef>
              <a:spcAft>
                <a:spcPts val="0"/>
              </a:spcAft>
              <a:buClr>
                <a:srgbClr val="0000A3"/>
              </a:buClr>
              <a:buSzPts val="2800"/>
              <a:buChar char="•"/>
            </a:pPr>
            <a:r>
              <a:rPr lang="en-US" sz="2800"/>
              <a:t>encouraging innovation, competition</a:t>
            </a:r>
            <a:endParaRPr/>
          </a:p>
          <a:p>
            <a:pPr indent="-282575" lvl="1" marL="465138" rtl="0" algn="l">
              <a:lnSpc>
                <a:spcPct val="100000"/>
              </a:lnSpc>
              <a:spcBef>
                <a:spcPts val="500"/>
              </a:spcBef>
              <a:spcAft>
                <a:spcPts val="0"/>
              </a:spcAft>
              <a:buSzPts val="3200"/>
              <a:buFont typeface="Noto Sans Symbols"/>
              <a:buChar char="▪"/>
            </a:pPr>
            <a:r>
              <a:rPr lang="en-US" sz="3200"/>
              <a:t>enforced</a:t>
            </a:r>
            <a:r>
              <a:rPr i="1" lang="en-US" sz="3200"/>
              <a:t> </a:t>
            </a:r>
            <a:r>
              <a:rPr i="1" lang="en-US" sz="3200">
                <a:solidFill>
                  <a:srgbClr val="0000A3"/>
                </a:solidFill>
              </a:rPr>
              <a:t>legal</a:t>
            </a:r>
            <a:r>
              <a:rPr i="1" lang="en-US" sz="3200"/>
              <a:t> </a:t>
            </a:r>
            <a:r>
              <a:rPr lang="en-US" sz="3200"/>
              <a:t>rules and policies</a:t>
            </a:r>
            <a:endParaRPr/>
          </a:p>
        </p:txBody>
      </p:sp>
      <p:sp>
        <p:nvSpPr>
          <p:cNvPr id="1470" name="Google Shape;1470;p31"/>
          <p:cNvSpPr txBox="1"/>
          <p:nvPr/>
        </p:nvSpPr>
        <p:spPr>
          <a:xfrm>
            <a:off x="1197032" y="5702531"/>
            <a:ext cx="936012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800"/>
              <a:buFont typeface="Calibri"/>
              <a:buNone/>
            </a:pPr>
            <a:r>
              <a:rPr b="0" i="1" lang="en-US" sz="2800" u="none" cap="none" strike="noStrike">
                <a:solidFill>
                  <a:srgbClr val="C00000"/>
                </a:solidFill>
                <a:latin typeface="Calibri"/>
                <a:ea typeface="Calibri"/>
                <a:cs typeface="Calibri"/>
                <a:sym typeface="Calibri"/>
              </a:rPr>
              <a:t>Different countries have different “takes” on network neutrality</a:t>
            </a:r>
            <a:endParaRPr/>
          </a:p>
        </p:txBody>
      </p:sp>
      <p:sp>
        <p:nvSpPr>
          <p:cNvPr id="1471" name="Google Shape;1471;p3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69">
                                            <p:txEl>
                                              <p:pRg end="0" st="0"/>
                                            </p:txEl>
                                          </p:spTgt>
                                        </p:tgtEl>
                                        <p:attrNameLst>
                                          <p:attrName>style.visibility</p:attrName>
                                        </p:attrNameLst>
                                      </p:cBhvr>
                                      <p:to>
                                        <p:strVal val="visible"/>
                                      </p:to>
                                    </p:set>
                                    <p:animEffect filter="fade" transition="in">
                                      <p:cBhvr>
                                        <p:cTn dur="500"/>
                                        <p:tgtEl>
                                          <p:spTgt spid="1469">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69">
                                            <p:txEl>
                                              <p:pRg end="1" st="1"/>
                                            </p:txEl>
                                          </p:spTgt>
                                        </p:tgtEl>
                                        <p:attrNameLst>
                                          <p:attrName>style.visibility</p:attrName>
                                        </p:attrNameLst>
                                      </p:cBhvr>
                                      <p:to>
                                        <p:strVal val="visible"/>
                                      </p:to>
                                    </p:set>
                                    <p:animEffect filter="fade" transition="in">
                                      <p:cBhvr>
                                        <p:cTn dur="500"/>
                                        <p:tgtEl>
                                          <p:spTgt spid="1469">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69">
                                            <p:txEl>
                                              <p:pRg end="2" st="2"/>
                                            </p:txEl>
                                          </p:spTgt>
                                        </p:tgtEl>
                                        <p:attrNameLst>
                                          <p:attrName>style.visibility</p:attrName>
                                        </p:attrNameLst>
                                      </p:cBhvr>
                                      <p:to>
                                        <p:strVal val="visible"/>
                                      </p:to>
                                    </p:set>
                                    <p:animEffect filter="fade" transition="in">
                                      <p:cBhvr>
                                        <p:cTn dur="500"/>
                                        <p:tgtEl>
                                          <p:spTgt spid="1469">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69">
                                            <p:txEl>
                                              <p:pRg end="3" st="3"/>
                                            </p:txEl>
                                          </p:spTgt>
                                        </p:tgtEl>
                                        <p:attrNameLst>
                                          <p:attrName>style.visibility</p:attrName>
                                        </p:attrNameLst>
                                      </p:cBhvr>
                                      <p:to>
                                        <p:strVal val="visible"/>
                                      </p:to>
                                    </p:set>
                                    <p:animEffect filter="fade" transition="in">
                                      <p:cBhvr>
                                        <p:cTn dur="500"/>
                                        <p:tgtEl>
                                          <p:spTgt spid="1469">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69">
                                            <p:txEl>
                                              <p:pRg end="4" st="4"/>
                                            </p:txEl>
                                          </p:spTgt>
                                        </p:tgtEl>
                                        <p:attrNameLst>
                                          <p:attrName>style.visibility</p:attrName>
                                        </p:attrNameLst>
                                      </p:cBhvr>
                                      <p:to>
                                        <p:strVal val="visible"/>
                                      </p:to>
                                    </p:set>
                                    <p:animEffect filter="fade" transition="in">
                                      <p:cBhvr>
                                        <p:cTn dur="500"/>
                                        <p:tgtEl>
                                          <p:spTgt spid="1469">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69">
                                            <p:txEl>
                                              <p:pRg end="5" st="5"/>
                                            </p:txEl>
                                          </p:spTgt>
                                        </p:tgtEl>
                                        <p:attrNameLst>
                                          <p:attrName>style.visibility</p:attrName>
                                        </p:attrNameLst>
                                      </p:cBhvr>
                                      <p:to>
                                        <p:strVal val="visible"/>
                                      </p:to>
                                    </p:set>
                                    <p:animEffect filter="fade" transition="in">
                                      <p:cBhvr>
                                        <p:cTn dur="500"/>
                                        <p:tgtEl>
                                          <p:spTgt spid="1469">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69">
                                            <p:txEl>
                                              <p:pRg end="6" st="6"/>
                                            </p:txEl>
                                          </p:spTgt>
                                        </p:tgtEl>
                                        <p:attrNameLst>
                                          <p:attrName>style.visibility</p:attrName>
                                        </p:attrNameLst>
                                      </p:cBhvr>
                                      <p:to>
                                        <p:strVal val="visible"/>
                                      </p:to>
                                    </p:set>
                                    <p:animEffect filter="fade" transition="in">
                                      <p:cBhvr>
                                        <p:cTn dur="500"/>
                                        <p:tgtEl>
                                          <p:spTgt spid="146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0"/>
                                        </p:tgtEl>
                                        <p:attrNameLst>
                                          <p:attrName>style.visibility</p:attrName>
                                        </p:attrNameLst>
                                      </p:cBhvr>
                                      <p:to>
                                        <p:strVal val="visible"/>
                                      </p:to>
                                    </p:set>
                                    <p:animEffect filter="fade" transition="in">
                                      <p:cBhvr>
                                        <p:cTn dur="500"/>
                                        <p:tgtEl>
                                          <p:spTgt spid="14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6" name="Shape 1476"/>
        <p:cNvGrpSpPr/>
        <p:nvPr/>
      </p:nvGrpSpPr>
      <p:grpSpPr>
        <a:xfrm>
          <a:off x="0" y="0"/>
          <a:ext cx="0" cy="0"/>
          <a:chOff x="0" y="0"/>
          <a:chExt cx="0" cy="0"/>
        </a:xfrm>
      </p:grpSpPr>
      <p:sp>
        <p:nvSpPr>
          <p:cNvPr id="1477" name="Google Shape;1477;p3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Sidebar: Network Neutrality</a:t>
            </a:r>
            <a:endParaRPr/>
          </a:p>
        </p:txBody>
      </p:sp>
      <p:sp>
        <p:nvSpPr>
          <p:cNvPr id="1478" name="Google Shape;1478;p32"/>
          <p:cNvSpPr txBox="1"/>
          <p:nvPr>
            <p:ph idx="1" type="body"/>
          </p:nvPr>
        </p:nvSpPr>
        <p:spPr>
          <a:xfrm>
            <a:off x="877455" y="1787020"/>
            <a:ext cx="10758487" cy="46482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2800"/>
              <a:buNone/>
            </a:pPr>
            <a:r>
              <a:rPr lang="en-US"/>
              <a:t>2015 US FCC </a:t>
            </a:r>
            <a:r>
              <a:rPr i="1" lang="en-US"/>
              <a:t>Order on Protecting and Promoting an Open Internet: </a:t>
            </a:r>
            <a:r>
              <a:rPr lang="en-US"/>
              <a:t>three “clear, bright line” rules:</a:t>
            </a:r>
            <a:endParaRPr/>
          </a:p>
          <a:p>
            <a:pPr indent="-222250" lvl="0" marL="352425" rtl="0" algn="l">
              <a:lnSpc>
                <a:spcPct val="100000"/>
              </a:lnSpc>
              <a:spcBef>
                <a:spcPts val="1000"/>
              </a:spcBef>
              <a:spcAft>
                <a:spcPts val="0"/>
              </a:spcAft>
              <a:buSzPts val="3200"/>
              <a:buChar char="▪"/>
            </a:pPr>
            <a:r>
              <a:rPr lang="en-US" sz="3200">
                <a:solidFill>
                  <a:srgbClr val="010F90"/>
                </a:solidFill>
              </a:rPr>
              <a:t>no blocking </a:t>
            </a:r>
            <a:r>
              <a:rPr lang="en-US"/>
              <a:t>… “shall not block lawful content, applications, services, or non-harmful devices, subject to reasonable network management.”</a:t>
            </a:r>
            <a:endParaRPr/>
          </a:p>
          <a:p>
            <a:pPr indent="-222250" lvl="0" marL="352425" rtl="0" algn="l">
              <a:lnSpc>
                <a:spcPct val="100000"/>
              </a:lnSpc>
              <a:spcBef>
                <a:spcPts val="1000"/>
              </a:spcBef>
              <a:spcAft>
                <a:spcPts val="0"/>
              </a:spcAft>
              <a:buSzPts val="3200"/>
              <a:buChar char="▪"/>
            </a:pPr>
            <a:r>
              <a:rPr lang="en-US" sz="3200">
                <a:solidFill>
                  <a:srgbClr val="010F90"/>
                </a:solidFill>
              </a:rPr>
              <a:t>no throttling  </a:t>
            </a:r>
            <a:r>
              <a:rPr lang="en-US"/>
              <a:t>… “shall not impair or degrade lawful Internet traffic on the basis of Internet content, application, or service, or use of a non-harmful device, subject to reasonable network management.”</a:t>
            </a:r>
            <a:endParaRPr/>
          </a:p>
          <a:p>
            <a:pPr indent="-222250" lvl="0" marL="352425" rtl="0" algn="l">
              <a:lnSpc>
                <a:spcPct val="100000"/>
              </a:lnSpc>
              <a:spcBef>
                <a:spcPts val="1000"/>
              </a:spcBef>
              <a:spcAft>
                <a:spcPts val="0"/>
              </a:spcAft>
              <a:buSzPts val="3200"/>
              <a:buChar char="▪"/>
            </a:pPr>
            <a:r>
              <a:rPr lang="en-US" sz="3200">
                <a:solidFill>
                  <a:srgbClr val="010F90"/>
                </a:solidFill>
              </a:rPr>
              <a:t>no paid prioritization. </a:t>
            </a:r>
            <a:r>
              <a:rPr lang="en-US"/>
              <a:t>… “shall not engage in paid prioritization”</a:t>
            </a:r>
            <a:endParaRPr/>
          </a:p>
          <a:p>
            <a:pPr indent="0" lvl="0" marL="0" rtl="0" algn="l">
              <a:lnSpc>
                <a:spcPct val="90000"/>
              </a:lnSpc>
              <a:spcBef>
                <a:spcPts val="1000"/>
              </a:spcBef>
              <a:spcAft>
                <a:spcPts val="0"/>
              </a:spcAft>
              <a:buSzPts val="2800"/>
              <a:buNone/>
            </a:pPr>
            <a:r>
              <a:t/>
            </a:r>
            <a:endParaRPr/>
          </a:p>
        </p:txBody>
      </p:sp>
      <p:sp>
        <p:nvSpPr>
          <p:cNvPr id="1479" name="Google Shape;1479;p3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4" name="Shape 1484"/>
        <p:cNvGrpSpPr/>
        <p:nvPr/>
      </p:nvGrpSpPr>
      <p:grpSpPr>
        <a:xfrm>
          <a:off x="0" y="0"/>
          <a:ext cx="0" cy="0"/>
          <a:chOff x="0" y="0"/>
          <a:chExt cx="0" cy="0"/>
        </a:xfrm>
      </p:grpSpPr>
      <p:sp>
        <p:nvSpPr>
          <p:cNvPr id="1485" name="Google Shape;1485;p33"/>
          <p:cNvSpPr txBox="1"/>
          <p:nvPr>
            <p:ph type="title"/>
          </p:nvPr>
        </p:nvSpPr>
        <p:spPr>
          <a:xfrm>
            <a:off x="442913" y="230147"/>
            <a:ext cx="11749087"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90"/>
              </a:buClr>
              <a:buSzPts val="4400"/>
              <a:buFont typeface="Calibri"/>
              <a:buNone/>
            </a:pPr>
            <a:r>
              <a:rPr lang="en-US">
                <a:solidFill>
                  <a:srgbClr val="000090"/>
                </a:solidFill>
              </a:rPr>
              <a:t>ISP: telecommunications or information service?</a:t>
            </a:r>
            <a:endParaRPr/>
          </a:p>
        </p:txBody>
      </p:sp>
      <p:sp>
        <p:nvSpPr>
          <p:cNvPr id="1486" name="Google Shape;1486;p33"/>
          <p:cNvSpPr txBox="1"/>
          <p:nvPr>
            <p:ph idx="1" type="body"/>
          </p:nvPr>
        </p:nvSpPr>
        <p:spPr>
          <a:xfrm>
            <a:off x="390805" y="3052761"/>
            <a:ext cx="11015663" cy="34690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3200"/>
              <a:buNone/>
            </a:pPr>
            <a:r>
              <a:rPr lang="en-US" sz="3200"/>
              <a:t>US Telecommunication Act of 1934 and 1996: </a:t>
            </a:r>
            <a:endParaRPr/>
          </a:p>
          <a:p>
            <a:pPr indent="-231775" lvl="1" marL="695325" rtl="0" algn="l">
              <a:lnSpc>
                <a:spcPct val="90000"/>
              </a:lnSpc>
              <a:spcBef>
                <a:spcPts val="500"/>
              </a:spcBef>
              <a:spcAft>
                <a:spcPts val="0"/>
              </a:spcAft>
              <a:buSzPts val="2800"/>
              <a:buChar char="•"/>
            </a:pPr>
            <a:r>
              <a:rPr i="1" lang="en-US" sz="2800">
                <a:solidFill>
                  <a:srgbClr val="C00000"/>
                </a:solidFill>
              </a:rPr>
              <a:t>Title II: </a:t>
            </a:r>
            <a:r>
              <a:rPr lang="en-US" sz="2800"/>
              <a:t>imposes “common carrier duties” on </a:t>
            </a:r>
            <a:r>
              <a:rPr i="1" lang="en-US" sz="2800">
                <a:solidFill>
                  <a:srgbClr val="C00000"/>
                </a:solidFill>
              </a:rPr>
              <a:t>telecommunications services</a:t>
            </a:r>
            <a:r>
              <a:rPr lang="en-US" sz="2800">
                <a:solidFill>
                  <a:srgbClr val="C00000"/>
                </a:solidFill>
              </a:rPr>
              <a:t>:</a:t>
            </a:r>
            <a:r>
              <a:rPr lang="en-US" sz="2800"/>
              <a:t> reasonable rates, non-discrimination and </a:t>
            </a:r>
            <a:r>
              <a:rPr i="1" lang="en-US" sz="2800"/>
              <a:t>requires</a:t>
            </a:r>
            <a:r>
              <a:rPr lang="en-US" sz="2800"/>
              <a:t> </a:t>
            </a:r>
            <a:r>
              <a:rPr i="1" lang="en-US" sz="2800"/>
              <a:t>regulation</a:t>
            </a:r>
            <a:endParaRPr sz="2800"/>
          </a:p>
          <a:p>
            <a:pPr indent="-231775" lvl="1" marL="695325" rtl="0" algn="l">
              <a:lnSpc>
                <a:spcPct val="90000"/>
              </a:lnSpc>
              <a:spcBef>
                <a:spcPts val="500"/>
              </a:spcBef>
              <a:spcAft>
                <a:spcPts val="0"/>
              </a:spcAft>
              <a:buSzPts val="2800"/>
              <a:buChar char="•"/>
            </a:pPr>
            <a:r>
              <a:rPr i="1" lang="en-US" sz="2800">
                <a:solidFill>
                  <a:srgbClr val="C00000"/>
                </a:solidFill>
              </a:rPr>
              <a:t>Title I: </a:t>
            </a:r>
            <a:r>
              <a:rPr lang="en-US" sz="2800"/>
              <a:t>applies to </a:t>
            </a:r>
            <a:r>
              <a:rPr i="1" lang="en-US" sz="2800">
                <a:solidFill>
                  <a:srgbClr val="C00000"/>
                </a:solidFill>
              </a:rPr>
              <a:t>information services: </a:t>
            </a:r>
            <a:endParaRPr/>
          </a:p>
          <a:p>
            <a:pPr indent="-228600" lvl="2" marL="1143000" rtl="0" algn="l">
              <a:lnSpc>
                <a:spcPct val="90000"/>
              </a:lnSpc>
              <a:spcBef>
                <a:spcPts val="500"/>
              </a:spcBef>
              <a:spcAft>
                <a:spcPts val="0"/>
              </a:spcAft>
              <a:buClr>
                <a:schemeClr val="dk1"/>
              </a:buClr>
              <a:buSzPts val="2800"/>
              <a:buChar char="•"/>
            </a:pPr>
            <a:r>
              <a:rPr lang="en-US" sz="2800"/>
              <a:t>no common carrier duties (</a:t>
            </a:r>
            <a:r>
              <a:rPr i="1" lang="en-US" sz="2800"/>
              <a:t>not regulated</a:t>
            </a:r>
            <a:r>
              <a:rPr lang="en-US" sz="2800"/>
              <a:t>)</a:t>
            </a:r>
            <a:endParaRPr/>
          </a:p>
          <a:p>
            <a:pPr indent="-228600" lvl="2" marL="1143000" rtl="0" algn="l">
              <a:lnSpc>
                <a:spcPct val="90000"/>
              </a:lnSpc>
              <a:spcBef>
                <a:spcPts val="500"/>
              </a:spcBef>
              <a:spcAft>
                <a:spcPts val="0"/>
              </a:spcAft>
              <a:buClr>
                <a:schemeClr val="dk1"/>
              </a:buClr>
              <a:buSzPts val="2800"/>
              <a:buChar char="•"/>
            </a:pPr>
            <a:r>
              <a:rPr lang="en-US" sz="2800"/>
              <a:t>but grants FCC authority  “… as may be necessary in the execution of its functions”</a:t>
            </a:r>
            <a:r>
              <a:rPr lang="en-US" sz="500"/>
              <a:t>4</a:t>
            </a:r>
            <a:endParaRPr/>
          </a:p>
        </p:txBody>
      </p:sp>
      <p:sp>
        <p:nvSpPr>
          <p:cNvPr id="1487" name="Google Shape;1487;p33"/>
          <p:cNvSpPr txBox="1"/>
          <p:nvPr/>
        </p:nvSpPr>
        <p:spPr>
          <a:xfrm>
            <a:off x="524437" y="1358153"/>
            <a:ext cx="10542493" cy="1409617"/>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Is an ISP a “telecommunications service” or an “information service” provider?</a:t>
            </a:r>
            <a:endParaRPr/>
          </a:p>
          <a:p>
            <a:pPr indent="-280988" lvl="0" marL="520700" marR="0" rtl="0" algn="l">
              <a:lnSpc>
                <a:spcPct val="10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the answer </a:t>
            </a:r>
            <a:r>
              <a:rPr b="0" i="1" lang="en-US" sz="2800" u="none" cap="none" strike="noStrike">
                <a:solidFill>
                  <a:srgbClr val="000000"/>
                </a:solidFill>
                <a:latin typeface="Calibri"/>
                <a:ea typeface="Calibri"/>
                <a:cs typeface="Calibri"/>
                <a:sym typeface="Calibri"/>
              </a:rPr>
              <a:t>really</a:t>
            </a:r>
            <a:r>
              <a:rPr b="0" i="0" lang="en-US" sz="2800" u="none" cap="none" strike="noStrike">
                <a:solidFill>
                  <a:srgbClr val="000000"/>
                </a:solidFill>
                <a:latin typeface="Calibri"/>
                <a:ea typeface="Calibri"/>
                <a:cs typeface="Calibri"/>
                <a:sym typeface="Calibri"/>
              </a:rPr>
              <a:t> matters from a regulatory standpoint!</a:t>
            </a:r>
            <a:endParaRPr/>
          </a:p>
        </p:txBody>
      </p:sp>
      <p:sp>
        <p:nvSpPr>
          <p:cNvPr id="1488" name="Google Shape;1488;p3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Network Layer: 4-</a:t>
            </a: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6">
                                            <p:txEl>
                                              <p:pRg end="0" st="0"/>
                                            </p:txEl>
                                          </p:spTgt>
                                        </p:tgtEl>
                                        <p:attrNameLst>
                                          <p:attrName>style.visibility</p:attrName>
                                        </p:attrNameLst>
                                      </p:cBhvr>
                                      <p:to>
                                        <p:strVal val="visible"/>
                                      </p:to>
                                    </p:set>
                                    <p:animEffect filter="fade" transition="in">
                                      <p:cBhvr>
                                        <p:cTn dur="500"/>
                                        <p:tgtEl>
                                          <p:spTgt spid="148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6">
                                            <p:txEl>
                                              <p:pRg end="1" st="1"/>
                                            </p:txEl>
                                          </p:spTgt>
                                        </p:tgtEl>
                                        <p:attrNameLst>
                                          <p:attrName>style.visibility</p:attrName>
                                        </p:attrNameLst>
                                      </p:cBhvr>
                                      <p:to>
                                        <p:strVal val="visible"/>
                                      </p:to>
                                    </p:set>
                                    <p:animEffect filter="fade" transition="in">
                                      <p:cBhvr>
                                        <p:cTn dur="500"/>
                                        <p:tgtEl>
                                          <p:spTgt spid="148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6">
                                            <p:txEl>
                                              <p:pRg end="2" st="2"/>
                                            </p:txEl>
                                          </p:spTgt>
                                        </p:tgtEl>
                                        <p:attrNameLst>
                                          <p:attrName>style.visibility</p:attrName>
                                        </p:attrNameLst>
                                      </p:cBhvr>
                                      <p:to>
                                        <p:strVal val="visible"/>
                                      </p:to>
                                    </p:set>
                                    <p:animEffect filter="fade" transition="in">
                                      <p:cBhvr>
                                        <p:cTn dur="500"/>
                                        <p:tgtEl>
                                          <p:spTgt spid="148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6">
                                            <p:txEl>
                                              <p:pRg end="3" st="3"/>
                                            </p:txEl>
                                          </p:spTgt>
                                        </p:tgtEl>
                                        <p:attrNameLst>
                                          <p:attrName>style.visibility</p:attrName>
                                        </p:attrNameLst>
                                      </p:cBhvr>
                                      <p:to>
                                        <p:strVal val="visible"/>
                                      </p:to>
                                    </p:set>
                                    <p:animEffect filter="fade" transition="in">
                                      <p:cBhvr>
                                        <p:cTn dur="500"/>
                                        <p:tgtEl>
                                          <p:spTgt spid="148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6">
                                            <p:txEl>
                                              <p:pRg end="4" st="4"/>
                                            </p:txEl>
                                          </p:spTgt>
                                        </p:tgtEl>
                                        <p:attrNameLst>
                                          <p:attrName>style.visibility</p:attrName>
                                        </p:attrNameLst>
                                      </p:cBhvr>
                                      <p:to>
                                        <p:strVal val="visible"/>
                                      </p:to>
                                    </p:set>
                                    <p:animEffect filter="fade" transition="in">
                                      <p:cBhvr>
                                        <p:cTn dur="500"/>
                                        <p:tgtEl>
                                          <p:spTgt spid="1486">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3" name="Shape 1493"/>
        <p:cNvGrpSpPr/>
        <p:nvPr/>
      </p:nvGrpSpPr>
      <p:grpSpPr>
        <a:xfrm>
          <a:off x="0" y="0"/>
          <a:ext cx="0" cy="0"/>
          <a:chOff x="0" y="0"/>
          <a:chExt cx="0" cy="0"/>
        </a:xfrm>
      </p:grpSpPr>
      <p:sp>
        <p:nvSpPr>
          <p:cNvPr id="1494" name="Google Shape;1494;p34"/>
          <p:cNvSpPr txBox="1"/>
          <p:nvPr>
            <p:ph type="title"/>
          </p:nvPr>
        </p:nvSpPr>
        <p:spPr>
          <a:xfrm>
            <a:off x="580529" y="650420"/>
            <a:ext cx="6551791" cy="1650991"/>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A3"/>
              </a:buClr>
              <a:buSzPct val="100000"/>
              <a:buFont typeface="Calibri"/>
              <a:buNone/>
            </a:pPr>
            <a:r>
              <a:rPr lang="en-US" sz="6000"/>
              <a:t>Network Layer:</a:t>
            </a:r>
            <a:br>
              <a:rPr lang="en-US" sz="6000"/>
            </a:br>
            <a:r>
              <a:rPr lang="en-US" sz="6000"/>
              <a:t>Data Plane</a:t>
            </a:r>
            <a:endParaRPr sz="6000"/>
          </a:p>
        </p:txBody>
      </p:sp>
      <p:sp>
        <p:nvSpPr>
          <p:cNvPr id="1495" name="Google Shape;1495;p34"/>
          <p:cNvSpPr txBox="1"/>
          <p:nvPr>
            <p:ph idx="2" type="body"/>
          </p:nvPr>
        </p:nvSpPr>
        <p:spPr>
          <a:xfrm>
            <a:off x="518511" y="2492753"/>
            <a:ext cx="7372469" cy="4173132"/>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2800"/>
              <a:buChar char="▪"/>
            </a:pPr>
            <a:r>
              <a:rPr lang="en-US">
                <a:solidFill>
                  <a:srgbClr val="BFBFBF"/>
                </a:solidFill>
              </a:rPr>
              <a:t>Overview of Network Layer	 </a:t>
            </a:r>
            <a:endParaRPr/>
          </a:p>
          <a:p>
            <a:pPr indent="-285750" lvl="0" marL="403225" rtl="0" algn="l">
              <a:lnSpc>
                <a:spcPct val="90000"/>
              </a:lnSpc>
              <a:spcBef>
                <a:spcPts val="800"/>
              </a:spcBef>
              <a:spcAft>
                <a:spcPts val="0"/>
              </a:spcAft>
              <a:buSzPts val="3600"/>
              <a:buChar char="▪"/>
            </a:pPr>
            <a:r>
              <a:rPr lang="en-US" sz="3600"/>
              <a:t>What’s Inside a Router? </a:t>
            </a:r>
            <a:endParaRPr/>
          </a:p>
          <a:p>
            <a:pPr indent="-285750" lvl="0" marL="403225" rtl="0" algn="l">
              <a:lnSpc>
                <a:spcPct val="90000"/>
              </a:lnSpc>
              <a:spcBef>
                <a:spcPts val="800"/>
              </a:spcBef>
              <a:spcAft>
                <a:spcPts val="0"/>
              </a:spcAft>
              <a:buClr>
                <a:srgbClr val="BFBFBF"/>
              </a:buClr>
              <a:buSzPts val="2800"/>
              <a:buChar char="▪"/>
            </a:pPr>
            <a:r>
              <a:rPr lang="en-US">
                <a:solidFill>
                  <a:srgbClr val="BFBFBF"/>
                </a:solidFill>
              </a:rPr>
              <a:t>The Internet Protocol</a:t>
            </a:r>
            <a:endParaRPr/>
          </a:p>
          <a:p>
            <a:pPr indent="-285750" lvl="0" marL="403225" rtl="0" algn="l">
              <a:lnSpc>
                <a:spcPct val="90000"/>
              </a:lnSpc>
              <a:spcBef>
                <a:spcPts val="800"/>
              </a:spcBef>
              <a:spcAft>
                <a:spcPts val="0"/>
              </a:spcAft>
              <a:buClr>
                <a:srgbClr val="BFBFBF"/>
              </a:buClr>
              <a:buSzPts val="2800"/>
              <a:buChar char="▪"/>
            </a:pPr>
            <a:r>
              <a:rPr lang="en-US">
                <a:solidFill>
                  <a:srgbClr val="BFBFBF"/>
                </a:solidFill>
              </a:rPr>
              <a:t>Generalized Forwarding and SDN </a:t>
            </a:r>
            <a:endParaRPr/>
          </a:p>
          <a:p>
            <a:pPr indent="-285750" lvl="0" marL="403225" rtl="0" algn="l">
              <a:lnSpc>
                <a:spcPct val="90000"/>
              </a:lnSpc>
              <a:spcBef>
                <a:spcPts val="800"/>
              </a:spcBef>
              <a:spcAft>
                <a:spcPts val="0"/>
              </a:spcAft>
              <a:buClr>
                <a:srgbClr val="BFBFBF"/>
              </a:buClr>
              <a:buSzPts val="2800"/>
              <a:buChar char="▪"/>
            </a:pPr>
            <a:r>
              <a:rPr lang="en-US">
                <a:solidFill>
                  <a:srgbClr val="BFBFBF"/>
                </a:solidFill>
              </a:rPr>
              <a:t>Middleboxes</a:t>
            </a:r>
            <a:endParaRPr/>
          </a:p>
          <a:p>
            <a:pPr indent="-285750" lvl="0" marL="403225" rtl="0" algn="l">
              <a:lnSpc>
                <a:spcPct val="90000"/>
              </a:lnSpc>
              <a:spcBef>
                <a:spcPts val="800"/>
              </a:spcBef>
              <a:spcAft>
                <a:spcPts val="0"/>
              </a:spcAft>
              <a:buClr>
                <a:srgbClr val="BFBFBF"/>
              </a:buClr>
              <a:buSzPts val="2800"/>
              <a:buChar char="▪"/>
            </a:pPr>
            <a:r>
              <a:rPr lang="en-US">
                <a:solidFill>
                  <a:srgbClr val="BFBFBF"/>
                </a:solidFill>
              </a:rPr>
              <a:t>Summary</a:t>
            </a:r>
            <a:endParaRPr/>
          </a:p>
        </p:txBody>
      </p:sp>
      <p:grpSp>
        <p:nvGrpSpPr>
          <p:cNvPr id="1496" name="Google Shape;1496;p34"/>
          <p:cNvGrpSpPr/>
          <p:nvPr/>
        </p:nvGrpSpPr>
        <p:grpSpPr>
          <a:xfrm>
            <a:off x="7421880" y="792480"/>
            <a:ext cx="4399280" cy="3866277"/>
            <a:chOff x="7421880" y="792480"/>
            <a:chExt cx="4399280" cy="3866277"/>
          </a:xfrm>
        </p:grpSpPr>
        <p:pic>
          <p:nvPicPr>
            <p:cNvPr descr="University of Massachusetts Amherst - Wikipedia" id="1497" name="Google Shape;1497;p34"/>
            <p:cNvPicPr preferRelativeResize="0"/>
            <p:nvPr/>
          </p:nvPicPr>
          <p:blipFill rotWithShape="1">
            <a:blip r:embed="rId3">
              <a:alphaModFix/>
            </a:blip>
            <a:srcRect b="0" l="0" r="0" t="0"/>
            <a:stretch/>
          </p:blipFill>
          <p:spPr>
            <a:xfrm>
              <a:off x="10886440" y="2125980"/>
              <a:ext cx="848360" cy="848360"/>
            </a:xfrm>
            <a:prstGeom prst="rect">
              <a:avLst/>
            </a:prstGeom>
            <a:noFill/>
            <a:ln>
              <a:noFill/>
            </a:ln>
          </p:spPr>
        </p:pic>
        <p:sp>
          <p:nvSpPr>
            <p:cNvPr id="1498" name="Google Shape;1498;p34"/>
            <p:cNvSpPr txBox="1"/>
            <p:nvPr/>
          </p:nvSpPr>
          <p:spPr>
            <a:xfrm>
              <a:off x="7421880" y="792480"/>
              <a:ext cx="4399280" cy="138499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COMPSCI 453 </a:t>
              </a:r>
              <a:r>
                <a:rPr b="0" i="0" lang="en-US" sz="2800" u="none" cap="none" strike="noStrike">
                  <a:solidFill>
                    <a:srgbClr val="0013A3"/>
                  </a:solidFill>
                  <a:latin typeface="Calibri"/>
                  <a:ea typeface="Calibri"/>
                  <a:cs typeface="Calibri"/>
                  <a:sym typeface="Calibri"/>
                </a:rPr>
                <a:t>Computer Networks</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Professor Jim Kurose</a:t>
              </a:r>
              <a:endParaRPr/>
            </a:p>
            <a:p>
              <a:pPr indent="0" lvl="0" marL="0" marR="0" rtl="0" algn="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College of Information and Computer Sciences</a:t>
              </a:r>
              <a:endParaRPr/>
            </a:p>
            <a:p>
              <a:pPr indent="0" lvl="0" marL="0" marR="0" rtl="0" algn="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University of Massachusetts </a:t>
              </a:r>
              <a:endParaRPr/>
            </a:p>
          </p:txBody>
        </p:sp>
        <p:grpSp>
          <p:nvGrpSpPr>
            <p:cNvPr id="1499" name="Google Shape;1499;p34"/>
            <p:cNvGrpSpPr/>
            <p:nvPr/>
          </p:nvGrpSpPr>
          <p:grpSpPr>
            <a:xfrm>
              <a:off x="7884160" y="3304540"/>
              <a:ext cx="3857707" cy="1354217"/>
              <a:chOff x="7904480" y="4206240"/>
              <a:chExt cx="3857707" cy="1354217"/>
            </a:xfrm>
          </p:grpSpPr>
          <p:pic>
            <p:nvPicPr>
              <p:cNvPr descr="Kurose_CVR_REV2.jpg" id="1500" name="Google Shape;1500;p34"/>
              <p:cNvPicPr preferRelativeResize="0"/>
              <p:nvPr/>
            </p:nvPicPr>
            <p:blipFill rotWithShape="1">
              <a:blip r:embed="rId4">
                <a:alphaModFix/>
              </a:blip>
              <a:srcRect b="0" l="0" r="0" t="0"/>
              <a:stretch/>
            </p:blipFill>
            <p:spPr>
              <a:xfrm>
                <a:off x="10828020" y="4246880"/>
                <a:ext cx="934167" cy="1224438"/>
              </a:xfrm>
              <a:prstGeom prst="rect">
                <a:avLst/>
              </a:prstGeom>
              <a:noFill/>
              <a:ln>
                <a:noFill/>
              </a:ln>
            </p:spPr>
          </p:pic>
          <p:sp>
            <p:nvSpPr>
              <p:cNvPr id="1501" name="Google Shape;1501;p34"/>
              <p:cNvSpPr txBox="1"/>
              <p:nvPr/>
            </p:nvSpPr>
            <p:spPr>
              <a:xfrm>
                <a:off x="7904480" y="4206240"/>
                <a:ext cx="2885440" cy="135421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Class textbook: </a:t>
                </a:r>
                <a:endParaRPr/>
              </a:p>
              <a:p>
                <a:pPr indent="0" lvl="0" marL="0" marR="0" rtl="0" algn="r">
                  <a:lnSpc>
                    <a:spcPct val="100000"/>
                  </a:lnSpc>
                  <a:spcBef>
                    <a:spcPts val="0"/>
                  </a:spcBef>
                  <a:spcAft>
                    <a:spcPts val="0"/>
                  </a:spcAft>
                  <a:buClr>
                    <a:srgbClr val="000000"/>
                  </a:buClr>
                  <a:buSzPts val="1600"/>
                  <a:buFont typeface="Calibri"/>
                  <a:buNone/>
                </a:pPr>
                <a:r>
                  <a:rPr b="0" i="1" lang="en-US" sz="1600" u="none" cap="none" strike="noStrike">
                    <a:solidFill>
                      <a:srgbClr val="000000"/>
                    </a:solidFill>
                    <a:latin typeface="Calibri"/>
                    <a:ea typeface="Calibri"/>
                    <a:cs typeface="Calibri"/>
                    <a:sym typeface="Calibri"/>
                  </a:rPr>
                  <a:t>Computer Networking: A Top-Down Approach </a:t>
                </a:r>
                <a:r>
                  <a:rPr b="0" i="1" lang="en-US" sz="1400" u="none" cap="none" strike="noStrike">
                    <a:solidFill>
                      <a:srgbClr val="000000"/>
                    </a:solidFill>
                    <a:latin typeface="Calibri"/>
                    <a:ea typeface="Calibri"/>
                    <a:cs typeface="Calibri"/>
                    <a:sym typeface="Calibri"/>
                  </a:rPr>
                  <a:t>(8</a:t>
                </a:r>
                <a:r>
                  <a:rPr b="0" baseline="30000" i="1" lang="en-US" sz="1400" u="none" cap="none" strike="noStrike">
                    <a:solidFill>
                      <a:srgbClr val="000000"/>
                    </a:solidFill>
                    <a:latin typeface="Calibri"/>
                    <a:ea typeface="Calibri"/>
                    <a:cs typeface="Calibri"/>
                    <a:sym typeface="Calibri"/>
                  </a:rPr>
                  <a:t>th</a:t>
                </a:r>
                <a:r>
                  <a:rPr b="0" i="1" lang="en-US" sz="1400" u="none" cap="none" strike="noStrike">
                    <a:solidFill>
                      <a:srgbClr val="000000"/>
                    </a:solidFill>
                    <a:latin typeface="Calibri"/>
                    <a:ea typeface="Calibri"/>
                    <a:cs typeface="Calibri"/>
                    <a:sym typeface="Calibri"/>
                  </a:rPr>
                  <a:t> ed.)</a:t>
                </a:r>
                <a:endParaRPr b="0" i="1" sz="1600" u="none" cap="none" strike="noStrike">
                  <a:solidFill>
                    <a:srgbClr val="000000"/>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J.F. Kurose, K.W. Ross</a:t>
                </a:r>
                <a:endParaRPr/>
              </a:p>
              <a:p>
                <a:pPr indent="0" lvl="0" marL="0" marR="0" rtl="0" algn="r">
                  <a:lnSpc>
                    <a:spcPct val="100000"/>
                  </a:lnSpc>
                  <a:spcBef>
                    <a:spcPts val="0"/>
                  </a:spcBef>
                  <a:spcAft>
                    <a:spcPts val="0"/>
                  </a:spcAft>
                  <a:buClr>
                    <a:srgbClr val="000000"/>
                  </a:buClr>
                  <a:buSzPts val="1100"/>
                  <a:buFont typeface="Calibri"/>
                  <a:buNone/>
                </a:pPr>
                <a:r>
                  <a:rPr b="0" i="0" lang="en-US" sz="1100" u="none" cap="none" strike="noStrike">
                    <a:solidFill>
                      <a:srgbClr val="000000"/>
                    </a:solidFill>
                    <a:latin typeface="Calibri"/>
                    <a:ea typeface="Calibri"/>
                    <a:cs typeface="Calibri"/>
                    <a:sym typeface="Calibri"/>
                  </a:rPr>
                  <a:t>Pearson, 2020</a:t>
                </a:r>
                <a:endParaRPr/>
              </a:p>
              <a:p>
                <a:pPr indent="0" lvl="0" marL="0" marR="0" rtl="0" algn="r">
                  <a:lnSpc>
                    <a:spcPct val="10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http://gaia.cs.umass.edu/kurose_ross</a:t>
                </a:r>
                <a:endParaRPr b="0" i="0" sz="1100" u="none" cap="none" strike="noStrike">
                  <a:solidFill>
                    <a:srgbClr val="000000"/>
                  </a:solidFill>
                  <a:latin typeface="Calibri"/>
                  <a:ea typeface="Calibri"/>
                  <a:cs typeface="Calibri"/>
                  <a:sym typeface="Calibri"/>
                </a:endParaRPr>
              </a:p>
            </p:txBody>
          </p:sp>
        </p:grpSp>
      </p:gr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