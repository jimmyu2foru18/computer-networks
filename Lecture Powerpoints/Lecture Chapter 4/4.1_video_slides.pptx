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Gill Sans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GillSans-bold.fntdata"/><Relationship Id="rId6" Type="http://schemas.openxmlformats.org/officeDocument/2006/relationships/slide" Target="slides/slide1.xml"/><Relationship Id="rId18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4" name="Google Shape;12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8" name="Google Shape;127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5" name="Google Shape;1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Relationship Id="rId4" Type="http://schemas.openxmlformats.org/officeDocument/2006/relationships/image" Target="../media/image4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6.png"/><Relationship Id="rId11" Type="http://schemas.openxmlformats.org/officeDocument/2006/relationships/image" Target="../media/image13.png"/><Relationship Id="rId22" Type="http://schemas.openxmlformats.org/officeDocument/2006/relationships/image" Target="../media/image22.png"/><Relationship Id="rId10" Type="http://schemas.openxmlformats.org/officeDocument/2006/relationships/image" Target="../media/image23.png"/><Relationship Id="rId21" Type="http://schemas.openxmlformats.org/officeDocument/2006/relationships/image" Target="../media/image18.png"/><Relationship Id="rId13" Type="http://schemas.openxmlformats.org/officeDocument/2006/relationships/image" Target="../media/image27.png"/><Relationship Id="rId12" Type="http://schemas.openxmlformats.org/officeDocument/2006/relationships/image" Target="../media/image5.png"/><Relationship Id="rId23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.png"/><Relationship Id="rId15" Type="http://schemas.openxmlformats.org/officeDocument/2006/relationships/image" Target="../media/image28.png"/><Relationship Id="rId14" Type="http://schemas.openxmlformats.org/officeDocument/2006/relationships/image" Target="../media/image6.png"/><Relationship Id="rId17" Type="http://schemas.openxmlformats.org/officeDocument/2006/relationships/image" Target="../media/image14.png"/><Relationship Id="rId16" Type="http://schemas.openxmlformats.org/officeDocument/2006/relationships/image" Target="../media/image11.png"/><Relationship Id="rId5" Type="http://schemas.openxmlformats.org/officeDocument/2006/relationships/image" Target="../media/image1.png"/><Relationship Id="rId19" Type="http://schemas.openxmlformats.org/officeDocument/2006/relationships/image" Target="../media/image29.png"/><Relationship Id="rId6" Type="http://schemas.openxmlformats.org/officeDocument/2006/relationships/image" Target="../media/image3.png"/><Relationship Id="rId18" Type="http://schemas.openxmlformats.org/officeDocument/2006/relationships/image" Target="../media/image30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4.jpg"/><Relationship Id="rId4" Type="http://schemas.openxmlformats.org/officeDocument/2006/relationships/image" Target="../media/image3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42.jpg"/><Relationship Id="rId5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Overview of Network Layer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The Internet Protocol: IPv4, Addressing, NAT IPv6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Generalized Forwarding and SDN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layer: our goals</a:t>
            </a:r>
            <a:endParaRPr/>
          </a:p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layer services, focusing on data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layer service models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forwarding versus routing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how a router works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addressing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generalized forwarding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Internet architecture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172199" y="1572573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IP protocol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NAT, middleboxes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Network-layer  services and protocols</a:t>
            </a:r>
            <a:endParaRPr sz="4400"/>
          </a:p>
        </p:txBody>
      </p:sp>
      <p:sp>
        <p:nvSpPr>
          <p:cNvPr id="56" name="Google Shape;56;p8"/>
          <p:cNvSpPr txBox="1"/>
          <p:nvPr/>
        </p:nvSpPr>
        <p:spPr>
          <a:xfrm>
            <a:off x="681218" y="1443831"/>
            <a:ext cx="5617981" cy="5284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 segment from sending to receiving host 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sender: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encapsulates segments into datagrams, passes to link layer</a:t>
            </a:r>
            <a:endParaRPr/>
          </a:p>
          <a:p>
            <a:pPr indent="-222250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13A3"/>
                </a:solidFill>
                <a:latin typeface="Calibri"/>
                <a:ea typeface="Calibri"/>
                <a:cs typeface="Calibri"/>
                <a:sym typeface="Calibri"/>
              </a:rPr>
              <a:t>receiver: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delivers segments to transport layer protocol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layer protocols in </a:t>
            </a: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every Internet device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hosts, routers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92099" lvl="1" marL="695325" marR="0" rtl="0" algn="l">
              <a:lnSpc>
                <a:spcPct val="99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examines header fields in all IP datagrams passing through it</a:t>
            </a:r>
            <a:endParaRPr/>
          </a:p>
          <a:p>
            <a:pPr indent="-292099" lvl="1" marL="695325" marR="0" rtl="0" algn="l">
              <a:lnSpc>
                <a:spcPct val="99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Arial"/>
              <a:buChar char="•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moves datagrams from input ports to output ports to transfer datagrams along end-end path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8985188" y="3065778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7274076" y="1826035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" name="Google Shape;59;p8"/>
          <p:cNvGrpSpPr/>
          <p:nvPr/>
        </p:nvGrpSpPr>
        <p:grpSpPr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60" name="Google Shape;60;p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8"/>
          <p:cNvSpPr/>
          <p:nvPr/>
        </p:nvSpPr>
        <p:spPr>
          <a:xfrm>
            <a:off x="7712401" y="4683134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8"/>
          <p:cNvSpPr txBox="1"/>
          <p:nvPr/>
        </p:nvSpPr>
        <p:spPr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0222146" y="3179540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8"/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67" name="Google Shape;67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" name="Google Shape;69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" name="Google Shape;70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" name="Google Shape;71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" name="Google Shape;73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4" name="Google Shape;74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5" name="Google Shape;75;p8"/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76" name="Google Shape;76;p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" name="Google Shape;78;p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" name="Google Shape;79;p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0" name="Google Shape;80;p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" name="Google Shape;81;p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2" name="Google Shape;82;p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" name="Google Shape;83;p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4" name="Google Shape;84;p8"/>
          <p:cNvSpPr/>
          <p:nvPr/>
        </p:nvSpPr>
        <p:spPr>
          <a:xfrm>
            <a:off x="9540813" y="1782042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88" name="Google Shape;88;p8"/>
          <p:cNvCxnSpPr/>
          <p:nvPr/>
        </p:nvCxnSpPr>
        <p:spPr>
          <a:xfrm rot="10800000">
            <a:off x="10559920" y="3580125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8"/>
          <p:cNvCxnSpPr/>
          <p:nvPr/>
        </p:nvCxnSpPr>
        <p:spPr>
          <a:xfrm rot="10800000">
            <a:off x="10660835" y="3640684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8"/>
          <p:cNvCxnSpPr/>
          <p:nvPr/>
        </p:nvCxnSpPr>
        <p:spPr>
          <a:xfrm flipH="1" rot="10800000">
            <a:off x="10636897" y="3633421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" name="Google Shape;91;p8"/>
          <p:cNvCxnSpPr/>
          <p:nvPr/>
        </p:nvCxnSpPr>
        <p:spPr>
          <a:xfrm rot="10800000">
            <a:off x="10570774" y="3594896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2" name="Google Shape;92;p8"/>
          <p:cNvCxnSpPr/>
          <p:nvPr/>
        </p:nvCxnSpPr>
        <p:spPr>
          <a:xfrm rot="10800000">
            <a:off x="10550620" y="4071642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3" name="Google Shape;93;p8"/>
          <p:cNvCxnSpPr/>
          <p:nvPr/>
        </p:nvCxnSpPr>
        <p:spPr>
          <a:xfrm rot="10800000">
            <a:off x="9895195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4" name="Google Shape;94;p8"/>
          <p:cNvCxnSpPr/>
          <p:nvPr/>
        </p:nvCxnSpPr>
        <p:spPr>
          <a:xfrm rot="10800000">
            <a:off x="9219616" y="4087742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8"/>
          <p:cNvCxnSpPr/>
          <p:nvPr/>
        </p:nvCxnSpPr>
        <p:spPr>
          <a:xfrm flipH="1">
            <a:off x="9276868" y="3507672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8"/>
          <p:cNvCxnSpPr/>
          <p:nvPr/>
        </p:nvCxnSpPr>
        <p:spPr>
          <a:xfrm>
            <a:off x="9733069" y="3507672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7" name="Google Shape;97;p8"/>
          <p:cNvCxnSpPr/>
          <p:nvPr/>
        </p:nvCxnSpPr>
        <p:spPr>
          <a:xfrm>
            <a:off x="10137668" y="2754692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8" name="Google Shape;98;p8"/>
          <p:cNvCxnSpPr/>
          <p:nvPr/>
        </p:nvCxnSpPr>
        <p:spPr>
          <a:xfrm flipH="1">
            <a:off x="9798719" y="2695013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9" name="Google Shape;99;p8"/>
          <p:cNvGrpSpPr/>
          <p:nvPr/>
        </p:nvGrpSpPr>
        <p:grpSpPr>
          <a:xfrm>
            <a:off x="7562238" y="2127325"/>
            <a:ext cx="3578867" cy="3640284"/>
            <a:chOff x="7562238" y="2127325"/>
            <a:chExt cx="3578867" cy="3640284"/>
          </a:xfrm>
        </p:grpSpPr>
        <p:grpSp>
          <p:nvGrpSpPr>
            <p:cNvPr id="100" name="Google Shape;100;p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101" name="Google Shape;101;p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2" name="Google Shape;102;p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3" name="Google Shape;103;p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4" name="Google Shape;104;p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5" name="Google Shape;105;p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6" name="Google Shape;106;p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" name="Google Shape;108;p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1" name="Google Shape;111;p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2" name="Google Shape;112;p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" name="Google Shape;113;p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5" name="Google Shape;115;p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4" name="Google Shape;124;p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125" name="Google Shape;125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26" name="Google Shape;126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127" name="Google Shape;127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" name="Google Shape;129;p8"/>
          <p:cNvCxnSpPr/>
          <p:nvPr/>
        </p:nvCxnSpPr>
        <p:spPr>
          <a:xfrm>
            <a:off x="8207860" y="2700359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0" name="Google Shape;130;p8"/>
          <p:cNvGrpSpPr/>
          <p:nvPr/>
        </p:nvGrpSpPr>
        <p:grpSpPr>
          <a:xfrm>
            <a:off x="8050698" y="2309376"/>
            <a:ext cx="298450" cy="464008"/>
            <a:chOff x="3130" y="3288"/>
            <a:chExt cx="410" cy="742"/>
          </a:xfrm>
        </p:grpSpPr>
        <p:cxnSp>
          <p:nvCxnSpPr>
            <p:cNvPr id="131" name="Google Shape;131;p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" name="Google Shape;133;p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4" name="Google Shape;134;p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" name="Google Shape;137;p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" name="Google Shape;138;p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" name="Google Shape;139;p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146" name="Google Shape;14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147" name="Google Shape;147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8"/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149" name="Google Shape;149;p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1" name="Google Shape;151;p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52" name="Google Shape;152;p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6" name="Google Shape;156;p8"/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157" name="Google Shape;15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59" name="Google Shape;15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60" name="Google Shape;16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4" name="Google Shape;164;p8"/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165" name="Google Shape;165;p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7" name="Google Shape;167;p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2" name="Google Shape;172;p8"/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173" name="Google Shape;17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75" name="Google Shape;17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76" name="Google Shape;17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8"/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181" name="Google Shape;18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3" name="Google Shape;18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4" name="Google Shape;18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8" name="Google Shape;188;p8"/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189" name="Google Shape;189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1" name="Google Shape;191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2" name="Google Shape;192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6" name="Google Shape;196;p8"/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197" name="Google Shape;19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9" name="Google Shape;19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0" name="Google Shape;20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4" name="Google Shape;204;p8"/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205" name="Google Shape;20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07" name="Google Shape;20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08" name="Google Shape;20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2" name="Google Shape;212;p8"/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213" name="Google Shape;21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5" name="Google Shape;21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6" name="Google Shape;21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0" name="Google Shape;220;p8"/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221" name="Google Shape;22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" name="Google Shape;22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4" name="Google Shape;22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8" name="Google Shape;228;p8"/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229" name="Google Shape;229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1" name="Google Shape;231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" name="Google Shape;232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6" name="Google Shape;236;p8"/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237" name="Google Shape;23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9" name="Google Shape;23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0" name="Google Shape;24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44" name="Google Shape;244;p8"/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245" name="Google Shape;24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47" name="Google Shape;24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8" name="Google Shape;24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" name="Google Shape;252;p8"/>
          <p:cNvGrpSpPr/>
          <p:nvPr/>
        </p:nvGrpSpPr>
        <p:grpSpPr>
          <a:xfrm>
            <a:off x="7439074" y="2356613"/>
            <a:ext cx="534987" cy="414882"/>
            <a:chOff x="7432700" y="2327293"/>
            <a:chExt cx="534987" cy="414882"/>
          </a:xfrm>
        </p:grpSpPr>
        <p:pic>
          <p:nvPicPr>
            <p:cNvPr descr="antenna_stylized" id="253" name="Google Shape;25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254" name="Google Shape;25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256" name="Google Shape;256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3" name="Google Shape;263;p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264" name="Google Shape;264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" name="Google Shape;270;p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8"/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descr="light2.png" id="277" name="Google Shape;277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8" name="Google Shape;278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9" name="Google Shape;279;p8"/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descr="car_icon_small" id="280" name="Google Shape;280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1" name="Google Shape;281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2" name="Google Shape;282;p8"/>
          <p:cNvGrpSpPr/>
          <p:nvPr/>
        </p:nvGrpSpPr>
        <p:grpSpPr>
          <a:xfrm>
            <a:off x="7493518" y="3325424"/>
            <a:ext cx="857739" cy="583764"/>
            <a:chOff x="7487144" y="3296104"/>
            <a:chExt cx="857739" cy="583764"/>
          </a:xfrm>
        </p:grpSpPr>
        <p:grpSp>
          <p:nvGrpSpPr>
            <p:cNvPr id="283" name="Google Shape;283;p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284" name="Google Shape;284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285" name="Google Shape;285;p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6" name="Google Shape;286;p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287" name="Google Shape;287;p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8" name="Google Shape;288;p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" name="Google Shape;294;p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295" name="Google Shape;295;p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6" name="Google Shape;296;p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" name="Google Shape;297;p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1" name="Google Shape;301;p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5" name="Google Shape;305;p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6" name="Google Shape;306;p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7" name="Google Shape;307;p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308" name="Google Shape;308;p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9" name="Google Shape;309;p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0" name="Google Shape;310;p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311" name="Google Shape;311;p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312" name="Google Shape;312;p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313" name="Google Shape;313;p8"/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14" name="Google Shape;314;p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15" name="Google Shape;315;p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16" name="Google Shape;316;p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17" name="Google Shape;317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8" name="Google Shape;318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19" name="Google Shape;319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20" name="Google Shape;320;p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21" name="Google Shape;321;p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322" name="Google Shape;322;p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323" name="Google Shape;323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24" name="Google Shape;324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325" name="Google Shape;325;p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326" name="Google Shape;326;p8"/>
          <p:cNvGrpSpPr/>
          <p:nvPr/>
        </p:nvGrpSpPr>
        <p:grpSpPr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descr="desktop_computer_stylized_medium" id="327" name="Google Shape;327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9" name="Google Shape;329;p8"/>
          <p:cNvGrpSpPr/>
          <p:nvPr/>
        </p:nvGrpSpPr>
        <p:grpSpPr>
          <a:xfrm>
            <a:off x="9201681" y="5852809"/>
            <a:ext cx="310186" cy="312008"/>
            <a:chOff x="877" y="1008"/>
            <a:chExt cx="2747" cy="2626"/>
          </a:xfrm>
        </p:grpSpPr>
        <p:pic>
          <p:nvPicPr>
            <p:cNvPr descr="antenna_stylized" id="330" name="Google Shape;330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31" name="Google Shape;331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33" name="Google Shape;333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0" name="Google Shape;340;p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41" name="Google Shape;341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7" name="Google Shape;347;p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8"/>
          <p:cNvGrpSpPr/>
          <p:nvPr/>
        </p:nvGrpSpPr>
        <p:grpSpPr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descr="desktop_computer_stylized_medium" id="354" name="Google Shape;354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5" name="Google Shape;355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8"/>
          <p:cNvGrpSpPr/>
          <p:nvPr/>
        </p:nvGrpSpPr>
        <p:grpSpPr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descr="desktop_computer_stylized_medium" id="357" name="Google Shape;357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8" name="Google Shape;358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8"/>
          <p:cNvGrpSpPr/>
          <p:nvPr/>
        </p:nvGrpSpPr>
        <p:grpSpPr>
          <a:xfrm>
            <a:off x="9534746" y="5795138"/>
            <a:ext cx="319264" cy="256836"/>
            <a:chOff x="877" y="1008"/>
            <a:chExt cx="2747" cy="2626"/>
          </a:xfrm>
        </p:grpSpPr>
        <p:pic>
          <p:nvPicPr>
            <p:cNvPr descr="antenna_stylized" id="360" name="Google Shape;360;p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361" name="Google Shape;361;p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363" name="Google Shape;363;p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0" name="Google Shape;370;p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371" name="Google Shape;371;p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7" name="Google Shape;377;p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" name="Google Shape;383;p8"/>
          <p:cNvSpPr/>
          <p:nvPr/>
        </p:nvSpPr>
        <p:spPr>
          <a:xfrm>
            <a:off x="10153593" y="5636971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10159970" y="5656923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10155518" y="5812753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10026299" y="5674399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8"/>
          <p:cNvGrpSpPr/>
          <p:nvPr/>
        </p:nvGrpSpPr>
        <p:grpSpPr>
          <a:xfrm>
            <a:off x="10091053" y="5670891"/>
            <a:ext cx="69517" cy="21877"/>
            <a:chOff x="613" y="2566"/>
            <a:chExt cx="721" cy="144"/>
          </a:xfrm>
        </p:grpSpPr>
        <p:sp>
          <p:nvSpPr>
            <p:cNvPr id="388" name="Google Shape;388;p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0" name="Google Shape;390;p8"/>
          <p:cNvSpPr/>
          <p:nvPr/>
        </p:nvSpPr>
        <p:spPr>
          <a:xfrm>
            <a:off x="10027502" y="5722750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8"/>
          <p:cNvGrpSpPr/>
          <p:nvPr/>
        </p:nvGrpSpPr>
        <p:grpSpPr>
          <a:xfrm>
            <a:off x="10091005" y="5718110"/>
            <a:ext cx="69517" cy="19515"/>
            <a:chOff x="615" y="2564"/>
            <a:chExt cx="721" cy="139"/>
          </a:xfrm>
        </p:grpSpPr>
        <p:sp>
          <p:nvSpPr>
            <p:cNvPr id="392" name="Google Shape;392;p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4" name="Google Shape;394;p8"/>
          <p:cNvSpPr/>
          <p:nvPr/>
        </p:nvSpPr>
        <p:spPr>
          <a:xfrm>
            <a:off x="10027502" y="5771101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8"/>
          <p:cNvSpPr/>
          <p:nvPr/>
        </p:nvSpPr>
        <p:spPr>
          <a:xfrm>
            <a:off x="10028705" y="5814938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8"/>
          <p:cNvGrpSpPr/>
          <p:nvPr/>
        </p:nvGrpSpPr>
        <p:grpSpPr>
          <a:xfrm>
            <a:off x="10089851" y="5813708"/>
            <a:ext cx="69541" cy="19618"/>
            <a:chOff x="618" y="2586"/>
            <a:chExt cx="720" cy="124"/>
          </a:xfrm>
        </p:grpSpPr>
        <p:sp>
          <p:nvSpPr>
            <p:cNvPr id="397" name="Google Shape;397;p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9" name="Google Shape;399;p8"/>
          <p:cNvSpPr/>
          <p:nvPr/>
        </p:nvSpPr>
        <p:spPr>
          <a:xfrm>
            <a:off x="10156000" y="5771101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0" name="Google Shape;400;p8"/>
          <p:cNvGrpSpPr/>
          <p:nvPr/>
        </p:nvGrpSpPr>
        <p:grpSpPr>
          <a:xfrm>
            <a:off x="10089849" y="5767606"/>
            <a:ext cx="70700" cy="19515"/>
            <a:chOff x="613" y="2571"/>
            <a:chExt cx="732" cy="134"/>
          </a:xfrm>
        </p:grpSpPr>
        <p:sp>
          <p:nvSpPr>
            <p:cNvPr id="401" name="Google Shape;401;p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3" name="Google Shape;403;p8"/>
          <p:cNvSpPr/>
          <p:nvPr/>
        </p:nvSpPr>
        <p:spPr>
          <a:xfrm>
            <a:off x="10150946" y="5636388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10158887" y="5720566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159248" y="5672943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10157684" y="5954603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8"/>
          <p:cNvSpPr/>
          <p:nvPr/>
        </p:nvSpPr>
        <p:spPr>
          <a:xfrm>
            <a:off x="10017877" y="5963487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10026299" y="5969166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8"/>
          <p:cNvGrpSpPr/>
          <p:nvPr/>
        </p:nvGrpSpPr>
        <p:grpSpPr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descr="desktop_computer_stylized_medium" id="415" name="Google Shape;415;p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6" name="Google Shape;416;p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8"/>
          <p:cNvGrpSpPr/>
          <p:nvPr/>
        </p:nvGrpSpPr>
        <p:grpSpPr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descr="iphone_stylized_small" id="418" name="Google Shape;418;p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419" name="Google Shape;419;p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0" name="Google Shape;420;p8"/>
          <p:cNvGrpSpPr/>
          <p:nvPr/>
        </p:nvGrpSpPr>
        <p:grpSpPr>
          <a:xfrm>
            <a:off x="10253990" y="5273951"/>
            <a:ext cx="177192" cy="330833"/>
            <a:chOff x="4140" y="429"/>
            <a:chExt cx="1425" cy="2396"/>
          </a:xfrm>
        </p:grpSpPr>
        <p:sp>
          <p:nvSpPr>
            <p:cNvPr id="421" name="Google Shape;421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6" name="Google Shape;426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5" name="Google Shape;435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8" name="Google Shape;438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" name="Google Shape;439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40" name="Google Shape;440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2" name="Google Shape;442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3" name="Google Shape;453;p8"/>
          <p:cNvGrpSpPr/>
          <p:nvPr/>
        </p:nvGrpSpPr>
        <p:grpSpPr>
          <a:xfrm>
            <a:off x="6571713" y="2686293"/>
            <a:ext cx="1038308" cy="956788"/>
            <a:chOff x="6571713" y="2686293"/>
            <a:chExt cx="1038308" cy="956788"/>
          </a:xfrm>
        </p:grpSpPr>
        <p:sp>
          <p:nvSpPr>
            <p:cNvPr id="454" name="Google Shape;454;p8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5" name="Google Shape;455;p8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456" name="Google Shape;456;p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59" name="Google Shape;459;p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1" name="Google Shape;461;p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62" name="Google Shape;462;p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63" name="Google Shape;463;p8"/>
          <p:cNvGrpSpPr/>
          <p:nvPr/>
        </p:nvGrpSpPr>
        <p:grpSpPr>
          <a:xfrm>
            <a:off x="10202006" y="5357871"/>
            <a:ext cx="970347" cy="854075"/>
            <a:chOff x="10202006" y="5357871"/>
            <a:chExt cx="970347" cy="854075"/>
          </a:xfrm>
        </p:grpSpPr>
        <p:sp>
          <p:nvSpPr>
            <p:cNvPr id="464" name="Google Shape;464;p8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" name="Google Shape;465;p8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466" name="Google Shape;466;p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69" name="Google Shape;469;p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0" name="Google Shape;470;p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1" name="Google Shape;471;p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p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73" name="Google Shape;473;p8"/>
          <p:cNvGrpSpPr/>
          <p:nvPr/>
        </p:nvGrpSpPr>
        <p:grpSpPr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474" name="Google Shape;474;p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9" name="Google Shape;479;p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480" name="Google Shape;480;p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2" name="Google Shape;482;p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3" name="Google Shape;483;p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484" name="Google Shape;484;p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6" name="Google Shape;486;p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8" name="Google Shape;488;p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489" name="Google Shape;489;p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1" name="Google Shape;491;p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2" name="Google Shape;492;p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493" name="Google Shape;493;p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4" name="Google Shape;494;p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5" name="Google Shape;495;p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8"/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07" name="Google Shape;507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08" name="Google Shape;508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09" name="Google Shape;509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0" name="Google Shape;510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4" name="Google Shape;514;p8"/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15" name="Google Shape;515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16" name="Google Shape;516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17" name="Google Shape;517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18" name="Google Shape;518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2" name="Google Shape;522;p8"/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523" name="Google Shape;523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24" name="Google Shape;524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25" name="Google Shape;525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26" name="Google Shape;526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0" name="Google Shape;530;p8"/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531" name="Google Shape;531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32" name="Google Shape;532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33" name="Google Shape;533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34" name="Google Shape;534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8" name="Google Shape;538;p8"/>
          <p:cNvGrpSpPr/>
          <p:nvPr/>
        </p:nvGrpSpPr>
        <p:grpSpPr>
          <a:xfrm>
            <a:off x="7774998" y="3463448"/>
            <a:ext cx="3007624" cy="1690703"/>
            <a:chOff x="7774998" y="3463448"/>
            <a:chExt cx="3007624" cy="1690703"/>
          </a:xfrm>
        </p:grpSpPr>
        <p:grpSp>
          <p:nvGrpSpPr>
            <p:cNvPr id="539" name="Google Shape;539;p8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540" name="Google Shape;540;p8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1" name="Google Shape;541;p8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542" name="Google Shape;542;p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45" name="Google Shape;545;p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46" name="Google Shape;546;p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47" name="Google Shape;547;p8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548" name="Google Shape;548;p8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49" name="Google Shape;549;p8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550" name="Google Shape;550;p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Google Shape;552;p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53" name="Google Shape;553;p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54" name="Google Shape;554;p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55" name="Google Shape;555;p8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556" name="Google Shape;556;p8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8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558" name="Google Shape;558;p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9" name="Google Shape;559;p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0" name="Google Shape;560;p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61" name="Google Shape;561;p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62" name="Google Shape;562;p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63" name="Google Shape;563;p8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564" name="Google Shape;564;p8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65" name="Google Shape;565;p8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566" name="Google Shape;566;p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69" name="Google Shape;569;p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0" name="Google Shape;570;p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571" name="Google Shape;571;p8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572" name="Google Shape;572;p8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3" name="Google Shape;573;p8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574" name="Google Shape;574;p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5" name="Google Shape;575;p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6" name="Google Shape;576;p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77" name="Google Shape;577;p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78" name="Google Shape;578;p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579" name="Google Shape;579;p8"/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580" name="Google Shape;580;p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82" name="Google Shape;582;p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3" name="Google Shape;583;p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7" name="Google Shape;587;p8"/>
          <p:cNvSpPr/>
          <p:nvPr/>
        </p:nvSpPr>
        <p:spPr>
          <a:xfrm>
            <a:off x="7288696" y="3114260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8" name="Google Shape;588;p8"/>
          <p:cNvGrpSpPr/>
          <p:nvPr/>
        </p:nvGrpSpPr>
        <p:grpSpPr>
          <a:xfrm>
            <a:off x="6543892" y="2922262"/>
            <a:ext cx="3175" cy="379738"/>
            <a:chOff x="6543892" y="2922262"/>
            <a:chExt cx="3175" cy="379738"/>
          </a:xfrm>
        </p:grpSpPr>
        <p:cxnSp>
          <p:nvCxnSpPr>
            <p:cNvPr id="589" name="Google Shape;589;p8"/>
            <p:cNvCxnSpPr/>
            <p:nvPr/>
          </p:nvCxnSpPr>
          <p:spPr>
            <a:xfrm rot="10800000">
              <a:off x="6543892" y="2922262"/>
              <a:ext cx="0" cy="1479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90" name="Google Shape;590;p8"/>
            <p:cNvCxnSpPr/>
            <p:nvPr/>
          </p:nvCxnSpPr>
          <p:spPr>
            <a:xfrm>
              <a:off x="6547067" y="3154037"/>
              <a:ext cx="0" cy="1479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591" name="Google Shape;591;p8"/>
          <p:cNvGrpSpPr/>
          <p:nvPr/>
        </p:nvGrpSpPr>
        <p:grpSpPr>
          <a:xfrm>
            <a:off x="11233367" y="5608312"/>
            <a:ext cx="3175" cy="379738"/>
            <a:chOff x="6543892" y="2922262"/>
            <a:chExt cx="3175" cy="379738"/>
          </a:xfrm>
        </p:grpSpPr>
        <p:cxnSp>
          <p:nvCxnSpPr>
            <p:cNvPr id="592" name="Google Shape;592;p8"/>
            <p:cNvCxnSpPr/>
            <p:nvPr/>
          </p:nvCxnSpPr>
          <p:spPr>
            <a:xfrm rot="10800000">
              <a:off x="6543892" y="2922262"/>
              <a:ext cx="0" cy="1479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93" name="Google Shape;593;p8"/>
            <p:cNvCxnSpPr/>
            <p:nvPr/>
          </p:nvCxnSpPr>
          <p:spPr>
            <a:xfrm>
              <a:off x="6547067" y="3154037"/>
              <a:ext cx="0" cy="147963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Two key network-layer functions</a:t>
            </a:r>
            <a:endParaRPr/>
          </a:p>
        </p:txBody>
      </p:sp>
      <p:sp>
        <p:nvSpPr>
          <p:cNvPr id="600" name="Google Shape;600;p9"/>
          <p:cNvSpPr txBox="1"/>
          <p:nvPr>
            <p:ph idx="1" type="body"/>
          </p:nvPr>
        </p:nvSpPr>
        <p:spPr>
          <a:xfrm>
            <a:off x="877956" y="1666601"/>
            <a:ext cx="5181600" cy="1890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C0000"/>
                </a:solidFill>
              </a:rPr>
              <a:t>network-layer functions:</a:t>
            </a:r>
            <a:endParaRPr/>
          </a:p>
          <a:p>
            <a:pPr indent="-234950" lvl="0" marL="3524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000099"/>
                </a:solidFill>
              </a:rPr>
              <a:t>forwarding:</a:t>
            </a:r>
            <a:r>
              <a:rPr lang="en-US"/>
              <a:t> move packets from a router’s input link to appropriate router output link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01" name="Google Shape;601;p9"/>
          <p:cNvSpPr txBox="1"/>
          <p:nvPr>
            <p:ph idx="2" type="body"/>
          </p:nvPr>
        </p:nvSpPr>
        <p:spPr>
          <a:xfrm>
            <a:off x="6172200" y="169310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</a:rPr>
              <a:t>analogy: taking a trip</a:t>
            </a:r>
            <a:endParaRPr/>
          </a:p>
          <a:p>
            <a:pPr indent="-234950" lvl="0" marL="352425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>
                <a:solidFill>
                  <a:srgbClr val="000099"/>
                </a:solidFill>
              </a:rPr>
              <a:t>forwarding</a:t>
            </a:r>
            <a:r>
              <a:rPr i="1" lang="en-US">
                <a:solidFill>
                  <a:schemeClr val="accent2"/>
                </a:solidFill>
              </a:rPr>
              <a:t>:</a:t>
            </a:r>
            <a:r>
              <a:rPr lang="en-US"/>
              <a:t> process of getting through single interchange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602" name="Google Shape;602;p9"/>
          <p:cNvGrpSpPr/>
          <p:nvPr/>
        </p:nvGrpSpPr>
        <p:grpSpPr>
          <a:xfrm>
            <a:off x="6519334" y="4075932"/>
            <a:ext cx="2227101" cy="1745933"/>
            <a:chOff x="6519334" y="4075932"/>
            <a:chExt cx="2227101" cy="1745933"/>
          </a:xfrm>
        </p:grpSpPr>
        <p:pic>
          <p:nvPicPr>
            <p:cNvPr descr="Why traffic apps make congestion worse | Berkeley News" id="603" name="Google Shape;60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06213" y="4075932"/>
              <a:ext cx="2140222" cy="14268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9"/>
            <p:cNvSpPr txBox="1"/>
            <p:nvPr/>
          </p:nvSpPr>
          <p:spPr>
            <a:xfrm>
              <a:off x="6519334" y="5452533"/>
              <a:ext cx="12092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</a:t>
              </a:r>
              <a:endParaRPr/>
            </a:p>
          </p:txBody>
        </p:sp>
      </p:grpSp>
      <p:grpSp>
        <p:nvGrpSpPr>
          <p:cNvPr id="605" name="Google Shape;605;p9"/>
          <p:cNvGrpSpPr/>
          <p:nvPr/>
        </p:nvGrpSpPr>
        <p:grpSpPr>
          <a:xfrm>
            <a:off x="8314267" y="4706696"/>
            <a:ext cx="2953118" cy="1640102"/>
            <a:chOff x="8314267" y="4706696"/>
            <a:chExt cx="2953118" cy="1640102"/>
          </a:xfrm>
        </p:grpSpPr>
        <p:pic>
          <p:nvPicPr>
            <p:cNvPr id="606" name="Google Shape;606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415131" y="4706696"/>
              <a:ext cx="2852254" cy="13233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9"/>
            <p:cNvSpPr txBox="1"/>
            <p:nvPr/>
          </p:nvSpPr>
          <p:spPr>
            <a:xfrm>
              <a:off x="8314267" y="5977466"/>
              <a:ext cx="8654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routing</a:t>
              </a:r>
              <a:endParaRPr/>
            </a:p>
          </p:txBody>
        </p:sp>
      </p:grpSp>
      <p:sp>
        <p:nvSpPr>
          <p:cNvPr id="608" name="Google Shape;608;p9"/>
          <p:cNvSpPr txBox="1"/>
          <p:nvPr/>
        </p:nvSpPr>
        <p:spPr>
          <a:xfrm>
            <a:off x="6183682" y="3026965"/>
            <a:ext cx="5181600" cy="879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 of planning trip from source to destination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9"/>
          <p:cNvSpPr txBox="1"/>
          <p:nvPr/>
        </p:nvSpPr>
        <p:spPr>
          <a:xfrm>
            <a:off x="880044" y="3441526"/>
            <a:ext cx="5181600" cy="1856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routing: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determine route taken by packets from source to destination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 layer: data plane, control plane</a:t>
            </a:r>
            <a:endParaRPr/>
          </a:p>
        </p:txBody>
      </p:sp>
      <p:sp>
        <p:nvSpPr>
          <p:cNvPr id="616" name="Google Shape;616;p10"/>
          <p:cNvSpPr txBox="1"/>
          <p:nvPr>
            <p:ph idx="1" type="body"/>
          </p:nvPr>
        </p:nvSpPr>
        <p:spPr>
          <a:xfrm>
            <a:off x="771938" y="1534078"/>
            <a:ext cx="462169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</a:rPr>
              <a:t>Data plane:</a:t>
            </a:r>
            <a:endParaRPr/>
          </a:p>
          <a:p>
            <a:pPr indent="-292100" lvl="0" marL="292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i="1" lang="en-US">
                <a:solidFill>
                  <a:srgbClr val="0000A3"/>
                </a:solidFill>
              </a:rPr>
              <a:t>local</a:t>
            </a:r>
            <a:r>
              <a:rPr lang="en-US"/>
              <a:t>, per-router function</a:t>
            </a:r>
            <a:endParaRPr/>
          </a:p>
          <a:p>
            <a:pPr indent="-292100" lvl="0" marL="2921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determines how datagram arriving on router input port is forwarded to router output port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17" name="Google Shape;617;p10"/>
          <p:cNvSpPr txBox="1"/>
          <p:nvPr>
            <p:ph idx="2" type="body"/>
          </p:nvPr>
        </p:nvSpPr>
        <p:spPr>
          <a:xfrm>
            <a:off x="6278216" y="1547331"/>
            <a:ext cx="5502965" cy="4614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</a:rPr>
              <a:t>Control plane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i="1" lang="en-US">
                <a:solidFill>
                  <a:srgbClr val="0000A3"/>
                </a:solidFill>
              </a:rPr>
              <a:t>network-wide</a:t>
            </a:r>
            <a:r>
              <a:rPr lang="en-US"/>
              <a:t> logic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determines how datagram is routed among routers along end-end path from source host to destination host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grpSp>
        <p:nvGrpSpPr>
          <p:cNvPr id="618" name="Google Shape;618;p10"/>
          <p:cNvGrpSpPr/>
          <p:nvPr/>
        </p:nvGrpSpPr>
        <p:grpSpPr>
          <a:xfrm>
            <a:off x="1181100" y="4260145"/>
            <a:ext cx="3643313" cy="1582738"/>
            <a:chOff x="842050" y="4767952"/>
            <a:chExt cx="3644169" cy="1582996"/>
          </a:xfrm>
        </p:grpSpPr>
        <p:sp>
          <p:nvSpPr>
            <p:cNvPr id="619" name="Google Shape;619;p10"/>
            <p:cNvSpPr/>
            <p:nvPr/>
          </p:nvSpPr>
          <p:spPr>
            <a:xfrm>
              <a:off x="2591886" y="5436399"/>
              <a:ext cx="1894333" cy="914549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gradFill>
              <a:gsLst>
                <a:gs pos="0">
                  <a:srgbClr val="66CCFF"/>
                </a:gs>
                <a:gs pos="50000">
                  <a:srgbClr val="FFFF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0" name="Google Shape;620;p10"/>
            <p:cNvCxnSpPr/>
            <p:nvPr/>
          </p:nvCxnSpPr>
          <p:spPr>
            <a:xfrm flipH="1" rot="10800000">
              <a:off x="3261968" y="5558656"/>
              <a:ext cx="500180" cy="157189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10"/>
            <p:cNvCxnSpPr/>
            <p:nvPr/>
          </p:nvCxnSpPr>
          <p:spPr>
            <a:xfrm>
              <a:off x="3111121" y="5774591"/>
              <a:ext cx="862215" cy="10479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2" name="Google Shape;622;p10"/>
            <p:cNvCxnSpPr/>
            <p:nvPr/>
          </p:nvCxnSpPr>
          <p:spPr>
            <a:xfrm>
              <a:off x="3123824" y="5880971"/>
              <a:ext cx="714543" cy="27468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3" name="Google Shape;623;p10"/>
            <p:cNvCxnSpPr/>
            <p:nvPr/>
          </p:nvCxnSpPr>
          <p:spPr>
            <a:xfrm flipH="1">
              <a:off x="1283479" y="5801583"/>
              <a:ext cx="1506892" cy="15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4" name="Google Shape;624;p10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25" name="Google Shape;625;p10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26" name="Google Shape;626;p10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grpSp>
          <p:nvGrpSpPr>
            <p:cNvPr id="627" name="Google Shape;627;p10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28" name="Google Shape;628;p10"/>
              <p:cNvSpPr/>
              <p:nvPr/>
            </p:nvSpPr>
            <p:spPr>
              <a:xfrm>
                <a:off x="-4052413" y="2965119"/>
                <a:ext cx="1290538" cy="208750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0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30" name="Google Shape;630;p10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31" name="Google Shape;631;p10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0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33" name="Google Shape;633;p10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34" name="Google Shape;634;p10"/>
            <p:cNvSpPr txBox="1"/>
            <p:nvPr/>
          </p:nvSpPr>
          <p:spPr>
            <a:xfrm>
              <a:off x="842050" y="4767952"/>
              <a:ext cx="1992313" cy="52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values in arriving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packet header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5" name="Google Shape;635;p10"/>
            <p:cNvGrpSpPr/>
            <p:nvPr/>
          </p:nvGrpSpPr>
          <p:grpSpPr>
            <a:xfrm>
              <a:off x="2714153" y="5658685"/>
              <a:ext cx="565283" cy="293735"/>
              <a:chOff x="1870334" y="1575177"/>
              <a:chExt cx="1128637" cy="437933"/>
            </a:xfrm>
          </p:grpSpPr>
          <p:sp>
            <p:nvSpPr>
              <p:cNvPr id="636" name="Google Shape;636;p10"/>
              <p:cNvSpPr/>
              <p:nvPr/>
            </p:nvSpPr>
            <p:spPr>
              <a:xfrm flipH="1" rot="10800000">
                <a:off x="1873504" y="1693538"/>
                <a:ext cx="1125467" cy="31957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7" name="Google Shape;637;p10"/>
              <p:cNvSpPr/>
              <p:nvPr/>
            </p:nvSpPr>
            <p:spPr>
              <a:xfrm>
                <a:off x="1870334" y="1738514"/>
                <a:ext cx="1128637" cy="115994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8" name="Google Shape;638;p10"/>
              <p:cNvSpPr/>
              <p:nvPr/>
            </p:nvSpPr>
            <p:spPr>
              <a:xfrm flipH="1" rot="10800000">
                <a:off x="1870334" y="1575177"/>
                <a:ext cx="1125465" cy="31957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9" name="Google Shape;639;p10"/>
              <p:cNvSpPr/>
              <p:nvPr/>
            </p:nvSpPr>
            <p:spPr>
              <a:xfrm>
                <a:off x="2158833" y="1672232"/>
                <a:ext cx="548468" cy="16097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40" name="Google Shape;640;p10"/>
              <p:cNvSpPr/>
              <p:nvPr/>
            </p:nvSpPr>
            <p:spPr>
              <a:xfrm>
                <a:off x="2101767" y="1631990"/>
                <a:ext cx="662599" cy="111258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0"/>
              <p:cNvSpPr/>
              <p:nvPr/>
            </p:nvSpPr>
            <p:spPr>
              <a:xfrm>
                <a:off x="2536103" y="1726678"/>
                <a:ext cx="244114" cy="97055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0"/>
              <p:cNvSpPr/>
              <p:nvPr/>
            </p:nvSpPr>
            <p:spPr>
              <a:xfrm>
                <a:off x="2089086" y="1729045"/>
                <a:ext cx="240945" cy="97056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43" name="Google Shape;643;p10"/>
              <p:cNvCxnSpPr>
                <a:endCxn id="638" idx="2"/>
              </p:cNvCxnSpPr>
              <p:nvPr/>
            </p:nvCxnSpPr>
            <p:spPr>
              <a:xfrm rot="10800000">
                <a:off x="1870334" y="1734963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44" name="Google Shape;644;p10"/>
              <p:cNvCxnSpPr/>
              <p:nvPr/>
            </p:nvCxnSpPr>
            <p:spPr>
              <a:xfrm rot="10800000">
                <a:off x="2995800" y="1733779"/>
                <a:ext cx="3171" cy="12309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45" name="Google Shape;645;p10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6" name="Google Shape;646;p10"/>
          <p:cNvSpPr txBox="1"/>
          <p:nvPr/>
        </p:nvSpPr>
        <p:spPr>
          <a:xfrm>
            <a:off x="6255252" y="4142307"/>
            <a:ext cx="5502965" cy="2095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control-plane approaches: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traditional routing algorithms: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in routers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software-defined networking (SDN)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implemented in (remote) servers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653" name="Google Shape;653;p11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654" name="Google Shape;654;p11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5" name="Google Shape;655;p11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11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11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11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11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11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11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11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3" name="Google Shape;663;p11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664" name="Google Shape;664;p11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5" name="Google Shape;665;p11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6" name="Google Shape;666;p11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7" name="Google Shape;667;p11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68" name="Google Shape;668;p11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11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1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" name="Google Shape;671;p11"/>
            <p:cNvCxnSpPr>
              <a:endCxn id="66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72" name="Google Shape;672;p11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73" name="Google Shape;673;p11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674" name="Google Shape;674;p11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5" name="Google Shape;675;p11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6" name="Google Shape;676;p11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7" name="Google Shape;677;p11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78" name="Google Shape;678;p11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1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1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1" name="Google Shape;681;p11"/>
            <p:cNvCxnSpPr>
              <a:endCxn id="676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82" name="Google Shape;682;p11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83" name="Google Shape;683;p11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684" name="Google Shape;684;p11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5" name="Google Shape;685;p1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6" name="Google Shape;686;p11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7" name="Google Shape;687;p11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88" name="Google Shape;688;p11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1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1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1" name="Google Shape;691;p11"/>
            <p:cNvCxnSpPr>
              <a:endCxn id="68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92" name="Google Shape;692;p11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93" name="Google Shape;693;p11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694" name="Google Shape;694;p1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5" name="Google Shape;695;p1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6" name="Google Shape;696;p1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7" name="Google Shape;697;p1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98" name="Google Shape;698;p1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1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1" name="Google Shape;701;p11"/>
            <p:cNvCxnSpPr>
              <a:endCxn id="696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02" name="Google Shape;702;p1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03" name="Google Shape;703;p11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704" name="Google Shape;704;p11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5" name="Google Shape;705;p11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6" name="Google Shape;706;p11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7" name="Google Shape;707;p11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8" name="Google Shape;708;p11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09" name="Google Shape;709;p11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710" name="Google Shape;710;p11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11" name="Google Shape;711;p11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712" name="Google Shape;712;p11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13" name="Google Shape;713;p11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14" name="Google Shape;714;p11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15" name="Google Shape;715;p11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6" name="Google Shape;716;p11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17" name="Google Shape;717;p11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18" name="Google Shape;718;p11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9" name="Google Shape;719;p11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20" name="Google Shape;720;p11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721" name="Google Shape;721;p11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22" name="Google Shape;722;p11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23" name="Google Shape;723;p11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24" name="Google Shape;724;p11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25" name="Google Shape;725;p11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Google Shape;726;p11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11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28" name="Google Shape;728;p11"/>
                <p:cNvCxnSpPr>
                  <a:endCxn id="723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29" name="Google Shape;729;p11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30" name="Google Shape;730;p11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731" name="Google Shape;731;p11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32" name="Google Shape;732;p11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33" name="Google Shape;733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34" name="Google Shape;734;p11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735" name="Google Shape;735;p11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36" name="Google Shape;736;p11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37" name="Google Shape;737;p11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38" name="Google Shape;738;p11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39" name="Google Shape;739;p11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40" name="Google Shape;740;p11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41" name="Google Shape;741;p11"/>
              <p:cNvCxnSpPr>
                <a:stCxn id="742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43" name="Google Shape;743;p11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744" name="Google Shape;744;p11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45" name="Google Shape;745;p11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42" name="Google Shape;742;p11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46" name="Google Shape;746;p11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47" name="Google Shape;747;p11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11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11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0" name="Google Shape;750;p11"/>
                <p:cNvCxnSpPr>
                  <a:endCxn id="742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1" name="Google Shape;751;p11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2" name="Google Shape;752;p11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753" name="Google Shape;753;p11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4" name="Google Shape;754;p11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5" name="Google Shape;755;p11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756" name="Google Shape;756;p11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" name="Google Shape;757;p11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" name="Google Shape;758;p11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9" name="Google Shape;759;p11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0" name="Google Shape;760;p11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61" name="Google Shape;761;p11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2" name="Google Shape;762;p11"/>
              <p:cNvCxnSpPr>
                <a:stCxn id="763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4" name="Google Shape;764;p11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763" name="Google Shape;763;p11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5" name="Google Shape;765;p11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6" name="Google Shape;766;p11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7" name="Google Shape;767;p11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8" name="Google Shape;768;p11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11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11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71" name="Google Shape;771;p11"/>
                <p:cNvCxnSpPr>
                  <a:endCxn id="766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72" name="Google Shape;772;p11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73" name="Google Shape;773;p11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774" name="Google Shape;774;p11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75" name="Google Shape;775;p11"/>
              <p:cNvCxnSpPr>
                <a:stCxn id="776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77" name="Google Shape;777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78" name="Google Shape;778;p11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779" name="Google Shape;779;p11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0" name="Google Shape;780;p11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1" name="Google Shape;781;p11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2" name="Google Shape;782;p11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" name="Google Shape;783;p11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4" name="Google Shape;784;p11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5" name="Google Shape;785;p11"/>
              <p:cNvCxnSpPr>
                <a:stCxn id="777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6" name="Google Shape;786;p11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787" name="Google Shape;787;p11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" name="Google Shape;788;p11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76" name="Google Shape;776;p11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" name="Google Shape;789;p11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" name="Google Shape;790;p11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11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11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3" name="Google Shape;793;p11"/>
                <p:cNvCxnSpPr>
                  <a:endCxn id="776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4" name="Google Shape;794;p11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95" name="Google Shape;795;p11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796" name="Google Shape;796;p11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7" name="Google Shape;797;p11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8" name="Google Shape;798;p11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799" name="Google Shape;799;p11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0" name="Google Shape;800;p11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" name="Google Shape;801;p11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02" name="Google Shape;802;p11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03" name="Google Shape;803;p11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04" name="Google Shape;804;p11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05" name="Google Shape;805;p11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06" name="Google Shape;806;p11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807" name="Google Shape;807;p11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8" name="Google Shape;808;p11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9" name="Google Shape;809;p11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0" name="Google Shape;810;p11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1" name="Google Shape;811;p11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" name="Google Shape;812;p11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p11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14" name="Google Shape;814;p11"/>
                <p:cNvCxnSpPr>
                  <a:endCxn id="809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815" name="Google Shape;815;p11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816" name="Google Shape;816;p11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817" name="Google Shape;817;p11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18" name="Google Shape;818;p11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819" name="Google Shape;819;p11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0" name="Google Shape;820;p11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1" name="Google Shape;821;p11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2" name="Google Shape;822;p11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823" name="Google Shape;823;p11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4" name="Google Shape;824;p11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5" name="Google Shape;825;p11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26" name="Google Shape;826;p11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827" name="Google Shape;827;p11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8" name="Google Shape;828;p11"/>
            <p:cNvCxnSpPr>
              <a:endCxn id="823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29" name="Google Shape;829;p11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830" name="Google Shape;830;p11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831" name="Google Shape;831;p11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832" name="Google Shape;832;p11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833" name="Google Shape;833;p11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834" name="Google Shape;834;p11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835" name="Google Shape;835;p11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836" name="Google Shape;836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837" name="Google Shape;837;p11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838" name="Google Shape;838;p11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839" name="Google Shape;839;p11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0" name="Google Shape;840;p11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1" name="Google Shape;841;p11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2" name="Google Shape;842;p11"/>
                <p:cNvCxnSpPr>
                  <a:stCxn id="839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43" name="Google Shape;843;p11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844" name="Google Shape;844;p11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5" name="Google Shape;845;p11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6" name="Google Shape;846;p11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47" name="Google Shape;847;p11"/>
                <p:cNvCxnSpPr>
                  <a:stCxn id="844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48" name="Google Shape;848;p11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849" name="Google Shape;849;p11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0" name="Google Shape;850;p11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1" name="Google Shape;851;p11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2" name="Google Shape;852;p11"/>
                <p:cNvCxnSpPr>
                  <a:stCxn id="849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53" name="Google Shape;853;p11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854" name="Google Shape;854;p11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5" name="Google Shape;855;p11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6" name="Google Shape;856;p11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57" name="Google Shape;857;p11"/>
                <p:cNvCxnSpPr>
                  <a:stCxn id="854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58" name="Google Shape;858;p11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859" name="Google Shape;859;p11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60" name="Google Shape;860;p11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61" name="Google Shape;861;p11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62" name="Google Shape;862;p11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63" name="Google Shape;863;p11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864" name="Google Shape;864;p11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5" name="Google Shape;865;p11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66" name="Google Shape;866;p11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867" name="Google Shape;867;p11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868" name="Google Shape;868;p11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9" name="Google Shape;869;p11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0" name="Google Shape;870;p11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1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872" name="Google Shape;872;p11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873" name="Google Shape;873;p11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4" name="Google Shape;874;p11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875" name="Google Shape;875;p11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7" name="Google Shape;877;p11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82" name="Google Shape;882;p11"/>
            <p:cNvCxnSpPr>
              <a:endCxn id="877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83" name="Google Shape;883;p11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884" name="Google Shape;884;p11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11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12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892" name="Google Shape;892;p12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893" name="Google Shape;893;p12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894" name="Google Shape;894;p12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95" name="Google Shape;895;p12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96" name="Google Shape;896;p12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897" name="Google Shape;897;p12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898" name="Google Shape;898;p1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1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1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1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1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3" name="Google Shape;903;p1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04" name="Google Shape;904;p1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" name="Google Shape;905;p1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6" name="Google Shape;906;p1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07" name="Google Shape;907;p1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08" name="Google Shape;908;p1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9" name="Google Shape;909;p1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0" name="Google Shape;910;p1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1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2" name="Google Shape;912;p1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13" name="Google Shape;913;p1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" name="Google Shape;914;p1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5" name="Google Shape;915;p1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6" name="Google Shape;916;p1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17" name="Google Shape;917;p1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1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9" name="Google Shape;919;p1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1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1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1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1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1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1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1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1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1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1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0" name="Google Shape;930;p12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931" name="Google Shape;931;p1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1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1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1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1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36" name="Google Shape;936;p1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37" name="Google Shape;937;p1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8" name="Google Shape;938;p1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9" name="Google Shape;939;p1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0" name="Google Shape;940;p1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41" name="Google Shape;941;p1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2" name="Google Shape;942;p1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43" name="Google Shape;943;p1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1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5" name="Google Shape;945;p1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46" name="Google Shape;946;p1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7" name="Google Shape;947;p1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48" name="Google Shape;948;p1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49" name="Google Shape;949;p1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50" name="Google Shape;950;p1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1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2" name="Google Shape;952;p1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" name="Google Shape;953;p1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1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1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1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1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" name="Google Shape;958;p1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" name="Google Shape;959;p1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1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" name="Google Shape;961;p1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2" name="Google Shape;962;p1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63" name="Google Shape;963;p12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4" name="Google Shape;964;p12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12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12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p12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8" name="Google Shape;968;p12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9" name="Google Shape;969;p12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12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1" name="Google Shape;971;p12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72" name="Google Shape;972;p12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973" name="Google Shape;973;p12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74" name="Google Shape;974;p12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75" name="Google Shape;975;p12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976" name="Google Shape;976;p12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977" name="Google Shape;977;p12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978" name="Google Shape;978;p12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79" name="Google Shape;979;p12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0" name="Google Shape;980;p12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1" name="Google Shape;981;p12"/>
              <p:cNvCxnSpPr>
                <a:stCxn id="978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2" name="Google Shape;982;p12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983" name="Google Shape;983;p12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4" name="Google Shape;984;p12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p12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6" name="Google Shape;986;p12"/>
              <p:cNvCxnSpPr>
                <a:stCxn id="983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7" name="Google Shape;987;p12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988" name="Google Shape;988;p12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9" name="Google Shape;989;p12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12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12"/>
              <p:cNvCxnSpPr>
                <a:stCxn id="988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92" name="Google Shape;992;p12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993" name="Google Shape;993;p12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4" name="Google Shape;994;p12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12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6" name="Google Shape;996;p12"/>
              <p:cNvCxnSpPr>
                <a:stCxn id="993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97" name="Google Shape;997;p12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998" name="Google Shape;998;p12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9" name="Google Shape;999;p12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12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12"/>
              <p:cNvCxnSpPr>
                <a:stCxn id="998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002" name="Google Shape;1002;p12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1003" name="Google Shape;1003;p12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4" name="Google Shape;1004;p12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5" name="Google Shape;1005;p12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6" name="Google Shape;1006;p12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07" name="Google Shape;1007;p12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008" name="Google Shape;1008;p12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1009" name="Google Shape;1009;p12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010" name="Google Shape;1010;p12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1011" name="Google Shape;1011;p12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12" name="Google Shape;1012;p12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13" name="Google Shape;1013;p12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014" name="Google Shape;1014;p12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15" name="Google Shape;1015;p12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16" name="Google Shape;1016;p12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17" name="Google Shape;1017;p12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8" name="Google Shape;1018;p12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19" name="Google Shape;1019;p12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1020" name="Google Shape;1020;p12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21" name="Google Shape;1021;p12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22" name="Google Shape;1022;p12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23" name="Google Shape;1023;p12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24" name="Google Shape;1024;p12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5" name="Google Shape;1025;p12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6" name="Google Shape;1026;p12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27" name="Google Shape;1027;p12"/>
                <p:cNvCxnSpPr>
                  <a:endCxn id="1022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028" name="Google Shape;1028;p12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029" name="Google Shape;1029;p12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1030" name="Google Shape;1030;p12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31" name="Google Shape;1031;p12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32" name="Google Shape;1032;p12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1033" name="Google Shape;1033;p12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34" name="Google Shape;1034;p12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35" name="Google Shape;1035;p12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036" name="Google Shape;1036;p12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37" name="Google Shape;1037;p12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38" name="Google Shape;1038;p12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39" name="Google Shape;1039;p12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40" name="Google Shape;1040;p12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1041" name="Google Shape;1041;p12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42" name="Google Shape;1042;p12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43" name="Google Shape;1043;p12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44" name="Google Shape;1044;p12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45" name="Google Shape;1045;p12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6" name="Google Shape;1046;p12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7" name="Google Shape;1047;p12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48" name="Google Shape;1048;p12"/>
                <p:cNvCxnSpPr>
                  <a:endCxn id="1043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049" name="Google Shape;1049;p12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050" name="Google Shape;1050;p12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1051" name="Google Shape;1051;p12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52" name="Google Shape;1052;p12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53" name="Google Shape;1053;p12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1054" name="Google Shape;1054;p12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55" name="Google Shape;1055;p12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56" name="Google Shape;1056;p12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057" name="Google Shape;1057;p12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58" name="Google Shape;1058;p12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59" name="Google Shape;1059;p12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60" name="Google Shape;1060;p12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61" name="Google Shape;1061;p12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1062" name="Google Shape;1062;p12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63" name="Google Shape;1063;p12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64" name="Google Shape;1064;p12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65" name="Google Shape;1065;p12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66" name="Google Shape;1066;p12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7" name="Google Shape;1067;p12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8" name="Google Shape;1068;p12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69" name="Google Shape;1069;p12"/>
                <p:cNvCxnSpPr>
                  <a:endCxn id="1064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070" name="Google Shape;1070;p12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071" name="Google Shape;1071;p12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1072" name="Google Shape;1072;p12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73" name="Google Shape;1073;p12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74" name="Google Shape;1074;p12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1075" name="Google Shape;1075;p12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76" name="Google Shape;1076;p12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77" name="Google Shape;1077;p12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078" name="Google Shape;1078;p12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79" name="Google Shape;1079;p12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80" name="Google Shape;1080;p12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81" name="Google Shape;1081;p12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82" name="Google Shape;1082;p12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1083" name="Google Shape;1083;p12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84" name="Google Shape;1084;p12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85" name="Google Shape;1085;p12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86" name="Google Shape;1086;p12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87" name="Google Shape;1087;p12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12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" name="Google Shape;1089;p12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090" name="Google Shape;1090;p12"/>
                <p:cNvCxnSpPr>
                  <a:endCxn id="1085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091" name="Google Shape;1091;p12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092" name="Google Shape;1092;p12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1093" name="Google Shape;1093;p12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94" name="Google Shape;1094;p12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095" name="Google Shape;1095;p12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1096" name="Google Shape;1096;p12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97" name="Google Shape;1097;p12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098" name="Google Shape;1098;p12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099" name="Google Shape;1099;p12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00" name="Google Shape;1100;p12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01" name="Google Shape;1101;p12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02" name="Google Shape;1102;p12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103" name="Google Shape;1103;p12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1104" name="Google Shape;1104;p12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05" name="Google Shape;1105;p12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06" name="Google Shape;1106;p12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07" name="Google Shape;1107;p12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08" name="Google Shape;1108;p12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12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0" name="Google Shape;1110;p12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11" name="Google Shape;1111;p12"/>
                <p:cNvCxnSpPr>
                  <a:endCxn id="1106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112" name="Google Shape;1112;p12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1113" name="Google Shape;1113;p12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1114" name="Google Shape;1114;p12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5" name="Google Shape;1115;p12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1116" name="Google Shape;1116;p12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7" name="Google Shape;1117;p12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18" name="Google Shape;1118;p12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1119" name="Google Shape;1119;p12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1120" name="Google Shape;1120;p12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1121" name="Google Shape;1121;p12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22" name="Google Shape;1122;p12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3" name="Google Shape;1123;p12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12"/>
              <p:cNvCxnSpPr>
                <a:stCxn id="1121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25" name="Google Shape;1125;p12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1126" name="Google Shape;1126;p12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27" name="Google Shape;1127;p12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8" name="Google Shape;1128;p12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9" name="Google Shape;1129;p12"/>
              <p:cNvCxnSpPr>
                <a:stCxn id="1126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0" name="Google Shape;1130;p12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1131" name="Google Shape;1131;p12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32" name="Google Shape;1132;p12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3" name="Google Shape;1133;p12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4" name="Google Shape;1134;p12"/>
              <p:cNvCxnSpPr>
                <a:stCxn id="1131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35" name="Google Shape;1135;p12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1136" name="Google Shape;1136;p12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37" name="Google Shape;1137;p12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8" name="Google Shape;1138;p12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9" name="Google Shape;1139;p12"/>
              <p:cNvCxnSpPr>
                <a:stCxn id="1136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140" name="Google Shape;1140;p12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1141" name="Google Shape;1141;p12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142" name="Google Shape;1142;p12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3" name="Google Shape;1143;p12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4" name="Google Shape;1144;p12"/>
              <p:cNvCxnSpPr>
                <a:stCxn id="1141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45" name="Google Shape;1145;p12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1146" name="Google Shape;1146;p12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47" name="Google Shape;1147;p12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48" name="Google Shape;1148;p12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49" name="Google Shape;1149;p12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50" name="Google Shape;1150;p12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2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2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3" name="Google Shape;1153;p12"/>
            <p:cNvCxnSpPr>
              <a:endCxn id="1148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54" name="Google Shape;1154;p12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55" name="Google Shape;1155;p12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1156" name="Google Shape;1156;p12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57" name="Google Shape;1157;p12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58" name="Google Shape;1158;p12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59" name="Google Shape;1159;p12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60" name="Google Shape;1160;p12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2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2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63" name="Google Shape;1163;p12"/>
            <p:cNvCxnSpPr>
              <a:endCxn id="1158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64" name="Google Shape;1164;p12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65" name="Google Shape;1165;p12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1166" name="Google Shape;1166;p12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67" name="Google Shape;1167;p12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68" name="Google Shape;1168;p12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69" name="Google Shape;1169;p12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0" name="Google Shape;1170;p12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2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2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3" name="Google Shape;1173;p12"/>
            <p:cNvCxnSpPr>
              <a:endCxn id="1168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74" name="Google Shape;1174;p12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75" name="Google Shape;1175;p12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1176" name="Google Shape;1176;p12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7" name="Google Shape;1177;p12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8" name="Google Shape;1178;p12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9" name="Google Shape;1179;p12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0" name="Google Shape;1180;p12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2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2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3" name="Google Shape;1183;p12"/>
            <p:cNvCxnSpPr>
              <a:endCxn id="1178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84" name="Google Shape;1184;p12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85" name="Google Shape;1185;p12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1186" name="Google Shape;1186;p12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7" name="Google Shape;1187;p12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88" name="Google Shape;1188;p12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1189" name="Google Shape;1189;p12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1190" name="Google Shape;1190;p12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1191" name="Google Shape;1191;p12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92" name="Google Shape;1192;p12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193" name="Google Shape;1193;p12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1194" name="Google Shape;1194;p12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1195" name="Google Shape;1195;p12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1196" name="Google Shape;1196;p12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197" name="Google Shape;1197;p12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1198" name="Google Shape;1198;p12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9" name="Google Shape;1199;p12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1200" name="Google Shape;1200;p12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1201" name="Google Shape;1201;p12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202" name="Google Shape;1202;p12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1203" name="Google Shape;1203;p12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4" name="Google Shape;1204;p12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1205" name="Google Shape;1205;p12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1206" name="Google Shape;1206;p12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207" name="Google Shape;1207;p12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1208" name="Google Shape;1208;p12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9" name="Google Shape;1209;p12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1210" name="Google Shape;1210;p12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1211" name="Google Shape;1211;p12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212" name="Google Shape;1212;p12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1213" name="Google Shape;1213;p12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14" name="Google Shape;1214;p12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1215" name="Google Shape;1215;p12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6" name="Google Shape;1216;p12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217" name="Google Shape;1217;p12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1218" name="Google Shape;1218;p12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1219" name="Google Shape;1219;p12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20" name="Google Shape;1220;p12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21" name="Google Shape;1221;p12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12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1223" name="Google Shape;1223;p12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224" name="Google Shape;1224;p12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5" name="Google Shape;1225;p12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1226" name="Google Shape;1226;p12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27" name="Google Shape;1227;p12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28" name="Google Shape;1228;p12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29" name="Google Shape;1229;p12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230" name="Google Shape;1230;p12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12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2" name="Google Shape;1232;p12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33" name="Google Shape;1233;p12"/>
              <p:cNvCxnSpPr>
                <a:endCxn id="1228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1234" name="Google Shape;1234;p12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1235" name="Google Shape;1235;p12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236" name="Google Shape;1236;p12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7" name="Google Shape;1237;p12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1238" name="Google Shape;1238;p12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39" name="Google Shape;1239;p12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240" name="Google Shape;1240;p12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241" name="Google Shape;1241;p12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1242" name="Google Shape;1242;p12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13"/>
          <p:cNvSpPr txBox="1"/>
          <p:nvPr>
            <p:ph type="title"/>
          </p:nvPr>
        </p:nvSpPr>
        <p:spPr>
          <a:xfrm>
            <a:off x="838200" y="39881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 service model</a:t>
            </a:r>
            <a:endParaRPr/>
          </a:p>
        </p:txBody>
      </p:sp>
      <p:sp>
        <p:nvSpPr>
          <p:cNvPr id="1249" name="Google Shape;1249;p13"/>
          <p:cNvSpPr txBox="1"/>
          <p:nvPr>
            <p:ph idx="1" type="body"/>
          </p:nvPr>
        </p:nvSpPr>
        <p:spPr>
          <a:xfrm>
            <a:off x="1050233" y="2623931"/>
            <a:ext cx="4621697" cy="3208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</a:rPr>
              <a:t>example services for </a:t>
            </a:r>
            <a:r>
              <a:rPr i="1" lang="en-US" sz="3200">
                <a:solidFill>
                  <a:srgbClr val="C00000"/>
                </a:solidFill>
              </a:rPr>
              <a:t>individual</a:t>
            </a:r>
            <a:r>
              <a:rPr lang="en-US" sz="3200">
                <a:solidFill>
                  <a:srgbClr val="C00000"/>
                </a:solidFill>
              </a:rPr>
              <a:t> datagrams</a:t>
            </a:r>
            <a:r>
              <a:rPr lang="en-US" sz="3200">
                <a:solidFill>
                  <a:srgbClr val="CC0000"/>
                </a:solidFill>
              </a:rPr>
              <a:t>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guaranteed delivery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guaranteed delivery with less than 40 msec delay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50" name="Google Shape;1250;p13"/>
          <p:cNvSpPr txBox="1"/>
          <p:nvPr>
            <p:ph idx="2" type="body"/>
          </p:nvPr>
        </p:nvSpPr>
        <p:spPr>
          <a:xfrm>
            <a:off x="6278216" y="2597426"/>
            <a:ext cx="5502965" cy="3564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C0000"/>
                </a:solidFill>
              </a:rPr>
              <a:t>example services for a </a:t>
            </a:r>
            <a:r>
              <a:rPr i="1" lang="en-US" sz="3200">
                <a:solidFill>
                  <a:srgbClr val="CC0000"/>
                </a:solidFill>
              </a:rPr>
              <a:t>flow</a:t>
            </a:r>
            <a:r>
              <a:rPr lang="en-US" sz="3200">
                <a:solidFill>
                  <a:srgbClr val="CC0000"/>
                </a:solidFill>
              </a:rPr>
              <a:t> of datagrams: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in-order datagram delivery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guaranteed minimum bandwidth to flow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restrictions on changes in inter-packet spacing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51" name="Google Shape;1251;p13"/>
          <p:cNvSpPr/>
          <p:nvPr/>
        </p:nvSpPr>
        <p:spPr>
          <a:xfrm>
            <a:off x="1033668" y="1403834"/>
            <a:ext cx="1078727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2720"/>
              <a:buFont typeface="Arial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What </a:t>
            </a:r>
            <a:r>
              <a:rPr b="0" i="1" lang="en-US" sz="32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service model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“channel” transporting datagrams from sender to receiver?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4"/>
          <p:cNvSpPr txBox="1"/>
          <p:nvPr>
            <p:ph type="title"/>
          </p:nvPr>
        </p:nvSpPr>
        <p:spPr>
          <a:xfrm>
            <a:off x="838200" y="39881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service model</a:t>
            </a:r>
            <a:endParaRPr/>
          </a:p>
        </p:txBody>
      </p:sp>
      <p:sp>
        <p:nvSpPr>
          <p:cNvPr id="1258" name="Google Shape;1258;p14"/>
          <p:cNvSpPr txBox="1"/>
          <p:nvPr/>
        </p:nvSpPr>
        <p:spPr>
          <a:xfrm>
            <a:off x="549795" y="1745078"/>
            <a:ext cx="1552092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ATM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ATM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9" name="Google Shape;1259;p14"/>
          <p:cNvSpPr txBox="1"/>
          <p:nvPr/>
        </p:nvSpPr>
        <p:spPr>
          <a:xfrm>
            <a:off x="2453424" y="1760576"/>
            <a:ext cx="2645518" cy="39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effort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Bit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 Bit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Intserv Guaranteed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(RFC 1633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Diffserv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(RFC 2475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14"/>
          <p:cNvSpPr txBox="1"/>
          <p:nvPr/>
        </p:nvSpPr>
        <p:spPr>
          <a:xfrm>
            <a:off x="5253925" y="2071348"/>
            <a:ext cx="2137764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Guaranteed min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1" name="Google Shape;1261;p14"/>
          <p:cNvSpPr txBox="1"/>
          <p:nvPr/>
        </p:nvSpPr>
        <p:spPr>
          <a:xfrm>
            <a:off x="7310368" y="2071348"/>
            <a:ext cx="1112805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2" name="Google Shape;1262;p14"/>
          <p:cNvSpPr txBox="1"/>
          <p:nvPr/>
        </p:nvSpPr>
        <p:spPr>
          <a:xfrm>
            <a:off x="8483715" y="2080873"/>
            <a:ext cx="1112805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14"/>
          <p:cNvSpPr txBox="1"/>
          <p:nvPr/>
        </p:nvSpPr>
        <p:spPr>
          <a:xfrm>
            <a:off x="9712924" y="2080873"/>
            <a:ext cx="94622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64" name="Google Shape;1264;p14"/>
          <p:cNvCxnSpPr/>
          <p:nvPr/>
        </p:nvCxnSpPr>
        <p:spPr>
          <a:xfrm>
            <a:off x="1070632" y="2577761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14"/>
          <p:cNvCxnSpPr/>
          <p:nvPr/>
        </p:nvCxnSpPr>
        <p:spPr>
          <a:xfrm>
            <a:off x="1068049" y="3210609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14"/>
          <p:cNvCxnSpPr/>
          <p:nvPr/>
        </p:nvCxnSpPr>
        <p:spPr>
          <a:xfrm>
            <a:off x="1065466" y="3827958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14"/>
          <p:cNvCxnSpPr/>
          <p:nvPr/>
        </p:nvCxnSpPr>
        <p:spPr>
          <a:xfrm>
            <a:off x="1062883" y="4445307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8" name="Google Shape;1268;p14"/>
          <p:cNvCxnSpPr/>
          <p:nvPr/>
        </p:nvCxnSpPr>
        <p:spPr>
          <a:xfrm>
            <a:off x="1075798" y="5217639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9" name="Google Shape;1269;p14"/>
          <p:cNvSpPr/>
          <p:nvPr/>
        </p:nvSpPr>
        <p:spPr>
          <a:xfrm>
            <a:off x="821410" y="3093349"/>
            <a:ext cx="10120393" cy="29044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0" name="Google Shape;1270;p14"/>
          <p:cNvCxnSpPr/>
          <p:nvPr/>
        </p:nvCxnSpPr>
        <p:spPr>
          <a:xfrm>
            <a:off x="5315919" y="2007768"/>
            <a:ext cx="5362413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71" name="Google Shape;1271;p14"/>
          <p:cNvGrpSpPr/>
          <p:nvPr/>
        </p:nvGrpSpPr>
        <p:grpSpPr>
          <a:xfrm>
            <a:off x="1859797" y="3440624"/>
            <a:ext cx="8105613" cy="2557221"/>
            <a:chOff x="852407" y="3270142"/>
            <a:chExt cx="8105613" cy="2557221"/>
          </a:xfrm>
        </p:grpSpPr>
        <p:sp>
          <p:nvSpPr>
            <p:cNvPr id="1272" name="Google Shape;1272;p14"/>
            <p:cNvSpPr txBox="1"/>
            <p:nvPr/>
          </p:nvSpPr>
          <p:spPr>
            <a:xfrm>
              <a:off x="1175287" y="3794500"/>
              <a:ext cx="7516160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guarantees on</a:t>
              </a:r>
              <a:r>
                <a:rPr b="0" i="1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endParaRPr/>
            </a:p>
            <a:p>
              <a:pPr indent="-409575" lvl="1" marL="86677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AutoNum type="romanLcPeriod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successful</a:t>
              </a:r>
              <a:r>
                <a:rPr b="0" i="1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datagram delivery to destination</a:t>
              </a:r>
              <a:endParaRPr/>
            </a:p>
            <a:p>
              <a:pPr indent="-409575" lvl="1" marL="86677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AutoNum type="romanLcPeriod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timing or order of delivery</a:t>
              </a:r>
              <a:endParaRPr/>
            </a:p>
            <a:p>
              <a:pPr indent="-409575" lvl="1" marL="866775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AutoNum type="romanLcPeriod"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bandwidth available to end-end flow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4"/>
            <p:cNvSpPr/>
            <p:nvPr/>
          </p:nvSpPr>
          <p:spPr>
            <a:xfrm>
              <a:off x="852407" y="3502617"/>
              <a:ext cx="8105613" cy="2324746"/>
            </a:xfrm>
            <a:prstGeom prst="rect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4"/>
            <p:cNvSpPr txBox="1"/>
            <p:nvPr/>
          </p:nvSpPr>
          <p:spPr>
            <a:xfrm>
              <a:off x="1100380" y="3270142"/>
              <a:ext cx="5474191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Internet  “best effort” service model</a:t>
              </a:r>
              <a:endParaRPr/>
            </a:p>
          </p:txBody>
        </p:sp>
      </p:grpSp>
      <p:sp>
        <p:nvSpPr>
          <p:cNvPr id="1275" name="Google Shape;1275;p14"/>
          <p:cNvSpPr txBox="1"/>
          <p:nvPr/>
        </p:nvSpPr>
        <p:spPr>
          <a:xfrm>
            <a:off x="5778457" y="1566819"/>
            <a:ext cx="45688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ality of </a:t>
            </a:r>
            <a:r>
              <a:rPr b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(QoS)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Guarantees ?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5"/>
          <p:cNvSpPr txBox="1"/>
          <p:nvPr>
            <p:ph type="title"/>
          </p:nvPr>
        </p:nvSpPr>
        <p:spPr>
          <a:xfrm>
            <a:off x="838200" y="39881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service model</a:t>
            </a:r>
            <a:endParaRPr/>
          </a:p>
        </p:txBody>
      </p:sp>
      <p:sp>
        <p:nvSpPr>
          <p:cNvPr id="1282" name="Google Shape;1282;p15"/>
          <p:cNvSpPr txBox="1"/>
          <p:nvPr/>
        </p:nvSpPr>
        <p:spPr>
          <a:xfrm>
            <a:off x="549795" y="1745078"/>
            <a:ext cx="1552092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ATM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ATM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Internet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15"/>
          <p:cNvSpPr txBox="1"/>
          <p:nvPr/>
        </p:nvSpPr>
        <p:spPr>
          <a:xfrm>
            <a:off x="2453424" y="1760576"/>
            <a:ext cx="2645518" cy="3913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effort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Bit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Available Bit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Intserv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(RFC 1633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Diffserv 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(RFC 2475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15"/>
          <p:cNvSpPr txBox="1"/>
          <p:nvPr/>
        </p:nvSpPr>
        <p:spPr>
          <a:xfrm>
            <a:off x="5253925" y="2071348"/>
            <a:ext cx="2137764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Bandwidth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Constant rate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Guaranteed min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15"/>
          <p:cNvSpPr txBox="1"/>
          <p:nvPr/>
        </p:nvSpPr>
        <p:spPr>
          <a:xfrm>
            <a:off x="7310368" y="2071348"/>
            <a:ext cx="1112805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15"/>
          <p:cNvSpPr txBox="1"/>
          <p:nvPr/>
        </p:nvSpPr>
        <p:spPr>
          <a:xfrm>
            <a:off x="8483715" y="2080873"/>
            <a:ext cx="1112805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possibly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15"/>
          <p:cNvSpPr txBox="1"/>
          <p:nvPr/>
        </p:nvSpPr>
        <p:spPr>
          <a:xfrm>
            <a:off x="9712924" y="2080873"/>
            <a:ext cx="946221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8" name="Google Shape;1288;p15"/>
          <p:cNvSpPr txBox="1"/>
          <p:nvPr/>
        </p:nvSpPr>
        <p:spPr>
          <a:xfrm>
            <a:off x="5778457" y="1566819"/>
            <a:ext cx="456887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ality of 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 (QoS)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Guarantees ?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89" name="Google Shape;1289;p15"/>
          <p:cNvCxnSpPr/>
          <p:nvPr/>
        </p:nvCxnSpPr>
        <p:spPr>
          <a:xfrm>
            <a:off x="5315919" y="2007768"/>
            <a:ext cx="5362413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0" name="Google Shape;1290;p15"/>
          <p:cNvCxnSpPr/>
          <p:nvPr/>
        </p:nvCxnSpPr>
        <p:spPr>
          <a:xfrm>
            <a:off x="1070632" y="2577761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1" name="Google Shape;1291;p15"/>
          <p:cNvCxnSpPr/>
          <p:nvPr/>
        </p:nvCxnSpPr>
        <p:spPr>
          <a:xfrm>
            <a:off x="1068049" y="3210609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2" name="Google Shape;1292;p15"/>
          <p:cNvCxnSpPr/>
          <p:nvPr/>
        </p:nvCxnSpPr>
        <p:spPr>
          <a:xfrm>
            <a:off x="1065466" y="3827958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3" name="Google Shape;1293;p15"/>
          <p:cNvCxnSpPr/>
          <p:nvPr/>
        </p:nvCxnSpPr>
        <p:spPr>
          <a:xfrm>
            <a:off x="1062883" y="4445307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4" name="Google Shape;1294;p15"/>
          <p:cNvCxnSpPr/>
          <p:nvPr/>
        </p:nvCxnSpPr>
        <p:spPr>
          <a:xfrm>
            <a:off x="1075798" y="5217639"/>
            <a:ext cx="9623199" cy="0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6"/>
          <p:cNvSpPr txBox="1"/>
          <p:nvPr>
            <p:ph type="title"/>
          </p:nvPr>
        </p:nvSpPr>
        <p:spPr>
          <a:xfrm>
            <a:off x="838200" y="39881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Reflections on best-effort  service:</a:t>
            </a:r>
            <a:endParaRPr/>
          </a:p>
        </p:txBody>
      </p:sp>
      <p:sp>
        <p:nvSpPr>
          <p:cNvPr id="1301" name="Google Shape;1301;p16"/>
          <p:cNvSpPr txBox="1"/>
          <p:nvPr>
            <p:ph idx="1" type="body"/>
          </p:nvPr>
        </p:nvSpPr>
        <p:spPr>
          <a:xfrm>
            <a:off x="848755" y="1399565"/>
            <a:ext cx="10836967" cy="4691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solidFill>
                  <a:srgbClr val="0013A3"/>
                </a:solidFill>
              </a:rPr>
              <a:t>simplicity of mechanism </a:t>
            </a:r>
            <a:r>
              <a:rPr lang="en-US"/>
              <a:t>has allowed Internet to be widely deployed adopted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sufficient </a:t>
            </a:r>
            <a:r>
              <a:rPr lang="en-US">
                <a:solidFill>
                  <a:srgbClr val="0013A3"/>
                </a:solidFill>
              </a:rPr>
              <a:t>provisioning of bandwidth</a:t>
            </a:r>
            <a:r>
              <a:rPr lang="en-US"/>
              <a:t> allows performance of real-time applications (e.g., interactive voice, video) to be “good enough” for “most of the time”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>
                <a:solidFill>
                  <a:srgbClr val="0013A3"/>
                </a:solidFill>
              </a:rPr>
              <a:t>replicated, application-layer distributed services </a:t>
            </a:r>
            <a:r>
              <a:rPr lang="en-US"/>
              <a:t>(datacenters, content distribution networks) connecting close to clients’ networks, allow services to be provided from multiple locations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/>
              <a:t>congestion control of “elastic” services helps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 txBox="1"/>
          <p:nvPr/>
        </p:nvSpPr>
        <p:spPr>
          <a:xfrm flipH="1">
            <a:off x="1131375" y="5749871"/>
            <a:ext cx="1010489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It’s hard to argue with success of best-effort service model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17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sp>
        <p:nvSpPr>
          <p:cNvPr id="1309" name="Google Shape;1309;p17"/>
          <p:cNvSpPr txBox="1"/>
          <p:nvPr>
            <p:ph idx="2" type="body"/>
          </p:nvPr>
        </p:nvSpPr>
        <p:spPr>
          <a:xfrm>
            <a:off x="518511" y="2492753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Overview of Network Layer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What’s Inside a Router?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The Internet Protocol: IPv4, Addressing, NAT, IPv6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Generalized Forwarding and SDN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Middleboxes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Summary</a:t>
            </a:r>
            <a:endParaRPr/>
          </a:p>
        </p:txBody>
      </p:sp>
      <p:grpSp>
        <p:nvGrpSpPr>
          <p:cNvPr id="1310" name="Google Shape;1310;p17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1311" name="Google Shape;1311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2" name="Google Shape;1312;p17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1313" name="Google Shape;1313;p17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1314" name="Google Shape;1314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5" name="Google Shape;1315;p17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6" name="Google Shape;1316;p17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1317" name="Google Shape;1317;p17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1318" name="Google Shape;1318;p17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1319" name="Google Shape;1319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20" name="Google Shape;1320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