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68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68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illSans-bold.fntdata"/><Relationship Id="rId6" Type="http://schemas.openxmlformats.org/officeDocument/2006/relationships/slide" Target="slides/slide1.xml"/><Relationship Id="rId18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" name="Google Shape;8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518511" y="2492753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Overview of Network Layer</a:t>
            </a:r>
            <a:r>
              <a:rPr lang="en-US" sz="3600"/>
              <a:t>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What’s Inside a Router?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The Internet Protocol: IPv4, Addressing, NAT IPv6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3200"/>
              <a:buChar char="▪"/>
            </a:pPr>
            <a:r>
              <a:rPr lang="en-US" sz="3200"/>
              <a:t>Generalized Forwarding and SDN 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match+action</a:t>
            </a:r>
            <a:endParaRPr sz="2800"/>
          </a:p>
          <a:p>
            <a:pPr indent="-231775" lvl="1" marL="6953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OpenFlow: match+action in action</a:t>
            </a:r>
            <a:endParaRPr>
              <a:solidFill>
                <a:srgbClr val="BFBFBF"/>
              </a:solidFill>
            </a:endParaRPr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Middleboxes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Summary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2020188" y="2244830"/>
            <a:ext cx="6996667" cy="1258851"/>
            <a:chOff x="1372488" y="5470630"/>
            <a:chExt cx="6996667" cy="1258851"/>
          </a:xfrm>
        </p:grpSpPr>
        <p:sp>
          <p:nvSpPr>
            <p:cNvPr id="48" name="Google Shape;48;p7"/>
            <p:cNvSpPr/>
            <p:nvPr/>
          </p:nvSpPr>
          <p:spPr>
            <a:xfrm>
              <a:off x="4341668" y="5789681"/>
              <a:ext cx="4027487" cy="939800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" name="Google Shape;49;p7"/>
            <p:cNvCxnSpPr/>
            <p:nvPr/>
          </p:nvCxnSpPr>
          <p:spPr>
            <a:xfrm flipH="1" rot="10800000">
              <a:off x="5011593" y="5940494"/>
              <a:ext cx="1316037" cy="131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" name="Google Shape;50;p7"/>
            <p:cNvCxnSpPr/>
            <p:nvPr/>
          </p:nvCxnSpPr>
          <p:spPr>
            <a:xfrm>
              <a:off x="4900468" y="6127819"/>
              <a:ext cx="2259012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" name="Google Shape;51;p7"/>
            <p:cNvCxnSpPr/>
            <p:nvPr/>
          </p:nvCxnSpPr>
          <p:spPr>
            <a:xfrm>
              <a:off x="4913168" y="6232594"/>
              <a:ext cx="714375" cy="2762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" name="Google Shape;52;p7"/>
            <p:cNvCxnSpPr/>
            <p:nvPr/>
          </p:nvCxnSpPr>
          <p:spPr>
            <a:xfrm flipH="1" rot="10800000">
              <a:off x="5930755" y="6426269"/>
              <a:ext cx="1247775" cy="825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" name="Google Shape;53;p7"/>
            <p:cNvCxnSpPr/>
            <p:nvPr/>
          </p:nvCxnSpPr>
          <p:spPr>
            <a:xfrm>
              <a:off x="6591155" y="5973831"/>
              <a:ext cx="1057275" cy="1238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7"/>
            <p:cNvCxnSpPr/>
            <p:nvPr/>
          </p:nvCxnSpPr>
          <p:spPr>
            <a:xfrm flipH="1" rot="10800000">
              <a:off x="5875193" y="6127819"/>
              <a:ext cx="1790700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" name="Google Shape;55;p7"/>
            <p:cNvCxnSpPr/>
            <p:nvPr/>
          </p:nvCxnSpPr>
          <p:spPr>
            <a:xfrm flipH="1" rot="10800000">
              <a:off x="7202343" y="6156394"/>
              <a:ext cx="588962" cy="2698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" name="Google Shape;56;p7"/>
            <p:cNvCxnSpPr/>
            <p:nvPr/>
          </p:nvCxnSpPr>
          <p:spPr>
            <a:xfrm>
              <a:off x="6345093" y="5940494"/>
              <a:ext cx="814387" cy="40163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7" name="Google Shape;57;p7"/>
            <p:cNvGrpSpPr/>
            <p:nvPr/>
          </p:nvGrpSpPr>
          <p:grpSpPr>
            <a:xfrm>
              <a:off x="7605568" y="5983356"/>
              <a:ext cx="588962" cy="242888"/>
              <a:chOff x="1871277" y="1576300"/>
              <a:chExt cx="1128371" cy="437861"/>
            </a:xfrm>
          </p:grpSpPr>
          <p:sp>
            <p:nvSpPr>
              <p:cNvPr id="58" name="Google Shape;58;p7"/>
              <p:cNvSpPr/>
              <p:nvPr/>
            </p:nvSpPr>
            <p:spPr>
              <a:xfrm flipH="1" rot="10800000">
                <a:off x="1874317" y="1693636"/>
                <a:ext cx="1125331" cy="320525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9" name="Google Shape;59;p7"/>
              <p:cNvSpPr/>
              <p:nvPr/>
            </p:nvSpPr>
            <p:spPr>
              <a:xfrm>
                <a:off x="1871277" y="1739425"/>
                <a:ext cx="1128371" cy="117334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0" name="Google Shape;60;p7"/>
              <p:cNvSpPr/>
              <p:nvPr/>
            </p:nvSpPr>
            <p:spPr>
              <a:xfrm flipH="1" rot="10800000">
                <a:off x="1871277" y="1576300"/>
                <a:ext cx="1125331" cy="320525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1" name="Google Shape;61;p7"/>
              <p:cNvSpPr/>
              <p:nvPr/>
            </p:nvSpPr>
            <p:spPr>
              <a:xfrm>
                <a:off x="2160212" y="1673602"/>
                <a:ext cx="547458" cy="16026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2" name="Google Shape;62;p7"/>
              <p:cNvSpPr/>
              <p:nvPr/>
            </p:nvSpPr>
            <p:spPr>
              <a:xfrm>
                <a:off x="2102426" y="1633537"/>
                <a:ext cx="663033" cy="111612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7"/>
              <p:cNvSpPr/>
              <p:nvPr/>
            </p:nvSpPr>
            <p:spPr>
              <a:xfrm>
                <a:off x="2537350" y="1727978"/>
                <a:ext cx="243315" cy="97302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7"/>
              <p:cNvSpPr/>
              <p:nvPr/>
            </p:nvSpPr>
            <p:spPr>
              <a:xfrm>
                <a:off x="2090260" y="1730839"/>
                <a:ext cx="240272" cy="97302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5" name="Google Shape;65;p7"/>
              <p:cNvCxnSpPr>
                <a:endCxn id="60" idx="2"/>
              </p:cNvCxnSpPr>
              <p:nvPr/>
            </p:nvCxnSpPr>
            <p:spPr>
              <a:xfrm rot="10800000">
                <a:off x="1871277" y="1736563"/>
                <a:ext cx="30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66" name="Google Shape;66;p7"/>
              <p:cNvCxnSpPr/>
              <p:nvPr/>
            </p:nvCxnSpPr>
            <p:spPr>
              <a:xfrm rot="10800000">
                <a:off x="2996608" y="1733702"/>
                <a:ext cx="3040" cy="1230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grpSp>
          <p:nvGrpSpPr>
            <p:cNvPr id="67" name="Google Shape;67;p7"/>
            <p:cNvGrpSpPr/>
            <p:nvPr/>
          </p:nvGrpSpPr>
          <p:grpSpPr>
            <a:xfrm>
              <a:off x="6124430" y="5842069"/>
              <a:ext cx="588963" cy="242887"/>
              <a:chOff x="1871277" y="1576300"/>
              <a:chExt cx="1128371" cy="437861"/>
            </a:xfrm>
          </p:grpSpPr>
          <p:sp>
            <p:nvSpPr>
              <p:cNvPr id="68" name="Google Shape;68;p7"/>
              <p:cNvSpPr/>
              <p:nvPr/>
            </p:nvSpPr>
            <p:spPr>
              <a:xfrm flipH="1" rot="10800000">
                <a:off x="1874319" y="1693635"/>
                <a:ext cx="1125329" cy="32052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9" name="Google Shape;69;p7"/>
              <p:cNvSpPr/>
              <p:nvPr/>
            </p:nvSpPr>
            <p:spPr>
              <a:xfrm>
                <a:off x="1871277" y="1739424"/>
                <a:ext cx="1128371" cy="117336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" name="Google Shape;70;p7"/>
              <p:cNvSpPr/>
              <p:nvPr/>
            </p:nvSpPr>
            <p:spPr>
              <a:xfrm flipH="1" rot="10800000">
                <a:off x="1871277" y="1576300"/>
                <a:ext cx="1125329" cy="320526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1" name="Google Shape;71;p7"/>
              <p:cNvSpPr/>
              <p:nvPr/>
            </p:nvSpPr>
            <p:spPr>
              <a:xfrm>
                <a:off x="2160214" y="1673603"/>
                <a:ext cx="547457" cy="16026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2" name="Google Shape;72;p7"/>
              <p:cNvSpPr/>
              <p:nvPr/>
            </p:nvSpPr>
            <p:spPr>
              <a:xfrm>
                <a:off x="2102426" y="1633537"/>
                <a:ext cx="663031" cy="11161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7"/>
              <p:cNvSpPr/>
              <p:nvPr/>
            </p:nvSpPr>
            <p:spPr>
              <a:xfrm>
                <a:off x="2537351" y="1727977"/>
                <a:ext cx="243314" cy="97303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7"/>
              <p:cNvSpPr/>
              <p:nvPr/>
            </p:nvSpPr>
            <p:spPr>
              <a:xfrm>
                <a:off x="2090260" y="1730839"/>
                <a:ext cx="240274" cy="97303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5" name="Google Shape;75;p7"/>
              <p:cNvCxnSpPr>
                <a:endCxn id="70" idx="2"/>
              </p:cNvCxnSpPr>
              <p:nvPr/>
            </p:nvCxnSpPr>
            <p:spPr>
              <a:xfrm rot="10800000">
                <a:off x="1871277" y="1736563"/>
                <a:ext cx="30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76" name="Google Shape;76;p7"/>
              <p:cNvCxnSpPr/>
              <p:nvPr/>
            </p:nvCxnSpPr>
            <p:spPr>
              <a:xfrm rot="10800000">
                <a:off x="2996606" y="1733700"/>
                <a:ext cx="3042" cy="12306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grpSp>
          <p:nvGrpSpPr>
            <p:cNvPr id="77" name="Google Shape;77;p7"/>
            <p:cNvGrpSpPr/>
            <p:nvPr/>
          </p:nvGrpSpPr>
          <p:grpSpPr>
            <a:xfrm>
              <a:off x="6916593" y="6302444"/>
              <a:ext cx="588962" cy="242887"/>
              <a:chOff x="1871277" y="1576300"/>
              <a:chExt cx="1128371" cy="437861"/>
            </a:xfrm>
          </p:grpSpPr>
          <p:sp>
            <p:nvSpPr>
              <p:cNvPr id="78" name="Google Shape;78;p7"/>
              <p:cNvSpPr/>
              <p:nvPr/>
            </p:nvSpPr>
            <p:spPr>
              <a:xfrm flipH="1" rot="10800000">
                <a:off x="1874317" y="1693635"/>
                <a:ext cx="1125331" cy="32052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9" name="Google Shape;79;p7"/>
              <p:cNvSpPr/>
              <p:nvPr/>
            </p:nvSpPr>
            <p:spPr>
              <a:xfrm>
                <a:off x="1871277" y="1739424"/>
                <a:ext cx="1128371" cy="117336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" name="Google Shape;80;p7"/>
              <p:cNvSpPr/>
              <p:nvPr/>
            </p:nvSpPr>
            <p:spPr>
              <a:xfrm flipH="1" rot="10800000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1" name="Google Shape;81;p7"/>
              <p:cNvSpPr/>
              <p:nvPr/>
            </p:nvSpPr>
            <p:spPr>
              <a:xfrm>
                <a:off x="2160212" y="1673603"/>
                <a:ext cx="547458" cy="16026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2102426" y="1633537"/>
                <a:ext cx="663033" cy="11161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7"/>
              <p:cNvSpPr/>
              <p:nvPr/>
            </p:nvSpPr>
            <p:spPr>
              <a:xfrm>
                <a:off x="2537350" y="1727977"/>
                <a:ext cx="243315" cy="97303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7"/>
              <p:cNvSpPr/>
              <p:nvPr/>
            </p:nvSpPr>
            <p:spPr>
              <a:xfrm>
                <a:off x="2090260" y="1730839"/>
                <a:ext cx="240272" cy="97303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5" name="Google Shape;85;p7"/>
              <p:cNvCxnSpPr>
                <a:endCxn id="80" idx="2"/>
              </p:cNvCxnSpPr>
              <p:nvPr/>
            </p:nvCxnSpPr>
            <p:spPr>
              <a:xfrm rot="10800000">
                <a:off x="1871277" y="1736563"/>
                <a:ext cx="30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86" name="Google Shape;86;p7"/>
              <p:cNvCxnSpPr/>
              <p:nvPr/>
            </p:nvCxnSpPr>
            <p:spPr>
              <a:xfrm rot="10800000">
                <a:off x="2996608" y="1733700"/>
                <a:ext cx="3040" cy="12306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grpSp>
          <p:nvGrpSpPr>
            <p:cNvPr id="87" name="Google Shape;87;p7"/>
            <p:cNvGrpSpPr/>
            <p:nvPr/>
          </p:nvGrpSpPr>
          <p:grpSpPr>
            <a:xfrm>
              <a:off x="5452918" y="6394519"/>
              <a:ext cx="588962" cy="242887"/>
              <a:chOff x="1871277" y="1576300"/>
              <a:chExt cx="1128371" cy="437861"/>
            </a:xfrm>
          </p:grpSpPr>
          <p:sp>
            <p:nvSpPr>
              <p:cNvPr id="88" name="Google Shape;88;p7"/>
              <p:cNvSpPr/>
              <p:nvPr/>
            </p:nvSpPr>
            <p:spPr>
              <a:xfrm flipH="1" rot="10800000">
                <a:off x="1874317" y="1693635"/>
                <a:ext cx="1125331" cy="32052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9" name="Google Shape;89;p7"/>
              <p:cNvSpPr/>
              <p:nvPr/>
            </p:nvSpPr>
            <p:spPr>
              <a:xfrm>
                <a:off x="1871277" y="1739424"/>
                <a:ext cx="1128371" cy="117336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" name="Google Shape;90;p7"/>
              <p:cNvSpPr/>
              <p:nvPr/>
            </p:nvSpPr>
            <p:spPr>
              <a:xfrm flipH="1" rot="10800000">
                <a:off x="1871277" y="1576300"/>
                <a:ext cx="1125331" cy="320526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" name="Google Shape;91;p7"/>
              <p:cNvSpPr/>
              <p:nvPr/>
            </p:nvSpPr>
            <p:spPr>
              <a:xfrm>
                <a:off x="2160212" y="1673603"/>
                <a:ext cx="547458" cy="16026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2" name="Google Shape;92;p7"/>
              <p:cNvSpPr/>
              <p:nvPr/>
            </p:nvSpPr>
            <p:spPr>
              <a:xfrm>
                <a:off x="2102426" y="1633537"/>
                <a:ext cx="663033" cy="11161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7"/>
              <p:cNvSpPr/>
              <p:nvPr/>
            </p:nvSpPr>
            <p:spPr>
              <a:xfrm>
                <a:off x="2537350" y="1727977"/>
                <a:ext cx="243315" cy="97303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7"/>
              <p:cNvSpPr/>
              <p:nvPr/>
            </p:nvSpPr>
            <p:spPr>
              <a:xfrm>
                <a:off x="2090260" y="1730839"/>
                <a:ext cx="240272" cy="97303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5" name="Google Shape;95;p7"/>
              <p:cNvCxnSpPr>
                <a:endCxn id="90" idx="2"/>
              </p:cNvCxnSpPr>
              <p:nvPr/>
            </p:nvCxnSpPr>
            <p:spPr>
              <a:xfrm rot="10800000">
                <a:off x="1871277" y="1736563"/>
                <a:ext cx="30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96" name="Google Shape;96;p7"/>
              <p:cNvCxnSpPr/>
              <p:nvPr/>
            </p:nvCxnSpPr>
            <p:spPr>
              <a:xfrm rot="10800000">
                <a:off x="2996608" y="1733700"/>
                <a:ext cx="3040" cy="12306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grpSp>
          <p:nvGrpSpPr>
            <p:cNvPr id="97" name="Google Shape;97;p7"/>
            <p:cNvGrpSpPr/>
            <p:nvPr/>
          </p:nvGrpSpPr>
          <p:grpSpPr>
            <a:xfrm>
              <a:off x="2687493" y="5652658"/>
              <a:ext cx="2698750" cy="818062"/>
              <a:chOff x="938213" y="5322389"/>
              <a:chExt cx="2698750" cy="818061"/>
            </a:xfrm>
          </p:grpSpPr>
          <p:cxnSp>
            <p:nvCxnSpPr>
              <p:cNvPr id="98" name="Google Shape;98;p7"/>
              <p:cNvCxnSpPr/>
              <p:nvPr/>
            </p:nvCxnSpPr>
            <p:spPr>
              <a:xfrm flipH="1">
                <a:off x="1282700" y="5802312"/>
                <a:ext cx="1508125" cy="158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9" name="Google Shape;99;p7"/>
              <p:cNvSpPr txBox="1"/>
              <p:nvPr/>
            </p:nvSpPr>
            <p:spPr>
              <a:xfrm>
                <a:off x="3198813" y="5473700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100" name="Google Shape;100;p7"/>
              <p:cNvSpPr txBox="1"/>
              <p:nvPr/>
            </p:nvSpPr>
            <p:spPr>
              <a:xfrm>
                <a:off x="3373438" y="5761038"/>
                <a:ext cx="2635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938213" y="5322389"/>
                <a:ext cx="1616075" cy="402139"/>
                <a:chOff x="-4079003" y="2802821"/>
                <a:chExt cx="1616718" cy="403057"/>
              </a:xfrm>
            </p:grpSpPr>
            <p:sp>
              <p:nvSpPr>
                <p:cNvPr id="102" name="Google Shape;102;p7"/>
                <p:cNvSpPr/>
                <p:nvPr/>
              </p:nvSpPr>
              <p:spPr>
                <a:xfrm>
                  <a:off x="-4079003" y="2985994"/>
                  <a:ext cx="1281675" cy="208750"/>
                </a:xfrm>
                <a:prstGeom prst="rect">
                  <a:avLst/>
                </a:prstGeom>
                <a:solidFill>
                  <a:srgbClr val="3333CC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3" name="Google Shape;103;p7"/>
                <p:cNvCxnSpPr/>
                <p:nvPr/>
              </p:nvCxnSpPr>
              <p:spPr>
                <a:xfrm>
                  <a:off x="-2933828" y="3101502"/>
                  <a:ext cx="471543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104" name="Google Shape;104;p7"/>
                <p:cNvSpPr/>
                <p:nvPr/>
              </p:nvSpPr>
              <p:spPr>
                <a:xfrm>
                  <a:off x="-3377007" y="2988777"/>
                  <a:ext cx="476861" cy="21014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" name="Google Shape;105;p7"/>
                <p:cNvSpPr txBox="1"/>
                <p:nvPr/>
              </p:nvSpPr>
              <p:spPr>
                <a:xfrm>
                  <a:off x="-3430189" y="2965119"/>
                  <a:ext cx="581451" cy="2407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0111</a:t>
                  </a:r>
                  <a:endParaRPr/>
                </a:p>
              </p:txBody>
            </p:sp>
            <p:cxnSp>
              <p:nvCxnSpPr>
                <p:cNvPr id="106" name="Google Shape;106;p7"/>
                <p:cNvCxnSpPr/>
                <p:nvPr/>
              </p:nvCxnSpPr>
              <p:spPr>
                <a:xfrm>
                  <a:off x="-3940114" y="2802821"/>
                  <a:ext cx="724425" cy="215182"/>
                </a:xfrm>
                <a:prstGeom prst="straightConnector1">
                  <a:avLst/>
                </a:prstGeom>
                <a:noFill/>
                <a:ln cap="flat" cmpd="sng" w="15875">
                  <a:solidFill>
                    <a:srgbClr val="C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grpSp>
            <p:nvGrpSpPr>
              <p:cNvPr id="107" name="Google Shape;107;p7"/>
              <p:cNvGrpSpPr/>
              <p:nvPr/>
            </p:nvGrpSpPr>
            <p:grpSpPr>
              <a:xfrm>
                <a:off x="2714625" y="5659438"/>
                <a:ext cx="565150" cy="293688"/>
                <a:chOff x="1871277" y="1576300"/>
                <a:chExt cx="1128371" cy="437862"/>
              </a:xfrm>
            </p:grpSpPr>
            <p:sp>
              <p:nvSpPr>
                <p:cNvPr id="108" name="Google Shape;108;p7"/>
                <p:cNvSpPr/>
                <p:nvPr/>
              </p:nvSpPr>
              <p:spPr>
                <a:xfrm flipH="1" rot="10800000">
                  <a:off x="1874448" y="1694641"/>
                  <a:ext cx="1125200" cy="31952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585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9" name="Google Shape;109;p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10" name="Google Shape;110;p7"/>
                <p:cNvSpPr/>
                <p:nvPr/>
              </p:nvSpPr>
              <p:spPr>
                <a:xfrm flipH="1" rot="10800000">
                  <a:off x="1871277" y="1576300"/>
                  <a:ext cx="1125202" cy="31952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11" name="Google Shape;111;p7"/>
                <p:cNvSpPr/>
                <p:nvPr/>
              </p:nvSpPr>
              <p:spPr>
                <a:xfrm>
                  <a:off x="2159710" y="1673340"/>
                  <a:ext cx="548337" cy="160944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12" name="Google Shape;112;p7"/>
                <p:cNvSpPr/>
                <p:nvPr/>
              </p:nvSpPr>
              <p:spPr>
                <a:xfrm>
                  <a:off x="2102657" y="1633104"/>
                  <a:ext cx="662442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" name="Google Shape;113;p7"/>
                <p:cNvSpPr/>
                <p:nvPr/>
              </p:nvSpPr>
              <p:spPr>
                <a:xfrm>
                  <a:off x="2536889" y="1727776"/>
                  <a:ext cx="244059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Google Shape;114;p7"/>
                <p:cNvSpPr/>
                <p:nvPr/>
              </p:nvSpPr>
              <p:spPr>
                <a:xfrm>
                  <a:off x="2089979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5" name="Google Shape;115;p7"/>
                <p:cNvCxnSpPr>
                  <a:endCxn id="110" idx="2"/>
                </p:cNvCxnSpPr>
                <p:nvPr/>
              </p:nvCxnSpPr>
              <p:spPr>
                <a:xfrm rot="10800000">
                  <a:off x="1871277" y="1736061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16" name="Google Shape;116;p7"/>
                <p:cNvCxnSpPr/>
                <p:nvPr/>
              </p:nvCxnSpPr>
              <p:spPr>
                <a:xfrm rot="10800000">
                  <a:off x="2996479" y="1734878"/>
                  <a:ext cx="3169" cy="1230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  <p:sp>
            <p:nvSpPr>
              <p:cNvPr id="117" name="Google Shape;117;p7"/>
              <p:cNvSpPr txBox="1"/>
              <p:nvPr/>
            </p:nvSpPr>
            <p:spPr>
              <a:xfrm>
                <a:off x="3068638" y="5862638"/>
                <a:ext cx="261937" cy="277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2493963" y="5668963"/>
                <a:ext cx="982662" cy="233362"/>
              </a:xfrm>
              <a:custGeom>
                <a:rect b="b" l="l" r="r" t="t"/>
                <a:pathLst>
                  <a:path extrusionOk="0" h="167" w="554">
                    <a:moveTo>
                      <a:pt x="0" y="10"/>
                    </a:moveTo>
                    <a:cubicBezTo>
                      <a:pt x="102" y="0"/>
                      <a:pt x="240" y="5"/>
                      <a:pt x="324" y="26"/>
                    </a:cubicBezTo>
                    <a:cubicBezTo>
                      <a:pt x="416" y="52"/>
                      <a:pt x="502" y="120"/>
                      <a:pt x="554" y="167"/>
                    </a:cubicBezTo>
                  </a:path>
                </a:pathLst>
              </a:custGeom>
              <a:noFill/>
              <a:ln cap="flat" cmpd="sng" w="57150">
                <a:solidFill>
                  <a:srgbClr val="FF33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" name="Google Shape;119;p7"/>
            <p:cNvSpPr txBox="1"/>
            <p:nvPr/>
          </p:nvSpPr>
          <p:spPr>
            <a:xfrm>
              <a:off x="1372488" y="5470630"/>
              <a:ext cx="1992313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values in arriving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packet header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7"/>
          <p:cNvSpPr txBox="1"/>
          <p:nvPr>
            <p:ph type="title"/>
          </p:nvPr>
        </p:nvSpPr>
        <p:spPr>
          <a:xfrm>
            <a:off x="838199" y="279543"/>
            <a:ext cx="1084711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800"/>
              <a:buFont typeface="Calibri"/>
              <a:buNone/>
            </a:pPr>
            <a:r>
              <a:rPr b="0" lang="en-US" sz="4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Generalized forwarding: match plus action</a:t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847174" y="1217384"/>
            <a:ext cx="1125965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Review: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router contains a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forwarding table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“match plus action”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abstraction: match bits in arriving packet, take action</a:t>
            </a:r>
            <a:endParaRPr/>
          </a:p>
        </p:txBody>
      </p:sp>
      <p:grpSp>
        <p:nvGrpSpPr>
          <p:cNvPr id="122" name="Google Shape;122;p7"/>
          <p:cNvGrpSpPr/>
          <p:nvPr/>
        </p:nvGrpSpPr>
        <p:grpSpPr>
          <a:xfrm>
            <a:off x="3590654" y="4136605"/>
            <a:ext cx="5200654" cy="2273665"/>
            <a:chOff x="3590654" y="4136605"/>
            <a:chExt cx="5200654" cy="2273665"/>
          </a:xfrm>
        </p:grpSpPr>
        <p:grpSp>
          <p:nvGrpSpPr>
            <p:cNvPr id="123" name="Google Shape;123;p7"/>
            <p:cNvGrpSpPr/>
            <p:nvPr/>
          </p:nvGrpSpPr>
          <p:grpSpPr>
            <a:xfrm>
              <a:off x="3590654" y="4136605"/>
              <a:ext cx="1298579" cy="1913670"/>
              <a:chOff x="3590654" y="4136605"/>
              <a:chExt cx="1298579" cy="1913670"/>
            </a:xfrm>
          </p:grpSpPr>
          <p:sp>
            <p:nvSpPr>
              <p:cNvPr id="124" name="Google Shape;124;p7"/>
              <p:cNvSpPr/>
              <p:nvPr/>
            </p:nvSpPr>
            <p:spPr>
              <a:xfrm>
                <a:off x="3608120" y="5291450"/>
                <a:ext cx="1281113" cy="758825"/>
              </a:xfrm>
              <a:custGeom>
                <a:rect b="b" l="l" r="r" t="t"/>
                <a:pathLst>
                  <a:path extrusionOk="0" h="759828" w="1280499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 rot="10800000">
                <a:off x="3610169" y="4392826"/>
                <a:ext cx="1027113" cy="447284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126" name="Google Shape;126;p7"/>
              <p:cNvGrpSpPr/>
              <p:nvPr/>
            </p:nvGrpSpPr>
            <p:grpSpPr>
              <a:xfrm>
                <a:off x="3590654" y="5050151"/>
                <a:ext cx="1035050" cy="360363"/>
                <a:chOff x="4129067" y="3606966"/>
                <a:chExt cx="567968" cy="338045"/>
              </a:xfrm>
            </p:grpSpPr>
            <p:sp>
              <p:nvSpPr>
                <p:cNvPr id="127" name="Google Shape;127;p7"/>
                <p:cNvSpPr/>
                <p:nvPr/>
              </p:nvSpPr>
              <p:spPr>
                <a:xfrm>
                  <a:off x="4130589" y="3720144"/>
                  <a:ext cx="566445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28" name="Google Shape;128;p7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29" name="Google Shape;129;p7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30" name="Google Shape;130;p7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1" name="Google Shape;131;p7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32" name="Google Shape;132;p7"/>
              <p:cNvSpPr/>
              <p:nvPr/>
            </p:nvSpPr>
            <p:spPr>
              <a:xfrm>
                <a:off x="3592076" y="4851683"/>
                <a:ext cx="1028700" cy="336579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33" name="Google Shape;133;p7"/>
              <p:cNvCxnSpPr/>
              <p:nvPr/>
            </p:nvCxnSpPr>
            <p:spPr>
              <a:xfrm>
                <a:off x="3609708" y="5243825"/>
                <a:ext cx="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7"/>
              <p:cNvCxnSpPr/>
              <p:nvPr/>
            </p:nvCxnSpPr>
            <p:spPr>
              <a:xfrm>
                <a:off x="4625708" y="4396154"/>
                <a:ext cx="0" cy="80639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35" name="Google Shape;135;p7"/>
              <p:cNvGrpSpPr/>
              <p:nvPr/>
            </p:nvGrpSpPr>
            <p:grpSpPr>
              <a:xfrm>
                <a:off x="3609241" y="4136605"/>
                <a:ext cx="1019775" cy="398462"/>
                <a:chOff x="2183302" y="1574638"/>
                <a:chExt cx="1199996" cy="429505"/>
              </a:xfrm>
            </p:grpSpPr>
            <p:sp>
              <p:nvSpPr>
                <p:cNvPr id="136" name="Google Shape;136;p7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7" name="Google Shape;137;p7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8" name="Google Shape;138;p7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39" name="Google Shape;139;p7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40" name="Google Shape;140;p7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" name="Google Shape;141;p7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" name="Google Shape;142;p7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3" name="Google Shape;143;p7"/>
                <p:cNvCxnSpPr>
                  <a:endCxn id="138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44" name="Google Shape;144;p7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  <p:cxnSp>
            <p:nvCxnSpPr>
              <p:cNvPr id="145" name="Google Shape;145;p7"/>
              <p:cNvCxnSpPr/>
              <p:nvPr/>
            </p:nvCxnSpPr>
            <p:spPr>
              <a:xfrm>
                <a:off x="3607035" y="4388133"/>
                <a:ext cx="0" cy="80639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6" name="Google Shape;146;p7"/>
            <p:cNvGrpSpPr/>
            <p:nvPr/>
          </p:nvGrpSpPr>
          <p:grpSpPr>
            <a:xfrm>
              <a:off x="5292458" y="4247491"/>
              <a:ext cx="573087" cy="2162779"/>
              <a:chOff x="5292458" y="4247491"/>
              <a:chExt cx="573087" cy="2162779"/>
            </a:xfrm>
          </p:grpSpPr>
          <p:sp>
            <p:nvSpPr>
              <p:cNvPr id="147" name="Google Shape;147;p7"/>
              <p:cNvSpPr/>
              <p:nvPr/>
            </p:nvSpPr>
            <p:spPr>
              <a:xfrm>
                <a:off x="5292458" y="5394637"/>
                <a:ext cx="573087" cy="1015633"/>
              </a:xfrm>
              <a:custGeom>
                <a:rect b="b" l="l" r="r" t="t"/>
                <a:pathLst>
                  <a:path extrusionOk="0" h="1014877" w="574100">
                    <a:moveTo>
                      <a:pt x="323648" y="1001558"/>
                    </a:moveTo>
                    <a:cubicBezTo>
                      <a:pt x="144359" y="448953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92318" y="996974"/>
                      <a:pt x="472137" y="977884"/>
                      <a:pt x="323648" y="100155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 rot="10800000">
                <a:off x="5300268" y="4416668"/>
                <a:ext cx="498084" cy="353991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49" name="Google Shape;149;p7"/>
              <p:cNvCxnSpPr>
                <a:stCxn id="150" idx="3"/>
              </p:cNvCxnSpPr>
              <p:nvPr/>
            </p:nvCxnSpPr>
            <p:spPr>
              <a:xfrm>
                <a:off x="5798598" y="4376078"/>
                <a:ext cx="11400" cy="9693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51" name="Google Shape;151;p7"/>
              <p:cNvGrpSpPr/>
              <p:nvPr/>
            </p:nvGrpSpPr>
            <p:grpSpPr>
              <a:xfrm>
                <a:off x="5301983" y="5267638"/>
                <a:ext cx="508000" cy="225425"/>
                <a:chOff x="4128204" y="3600527"/>
                <a:chExt cx="568606" cy="344310"/>
              </a:xfrm>
            </p:grpSpPr>
            <p:sp>
              <p:nvSpPr>
                <p:cNvPr id="152" name="Google Shape;152;p7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3" name="Google Shape;153;p7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4" name="Google Shape;154;p7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55" name="Google Shape;155;p7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6" name="Google Shape;156;p7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57" name="Google Shape;157;p7"/>
              <p:cNvSpPr/>
              <p:nvPr/>
            </p:nvSpPr>
            <p:spPr>
              <a:xfrm>
                <a:off x="5303570" y="4851684"/>
                <a:ext cx="496888" cy="496916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58" name="Google Shape;158;p7"/>
              <p:cNvCxnSpPr>
                <a:stCxn id="159" idx="2"/>
              </p:cNvCxnSpPr>
              <p:nvPr/>
            </p:nvCxnSpPr>
            <p:spPr>
              <a:xfrm flipH="1">
                <a:off x="5297160" y="4407035"/>
                <a:ext cx="4800" cy="1032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60" name="Google Shape;160;p7"/>
              <p:cNvGrpSpPr/>
              <p:nvPr/>
            </p:nvGrpSpPr>
            <p:grpSpPr>
              <a:xfrm>
                <a:off x="5300389" y="4247491"/>
                <a:ext cx="498209" cy="247651"/>
                <a:chOff x="2184877" y="1564501"/>
                <a:chExt cx="1198749" cy="439187"/>
              </a:xfrm>
            </p:grpSpPr>
            <p:sp>
              <p:nvSpPr>
                <p:cNvPr id="159" name="Google Shape;159;p7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0" name="Google Shape;150;p7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1" name="Google Shape;161;p7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2" name="Google Shape;162;p7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3" name="Google Shape;163;p7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" name="Google Shape;164;p7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" name="Google Shape;165;p7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66" name="Google Shape;166;p7"/>
                <p:cNvCxnSpPr>
                  <a:endCxn id="161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67" name="Google Shape;167;p7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68" name="Google Shape;168;p7"/>
            <p:cNvGrpSpPr/>
            <p:nvPr/>
          </p:nvGrpSpPr>
          <p:grpSpPr>
            <a:xfrm>
              <a:off x="6071920" y="4247489"/>
              <a:ext cx="520700" cy="1626575"/>
              <a:chOff x="6071920" y="4247489"/>
              <a:chExt cx="520700" cy="1626575"/>
            </a:xfrm>
          </p:grpSpPr>
          <p:sp>
            <p:nvSpPr>
              <p:cNvPr id="169" name="Google Shape;169;p7"/>
              <p:cNvSpPr/>
              <p:nvPr/>
            </p:nvSpPr>
            <p:spPr>
              <a:xfrm>
                <a:off x="6071920" y="5431150"/>
                <a:ext cx="514350" cy="442914"/>
              </a:xfrm>
              <a:custGeom>
                <a:rect b="b" l="l" r="r" t="t"/>
                <a:pathLst>
                  <a:path extrusionOk="0" h="443525" w="514180">
                    <a:moveTo>
                      <a:pt x="110303" y="443525"/>
                    </a:moveTo>
                    <a:cubicBezTo>
                      <a:pt x="70106" y="235553"/>
                      <a:pt x="112501" y="273531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56724" y="233015"/>
                      <a:pt x="448695" y="424553"/>
                    </a:cubicBezTo>
                    <a:cubicBezTo>
                      <a:pt x="373684" y="393884"/>
                      <a:pt x="178402" y="416624"/>
                      <a:pt x="110303" y="44352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 rot="10800000">
                <a:off x="6074112" y="4416669"/>
                <a:ext cx="498084" cy="3644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71" name="Google Shape;171;p7"/>
              <p:cNvCxnSpPr>
                <a:stCxn id="172" idx="6"/>
              </p:cNvCxnSpPr>
              <p:nvPr/>
            </p:nvCxnSpPr>
            <p:spPr>
              <a:xfrm>
                <a:off x="6572320" y="4407033"/>
                <a:ext cx="15900" cy="94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73" name="Google Shape;173;p7"/>
              <p:cNvGrpSpPr/>
              <p:nvPr/>
            </p:nvGrpSpPr>
            <p:grpSpPr>
              <a:xfrm>
                <a:off x="6084620" y="5272400"/>
                <a:ext cx="508000" cy="225425"/>
                <a:chOff x="4128204" y="3600524"/>
                <a:chExt cx="568606" cy="344310"/>
              </a:xfrm>
            </p:grpSpPr>
            <p:sp>
              <p:nvSpPr>
                <p:cNvPr id="174" name="Google Shape;174;p7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75" name="Google Shape;175;p7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76" name="Google Shape;176;p7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77" name="Google Shape;177;p7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8" name="Google Shape;178;p7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79" name="Google Shape;179;p7"/>
              <p:cNvSpPr/>
              <p:nvPr/>
            </p:nvSpPr>
            <p:spPr>
              <a:xfrm>
                <a:off x="6086208" y="4886407"/>
                <a:ext cx="496887" cy="46695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80" name="Google Shape;180;p7"/>
              <p:cNvCxnSpPr>
                <a:stCxn id="181" idx="1"/>
              </p:cNvCxnSpPr>
              <p:nvPr/>
            </p:nvCxnSpPr>
            <p:spPr>
              <a:xfrm>
                <a:off x="6074234" y="4376077"/>
                <a:ext cx="1200" cy="1067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82" name="Google Shape;182;p7"/>
              <p:cNvGrpSpPr/>
              <p:nvPr/>
            </p:nvGrpSpPr>
            <p:grpSpPr>
              <a:xfrm>
                <a:off x="6074234" y="4247489"/>
                <a:ext cx="498086" cy="247650"/>
                <a:chOff x="2184879" y="1564498"/>
                <a:chExt cx="1198746" cy="439186"/>
              </a:xfrm>
            </p:grpSpPr>
            <p:sp>
              <p:nvSpPr>
                <p:cNvPr id="172" name="Google Shape;172;p7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1" name="Google Shape;181;p7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3" name="Google Shape;183;p7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4" name="Google Shape;184;p7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5" name="Google Shape;185;p7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7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87;p7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8" name="Google Shape;188;p7"/>
                <p:cNvCxnSpPr>
                  <a:endCxn id="183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89" name="Google Shape;189;p7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90" name="Google Shape;190;p7"/>
            <p:cNvGrpSpPr/>
            <p:nvPr/>
          </p:nvGrpSpPr>
          <p:grpSpPr>
            <a:xfrm>
              <a:off x="7108559" y="4371636"/>
              <a:ext cx="687445" cy="1948722"/>
              <a:chOff x="7108559" y="4371636"/>
              <a:chExt cx="687445" cy="1948722"/>
            </a:xfrm>
          </p:grpSpPr>
          <p:sp>
            <p:nvSpPr>
              <p:cNvPr id="191" name="Google Shape;191;p7"/>
              <p:cNvSpPr/>
              <p:nvPr/>
            </p:nvSpPr>
            <p:spPr>
              <a:xfrm>
                <a:off x="7108559" y="5401721"/>
                <a:ext cx="676275" cy="918637"/>
              </a:xfrm>
              <a:custGeom>
                <a:rect b="b" l="l" r="r" t="t"/>
                <a:pathLst>
                  <a:path extrusionOk="0" h="918268" w="675040">
                    <a:moveTo>
                      <a:pt x="0" y="894029"/>
                    </a:moveTo>
                    <a:cubicBezTo>
                      <a:pt x="111484" y="603455"/>
                      <a:pt x="127519" y="615275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377586" y="467035"/>
                      <a:pt x="377233" y="643076"/>
                      <a:pt x="270986" y="918268"/>
                    </a:cubicBezTo>
                    <a:cubicBezTo>
                      <a:pt x="136701" y="889632"/>
                      <a:pt x="92525" y="908114"/>
                      <a:pt x="0" y="8940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 rot="10800000">
                <a:off x="7290624" y="4495800"/>
                <a:ext cx="498084" cy="41266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93" name="Google Shape;193;p7"/>
              <p:cNvCxnSpPr>
                <a:stCxn id="194" idx="6"/>
              </p:cNvCxnSpPr>
              <p:nvPr/>
            </p:nvCxnSpPr>
            <p:spPr>
              <a:xfrm>
                <a:off x="7792404" y="4459742"/>
                <a:ext cx="3600" cy="87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95" name="Google Shape;195;p7"/>
              <p:cNvGrpSpPr/>
              <p:nvPr/>
            </p:nvGrpSpPr>
            <p:grpSpPr>
              <a:xfrm>
                <a:off x="7287945" y="5254938"/>
                <a:ext cx="508000" cy="225425"/>
                <a:chOff x="4128205" y="3600530"/>
                <a:chExt cx="568606" cy="344311"/>
              </a:xfrm>
            </p:grpSpPr>
            <p:sp>
              <p:nvSpPr>
                <p:cNvPr id="196" name="Google Shape;196;p7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7" name="Google Shape;197;p7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8" name="Google Shape;198;p7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99" name="Google Shape;199;p7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0" name="Google Shape;200;p7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01" name="Google Shape;201;p7"/>
              <p:cNvSpPr/>
              <p:nvPr/>
            </p:nvSpPr>
            <p:spPr>
              <a:xfrm>
                <a:off x="7289533" y="4897315"/>
                <a:ext cx="496887" cy="438584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02" name="Google Shape;202;p7"/>
              <p:cNvCxnSpPr>
                <a:stCxn id="194" idx="2"/>
              </p:cNvCxnSpPr>
              <p:nvPr/>
            </p:nvCxnSpPr>
            <p:spPr>
              <a:xfrm flipH="1">
                <a:off x="7283254" y="4459742"/>
                <a:ext cx="7500" cy="966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03" name="Google Shape;203;p7"/>
              <p:cNvGrpSpPr/>
              <p:nvPr/>
            </p:nvGrpSpPr>
            <p:grpSpPr>
              <a:xfrm>
                <a:off x="7290754" y="4371636"/>
                <a:ext cx="503237" cy="247650"/>
                <a:chOff x="2184881" y="1564505"/>
                <a:chExt cx="1198747" cy="439186"/>
              </a:xfrm>
            </p:grpSpPr>
            <p:sp>
              <p:nvSpPr>
                <p:cNvPr id="204" name="Google Shape;204;p7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5" name="Google Shape;205;p7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4" name="Google Shape;194;p7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6" name="Google Shape;206;p7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7" name="Google Shape;207;p7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Google Shape;209;p7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0" name="Google Shape;210;p7"/>
                <p:cNvCxnSpPr>
                  <a:endCxn id="194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11" name="Google Shape;211;p7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12" name="Google Shape;212;p7"/>
            <p:cNvGrpSpPr/>
            <p:nvPr/>
          </p:nvGrpSpPr>
          <p:grpSpPr>
            <a:xfrm>
              <a:off x="7920869" y="4329546"/>
              <a:ext cx="870439" cy="1680309"/>
              <a:chOff x="7920869" y="4329546"/>
              <a:chExt cx="870439" cy="1680309"/>
            </a:xfrm>
          </p:grpSpPr>
          <p:sp>
            <p:nvSpPr>
              <p:cNvPr id="213" name="Google Shape;213;p7"/>
              <p:cNvSpPr/>
              <p:nvPr/>
            </p:nvSpPr>
            <p:spPr>
              <a:xfrm>
                <a:off x="7920869" y="5455817"/>
                <a:ext cx="865187" cy="554038"/>
              </a:xfrm>
              <a:custGeom>
                <a:rect b="b" l="l" r="r" t="t"/>
                <a:pathLst>
                  <a:path extrusionOk="0" h="553361" w="86625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14" name="Google Shape;214;p7"/>
              <p:cNvSpPr/>
              <p:nvPr/>
            </p:nvSpPr>
            <p:spPr>
              <a:xfrm rot="10800000">
                <a:off x="8288771" y="4495799"/>
                <a:ext cx="498084" cy="36196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15" name="Google Shape;215;p7"/>
              <p:cNvCxnSpPr>
                <a:stCxn id="216" idx="6"/>
              </p:cNvCxnSpPr>
              <p:nvPr/>
            </p:nvCxnSpPr>
            <p:spPr>
              <a:xfrm>
                <a:off x="8783370" y="4418446"/>
                <a:ext cx="7800" cy="955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17" name="Google Shape;217;p7"/>
              <p:cNvGrpSpPr/>
              <p:nvPr/>
            </p:nvGrpSpPr>
            <p:grpSpPr>
              <a:xfrm>
                <a:off x="8283308" y="5299752"/>
                <a:ext cx="508000" cy="222250"/>
                <a:chOff x="4128205" y="3605704"/>
                <a:chExt cx="568606" cy="339138"/>
              </a:xfrm>
            </p:grpSpPr>
            <p:sp>
              <p:nvSpPr>
                <p:cNvPr id="218" name="Google Shape;218;p7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9" name="Google Shape;219;p7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0" name="Google Shape;220;p7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21" name="Google Shape;221;p7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2" name="Google Shape;222;p7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23" name="Google Shape;223;p7"/>
              <p:cNvSpPr/>
              <p:nvPr/>
            </p:nvSpPr>
            <p:spPr>
              <a:xfrm>
                <a:off x="8284895" y="4904436"/>
                <a:ext cx="496888" cy="473104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24" name="Google Shape;224;p7"/>
              <p:cNvCxnSpPr>
                <a:stCxn id="216" idx="2"/>
              </p:cNvCxnSpPr>
              <p:nvPr/>
            </p:nvCxnSpPr>
            <p:spPr>
              <a:xfrm flipH="1">
                <a:off x="8278420" y="4418446"/>
                <a:ext cx="3300" cy="1049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25" name="Google Shape;225;p7"/>
              <p:cNvGrpSpPr/>
              <p:nvPr/>
            </p:nvGrpSpPr>
            <p:grpSpPr>
              <a:xfrm>
                <a:off x="8281720" y="4329546"/>
                <a:ext cx="503238" cy="249237"/>
                <a:chOff x="2184879" y="1564508"/>
                <a:chExt cx="1198749" cy="441581"/>
              </a:xfrm>
            </p:grpSpPr>
            <p:sp>
              <p:nvSpPr>
                <p:cNvPr id="226" name="Google Shape;226;p7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7" name="Google Shape;227;p7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6" name="Google Shape;216;p7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8" name="Google Shape;228;p7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9" name="Google Shape;229;p7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p7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" name="Google Shape;231;p7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2" name="Google Shape;232;p7"/>
                <p:cNvCxnSpPr>
                  <a:endCxn id="216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33" name="Google Shape;233;p7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234" name="Google Shape;234;p7"/>
          <p:cNvGrpSpPr/>
          <p:nvPr/>
        </p:nvGrpSpPr>
        <p:grpSpPr>
          <a:xfrm>
            <a:off x="3766922" y="4729232"/>
            <a:ext cx="4980243" cy="692147"/>
            <a:chOff x="2056656" y="4691836"/>
            <a:chExt cx="4979352" cy="692748"/>
          </a:xfrm>
        </p:grpSpPr>
        <p:grpSp>
          <p:nvGrpSpPr>
            <p:cNvPr id="235" name="Google Shape;235;p7"/>
            <p:cNvGrpSpPr/>
            <p:nvPr/>
          </p:nvGrpSpPr>
          <p:grpSpPr>
            <a:xfrm>
              <a:off x="3621810" y="5055687"/>
              <a:ext cx="428216" cy="328897"/>
              <a:chOff x="2948176" y="3912858"/>
              <a:chExt cx="428535" cy="329059"/>
            </a:xfrm>
          </p:grpSpPr>
          <p:sp>
            <p:nvSpPr>
              <p:cNvPr id="236" name="Google Shape;236;p7"/>
              <p:cNvSpPr/>
              <p:nvPr/>
            </p:nvSpPr>
            <p:spPr>
              <a:xfrm>
                <a:off x="2951022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37" name="Google Shape;237;p7"/>
              <p:cNvCxnSpPr/>
              <p:nvPr/>
            </p:nvCxnSpPr>
            <p:spPr>
              <a:xfrm>
                <a:off x="2948177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7"/>
              <p:cNvCxnSpPr/>
              <p:nvPr/>
            </p:nvCxnSpPr>
            <p:spPr>
              <a:xfrm>
                <a:off x="2948176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9" name="Google Shape;239;p7"/>
              <p:cNvCxnSpPr>
                <a:stCxn id="236" idx="2"/>
              </p:cNvCxnSpPr>
              <p:nvPr/>
            </p:nvCxnSpPr>
            <p:spPr>
              <a:xfrm rot="10800000">
                <a:off x="3162367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40" name="Google Shape;240;p7"/>
            <p:cNvGrpSpPr/>
            <p:nvPr/>
          </p:nvGrpSpPr>
          <p:grpSpPr>
            <a:xfrm>
              <a:off x="4404307" y="5055687"/>
              <a:ext cx="429383" cy="328897"/>
              <a:chOff x="2948037" y="3912924"/>
              <a:chExt cx="429703" cy="329059"/>
            </a:xfrm>
          </p:grpSpPr>
          <p:sp>
            <p:nvSpPr>
              <p:cNvPr id="241" name="Google Shape;241;p7"/>
              <p:cNvSpPr/>
              <p:nvPr/>
            </p:nvSpPr>
            <p:spPr>
              <a:xfrm>
                <a:off x="2950882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2" name="Google Shape;242;p7"/>
              <p:cNvCxnSpPr/>
              <p:nvPr/>
            </p:nvCxnSpPr>
            <p:spPr>
              <a:xfrm>
                <a:off x="2952051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3" name="Google Shape;243;p7"/>
              <p:cNvCxnSpPr/>
              <p:nvPr/>
            </p:nvCxnSpPr>
            <p:spPr>
              <a:xfrm>
                <a:off x="2948037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7"/>
              <p:cNvCxnSpPr>
                <a:stCxn id="241" idx="2"/>
              </p:cNvCxnSpPr>
              <p:nvPr/>
            </p:nvCxnSpPr>
            <p:spPr>
              <a:xfrm rot="10800000">
                <a:off x="3162227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45" name="Google Shape;245;p7"/>
            <p:cNvGrpSpPr/>
            <p:nvPr/>
          </p:nvGrpSpPr>
          <p:grpSpPr>
            <a:xfrm>
              <a:off x="5611440" y="5052513"/>
              <a:ext cx="430135" cy="328897"/>
              <a:chOff x="2951837" y="3912722"/>
              <a:chExt cx="430454" cy="329058"/>
            </a:xfrm>
          </p:grpSpPr>
          <p:sp>
            <p:nvSpPr>
              <p:cNvPr id="246" name="Google Shape;246;p7"/>
              <p:cNvSpPr/>
              <p:nvPr/>
            </p:nvSpPr>
            <p:spPr>
              <a:xfrm>
                <a:off x="2956602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7" name="Google Shape;247;p7"/>
              <p:cNvCxnSpPr/>
              <p:nvPr/>
            </p:nvCxnSpPr>
            <p:spPr>
              <a:xfrm>
                <a:off x="2951837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8" name="Google Shape;248;p7"/>
              <p:cNvCxnSpPr/>
              <p:nvPr/>
            </p:nvCxnSpPr>
            <p:spPr>
              <a:xfrm>
                <a:off x="2955849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9" name="Google Shape;249;p7"/>
              <p:cNvCxnSpPr>
                <a:stCxn id="246" idx="2"/>
              </p:cNvCxnSpPr>
              <p:nvPr/>
            </p:nvCxnSpPr>
            <p:spPr>
              <a:xfrm rot="10800000">
                <a:off x="3167947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50" name="Google Shape;250;p7"/>
            <p:cNvGrpSpPr/>
            <p:nvPr/>
          </p:nvGrpSpPr>
          <p:grpSpPr>
            <a:xfrm>
              <a:off x="6605874" y="5046158"/>
              <a:ext cx="430134" cy="328898"/>
              <a:chOff x="2955740" y="3913102"/>
              <a:chExt cx="430453" cy="328747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2960504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52" name="Google Shape;252;p7"/>
              <p:cNvCxnSpPr/>
              <p:nvPr/>
            </p:nvCxnSpPr>
            <p:spPr>
              <a:xfrm>
                <a:off x="295574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7"/>
              <p:cNvCxnSpPr/>
              <p:nvPr/>
            </p:nvCxnSpPr>
            <p:spPr>
              <a:xfrm>
                <a:off x="2959751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7"/>
              <p:cNvCxnSpPr>
                <a:stCxn id="251" idx="2"/>
              </p:cNvCxnSpPr>
              <p:nvPr/>
            </p:nvCxnSpPr>
            <p:spPr>
              <a:xfrm rot="10800000">
                <a:off x="3171849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55" name="Google Shape;255;p7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256" name="Google Shape;256;p7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57" name="Google Shape;257;p7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7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9" name="Google Shape;259;p7"/>
              <p:cNvCxnSpPr>
                <a:stCxn id="256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60" name="Google Shape;260;p7"/>
          <p:cNvSpPr txBox="1"/>
          <p:nvPr/>
        </p:nvSpPr>
        <p:spPr>
          <a:xfrm>
            <a:off x="834474" y="2563584"/>
            <a:ext cx="1125965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generalized forwarding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-292100" lvl="2" marL="131445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header fields can determine action</a:t>
            </a:r>
            <a:endParaRPr/>
          </a:p>
          <a:p>
            <a:pPr indent="-292100" lvl="2" marL="131445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action possible: drop/copy/modify/log packet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1" name="Google Shape;261;p7"/>
          <p:cNvGrpSpPr/>
          <p:nvPr/>
        </p:nvGrpSpPr>
        <p:grpSpPr>
          <a:xfrm>
            <a:off x="1232001" y="4781571"/>
            <a:ext cx="2463699" cy="307777"/>
            <a:chOff x="1232001" y="4781571"/>
            <a:chExt cx="2463699" cy="307777"/>
          </a:xfrm>
        </p:grpSpPr>
        <p:sp>
          <p:nvSpPr>
            <p:cNvPr id="262" name="Google Shape;262;p7"/>
            <p:cNvSpPr txBox="1"/>
            <p:nvPr/>
          </p:nvSpPr>
          <p:spPr>
            <a:xfrm>
              <a:off x="1232001" y="4781571"/>
              <a:ext cx="199231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forwarding table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7"/>
            <p:cNvCxnSpPr/>
            <p:nvPr/>
          </p:nvCxnSpPr>
          <p:spPr>
            <a:xfrm>
              <a:off x="2641600" y="4953000"/>
              <a:ext cx="1054100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64" name="Google Shape;264;p7"/>
          <p:cNvGrpSpPr/>
          <p:nvPr/>
        </p:nvGrpSpPr>
        <p:grpSpPr>
          <a:xfrm>
            <a:off x="1253574" y="1255484"/>
            <a:ext cx="9389026" cy="4030693"/>
            <a:chOff x="1253574" y="1255484"/>
            <a:chExt cx="9389026" cy="4030693"/>
          </a:xfrm>
        </p:grpSpPr>
        <p:sp>
          <p:nvSpPr>
            <p:cNvPr id="265" name="Google Shape;265;p7"/>
            <p:cNvSpPr txBox="1"/>
            <p:nvPr/>
          </p:nvSpPr>
          <p:spPr>
            <a:xfrm>
              <a:off x="8022674" y="1255484"/>
              <a:ext cx="26199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(aka:</a:t>
              </a: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 flow table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1253574" y="4978400"/>
              <a:ext cx="15531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(aka:</a:t>
              </a: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 flow table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7"/>
          <p:cNvSpPr txBox="1"/>
          <p:nvPr/>
        </p:nvSpPr>
        <p:spPr>
          <a:xfrm>
            <a:off x="836023" y="2139218"/>
            <a:ext cx="112596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destination-based forwarding: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based on dest. IP address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 txBox="1"/>
          <p:nvPr>
            <p:ph idx="1" type="body"/>
          </p:nvPr>
        </p:nvSpPr>
        <p:spPr>
          <a:xfrm>
            <a:off x="838200" y="1326467"/>
            <a:ext cx="10854128" cy="304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defined by header field values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(in link-, network-, transport-layer fields)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generalized forwarding: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simple</a:t>
            </a:r>
            <a:r>
              <a:rPr lang="en-US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packet-handling rules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match:</a:t>
            </a:r>
            <a:r>
              <a:rPr lang="en-US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pattern</a:t>
            </a:r>
            <a:r>
              <a:rPr lang="en-US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values in packet header fields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actions: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for matched packet: drop, forward, modify, matched packet or send matched packet to controller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priority: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disambiguate overlapping patterns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counters: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#bytes and #packets</a:t>
            </a:r>
            <a:endParaRPr/>
          </a:p>
        </p:txBody>
      </p:sp>
      <p:sp>
        <p:nvSpPr>
          <p:cNvPr id="274" name="Google Shape;274;p8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Flow table abstraction</a:t>
            </a:r>
            <a:endParaRPr/>
          </a:p>
        </p:txBody>
      </p:sp>
      <p:grpSp>
        <p:nvGrpSpPr>
          <p:cNvPr id="275" name="Google Shape;275;p8"/>
          <p:cNvGrpSpPr/>
          <p:nvPr/>
        </p:nvGrpSpPr>
        <p:grpSpPr>
          <a:xfrm>
            <a:off x="847391" y="4483100"/>
            <a:ext cx="7244522" cy="2202828"/>
            <a:chOff x="848139" y="4484689"/>
            <a:chExt cx="7244522" cy="2202828"/>
          </a:xfrm>
        </p:grpSpPr>
        <p:cxnSp>
          <p:nvCxnSpPr>
            <p:cNvPr id="276" name="Google Shape;276;p8"/>
            <p:cNvCxnSpPr/>
            <p:nvPr/>
          </p:nvCxnSpPr>
          <p:spPr>
            <a:xfrm>
              <a:off x="848139" y="6202017"/>
              <a:ext cx="5194852" cy="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7" name="Google Shape;277;p8"/>
            <p:cNvGrpSpPr/>
            <p:nvPr/>
          </p:nvGrpSpPr>
          <p:grpSpPr>
            <a:xfrm>
              <a:off x="2117350" y="5637144"/>
              <a:ext cx="2269120" cy="1028699"/>
              <a:chOff x="7493876" y="2774731"/>
              <a:chExt cx="1481958" cy="894622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80" name="Google Shape;280;p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1" name="Google Shape;281;p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85" name="Google Shape;285;p8"/>
            <p:cNvSpPr txBox="1"/>
            <p:nvPr/>
          </p:nvSpPr>
          <p:spPr>
            <a:xfrm>
              <a:off x="4737100" y="4484689"/>
              <a:ext cx="335556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Router’s flow table define router’s match+action rules</a:t>
              </a:r>
              <a:endParaRPr/>
            </a:p>
          </p:txBody>
        </p:sp>
        <p:grpSp>
          <p:nvGrpSpPr>
            <p:cNvPr id="286" name="Google Shape;286;p8"/>
            <p:cNvGrpSpPr/>
            <p:nvPr/>
          </p:nvGrpSpPr>
          <p:grpSpPr>
            <a:xfrm>
              <a:off x="2535862" y="4518992"/>
              <a:ext cx="1998847" cy="1325048"/>
              <a:chOff x="8327282" y="4055165"/>
              <a:chExt cx="2091509" cy="1325048"/>
            </a:xfrm>
          </p:grpSpPr>
          <p:grpSp>
            <p:nvGrpSpPr>
              <p:cNvPr id="287" name="Google Shape;287;p8"/>
              <p:cNvGrpSpPr/>
              <p:nvPr/>
            </p:nvGrpSpPr>
            <p:grpSpPr>
              <a:xfrm>
                <a:off x="8327282" y="4121430"/>
                <a:ext cx="2091509" cy="1258783"/>
                <a:chOff x="2932675" y="3919324"/>
                <a:chExt cx="429970" cy="319189"/>
              </a:xfrm>
            </p:grpSpPr>
            <p:sp>
              <p:nvSpPr>
                <p:cNvPr id="288" name="Google Shape;288;p8"/>
                <p:cNvSpPr/>
                <p:nvPr/>
              </p:nvSpPr>
              <p:spPr>
                <a:xfrm>
                  <a:off x="2936722" y="3919324"/>
                  <a:ext cx="425923" cy="31918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25400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89" name="Google Shape;289;p8"/>
                <p:cNvCxnSpPr/>
                <p:nvPr/>
              </p:nvCxnSpPr>
              <p:spPr>
                <a:xfrm>
                  <a:off x="2932675" y="4004959"/>
                  <a:ext cx="424911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0" name="Google Shape;290;p8"/>
                <p:cNvCxnSpPr/>
                <p:nvPr/>
              </p:nvCxnSpPr>
              <p:spPr>
                <a:xfrm>
                  <a:off x="2932675" y="4069207"/>
                  <a:ext cx="424911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1" name="Google Shape;291;p8"/>
                <p:cNvCxnSpPr>
                  <a:stCxn id="288" idx="2"/>
                </p:cNvCxnSpPr>
                <p:nvPr/>
              </p:nvCxnSpPr>
              <p:spPr>
                <a:xfrm rot="10800000">
                  <a:off x="3148184" y="4001513"/>
                  <a:ext cx="1500" cy="2370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92" name="Google Shape;292;p8"/>
              <p:cNvSpPr txBox="1"/>
              <p:nvPr/>
            </p:nvSpPr>
            <p:spPr>
              <a:xfrm>
                <a:off x="8759686" y="4055165"/>
                <a:ext cx="12657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Flow table</a:t>
                </a:r>
                <a:endParaRPr/>
              </a:p>
            </p:txBody>
          </p:sp>
          <p:sp>
            <p:nvSpPr>
              <p:cNvPr id="293" name="Google Shape;293;p8"/>
              <p:cNvSpPr txBox="1"/>
              <p:nvPr/>
            </p:nvSpPr>
            <p:spPr>
              <a:xfrm>
                <a:off x="8461513" y="4379843"/>
                <a:ext cx="83798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match</a:t>
                </a:r>
                <a:endParaRPr/>
              </a:p>
            </p:txBody>
          </p:sp>
          <p:sp>
            <p:nvSpPr>
              <p:cNvPr id="294" name="Google Shape;294;p8"/>
              <p:cNvSpPr txBox="1"/>
              <p:nvPr/>
            </p:nvSpPr>
            <p:spPr>
              <a:xfrm>
                <a:off x="9409044" y="4386470"/>
                <a:ext cx="83227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action</a:t>
                </a:r>
                <a:endParaRPr/>
              </a:p>
            </p:txBody>
          </p:sp>
        </p:grpSp>
        <p:cxnSp>
          <p:nvCxnSpPr>
            <p:cNvPr id="295" name="Google Shape;295;p8"/>
            <p:cNvCxnSpPr>
              <a:stCxn id="278" idx="0"/>
            </p:cNvCxnSpPr>
            <p:nvPr/>
          </p:nvCxnSpPr>
          <p:spPr>
            <a:xfrm flipH="1" rot="10800000">
              <a:off x="4386238" y="5804314"/>
              <a:ext cx="2398800" cy="19050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" name="Google Shape;296;p8"/>
            <p:cNvCxnSpPr/>
            <p:nvPr/>
          </p:nvCxnSpPr>
          <p:spPr>
            <a:xfrm>
              <a:off x="4399722" y="6361044"/>
              <a:ext cx="755373" cy="326473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 txBox="1"/>
          <p:nvPr>
            <p:ph idx="1" type="body"/>
          </p:nvPr>
        </p:nvSpPr>
        <p:spPr>
          <a:xfrm>
            <a:off x="838200" y="1326467"/>
            <a:ext cx="10515600" cy="304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defined by header fields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generalized forwarding: simple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packet-handling rules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match:</a:t>
            </a:r>
            <a:r>
              <a:rPr lang="en-US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pattern</a:t>
            </a:r>
            <a:r>
              <a:rPr lang="en-US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values in packet header fields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actions: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for matched packet: drop, forward, modify, matched packet or send matched packet to controller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priority: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disambiguate overlapping patterns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counters: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#bytes and #packets</a:t>
            </a:r>
            <a:endParaRPr/>
          </a:p>
        </p:txBody>
      </p:sp>
      <p:cxnSp>
        <p:nvCxnSpPr>
          <p:cNvPr id="303" name="Google Shape;303;p9"/>
          <p:cNvCxnSpPr/>
          <p:nvPr/>
        </p:nvCxnSpPr>
        <p:spPr>
          <a:xfrm>
            <a:off x="848139" y="6202017"/>
            <a:ext cx="5194852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04" name="Google Shape;304;p9"/>
          <p:cNvGrpSpPr/>
          <p:nvPr/>
        </p:nvGrpSpPr>
        <p:grpSpPr>
          <a:xfrm>
            <a:off x="2117350" y="5637144"/>
            <a:ext cx="2269120" cy="1028699"/>
            <a:chOff x="7493876" y="2774731"/>
            <a:chExt cx="1481958" cy="894622"/>
          </a:xfrm>
        </p:grpSpPr>
        <p:sp>
          <p:nvSpPr>
            <p:cNvPr id="305" name="Google Shape;305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07" name="Google Shape;307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8" name="Google Shape;308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2" name="Google Shape;312;p9"/>
          <p:cNvGrpSpPr/>
          <p:nvPr/>
        </p:nvGrpSpPr>
        <p:grpSpPr>
          <a:xfrm>
            <a:off x="2535862" y="4518992"/>
            <a:ext cx="1998847" cy="1325048"/>
            <a:chOff x="8327282" y="4055165"/>
            <a:chExt cx="2091509" cy="1325048"/>
          </a:xfrm>
        </p:grpSpPr>
        <p:grpSp>
          <p:nvGrpSpPr>
            <p:cNvPr id="313" name="Google Shape;313;p9"/>
            <p:cNvGrpSpPr/>
            <p:nvPr/>
          </p:nvGrpSpPr>
          <p:grpSpPr>
            <a:xfrm>
              <a:off x="8327282" y="4121430"/>
              <a:ext cx="2091509" cy="1258783"/>
              <a:chOff x="2932675" y="3919324"/>
              <a:chExt cx="429970" cy="319189"/>
            </a:xfrm>
          </p:grpSpPr>
          <p:sp>
            <p:nvSpPr>
              <p:cNvPr id="314" name="Google Shape;314;p9"/>
              <p:cNvSpPr/>
              <p:nvPr/>
            </p:nvSpPr>
            <p:spPr>
              <a:xfrm>
                <a:off x="2936722" y="3919324"/>
                <a:ext cx="425923" cy="319189"/>
              </a:xfrm>
              <a:prstGeom prst="rect">
                <a:avLst/>
              </a:prstGeom>
              <a:solidFill>
                <a:srgbClr val="FFFFFF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315" name="Google Shape;315;p9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9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9"/>
              <p:cNvCxnSpPr>
                <a:stCxn id="314" idx="2"/>
              </p:cNvCxnSpPr>
              <p:nvPr/>
            </p:nvCxnSpPr>
            <p:spPr>
              <a:xfrm rot="10800000">
                <a:off x="3148184" y="4001513"/>
                <a:ext cx="1500" cy="2370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18" name="Google Shape;318;p9"/>
            <p:cNvSpPr txBox="1"/>
            <p:nvPr/>
          </p:nvSpPr>
          <p:spPr>
            <a:xfrm>
              <a:off x="8759686" y="4055165"/>
              <a:ext cx="12657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Flow table</a:t>
              </a:r>
              <a:endParaRPr/>
            </a:p>
          </p:txBody>
        </p:sp>
        <p:sp>
          <p:nvSpPr>
            <p:cNvPr id="319" name="Google Shape;319;p9"/>
            <p:cNvSpPr txBox="1"/>
            <p:nvPr/>
          </p:nvSpPr>
          <p:spPr>
            <a:xfrm>
              <a:off x="8461513" y="4379843"/>
              <a:ext cx="8379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match</a:t>
              </a:r>
              <a:endParaRPr/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9409044" y="4386470"/>
              <a:ext cx="83227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</p:grpSp>
      <p:cxnSp>
        <p:nvCxnSpPr>
          <p:cNvPr id="321" name="Google Shape;321;p9"/>
          <p:cNvCxnSpPr>
            <a:stCxn id="305" idx="0"/>
          </p:cNvCxnSpPr>
          <p:nvPr/>
        </p:nvCxnSpPr>
        <p:spPr>
          <a:xfrm flipH="1" rot="10800000">
            <a:off x="4386238" y="5804314"/>
            <a:ext cx="2398800" cy="19050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2" name="Google Shape;322;p9"/>
          <p:cNvCxnSpPr/>
          <p:nvPr/>
        </p:nvCxnSpPr>
        <p:spPr>
          <a:xfrm>
            <a:off x="4399722" y="6361044"/>
            <a:ext cx="755373" cy="326473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3" name="Google Shape;323;p9"/>
          <p:cNvSpPr txBox="1"/>
          <p:nvPr/>
        </p:nvSpPr>
        <p:spPr>
          <a:xfrm>
            <a:off x="1828800" y="587071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4340087" y="63676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5" name="Google Shape;325;p9"/>
          <p:cNvSpPr txBox="1"/>
          <p:nvPr/>
        </p:nvSpPr>
        <p:spPr>
          <a:xfrm>
            <a:off x="4784035" y="614900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4565375" y="5784575"/>
            <a:ext cx="301686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grpSp>
        <p:nvGrpSpPr>
          <p:cNvPr id="327" name="Google Shape;327;p9"/>
          <p:cNvGrpSpPr/>
          <p:nvPr/>
        </p:nvGrpSpPr>
        <p:grpSpPr>
          <a:xfrm>
            <a:off x="4533981" y="4345979"/>
            <a:ext cx="6820091" cy="1571138"/>
            <a:chOff x="4518991" y="4315999"/>
            <a:chExt cx="6820091" cy="1571138"/>
          </a:xfrm>
        </p:grpSpPr>
        <p:sp>
          <p:nvSpPr>
            <p:cNvPr id="328" name="Google Shape;328;p9"/>
            <p:cNvSpPr txBox="1"/>
            <p:nvPr/>
          </p:nvSpPr>
          <p:spPr>
            <a:xfrm>
              <a:off x="7424876" y="5517805"/>
              <a:ext cx="13131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: wildcard</a:t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4518991" y="4320209"/>
              <a:ext cx="808383" cy="1497495"/>
            </a:xfrm>
            <a:custGeom>
              <a:rect b="b" l="l" r="r" t="t"/>
              <a:pathLst>
                <a:path extrusionOk="0" h="1497495" w="808383">
                  <a:moveTo>
                    <a:pt x="13252" y="1497495"/>
                  </a:moveTo>
                  <a:lnTo>
                    <a:pt x="808383" y="1192695"/>
                  </a:lnTo>
                  <a:lnTo>
                    <a:pt x="795131" y="0"/>
                  </a:lnTo>
                  <a:lnTo>
                    <a:pt x="0" y="887895"/>
                  </a:lnTo>
                  <a:lnTo>
                    <a:pt x="13252" y="1497495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0" name="Google Shape;330;p9"/>
            <p:cNvCxnSpPr/>
            <p:nvPr/>
          </p:nvCxnSpPr>
          <p:spPr>
            <a:xfrm>
              <a:off x="8691768" y="4315999"/>
              <a:ext cx="0" cy="120015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1" name="Google Shape;331;p9"/>
            <p:cNvSpPr/>
            <p:nvPr/>
          </p:nvSpPr>
          <p:spPr>
            <a:xfrm>
              <a:off x="5318056" y="4334323"/>
              <a:ext cx="3362117" cy="1191833"/>
            </a:xfrm>
            <a:prstGeom prst="rect">
              <a:avLst/>
            </a:prstGeom>
            <a:solidFill>
              <a:srgbClr val="BBE0E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8712339" y="4334323"/>
              <a:ext cx="2618270" cy="1191834"/>
            </a:xfrm>
            <a:prstGeom prst="rect">
              <a:avLst/>
            </a:prstGeom>
            <a:solidFill>
              <a:srgbClr val="E1EF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5322405" y="5059180"/>
              <a:ext cx="59817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4572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src=10.1.2.3, dest=*.*.*.*     send to controller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5339894" y="4686925"/>
              <a:ext cx="59817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src=1.2.*.*, dest=*.*.*.*       drop                        </a:t>
              </a: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5357382" y="4344648"/>
              <a:ext cx="59817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src = *.*.*.*, dest=3.4.*.*     forward(2)</a:t>
              </a:r>
              <a:endParaRPr/>
            </a:p>
          </p:txBody>
        </p:sp>
      </p:grpSp>
      <p:sp>
        <p:nvSpPr>
          <p:cNvPr id="336" name="Google Shape;336;p9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Flow table abstraction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OpenFlow: flow table entries</a:t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2071274" y="1501983"/>
            <a:ext cx="1446212" cy="687387"/>
          </a:xfrm>
          <a:prstGeom prst="rect">
            <a:avLst/>
          </a:prstGeom>
          <a:solidFill>
            <a:srgbClr val="BBE0E3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2412586" y="1705589"/>
            <a:ext cx="5993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3517486" y="1501983"/>
            <a:ext cx="1446213" cy="687387"/>
          </a:xfrm>
          <a:prstGeom prst="rect">
            <a:avLst/>
          </a:prstGeom>
          <a:solidFill>
            <a:srgbClr val="E1EFD8"/>
          </a:solidFill>
          <a:ln cap="flat" cmpd="sng" w="12700">
            <a:solidFill>
              <a:srgbClr val="697D3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3690524" y="1705183"/>
            <a:ext cx="603250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4963699" y="1501983"/>
            <a:ext cx="1447800" cy="687387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8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403642" y="1705183"/>
            <a:ext cx="460375" cy="277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Stats</a:t>
            </a:r>
            <a:endParaRPr/>
          </a:p>
        </p:txBody>
      </p:sp>
      <p:grpSp>
        <p:nvGrpSpPr>
          <p:cNvPr id="349" name="Google Shape;349;p10"/>
          <p:cNvGrpSpPr/>
          <p:nvPr/>
        </p:nvGrpSpPr>
        <p:grpSpPr>
          <a:xfrm>
            <a:off x="3169824" y="2200944"/>
            <a:ext cx="5634037" cy="2162712"/>
            <a:chOff x="3169824" y="2200944"/>
            <a:chExt cx="5634037" cy="2162712"/>
          </a:xfrm>
        </p:grpSpPr>
        <p:sp>
          <p:nvSpPr>
            <p:cNvPr id="350" name="Google Shape;350;p10"/>
            <p:cNvSpPr/>
            <p:nvPr/>
          </p:nvSpPr>
          <p:spPr>
            <a:xfrm>
              <a:off x="3169824" y="2967245"/>
              <a:ext cx="5634037" cy="1396411"/>
            </a:xfrm>
            <a:prstGeom prst="rect">
              <a:avLst/>
            </a:prstGeom>
            <a:solidFill>
              <a:srgbClr val="E1EFD8"/>
            </a:solidFill>
            <a:ln cap="flat" cmpd="sng" w="12700">
              <a:solidFill>
                <a:srgbClr val="697D3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30200" lvl="0" marL="357188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AutoNum type="arabicPeriod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Forward packet to port(s)</a:t>
              </a:r>
              <a:endParaRPr/>
            </a:p>
            <a:p>
              <a:pPr indent="-330200" lvl="0" marL="357188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AutoNum type="arabicPeriod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Drop packet</a:t>
              </a:r>
              <a:endParaRPr/>
            </a:p>
            <a:p>
              <a:pPr indent="-330200" lvl="0" marL="357188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AutoNum type="arabicPeriod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Modify fields in header(s)</a:t>
              </a:r>
              <a:endParaRPr/>
            </a:p>
            <a:p>
              <a:pPr indent="-330200" lvl="0" marL="357188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AutoNum type="arabicPeriod"/>
              </a:pPr>
              <a:r>
                <a:rPr b="0" i="0" lang="en-US" sz="2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Encapsulate and forward to controller</a:t>
              </a:r>
              <a:endParaRPr/>
            </a:p>
          </p:txBody>
        </p:sp>
        <p:cxnSp>
          <p:nvCxnSpPr>
            <p:cNvPr id="351" name="Google Shape;351;p10"/>
            <p:cNvCxnSpPr/>
            <p:nvPr/>
          </p:nvCxnSpPr>
          <p:spPr>
            <a:xfrm>
              <a:off x="3616272" y="2200944"/>
              <a:ext cx="1588" cy="758825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52" name="Google Shape;352;p10"/>
          <p:cNvGrpSpPr/>
          <p:nvPr/>
        </p:nvGrpSpPr>
        <p:grpSpPr>
          <a:xfrm>
            <a:off x="5035074" y="2200945"/>
            <a:ext cx="3044825" cy="623425"/>
            <a:chOff x="5116099" y="2200945"/>
            <a:chExt cx="3044825" cy="623425"/>
          </a:xfrm>
        </p:grpSpPr>
        <p:sp>
          <p:nvSpPr>
            <p:cNvPr id="353" name="Google Shape;353;p10"/>
            <p:cNvSpPr/>
            <p:nvPr/>
          </p:nvSpPr>
          <p:spPr>
            <a:xfrm>
              <a:off x="5116099" y="2440195"/>
              <a:ext cx="3044825" cy="384175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8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4" name="Google Shape;354;p10"/>
            <p:cNvGrpSpPr/>
            <p:nvPr/>
          </p:nvGrpSpPr>
          <p:grpSpPr>
            <a:xfrm>
              <a:off x="5187757" y="2200945"/>
              <a:ext cx="2652492" cy="599613"/>
              <a:chOff x="5187757" y="2200945"/>
              <a:chExt cx="2652492" cy="599613"/>
            </a:xfrm>
          </p:grpSpPr>
          <p:sp>
            <p:nvSpPr>
              <p:cNvPr id="355" name="Google Shape;355;p10"/>
              <p:cNvSpPr/>
              <p:nvPr/>
            </p:nvSpPr>
            <p:spPr>
              <a:xfrm>
                <a:off x="5258974" y="2462420"/>
                <a:ext cx="2581275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00"/>
                  <a:buFont typeface="Calibri"/>
                  <a:buNone/>
                </a:pPr>
                <a:r>
                  <a:rPr b="0" i="0" lang="en-US" sz="2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Packet + byte counters</a:t>
                </a:r>
                <a:endParaRPr/>
              </a:p>
            </p:txBody>
          </p:sp>
          <p:cxnSp>
            <p:nvCxnSpPr>
              <p:cNvPr id="356" name="Google Shape;356;p10"/>
              <p:cNvCxnSpPr/>
              <p:nvPr/>
            </p:nvCxnSpPr>
            <p:spPr>
              <a:xfrm flipH="1" rot="10800000">
                <a:off x="5187757" y="2200945"/>
                <a:ext cx="1587" cy="231775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57" name="Google Shape;357;p10"/>
          <p:cNvGrpSpPr/>
          <p:nvPr/>
        </p:nvGrpSpPr>
        <p:grpSpPr>
          <a:xfrm>
            <a:off x="2117511" y="2200761"/>
            <a:ext cx="8446528" cy="3709144"/>
            <a:chOff x="2117511" y="2200761"/>
            <a:chExt cx="8446528" cy="3709144"/>
          </a:xfrm>
        </p:grpSpPr>
        <p:sp>
          <p:nvSpPr>
            <p:cNvPr id="358" name="Google Shape;358;p10"/>
            <p:cNvSpPr txBox="1"/>
            <p:nvPr/>
          </p:nvSpPr>
          <p:spPr>
            <a:xfrm>
              <a:off x="2154100" y="4847642"/>
              <a:ext cx="24294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Header fields to match: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9" name="Google Shape;359;p10"/>
            <p:cNvCxnSpPr/>
            <p:nvPr/>
          </p:nvCxnSpPr>
          <p:spPr>
            <a:xfrm>
              <a:off x="2127885" y="2200761"/>
              <a:ext cx="1858" cy="3054145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60" name="Google Shape;360;p10"/>
            <p:cNvSpPr/>
            <p:nvPr/>
          </p:nvSpPr>
          <p:spPr>
            <a:xfrm>
              <a:off x="2117511" y="5262205"/>
              <a:ext cx="771961" cy="647700"/>
            </a:xfrm>
            <a:prstGeom prst="rect">
              <a:avLst/>
            </a:prstGeom>
            <a:gradFill>
              <a:gsLst>
                <a:gs pos="0">
                  <a:srgbClr val="2D5C97"/>
                </a:gs>
                <a:gs pos="80000">
                  <a:srgbClr val="3C7AC5"/>
                </a:gs>
                <a:gs pos="100000">
                  <a:srgbClr val="397BC9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Ingress Port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2889472" y="5262205"/>
              <a:ext cx="655459" cy="647700"/>
            </a:xfrm>
            <a:prstGeom prst="rect">
              <a:avLst/>
            </a:prstGeom>
            <a:gradFill>
              <a:gsLst>
                <a:gs pos="0">
                  <a:srgbClr val="759336"/>
                </a:gs>
                <a:gs pos="80000">
                  <a:srgbClr val="99C247"/>
                </a:gs>
                <a:gs pos="100000">
                  <a:srgbClr val="9BC54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Src MAC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3544933" y="5262205"/>
              <a:ext cx="655459" cy="647700"/>
            </a:xfrm>
            <a:prstGeom prst="rect">
              <a:avLst/>
            </a:prstGeom>
            <a:gradFill>
              <a:gsLst>
                <a:gs pos="0">
                  <a:srgbClr val="759336"/>
                </a:gs>
                <a:gs pos="80000">
                  <a:srgbClr val="99C247"/>
                </a:gs>
                <a:gs pos="100000">
                  <a:srgbClr val="9BC54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Dst MAC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4200392" y="5262205"/>
              <a:ext cx="655459" cy="647700"/>
            </a:xfrm>
            <a:prstGeom prst="rect">
              <a:avLst/>
            </a:prstGeom>
            <a:gradFill>
              <a:gsLst>
                <a:gs pos="0">
                  <a:srgbClr val="759336"/>
                </a:gs>
                <a:gs pos="80000">
                  <a:srgbClr val="99C247"/>
                </a:gs>
                <a:gs pos="100000">
                  <a:srgbClr val="9BC54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Eth Type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4855852" y="5262205"/>
              <a:ext cx="655459" cy="647700"/>
            </a:xfrm>
            <a:prstGeom prst="rect">
              <a:avLst/>
            </a:prstGeom>
            <a:gradFill>
              <a:gsLst>
                <a:gs pos="0">
                  <a:srgbClr val="759336"/>
                </a:gs>
                <a:gs pos="80000">
                  <a:srgbClr val="99C247"/>
                </a:gs>
                <a:gs pos="100000">
                  <a:srgbClr val="9BC54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VLAN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ID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8068323" y="5262205"/>
              <a:ext cx="631307" cy="647700"/>
            </a:xfrm>
            <a:prstGeom prst="rect">
              <a:avLst/>
            </a:prstGeom>
            <a:gradFill>
              <a:gsLst>
                <a:gs pos="0">
                  <a:srgbClr val="C86C1F"/>
                </a:gs>
                <a:gs pos="80000">
                  <a:srgbClr val="FF8E29"/>
                </a:gs>
                <a:gs pos="100000">
                  <a:srgbClr val="FF8D2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ToS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7437016" y="5262205"/>
              <a:ext cx="631307" cy="647700"/>
            </a:xfrm>
            <a:prstGeom prst="rect">
              <a:avLst/>
            </a:prstGeom>
            <a:gradFill>
              <a:gsLst>
                <a:gs pos="0">
                  <a:srgbClr val="C86C1F"/>
                </a:gs>
                <a:gs pos="80000">
                  <a:srgbClr val="FF8E29"/>
                </a:gs>
                <a:gs pos="100000">
                  <a:srgbClr val="FF8D2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IP Proto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6174401" y="5262205"/>
              <a:ext cx="631307" cy="647700"/>
            </a:xfrm>
            <a:prstGeom prst="rect">
              <a:avLst/>
            </a:prstGeom>
            <a:gradFill>
              <a:gsLst>
                <a:gs pos="0">
                  <a:srgbClr val="C86C1F"/>
                </a:gs>
                <a:gs pos="80000">
                  <a:srgbClr val="FF8E29"/>
                </a:gs>
                <a:gs pos="100000">
                  <a:srgbClr val="FF8D2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IP Src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6805709" y="5262205"/>
              <a:ext cx="631307" cy="647700"/>
            </a:xfrm>
            <a:prstGeom prst="rect">
              <a:avLst/>
            </a:prstGeom>
            <a:gradFill>
              <a:gsLst>
                <a:gs pos="0">
                  <a:srgbClr val="C86C1F"/>
                </a:gs>
                <a:gs pos="80000">
                  <a:srgbClr val="FF8E29"/>
                </a:gs>
                <a:gs pos="100000">
                  <a:srgbClr val="FF8D2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IP Dst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0"/>
            <p:cNvSpPr/>
            <p:nvPr/>
          </p:nvSpPr>
          <p:spPr>
            <a:xfrm>
              <a:off x="8706447" y="5262205"/>
              <a:ext cx="928796" cy="647700"/>
            </a:xfrm>
            <a:prstGeom prst="rect">
              <a:avLst/>
            </a:prstGeom>
            <a:gradFill>
              <a:gsLst>
                <a:gs pos="0">
                  <a:srgbClr val="992D2B"/>
                </a:gs>
                <a:gs pos="80000">
                  <a:srgbClr val="C93D39"/>
                </a:gs>
                <a:gs pos="100000">
                  <a:srgbClr val="CD3A36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TCP/UDP Src Port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5511311" y="5262205"/>
              <a:ext cx="655459" cy="647700"/>
            </a:xfrm>
            <a:prstGeom prst="rect">
              <a:avLst/>
            </a:prstGeom>
            <a:gradFill>
              <a:gsLst>
                <a:gs pos="0">
                  <a:srgbClr val="759336"/>
                </a:gs>
                <a:gs pos="80000">
                  <a:srgbClr val="99C247"/>
                </a:gs>
                <a:gs pos="100000">
                  <a:srgbClr val="9BC545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VLAN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Pri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0"/>
            <p:cNvSpPr/>
            <p:nvPr/>
          </p:nvSpPr>
          <p:spPr>
            <a:xfrm>
              <a:off x="9635243" y="5262205"/>
              <a:ext cx="928796" cy="647700"/>
            </a:xfrm>
            <a:prstGeom prst="rect">
              <a:avLst/>
            </a:prstGeom>
            <a:gradFill>
              <a:gsLst>
                <a:gs pos="0">
                  <a:srgbClr val="992D2B"/>
                </a:gs>
                <a:gs pos="80000">
                  <a:srgbClr val="C93D39"/>
                </a:gs>
                <a:gs pos="100000">
                  <a:srgbClr val="CD3A36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571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TCP/UDP Dst Port</a:t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10"/>
          <p:cNvGrpSpPr/>
          <p:nvPr/>
        </p:nvGrpSpPr>
        <p:grpSpPr>
          <a:xfrm>
            <a:off x="2930744" y="6077944"/>
            <a:ext cx="3235564" cy="549153"/>
            <a:chOff x="2826569" y="5888454"/>
            <a:chExt cx="3235564" cy="549153"/>
          </a:xfrm>
        </p:grpSpPr>
        <p:sp>
          <p:nvSpPr>
            <p:cNvPr id="373" name="Google Shape;373;p10"/>
            <p:cNvSpPr txBox="1"/>
            <p:nvPr/>
          </p:nvSpPr>
          <p:spPr>
            <a:xfrm>
              <a:off x="3946642" y="6069307"/>
              <a:ext cx="960438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layer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0"/>
            <p:cNvSpPr/>
            <p:nvPr/>
          </p:nvSpPr>
          <p:spPr>
            <a:xfrm rot="-5400000">
              <a:off x="4340578" y="4374445"/>
              <a:ext cx="207546" cy="3235564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10"/>
          <p:cNvGrpSpPr/>
          <p:nvPr/>
        </p:nvGrpSpPr>
        <p:grpSpPr>
          <a:xfrm>
            <a:off x="6210167" y="6082290"/>
            <a:ext cx="2473565" cy="543987"/>
            <a:chOff x="6105992" y="5892799"/>
            <a:chExt cx="2473565" cy="543988"/>
          </a:xfrm>
        </p:grpSpPr>
        <p:sp>
          <p:nvSpPr>
            <p:cNvPr id="376" name="Google Shape;376;p10"/>
            <p:cNvSpPr txBox="1"/>
            <p:nvPr/>
          </p:nvSpPr>
          <p:spPr>
            <a:xfrm>
              <a:off x="6643718" y="6066899"/>
              <a:ext cx="1350963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 layer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0"/>
            <p:cNvSpPr/>
            <p:nvPr/>
          </p:nvSpPr>
          <p:spPr>
            <a:xfrm rot="-5400000">
              <a:off x="7238352" y="4760439"/>
              <a:ext cx="208844" cy="2473565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10"/>
          <p:cNvGrpSpPr/>
          <p:nvPr/>
        </p:nvGrpSpPr>
        <p:grpSpPr>
          <a:xfrm>
            <a:off x="8436668" y="6082291"/>
            <a:ext cx="2349500" cy="547817"/>
            <a:chOff x="8332493" y="5892801"/>
            <a:chExt cx="2349500" cy="547816"/>
          </a:xfrm>
        </p:grpSpPr>
        <p:sp>
          <p:nvSpPr>
            <p:cNvPr id="379" name="Google Shape;379;p10"/>
            <p:cNvSpPr txBox="1"/>
            <p:nvPr/>
          </p:nvSpPr>
          <p:spPr>
            <a:xfrm>
              <a:off x="8332493" y="6070729"/>
              <a:ext cx="2349500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 layer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0"/>
            <p:cNvSpPr/>
            <p:nvPr/>
          </p:nvSpPr>
          <p:spPr>
            <a:xfrm rot="-5400000">
              <a:off x="9405820" y="5104751"/>
              <a:ext cx="214489" cy="1790588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 txBox="1"/>
          <p:nvPr>
            <p:ph type="title"/>
          </p:nvPr>
        </p:nvSpPr>
        <p:spPr>
          <a:xfrm>
            <a:off x="914400" y="2483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OpenFlow: examples</a:t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798077" y="2691365"/>
            <a:ext cx="9342781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datagrams destined to IP address  51.6.0.8 should be forwarded to router output port 6 </a:t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887520" y="4590922"/>
            <a:ext cx="77819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Block (do not forward) all datagrams destined to TCP  port 22 (ssh port #)</a:t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182298" y="6039302"/>
            <a:ext cx="70674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Block (do not forward) all datagrams sent by host 128.119.1.1</a:t>
            </a:r>
            <a:endParaRPr/>
          </a:p>
        </p:txBody>
      </p:sp>
      <p:grpSp>
        <p:nvGrpSpPr>
          <p:cNvPr id="390" name="Google Shape;390;p11"/>
          <p:cNvGrpSpPr/>
          <p:nvPr/>
        </p:nvGrpSpPr>
        <p:grpSpPr>
          <a:xfrm>
            <a:off x="899508" y="1408083"/>
            <a:ext cx="8825324" cy="1339207"/>
            <a:chOff x="899508" y="1408083"/>
            <a:chExt cx="8825324" cy="1339207"/>
          </a:xfrm>
        </p:grpSpPr>
        <p:sp>
          <p:nvSpPr>
            <p:cNvPr id="391" name="Google Shape;391;p11"/>
            <p:cNvSpPr/>
            <p:nvPr/>
          </p:nvSpPr>
          <p:spPr>
            <a:xfrm>
              <a:off x="899508" y="1408083"/>
              <a:ext cx="379148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Destination-based forwarding:</a:t>
              </a:r>
              <a:endParaRPr/>
            </a:p>
          </p:txBody>
        </p:sp>
        <p:sp>
          <p:nvSpPr>
            <p:cNvPr id="392" name="Google Shape;392;p11"/>
            <p:cNvSpPr/>
            <p:nvPr/>
          </p:nvSpPr>
          <p:spPr>
            <a:xfrm>
              <a:off x="914523" y="24209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1574923" y="24209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2003548" y="2420970"/>
              <a:ext cx="1133475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2895723" y="2420970"/>
              <a:ext cx="661988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3557711" y="24209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4218111" y="24209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5619044" y="2384457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51.6.0.8</a:t>
              </a:r>
              <a:endParaRPr/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6288969" y="24209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6949369" y="2420970"/>
              <a:ext cx="661987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7576455" y="241748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8967593" y="2364472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port6</a:t>
              </a:r>
              <a:endParaRPr/>
            </a:p>
          </p:txBody>
        </p:sp>
        <p:grpSp>
          <p:nvGrpSpPr>
            <p:cNvPr id="403" name="Google Shape;403;p11"/>
            <p:cNvGrpSpPr/>
            <p:nvPr/>
          </p:nvGrpSpPr>
          <p:grpSpPr>
            <a:xfrm>
              <a:off x="908298" y="1842896"/>
              <a:ext cx="8816534" cy="537306"/>
              <a:chOff x="908298" y="1842896"/>
              <a:chExt cx="8816534" cy="537306"/>
            </a:xfrm>
          </p:grpSpPr>
          <p:sp>
            <p:nvSpPr>
              <p:cNvPr id="404" name="Google Shape;404;p11"/>
              <p:cNvSpPr/>
              <p:nvPr/>
            </p:nvSpPr>
            <p:spPr>
              <a:xfrm>
                <a:off x="916112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1"/>
              <p:cNvSpPr/>
              <p:nvPr/>
            </p:nvSpPr>
            <p:spPr>
              <a:xfrm>
                <a:off x="908298" y="1851027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Switch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Port</a:t>
                </a:r>
                <a:endParaRPr/>
              </a:p>
            </p:txBody>
          </p:sp>
          <p:sp>
            <p:nvSpPr>
              <p:cNvPr id="406" name="Google Shape;406;p11"/>
              <p:cNvSpPr/>
              <p:nvPr/>
            </p:nvSpPr>
            <p:spPr>
              <a:xfrm>
                <a:off x="157694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1"/>
              <p:cNvSpPr/>
              <p:nvPr/>
            </p:nvSpPr>
            <p:spPr>
              <a:xfrm>
                <a:off x="1572479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src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1"/>
              <p:cNvSpPr/>
              <p:nvPr/>
            </p:nvSpPr>
            <p:spPr>
              <a:xfrm>
                <a:off x="223889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1"/>
              <p:cNvSpPr/>
              <p:nvPr/>
            </p:nvSpPr>
            <p:spPr>
              <a:xfrm>
                <a:off x="2269031" y="1842896"/>
                <a:ext cx="632925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dst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1"/>
              <p:cNvSpPr/>
              <p:nvPr/>
            </p:nvSpPr>
            <p:spPr>
              <a:xfrm>
                <a:off x="290865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1"/>
              <p:cNvSpPr/>
              <p:nvPr/>
            </p:nvSpPr>
            <p:spPr>
              <a:xfrm>
                <a:off x="2906422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type</a:t>
                </a:r>
                <a:endParaRPr/>
              </a:p>
            </p:txBody>
          </p:sp>
          <p:sp>
            <p:nvSpPr>
              <p:cNvPr id="412" name="Google Shape;412;p11"/>
              <p:cNvSpPr/>
              <p:nvPr/>
            </p:nvSpPr>
            <p:spPr>
              <a:xfrm>
                <a:off x="357060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1"/>
              <p:cNvSpPr/>
              <p:nvPr/>
            </p:nvSpPr>
            <p:spPr>
              <a:xfrm>
                <a:off x="3572835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VLAN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ID</a:t>
                </a:r>
                <a:endParaRPr/>
              </a:p>
            </p:txBody>
          </p:sp>
          <p:sp>
            <p:nvSpPr>
              <p:cNvPr id="414" name="Google Shape;414;p11"/>
              <p:cNvSpPr/>
              <p:nvPr/>
            </p:nvSpPr>
            <p:spPr>
              <a:xfrm>
                <a:off x="4898598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1"/>
              <p:cNvSpPr/>
              <p:nvPr/>
            </p:nvSpPr>
            <p:spPr>
              <a:xfrm>
                <a:off x="4905295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Src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1"/>
              <p:cNvSpPr/>
              <p:nvPr/>
            </p:nvSpPr>
            <p:spPr>
              <a:xfrm>
                <a:off x="5568360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1"/>
              <p:cNvSpPr/>
              <p:nvPr/>
            </p:nvSpPr>
            <p:spPr>
              <a:xfrm>
                <a:off x="5563895" y="184289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Dst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1"/>
              <p:cNvSpPr/>
              <p:nvPr/>
            </p:nvSpPr>
            <p:spPr>
              <a:xfrm>
                <a:off x="6230308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1"/>
              <p:cNvSpPr/>
              <p:nvPr/>
            </p:nvSpPr>
            <p:spPr>
              <a:xfrm>
                <a:off x="6231424" y="1842896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Prot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1"/>
              <p:cNvSpPr/>
              <p:nvPr/>
            </p:nvSpPr>
            <p:spPr>
              <a:xfrm>
                <a:off x="7551454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1"/>
              <p:cNvSpPr/>
              <p:nvPr/>
            </p:nvSpPr>
            <p:spPr>
              <a:xfrm>
                <a:off x="7589786" y="1849876"/>
                <a:ext cx="665297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s-port</a:t>
                </a:r>
                <a:endParaRPr/>
              </a:p>
            </p:txBody>
          </p:sp>
          <p:sp>
            <p:nvSpPr>
              <p:cNvPr id="422" name="Google Shape;422;p11"/>
              <p:cNvSpPr/>
              <p:nvPr/>
            </p:nvSpPr>
            <p:spPr>
              <a:xfrm>
                <a:off x="8221216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1"/>
              <p:cNvSpPr/>
              <p:nvPr/>
            </p:nvSpPr>
            <p:spPr>
              <a:xfrm>
                <a:off x="8215634" y="184987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d-port</a:t>
                </a:r>
                <a:endParaRPr/>
              </a:p>
            </p:txBody>
          </p:sp>
          <p:sp>
            <p:nvSpPr>
              <p:cNvPr id="424" name="Google Shape;424;p11"/>
              <p:cNvSpPr/>
              <p:nvPr/>
            </p:nvSpPr>
            <p:spPr>
              <a:xfrm>
                <a:off x="8887488" y="1852728"/>
                <a:ext cx="834970" cy="495980"/>
              </a:xfrm>
              <a:prstGeom prst="rect">
                <a:avLst/>
              </a:prstGeom>
              <a:solidFill>
                <a:srgbClr val="E1EFD8"/>
              </a:solidFill>
              <a:ln cap="flat" cmpd="sng" w="12700">
                <a:solidFill>
                  <a:srgbClr val="697D3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1"/>
              <p:cNvSpPr/>
              <p:nvPr/>
            </p:nvSpPr>
            <p:spPr>
              <a:xfrm>
                <a:off x="8882048" y="1972855"/>
                <a:ext cx="842784" cy="2927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Action</a:t>
                </a:r>
                <a:endParaRPr/>
              </a:p>
            </p:txBody>
          </p:sp>
          <p:sp>
            <p:nvSpPr>
              <p:cNvPr id="426" name="Google Shape;426;p11"/>
              <p:cNvSpPr/>
              <p:nvPr/>
            </p:nvSpPr>
            <p:spPr>
              <a:xfrm>
                <a:off x="4231002" y="1846643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1"/>
              <p:cNvSpPr/>
              <p:nvPr/>
            </p:nvSpPr>
            <p:spPr>
              <a:xfrm>
                <a:off x="4221946" y="1859830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VLAN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Pri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1"/>
              <p:cNvSpPr/>
              <p:nvPr/>
            </p:nvSpPr>
            <p:spPr>
              <a:xfrm>
                <a:off x="6890708" y="1853623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6891824" y="1848541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ToS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" name="Google Shape;430;p11"/>
            <p:cNvSpPr/>
            <p:nvPr/>
          </p:nvSpPr>
          <p:spPr>
            <a:xfrm>
              <a:off x="8181445" y="2426615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4865811" y="24209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</p:grpSp>
      <p:grpSp>
        <p:nvGrpSpPr>
          <p:cNvPr id="432" name="Google Shape;432;p11"/>
          <p:cNvGrpSpPr/>
          <p:nvPr/>
        </p:nvGrpSpPr>
        <p:grpSpPr>
          <a:xfrm>
            <a:off x="914400" y="3333754"/>
            <a:ext cx="8816534" cy="1376391"/>
            <a:chOff x="914400" y="3333754"/>
            <a:chExt cx="8816534" cy="1376391"/>
          </a:xfrm>
        </p:grpSpPr>
        <p:sp>
          <p:nvSpPr>
            <p:cNvPr id="433" name="Google Shape;433;p11"/>
            <p:cNvSpPr/>
            <p:nvPr/>
          </p:nvSpPr>
          <p:spPr>
            <a:xfrm>
              <a:off x="920625" y="43894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34" name="Google Shape;434;p11"/>
            <p:cNvSpPr/>
            <p:nvPr/>
          </p:nvSpPr>
          <p:spPr>
            <a:xfrm>
              <a:off x="1581025" y="43894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35" name="Google Shape;435;p11"/>
            <p:cNvSpPr/>
            <p:nvPr/>
          </p:nvSpPr>
          <p:spPr>
            <a:xfrm>
              <a:off x="2009650" y="4389470"/>
              <a:ext cx="1133475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2901825" y="4389470"/>
              <a:ext cx="661988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3563813" y="43894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4224213" y="43894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39" name="Google Shape;439;p11"/>
            <p:cNvSpPr/>
            <p:nvPr/>
          </p:nvSpPr>
          <p:spPr>
            <a:xfrm>
              <a:off x="5625146" y="4379333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40" name="Google Shape;440;p11"/>
            <p:cNvSpPr/>
            <p:nvPr/>
          </p:nvSpPr>
          <p:spPr>
            <a:xfrm>
              <a:off x="6295071" y="438947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6955471" y="4389470"/>
              <a:ext cx="661987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42" name="Google Shape;442;p11"/>
            <p:cNvSpPr/>
            <p:nvPr/>
          </p:nvSpPr>
          <p:spPr>
            <a:xfrm>
              <a:off x="7582557" y="4385980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443" name="Google Shape;443;p11"/>
            <p:cNvSpPr/>
            <p:nvPr/>
          </p:nvSpPr>
          <p:spPr>
            <a:xfrm>
              <a:off x="914400" y="3333754"/>
              <a:ext cx="10538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Firewall:</a:t>
              </a:r>
              <a:endParaRPr/>
            </a:p>
          </p:txBody>
        </p:sp>
        <p:sp>
          <p:nvSpPr>
            <p:cNvPr id="444" name="Google Shape;444;p11"/>
            <p:cNvSpPr/>
            <p:nvPr/>
          </p:nvSpPr>
          <p:spPr>
            <a:xfrm>
              <a:off x="8973695" y="4331996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drop</a:t>
              </a:r>
              <a:endParaRPr/>
            </a:p>
          </p:txBody>
        </p:sp>
        <p:grpSp>
          <p:nvGrpSpPr>
            <p:cNvPr id="445" name="Google Shape;445;p11"/>
            <p:cNvGrpSpPr/>
            <p:nvPr/>
          </p:nvGrpSpPr>
          <p:grpSpPr>
            <a:xfrm>
              <a:off x="914400" y="3811396"/>
              <a:ext cx="8816534" cy="537306"/>
              <a:chOff x="908298" y="1842896"/>
              <a:chExt cx="8816534" cy="537306"/>
            </a:xfrm>
          </p:grpSpPr>
          <p:sp>
            <p:nvSpPr>
              <p:cNvPr id="446" name="Google Shape;446;p11"/>
              <p:cNvSpPr/>
              <p:nvPr/>
            </p:nvSpPr>
            <p:spPr>
              <a:xfrm>
                <a:off x="916112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1"/>
              <p:cNvSpPr/>
              <p:nvPr/>
            </p:nvSpPr>
            <p:spPr>
              <a:xfrm>
                <a:off x="908298" y="1851027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Switch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Port</a:t>
                </a:r>
                <a:endParaRPr/>
              </a:p>
            </p:txBody>
          </p:sp>
          <p:sp>
            <p:nvSpPr>
              <p:cNvPr id="448" name="Google Shape;448;p11"/>
              <p:cNvSpPr/>
              <p:nvPr/>
            </p:nvSpPr>
            <p:spPr>
              <a:xfrm>
                <a:off x="157694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1"/>
              <p:cNvSpPr/>
              <p:nvPr/>
            </p:nvSpPr>
            <p:spPr>
              <a:xfrm>
                <a:off x="1572479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src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1"/>
              <p:cNvSpPr/>
              <p:nvPr/>
            </p:nvSpPr>
            <p:spPr>
              <a:xfrm>
                <a:off x="223889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1"/>
              <p:cNvSpPr/>
              <p:nvPr/>
            </p:nvSpPr>
            <p:spPr>
              <a:xfrm>
                <a:off x="2269031" y="1842896"/>
                <a:ext cx="632925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dst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290865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1"/>
              <p:cNvSpPr/>
              <p:nvPr/>
            </p:nvSpPr>
            <p:spPr>
              <a:xfrm>
                <a:off x="2906422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type</a:t>
                </a:r>
                <a:endParaRPr/>
              </a:p>
            </p:txBody>
          </p:sp>
          <p:sp>
            <p:nvSpPr>
              <p:cNvPr id="454" name="Google Shape;454;p11"/>
              <p:cNvSpPr/>
              <p:nvPr/>
            </p:nvSpPr>
            <p:spPr>
              <a:xfrm>
                <a:off x="357060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3572835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VLAN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ID</a:t>
                </a:r>
                <a:endParaRPr/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4898598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4905295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Src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1"/>
              <p:cNvSpPr/>
              <p:nvPr/>
            </p:nvSpPr>
            <p:spPr>
              <a:xfrm>
                <a:off x="5568360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5563895" y="184289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Dst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6230308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6231424" y="1842896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Prot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1"/>
              <p:cNvSpPr/>
              <p:nvPr/>
            </p:nvSpPr>
            <p:spPr>
              <a:xfrm>
                <a:off x="7551454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7589786" y="1849876"/>
                <a:ext cx="665297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s-port</a:t>
                </a: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8221216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1"/>
              <p:cNvSpPr/>
              <p:nvPr/>
            </p:nvSpPr>
            <p:spPr>
              <a:xfrm>
                <a:off x="8215634" y="184987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d-port</a:t>
                </a:r>
                <a:endParaRPr/>
              </a:p>
            </p:txBody>
          </p:sp>
          <p:sp>
            <p:nvSpPr>
              <p:cNvPr id="466" name="Google Shape;466;p11"/>
              <p:cNvSpPr/>
              <p:nvPr/>
            </p:nvSpPr>
            <p:spPr>
              <a:xfrm>
                <a:off x="8887488" y="1852728"/>
                <a:ext cx="834970" cy="495980"/>
              </a:xfrm>
              <a:prstGeom prst="rect">
                <a:avLst/>
              </a:prstGeom>
              <a:solidFill>
                <a:srgbClr val="E1EFD8"/>
              </a:solidFill>
              <a:ln cap="flat" cmpd="sng" w="12700">
                <a:solidFill>
                  <a:srgbClr val="697D3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8882048" y="1972855"/>
                <a:ext cx="842784" cy="2927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Action</a:t>
                </a:r>
                <a:endParaRPr/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4231002" y="1846643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1"/>
              <p:cNvSpPr/>
              <p:nvPr/>
            </p:nvSpPr>
            <p:spPr>
              <a:xfrm>
                <a:off x="4221946" y="1859830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VLAN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Pri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1"/>
              <p:cNvSpPr/>
              <p:nvPr/>
            </p:nvSpPr>
            <p:spPr>
              <a:xfrm>
                <a:off x="6890708" y="1853623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11"/>
              <p:cNvSpPr/>
              <p:nvPr/>
            </p:nvSpPr>
            <p:spPr>
              <a:xfrm>
                <a:off x="6891824" y="1848541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ToS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2" name="Google Shape;472;p11"/>
            <p:cNvSpPr/>
            <p:nvPr/>
          </p:nvSpPr>
          <p:spPr>
            <a:xfrm>
              <a:off x="8187547" y="4342363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</a:t>
              </a:r>
              <a:endParaRPr/>
            </a:p>
          </p:txBody>
        </p:sp>
        <p:sp>
          <p:nvSpPr>
            <p:cNvPr id="473" name="Google Shape;473;p11"/>
            <p:cNvSpPr/>
            <p:nvPr/>
          </p:nvSpPr>
          <p:spPr>
            <a:xfrm>
              <a:off x="4898315" y="4382264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</p:grpSp>
      <p:grpSp>
        <p:nvGrpSpPr>
          <p:cNvPr id="474" name="Google Shape;474;p11"/>
          <p:cNvGrpSpPr/>
          <p:nvPr/>
        </p:nvGrpSpPr>
        <p:grpSpPr>
          <a:xfrm>
            <a:off x="914400" y="5202287"/>
            <a:ext cx="8816534" cy="910324"/>
            <a:chOff x="914400" y="5202287"/>
            <a:chExt cx="8816534" cy="910324"/>
          </a:xfrm>
        </p:grpSpPr>
        <p:grpSp>
          <p:nvGrpSpPr>
            <p:cNvPr id="475" name="Google Shape;475;p11"/>
            <p:cNvGrpSpPr/>
            <p:nvPr/>
          </p:nvGrpSpPr>
          <p:grpSpPr>
            <a:xfrm>
              <a:off x="914400" y="5202287"/>
              <a:ext cx="8816534" cy="537306"/>
              <a:chOff x="908298" y="1842896"/>
              <a:chExt cx="8816534" cy="537306"/>
            </a:xfrm>
          </p:grpSpPr>
          <p:sp>
            <p:nvSpPr>
              <p:cNvPr id="476" name="Google Shape;476;p11"/>
              <p:cNvSpPr/>
              <p:nvPr/>
            </p:nvSpPr>
            <p:spPr>
              <a:xfrm>
                <a:off x="916112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1"/>
              <p:cNvSpPr/>
              <p:nvPr/>
            </p:nvSpPr>
            <p:spPr>
              <a:xfrm>
                <a:off x="908298" y="1851027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Switch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Port</a:t>
                </a:r>
                <a:endParaRPr/>
              </a:p>
            </p:txBody>
          </p:sp>
          <p:sp>
            <p:nvSpPr>
              <p:cNvPr id="478" name="Google Shape;478;p11"/>
              <p:cNvSpPr/>
              <p:nvPr/>
            </p:nvSpPr>
            <p:spPr>
              <a:xfrm>
                <a:off x="157694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11"/>
              <p:cNvSpPr/>
              <p:nvPr/>
            </p:nvSpPr>
            <p:spPr>
              <a:xfrm>
                <a:off x="1572479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src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11"/>
              <p:cNvSpPr/>
              <p:nvPr/>
            </p:nvSpPr>
            <p:spPr>
              <a:xfrm>
                <a:off x="223889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2269031" y="1842896"/>
                <a:ext cx="632925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dst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11"/>
              <p:cNvSpPr/>
              <p:nvPr/>
            </p:nvSpPr>
            <p:spPr>
              <a:xfrm>
                <a:off x="2908654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11"/>
              <p:cNvSpPr/>
              <p:nvPr/>
            </p:nvSpPr>
            <p:spPr>
              <a:xfrm>
                <a:off x="2906422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type</a:t>
                </a:r>
                <a:endParaRPr/>
              </a:p>
            </p:txBody>
          </p:sp>
          <p:sp>
            <p:nvSpPr>
              <p:cNvPr id="484" name="Google Shape;484;p11"/>
              <p:cNvSpPr/>
              <p:nvPr/>
            </p:nvSpPr>
            <p:spPr>
              <a:xfrm>
                <a:off x="3570602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11"/>
              <p:cNvSpPr/>
              <p:nvPr/>
            </p:nvSpPr>
            <p:spPr>
              <a:xfrm>
                <a:off x="3572835" y="1842896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VLAN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ID</a:t>
                </a:r>
                <a:endParaRPr/>
              </a:p>
            </p:txBody>
          </p:sp>
          <p:sp>
            <p:nvSpPr>
              <p:cNvPr id="486" name="Google Shape;486;p11"/>
              <p:cNvSpPr/>
              <p:nvPr/>
            </p:nvSpPr>
            <p:spPr>
              <a:xfrm>
                <a:off x="4898598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11"/>
              <p:cNvSpPr/>
              <p:nvPr/>
            </p:nvSpPr>
            <p:spPr>
              <a:xfrm>
                <a:off x="4905295" y="1842896"/>
                <a:ext cx="65748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Src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1"/>
              <p:cNvSpPr/>
              <p:nvPr/>
            </p:nvSpPr>
            <p:spPr>
              <a:xfrm>
                <a:off x="5568360" y="184797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11"/>
              <p:cNvSpPr/>
              <p:nvPr/>
            </p:nvSpPr>
            <p:spPr>
              <a:xfrm>
                <a:off x="5563895" y="184289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Dst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1"/>
              <p:cNvSpPr/>
              <p:nvPr/>
            </p:nvSpPr>
            <p:spPr>
              <a:xfrm>
                <a:off x="6230308" y="1847978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11"/>
              <p:cNvSpPr/>
              <p:nvPr/>
            </p:nvSpPr>
            <p:spPr>
              <a:xfrm>
                <a:off x="6231424" y="1842896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Prot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>
                <a:off x="7551454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1"/>
              <p:cNvSpPr/>
              <p:nvPr/>
            </p:nvSpPr>
            <p:spPr>
              <a:xfrm>
                <a:off x="7589786" y="1849876"/>
                <a:ext cx="665297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s-port</a:t>
                </a:r>
                <a:endParaRPr/>
              </a:p>
            </p:txBody>
          </p:sp>
          <p:sp>
            <p:nvSpPr>
              <p:cNvPr id="494" name="Google Shape;494;p11"/>
              <p:cNvSpPr/>
              <p:nvPr/>
            </p:nvSpPr>
            <p:spPr>
              <a:xfrm>
                <a:off x="8221216" y="1854958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1"/>
              <p:cNvSpPr/>
              <p:nvPr/>
            </p:nvSpPr>
            <p:spPr>
              <a:xfrm>
                <a:off x="8215634" y="1849876"/>
                <a:ext cx="666413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d-port</a:t>
                </a:r>
                <a:endParaRPr/>
              </a:p>
            </p:txBody>
          </p:sp>
          <p:sp>
            <p:nvSpPr>
              <p:cNvPr id="496" name="Google Shape;496;p11"/>
              <p:cNvSpPr/>
              <p:nvPr/>
            </p:nvSpPr>
            <p:spPr>
              <a:xfrm>
                <a:off x="8887488" y="1852728"/>
                <a:ext cx="834970" cy="495980"/>
              </a:xfrm>
              <a:prstGeom prst="rect">
                <a:avLst/>
              </a:prstGeom>
              <a:solidFill>
                <a:srgbClr val="E1EFD8"/>
              </a:solidFill>
              <a:ln cap="flat" cmpd="sng" w="12700">
                <a:solidFill>
                  <a:srgbClr val="697D3A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1"/>
              <p:cNvSpPr/>
              <p:nvPr/>
            </p:nvSpPr>
            <p:spPr>
              <a:xfrm>
                <a:off x="8882048" y="1972855"/>
                <a:ext cx="842784" cy="2927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Action</a:t>
                </a:r>
                <a:endParaRPr/>
              </a:p>
            </p:txBody>
          </p:sp>
          <p:sp>
            <p:nvSpPr>
              <p:cNvPr id="498" name="Google Shape;498;p11"/>
              <p:cNvSpPr/>
              <p:nvPr/>
            </p:nvSpPr>
            <p:spPr>
              <a:xfrm>
                <a:off x="4231002" y="1846643"/>
                <a:ext cx="661948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1"/>
              <p:cNvSpPr/>
              <p:nvPr/>
            </p:nvSpPr>
            <p:spPr>
              <a:xfrm>
                <a:off x="4221946" y="1859830"/>
                <a:ext cx="658599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VLAN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Pri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1"/>
              <p:cNvSpPr/>
              <p:nvPr/>
            </p:nvSpPr>
            <p:spPr>
              <a:xfrm>
                <a:off x="6890708" y="1853623"/>
                <a:ext cx="660832" cy="487849"/>
              </a:xfrm>
              <a:prstGeom prst="rect">
                <a:avLst/>
              </a:prstGeom>
              <a:solidFill>
                <a:srgbClr val="BBE0E3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6891824" y="1848541"/>
                <a:ext cx="650785" cy="520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Calibri"/>
                  <a:buNone/>
                </a:pPr>
                <a:r>
                  <a:rPr b="0" i="0" lang="en-US" sz="17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ToS</a:t>
                </a:r>
                <a:endParaRPr b="0" i="0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2" name="Google Shape;502;p11"/>
            <p:cNvSpPr/>
            <p:nvPr/>
          </p:nvSpPr>
          <p:spPr>
            <a:xfrm>
              <a:off x="914400" y="5791936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03" name="Google Shape;503;p11"/>
            <p:cNvSpPr/>
            <p:nvPr/>
          </p:nvSpPr>
          <p:spPr>
            <a:xfrm>
              <a:off x="1574800" y="5791936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04" name="Google Shape;504;p11"/>
            <p:cNvSpPr/>
            <p:nvPr/>
          </p:nvSpPr>
          <p:spPr>
            <a:xfrm>
              <a:off x="2003425" y="5791936"/>
              <a:ext cx="1133475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05" name="Google Shape;505;p11"/>
            <p:cNvSpPr/>
            <p:nvPr/>
          </p:nvSpPr>
          <p:spPr>
            <a:xfrm>
              <a:off x="2895600" y="5791936"/>
              <a:ext cx="661988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06" name="Google Shape;506;p11"/>
            <p:cNvSpPr/>
            <p:nvPr/>
          </p:nvSpPr>
          <p:spPr>
            <a:xfrm>
              <a:off x="3557588" y="5791936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07" name="Google Shape;507;p11"/>
            <p:cNvSpPr/>
            <p:nvPr/>
          </p:nvSpPr>
          <p:spPr>
            <a:xfrm>
              <a:off x="4217988" y="5791936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08" name="Google Shape;508;p11"/>
            <p:cNvSpPr/>
            <p:nvPr/>
          </p:nvSpPr>
          <p:spPr>
            <a:xfrm>
              <a:off x="5618921" y="5781799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09" name="Google Shape;509;p11"/>
            <p:cNvSpPr/>
            <p:nvPr/>
          </p:nvSpPr>
          <p:spPr>
            <a:xfrm>
              <a:off x="6288846" y="5791936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10" name="Google Shape;510;p11"/>
            <p:cNvSpPr/>
            <p:nvPr/>
          </p:nvSpPr>
          <p:spPr>
            <a:xfrm>
              <a:off x="6949246" y="5791936"/>
              <a:ext cx="661987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11" name="Google Shape;511;p11"/>
            <p:cNvSpPr/>
            <p:nvPr/>
          </p:nvSpPr>
          <p:spPr>
            <a:xfrm>
              <a:off x="7576332" y="5788446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12" name="Google Shape;512;p11"/>
            <p:cNvSpPr/>
            <p:nvPr/>
          </p:nvSpPr>
          <p:spPr>
            <a:xfrm>
              <a:off x="8967470" y="5734462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drop</a:t>
              </a:r>
              <a:endParaRPr/>
            </a:p>
          </p:txBody>
        </p:sp>
        <p:sp>
          <p:nvSpPr>
            <p:cNvPr id="513" name="Google Shape;513;p11"/>
            <p:cNvSpPr/>
            <p:nvPr/>
          </p:nvSpPr>
          <p:spPr>
            <a:xfrm>
              <a:off x="8181322" y="5791129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14" name="Google Shape;514;p11"/>
            <p:cNvSpPr/>
            <p:nvPr/>
          </p:nvSpPr>
          <p:spPr>
            <a:xfrm>
              <a:off x="4834217" y="5750006"/>
              <a:ext cx="79108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128.119.1.1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2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OpenFlow: examples</a:t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914400" y="1558262"/>
            <a:ext cx="47261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Layer 2 destination-based forwarding:</a:t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914400" y="3287099"/>
            <a:ext cx="9342781" cy="615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 2 frames with destination  MAC address 22:A7:23:11:E1:02 should be forwarded to output port 3 </a:t>
            </a:r>
            <a:endParaRPr/>
          </a:p>
        </p:txBody>
      </p:sp>
      <p:grpSp>
        <p:nvGrpSpPr>
          <p:cNvPr id="523" name="Google Shape;523;p12"/>
          <p:cNvGrpSpPr/>
          <p:nvPr/>
        </p:nvGrpSpPr>
        <p:grpSpPr>
          <a:xfrm>
            <a:off x="914400" y="2912790"/>
            <a:ext cx="8729763" cy="396694"/>
            <a:chOff x="685800" y="2252402"/>
            <a:chExt cx="8729763" cy="396694"/>
          </a:xfrm>
        </p:grpSpPr>
        <p:sp>
          <p:nvSpPr>
            <p:cNvPr id="524" name="Google Shape;524;p12"/>
            <p:cNvSpPr/>
            <p:nvPr/>
          </p:nvSpPr>
          <p:spPr>
            <a:xfrm>
              <a:off x="685800" y="2312988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25" name="Google Shape;525;p12"/>
            <p:cNvSpPr/>
            <p:nvPr/>
          </p:nvSpPr>
          <p:spPr>
            <a:xfrm>
              <a:off x="1116937" y="2301413"/>
              <a:ext cx="1133475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26" name="Google Shape;526;p12"/>
            <p:cNvSpPr/>
            <p:nvPr/>
          </p:nvSpPr>
          <p:spPr>
            <a:xfrm>
              <a:off x="2667000" y="2312988"/>
              <a:ext cx="661988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27" name="Google Shape;527;p12"/>
            <p:cNvSpPr/>
            <p:nvPr/>
          </p:nvSpPr>
          <p:spPr>
            <a:xfrm>
              <a:off x="3328988" y="2312988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28" name="Google Shape;528;p12"/>
            <p:cNvSpPr/>
            <p:nvPr/>
          </p:nvSpPr>
          <p:spPr>
            <a:xfrm>
              <a:off x="3989388" y="2312988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29" name="Google Shape;529;p12"/>
            <p:cNvSpPr/>
            <p:nvPr/>
          </p:nvSpPr>
          <p:spPr>
            <a:xfrm>
              <a:off x="4649788" y="2312988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30" name="Google Shape;530;p12"/>
            <p:cNvSpPr/>
            <p:nvPr/>
          </p:nvSpPr>
          <p:spPr>
            <a:xfrm>
              <a:off x="5319713" y="2312988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31" name="Google Shape;531;p12"/>
            <p:cNvSpPr/>
            <p:nvPr/>
          </p:nvSpPr>
          <p:spPr>
            <a:xfrm>
              <a:off x="5980113" y="2312988"/>
              <a:ext cx="661987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32" name="Google Shape;532;p12"/>
            <p:cNvSpPr/>
            <p:nvPr/>
          </p:nvSpPr>
          <p:spPr>
            <a:xfrm>
              <a:off x="6642100" y="2312988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33" name="Google Shape;533;p12"/>
            <p:cNvSpPr/>
            <p:nvPr/>
          </p:nvSpPr>
          <p:spPr>
            <a:xfrm>
              <a:off x="8755163" y="2255115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port3</a:t>
              </a:r>
              <a:endParaRPr/>
            </a:p>
          </p:txBody>
        </p:sp>
        <p:sp>
          <p:nvSpPr>
            <p:cNvPr id="534" name="Google Shape;534;p12"/>
            <p:cNvSpPr/>
            <p:nvPr/>
          </p:nvSpPr>
          <p:spPr>
            <a:xfrm>
              <a:off x="2026856" y="2252402"/>
              <a:ext cx="658813" cy="311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22:A7:23: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11:E1:02</a:t>
              </a:r>
              <a:endParaRPr/>
            </a:p>
          </p:txBody>
        </p:sp>
        <p:sp>
          <p:nvSpPr>
            <p:cNvPr id="535" name="Google Shape;535;p12"/>
            <p:cNvSpPr/>
            <p:nvPr/>
          </p:nvSpPr>
          <p:spPr>
            <a:xfrm>
              <a:off x="7303786" y="2326492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  <p:sp>
          <p:nvSpPr>
            <p:cNvPr id="536" name="Google Shape;536;p12"/>
            <p:cNvSpPr/>
            <p:nvPr/>
          </p:nvSpPr>
          <p:spPr>
            <a:xfrm>
              <a:off x="7965472" y="2328421"/>
              <a:ext cx="660400" cy="320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/>
            </a:p>
          </p:txBody>
        </p:sp>
      </p:grpSp>
      <p:grpSp>
        <p:nvGrpSpPr>
          <p:cNvPr id="537" name="Google Shape;537;p12"/>
          <p:cNvGrpSpPr/>
          <p:nvPr/>
        </p:nvGrpSpPr>
        <p:grpSpPr>
          <a:xfrm>
            <a:off x="914400" y="2179365"/>
            <a:ext cx="8816534" cy="537306"/>
            <a:chOff x="908298" y="1842896"/>
            <a:chExt cx="8816534" cy="537306"/>
          </a:xfrm>
        </p:grpSpPr>
        <p:sp>
          <p:nvSpPr>
            <p:cNvPr id="538" name="Google Shape;538;p12"/>
            <p:cNvSpPr/>
            <p:nvPr/>
          </p:nvSpPr>
          <p:spPr>
            <a:xfrm>
              <a:off x="916112" y="1847978"/>
              <a:ext cx="660832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2"/>
            <p:cNvSpPr/>
            <p:nvPr/>
          </p:nvSpPr>
          <p:spPr>
            <a:xfrm>
              <a:off x="908298" y="1851027"/>
              <a:ext cx="657483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Port</a:t>
              </a:r>
              <a:endParaRPr/>
            </a:p>
          </p:txBody>
        </p:sp>
        <p:sp>
          <p:nvSpPr>
            <p:cNvPr id="540" name="Google Shape;540;p12"/>
            <p:cNvSpPr/>
            <p:nvPr/>
          </p:nvSpPr>
          <p:spPr>
            <a:xfrm>
              <a:off x="1576944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2"/>
            <p:cNvSpPr/>
            <p:nvPr/>
          </p:nvSpPr>
          <p:spPr>
            <a:xfrm>
              <a:off x="1572479" y="1842896"/>
              <a:ext cx="657483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src</a:t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2"/>
            <p:cNvSpPr/>
            <p:nvPr/>
          </p:nvSpPr>
          <p:spPr>
            <a:xfrm>
              <a:off x="2238892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2"/>
            <p:cNvSpPr/>
            <p:nvPr/>
          </p:nvSpPr>
          <p:spPr>
            <a:xfrm>
              <a:off x="2269031" y="1842896"/>
              <a:ext cx="632925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dst</a:t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2"/>
            <p:cNvSpPr/>
            <p:nvPr/>
          </p:nvSpPr>
          <p:spPr>
            <a:xfrm>
              <a:off x="2908654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2"/>
            <p:cNvSpPr/>
            <p:nvPr/>
          </p:nvSpPr>
          <p:spPr>
            <a:xfrm>
              <a:off x="2906422" y="1842896"/>
              <a:ext cx="658599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  <p:sp>
          <p:nvSpPr>
            <p:cNvPr id="546" name="Google Shape;546;p12"/>
            <p:cNvSpPr/>
            <p:nvPr/>
          </p:nvSpPr>
          <p:spPr>
            <a:xfrm>
              <a:off x="3570602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2"/>
            <p:cNvSpPr/>
            <p:nvPr/>
          </p:nvSpPr>
          <p:spPr>
            <a:xfrm>
              <a:off x="3572835" y="1842896"/>
              <a:ext cx="658599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VLAN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ID</a:t>
              </a:r>
              <a:endParaRPr/>
            </a:p>
          </p:txBody>
        </p:sp>
        <p:sp>
          <p:nvSpPr>
            <p:cNvPr id="548" name="Google Shape;548;p12"/>
            <p:cNvSpPr/>
            <p:nvPr/>
          </p:nvSpPr>
          <p:spPr>
            <a:xfrm>
              <a:off x="4898598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2"/>
            <p:cNvSpPr/>
            <p:nvPr/>
          </p:nvSpPr>
          <p:spPr>
            <a:xfrm>
              <a:off x="4905295" y="1842896"/>
              <a:ext cx="657483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Src</a:t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2"/>
            <p:cNvSpPr/>
            <p:nvPr/>
          </p:nvSpPr>
          <p:spPr>
            <a:xfrm>
              <a:off x="5568360" y="1847978"/>
              <a:ext cx="661948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2"/>
            <p:cNvSpPr/>
            <p:nvPr/>
          </p:nvSpPr>
          <p:spPr>
            <a:xfrm>
              <a:off x="5563895" y="1842896"/>
              <a:ext cx="666413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Dst</a:t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2"/>
            <p:cNvSpPr/>
            <p:nvPr/>
          </p:nvSpPr>
          <p:spPr>
            <a:xfrm>
              <a:off x="6230308" y="1847978"/>
              <a:ext cx="660832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2"/>
            <p:cNvSpPr/>
            <p:nvPr/>
          </p:nvSpPr>
          <p:spPr>
            <a:xfrm>
              <a:off x="6231424" y="1842896"/>
              <a:ext cx="650785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Prot</a:t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2"/>
            <p:cNvSpPr/>
            <p:nvPr/>
          </p:nvSpPr>
          <p:spPr>
            <a:xfrm>
              <a:off x="7551454" y="1854958"/>
              <a:ext cx="661948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2"/>
            <p:cNvSpPr/>
            <p:nvPr/>
          </p:nvSpPr>
          <p:spPr>
            <a:xfrm>
              <a:off x="7589786" y="1849876"/>
              <a:ext cx="665297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s-port</a:t>
              </a:r>
              <a:endParaRPr/>
            </a:p>
          </p:txBody>
        </p:sp>
        <p:sp>
          <p:nvSpPr>
            <p:cNvPr id="556" name="Google Shape;556;p12"/>
            <p:cNvSpPr/>
            <p:nvPr/>
          </p:nvSpPr>
          <p:spPr>
            <a:xfrm>
              <a:off x="8221216" y="1854958"/>
              <a:ext cx="661948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2"/>
            <p:cNvSpPr/>
            <p:nvPr/>
          </p:nvSpPr>
          <p:spPr>
            <a:xfrm>
              <a:off x="8215634" y="1849876"/>
              <a:ext cx="666413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d-port</a:t>
              </a:r>
              <a:endParaRPr/>
            </a:p>
          </p:txBody>
        </p:sp>
        <p:sp>
          <p:nvSpPr>
            <p:cNvPr id="558" name="Google Shape;558;p12"/>
            <p:cNvSpPr/>
            <p:nvPr/>
          </p:nvSpPr>
          <p:spPr>
            <a:xfrm>
              <a:off x="8887488" y="1852728"/>
              <a:ext cx="834970" cy="495980"/>
            </a:xfrm>
            <a:prstGeom prst="rect">
              <a:avLst/>
            </a:prstGeom>
            <a:solidFill>
              <a:srgbClr val="E1EFD8"/>
            </a:solidFill>
            <a:ln cap="flat" cmpd="sng" w="12700">
              <a:solidFill>
                <a:srgbClr val="697D3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2"/>
            <p:cNvSpPr/>
            <p:nvPr/>
          </p:nvSpPr>
          <p:spPr>
            <a:xfrm>
              <a:off x="8882048" y="1972855"/>
              <a:ext cx="842784" cy="292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/>
            </a:p>
          </p:txBody>
        </p:sp>
        <p:sp>
          <p:nvSpPr>
            <p:cNvPr id="560" name="Google Shape;560;p12"/>
            <p:cNvSpPr/>
            <p:nvPr/>
          </p:nvSpPr>
          <p:spPr>
            <a:xfrm>
              <a:off x="4231002" y="1846643"/>
              <a:ext cx="661948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2"/>
            <p:cNvSpPr/>
            <p:nvPr/>
          </p:nvSpPr>
          <p:spPr>
            <a:xfrm>
              <a:off x="4221946" y="1859830"/>
              <a:ext cx="658599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VLAN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</a:t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2"/>
            <p:cNvSpPr/>
            <p:nvPr/>
          </p:nvSpPr>
          <p:spPr>
            <a:xfrm>
              <a:off x="6890708" y="1853623"/>
              <a:ext cx="660832" cy="487849"/>
            </a:xfrm>
            <a:prstGeom prst="rect">
              <a:avLst/>
            </a:prstGeom>
            <a:solidFill>
              <a:srgbClr val="BBE0E3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2"/>
            <p:cNvSpPr/>
            <p:nvPr/>
          </p:nvSpPr>
          <p:spPr>
            <a:xfrm>
              <a:off x="6891824" y="1848541"/>
              <a:ext cx="650785" cy="5203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b="0" i="0" lang="en-US" sz="17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ToS</a:t>
              </a:r>
              <a:endParaRPr b="0" i="0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3"/>
          <p:cNvSpPr txBox="1"/>
          <p:nvPr>
            <p:ph idx="1" type="body"/>
          </p:nvPr>
        </p:nvSpPr>
        <p:spPr>
          <a:xfrm>
            <a:off x="838200" y="1326467"/>
            <a:ext cx="10515600" cy="515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Char char="▪"/>
            </a:pPr>
            <a:r>
              <a:rPr lang="en-US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match+action: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abstraction</a:t>
            </a:r>
            <a:r>
              <a:rPr lang="en-US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unifies different kinds of devices</a:t>
            </a:r>
            <a:endParaRPr/>
          </a:p>
        </p:txBody>
      </p:sp>
      <p:sp>
        <p:nvSpPr>
          <p:cNvPr id="570" name="Google Shape;570;p13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 abstraction</a:t>
            </a:r>
            <a:endParaRPr/>
          </a:p>
        </p:txBody>
      </p:sp>
      <p:sp>
        <p:nvSpPr>
          <p:cNvPr id="571" name="Google Shape;571;p13"/>
          <p:cNvSpPr txBox="1"/>
          <p:nvPr/>
        </p:nvSpPr>
        <p:spPr>
          <a:xfrm>
            <a:off x="1447800" y="2185507"/>
            <a:ext cx="4489173" cy="393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/>
          </a:p>
          <a:p>
            <a:pPr indent="-215900" lvl="1" marL="6778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28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match: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longest destination IP prefix</a:t>
            </a:r>
            <a:endParaRPr/>
          </a:p>
          <a:p>
            <a:pPr indent="-215900" lvl="1" marL="6778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28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action: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forward out a link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2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1" marL="6778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match: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MAC address</a:t>
            </a:r>
            <a:endParaRPr/>
          </a:p>
          <a:p>
            <a:pPr indent="-215900" lvl="1" marL="6778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action: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forward or flood</a:t>
            </a:r>
            <a:endParaRPr/>
          </a:p>
        </p:txBody>
      </p:sp>
      <p:sp>
        <p:nvSpPr>
          <p:cNvPr id="572" name="Google Shape;572;p13"/>
          <p:cNvSpPr txBox="1"/>
          <p:nvPr/>
        </p:nvSpPr>
        <p:spPr>
          <a:xfrm>
            <a:off x="6563139" y="2192892"/>
            <a:ext cx="472771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  <a:p>
            <a:pPr indent="-219075" lvl="1" marL="508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IP addresses and TCP/UDP port numbers</a:t>
            </a:r>
            <a:endParaRPr/>
          </a:p>
          <a:p>
            <a:pPr indent="-219075" lvl="1" marL="508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action: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permit or deny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NAT</a:t>
            </a:r>
            <a:endParaRPr/>
          </a:p>
          <a:p>
            <a:pPr indent="-230187" lvl="1" marL="519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match: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address and port</a:t>
            </a:r>
            <a:endParaRPr/>
          </a:p>
          <a:p>
            <a:pPr indent="-230187" lvl="1" marL="519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action: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rewrite address and port</a:t>
            </a:r>
            <a:endParaRPr/>
          </a:p>
          <a:p>
            <a:pPr indent="203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 example</a:t>
            </a:r>
            <a:endParaRPr/>
          </a:p>
        </p:txBody>
      </p:sp>
      <p:cxnSp>
        <p:nvCxnSpPr>
          <p:cNvPr id="579" name="Google Shape;579;p14"/>
          <p:cNvCxnSpPr/>
          <p:nvPr/>
        </p:nvCxnSpPr>
        <p:spPr>
          <a:xfrm>
            <a:off x="4145096" y="2562225"/>
            <a:ext cx="2157412" cy="18462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14"/>
          <p:cNvCxnSpPr/>
          <p:nvPr/>
        </p:nvCxnSpPr>
        <p:spPr>
          <a:xfrm>
            <a:off x="4424496" y="4497388"/>
            <a:ext cx="20462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14"/>
          <p:cNvCxnSpPr/>
          <p:nvPr/>
        </p:nvCxnSpPr>
        <p:spPr>
          <a:xfrm>
            <a:off x="4226058" y="2690813"/>
            <a:ext cx="0" cy="157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14"/>
          <p:cNvCxnSpPr/>
          <p:nvPr/>
        </p:nvCxnSpPr>
        <p:spPr>
          <a:xfrm flipH="1">
            <a:off x="4346708" y="3154363"/>
            <a:ext cx="1477963" cy="1311275"/>
          </a:xfrm>
          <a:prstGeom prst="straightConnector1">
            <a:avLst/>
          </a:prstGeom>
          <a:noFill/>
          <a:ln cap="flat" cmpd="sng" w="12700">
            <a:solidFill>
              <a:srgbClr val="CC0000">
                <a:alpha val="49803"/>
              </a:srgbClr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14"/>
          <p:cNvCxnSpPr/>
          <p:nvPr/>
        </p:nvCxnSpPr>
        <p:spPr>
          <a:xfrm rot="10800000">
            <a:off x="4294321" y="4567238"/>
            <a:ext cx="6350" cy="65722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14"/>
          <p:cNvCxnSpPr/>
          <p:nvPr/>
        </p:nvCxnSpPr>
        <p:spPr>
          <a:xfrm>
            <a:off x="3338646" y="4524375"/>
            <a:ext cx="53181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5" name="Google Shape;585;p14"/>
          <p:cNvGrpSpPr/>
          <p:nvPr/>
        </p:nvGrpSpPr>
        <p:grpSpPr>
          <a:xfrm>
            <a:off x="2740158" y="4043363"/>
            <a:ext cx="757238" cy="628650"/>
            <a:chOff x="-44" y="1473"/>
            <a:chExt cx="981" cy="1105"/>
          </a:xfrm>
        </p:grpSpPr>
        <p:pic>
          <p:nvPicPr>
            <p:cNvPr descr="desktop_computer_stylized_medium" id="586" name="Google Shape;58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7" name="Google Shape;587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8" name="Google Shape;588;p14"/>
          <p:cNvGrpSpPr/>
          <p:nvPr/>
        </p:nvGrpSpPr>
        <p:grpSpPr>
          <a:xfrm>
            <a:off x="3803783" y="4892675"/>
            <a:ext cx="757238" cy="628650"/>
            <a:chOff x="188" y="1473"/>
            <a:chExt cx="981" cy="1105"/>
          </a:xfrm>
        </p:grpSpPr>
        <p:pic>
          <p:nvPicPr>
            <p:cNvPr descr="desktop_computer_stylized_medium" id="589" name="Google Shape;58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188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0" name="Google Shape;590;p14"/>
            <p:cNvSpPr/>
            <p:nvPr/>
          </p:nvSpPr>
          <p:spPr>
            <a:xfrm flipH="1">
              <a:off x="598" y="1587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1" name="Google Shape;591;p14"/>
          <p:cNvSpPr txBox="1"/>
          <p:nvPr/>
        </p:nvSpPr>
        <p:spPr>
          <a:xfrm>
            <a:off x="2145917" y="4216884"/>
            <a:ext cx="833437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10.1.0.1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4"/>
          <p:cNvSpPr txBox="1"/>
          <p:nvPr/>
        </p:nvSpPr>
        <p:spPr>
          <a:xfrm>
            <a:off x="3903312" y="5453407"/>
            <a:ext cx="83343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10.1.0.2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14"/>
          <p:cNvCxnSpPr/>
          <p:nvPr/>
        </p:nvCxnSpPr>
        <p:spPr>
          <a:xfrm flipH="1" rot="10800000">
            <a:off x="5992946" y="4568825"/>
            <a:ext cx="306387" cy="49053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p14"/>
          <p:cNvCxnSpPr/>
          <p:nvPr/>
        </p:nvCxnSpPr>
        <p:spPr>
          <a:xfrm>
            <a:off x="6747008" y="4448175"/>
            <a:ext cx="531813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95" name="Google Shape;595;p14"/>
          <p:cNvGrpSpPr/>
          <p:nvPr/>
        </p:nvGrpSpPr>
        <p:grpSpPr>
          <a:xfrm>
            <a:off x="6953383" y="4221163"/>
            <a:ext cx="757238" cy="628650"/>
            <a:chOff x="-44" y="1473"/>
            <a:chExt cx="981" cy="1105"/>
          </a:xfrm>
        </p:grpSpPr>
        <p:pic>
          <p:nvPicPr>
            <p:cNvPr descr="desktop_computer_stylized_medium" id="596" name="Google Shape;59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14"/>
          <p:cNvGrpSpPr/>
          <p:nvPr/>
        </p:nvGrpSpPr>
        <p:grpSpPr>
          <a:xfrm>
            <a:off x="5475421" y="4835525"/>
            <a:ext cx="757237" cy="628650"/>
            <a:chOff x="-44" y="1473"/>
            <a:chExt cx="981" cy="1105"/>
          </a:xfrm>
        </p:grpSpPr>
        <p:pic>
          <p:nvPicPr>
            <p:cNvPr descr="desktop_computer_stylized_medium" id="599" name="Google Shape;59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1" name="Google Shape;601;p14"/>
          <p:cNvSpPr txBox="1"/>
          <p:nvPr/>
        </p:nvSpPr>
        <p:spPr>
          <a:xfrm>
            <a:off x="7645947" y="4249738"/>
            <a:ext cx="83343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10.2.0.4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4"/>
          <p:cNvSpPr txBox="1"/>
          <p:nvPr/>
        </p:nvSpPr>
        <p:spPr>
          <a:xfrm>
            <a:off x="5524907" y="5349807"/>
            <a:ext cx="83343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10.2.0.3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p14"/>
          <p:cNvCxnSpPr/>
          <p:nvPr/>
        </p:nvCxnSpPr>
        <p:spPr>
          <a:xfrm>
            <a:off x="3349758" y="2681288"/>
            <a:ext cx="706438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4"/>
          <p:cNvCxnSpPr/>
          <p:nvPr/>
        </p:nvCxnSpPr>
        <p:spPr>
          <a:xfrm rot="10800000">
            <a:off x="4327658" y="2014538"/>
            <a:ext cx="0" cy="47466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05" name="Google Shape;605;p14"/>
          <p:cNvGrpSpPr/>
          <p:nvPr/>
        </p:nvGrpSpPr>
        <p:grpSpPr>
          <a:xfrm>
            <a:off x="3846646" y="1622425"/>
            <a:ext cx="757237" cy="628650"/>
            <a:chOff x="-44" y="1473"/>
            <a:chExt cx="981" cy="1105"/>
          </a:xfrm>
        </p:grpSpPr>
        <p:pic>
          <p:nvPicPr>
            <p:cNvPr descr="desktop_computer_stylized_medium" id="606" name="Google Shape;60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8" name="Google Shape;608;p14"/>
          <p:cNvGrpSpPr/>
          <p:nvPr/>
        </p:nvGrpSpPr>
        <p:grpSpPr>
          <a:xfrm>
            <a:off x="2792546" y="2561879"/>
            <a:ext cx="757237" cy="628650"/>
            <a:chOff x="-44" y="1473"/>
            <a:chExt cx="981" cy="1105"/>
          </a:xfrm>
        </p:grpSpPr>
        <p:pic>
          <p:nvPicPr>
            <p:cNvPr descr="desktop_computer_stylized_medium" id="609" name="Google Shape;60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1" name="Google Shape;611;p14"/>
          <p:cNvSpPr txBox="1"/>
          <p:nvPr/>
        </p:nvSpPr>
        <p:spPr>
          <a:xfrm>
            <a:off x="2881446" y="3065116"/>
            <a:ext cx="8334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10.3.0.5</a:t>
            </a:r>
            <a:endParaRPr/>
          </a:p>
        </p:txBody>
      </p:sp>
      <p:sp>
        <p:nvSpPr>
          <p:cNvPr id="612" name="Google Shape;612;p14"/>
          <p:cNvSpPr txBox="1"/>
          <p:nvPr/>
        </p:nvSpPr>
        <p:spPr>
          <a:xfrm>
            <a:off x="4289558" y="3949700"/>
            <a:ext cx="4286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/>
          </a:p>
        </p:txBody>
      </p:sp>
      <p:sp>
        <p:nvSpPr>
          <p:cNvPr id="613" name="Google Shape;613;p14"/>
          <p:cNvSpPr txBox="1"/>
          <p:nvPr/>
        </p:nvSpPr>
        <p:spPr>
          <a:xfrm>
            <a:off x="6450146" y="3976688"/>
            <a:ext cx="4286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/>
          </a:p>
        </p:txBody>
      </p:sp>
      <p:sp>
        <p:nvSpPr>
          <p:cNvPr id="614" name="Google Shape;614;p14"/>
          <p:cNvSpPr txBox="1"/>
          <p:nvPr/>
        </p:nvSpPr>
        <p:spPr>
          <a:xfrm>
            <a:off x="4507046" y="2168525"/>
            <a:ext cx="4286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/>
          </a:p>
        </p:txBody>
      </p:sp>
      <p:cxnSp>
        <p:nvCxnSpPr>
          <p:cNvPr id="615" name="Google Shape;615;p14"/>
          <p:cNvCxnSpPr/>
          <p:nvPr/>
        </p:nvCxnSpPr>
        <p:spPr>
          <a:xfrm>
            <a:off x="4346708" y="2871788"/>
            <a:ext cx="1392238" cy="219075"/>
          </a:xfrm>
          <a:prstGeom prst="straightConnector1">
            <a:avLst/>
          </a:prstGeom>
          <a:noFill/>
          <a:ln cap="flat" cmpd="sng" w="12700">
            <a:solidFill>
              <a:srgbClr val="CC0000">
                <a:alpha val="49803"/>
              </a:srgbClr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14"/>
          <p:cNvCxnSpPr/>
          <p:nvPr/>
        </p:nvCxnSpPr>
        <p:spPr>
          <a:xfrm>
            <a:off x="5824671" y="3154363"/>
            <a:ext cx="533400" cy="976312"/>
          </a:xfrm>
          <a:prstGeom prst="straightConnector1">
            <a:avLst/>
          </a:prstGeom>
          <a:noFill/>
          <a:ln cap="flat" cmpd="sng" w="12700">
            <a:solidFill>
              <a:srgbClr val="CC0000">
                <a:alpha val="49803"/>
              </a:srgbClr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7" name="Google Shape;617;p14"/>
          <p:cNvSpPr txBox="1"/>
          <p:nvPr/>
        </p:nvSpPr>
        <p:spPr>
          <a:xfrm>
            <a:off x="4118108" y="2173288"/>
            <a:ext cx="2714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18" name="Google Shape;618;p14"/>
          <p:cNvSpPr txBox="1"/>
          <p:nvPr/>
        </p:nvSpPr>
        <p:spPr>
          <a:xfrm>
            <a:off x="3649796" y="2419350"/>
            <a:ext cx="2730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19" name="Google Shape;619;p14"/>
          <p:cNvSpPr txBox="1"/>
          <p:nvPr/>
        </p:nvSpPr>
        <p:spPr>
          <a:xfrm>
            <a:off x="4018096" y="2790894"/>
            <a:ext cx="269875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20" name="Google Shape;620;p14"/>
          <p:cNvSpPr txBox="1"/>
          <p:nvPr/>
        </p:nvSpPr>
        <p:spPr>
          <a:xfrm>
            <a:off x="4495933" y="2687638"/>
            <a:ext cx="274638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21" name="Google Shape;621;p14"/>
          <p:cNvSpPr txBox="1"/>
          <p:nvPr/>
        </p:nvSpPr>
        <p:spPr>
          <a:xfrm>
            <a:off x="4021271" y="4006850"/>
            <a:ext cx="269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22" name="Google Shape;622;p14"/>
          <p:cNvSpPr txBox="1"/>
          <p:nvPr/>
        </p:nvSpPr>
        <p:spPr>
          <a:xfrm>
            <a:off x="3664083" y="4276725"/>
            <a:ext cx="2746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23" name="Google Shape;623;p14"/>
          <p:cNvSpPr txBox="1"/>
          <p:nvPr/>
        </p:nvSpPr>
        <p:spPr>
          <a:xfrm>
            <a:off x="4046671" y="4624388"/>
            <a:ext cx="269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24" name="Google Shape;624;p14"/>
          <p:cNvSpPr txBox="1"/>
          <p:nvPr/>
        </p:nvSpPr>
        <p:spPr>
          <a:xfrm>
            <a:off x="4554671" y="4437063"/>
            <a:ext cx="273050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25" name="Google Shape;625;p14"/>
          <p:cNvSpPr txBox="1"/>
          <p:nvPr/>
        </p:nvSpPr>
        <p:spPr>
          <a:xfrm>
            <a:off x="5811971" y="4089400"/>
            <a:ext cx="269875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26" name="Google Shape;626;p14"/>
          <p:cNvSpPr txBox="1"/>
          <p:nvPr/>
        </p:nvSpPr>
        <p:spPr>
          <a:xfrm>
            <a:off x="5783396" y="4437063"/>
            <a:ext cx="2746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27" name="Google Shape;627;p14"/>
          <p:cNvSpPr txBox="1"/>
          <p:nvPr/>
        </p:nvSpPr>
        <p:spPr>
          <a:xfrm>
            <a:off x="6150108" y="4641850"/>
            <a:ext cx="269875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28" name="Google Shape;628;p14"/>
          <p:cNvSpPr txBox="1"/>
          <p:nvPr/>
        </p:nvSpPr>
        <p:spPr>
          <a:xfrm>
            <a:off x="6708908" y="4394200"/>
            <a:ext cx="2746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29" name="Google Shape;629;p14"/>
          <p:cNvSpPr txBox="1"/>
          <p:nvPr/>
        </p:nvSpPr>
        <p:spPr>
          <a:xfrm>
            <a:off x="4469291" y="1666393"/>
            <a:ext cx="8350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10.3.0.6</a:t>
            </a:r>
            <a:endParaRPr/>
          </a:p>
        </p:txBody>
      </p:sp>
      <p:grpSp>
        <p:nvGrpSpPr>
          <p:cNvPr id="630" name="Google Shape;630;p14"/>
          <p:cNvGrpSpPr/>
          <p:nvPr/>
        </p:nvGrpSpPr>
        <p:grpSpPr>
          <a:xfrm>
            <a:off x="5400808" y="1862138"/>
            <a:ext cx="1270000" cy="1482725"/>
            <a:chOff x="5418667" y="1587500"/>
            <a:chExt cx="1270000" cy="1481667"/>
          </a:xfrm>
        </p:grpSpPr>
        <p:grpSp>
          <p:nvGrpSpPr>
            <p:cNvPr id="631" name="Google Shape;631;p14"/>
            <p:cNvGrpSpPr/>
            <p:nvPr/>
          </p:nvGrpSpPr>
          <p:grpSpPr>
            <a:xfrm>
              <a:off x="5440087" y="1742411"/>
              <a:ext cx="1047344" cy="1163369"/>
              <a:chOff x="5440087" y="1742411"/>
              <a:chExt cx="1047344" cy="1163369"/>
            </a:xfrm>
          </p:grpSpPr>
          <p:grpSp>
            <p:nvGrpSpPr>
              <p:cNvPr id="632" name="Google Shape;632;p14"/>
              <p:cNvGrpSpPr/>
              <p:nvPr/>
            </p:nvGrpSpPr>
            <p:grpSpPr>
              <a:xfrm>
                <a:off x="5838397" y="2273382"/>
                <a:ext cx="350328" cy="632398"/>
                <a:chOff x="4140" y="429"/>
                <a:chExt cx="1425" cy="2396"/>
              </a:xfrm>
            </p:grpSpPr>
            <p:sp>
              <p:nvSpPr>
                <p:cNvPr id="633" name="Google Shape;633;p14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4" name="Google Shape;634;p14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5" name="Google Shape;635;p14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6" name="Google Shape;636;p14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7" name="Google Shape;637;p14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38" name="Google Shape;638;p14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639" name="Google Shape;639;p14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0" name="Google Shape;640;p14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41" name="Google Shape;641;p14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42" name="Google Shape;642;p14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643" name="Google Shape;643;p14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4" name="Google Shape;644;p14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45" name="Google Shape;645;p14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6" name="Google Shape;646;p14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47" name="Google Shape;647;p14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648" name="Google Shape;648;p14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49" name="Google Shape;649;p14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50" name="Google Shape;650;p14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51" name="Google Shape;651;p14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652" name="Google Shape;652;p14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3" name="Google Shape;653;p14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54" name="Google Shape;654;p14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5" name="Google Shape;655;p14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6" name="Google Shape;656;p14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7" name="Google Shape;657;p14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8" name="Google Shape;658;p14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9" name="Google Shape;659;p14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0" name="Google Shape;660;p14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1" name="Google Shape;661;p14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2" name="Google Shape;662;p14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3" name="Google Shape;663;p14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4" name="Google Shape;664;p14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665" name="Google Shape;665;p1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440087" y="1742411"/>
                <a:ext cx="1039824" cy="3097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66" name="Google Shape;666;p14"/>
              <p:cNvSpPr txBox="1"/>
              <p:nvPr/>
            </p:nvSpPr>
            <p:spPr>
              <a:xfrm>
                <a:off x="5558972" y="1947149"/>
                <a:ext cx="928459" cy="584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controller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7" name="Google Shape;667;p14"/>
            <p:cNvSpPr/>
            <p:nvPr/>
          </p:nvSpPr>
          <p:spPr>
            <a:xfrm>
              <a:off x="5418667" y="1587500"/>
              <a:ext cx="1270000" cy="1481667"/>
            </a:xfrm>
            <a:prstGeom prst="rect">
              <a:avLst/>
            </a:prstGeom>
            <a:solidFill>
              <a:srgbClr val="FFFFFF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8" name="Google Shape;668;p14"/>
          <p:cNvSpPr txBox="1"/>
          <p:nvPr/>
        </p:nvSpPr>
        <p:spPr>
          <a:xfrm>
            <a:off x="7200353" y="1519586"/>
            <a:ext cx="4619940" cy="2111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Orchestrated tables can create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network-wide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behavior, e.g.,: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datagrams from hosts h5 and h6 should be sent to h3 or h4, via s1 and from there to s2</a:t>
            </a:r>
            <a:endParaRPr/>
          </a:p>
        </p:txBody>
      </p:sp>
      <p:grpSp>
        <p:nvGrpSpPr>
          <p:cNvPr id="669" name="Google Shape;669;p14"/>
          <p:cNvGrpSpPr/>
          <p:nvPr/>
        </p:nvGrpSpPr>
        <p:grpSpPr>
          <a:xfrm>
            <a:off x="3869633" y="4253948"/>
            <a:ext cx="728870" cy="410817"/>
            <a:chOff x="7493876" y="2774731"/>
            <a:chExt cx="1481958" cy="894622"/>
          </a:xfrm>
        </p:grpSpPr>
        <p:sp>
          <p:nvSpPr>
            <p:cNvPr id="670" name="Google Shape;670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71" name="Google Shape;671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72" name="Google Shape;672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73" name="Google Shape;673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7" name="Google Shape;677;p14"/>
          <p:cNvGrpSpPr/>
          <p:nvPr/>
        </p:nvGrpSpPr>
        <p:grpSpPr>
          <a:xfrm>
            <a:off x="6009859" y="4287078"/>
            <a:ext cx="728870" cy="410817"/>
            <a:chOff x="7493876" y="2774731"/>
            <a:chExt cx="1481958" cy="894622"/>
          </a:xfrm>
        </p:grpSpPr>
        <p:sp>
          <p:nvSpPr>
            <p:cNvPr id="678" name="Google Shape;678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0" name="Google Shape;680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1" name="Google Shape;681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5" name="Google Shape;685;p14"/>
          <p:cNvGrpSpPr/>
          <p:nvPr/>
        </p:nvGrpSpPr>
        <p:grpSpPr>
          <a:xfrm>
            <a:off x="3882885" y="2411896"/>
            <a:ext cx="728870" cy="410817"/>
            <a:chOff x="7493876" y="2774731"/>
            <a:chExt cx="1481958" cy="894622"/>
          </a:xfrm>
        </p:grpSpPr>
        <p:sp>
          <p:nvSpPr>
            <p:cNvPr id="686" name="Google Shape;686;p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8" name="Google Shape;688;p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9" name="Google Shape;689;p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3" name="Google Shape;693;p14"/>
          <p:cNvGrpSpPr/>
          <p:nvPr/>
        </p:nvGrpSpPr>
        <p:grpSpPr>
          <a:xfrm>
            <a:off x="3414532" y="2789499"/>
            <a:ext cx="3842795" cy="2465405"/>
            <a:chOff x="3414532" y="2693870"/>
            <a:chExt cx="3842795" cy="2595759"/>
          </a:xfrm>
        </p:grpSpPr>
        <p:sp>
          <p:nvSpPr>
            <p:cNvPr id="694" name="Google Shape;694;p14"/>
            <p:cNvSpPr/>
            <p:nvPr/>
          </p:nvSpPr>
          <p:spPr>
            <a:xfrm>
              <a:off x="3414532" y="2693870"/>
              <a:ext cx="3842795" cy="2040239"/>
            </a:xfrm>
            <a:custGeom>
              <a:rect b="b" l="l" r="r" t="t"/>
              <a:pathLst>
                <a:path extrusionOk="0" h="2040239" w="3842795">
                  <a:moveTo>
                    <a:pt x="0" y="3032"/>
                  </a:moveTo>
                  <a:cubicBezTo>
                    <a:pt x="381965" y="14606"/>
                    <a:pt x="571192" y="-50652"/>
                    <a:pt x="658002" y="119110"/>
                  </a:cubicBezTo>
                  <a:cubicBezTo>
                    <a:pt x="744812" y="288872"/>
                    <a:pt x="538223" y="1604196"/>
                    <a:pt x="729205" y="1924429"/>
                  </a:cubicBezTo>
                  <a:cubicBezTo>
                    <a:pt x="844952" y="2152065"/>
                    <a:pt x="2812648" y="1974585"/>
                    <a:pt x="3842795" y="1970727"/>
                  </a:cubicBezTo>
                </a:path>
              </a:pathLst>
            </a:custGeom>
            <a:noFill/>
            <a:ln cap="flat" cmpd="sng" w="730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5465338" y="4722802"/>
              <a:ext cx="823595" cy="566827"/>
            </a:xfrm>
            <a:custGeom>
              <a:rect b="b" l="l" r="r" t="t"/>
              <a:pathLst>
                <a:path extrusionOk="0" h="566827" w="823595">
                  <a:moveTo>
                    <a:pt x="0" y="0"/>
                  </a:moveTo>
                  <a:cubicBezTo>
                    <a:pt x="281651" y="46299"/>
                    <a:pt x="669592" y="55668"/>
                    <a:pt x="784991" y="150139"/>
                  </a:cubicBezTo>
                  <a:cubicBezTo>
                    <a:pt x="900390" y="244610"/>
                    <a:pt x="723260" y="427931"/>
                    <a:pt x="692394" y="566827"/>
                  </a:cubicBezTo>
                </a:path>
              </a:pathLst>
            </a:custGeom>
            <a:noFill/>
            <a:ln cap="flat" cmpd="sng" w="730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6" name="Google Shape;696;p14"/>
          <p:cNvGrpSpPr/>
          <p:nvPr/>
        </p:nvGrpSpPr>
        <p:grpSpPr>
          <a:xfrm>
            <a:off x="4311464" y="1958381"/>
            <a:ext cx="3143235" cy="3158697"/>
            <a:chOff x="4114093" y="2303316"/>
            <a:chExt cx="3143235" cy="3158697"/>
          </a:xfrm>
        </p:grpSpPr>
        <p:sp>
          <p:nvSpPr>
            <p:cNvPr id="697" name="Google Shape;697;p14"/>
            <p:cNvSpPr/>
            <p:nvPr/>
          </p:nvSpPr>
          <p:spPr>
            <a:xfrm>
              <a:off x="4114093" y="2303316"/>
              <a:ext cx="3143235" cy="2416160"/>
            </a:xfrm>
            <a:custGeom>
              <a:rect b="b" l="l" r="r" t="t"/>
              <a:pathLst>
                <a:path extrusionOk="0" h="2416160" w="3143235">
                  <a:moveTo>
                    <a:pt x="33392" y="0"/>
                  </a:moveTo>
                  <a:cubicBezTo>
                    <a:pt x="30261" y="244713"/>
                    <a:pt x="-37668" y="2215855"/>
                    <a:pt x="29645" y="2314984"/>
                  </a:cubicBezTo>
                  <a:cubicBezTo>
                    <a:pt x="175372" y="2508892"/>
                    <a:pt x="2113088" y="2365140"/>
                    <a:pt x="3143235" y="2361282"/>
                  </a:cubicBezTo>
                </a:path>
              </a:pathLst>
            </a:custGeom>
            <a:noFill/>
            <a:ln cap="flat" cmpd="sng" w="730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14"/>
            <p:cNvSpPr/>
            <p:nvPr/>
          </p:nvSpPr>
          <p:spPr>
            <a:xfrm>
              <a:off x="4906955" y="4715304"/>
              <a:ext cx="814542" cy="746709"/>
            </a:xfrm>
            <a:custGeom>
              <a:rect b="b" l="l" r="r" t="t"/>
              <a:pathLst>
                <a:path extrusionOk="0" h="746709" w="814542">
                  <a:moveTo>
                    <a:pt x="0" y="0"/>
                  </a:moveTo>
                  <a:cubicBezTo>
                    <a:pt x="281651" y="46299"/>
                    <a:pt x="680835" y="25688"/>
                    <a:pt x="784991" y="150139"/>
                  </a:cubicBezTo>
                  <a:cubicBezTo>
                    <a:pt x="889147" y="274590"/>
                    <a:pt x="689533" y="604065"/>
                    <a:pt x="624939" y="746709"/>
                  </a:cubicBezTo>
                </a:path>
              </a:pathLst>
            </a:custGeom>
            <a:noFill/>
            <a:ln cap="flat" cmpd="sng" w="730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5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 example</a:t>
            </a:r>
            <a:endParaRPr/>
          </a:p>
        </p:txBody>
      </p:sp>
      <p:grpSp>
        <p:nvGrpSpPr>
          <p:cNvPr id="705" name="Google Shape;705;p15"/>
          <p:cNvGrpSpPr/>
          <p:nvPr/>
        </p:nvGrpSpPr>
        <p:grpSpPr>
          <a:xfrm>
            <a:off x="1022483" y="1382918"/>
            <a:ext cx="2997200" cy="1262063"/>
            <a:chOff x="637575" y="1263648"/>
            <a:chExt cx="2998252" cy="1261939"/>
          </a:xfrm>
        </p:grpSpPr>
        <p:sp>
          <p:nvSpPr>
            <p:cNvPr id="706" name="Google Shape;706;p15"/>
            <p:cNvSpPr/>
            <p:nvPr/>
          </p:nvSpPr>
          <p:spPr>
            <a:xfrm flipH="1" rot="10800000">
              <a:off x="678864" y="2160498"/>
              <a:ext cx="2956963" cy="365089"/>
            </a:xfrm>
            <a:custGeom>
              <a:rect b="b" l="l" r="r" t="t"/>
              <a:pathLst>
                <a:path extrusionOk="0" h="364586" w="2957279">
                  <a:moveTo>
                    <a:pt x="3018" y="364586"/>
                  </a:moveTo>
                  <a:cubicBezTo>
                    <a:pt x="-83949" y="327008"/>
                    <a:pt x="1733141" y="192516"/>
                    <a:pt x="2225518" y="131752"/>
                  </a:cubicBezTo>
                  <a:cubicBezTo>
                    <a:pt x="2717895" y="70988"/>
                    <a:pt x="2402554" y="114689"/>
                    <a:pt x="2957279" y="0"/>
                  </a:cubicBezTo>
                  <a:cubicBezTo>
                    <a:pt x="2832942" y="71922"/>
                    <a:pt x="2815596" y="78695"/>
                    <a:pt x="2780603" y="138232"/>
                  </a:cubicBezTo>
                  <a:cubicBezTo>
                    <a:pt x="2745610" y="197769"/>
                    <a:pt x="2727394" y="213043"/>
                    <a:pt x="2747322" y="357223"/>
                  </a:cubicBezTo>
                  <a:lnTo>
                    <a:pt x="3018" y="364586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7" name="Google Shape;707;p15"/>
            <p:cNvGrpSpPr/>
            <p:nvPr/>
          </p:nvGrpSpPr>
          <p:grpSpPr>
            <a:xfrm>
              <a:off x="637575" y="1263648"/>
              <a:ext cx="2833213" cy="915898"/>
              <a:chOff x="-994833" y="4042832"/>
              <a:chExt cx="2833213" cy="915898"/>
            </a:xfrm>
          </p:grpSpPr>
          <p:sp>
            <p:nvSpPr>
              <p:cNvPr id="708" name="Google Shape;708;p15"/>
              <p:cNvSpPr/>
              <p:nvPr/>
            </p:nvSpPr>
            <p:spPr>
              <a:xfrm>
                <a:off x="-977364" y="4042832"/>
                <a:ext cx="2775924" cy="915898"/>
              </a:xfrm>
              <a:prstGeom prst="rect">
                <a:avLst/>
              </a:prstGeom>
              <a:solidFill>
                <a:srgbClr val="F2F2F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15"/>
              <p:cNvSpPr txBox="1"/>
              <p:nvPr/>
            </p:nvSpPr>
            <p:spPr>
              <a:xfrm>
                <a:off x="-931177" y="4360336"/>
                <a:ext cx="1646504" cy="584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 = 10.3.*.*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Dst = 10.2.*.*</a:t>
                </a:r>
                <a:endParaRPr/>
              </a:p>
            </p:txBody>
          </p:sp>
          <p:sp>
            <p:nvSpPr>
              <p:cNvPr id="710" name="Google Shape;710;p15"/>
              <p:cNvSpPr txBox="1"/>
              <p:nvPr/>
            </p:nvSpPr>
            <p:spPr>
              <a:xfrm>
                <a:off x="718763" y="4491568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forward(3)</a:t>
                </a:r>
                <a:endParaRPr/>
              </a:p>
            </p:txBody>
          </p:sp>
          <p:cxnSp>
            <p:nvCxnSpPr>
              <p:cNvPr id="711" name="Google Shape;711;p15"/>
              <p:cNvCxnSpPr/>
              <p:nvPr/>
            </p:nvCxnSpPr>
            <p:spPr>
              <a:xfrm>
                <a:off x="-994833" y="4402666"/>
                <a:ext cx="279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2" name="Google Shape;712;p15"/>
              <p:cNvSpPr txBox="1"/>
              <p:nvPr/>
            </p:nvSpPr>
            <p:spPr>
              <a:xfrm>
                <a:off x="-674004" y="4051301"/>
                <a:ext cx="74341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match</a:t>
                </a:r>
                <a:endParaRPr/>
              </a:p>
            </p:txBody>
          </p:sp>
          <p:sp>
            <p:nvSpPr>
              <p:cNvPr id="713" name="Google Shape;713;p15"/>
              <p:cNvSpPr txBox="1"/>
              <p:nvPr/>
            </p:nvSpPr>
            <p:spPr>
              <a:xfrm>
                <a:off x="875396" y="4055535"/>
                <a:ext cx="7321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action</a:t>
                </a:r>
                <a:endParaRPr/>
              </a:p>
            </p:txBody>
          </p:sp>
          <p:cxnSp>
            <p:nvCxnSpPr>
              <p:cNvPr id="714" name="Google Shape;714;p15"/>
              <p:cNvCxnSpPr/>
              <p:nvPr/>
            </p:nvCxnSpPr>
            <p:spPr>
              <a:xfrm>
                <a:off x="738264" y="4049182"/>
                <a:ext cx="1" cy="9048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715" name="Google Shape;715;p15"/>
          <p:cNvGrpSpPr/>
          <p:nvPr/>
        </p:nvGrpSpPr>
        <p:grpSpPr>
          <a:xfrm>
            <a:off x="6340608" y="4510088"/>
            <a:ext cx="2894013" cy="2022475"/>
            <a:chOff x="5956617" y="4509743"/>
            <a:chExt cx="2893901" cy="2022127"/>
          </a:xfrm>
        </p:grpSpPr>
        <p:sp>
          <p:nvSpPr>
            <p:cNvPr id="716" name="Google Shape;716;p15"/>
            <p:cNvSpPr/>
            <p:nvPr/>
          </p:nvSpPr>
          <p:spPr>
            <a:xfrm flipH="1">
              <a:off x="5956617" y="4509743"/>
              <a:ext cx="2838340" cy="630129"/>
            </a:xfrm>
            <a:custGeom>
              <a:rect b="b" l="l" r="r" t="t"/>
              <a:pathLst>
                <a:path extrusionOk="0" h="630630" w="2839117">
                  <a:moveTo>
                    <a:pt x="2979" y="630630"/>
                  </a:moveTo>
                  <a:cubicBezTo>
                    <a:pt x="-83988" y="593052"/>
                    <a:pt x="1757818" y="502095"/>
                    <a:pt x="2225479" y="397796"/>
                  </a:cubicBezTo>
                  <a:cubicBezTo>
                    <a:pt x="2693140" y="293497"/>
                    <a:pt x="2720754" y="36586"/>
                    <a:pt x="2808948" y="4836"/>
                  </a:cubicBezTo>
                  <a:cubicBezTo>
                    <a:pt x="2897142" y="-26914"/>
                    <a:pt x="2764923" y="104224"/>
                    <a:pt x="2754646" y="207296"/>
                  </a:cubicBezTo>
                  <a:cubicBezTo>
                    <a:pt x="2744369" y="310368"/>
                    <a:pt x="2727355" y="479087"/>
                    <a:pt x="2747283" y="623267"/>
                  </a:cubicBezTo>
                  <a:lnTo>
                    <a:pt x="2979" y="63063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7" name="Google Shape;717;p15"/>
            <p:cNvGrpSpPr/>
            <p:nvPr/>
          </p:nvGrpSpPr>
          <p:grpSpPr>
            <a:xfrm>
              <a:off x="6031592" y="5136697"/>
              <a:ext cx="2818926" cy="1395173"/>
              <a:chOff x="-999973" y="4042381"/>
              <a:chExt cx="2818926" cy="1395173"/>
            </a:xfrm>
          </p:grpSpPr>
          <p:sp>
            <p:nvSpPr>
              <p:cNvPr id="718" name="Google Shape;718;p15"/>
              <p:cNvSpPr/>
              <p:nvPr/>
            </p:nvSpPr>
            <p:spPr>
              <a:xfrm>
                <a:off x="-978114" y="4042381"/>
                <a:ext cx="2778018" cy="1344382"/>
              </a:xfrm>
              <a:prstGeom prst="rect">
                <a:avLst/>
              </a:prstGeom>
              <a:solidFill>
                <a:srgbClr val="F2F2F2"/>
              </a:solidFill>
              <a:ln cap="flat" cmpd="sng" w="9525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15"/>
              <p:cNvSpPr txBox="1"/>
              <p:nvPr/>
            </p:nvSpPr>
            <p:spPr>
              <a:xfrm>
                <a:off x="-999973" y="4360336"/>
                <a:ext cx="1715033" cy="107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ingress port = 2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Dst = 10.2.0.3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ingress port = 2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Dst = 10.2.0.4</a:t>
                </a:r>
                <a:endParaRPr/>
              </a:p>
            </p:txBody>
          </p:sp>
          <p:sp>
            <p:nvSpPr>
              <p:cNvPr id="720" name="Google Shape;720;p15"/>
              <p:cNvSpPr txBox="1"/>
              <p:nvPr/>
            </p:nvSpPr>
            <p:spPr>
              <a:xfrm>
                <a:off x="671327" y="4474229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forward(3)</a:t>
                </a:r>
                <a:endParaRPr/>
              </a:p>
            </p:txBody>
          </p:sp>
          <p:cxnSp>
            <p:nvCxnSpPr>
              <p:cNvPr id="721" name="Google Shape;721;p15"/>
              <p:cNvCxnSpPr/>
              <p:nvPr/>
            </p:nvCxnSpPr>
            <p:spPr>
              <a:xfrm>
                <a:off x="-994833" y="4402666"/>
                <a:ext cx="279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2" name="Google Shape;722;p15"/>
              <p:cNvSpPr txBox="1"/>
              <p:nvPr/>
            </p:nvSpPr>
            <p:spPr>
              <a:xfrm>
                <a:off x="-674004" y="4051301"/>
                <a:ext cx="74341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match</a:t>
                </a:r>
                <a:endParaRPr/>
              </a:p>
            </p:txBody>
          </p:sp>
          <p:sp>
            <p:nvSpPr>
              <p:cNvPr id="723" name="Google Shape;723;p15"/>
              <p:cNvSpPr txBox="1"/>
              <p:nvPr/>
            </p:nvSpPr>
            <p:spPr>
              <a:xfrm>
                <a:off x="875396" y="4055535"/>
                <a:ext cx="7321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action</a:t>
                </a:r>
                <a:endParaRPr/>
              </a:p>
            </p:txBody>
          </p:sp>
          <p:cxnSp>
            <p:nvCxnSpPr>
              <p:cNvPr id="724" name="Google Shape;724;p15"/>
              <p:cNvCxnSpPr/>
              <p:nvPr/>
            </p:nvCxnSpPr>
            <p:spPr>
              <a:xfrm>
                <a:off x="660503" y="4042833"/>
                <a:ext cx="4690" cy="134946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5" name="Google Shape;725;p15"/>
              <p:cNvCxnSpPr/>
              <p:nvPr/>
            </p:nvCxnSpPr>
            <p:spPr>
              <a:xfrm>
                <a:off x="-975047" y="4896787"/>
                <a:ext cx="279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6" name="Google Shape;726;p15"/>
              <p:cNvSpPr txBox="1"/>
              <p:nvPr/>
            </p:nvSpPr>
            <p:spPr>
              <a:xfrm>
                <a:off x="670712" y="4973448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forward(4)</a:t>
                </a:r>
                <a:endParaRPr/>
              </a:p>
            </p:txBody>
          </p:sp>
        </p:grpSp>
      </p:grpSp>
      <p:grpSp>
        <p:nvGrpSpPr>
          <p:cNvPr id="727" name="Google Shape;727;p15"/>
          <p:cNvGrpSpPr/>
          <p:nvPr/>
        </p:nvGrpSpPr>
        <p:grpSpPr>
          <a:xfrm>
            <a:off x="971683" y="4398137"/>
            <a:ext cx="3089275" cy="2001837"/>
            <a:chOff x="587526" y="4569769"/>
            <a:chExt cx="3089750" cy="2002482"/>
          </a:xfrm>
        </p:grpSpPr>
        <p:sp>
          <p:nvSpPr>
            <p:cNvPr id="728" name="Google Shape;728;p15"/>
            <p:cNvSpPr/>
            <p:nvPr/>
          </p:nvSpPr>
          <p:spPr>
            <a:xfrm>
              <a:off x="631983" y="4569769"/>
              <a:ext cx="3045293" cy="849586"/>
            </a:xfrm>
            <a:custGeom>
              <a:rect b="b" l="l" r="r" t="t"/>
              <a:pathLst>
                <a:path extrusionOk="0" h="848898" w="3045074">
                  <a:moveTo>
                    <a:pt x="2799" y="848898"/>
                  </a:moveTo>
                  <a:cubicBezTo>
                    <a:pt x="-84168" y="811320"/>
                    <a:pt x="1881874" y="743370"/>
                    <a:pt x="2225299" y="616064"/>
                  </a:cubicBezTo>
                  <a:cubicBezTo>
                    <a:pt x="2568724" y="488758"/>
                    <a:pt x="2941438" y="33981"/>
                    <a:pt x="3029632" y="2231"/>
                  </a:cubicBezTo>
                  <a:cubicBezTo>
                    <a:pt x="3117826" y="-29519"/>
                    <a:pt x="2801554" y="285680"/>
                    <a:pt x="2754466" y="425564"/>
                  </a:cubicBezTo>
                  <a:cubicBezTo>
                    <a:pt x="2707378" y="565448"/>
                    <a:pt x="2727175" y="697355"/>
                    <a:pt x="2747103" y="841535"/>
                  </a:cubicBezTo>
                  <a:lnTo>
                    <a:pt x="2799" y="848898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9" name="Google Shape;729;p15"/>
            <p:cNvGrpSpPr/>
            <p:nvPr/>
          </p:nvGrpSpPr>
          <p:grpSpPr>
            <a:xfrm>
              <a:off x="587526" y="5408084"/>
              <a:ext cx="2799193" cy="1164167"/>
              <a:chOff x="-999973" y="4042833"/>
              <a:chExt cx="2799193" cy="1164167"/>
            </a:xfrm>
          </p:grpSpPr>
          <p:sp>
            <p:nvSpPr>
              <p:cNvPr id="730" name="Google Shape;730;p15"/>
              <p:cNvSpPr/>
              <p:nvPr/>
            </p:nvSpPr>
            <p:spPr>
              <a:xfrm>
                <a:off x="-977745" y="4042988"/>
                <a:ext cx="2776965" cy="1164012"/>
              </a:xfrm>
              <a:prstGeom prst="rect">
                <a:avLst/>
              </a:prstGeom>
              <a:solidFill>
                <a:srgbClr val="F2F2F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r" dir="81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15"/>
              <p:cNvSpPr txBox="1"/>
              <p:nvPr/>
            </p:nvSpPr>
            <p:spPr>
              <a:xfrm>
                <a:off x="-999973" y="4360336"/>
                <a:ext cx="1646504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ingress port = 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 = 10.3.*.*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Dst = 10.2.*.*</a:t>
                </a:r>
                <a:endParaRPr/>
              </a:p>
            </p:txBody>
          </p:sp>
          <p:sp>
            <p:nvSpPr>
              <p:cNvPr id="732" name="Google Shape;732;p15"/>
              <p:cNvSpPr txBox="1"/>
              <p:nvPr/>
            </p:nvSpPr>
            <p:spPr>
              <a:xfrm>
                <a:off x="676427" y="4576235"/>
                <a:ext cx="111961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forward(4)</a:t>
                </a:r>
                <a:endParaRPr/>
              </a:p>
            </p:txBody>
          </p:sp>
          <p:cxnSp>
            <p:nvCxnSpPr>
              <p:cNvPr id="733" name="Google Shape;733;p15"/>
              <p:cNvCxnSpPr/>
              <p:nvPr/>
            </p:nvCxnSpPr>
            <p:spPr>
              <a:xfrm>
                <a:off x="-994833" y="4402666"/>
                <a:ext cx="2794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34" name="Google Shape;734;p15"/>
              <p:cNvSpPr txBox="1"/>
              <p:nvPr/>
            </p:nvSpPr>
            <p:spPr>
              <a:xfrm>
                <a:off x="-674004" y="4051301"/>
                <a:ext cx="74341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match</a:t>
                </a:r>
                <a:endParaRPr/>
              </a:p>
            </p:txBody>
          </p:sp>
          <p:sp>
            <p:nvSpPr>
              <p:cNvPr id="735" name="Google Shape;735;p15"/>
              <p:cNvSpPr txBox="1"/>
              <p:nvPr/>
            </p:nvSpPr>
            <p:spPr>
              <a:xfrm>
                <a:off x="875396" y="4055535"/>
                <a:ext cx="7321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action</a:t>
                </a:r>
                <a:endParaRPr/>
              </a:p>
            </p:txBody>
          </p:sp>
          <p:cxnSp>
            <p:nvCxnSpPr>
              <p:cNvPr id="736" name="Google Shape;736;p15"/>
              <p:cNvCxnSpPr/>
              <p:nvPr/>
            </p:nvCxnSpPr>
            <p:spPr>
              <a:xfrm>
                <a:off x="634998" y="4042833"/>
                <a:ext cx="0" cy="11641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737" name="Google Shape;737;p15"/>
          <p:cNvCxnSpPr/>
          <p:nvPr/>
        </p:nvCxnSpPr>
        <p:spPr>
          <a:xfrm>
            <a:off x="4145096" y="2562225"/>
            <a:ext cx="2157412" cy="18462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8" name="Google Shape;738;p15"/>
          <p:cNvCxnSpPr/>
          <p:nvPr/>
        </p:nvCxnSpPr>
        <p:spPr>
          <a:xfrm>
            <a:off x="4424496" y="4497388"/>
            <a:ext cx="20462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15"/>
          <p:cNvCxnSpPr/>
          <p:nvPr/>
        </p:nvCxnSpPr>
        <p:spPr>
          <a:xfrm>
            <a:off x="4226058" y="2690813"/>
            <a:ext cx="0" cy="157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15"/>
          <p:cNvCxnSpPr/>
          <p:nvPr/>
        </p:nvCxnSpPr>
        <p:spPr>
          <a:xfrm flipH="1">
            <a:off x="4346708" y="3154363"/>
            <a:ext cx="1477963" cy="1311275"/>
          </a:xfrm>
          <a:prstGeom prst="straightConnector1">
            <a:avLst/>
          </a:prstGeom>
          <a:noFill/>
          <a:ln cap="flat" cmpd="sng" w="12700">
            <a:solidFill>
              <a:srgbClr val="CC0000">
                <a:alpha val="49803"/>
              </a:srgbClr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15"/>
          <p:cNvCxnSpPr/>
          <p:nvPr/>
        </p:nvCxnSpPr>
        <p:spPr>
          <a:xfrm rot="10800000">
            <a:off x="4294321" y="4567238"/>
            <a:ext cx="6350" cy="65722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2" name="Google Shape;742;p15"/>
          <p:cNvCxnSpPr/>
          <p:nvPr/>
        </p:nvCxnSpPr>
        <p:spPr>
          <a:xfrm>
            <a:off x="3338646" y="4524375"/>
            <a:ext cx="53181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3" name="Google Shape;743;p15"/>
          <p:cNvGrpSpPr/>
          <p:nvPr/>
        </p:nvGrpSpPr>
        <p:grpSpPr>
          <a:xfrm>
            <a:off x="2740158" y="4043363"/>
            <a:ext cx="757238" cy="628650"/>
            <a:chOff x="-44" y="1473"/>
            <a:chExt cx="981" cy="1105"/>
          </a:xfrm>
        </p:grpSpPr>
        <p:pic>
          <p:nvPicPr>
            <p:cNvPr descr="desktop_computer_stylized_medium" id="744" name="Google Shape;74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5" name="Google Shape;745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6" name="Google Shape;746;p15"/>
          <p:cNvGrpSpPr/>
          <p:nvPr/>
        </p:nvGrpSpPr>
        <p:grpSpPr>
          <a:xfrm>
            <a:off x="3803783" y="4892675"/>
            <a:ext cx="757238" cy="628650"/>
            <a:chOff x="188" y="1473"/>
            <a:chExt cx="981" cy="1105"/>
          </a:xfrm>
        </p:grpSpPr>
        <p:pic>
          <p:nvPicPr>
            <p:cNvPr descr="desktop_computer_stylized_medium" id="747" name="Google Shape;74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188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8" name="Google Shape;748;p15"/>
            <p:cNvSpPr/>
            <p:nvPr/>
          </p:nvSpPr>
          <p:spPr>
            <a:xfrm flipH="1">
              <a:off x="598" y="1587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9" name="Google Shape;749;p15"/>
          <p:cNvSpPr txBox="1"/>
          <p:nvPr/>
        </p:nvSpPr>
        <p:spPr>
          <a:xfrm>
            <a:off x="2145917" y="4216884"/>
            <a:ext cx="833437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10.1.0.1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5"/>
          <p:cNvSpPr txBox="1"/>
          <p:nvPr/>
        </p:nvSpPr>
        <p:spPr>
          <a:xfrm>
            <a:off x="3903312" y="5453407"/>
            <a:ext cx="83343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10.1.0.2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1" name="Google Shape;751;p15"/>
          <p:cNvCxnSpPr/>
          <p:nvPr/>
        </p:nvCxnSpPr>
        <p:spPr>
          <a:xfrm flipH="1" rot="10800000">
            <a:off x="5992946" y="4568825"/>
            <a:ext cx="306387" cy="49053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15"/>
          <p:cNvCxnSpPr/>
          <p:nvPr/>
        </p:nvCxnSpPr>
        <p:spPr>
          <a:xfrm>
            <a:off x="6747008" y="4448175"/>
            <a:ext cx="531813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53" name="Google Shape;753;p15"/>
          <p:cNvGrpSpPr/>
          <p:nvPr/>
        </p:nvGrpSpPr>
        <p:grpSpPr>
          <a:xfrm>
            <a:off x="6953383" y="4221163"/>
            <a:ext cx="757238" cy="628650"/>
            <a:chOff x="-44" y="1473"/>
            <a:chExt cx="981" cy="1105"/>
          </a:xfrm>
        </p:grpSpPr>
        <p:pic>
          <p:nvPicPr>
            <p:cNvPr descr="desktop_computer_stylized_medium" id="754" name="Google Shape;7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5" name="Google Shape;755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6" name="Google Shape;756;p15"/>
          <p:cNvGrpSpPr/>
          <p:nvPr/>
        </p:nvGrpSpPr>
        <p:grpSpPr>
          <a:xfrm>
            <a:off x="5475421" y="4835525"/>
            <a:ext cx="757237" cy="628650"/>
            <a:chOff x="-44" y="1473"/>
            <a:chExt cx="981" cy="1105"/>
          </a:xfrm>
        </p:grpSpPr>
        <p:pic>
          <p:nvPicPr>
            <p:cNvPr descr="desktop_computer_stylized_medium" id="757" name="Google Shape;75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8" name="Google Shape;758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9" name="Google Shape;759;p15"/>
          <p:cNvSpPr txBox="1"/>
          <p:nvPr/>
        </p:nvSpPr>
        <p:spPr>
          <a:xfrm>
            <a:off x="7645947" y="4249738"/>
            <a:ext cx="83343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10.2.0.4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5"/>
          <p:cNvSpPr txBox="1"/>
          <p:nvPr/>
        </p:nvSpPr>
        <p:spPr>
          <a:xfrm>
            <a:off x="5524907" y="5349807"/>
            <a:ext cx="83343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10.2.0.3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1" name="Google Shape;761;p15"/>
          <p:cNvCxnSpPr/>
          <p:nvPr/>
        </p:nvCxnSpPr>
        <p:spPr>
          <a:xfrm>
            <a:off x="3349758" y="2681288"/>
            <a:ext cx="706438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2" name="Google Shape;762;p15"/>
          <p:cNvCxnSpPr/>
          <p:nvPr/>
        </p:nvCxnSpPr>
        <p:spPr>
          <a:xfrm rot="10800000">
            <a:off x="4327658" y="2014538"/>
            <a:ext cx="0" cy="47466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63" name="Google Shape;763;p15"/>
          <p:cNvGrpSpPr/>
          <p:nvPr/>
        </p:nvGrpSpPr>
        <p:grpSpPr>
          <a:xfrm>
            <a:off x="3846646" y="1622425"/>
            <a:ext cx="757237" cy="628650"/>
            <a:chOff x="-44" y="1473"/>
            <a:chExt cx="981" cy="1105"/>
          </a:xfrm>
        </p:grpSpPr>
        <p:pic>
          <p:nvPicPr>
            <p:cNvPr descr="desktop_computer_stylized_medium" id="764" name="Google Shape;76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5" name="Google Shape;765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6" name="Google Shape;766;p15"/>
          <p:cNvGrpSpPr/>
          <p:nvPr/>
        </p:nvGrpSpPr>
        <p:grpSpPr>
          <a:xfrm>
            <a:off x="2792546" y="2561879"/>
            <a:ext cx="757237" cy="628650"/>
            <a:chOff x="-44" y="1473"/>
            <a:chExt cx="981" cy="1105"/>
          </a:xfrm>
        </p:grpSpPr>
        <p:pic>
          <p:nvPicPr>
            <p:cNvPr descr="desktop_computer_stylized_medium" id="767" name="Google Shape;76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9" name="Google Shape;769;p15"/>
          <p:cNvSpPr txBox="1"/>
          <p:nvPr/>
        </p:nvSpPr>
        <p:spPr>
          <a:xfrm>
            <a:off x="2881446" y="3065116"/>
            <a:ext cx="83343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10.3.0.5</a:t>
            </a:r>
            <a:endParaRPr/>
          </a:p>
        </p:txBody>
      </p:sp>
      <p:sp>
        <p:nvSpPr>
          <p:cNvPr id="770" name="Google Shape;770;p15"/>
          <p:cNvSpPr txBox="1"/>
          <p:nvPr/>
        </p:nvSpPr>
        <p:spPr>
          <a:xfrm>
            <a:off x="4289558" y="3949700"/>
            <a:ext cx="4286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/>
          </a:p>
        </p:txBody>
      </p:sp>
      <p:sp>
        <p:nvSpPr>
          <p:cNvPr id="771" name="Google Shape;771;p15"/>
          <p:cNvSpPr txBox="1"/>
          <p:nvPr/>
        </p:nvSpPr>
        <p:spPr>
          <a:xfrm>
            <a:off x="6450146" y="3976688"/>
            <a:ext cx="4286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s2</a:t>
            </a:r>
            <a:endParaRPr/>
          </a:p>
        </p:txBody>
      </p:sp>
      <p:sp>
        <p:nvSpPr>
          <p:cNvPr id="772" name="Google Shape;772;p15"/>
          <p:cNvSpPr txBox="1"/>
          <p:nvPr/>
        </p:nvSpPr>
        <p:spPr>
          <a:xfrm>
            <a:off x="4507046" y="2168525"/>
            <a:ext cx="4286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/>
          </a:p>
        </p:txBody>
      </p:sp>
      <p:cxnSp>
        <p:nvCxnSpPr>
          <p:cNvPr id="773" name="Google Shape;773;p15"/>
          <p:cNvCxnSpPr/>
          <p:nvPr/>
        </p:nvCxnSpPr>
        <p:spPr>
          <a:xfrm>
            <a:off x="4346708" y="2871788"/>
            <a:ext cx="1392238" cy="219075"/>
          </a:xfrm>
          <a:prstGeom prst="straightConnector1">
            <a:avLst/>
          </a:prstGeom>
          <a:noFill/>
          <a:ln cap="flat" cmpd="sng" w="12700">
            <a:solidFill>
              <a:srgbClr val="CC0000">
                <a:alpha val="49803"/>
              </a:srgbClr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15"/>
          <p:cNvCxnSpPr/>
          <p:nvPr/>
        </p:nvCxnSpPr>
        <p:spPr>
          <a:xfrm>
            <a:off x="5824671" y="3154363"/>
            <a:ext cx="533400" cy="976312"/>
          </a:xfrm>
          <a:prstGeom prst="straightConnector1">
            <a:avLst/>
          </a:prstGeom>
          <a:noFill/>
          <a:ln cap="flat" cmpd="sng" w="12700">
            <a:solidFill>
              <a:srgbClr val="CC0000">
                <a:alpha val="49803"/>
              </a:srgbClr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75" name="Google Shape;775;p15"/>
          <p:cNvSpPr txBox="1"/>
          <p:nvPr/>
        </p:nvSpPr>
        <p:spPr>
          <a:xfrm>
            <a:off x="4118108" y="2173288"/>
            <a:ext cx="27146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76" name="Google Shape;776;p15"/>
          <p:cNvSpPr txBox="1"/>
          <p:nvPr/>
        </p:nvSpPr>
        <p:spPr>
          <a:xfrm>
            <a:off x="3649796" y="2419350"/>
            <a:ext cx="2730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77" name="Google Shape;777;p15"/>
          <p:cNvSpPr txBox="1"/>
          <p:nvPr/>
        </p:nvSpPr>
        <p:spPr>
          <a:xfrm>
            <a:off x="4018096" y="2790894"/>
            <a:ext cx="269875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78" name="Google Shape;778;p15"/>
          <p:cNvSpPr txBox="1"/>
          <p:nvPr/>
        </p:nvSpPr>
        <p:spPr>
          <a:xfrm>
            <a:off x="4495933" y="2687638"/>
            <a:ext cx="274638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79" name="Google Shape;779;p15"/>
          <p:cNvSpPr txBox="1"/>
          <p:nvPr/>
        </p:nvSpPr>
        <p:spPr>
          <a:xfrm>
            <a:off x="4021271" y="4006850"/>
            <a:ext cx="269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80" name="Google Shape;780;p15"/>
          <p:cNvSpPr txBox="1"/>
          <p:nvPr/>
        </p:nvSpPr>
        <p:spPr>
          <a:xfrm>
            <a:off x="3664083" y="4276725"/>
            <a:ext cx="2746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81" name="Google Shape;781;p15"/>
          <p:cNvSpPr txBox="1"/>
          <p:nvPr/>
        </p:nvSpPr>
        <p:spPr>
          <a:xfrm>
            <a:off x="4046671" y="4624388"/>
            <a:ext cx="269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82" name="Google Shape;782;p15"/>
          <p:cNvSpPr txBox="1"/>
          <p:nvPr/>
        </p:nvSpPr>
        <p:spPr>
          <a:xfrm>
            <a:off x="4554671" y="4437063"/>
            <a:ext cx="273050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83" name="Google Shape;783;p15"/>
          <p:cNvSpPr txBox="1"/>
          <p:nvPr/>
        </p:nvSpPr>
        <p:spPr>
          <a:xfrm>
            <a:off x="5811971" y="4089400"/>
            <a:ext cx="269875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84" name="Google Shape;784;p15"/>
          <p:cNvSpPr txBox="1"/>
          <p:nvPr/>
        </p:nvSpPr>
        <p:spPr>
          <a:xfrm>
            <a:off x="5783396" y="4437063"/>
            <a:ext cx="2746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785" name="Google Shape;785;p15"/>
          <p:cNvSpPr txBox="1"/>
          <p:nvPr/>
        </p:nvSpPr>
        <p:spPr>
          <a:xfrm>
            <a:off x="6150108" y="4641850"/>
            <a:ext cx="269875" cy="27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86" name="Google Shape;786;p15"/>
          <p:cNvSpPr txBox="1"/>
          <p:nvPr/>
        </p:nvSpPr>
        <p:spPr>
          <a:xfrm>
            <a:off x="6708908" y="4394200"/>
            <a:ext cx="2746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87" name="Google Shape;787;p15"/>
          <p:cNvSpPr txBox="1"/>
          <p:nvPr/>
        </p:nvSpPr>
        <p:spPr>
          <a:xfrm>
            <a:off x="4469291" y="1666393"/>
            <a:ext cx="8350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Host h6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10.3.0.6</a:t>
            </a:r>
            <a:endParaRPr/>
          </a:p>
        </p:txBody>
      </p:sp>
      <p:grpSp>
        <p:nvGrpSpPr>
          <p:cNvPr id="788" name="Google Shape;788;p15"/>
          <p:cNvGrpSpPr/>
          <p:nvPr/>
        </p:nvGrpSpPr>
        <p:grpSpPr>
          <a:xfrm>
            <a:off x="5400808" y="1862138"/>
            <a:ext cx="1270000" cy="1482725"/>
            <a:chOff x="5418667" y="1587500"/>
            <a:chExt cx="1270000" cy="1481667"/>
          </a:xfrm>
        </p:grpSpPr>
        <p:grpSp>
          <p:nvGrpSpPr>
            <p:cNvPr id="789" name="Google Shape;789;p15"/>
            <p:cNvGrpSpPr/>
            <p:nvPr/>
          </p:nvGrpSpPr>
          <p:grpSpPr>
            <a:xfrm>
              <a:off x="5440087" y="1742411"/>
              <a:ext cx="1047344" cy="1163369"/>
              <a:chOff x="5440087" y="1742411"/>
              <a:chExt cx="1047344" cy="1163369"/>
            </a:xfrm>
          </p:grpSpPr>
          <p:grpSp>
            <p:nvGrpSpPr>
              <p:cNvPr id="790" name="Google Shape;790;p15"/>
              <p:cNvGrpSpPr/>
              <p:nvPr/>
            </p:nvGrpSpPr>
            <p:grpSpPr>
              <a:xfrm>
                <a:off x="5838397" y="2273382"/>
                <a:ext cx="350328" cy="632398"/>
                <a:chOff x="4140" y="429"/>
                <a:chExt cx="1425" cy="2396"/>
              </a:xfrm>
            </p:grpSpPr>
            <p:sp>
              <p:nvSpPr>
                <p:cNvPr id="791" name="Google Shape;791;p15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" name="Google Shape;792;p15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3" name="Google Shape;793;p15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4" name="Google Shape;794;p15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5" name="Google Shape;795;p15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96" name="Google Shape;796;p15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797" name="Google Shape;797;p15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98" name="Google Shape;798;p15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99" name="Google Shape;799;p15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0" name="Google Shape;800;p15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01" name="Google Shape;801;p15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2" name="Google Shape;802;p15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3" name="Google Shape;803;p15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" name="Google Shape;804;p15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5" name="Google Shape;805;p15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06" name="Google Shape;806;p15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7" name="Google Shape;807;p15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08" name="Google Shape;808;p15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09" name="Google Shape;809;p15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10" name="Google Shape;810;p15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1" name="Google Shape;811;p15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12" name="Google Shape;812;p15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" name="Google Shape;813;p15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" name="Google Shape;814;p15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" name="Google Shape;815;p15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" name="Google Shape;816;p15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" name="Google Shape;817;p15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" name="Google Shape;818;p15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9" name="Google Shape;819;p15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" name="Google Shape;820;p15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" name="Google Shape;821;p15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2" name="Google Shape;822;p15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823" name="Google Shape;823;p1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440087" y="1742411"/>
                <a:ext cx="1039824" cy="3097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4" name="Google Shape;824;p15"/>
              <p:cNvSpPr txBox="1"/>
              <p:nvPr/>
            </p:nvSpPr>
            <p:spPr>
              <a:xfrm>
                <a:off x="5558972" y="1947149"/>
                <a:ext cx="928459" cy="584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controller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5" name="Google Shape;825;p15"/>
            <p:cNvSpPr/>
            <p:nvPr/>
          </p:nvSpPr>
          <p:spPr>
            <a:xfrm>
              <a:off x="5418667" y="1587500"/>
              <a:ext cx="1270000" cy="1481667"/>
            </a:xfrm>
            <a:prstGeom prst="rect">
              <a:avLst/>
            </a:prstGeom>
            <a:solidFill>
              <a:srgbClr val="FFFFFF">
                <a:alpha val="6549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6" name="Google Shape;826;p15"/>
          <p:cNvGrpSpPr/>
          <p:nvPr/>
        </p:nvGrpSpPr>
        <p:grpSpPr>
          <a:xfrm>
            <a:off x="3869633" y="4253948"/>
            <a:ext cx="728870" cy="410817"/>
            <a:chOff x="7493876" y="2774731"/>
            <a:chExt cx="1481958" cy="894622"/>
          </a:xfrm>
        </p:grpSpPr>
        <p:sp>
          <p:nvSpPr>
            <p:cNvPr id="827" name="Google Shape;827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9" name="Google Shape;829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0" name="Google Shape;830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4" name="Google Shape;834;p15"/>
          <p:cNvGrpSpPr/>
          <p:nvPr/>
        </p:nvGrpSpPr>
        <p:grpSpPr>
          <a:xfrm>
            <a:off x="6009859" y="4287078"/>
            <a:ext cx="728870" cy="410817"/>
            <a:chOff x="7493876" y="2774731"/>
            <a:chExt cx="1481958" cy="894622"/>
          </a:xfrm>
        </p:grpSpPr>
        <p:sp>
          <p:nvSpPr>
            <p:cNvPr id="835" name="Google Shape;835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7" name="Google Shape;837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8" name="Google Shape;838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2" name="Google Shape;842;p15"/>
          <p:cNvGrpSpPr/>
          <p:nvPr/>
        </p:nvGrpSpPr>
        <p:grpSpPr>
          <a:xfrm>
            <a:off x="3882885" y="2411896"/>
            <a:ext cx="728870" cy="410817"/>
            <a:chOff x="7493876" y="2774731"/>
            <a:chExt cx="1481958" cy="894622"/>
          </a:xfrm>
        </p:grpSpPr>
        <p:sp>
          <p:nvSpPr>
            <p:cNvPr id="843" name="Google Shape;843;p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5" name="Google Shape;845;p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6" name="Google Shape;846;p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50" name="Google Shape;850;p15"/>
          <p:cNvSpPr txBox="1"/>
          <p:nvPr/>
        </p:nvSpPr>
        <p:spPr>
          <a:xfrm>
            <a:off x="7200353" y="1519586"/>
            <a:ext cx="4619940" cy="2111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Orchestrated tables can create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network-wide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behavior, e.g.,: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datagrams from hosts h5 and h6 should be sent to h3 or h4, via s1 and from there to s2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6"/>
          <p:cNvSpPr txBox="1"/>
          <p:nvPr>
            <p:ph type="title"/>
          </p:nvPr>
        </p:nvSpPr>
        <p:spPr>
          <a:xfrm>
            <a:off x="838199" y="279543"/>
            <a:ext cx="1084711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800"/>
              <a:buFont typeface="Calibri"/>
              <a:buNone/>
            </a:pPr>
            <a:r>
              <a:rPr b="0" lang="en-US" sz="4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Generalized forwarding: summary</a:t>
            </a:r>
            <a:endParaRPr/>
          </a:p>
        </p:txBody>
      </p:sp>
      <p:sp>
        <p:nvSpPr>
          <p:cNvPr id="857" name="Google Shape;857;p16"/>
          <p:cNvSpPr txBox="1"/>
          <p:nvPr/>
        </p:nvSpPr>
        <p:spPr>
          <a:xfrm>
            <a:off x="764316" y="1301513"/>
            <a:ext cx="11259652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7813" lvl="0" marL="288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“match plus action”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abstraction: match bits in arriving packet header(s) in any layers, take action</a:t>
            </a:r>
            <a:endParaRPr/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matching over many fields (link-, network-, transport-layer)</a:t>
            </a:r>
            <a:endParaRPr/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actions: drop, forward, modify, or send matched packet to controller</a:t>
            </a:r>
            <a:endParaRPr/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“program” n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etwork-wide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behaviors</a:t>
            </a:r>
            <a:endParaRPr/>
          </a:p>
          <a:p>
            <a:pPr indent="-311150" lvl="0" marL="31115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form of “network programmability”</a:t>
            </a:r>
            <a:endParaRPr/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programmable, per-packet “processing”</a:t>
            </a:r>
            <a:endParaRPr/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historical roots: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 networking</a:t>
            </a:r>
            <a:endParaRPr/>
          </a:p>
          <a:p>
            <a:pPr indent="-2921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generalized programming: </a:t>
            </a:r>
            <a:endParaRPr/>
          </a:p>
          <a:p>
            <a:pPr indent="0" lvl="1" marL="6223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P4 (see p4.org).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7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grpSp>
        <p:nvGrpSpPr>
          <p:cNvPr id="864" name="Google Shape;864;p17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865" name="Google Shape;86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6" name="Google Shape;866;p17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867" name="Google Shape;867;p17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868" name="Google Shape;868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9" name="Google Shape;869;p17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0" name="Google Shape;870;p17"/>
          <p:cNvSpPr txBox="1"/>
          <p:nvPr/>
        </p:nvSpPr>
        <p:spPr>
          <a:xfrm>
            <a:off x="518511" y="2492753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Overview of Network Layer</a:t>
            </a: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What’s Inside a Router?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The Internet Protocol: IPv4, Addressing, NAT IPv6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Generalized Forwarding and SDN 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match+action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OpenFlow: match+action in action</a:t>
            </a:r>
            <a:endParaRPr b="0" i="0" sz="24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Middleboxes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28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