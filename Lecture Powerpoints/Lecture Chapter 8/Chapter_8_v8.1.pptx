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y="6858000" cx="12192000"/>
  <p:notesSz cx="6858000" cy="9144000"/>
  <p:embeddedFontLst>
    <p:embeddedFont>
      <p:font typeface="Arimo"/>
      <p:regular r:id="rId120"/>
      <p:bold r:id="rId121"/>
      <p:italic r:id="rId122"/>
      <p:boldItalic r:id="rId123"/>
    </p:embeddedFont>
    <p:embeddedFont>
      <p:font typeface="Gill Sans"/>
      <p:regular r:id="rId124"/>
      <p:bold r:id="rId1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A4A3A4"/>
          </p15:clr>
        </p15:guide>
        <p15:guide id="2" orient="horz" pos="12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135BA7-2E80-49A5-8662-528F6C81CF3C}">
  <a:tblStyle styleId="{B7135BA7-2E80-49A5-8662-528F6C81CF3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12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Arimo-bold.fntdata"/><Relationship Id="rId25" Type="http://schemas.openxmlformats.org/officeDocument/2006/relationships/slide" Target="slides/slide19.xml"/><Relationship Id="rId120" Type="http://schemas.openxmlformats.org/officeDocument/2006/relationships/font" Target="fonts/Arim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GillSans-bold.fntdata"/><Relationship Id="rId29" Type="http://schemas.openxmlformats.org/officeDocument/2006/relationships/slide" Target="slides/slide23.xml"/><Relationship Id="rId124" Type="http://schemas.openxmlformats.org/officeDocument/2006/relationships/font" Target="fonts/GillSans-regular.fntdata"/><Relationship Id="rId123" Type="http://schemas.openxmlformats.org/officeDocument/2006/relationships/font" Target="fonts/Arimo-boldItalic.fntdata"/><Relationship Id="rId122" Type="http://schemas.openxmlformats.org/officeDocument/2006/relationships/font" Target="fonts/Arimo-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(May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wireless security completely redone (updated WiFi and added 4G/5G)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SSL material replaces by TLS 1.3 (up-to-date)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V8.2 (Feb 2022)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Minor corrections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0" name="Google Shape;93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6" name="Google Shape;99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" name="Google Shape;101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0" name="Google Shape;112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8" name="Google Shape;1238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8" name="Google Shape;124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3" name="Google Shape;129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1" name="Google Shape;1331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0" name="Google Shape;134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5" name="Google Shape;1415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6" name="Google Shape;1416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0" name="Google Shape;149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3" name="Google Shape;156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7" name="Google Shape;163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6" name="Google Shape;1646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8" name="Google Shape;1658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0" name="Google Shape;1670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0" name="Google Shape;1680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5" name="Google Shape;171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5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7" name="Google Shape;172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7" name="Google Shape;1747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7" name="Google Shape;1757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9" name="Google Shape;177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3" name="Google Shape;1823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4" name="Google Shape;1824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1" name="Google Shape;1831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3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5" name="Google Shape;1915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3" name="Google Shape;197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2" name="Google Shape;198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1" name="Google Shape;2111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7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9" name="Google Shape;211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2" name="Google Shape;2172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6" name="Google Shape;2206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9" name="Google Shape;2289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229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7" name="Google Shape;2297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0" name="Google Shape;2310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9" name="Google Shape;2319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5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Google Shape;2326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7" name="Google Shape;2327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8" name="Google Shape;2328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5" name="Google Shape;2335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3" name="Google Shape;2343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4" name="Google Shape;2344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1" name="Google Shape;2351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2" name="Google Shape;2352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Google Shape;2359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0" name="Google Shape;2360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6" name="Google Shape;2426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0" name="Google Shape;2500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3" name="Google Shape;258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8" name="Shape 2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9" name="Google Shape;2659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0" name="Google Shape;2660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7" name="Shape 2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8" name="Google Shape;2748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9" name="Google Shape;2749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0" name="Google Shape;2750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0" name="Shape 2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1" name="Google Shape;2841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2" name="Google Shape;2842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0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2" name="Google Shape;2912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3" name="Google Shape;2913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9" name="Shape 2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0" name="Google Shape;2920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1" name="Google Shape;2921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2" name="Google Shape;2922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4" name="Shape 2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5" name="Google Shape;2995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6" name="Google Shape;2996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7" name="Google Shape;2997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2" name="Shape 3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3" name="Google Shape;3083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4" name="Google Shape;3084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5" name="Google Shape;3085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8" name="Shape 3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Google Shape;3189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0" name="Google Shape;3190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1" name="Google Shape;3191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4" name="Google Shape;3304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5" name="Google Shape;3305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4" name="Shape 3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5" name="Google Shape;3425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6" name="Google Shape;3426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7" name="Google Shape;3427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3" name="Shape 3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4" name="Google Shape;3554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5" name="Google Shape;3555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6" name="Google Shape;3556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7" name="Shape 3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8" name="Google Shape;3688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9" name="Google Shape;3689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0" name="Google Shape;3690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7" name="Shape 3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" name="Google Shape;3698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9" name="Google Shape;3699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0" name="Google Shape;3700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6" name="Shape 3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7" name="Google Shape;3707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8" name="Google Shape;3708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9" name="Google Shape;3709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8" name="Shape 3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9" name="Google Shape;3969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0" name="Google Shape;3970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1" name="Google Shape;3971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6" name="Shape 3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7" name="Google Shape;3977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8" name="Google Shape;3978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9" name="Google Shape;3979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0" name="Shape 4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1" name="Google Shape;4121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2" name="Google Shape;4122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3" name="Google Shape;4123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3" name="Shape 4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4" name="Google Shape;4264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5" name="Google Shape;4265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6" name="Google Shape;4266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1" name="Shape 4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2" name="Google Shape;4272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3" name="Google Shape;4273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4" name="Google Shape;4274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0" name="Shape 4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1" name="Google Shape;4281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2" name="Google Shape;4282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3" name="Google Shape;4283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0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1" name="Google Shape;4291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2" name="Google Shape;4292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3" name="Google Shape;4293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0" name="Shape 4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" name="Google Shape;4301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2" name="Google Shape;4302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3" name="Google Shape;4303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1" name="Shape 4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2" name="Google Shape;4432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3" name="Google Shape;4433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4" name="Google Shape;4434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0" name="Shape 4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1" name="Google Shape;4441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2" name="Google Shape;4442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3" name="Google Shape;4443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8" name="Shape 4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9" name="Google Shape;4449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0" name="Google Shape;4450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1" name="Google Shape;4451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6" name="Shape 4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7" name="Google Shape;4777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8" name="Google Shape;4778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9" name="Google Shape;4779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5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1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1.png"/><Relationship Id="rId4" Type="http://schemas.openxmlformats.org/officeDocument/2006/relationships/image" Target="../media/image34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11" Type="http://schemas.openxmlformats.org/officeDocument/2006/relationships/image" Target="../media/image48.png"/><Relationship Id="rId10" Type="http://schemas.openxmlformats.org/officeDocument/2006/relationships/image" Target="../media/image33.png"/><Relationship Id="rId9" Type="http://schemas.openxmlformats.org/officeDocument/2006/relationships/image" Target="../media/image5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11" Type="http://schemas.openxmlformats.org/officeDocument/2006/relationships/image" Target="../media/image48.png"/><Relationship Id="rId10" Type="http://schemas.openxmlformats.org/officeDocument/2006/relationships/image" Target="../media/image33.png"/><Relationship Id="rId9" Type="http://schemas.openxmlformats.org/officeDocument/2006/relationships/image" Target="../media/image5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11" Type="http://schemas.openxmlformats.org/officeDocument/2006/relationships/image" Target="../media/image48.png"/><Relationship Id="rId10" Type="http://schemas.openxmlformats.org/officeDocument/2006/relationships/image" Target="../media/image33.png"/><Relationship Id="rId9" Type="http://schemas.openxmlformats.org/officeDocument/2006/relationships/image" Target="../media/image5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0.png"/><Relationship Id="rId4" Type="http://schemas.openxmlformats.org/officeDocument/2006/relationships/image" Target="../media/image51.png"/><Relationship Id="rId5" Type="http://schemas.openxmlformats.org/officeDocument/2006/relationships/image" Target="../media/image14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11" Type="http://schemas.openxmlformats.org/officeDocument/2006/relationships/image" Target="../media/image48.png"/><Relationship Id="rId10" Type="http://schemas.openxmlformats.org/officeDocument/2006/relationships/image" Target="../media/image33.png"/><Relationship Id="rId9" Type="http://schemas.openxmlformats.org/officeDocument/2006/relationships/image" Target="../media/image5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11" Type="http://schemas.openxmlformats.org/officeDocument/2006/relationships/image" Target="../media/image48.png"/><Relationship Id="rId10" Type="http://schemas.openxmlformats.org/officeDocument/2006/relationships/image" Target="../media/image33.png"/><Relationship Id="rId9" Type="http://schemas.openxmlformats.org/officeDocument/2006/relationships/image" Target="../media/image5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0.png"/><Relationship Id="rId4" Type="http://schemas.openxmlformats.org/officeDocument/2006/relationships/image" Target="../media/image51.png"/><Relationship Id="rId5" Type="http://schemas.openxmlformats.org/officeDocument/2006/relationships/image" Target="../media/image33.png"/><Relationship Id="rId6" Type="http://schemas.openxmlformats.org/officeDocument/2006/relationships/image" Target="../media/image48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14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14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1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14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14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14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6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53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3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53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53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53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8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1996-2023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Security: overview</a:t>
            </a:r>
            <a:endParaRPr sz="4400"/>
          </a:p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867032" y="1295400"/>
            <a:ext cx="832167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Chapter goals: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principles of network security: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cryptography and 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uses beyond “confidentiality”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practice: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firewalls and intrusion detection systems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application, transport, network, link layers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53" name="Google Shape;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4" name="Google Shape;54;p8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1199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integrity,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 is network security?</a:t>
            </a:r>
            <a:endParaRPr sz="4400"/>
          </a:p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768178" y="1333500"/>
            <a:ext cx="10562431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sender, intended receiver should “understand” message contents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encrypts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decrypts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sender, receiver want to confirm identity of each other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sender, receiver want to ensure message not altered (in transit, or afterwards) without detection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access and availability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 must be accessible and available to users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0"/>
          <p:cNvGrpSpPr/>
          <p:nvPr/>
        </p:nvGrpSpPr>
        <p:grpSpPr>
          <a:xfrm>
            <a:off x="4313903" y="4515085"/>
            <a:ext cx="1909916" cy="306675"/>
            <a:chOff x="1616358" y="2551230"/>
            <a:chExt cx="2141698" cy="218510"/>
          </a:xfrm>
        </p:grpSpPr>
        <p:sp>
          <p:nvSpPr>
            <p:cNvPr id="70" name="Google Shape;70;p10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0"/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0"/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>
              <a:gsLst>
                <a:gs pos="0">
                  <a:srgbClr val="011199"/>
                </a:gs>
                <a:gs pos="50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0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Friends and enemies: Alice, Bob, Trudy</a:t>
            </a:r>
            <a:endParaRPr sz="4400"/>
          </a:p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0"/>
          <p:cNvSpPr txBox="1"/>
          <p:nvPr/>
        </p:nvSpPr>
        <p:spPr>
          <a:xfrm>
            <a:off x="990600" y="1341783"/>
            <a:ext cx="8142288" cy="161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well-known in network security world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Bob, Alice (lovers!) want to communicate “securely”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(intruder) may intercept, delete, add messages</a:t>
            </a:r>
            <a:endParaRPr/>
          </a:p>
        </p:txBody>
      </p:sp>
      <p:pic>
        <p:nvPicPr>
          <p:cNvPr descr="Alice"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0559" y="3421063"/>
            <a:ext cx="698500" cy="862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8" name="Google Shape;7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4434" y="3468688"/>
            <a:ext cx="812800" cy="830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79" name="Google Shape;7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1097" y="5387975"/>
            <a:ext cx="10826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/>
          <p:nvPr/>
        </p:nvSpPr>
        <p:spPr>
          <a:xfrm>
            <a:off x="2700959" y="4256088"/>
            <a:ext cx="1293813" cy="8032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 txBox="1"/>
          <p:nvPr/>
        </p:nvSpPr>
        <p:spPr>
          <a:xfrm>
            <a:off x="2828511" y="4246492"/>
            <a:ext cx="104387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endParaRPr/>
          </a:p>
        </p:txBody>
      </p:sp>
      <p:grpSp>
        <p:nvGrpSpPr>
          <p:cNvPr id="82" name="Google Shape;82;p10"/>
          <p:cNvGrpSpPr/>
          <p:nvPr/>
        </p:nvGrpSpPr>
        <p:grpSpPr>
          <a:xfrm>
            <a:off x="6455950" y="4272446"/>
            <a:ext cx="1293812" cy="839374"/>
            <a:chOff x="7224576" y="4365211"/>
            <a:chExt cx="1293812" cy="839374"/>
          </a:xfrm>
        </p:grpSpPr>
        <p:sp>
          <p:nvSpPr>
            <p:cNvPr id="83" name="Google Shape;83;p10"/>
            <p:cNvSpPr/>
            <p:nvPr/>
          </p:nvSpPr>
          <p:spPr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0"/>
            <p:cNvSpPr txBox="1"/>
            <p:nvPr/>
          </p:nvSpPr>
          <p:spPr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secure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receiver</a:t>
              </a:r>
              <a:endParaRPr/>
            </a:p>
          </p:txBody>
        </p:sp>
      </p:grpSp>
      <p:sp>
        <p:nvSpPr>
          <p:cNvPr id="85" name="Google Shape;85;p10"/>
          <p:cNvSpPr txBox="1"/>
          <p:nvPr/>
        </p:nvSpPr>
        <p:spPr>
          <a:xfrm>
            <a:off x="3715372" y="3511550"/>
            <a:ext cx="11721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</a:t>
            </a:r>
            <a:endParaRPr/>
          </a:p>
        </p:txBody>
      </p:sp>
      <p:cxnSp>
        <p:nvCxnSpPr>
          <p:cNvPr id="86" name="Google Shape;86;p10"/>
          <p:cNvCxnSpPr/>
          <p:nvPr/>
        </p:nvCxnSpPr>
        <p:spPr>
          <a:xfrm>
            <a:off x="4431334" y="3933825"/>
            <a:ext cx="238125" cy="449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0"/>
          <p:cNvCxnSpPr/>
          <p:nvPr/>
        </p:nvCxnSpPr>
        <p:spPr>
          <a:xfrm>
            <a:off x="4037634" y="4667250"/>
            <a:ext cx="2460625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" name="Google Shape;88;p10"/>
          <p:cNvSpPr txBox="1"/>
          <p:nvPr/>
        </p:nvSpPr>
        <p:spPr>
          <a:xfrm>
            <a:off x="4863134" y="3468688"/>
            <a:ext cx="18891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data, control messages</a:t>
            </a:r>
            <a:endParaRPr/>
          </a:p>
        </p:txBody>
      </p:sp>
      <p:cxnSp>
        <p:nvCxnSpPr>
          <p:cNvPr id="89" name="Google Shape;89;p10"/>
          <p:cNvCxnSpPr/>
          <p:nvPr/>
        </p:nvCxnSpPr>
        <p:spPr>
          <a:xfrm>
            <a:off x="5709272" y="4086225"/>
            <a:ext cx="223837" cy="517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0"/>
          <p:cNvSpPr/>
          <p:nvPr/>
        </p:nvSpPr>
        <p:spPr>
          <a:xfrm>
            <a:off x="4517059" y="4765930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 flipH="1">
            <a:off x="5191747" y="4779090"/>
            <a:ext cx="573087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0"/>
          <p:cNvCxnSpPr/>
          <p:nvPr/>
        </p:nvCxnSpPr>
        <p:spPr>
          <a:xfrm>
            <a:off x="1824147" y="4644462"/>
            <a:ext cx="814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0"/>
          <p:cNvSpPr txBox="1"/>
          <p:nvPr/>
        </p:nvSpPr>
        <p:spPr>
          <a:xfrm>
            <a:off x="1196931" y="4440955"/>
            <a:ext cx="7374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cxnSp>
        <p:nvCxnSpPr>
          <p:cNvPr id="94" name="Google Shape;94;p10"/>
          <p:cNvCxnSpPr/>
          <p:nvPr/>
        </p:nvCxnSpPr>
        <p:spPr>
          <a:xfrm>
            <a:off x="7852447" y="4673293"/>
            <a:ext cx="814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0"/>
          <p:cNvSpPr txBox="1"/>
          <p:nvPr/>
        </p:nvSpPr>
        <p:spPr>
          <a:xfrm>
            <a:off x="8617725" y="4462411"/>
            <a:ext cx="7374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1271519" y="3564145"/>
            <a:ext cx="787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8426175" y="3548753"/>
            <a:ext cx="7585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sp>
        <p:nvSpPr>
          <p:cNvPr id="98" name="Google Shape;98;p10"/>
          <p:cNvSpPr txBox="1"/>
          <p:nvPr/>
        </p:nvSpPr>
        <p:spPr>
          <a:xfrm>
            <a:off x="4021759" y="5778500"/>
            <a:ext cx="8869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Trudy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Friends and enemies: Alice, Bob, Trudy</a:t>
            </a:r>
            <a:endParaRPr sz="4400"/>
          </a:p>
        </p:txBody>
      </p:sp>
      <p:sp>
        <p:nvSpPr>
          <p:cNvPr id="105" name="Google Shape;105;p11"/>
          <p:cNvSpPr txBox="1"/>
          <p:nvPr/>
        </p:nvSpPr>
        <p:spPr>
          <a:xfrm>
            <a:off x="884582" y="1480929"/>
            <a:ext cx="11082130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7475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might Bob and Alice be?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well,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real-life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Bobs and Alices!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browser/server for electronic transactions (e.g., on-line purchases)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on-line banking client/server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servers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routers exchanging routing table updates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examples?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There are bad guys (and girls) out there!</a:t>
            </a:r>
            <a:endParaRPr sz="4400"/>
          </a:p>
        </p:txBody>
      </p:sp>
      <p:sp>
        <p:nvSpPr>
          <p:cNvPr id="112" name="Google Shape;112;p12"/>
          <p:cNvSpPr txBox="1"/>
          <p:nvPr/>
        </p:nvSpPr>
        <p:spPr>
          <a:xfrm>
            <a:off x="990600" y="1494181"/>
            <a:ext cx="10578548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a “bad guy” do?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lot! (recall section 1.6)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eavesdrop: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intercept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actively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messages into connection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impersonation: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fake (spoof) source address in packet (or any field in packet)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hijacking: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“take over” ongoing connection by removing sender or receiver, inserting himself in place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denial of service: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service from being used by others (e.g.,  by overloading resources)</a:t>
            </a:r>
            <a:endParaRPr/>
          </a:p>
          <a:p>
            <a:pPr indent="-730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19" name="Google Shape;1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20" name="Google Shape;120;p13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integrity,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language of cryptography</a:t>
            </a:r>
            <a:endParaRPr sz="4400"/>
          </a:p>
        </p:txBody>
      </p:sp>
      <p:sp>
        <p:nvSpPr>
          <p:cNvPr id="128" name="Google Shape;128;p14"/>
          <p:cNvSpPr txBox="1"/>
          <p:nvPr/>
        </p:nvSpPr>
        <p:spPr>
          <a:xfrm>
            <a:off x="1519721" y="4692444"/>
            <a:ext cx="8218488" cy="158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plaintext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(m):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ciphertext, encrypted with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 = 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(m))</a:t>
            </a:r>
            <a:endParaRPr baseline="-25000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585013" y="2641910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469521" y="2644056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4834627" y="2648985"/>
            <a:ext cx="1455738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/>
          </a:p>
        </p:txBody>
      </p:sp>
      <p:grpSp>
        <p:nvGrpSpPr>
          <p:cNvPr id="132" name="Google Shape;132;p14"/>
          <p:cNvGrpSpPr/>
          <p:nvPr/>
        </p:nvGrpSpPr>
        <p:grpSpPr>
          <a:xfrm>
            <a:off x="3193706" y="1762818"/>
            <a:ext cx="509588" cy="582613"/>
            <a:chOff x="203" y="1789"/>
            <a:chExt cx="321" cy="367"/>
          </a:xfrm>
        </p:grpSpPr>
        <p:sp>
          <p:nvSpPr>
            <p:cNvPr id="133" name="Google Shape;133;p14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34" name="Google Shape;134;p14"/>
            <p:cNvSpPr txBox="1"/>
            <p:nvPr/>
          </p:nvSpPr>
          <p:spPr>
            <a:xfrm>
              <a:off x="296" y="1865"/>
              <a:ext cx="22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pic>
        <p:nvPicPr>
          <p:cNvPr descr="Alice" id="135" name="Google Shape;1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87" y="1706149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136" name="Google Shape;13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7344" y="3555104"/>
            <a:ext cx="10826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/>
          <p:nvPr/>
        </p:nvSpPr>
        <p:spPr>
          <a:xfrm>
            <a:off x="3033369" y="2691503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2966694" y="2759766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6775106" y="2705791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6702081" y="2770878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4933606" y="3156641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 flipH="1">
            <a:off x="5608294" y="3155054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3674719" y="1529453"/>
            <a:ext cx="1824038" cy="985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7327556" y="1597716"/>
            <a:ext cx="1657350" cy="985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decryption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</p:txBody>
      </p:sp>
      <p:pic>
        <p:nvPicPr>
          <p:cNvPr descr="Bob" id="145" name="Google Shape;1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0583" y="1802434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4"/>
          <p:cNvGrpSpPr/>
          <p:nvPr/>
        </p:nvGrpSpPr>
        <p:grpSpPr>
          <a:xfrm>
            <a:off x="6867181" y="1892991"/>
            <a:ext cx="501650" cy="568325"/>
            <a:chOff x="203" y="1789"/>
            <a:chExt cx="316" cy="358"/>
          </a:xfrm>
        </p:grpSpPr>
        <p:sp>
          <p:nvSpPr>
            <p:cNvPr id="147" name="Google Shape;147;p14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48" name="Google Shape;148;p14"/>
            <p:cNvSpPr txBox="1"/>
            <p:nvPr/>
          </p:nvSpPr>
          <p:spPr>
            <a:xfrm>
              <a:off x="298" y="1856"/>
              <a:ext cx="22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pic>
        <p:nvPicPr>
          <p:cNvPr descr="BS00768_[1]" id="149" name="Google Shape;14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3227044" y="1540566"/>
            <a:ext cx="465138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50" name="Google Shape;15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6805269" y="1634228"/>
            <a:ext cx="465138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14"/>
          <p:cNvCxnSpPr/>
          <p:nvPr/>
        </p:nvCxnSpPr>
        <p:spPr>
          <a:xfrm>
            <a:off x="7027307" y="2279113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14"/>
          <p:cNvCxnSpPr/>
          <p:nvPr/>
        </p:nvCxnSpPr>
        <p:spPr>
          <a:xfrm>
            <a:off x="3346434" y="2238402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" name="Google Shape;153;p14"/>
          <p:cNvCxnSpPr/>
          <p:nvPr/>
        </p:nvCxnSpPr>
        <p:spPr>
          <a:xfrm>
            <a:off x="2081048" y="3144094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" name="Google Shape;154;p14"/>
          <p:cNvCxnSpPr/>
          <p:nvPr/>
        </p:nvCxnSpPr>
        <p:spPr>
          <a:xfrm>
            <a:off x="8355952" y="3124216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" name="Google Shape;155;p14"/>
          <p:cNvCxnSpPr/>
          <p:nvPr/>
        </p:nvCxnSpPr>
        <p:spPr>
          <a:xfrm>
            <a:off x="4550646" y="3089705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Breaking an encryption scheme</a:t>
            </a:r>
            <a:endParaRPr sz="4400"/>
          </a:p>
        </p:txBody>
      </p:sp>
      <p:sp>
        <p:nvSpPr>
          <p:cNvPr id="163" name="Google Shape;163;p15"/>
          <p:cNvSpPr txBox="1"/>
          <p:nvPr/>
        </p:nvSpPr>
        <p:spPr>
          <a:xfrm>
            <a:off x="758686" y="1586949"/>
            <a:ext cx="50060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cipher-text only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has ciphertext she can analyze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two approaches: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 force: search through all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analysis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374295" y="1586950"/>
            <a:ext cx="51816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known-plaintext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has plaintext corresponding to ciphertext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monoalphabetic cipher, Trudy determines pairings for a,l,i,c,e,b,o,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chosen-plaintext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can get ciphertext for chosen plaintext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Symmetric key cryptography</a:t>
            </a:r>
            <a:endParaRPr sz="4400"/>
          </a:p>
        </p:txBody>
      </p:sp>
      <p:sp>
        <p:nvSpPr>
          <p:cNvPr id="172" name="Google Shape;172;p16"/>
          <p:cNvSpPr txBox="1"/>
          <p:nvPr/>
        </p:nvSpPr>
        <p:spPr>
          <a:xfrm>
            <a:off x="1585013" y="2469633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469521" y="2471779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>
            <a:off x="3697289" y="1564035"/>
            <a:ext cx="490538" cy="582613"/>
            <a:chOff x="203" y="1789"/>
            <a:chExt cx="309" cy="367"/>
          </a:xfrm>
        </p:grpSpPr>
        <p:sp>
          <p:nvSpPr>
            <p:cNvPr id="175" name="Google Shape;175;p16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307" y="1865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</p:grpSp>
      <p:pic>
        <p:nvPicPr>
          <p:cNvPr descr="Alice"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87" y="1533872"/>
            <a:ext cx="698500" cy="86201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/>
          <p:nvPr/>
        </p:nvSpPr>
        <p:spPr>
          <a:xfrm>
            <a:off x="3033369" y="2519226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2966694" y="2587489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6775106" y="2533514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6702081" y="2598601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pic>
        <p:nvPicPr>
          <p:cNvPr descr="Bob" id="182" name="Google Shape;1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0583" y="1630157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6"/>
          <p:cNvGrpSpPr/>
          <p:nvPr/>
        </p:nvGrpSpPr>
        <p:grpSpPr>
          <a:xfrm>
            <a:off x="7437023" y="1561686"/>
            <a:ext cx="488950" cy="568325"/>
            <a:chOff x="203" y="1789"/>
            <a:chExt cx="308" cy="358"/>
          </a:xfrm>
        </p:grpSpPr>
        <p:sp>
          <p:nvSpPr>
            <p:cNvPr id="184" name="Google Shape;184;p16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306" y="1856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</p:grpSp>
      <p:pic>
        <p:nvPicPr>
          <p:cNvPr descr="BS00768_[1]" id="186" name="Google Shape;1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227044" y="1686340"/>
            <a:ext cx="465138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87" name="Google Shape;18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6898033" y="1740245"/>
            <a:ext cx="465138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6"/>
          <p:cNvCxnSpPr/>
          <p:nvPr/>
        </p:nvCxnSpPr>
        <p:spPr>
          <a:xfrm>
            <a:off x="7027307" y="2106836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" name="Google Shape;189;p16"/>
          <p:cNvCxnSpPr/>
          <p:nvPr/>
        </p:nvCxnSpPr>
        <p:spPr>
          <a:xfrm>
            <a:off x="3346434" y="2066125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" name="Google Shape;190;p16"/>
          <p:cNvCxnSpPr/>
          <p:nvPr/>
        </p:nvCxnSpPr>
        <p:spPr>
          <a:xfrm>
            <a:off x="2081048" y="2971817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" name="Google Shape;191;p16"/>
          <p:cNvCxnSpPr/>
          <p:nvPr/>
        </p:nvCxnSpPr>
        <p:spPr>
          <a:xfrm>
            <a:off x="8355952" y="2951939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2" name="Google Shape;192;p16"/>
          <p:cNvCxnSpPr/>
          <p:nvPr/>
        </p:nvCxnSpPr>
        <p:spPr>
          <a:xfrm>
            <a:off x="4550646" y="2917428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3" name="Google Shape;193;p16"/>
          <p:cNvSpPr txBox="1"/>
          <p:nvPr/>
        </p:nvSpPr>
        <p:spPr>
          <a:xfrm>
            <a:off x="4834627" y="2476708"/>
            <a:ext cx="14557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4942640" y="2924315"/>
            <a:ext cx="10390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  (m)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5160333" y="3116403"/>
            <a:ext cx="3257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90600" y="3968128"/>
            <a:ext cx="10538791" cy="2432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symmetric key crypto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Bob and Alice share same (symmetric) key: 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is knowing substitution pattern in mono alphabetic substitution cipher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Bob and Alice agree on key value?</a:t>
            </a:r>
            <a:endParaRPr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Simple encryption scheme</a:t>
            </a:r>
            <a:endParaRPr sz="4400"/>
          </a:p>
        </p:txBody>
      </p:sp>
      <p:sp>
        <p:nvSpPr>
          <p:cNvPr id="204" name="Google Shape;204;p17"/>
          <p:cNvSpPr txBox="1"/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substitution cipher: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substituting one thing for another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monoalphabetic cipher: substitute one letter for another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plaintext:  abcdefghijklmnopqrstuvwxyz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ciphertext:  mnbvcxzasdfghjklpoiuytrewq</a:t>
            </a:r>
            <a:endParaRPr/>
          </a:p>
        </p:txBody>
      </p:sp>
      <p:cxnSp>
        <p:nvCxnSpPr>
          <p:cNvPr id="207" name="Google Shape;207;p17"/>
          <p:cNvCxnSpPr/>
          <p:nvPr/>
        </p:nvCxnSpPr>
        <p:spPr>
          <a:xfrm>
            <a:off x="4133298" y="2872755"/>
            <a:ext cx="0" cy="49371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17"/>
          <p:cNvCxnSpPr/>
          <p:nvPr/>
        </p:nvCxnSpPr>
        <p:spPr>
          <a:xfrm>
            <a:off x="8706886" y="2836242"/>
            <a:ext cx="0" cy="49371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17"/>
          <p:cNvSpPr/>
          <p:nvPr/>
        </p:nvSpPr>
        <p:spPr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Plaintext: bob. i love you. alice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ciphertext: nkn. s gktc wky. mgsbc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e.g.: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Encryption key: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 from set of 26 letters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to set of 26 letters</a:t>
            </a:r>
            <a:endParaRPr/>
          </a:p>
        </p:txBody>
      </p:sp>
      <p:pic>
        <p:nvPicPr>
          <p:cNvPr descr="BS00768_[1]"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more sophisticated encryption approach</a:t>
            </a:r>
            <a:endParaRPr sz="4400"/>
          </a:p>
        </p:txBody>
      </p:sp>
      <p:sp>
        <p:nvSpPr>
          <p:cNvPr id="221" name="Google Shape;221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90173" y="1203947"/>
            <a:ext cx="106127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substitution ciphers, 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cycling pattern: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e.g., n=4: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;  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new plaintext symbol, use subsequent substitution pattern in cyclic pattern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dog: d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 o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 g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t/>
            </a:r>
            <a:endParaRPr b="0" baseline="-25000" i="0" sz="2400" u="none" cap="none" strike="noStrike">
              <a:solidFill>
                <a:srgbClr val="008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Encryption key: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substitution ciphers, and cyclic pattern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need not be just n-bit pattern</a:t>
            </a:r>
            <a:endParaRPr/>
          </a:p>
        </p:txBody>
      </p:sp>
      <p:pic>
        <p:nvPicPr>
          <p:cNvPr descr="BS00768_[1]" id="223" name="Google Shape;2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7624" y="4524997"/>
            <a:ext cx="465137" cy="24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Symmetric key crypto: DES</a:t>
            </a:r>
            <a:endParaRPr sz="4400"/>
          </a:p>
        </p:txBody>
      </p:sp>
      <p:sp>
        <p:nvSpPr>
          <p:cNvPr id="230" name="Google Shape;230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10743" y="1233004"/>
            <a:ext cx="11055970" cy="5008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DES: Data Encryption Standard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encryption standard [NIST 1993]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56-bit symmetric key, 64-bit plaintext input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cipher with cipher block chaining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secure is DES?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Challenge: 56-bit-key-encrypted phrase  decrypted (brute force) in less than a day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known good analytic attack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making DES more secure: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3DES: encrypt 3 times with 3 different keys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AES: Advanced Encryption Standard</a:t>
            </a:r>
            <a:endParaRPr sz="4400"/>
          </a:p>
        </p:txBody>
      </p:sp>
      <p:sp>
        <p:nvSpPr>
          <p:cNvPr id="238" name="Google Shape;238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51452" y="1524000"/>
            <a:ext cx="1067793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symmetric-key NIST standard, replaced DES (Nov 2001)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data in 128 bit blocks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128, 192, or 256 bit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 force decryption (try each key) taking 1 sec on DES, takes 149 trillion years for AES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Cryptography</a:t>
            </a:r>
            <a:endParaRPr sz="4400"/>
          </a:p>
        </p:txBody>
      </p:sp>
      <p:sp>
        <p:nvSpPr>
          <p:cNvPr id="246" name="Google Shape;246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89070" y="1614418"/>
            <a:ext cx="449131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symmetric key crypto: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sender, receiver know shared secret key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how to agree on key in first place (particularly if never “met”)?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48" name="Google Shape;248;p21"/>
          <p:cNvGrpSpPr/>
          <p:nvPr/>
        </p:nvGrpSpPr>
        <p:grpSpPr>
          <a:xfrm>
            <a:off x="5971277" y="1520105"/>
            <a:ext cx="4935261" cy="4235170"/>
            <a:chOff x="4354280" y="1621875"/>
            <a:chExt cx="4934985" cy="4234639"/>
          </a:xfrm>
        </p:grpSpPr>
        <p:sp>
          <p:nvSpPr>
            <p:cNvPr id="249" name="Google Shape;249;p21"/>
            <p:cNvSpPr/>
            <p:nvPr/>
          </p:nvSpPr>
          <p:spPr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720"/>
                <a:buFont typeface="Arial"/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public key crypto</a:t>
              </a:r>
              <a:endParaRPr/>
            </a:p>
            <a:p>
              <a:pPr indent="-100013" lvl="0" marL="277813" marR="0" rtl="0" algn="l">
                <a:spcBef>
                  <a:spcPts val="56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38125" lvl="0" marL="4095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radically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different approach [Diffie-Hellman76, RSA78]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sender, receiver do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share secret key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encryption key 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known to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all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decryption key known only to receiver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0013" lvl="0" marL="277813" marR="0" rtl="0" algn="l">
                <a:spcBef>
                  <a:spcPts val="56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 up of a logo&#10;&#10;Description automatically generated"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4644" y="0"/>
            <a:ext cx="4744730" cy="417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Cryptography</a:t>
            </a:r>
            <a:endParaRPr sz="4400"/>
          </a:p>
        </p:txBody>
      </p:sp>
      <p:sp>
        <p:nvSpPr>
          <p:cNvPr id="260" name="Google Shape;260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lice" id="261" name="Google Shape;2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539" y="2922312"/>
            <a:ext cx="511175" cy="630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262" name="Google Shape;2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291" y="2939774"/>
            <a:ext cx="665162" cy="6778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22"/>
          <p:cNvGrpSpPr/>
          <p:nvPr/>
        </p:nvGrpSpPr>
        <p:grpSpPr>
          <a:xfrm>
            <a:off x="8642834" y="4080981"/>
            <a:ext cx="1885950" cy="636588"/>
            <a:chOff x="2413" y="3394"/>
            <a:chExt cx="1188" cy="401"/>
          </a:xfrm>
        </p:grpSpPr>
        <p:sp>
          <p:nvSpPr>
            <p:cNvPr id="264" name="Google Shape;264;p22"/>
            <p:cNvSpPr txBox="1"/>
            <p:nvPr/>
          </p:nvSpPr>
          <p:spPr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 = K  </a:t>
              </a:r>
              <a:r>
                <a:rPr lang="en-US" sz="2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 (m)</a:t>
              </a:r>
              <a:r>
                <a:rPr lang="en-US" sz="2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66" name="Google Shape;266;p22"/>
            <p:cNvSpPr txBox="1"/>
            <p:nvPr/>
          </p:nvSpPr>
          <p:spPr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269" name="Google Shape;269;p22"/>
          <p:cNvSpPr txBox="1"/>
          <p:nvPr/>
        </p:nvSpPr>
        <p:spPr>
          <a:xfrm>
            <a:off x="8602043" y="3584964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3165891" y="3632411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3099216" y="3700674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6907628" y="3646699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6834603" y="3711786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cxnSp>
        <p:nvCxnSpPr>
          <p:cNvPr id="274" name="Google Shape;274;p22"/>
          <p:cNvCxnSpPr/>
          <p:nvPr/>
        </p:nvCxnSpPr>
        <p:spPr>
          <a:xfrm>
            <a:off x="2213570" y="4085002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" name="Google Shape;275;p22"/>
          <p:cNvCxnSpPr/>
          <p:nvPr/>
        </p:nvCxnSpPr>
        <p:spPr>
          <a:xfrm>
            <a:off x="8488474" y="4065124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" name="Google Shape;276;p22"/>
          <p:cNvCxnSpPr/>
          <p:nvPr/>
        </p:nvCxnSpPr>
        <p:spPr>
          <a:xfrm>
            <a:off x="4683168" y="4030613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77" name="Google Shape;277;p22"/>
          <p:cNvGrpSpPr/>
          <p:nvPr/>
        </p:nvGrpSpPr>
        <p:grpSpPr>
          <a:xfrm>
            <a:off x="4967149" y="3589893"/>
            <a:ext cx="1455738" cy="1044298"/>
            <a:chOff x="4967149" y="3589893"/>
            <a:chExt cx="1455738" cy="1044298"/>
          </a:xfrm>
        </p:grpSpPr>
        <p:grpSp>
          <p:nvGrpSpPr>
            <p:cNvPr id="278" name="Google Shape;278;p22"/>
            <p:cNvGrpSpPr/>
            <p:nvPr/>
          </p:nvGrpSpPr>
          <p:grpSpPr>
            <a:xfrm>
              <a:off x="5266429" y="4016653"/>
              <a:ext cx="876300" cy="617538"/>
              <a:chOff x="2351" y="2077"/>
              <a:chExt cx="552" cy="389"/>
            </a:xfrm>
          </p:grpSpPr>
          <p:sp>
            <p:nvSpPr>
              <p:cNvPr id="279" name="Google Shape;279;p22"/>
              <p:cNvSpPr txBox="1"/>
              <p:nvPr/>
            </p:nvSpPr>
            <p:spPr>
              <a:xfrm>
                <a:off x="2351" y="2132"/>
                <a:ext cx="55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 (m)</a:t>
                </a:r>
                <a:endParaRPr/>
              </a:p>
            </p:txBody>
          </p:sp>
          <p:sp>
            <p:nvSpPr>
              <p:cNvPr id="280" name="Google Shape;280;p22"/>
              <p:cNvSpPr txBox="1"/>
              <p:nvPr/>
            </p:nvSpPr>
            <p:spPr>
              <a:xfrm>
                <a:off x="2463" y="2253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281" name="Google Shape;281;p22"/>
              <p:cNvSpPr txBox="1"/>
              <p:nvPr/>
            </p:nvSpPr>
            <p:spPr>
              <a:xfrm>
                <a:off x="2468" y="2077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sp>
          <p:nvSpPr>
            <p:cNvPr id="282" name="Google Shape;282;p22"/>
            <p:cNvSpPr txBox="1"/>
            <p:nvPr/>
          </p:nvSpPr>
          <p:spPr>
            <a:xfrm>
              <a:off x="4967149" y="3589893"/>
              <a:ext cx="1455738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ciphertext</a:t>
              </a:r>
              <a:endParaRPr/>
            </a:p>
          </p:txBody>
        </p:sp>
      </p:grpSp>
      <p:sp>
        <p:nvSpPr>
          <p:cNvPr id="283" name="Google Shape;283;p22"/>
          <p:cNvSpPr txBox="1"/>
          <p:nvPr/>
        </p:nvSpPr>
        <p:spPr>
          <a:xfrm>
            <a:off x="1322224" y="3626817"/>
            <a:ext cx="166103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message, m</a:t>
            </a:r>
            <a:endParaRPr/>
          </a:p>
        </p:txBody>
      </p:sp>
      <p:grpSp>
        <p:nvGrpSpPr>
          <p:cNvPr id="284" name="Google Shape;284;p22"/>
          <p:cNvGrpSpPr/>
          <p:nvPr/>
        </p:nvGrpSpPr>
        <p:grpSpPr>
          <a:xfrm>
            <a:off x="4104379" y="1485072"/>
            <a:ext cx="6487083" cy="2066511"/>
            <a:chOff x="4104379" y="1485072"/>
            <a:chExt cx="6487083" cy="2066511"/>
          </a:xfrm>
        </p:grpSpPr>
        <p:pic>
          <p:nvPicPr>
            <p:cNvPr descr="BS00768_[1]" id="285" name="Google Shape;285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6934543" y="1680887"/>
              <a:ext cx="458787" cy="236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22"/>
            <p:cNvSpPr txBox="1"/>
            <p:nvPr/>
          </p:nvSpPr>
          <p:spPr>
            <a:xfrm>
              <a:off x="7404926" y="1585085"/>
              <a:ext cx="42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7549389" y="1764472"/>
              <a:ext cx="322262" cy="338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7557326" y="1485072"/>
              <a:ext cx="304800" cy="338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grpSp>
          <p:nvGrpSpPr>
            <p:cNvPr id="289" name="Google Shape;289;p22"/>
            <p:cNvGrpSpPr/>
            <p:nvPr/>
          </p:nvGrpSpPr>
          <p:grpSpPr>
            <a:xfrm>
              <a:off x="4104379" y="1524760"/>
              <a:ext cx="6487083" cy="2026823"/>
              <a:chOff x="4104379" y="1524760"/>
              <a:chExt cx="6487083" cy="2026823"/>
            </a:xfrm>
          </p:grpSpPr>
          <p:sp>
            <p:nvSpPr>
              <p:cNvPr id="290" name="Google Shape;290;p22"/>
              <p:cNvSpPr txBox="1"/>
              <p:nvPr/>
            </p:nvSpPr>
            <p:spPr>
              <a:xfrm>
                <a:off x="7855026" y="1524760"/>
                <a:ext cx="2736436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Bob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’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 </a:t>
                </a:r>
                <a:r>
                  <a:rPr b="0" i="1" lang="en-US" sz="2400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key </a:t>
                </a:r>
                <a:endParaRPr/>
              </a:p>
            </p:txBody>
          </p:sp>
          <p:cxnSp>
            <p:nvCxnSpPr>
              <p:cNvPr id="291" name="Google Shape;291;p22"/>
              <p:cNvCxnSpPr/>
              <p:nvPr/>
            </p:nvCxnSpPr>
            <p:spPr>
              <a:xfrm>
                <a:off x="4115146" y="1800985"/>
                <a:ext cx="19532" cy="1750598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292" name="Google Shape;292;p22"/>
              <p:cNvCxnSpPr/>
              <p:nvPr/>
            </p:nvCxnSpPr>
            <p:spPr>
              <a:xfrm rot="10800000">
                <a:off x="4104379" y="1804781"/>
                <a:ext cx="265423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93" name="Google Shape;293;p22"/>
          <p:cNvGrpSpPr/>
          <p:nvPr/>
        </p:nvGrpSpPr>
        <p:grpSpPr>
          <a:xfrm>
            <a:off x="6971125" y="2188335"/>
            <a:ext cx="4120946" cy="1363247"/>
            <a:chOff x="6971125" y="2188335"/>
            <a:chExt cx="4120946" cy="1363247"/>
          </a:xfrm>
        </p:grpSpPr>
        <p:sp>
          <p:nvSpPr>
            <p:cNvPr id="294" name="Google Shape;294;p22"/>
            <p:cNvSpPr txBox="1"/>
            <p:nvPr/>
          </p:nvSpPr>
          <p:spPr>
            <a:xfrm>
              <a:off x="7928387" y="2202622"/>
              <a:ext cx="316368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r>
                <a:rPr b="0" i="1" lang="en-US" sz="2400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key </a:t>
              </a:r>
              <a:endParaRPr/>
            </a:p>
          </p:txBody>
        </p:sp>
        <p:pic>
          <p:nvPicPr>
            <p:cNvPr descr="BS00768_[1]" id="295" name="Google Shape;295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6971125" y="2340735"/>
              <a:ext cx="542925" cy="27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2"/>
            <p:cNvSpPr txBox="1"/>
            <p:nvPr/>
          </p:nvSpPr>
          <p:spPr>
            <a:xfrm>
              <a:off x="7480712" y="2275647"/>
              <a:ext cx="42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7768187" y="2467735"/>
              <a:ext cx="322262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7722012" y="2188335"/>
              <a:ext cx="252413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cxnSp>
          <p:nvCxnSpPr>
            <p:cNvPr id="299" name="Google Shape;299;p22"/>
            <p:cNvCxnSpPr/>
            <p:nvPr/>
          </p:nvCxnSpPr>
          <p:spPr>
            <a:xfrm>
              <a:off x="7075344" y="2729947"/>
              <a:ext cx="0" cy="82163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00" name="Google Shape;300;p22"/>
          <p:cNvSpPr txBox="1"/>
          <p:nvPr/>
        </p:nvSpPr>
        <p:spPr>
          <a:xfrm>
            <a:off x="914400" y="4942583"/>
            <a:ext cx="1139687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Wow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public key cryptography revolutionized 2000-year-old (previously only symmetric key) cryptography!</a:t>
            </a:r>
            <a:endParaRPr/>
          </a:p>
          <a:p>
            <a:pPr indent="-2190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ideas emerged at roughly same time, independently in US and UK (classified)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encryption algorithms</a:t>
            </a:r>
            <a:endParaRPr sz="4400"/>
          </a:p>
        </p:txBody>
      </p:sp>
      <p:sp>
        <p:nvSpPr>
          <p:cNvPr id="307" name="Google Shape;307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2401267" y="5138599"/>
            <a:ext cx="67103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RSA: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Rivest, Shamir, Adelson algorithm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23"/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311" name="Google Shape;311;p23"/>
            <p:cNvSpPr/>
            <p:nvPr/>
          </p:nvSpPr>
          <p:spPr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cap="flat" cmpd="sng" w="34925">
              <a:solidFill>
                <a:srgbClr val="0012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3"/>
            <p:cNvSpPr txBox="1"/>
            <p:nvPr/>
          </p:nvSpPr>
          <p:spPr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3" name="Google Shape;313;p23"/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314" name="Google Shape;314;p23"/>
              <p:cNvSpPr txBox="1"/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rmAutofit/>
              </a:bodyPr>
              <a:lstStyle/>
              <a:p>
                <a:pPr indent="-222250" lvl="0" marL="352425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3"/>
                  </a:buClr>
                  <a:buSzPts val="3200"/>
                  <a:buFont typeface="Noto Sans Symbols"/>
                  <a:buNone/>
                </a:pPr>
                <a:r>
                  <a:rPr lang="en-US" sz="3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need K  ( ) and K  ( ) such that</a:t>
                </a:r>
                <a:endParaRPr/>
              </a:p>
            </p:txBody>
          </p:sp>
          <p:sp>
            <p:nvSpPr>
              <p:cNvPr id="315" name="Google Shape;315;p23"/>
              <p:cNvSpPr txBox="1"/>
              <p:nvPr/>
            </p:nvSpPr>
            <p:spPr>
              <a:xfrm>
                <a:off x="4287291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316" name="Google Shape;316;p23"/>
              <p:cNvSpPr txBox="1"/>
              <p:nvPr/>
            </p:nvSpPr>
            <p:spPr>
              <a:xfrm>
                <a:off x="5889079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317" name="Google Shape;317;p23"/>
              <p:cNvSpPr txBox="1"/>
              <p:nvPr/>
            </p:nvSpPr>
            <p:spPr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23"/>
              <p:cNvSpPr txBox="1"/>
              <p:nvPr/>
            </p:nvSpPr>
            <p:spPr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23"/>
              <p:cNvSpPr txBox="1"/>
              <p:nvPr/>
            </p:nvSpPr>
            <p:spPr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320" name="Google Shape;320;p23"/>
              <p:cNvSpPr txBox="1"/>
              <p:nvPr/>
            </p:nvSpPr>
            <p:spPr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grpSp>
            <p:nvGrpSpPr>
              <p:cNvPr id="321" name="Google Shape;321;p23"/>
              <p:cNvGrpSpPr/>
              <p:nvPr/>
            </p:nvGrpSpPr>
            <p:grpSpPr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322" name="Google Shape;322;p23"/>
                <p:cNvGrpSpPr/>
                <p:nvPr/>
              </p:nvGrpSpPr>
              <p:grpSpPr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323" name="Google Shape;323;p23"/>
                  <p:cNvSpPr txBox="1"/>
                  <p:nvPr/>
                </p:nvSpPr>
                <p:spPr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32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  (K   (m))  =  m </a:t>
                    </a:r>
                    <a:endParaRPr/>
                  </a:p>
                </p:txBody>
              </p:sp>
              <p:sp>
                <p:nvSpPr>
                  <p:cNvPr id="324" name="Google Shape;324;p23"/>
                  <p:cNvSpPr txBox="1"/>
                  <p:nvPr/>
                </p:nvSpPr>
                <p:spPr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8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B</a:t>
                    </a:r>
                    <a:endParaRPr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" name="Google Shape;325;p23"/>
                  <p:cNvSpPr txBox="1"/>
                  <p:nvPr/>
                </p:nvSpPr>
                <p:spPr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8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B</a:t>
                    </a:r>
                    <a:endParaRPr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6" name="Google Shape;326;p23"/>
                <p:cNvSpPr txBox="1"/>
                <p:nvPr/>
              </p:nvSpPr>
              <p:spPr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  <p:sp>
              <p:nvSpPr>
                <p:cNvPr id="327" name="Google Shape;327;p23"/>
                <p:cNvSpPr txBox="1"/>
                <p:nvPr/>
              </p:nvSpPr>
              <p:spPr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</p:grpSp>
      </p:grpSp>
      <p:grpSp>
        <p:nvGrpSpPr>
          <p:cNvPr id="328" name="Google Shape;328;p23"/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329" name="Google Shape;329;p23"/>
            <p:cNvSpPr/>
            <p:nvPr/>
          </p:nvSpPr>
          <p:spPr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720"/>
                <a:buFont typeface="Arial"/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given public key K  , it should be impossible to compute private key K  </a:t>
              </a:r>
              <a:endParaRPr/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7206392" y="4475576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6056037" y="3965092"/>
              <a:ext cx="4333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332" name="Google Shape;332;p23"/>
            <p:cNvGrpSpPr/>
            <p:nvPr/>
          </p:nvGrpSpPr>
          <p:grpSpPr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333" name="Google Shape;333;p23"/>
              <p:cNvSpPr/>
              <p:nvPr/>
            </p:nvSpPr>
            <p:spPr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cap="flat" cmpd="sng" w="34925">
                <a:solidFill>
                  <a:srgbClr val="0000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23"/>
              <p:cNvSpPr txBox="1"/>
              <p:nvPr/>
            </p:nvSpPr>
            <p:spPr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5" name="Google Shape;335;p23"/>
            <p:cNvSpPr txBox="1"/>
            <p:nvPr/>
          </p:nvSpPr>
          <p:spPr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336" name="Google Shape;336;p23"/>
            <p:cNvSpPr txBox="1"/>
            <p:nvPr/>
          </p:nvSpPr>
          <p:spPr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Prerequisite: modular arithmetic</a:t>
            </a:r>
            <a:endParaRPr sz="4400"/>
          </a:p>
        </p:txBody>
      </p:sp>
      <p:sp>
        <p:nvSpPr>
          <p:cNvPr id="343" name="Google Shape;343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957470" y="1414670"/>
            <a:ext cx="7924800" cy="4999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7813" lvl="0" marL="277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mod n = remainder of x when divide by 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facts: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+ (b mod n)] mod n = (a+b) mod n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- (b mod n)] mod n = (a-b) mod n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* (b mod n)] mod n = (a*b) mod 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(a mod n)</a:t>
            </a:r>
            <a:r>
              <a:rPr baseline="30000"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mod n = a</a:t>
            </a:r>
            <a:r>
              <a:rPr baseline="30000"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x=14, n=10, d=2: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(x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4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10 = 6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14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196  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10  = 6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RSA: getting ready</a:t>
            </a:r>
            <a:endParaRPr sz="4400"/>
          </a:p>
        </p:txBody>
      </p:sp>
      <p:sp>
        <p:nvSpPr>
          <p:cNvPr id="351" name="Google Shape;351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930964" y="1348408"/>
            <a:ext cx="10783958" cy="5052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2778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message: just a bit pattern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pattern can be uniquely represented by an integer number 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encrypting a message is equivalent to encrypting a number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23837" lvl="0" marL="6937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 10010001. This message is uniquely represented by the decimal number 145. </a:t>
            </a:r>
            <a:endParaRPr/>
          </a:p>
          <a:p>
            <a:pPr indent="-223837" lvl="0" marL="6937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encrypt m, we encrypt the corresponding number, which gives a new number (the ciphertext).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Creating public/private key pair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1115805" y="1294158"/>
            <a:ext cx="95124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two large prime numbers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p, q.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(e.g., 1024 bits each)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1101517" y="2279996"/>
            <a:ext cx="512829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pq,  z = (p-1)(q-1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1099930" y="2949921"/>
            <a:ext cx="9925878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2425" lvl="0" marL="3524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e&lt;n)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has no common factors  with z (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e, z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“relatively prime”).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1115805" y="3938933"/>
            <a:ext cx="10440090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2113" lvl="0" marL="4048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 exactly divisible by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(in other words: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 = 1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1126918" y="5050183"/>
            <a:ext cx="6253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n,d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grpSp>
        <p:nvGrpSpPr>
          <p:cNvPr id="365" name="Google Shape;365;p26"/>
          <p:cNvGrpSpPr/>
          <p:nvPr/>
        </p:nvGrpSpPr>
        <p:grpSpPr>
          <a:xfrm>
            <a:off x="3447487" y="5578825"/>
            <a:ext cx="587736" cy="744538"/>
            <a:chOff x="1760" y="3628"/>
            <a:chExt cx="357" cy="469"/>
          </a:xfrm>
        </p:grpSpPr>
        <p:sp>
          <p:nvSpPr>
            <p:cNvPr id="366" name="Google Shape;366;p26"/>
            <p:cNvSpPr txBox="1"/>
            <p:nvPr/>
          </p:nvSpPr>
          <p:spPr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67" name="Google Shape;367;p26"/>
            <p:cNvSpPr txBox="1"/>
            <p:nvPr/>
          </p:nvSpPr>
          <p:spPr>
            <a:xfrm>
              <a:off x="1883" y="3806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1911" y="3628"/>
              <a:ext cx="20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369" name="Google Shape;369;p26"/>
          <p:cNvGrpSpPr/>
          <p:nvPr/>
        </p:nvGrpSpPr>
        <p:grpSpPr>
          <a:xfrm>
            <a:off x="6214495" y="5570887"/>
            <a:ext cx="566333" cy="744538"/>
            <a:chOff x="1760" y="3628"/>
            <a:chExt cx="344" cy="469"/>
          </a:xfrm>
        </p:grpSpPr>
        <p:sp>
          <p:nvSpPr>
            <p:cNvPr id="370" name="Google Shape;370;p26"/>
            <p:cNvSpPr txBox="1"/>
            <p:nvPr/>
          </p:nvSpPr>
          <p:spPr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71" name="Google Shape;371;p26"/>
            <p:cNvSpPr txBox="1"/>
            <p:nvPr/>
          </p:nvSpPr>
          <p:spPr>
            <a:xfrm>
              <a:off x="1891" y="3806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1924" y="3628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sp>
        <p:nvSpPr>
          <p:cNvPr id="373" name="Google Shape;373;p26"/>
          <p:cNvSpPr/>
          <p:nvPr/>
        </p:nvSpPr>
        <p:spPr>
          <a:xfrm rot="5400000">
            <a:off x="3569087" y="5227389"/>
            <a:ext cx="165100" cy="788588"/>
          </a:xfrm>
          <a:prstGeom prst="rightBrace">
            <a:avLst>
              <a:gd fmla="val 38381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 rot="5400000">
            <a:off x="6348800" y="5197226"/>
            <a:ext cx="165100" cy="788589"/>
          </a:xfrm>
          <a:prstGeom prst="rightBrace">
            <a:avLst>
              <a:gd fmla="val 38381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encryption, decryption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1553680" y="1419225"/>
            <a:ext cx="736926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given (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n,e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and (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n,d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as computed above</a:t>
            </a:r>
            <a:endParaRPr/>
          </a:p>
        </p:txBody>
      </p:sp>
      <p:grpSp>
        <p:nvGrpSpPr>
          <p:cNvPr id="383" name="Google Shape;383;p27"/>
          <p:cNvGrpSpPr/>
          <p:nvPr/>
        </p:nvGrpSpPr>
        <p:grpSpPr>
          <a:xfrm>
            <a:off x="1610830" y="2098675"/>
            <a:ext cx="6705601" cy="1092200"/>
            <a:chOff x="407" y="1521"/>
            <a:chExt cx="4224" cy="688"/>
          </a:xfrm>
        </p:grpSpPr>
        <p:sp>
          <p:nvSpPr>
            <p:cNvPr id="384" name="Google Shape;384;p27"/>
            <p:cNvSpPr txBox="1"/>
            <p:nvPr/>
          </p:nvSpPr>
          <p:spPr>
            <a:xfrm>
              <a:off x="407" y="1521"/>
              <a:ext cx="422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1.</a:t>
              </a:r>
              <a:r>
                <a:rPr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encrypt message </a:t>
              </a:r>
              <a:r>
                <a:rPr i="1"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 (&lt;n)</a:t>
              </a:r>
              <a:r>
                <a:rPr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compute</a:t>
              </a:r>
              <a:endParaRPr/>
            </a:p>
          </p:txBody>
        </p:sp>
        <p:grpSp>
          <p:nvGrpSpPr>
            <p:cNvPr id="385" name="Google Shape;385;p27"/>
            <p:cNvGrpSpPr/>
            <p:nvPr/>
          </p:nvGrpSpPr>
          <p:grpSpPr>
            <a:xfrm>
              <a:off x="563" y="1768"/>
              <a:ext cx="1651" cy="441"/>
              <a:chOff x="1688" y="1812"/>
              <a:chExt cx="1651" cy="441"/>
            </a:xfrm>
          </p:grpSpPr>
          <p:sp>
            <p:nvSpPr>
              <p:cNvPr id="386" name="Google Shape;386;p27"/>
              <p:cNvSpPr txBox="1"/>
              <p:nvPr/>
            </p:nvSpPr>
            <p:spPr>
              <a:xfrm>
                <a:off x="1688" y="1885"/>
                <a:ext cx="1651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 = m   </a:t>
                </a:r>
                <a:r>
                  <a:rPr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mod</a:t>
                </a: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n</a:t>
                </a:r>
                <a:endParaRPr/>
              </a:p>
            </p:txBody>
          </p:sp>
          <p:sp>
            <p:nvSpPr>
              <p:cNvPr id="387" name="Google Shape;387;p27"/>
              <p:cNvSpPr txBox="1"/>
              <p:nvPr/>
            </p:nvSpPr>
            <p:spPr>
              <a:xfrm>
                <a:off x="2318" y="1812"/>
                <a:ext cx="240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</p:grpSp>
        <p:grpSp>
          <p:nvGrpSpPr>
            <p:cNvPr id="388" name="Google Shape;388;p27"/>
            <p:cNvGrpSpPr/>
            <p:nvPr/>
          </p:nvGrpSpPr>
          <p:grpSpPr>
            <a:xfrm>
              <a:off x="1966" y="1724"/>
              <a:ext cx="2236" cy="477"/>
              <a:chOff x="777" y="2538"/>
              <a:chExt cx="2236" cy="477"/>
            </a:xfrm>
          </p:grpSpPr>
          <p:sp>
            <p:nvSpPr>
              <p:cNvPr id="389" name="Google Shape;389;p27"/>
              <p:cNvSpPr txBox="1"/>
              <p:nvPr/>
            </p:nvSpPr>
            <p:spPr>
              <a:xfrm>
                <a:off x="777" y="2647"/>
                <a:ext cx="11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27"/>
              <p:cNvSpPr txBox="1"/>
              <p:nvPr/>
            </p:nvSpPr>
            <p:spPr>
              <a:xfrm>
                <a:off x="2897" y="2538"/>
                <a:ext cx="11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3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1" name="Google Shape;391;p27"/>
          <p:cNvSpPr txBox="1"/>
          <p:nvPr/>
        </p:nvSpPr>
        <p:spPr>
          <a:xfrm>
            <a:off x="1610830" y="3368675"/>
            <a:ext cx="77365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decrypt received bit pattern, </a:t>
            </a:r>
            <a:r>
              <a:rPr i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compute</a:t>
            </a:r>
            <a:endParaRPr/>
          </a:p>
        </p:txBody>
      </p:sp>
      <p:grpSp>
        <p:nvGrpSpPr>
          <p:cNvPr id="392" name="Google Shape;392;p27"/>
          <p:cNvGrpSpPr/>
          <p:nvPr/>
        </p:nvGrpSpPr>
        <p:grpSpPr>
          <a:xfrm>
            <a:off x="1858480" y="3760787"/>
            <a:ext cx="2740024" cy="996743"/>
            <a:chOff x="1688" y="1812"/>
            <a:chExt cx="1451" cy="752"/>
          </a:xfrm>
        </p:grpSpPr>
        <p:sp>
          <p:nvSpPr>
            <p:cNvPr id="393" name="Google Shape;393;p27"/>
            <p:cNvSpPr txBox="1"/>
            <p:nvPr/>
          </p:nvSpPr>
          <p:spPr>
            <a:xfrm>
              <a:off x="1688" y="1885"/>
              <a:ext cx="1451" cy="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 = c   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n</a:t>
              </a:r>
              <a:endParaRPr/>
            </a:p>
          </p:txBody>
        </p:sp>
        <p:sp>
          <p:nvSpPr>
            <p:cNvPr id="394" name="Google Shape;394;p27"/>
            <p:cNvSpPr txBox="1"/>
            <p:nvPr/>
          </p:nvSpPr>
          <p:spPr>
            <a:xfrm>
              <a:off x="2224" y="1812"/>
              <a:ext cx="250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grpSp>
        <p:nvGrpSpPr>
          <p:cNvPr id="395" name="Google Shape;395;p27"/>
          <p:cNvGrpSpPr/>
          <p:nvPr/>
        </p:nvGrpSpPr>
        <p:grpSpPr>
          <a:xfrm>
            <a:off x="5470111" y="4921395"/>
            <a:ext cx="3935413" cy="685801"/>
            <a:chOff x="868" y="3287"/>
            <a:chExt cx="2479" cy="432"/>
          </a:xfrm>
        </p:grpSpPr>
        <p:sp>
          <p:nvSpPr>
            <p:cNvPr id="396" name="Google Shape;396;p27"/>
            <p:cNvSpPr txBox="1"/>
            <p:nvPr/>
          </p:nvSpPr>
          <p:spPr>
            <a:xfrm>
              <a:off x="868" y="3388"/>
              <a:ext cx="171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  =  (m   </a:t>
              </a: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n)</a:t>
              </a:r>
              <a:endParaRPr/>
            </a:p>
          </p:txBody>
        </p:sp>
        <p:sp>
          <p:nvSpPr>
            <p:cNvPr id="397" name="Google Shape;397;p27"/>
            <p:cNvSpPr txBox="1"/>
            <p:nvPr/>
          </p:nvSpPr>
          <p:spPr>
            <a:xfrm>
              <a:off x="1614" y="3308"/>
              <a:ext cx="22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398" name="Google Shape;398;p27"/>
            <p:cNvSpPr txBox="1"/>
            <p:nvPr/>
          </p:nvSpPr>
          <p:spPr>
            <a:xfrm>
              <a:off x="2533" y="3389"/>
              <a:ext cx="81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</a:t>
              </a:r>
              <a:endParaRPr/>
            </a:p>
          </p:txBody>
        </p:sp>
        <p:sp>
          <p:nvSpPr>
            <p:cNvPr id="399" name="Google Shape;399;p27"/>
            <p:cNvSpPr txBox="1"/>
            <p:nvPr/>
          </p:nvSpPr>
          <p:spPr>
            <a:xfrm>
              <a:off x="2448" y="3287"/>
              <a:ext cx="232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sp>
        <p:nvSpPr>
          <p:cNvPr id="400" name="Google Shape;400;p27"/>
          <p:cNvSpPr txBox="1"/>
          <p:nvPr/>
        </p:nvSpPr>
        <p:spPr>
          <a:xfrm>
            <a:off x="2202951" y="5027958"/>
            <a:ext cx="30449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magic happens!</a:t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2245486" y="4916556"/>
            <a:ext cx="7667141" cy="1099931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 rot="-5400000">
            <a:off x="7193343" y="4984092"/>
            <a:ext cx="139700" cy="1223963"/>
          </a:xfrm>
          <a:prstGeom prst="leftBrace">
            <a:avLst>
              <a:gd fmla="val 73011" name="adj1"/>
              <a:gd fmla="val 52954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7160799" y="5583374"/>
            <a:ext cx="4365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 example: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28"/>
          <p:cNvSpPr txBox="1"/>
          <p:nvPr/>
        </p:nvSpPr>
        <p:spPr>
          <a:xfrm>
            <a:off x="1994966" y="1313415"/>
            <a:ext cx="61125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chooses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p=5, q=7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 Then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n=35, z=24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12" name="Google Shape;412;p28"/>
          <p:cNvSpPr txBox="1"/>
          <p:nvPr/>
        </p:nvSpPr>
        <p:spPr>
          <a:xfrm>
            <a:off x="3889996" y="1737277"/>
            <a:ext cx="537916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e=5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(so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e, z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relatively prime).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d=29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(so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ed-1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exactly divisible by z).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13" name="Google Shape;413;p28"/>
          <p:cNvSpPr txBox="1"/>
          <p:nvPr/>
        </p:nvSpPr>
        <p:spPr>
          <a:xfrm>
            <a:off x="3439025" y="3478765"/>
            <a:ext cx="17385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pattern</a:t>
            </a:r>
            <a:endParaRPr/>
          </a:p>
        </p:txBody>
      </p:sp>
      <p:sp>
        <p:nvSpPr>
          <p:cNvPr id="414" name="Google Shape;414;p28"/>
          <p:cNvSpPr txBox="1"/>
          <p:nvPr/>
        </p:nvSpPr>
        <p:spPr>
          <a:xfrm>
            <a:off x="5371869" y="3454952"/>
            <a:ext cx="4716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415" name="Google Shape;415;p28"/>
          <p:cNvSpPr txBox="1"/>
          <p:nvPr/>
        </p:nvSpPr>
        <p:spPr>
          <a:xfrm>
            <a:off x="6639488" y="3475590"/>
            <a:ext cx="4716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416" name="Google Shape;416;p28"/>
          <p:cNvSpPr txBox="1"/>
          <p:nvPr/>
        </p:nvSpPr>
        <p:spPr>
          <a:xfrm>
            <a:off x="6881314" y="3323190"/>
            <a:ext cx="362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grpSp>
        <p:nvGrpSpPr>
          <p:cNvPr id="417" name="Google Shape;417;p28"/>
          <p:cNvGrpSpPr/>
          <p:nvPr/>
        </p:nvGrpSpPr>
        <p:grpSpPr>
          <a:xfrm>
            <a:off x="8234984" y="3356529"/>
            <a:ext cx="2147887" cy="652463"/>
            <a:chOff x="2679" y="1773"/>
            <a:chExt cx="1353" cy="411"/>
          </a:xfrm>
        </p:grpSpPr>
        <p:sp>
          <p:nvSpPr>
            <p:cNvPr id="418" name="Google Shape;418;p28"/>
            <p:cNvSpPr txBox="1"/>
            <p:nvPr/>
          </p:nvSpPr>
          <p:spPr>
            <a:xfrm>
              <a:off x="2679" y="1854"/>
              <a:ext cx="135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 = m  mod  n</a:t>
              </a:r>
              <a:endParaRPr/>
            </a:p>
          </p:txBody>
        </p:sp>
        <p:sp>
          <p:nvSpPr>
            <p:cNvPr id="419" name="Google Shape;419;p28"/>
            <p:cNvSpPr txBox="1"/>
            <p:nvPr/>
          </p:nvSpPr>
          <p:spPr>
            <a:xfrm>
              <a:off x="3165" y="1773"/>
              <a:ext cx="228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</p:grpSp>
      <p:sp>
        <p:nvSpPr>
          <p:cNvPr id="420" name="Google Shape;420;p28"/>
          <p:cNvSpPr txBox="1"/>
          <p:nvPr/>
        </p:nvSpPr>
        <p:spPr>
          <a:xfrm>
            <a:off x="3531525" y="4018515"/>
            <a:ext cx="15456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0000l000</a:t>
            </a:r>
            <a:endParaRPr/>
          </a:p>
        </p:txBody>
      </p:sp>
      <p:sp>
        <p:nvSpPr>
          <p:cNvPr id="421" name="Google Shape;421;p28"/>
          <p:cNvSpPr txBox="1"/>
          <p:nvPr/>
        </p:nvSpPr>
        <p:spPr>
          <a:xfrm>
            <a:off x="5305608" y="4008990"/>
            <a:ext cx="550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6327688" y="4001052"/>
            <a:ext cx="10983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24832</a:t>
            </a:r>
            <a:endParaRPr/>
          </a:p>
        </p:txBody>
      </p:sp>
      <p:sp>
        <p:nvSpPr>
          <p:cNvPr id="423" name="Google Shape;423;p28"/>
          <p:cNvSpPr txBox="1"/>
          <p:nvPr/>
        </p:nvSpPr>
        <p:spPr>
          <a:xfrm>
            <a:off x="9201333" y="3999465"/>
            <a:ext cx="550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424" name="Google Shape;424;p28"/>
          <p:cNvSpPr txBox="1"/>
          <p:nvPr/>
        </p:nvSpPr>
        <p:spPr>
          <a:xfrm>
            <a:off x="2005801" y="3780390"/>
            <a:ext cx="13966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encrypt:</a:t>
            </a:r>
            <a:endParaRPr/>
          </a:p>
        </p:txBody>
      </p:sp>
      <p:sp>
        <p:nvSpPr>
          <p:cNvPr id="425" name="Google Shape;425;p28"/>
          <p:cNvSpPr txBox="1"/>
          <p:nvPr/>
        </p:nvSpPr>
        <p:spPr>
          <a:xfrm>
            <a:off x="2080246" y="2680252"/>
            <a:ext cx="4081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encrypting 8-bit messages.</a:t>
            </a:r>
            <a:endParaRPr/>
          </a:p>
        </p:txBody>
      </p:sp>
      <p:sp>
        <p:nvSpPr>
          <p:cNvPr id="426" name="Google Shape;426;p28"/>
          <p:cNvSpPr/>
          <p:nvPr/>
        </p:nvSpPr>
        <p:spPr>
          <a:xfrm rot="5400000">
            <a:off x="4202733" y="3216828"/>
            <a:ext cx="180975" cy="1403350"/>
          </a:xfrm>
          <a:prstGeom prst="rightBrace">
            <a:avLst>
              <a:gd fmla="val 8257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/>
          <p:nvPr/>
        </p:nvSpPr>
        <p:spPr>
          <a:xfrm rot="5400000">
            <a:off x="5525120" y="3689903"/>
            <a:ext cx="169863" cy="468312"/>
          </a:xfrm>
          <a:prstGeom prst="rightBrace">
            <a:avLst>
              <a:gd fmla="val 8284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/>
          <p:nvPr/>
        </p:nvSpPr>
        <p:spPr>
          <a:xfrm rot="5400000">
            <a:off x="6772102" y="3695458"/>
            <a:ext cx="168275" cy="468313"/>
          </a:xfrm>
          <a:prstGeom prst="rightBrace">
            <a:avLst>
              <a:gd fmla="val 8362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/>
          <p:nvPr/>
        </p:nvSpPr>
        <p:spPr>
          <a:xfrm rot="5400000">
            <a:off x="9314483" y="2905677"/>
            <a:ext cx="179388" cy="2046288"/>
          </a:xfrm>
          <a:prstGeom prst="rightBrace">
            <a:avLst>
              <a:gd fmla="val 8344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" name="Google Shape;430;p28"/>
          <p:cNvGrpSpPr/>
          <p:nvPr/>
        </p:nvGrpSpPr>
        <p:grpSpPr>
          <a:xfrm>
            <a:off x="2062944" y="4742415"/>
            <a:ext cx="7669046" cy="1216684"/>
            <a:chOff x="485146" y="4729396"/>
            <a:chExt cx="7669849" cy="1215969"/>
          </a:xfrm>
        </p:grpSpPr>
        <p:sp>
          <p:nvSpPr>
            <p:cNvPr id="431" name="Google Shape;431;p28"/>
            <p:cNvSpPr txBox="1"/>
            <p:nvPr/>
          </p:nvSpPr>
          <p:spPr>
            <a:xfrm>
              <a:off x="2361193" y="4873856"/>
              <a:ext cx="336987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grpSp>
          <p:nvGrpSpPr>
            <p:cNvPr id="432" name="Google Shape;432;p28"/>
            <p:cNvGrpSpPr/>
            <p:nvPr/>
          </p:nvGrpSpPr>
          <p:grpSpPr>
            <a:xfrm>
              <a:off x="6007107" y="4766587"/>
              <a:ext cx="2147888" cy="650876"/>
              <a:chOff x="2679" y="1773"/>
              <a:chExt cx="1353" cy="410"/>
            </a:xfrm>
          </p:grpSpPr>
          <p:sp>
            <p:nvSpPr>
              <p:cNvPr id="433" name="Google Shape;433;p28"/>
              <p:cNvSpPr txBox="1"/>
              <p:nvPr/>
            </p:nvSpPr>
            <p:spPr>
              <a:xfrm>
                <a:off x="2679" y="1854"/>
                <a:ext cx="1353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c  mod  n</a:t>
                </a:r>
                <a:endParaRPr/>
              </a:p>
            </p:txBody>
          </p:sp>
          <p:sp>
            <p:nvSpPr>
              <p:cNvPr id="434" name="Google Shape;434;p28"/>
              <p:cNvSpPr txBox="1"/>
              <p:nvPr/>
            </p:nvSpPr>
            <p:spPr>
              <a:xfrm>
                <a:off x="3162" y="1773"/>
                <a:ext cx="236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435" name="Google Shape;435;p28"/>
            <p:cNvSpPr txBox="1"/>
            <p:nvPr/>
          </p:nvSpPr>
          <p:spPr>
            <a:xfrm>
              <a:off x="2195052" y="5409753"/>
              <a:ext cx="550210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436" name="Google Shape;436;p28"/>
            <p:cNvSpPr txBox="1"/>
            <p:nvPr/>
          </p:nvSpPr>
          <p:spPr>
            <a:xfrm>
              <a:off x="2738653" y="5541062"/>
              <a:ext cx="3474393" cy="307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481968572106750915091411825223071697</a:t>
              </a:r>
              <a:endParaRPr/>
            </a:p>
          </p:txBody>
        </p:sp>
        <p:sp>
          <p:nvSpPr>
            <p:cNvPr id="437" name="Google Shape;437;p28"/>
            <p:cNvSpPr txBox="1"/>
            <p:nvPr/>
          </p:nvSpPr>
          <p:spPr>
            <a:xfrm>
              <a:off x="6795627" y="5422453"/>
              <a:ext cx="550210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grpSp>
          <p:nvGrpSpPr>
            <p:cNvPr id="438" name="Google Shape;438;p28"/>
            <p:cNvGrpSpPr/>
            <p:nvPr/>
          </p:nvGrpSpPr>
          <p:grpSpPr>
            <a:xfrm>
              <a:off x="3490928" y="4729396"/>
              <a:ext cx="517526" cy="676276"/>
              <a:chOff x="3035" y="2876"/>
              <a:chExt cx="326" cy="426"/>
            </a:xfrm>
          </p:grpSpPr>
          <p:sp>
            <p:nvSpPr>
              <p:cNvPr id="439" name="Google Shape;439;p28"/>
              <p:cNvSpPr txBox="1"/>
              <p:nvPr/>
            </p:nvSpPr>
            <p:spPr>
              <a:xfrm>
                <a:off x="3035" y="2973"/>
                <a:ext cx="212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  <p:sp>
            <p:nvSpPr>
              <p:cNvPr id="440" name="Google Shape;440;p28"/>
              <p:cNvSpPr txBox="1"/>
              <p:nvPr/>
            </p:nvSpPr>
            <p:spPr>
              <a:xfrm>
                <a:off x="3125" y="2876"/>
                <a:ext cx="236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441" name="Google Shape;441;p28"/>
            <p:cNvSpPr txBox="1"/>
            <p:nvPr/>
          </p:nvSpPr>
          <p:spPr>
            <a:xfrm>
              <a:off x="485146" y="5059140"/>
              <a:ext cx="1396682" cy="522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decrypt:</a:t>
              </a: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 rot="5400000">
              <a:off x="2446575" y="5102686"/>
              <a:ext cx="168727" cy="468086"/>
            </a:xfrm>
            <a:prstGeom prst="rightBrace">
              <a:avLst>
                <a:gd fmla="val 8336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8"/>
            <p:cNvSpPr/>
            <p:nvPr/>
          </p:nvSpPr>
          <p:spPr>
            <a:xfrm rot="5400000">
              <a:off x="3605907" y="5108131"/>
              <a:ext cx="168727" cy="468086"/>
            </a:xfrm>
            <a:prstGeom prst="rightBrace">
              <a:avLst>
                <a:gd fmla="val 8336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8"/>
            <p:cNvSpPr/>
            <p:nvPr/>
          </p:nvSpPr>
          <p:spPr>
            <a:xfrm rot="5400000">
              <a:off x="6964140" y="4340683"/>
              <a:ext cx="179612" cy="2046514"/>
            </a:xfrm>
            <a:prstGeom prst="rightBrace">
              <a:avLst>
                <a:gd fmla="val 8335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p28"/>
          <p:cNvSpPr/>
          <p:nvPr/>
        </p:nvSpPr>
        <p:spPr>
          <a:xfrm rot="1604466">
            <a:off x="5690221" y="4840840"/>
            <a:ext cx="2944812" cy="246062"/>
          </a:xfrm>
          <a:prstGeom prst="leftRightArrow">
            <a:avLst>
              <a:gd fmla="val 50000" name="adj1"/>
              <a:gd fmla="val 50032" name="adj2"/>
            </a:avLst>
          </a:prstGeom>
          <a:solidFill>
            <a:srgbClr val="3333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Why does RSA work?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29"/>
          <p:cNvSpPr txBox="1"/>
          <p:nvPr/>
        </p:nvSpPr>
        <p:spPr>
          <a:xfrm>
            <a:off x="1063486" y="1560443"/>
            <a:ext cx="1012134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show that c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m,  where c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fact: for any x and y: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 mod z)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n= pq and z = (p-1)(q-1)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(ed mod z)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endParaRPr/>
          </a:p>
        </p:txBody>
      </p:sp>
      <p:grpSp>
        <p:nvGrpSpPr>
          <p:cNvPr id="454" name="Google Shape;454;p29"/>
          <p:cNvGrpSpPr/>
          <p:nvPr/>
        </p:nvGrpSpPr>
        <p:grpSpPr>
          <a:xfrm>
            <a:off x="4708732" y="1916596"/>
            <a:ext cx="4951414" cy="2735263"/>
            <a:chOff x="2507" y="1402"/>
            <a:chExt cx="3119" cy="1723"/>
          </a:xfrm>
        </p:grpSpPr>
        <p:sp>
          <p:nvSpPr>
            <p:cNvPr id="455" name="Google Shape;455;p29"/>
            <p:cNvSpPr/>
            <p:nvPr/>
          </p:nvSpPr>
          <p:spPr>
            <a:xfrm>
              <a:off x="2507" y="1402"/>
              <a:ext cx="3119" cy="481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3306" y="1889"/>
              <a:ext cx="740" cy="1236"/>
            </a:xfrm>
            <a:custGeom>
              <a:rect b="b" l="l" r="r" t="t"/>
              <a:pathLst>
                <a:path extrusionOk="0" h="847" w="1260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another important property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" name="Google Shape;464;p30"/>
          <p:cNvSpPr txBox="1"/>
          <p:nvPr/>
        </p:nvSpPr>
        <p:spPr>
          <a:xfrm>
            <a:off x="1581180" y="1358325"/>
            <a:ext cx="8040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following property will be </a:t>
            </a:r>
            <a:r>
              <a:rPr i="1"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later: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5" name="Google Shape;465;p30"/>
          <p:cNvGrpSpPr/>
          <p:nvPr/>
        </p:nvGrpSpPr>
        <p:grpSpPr>
          <a:xfrm>
            <a:off x="2754104" y="2193351"/>
            <a:ext cx="5206997" cy="1008063"/>
            <a:chOff x="512" y="1586"/>
            <a:chExt cx="3280" cy="635"/>
          </a:xfrm>
        </p:grpSpPr>
        <p:grpSp>
          <p:nvGrpSpPr>
            <p:cNvPr id="466" name="Google Shape;466;p30"/>
            <p:cNvGrpSpPr/>
            <p:nvPr/>
          </p:nvGrpSpPr>
          <p:grpSpPr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467" name="Google Shape;467;p30"/>
              <p:cNvGrpSpPr/>
              <p:nvPr/>
            </p:nvGrpSpPr>
            <p:grpSpPr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468" name="Google Shape;468;p30"/>
                <p:cNvSpPr txBox="1"/>
                <p:nvPr/>
              </p:nvSpPr>
              <p:spPr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(m)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)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=  m </a:t>
                  </a:r>
                  <a:endParaRPr/>
                </a:p>
              </p:txBody>
            </p:sp>
            <p:sp>
              <p:nvSpPr>
                <p:cNvPr id="469" name="Google Shape;469;p30"/>
                <p:cNvSpPr txBox="1"/>
                <p:nvPr/>
              </p:nvSpPr>
              <p:spPr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30"/>
                <p:cNvSpPr txBox="1"/>
                <p:nvPr/>
              </p:nvSpPr>
              <p:spPr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1" name="Google Shape;471;p30"/>
              <p:cNvSpPr txBox="1"/>
              <p:nvPr/>
            </p:nvSpPr>
            <p:spPr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472" name="Google Shape;472;p30"/>
              <p:cNvSpPr txBox="1"/>
              <p:nvPr/>
            </p:nvSpPr>
            <p:spPr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sp>
          <p:nvSpPr>
            <p:cNvPr id="473" name="Google Shape;473;p30"/>
            <p:cNvSpPr txBox="1"/>
            <p:nvPr/>
          </p:nvSpPr>
          <p:spPr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(m)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  <p:sp>
          <p:nvSpPr>
            <p:cNvPr id="474" name="Google Shape;474;p30"/>
            <p:cNvSpPr txBox="1"/>
            <p:nvPr/>
          </p:nvSpPr>
          <p:spPr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0"/>
            <p:cNvSpPr txBox="1"/>
            <p:nvPr/>
          </p:nvSpPr>
          <p:spPr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0"/>
            <p:cNvSpPr txBox="1"/>
            <p:nvPr/>
          </p:nvSpPr>
          <p:spPr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477" name="Google Shape;477;p30"/>
            <p:cNvSpPr txBox="1"/>
            <p:nvPr/>
          </p:nvSpPr>
          <p:spPr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478" name="Google Shape;478;p30"/>
            <p:cNvSpPr txBox="1"/>
            <p:nvPr/>
          </p:nvSpPr>
          <p:spPr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  <p:sp>
        <p:nvSpPr>
          <p:cNvPr id="479" name="Google Shape;479;p30"/>
          <p:cNvSpPr txBox="1"/>
          <p:nvPr/>
        </p:nvSpPr>
        <p:spPr>
          <a:xfrm>
            <a:off x="2263568" y="3423663"/>
            <a:ext cx="29178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public key first, followed by private key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 txBox="1"/>
          <p:nvPr/>
        </p:nvSpPr>
        <p:spPr>
          <a:xfrm>
            <a:off x="5594143" y="3415725"/>
            <a:ext cx="29178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private key first, followed by public key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/>
          <p:nvPr/>
        </p:nvSpPr>
        <p:spPr>
          <a:xfrm rot="5400000">
            <a:off x="3581193" y="2445763"/>
            <a:ext cx="138112" cy="1509712"/>
          </a:xfrm>
          <a:prstGeom prst="rightBrace">
            <a:avLst>
              <a:gd fmla="val 9109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0"/>
          <p:cNvSpPr/>
          <p:nvPr/>
        </p:nvSpPr>
        <p:spPr>
          <a:xfrm rot="5400000">
            <a:off x="6853030" y="2437825"/>
            <a:ext cx="138113" cy="1509713"/>
          </a:xfrm>
          <a:prstGeom prst="rightBrace">
            <a:avLst>
              <a:gd fmla="val 9109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0"/>
          <p:cNvSpPr txBox="1"/>
          <p:nvPr/>
        </p:nvSpPr>
        <p:spPr>
          <a:xfrm>
            <a:off x="3314700" y="5255845"/>
            <a:ext cx="46996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 is the same!</a:t>
            </a: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" name="Google Shape;490;p31"/>
          <p:cNvSpPr txBox="1"/>
          <p:nvPr/>
        </p:nvSpPr>
        <p:spPr>
          <a:xfrm>
            <a:off x="1052375" y="12135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follows directly from modular arithmetic: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= 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40697" y="474238"/>
            <a:ext cx="122738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/>
          </a:p>
        </p:txBody>
      </p:sp>
      <p:sp>
        <p:nvSpPr>
          <p:cNvPr id="492" name="Google Shape;492;p31"/>
          <p:cNvSpPr txBox="1"/>
          <p:nvPr/>
        </p:nvSpPr>
        <p:spPr>
          <a:xfrm>
            <a:off x="7119648" y="597610"/>
            <a:ext cx="4123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grpSp>
        <p:nvGrpSpPr>
          <p:cNvPr id="493" name="Google Shape;493;p31"/>
          <p:cNvGrpSpPr/>
          <p:nvPr/>
        </p:nvGrpSpPr>
        <p:grpSpPr>
          <a:xfrm>
            <a:off x="2118000" y="377803"/>
            <a:ext cx="5206997" cy="1008063"/>
            <a:chOff x="512" y="1586"/>
            <a:chExt cx="3280" cy="635"/>
          </a:xfrm>
        </p:grpSpPr>
        <p:grpSp>
          <p:nvGrpSpPr>
            <p:cNvPr id="494" name="Google Shape;494;p31"/>
            <p:cNvGrpSpPr/>
            <p:nvPr/>
          </p:nvGrpSpPr>
          <p:grpSpPr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495" name="Google Shape;495;p31"/>
              <p:cNvGrpSpPr/>
              <p:nvPr/>
            </p:nvGrpSpPr>
            <p:grpSpPr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496" name="Google Shape;496;p31"/>
                <p:cNvSpPr txBox="1"/>
                <p:nvPr/>
              </p:nvSpPr>
              <p:spPr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(m)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)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=  m </a:t>
                  </a:r>
                  <a:endParaRPr/>
                </a:p>
              </p:txBody>
            </p:sp>
            <p:sp>
              <p:nvSpPr>
                <p:cNvPr id="497" name="Google Shape;497;p31"/>
                <p:cNvSpPr txBox="1"/>
                <p:nvPr/>
              </p:nvSpPr>
              <p:spPr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31"/>
                <p:cNvSpPr txBox="1"/>
                <p:nvPr/>
              </p:nvSpPr>
              <p:spPr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9" name="Google Shape;499;p31"/>
              <p:cNvSpPr txBox="1"/>
              <p:nvPr/>
            </p:nvSpPr>
            <p:spPr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500" name="Google Shape;500;p31"/>
              <p:cNvSpPr txBox="1"/>
              <p:nvPr/>
            </p:nvSpPr>
            <p:spPr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sp>
          <p:nvSpPr>
            <p:cNvPr id="501" name="Google Shape;501;p31"/>
            <p:cNvSpPr txBox="1"/>
            <p:nvPr/>
          </p:nvSpPr>
          <p:spPr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(m)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  <p:sp>
          <p:nvSpPr>
            <p:cNvPr id="502" name="Google Shape;502;p31"/>
            <p:cNvSpPr txBox="1"/>
            <p:nvPr/>
          </p:nvSpPr>
          <p:spPr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31"/>
            <p:cNvSpPr txBox="1"/>
            <p:nvPr/>
          </p:nvSpPr>
          <p:spPr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31"/>
            <p:cNvSpPr txBox="1"/>
            <p:nvPr/>
          </p:nvSpPr>
          <p:spPr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505" name="Google Shape;505;p31"/>
            <p:cNvSpPr txBox="1"/>
            <p:nvPr/>
          </p:nvSpPr>
          <p:spPr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506" name="Google Shape;506;p31"/>
            <p:cNvSpPr txBox="1"/>
            <p:nvPr/>
          </p:nvSpPr>
          <p:spPr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Why is RSA secure?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32"/>
          <p:cNvSpPr txBox="1"/>
          <p:nvPr/>
        </p:nvSpPr>
        <p:spPr>
          <a:xfrm>
            <a:off x="1040296" y="1464364"/>
            <a:ext cx="11019182" cy="351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 know Bob’s public key (n,e). How hard is it to determine d?</a:t>
            </a:r>
            <a:endParaRPr/>
          </a:p>
          <a:p>
            <a:pPr indent="-339725" lvl="0" marL="3524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essentially need to find factors of n without knowing the two factors p and q 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fact: factoring a big number is hard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 in practice: session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2" name="Google Shape;522;p33"/>
          <p:cNvSpPr txBox="1"/>
          <p:nvPr/>
        </p:nvSpPr>
        <p:spPr>
          <a:xfrm>
            <a:off x="959608" y="1354068"/>
            <a:ext cx="104240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exponentiation in RSA is computationally intensive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is at least 100 times faster than RSA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public key crypto to establish secure connection, then establish second key – symmetric session key – for encrypting data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session key, K</a:t>
            </a:r>
            <a:r>
              <a:rPr baseline="-25000"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22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and Alice use RSA to exchange a symmetric session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22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both have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they use symmetric key cryptography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4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529" name="Google Shape;52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30" name="Google Shape;530;p34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, message integrity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531" name="Google Shape;531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" name="Google Shape;539;p35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5"/>
          <p:cNvSpPr txBox="1"/>
          <p:nvPr/>
        </p:nvSpPr>
        <p:spPr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ap1.0: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5"/>
          <p:cNvSpPr txBox="1"/>
          <p:nvPr/>
        </p:nvSpPr>
        <p:spPr>
          <a:xfrm>
            <a:off x="5840631" y="3671612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pic>
        <p:nvPicPr>
          <p:cNvPr descr="Alice" id="542" name="Google Shape;54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43" name="Google Shape;5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44" name="Google Shape;54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5" name="Google Shape;545;p35"/>
          <p:cNvCxnSpPr/>
          <p:nvPr/>
        </p:nvCxnSpPr>
        <p:spPr>
          <a:xfrm>
            <a:off x="2060506" y="4075872"/>
            <a:ext cx="187007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35"/>
          <p:cNvSpPr txBox="1"/>
          <p:nvPr/>
        </p:nvSpPr>
        <p:spPr>
          <a:xfrm>
            <a:off x="1938310" y="3564145"/>
            <a:ext cx="18998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am Alice”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4" name="Google Shape;554;p36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6"/>
          <p:cNvSpPr txBox="1"/>
          <p:nvPr/>
        </p:nvSpPr>
        <p:spPr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ap1.0: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56" name="Google Shape;5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57" name="Google Shape;55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58" name="Google Shape;55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6"/>
          <p:cNvSpPr txBox="1"/>
          <p:nvPr/>
        </p:nvSpPr>
        <p:spPr>
          <a:xfrm>
            <a:off x="5817858" y="3568133"/>
            <a:ext cx="241969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network, Bob can not “see” Alice, so Trudy simply declares herself to be Alice</a:t>
            </a:r>
            <a:endParaRPr/>
          </a:p>
        </p:txBody>
      </p:sp>
      <p:cxnSp>
        <p:nvCxnSpPr>
          <p:cNvPr id="560" name="Google Shape;560;p36"/>
          <p:cNvCxnSpPr/>
          <p:nvPr/>
        </p:nvCxnSpPr>
        <p:spPr>
          <a:xfrm flipH="1" rot="10800000">
            <a:off x="3460336" y="4301297"/>
            <a:ext cx="773113" cy="10271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36"/>
          <p:cNvSpPr txBox="1"/>
          <p:nvPr/>
        </p:nvSpPr>
        <p:spPr>
          <a:xfrm>
            <a:off x="3669786" y="4829935"/>
            <a:ext cx="19575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am Alice”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0482" y="2548273"/>
            <a:ext cx="3256024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another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0" name="Google Shape;570;p37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71" name="Google Shape;57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72" name="Google Shape;57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73" name="Google Shape;57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7"/>
          <p:cNvSpPr txBox="1"/>
          <p:nvPr/>
        </p:nvSpPr>
        <p:spPr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ap2.0: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in an IP packet containing her source IP address </a:t>
            </a:r>
            <a:endParaRPr/>
          </a:p>
        </p:txBody>
      </p:sp>
      <p:cxnSp>
        <p:nvCxnSpPr>
          <p:cNvPr id="575" name="Google Shape;575;p37"/>
          <p:cNvCxnSpPr/>
          <p:nvPr/>
        </p:nvCxnSpPr>
        <p:spPr>
          <a:xfrm>
            <a:off x="1967119" y="4434716"/>
            <a:ext cx="3798888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76" name="Google Shape;576;p37"/>
          <p:cNvGrpSpPr/>
          <p:nvPr/>
        </p:nvGrpSpPr>
        <p:grpSpPr>
          <a:xfrm>
            <a:off x="2317957" y="3710816"/>
            <a:ext cx="2855913" cy="541337"/>
            <a:chOff x="540" y="1857"/>
            <a:chExt cx="1799" cy="341"/>
          </a:xfrm>
        </p:grpSpPr>
        <p:sp>
          <p:nvSpPr>
            <p:cNvPr id="577" name="Google Shape;577;p37"/>
            <p:cNvSpPr/>
            <p:nvPr/>
          </p:nvSpPr>
          <p:spPr>
            <a:xfrm>
              <a:off x="540" y="1857"/>
              <a:ext cx="1799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7"/>
            <p:cNvSpPr txBox="1"/>
            <p:nvPr/>
          </p:nvSpPr>
          <p:spPr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7"/>
            <p:cNvSpPr txBox="1"/>
            <p:nvPr/>
          </p:nvSpPr>
          <p:spPr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/>
            </a:p>
          </p:txBody>
        </p:sp>
        <p:cxnSp>
          <p:nvCxnSpPr>
            <p:cNvPr id="580" name="Google Shape;580;p37"/>
            <p:cNvCxnSpPr/>
            <p:nvPr/>
          </p:nvCxnSpPr>
          <p:spPr>
            <a:xfrm>
              <a:off x="1336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1" name="Google Shape;581;p37"/>
          <p:cNvSpPr txBox="1"/>
          <p:nvPr/>
        </p:nvSpPr>
        <p:spPr>
          <a:xfrm>
            <a:off x="7722440" y="3910151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another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9" name="Google Shape;589;p38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90" name="Google Shape;5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91" name="Google Shape;59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92" name="Google Shape;59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8"/>
          <p:cNvSpPr txBox="1"/>
          <p:nvPr/>
        </p:nvSpPr>
        <p:spPr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ap2.0: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in an IP packet containing her source IP address </a:t>
            </a:r>
            <a:endParaRPr/>
          </a:p>
        </p:txBody>
      </p:sp>
      <p:cxnSp>
        <p:nvCxnSpPr>
          <p:cNvPr id="594" name="Google Shape;594;p38"/>
          <p:cNvCxnSpPr/>
          <p:nvPr/>
        </p:nvCxnSpPr>
        <p:spPr>
          <a:xfrm flipH="1" rot="10800000">
            <a:off x="3631094" y="4572000"/>
            <a:ext cx="2267433" cy="102518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5" name="Google Shape;595;p38"/>
          <p:cNvGrpSpPr/>
          <p:nvPr/>
        </p:nvGrpSpPr>
        <p:grpSpPr>
          <a:xfrm>
            <a:off x="4332287" y="5075789"/>
            <a:ext cx="2855913" cy="541337"/>
            <a:chOff x="540" y="1857"/>
            <a:chExt cx="1799" cy="341"/>
          </a:xfrm>
        </p:grpSpPr>
        <p:sp>
          <p:nvSpPr>
            <p:cNvPr id="596" name="Google Shape;596;p38"/>
            <p:cNvSpPr/>
            <p:nvPr/>
          </p:nvSpPr>
          <p:spPr>
            <a:xfrm>
              <a:off x="540" y="1857"/>
              <a:ext cx="1799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8"/>
            <p:cNvSpPr txBox="1"/>
            <p:nvPr/>
          </p:nvSpPr>
          <p:spPr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8"/>
            <p:cNvSpPr txBox="1"/>
            <p:nvPr/>
          </p:nvSpPr>
          <p:spPr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/>
            </a:p>
          </p:txBody>
        </p:sp>
        <p:cxnSp>
          <p:nvCxnSpPr>
            <p:cNvPr id="599" name="Google Shape;599;p38"/>
            <p:cNvCxnSpPr/>
            <p:nvPr/>
          </p:nvCxnSpPr>
          <p:spPr>
            <a:xfrm>
              <a:off x="1336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0" name="Google Shape;600;p38"/>
          <p:cNvSpPr txBox="1"/>
          <p:nvPr/>
        </p:nvSpPr>
        <p:spPr>
          <a:xfrm>
            <a:off x="7605743" y="3910151"/>
            <a:ext cx="303903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can create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packet “spoofing”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Alice’s address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8" name="Google Shape;608;p39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09" name="Google Shape;6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10" name="Google Shape;61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11" name="Google Shape;61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9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and sends her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3" name="Google Shape;613;p39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4" name="Google Shape;614;p39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15" name="Google Shape;615;p39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16" name="Google Shape;616;p39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9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9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19" name="Google Shape;619;p39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0" name="Google Shape;620;p39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1" name="Google Shape;621;p39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22" name="Google Shape;622;p39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23" name="Google Shape;623;p39"/>
          <p:cNvSpPr txBox="1"/>
          <p:nvPr/>
        </p:nvSpPr>
        <p:spPr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grpSp>
        <p:nvGrpSpPr>
          <p:cNvPr id="624" name="Google Shape;624;p39"/>
          <p:cNvGrpSpPr/>
          <p:nvPr/>
        </p:nvGrpSpPr>
        <p:grpSpPr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625" name="Google Shape;625;p39"/>
            <p:cNvSpPr/>
            <p:nvPr/>
          </p:nvSpPr>
          <p:spPr>
            <a:xfrm>
              <a:off x="540" y="1857"/>
              <a:ext cx="957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9"/>
            <p:cNvSpPr txBox="1"/>
            <p:nvPr/>
          </p:nvSpPr>
          <p:spPr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</a:t>
              </a:r>
              <a:endParaRPr/>
            </a:p>
          </p:txBody>
        </p:sp>
        <p:cxnSp>
          <p:nvCxnSpPr>
            <p:cNvPr id="627" name="Google Shape;627;p39"/>
            <p:cNvCxnSpPr/>
            <p:nvPr/>
          </p:nvCxnSpPr>
          <p:spPr>
            <a:xfrm>
              <a:off x="1061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8" name="Google Shape;628;p39"/>
            <p:cNvSpPr txBox="1"/>
            <p:nvPr/>
          </p:nvSpPr>
          <p:spPr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/>
            </a:p>
          </p:txBody>
        </p:sp>
      </p:grpSp>
      <p:cxnSp>
        <p:nvCxnSpPr>
          <p:cNvPr id="629" name="Google Shape;629;p39"/>
          <p:cNvCxnSpPr/>
          <p:nvPr/>
        </p:nvCxnSpPr>
        <p:spPr>
          <a:xfrm rot="10800000">
            <a:off x="4638262" y="5168348"/>
            <a:ext cx="88789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7" name="Google Shape;637;p40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38" name="Google Shape;63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39" name="Google Shape;63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40" name="Google Shape;640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0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and sends her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40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43" name="Google Shape;643;p40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44" name="Google Shape;644;p40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45" name="Google Shape;645;p40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40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48" name="Google Shape;648;p40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0" name="Google Shape;650;p40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51" name="Google Shape;651;p40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52" name="Google Shape;652;p40"/>
          <p:cNvGrpSpPr/>
          <p:nvPr/>
        </p:nvGrpSpPr>
        <p:grpSpPr>
          <a:xfrm>
            <a:off x="5565917" y="4959492"/>
            <a:ext cx="1704369" cy="1242318"/>
            <a:chOff x="5565917" y="4959492"/>
            <a:chExt cx="1704369" cy="1242318"/>
          </a:xfrm>
        </p:grpSpPr>
        <p:grpSp>
          <p:nvGrpSpPr>
            <p:cNvPr id="653" name="Google Shape;653;p40"/>
            <p:cNvGrpSpPr/>
            <p:nvPr/>
          </p:nvGrpSpPr>
          <p:grpSpPr>
            <a:xfrm rot="-127396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654" name="Google Shape;654;p40"/>
              <p:cNvSpPr/>
              <p:nvPr/>
            </p:nvSpPr>
            <p:spPr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56" name="Google Shape;656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7" name="Google Shape;657;p40"/>
              <p:cNvSpPr txBox="1"/>
              <p:nvPr/>
            </p:nvSpPr>
            <p:spPr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</p:txBody>
          </p:sp>
        </p:grpSp>
        <p:cxnSp>
          <p:nvCxnSpPr>
            <p:cNvPr id="658" name="Google Shape;658;p40"/>
            <p:cNvCxnSpPr/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EN00179_[1]" id="659" name="Google Shape;659;p40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 rot="-299669">
            <a:off x="2148232" y="5668479"/>
            <a:ext cx="862013" cy="668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0" name="Google Shape;660;p40"/>
          <p:cNvCxnSpPr/>
          <p:nvPr/>
        </p:nvCxnSpPr>
        <p:spPr>
          <a:xfrm rot="-299669">
            <a:off x="2056157" y="4438167"/>
            <a:ext cx="623888" cy="12922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40"/>
          <p:cNvCxnSpPr/>
          <p:nvPr/>
        </p:nvCxnSpPr>
        <p:spPr>
          <a:xfrm flipH="1" rot="10800000">
            <a:off x="3314701" y="4572000"/>
            <a:ext cx="3814970" cy="12987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62" name="Google Shape;662;p40"/>
          <p:cNvGrpSpPr/>
          <p:nvPr/>
        </p:nvGrpSpPr>
        <p:grpSpPr>
          <a:xfrm rot="-1194288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663" name="Google Shape;663;p40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64" name="Google Shape;664;p40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40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67" name="Google Shape;667;p40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" name="Google Shape;668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9" name="Google Shape;669;p40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70" name="Google Shape;670;p40"/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71" name="Google Shape;671;p40"/>
          <p:cNvSpPr txBox="1"/>
          <p:nvPr/>
        </p:nvSpPr>
        <p:spPr>
          <a:xfrm>
            <a:off x="8554348" y="3335476"/>
            <a:ext cx="300196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playback attack: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records Alice’s packet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later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plays it back to Bob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modified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9" name="Google Shape;679;p41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80" name="Google Shape;68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81" name="Google Shape;68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82" name="Google Shape;68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1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and sends her encrypted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41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85" name="Google Shape;685;p41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86" name="Google Shape;686;p41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87" name="Google Shape;687;p41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41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41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90" name="Google Shape;690;p41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" name="Google Shape;691;p41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2" name="Google Shape;692;p41"/>
              <p:cNvSpPr txBox="1"/>
              <p:nvPr/>
            </p:nvSpPr>
            <p:spPr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93" name="Google Shape;693;p41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94" name="Google Shape;694;p41"/>
          <p:cNvSpPr txBox="1"/>
          <p:nvPr/>
        </p:nvSpPr>
        <p:spPr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grpSp>
        <p:nvGrpSpPr>
          <p:cNvPr id="695" name="Google Shape;695;p41"/>
          <p:cNvGrpSpPr/>
          <p:nvPr/>
        </p:nvGrpSpPr>
        <p:grpSpPr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696" name="Google Shape;696;p41"/>
            <p:cNvSpPr/>
            <p:nvPr/>
          </p:nvSpPr>
          <p:spPr>
            <a:xfrm>
              <a:off x="540" y="1857"/>
              <a:ext cx="957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1"/>
            <p:cNvSpPr txBox="1"/>
            <p:nvPr/>
          </p:nvSpPr>
          <p:spPr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</a:t>
              </a:r>
              <a:endParaRPr/>
            </a:p>
          </p:txBody>
        </p:sp>
        <p:cxnSp>
          <p:nvCxnSpPr>
            <p:cNvPr id="698" name="Google Shape;698;p41"/>
            <p:cNvCxnSpPr/>
            <p:nvPr/>
          </p:nvCxnSpPr>
          <p:spPr>
            <a:xfrm>
              <a:off x="1061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9" name="Google Shape;699;p41"/>
            <p:cNvSpPr txBox="1"/>
            <p:nvPr/>
          </p:nvSpPr>
          <p:spPr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/>
            </a:p>
          </p:txBody>
        </p:sp>
      </p:grpSp>
      <p:cxnSp>
        <p:nvCxnSpPr>
          <p:cNvPr id="700" name="Google Shape;700;p41"/>
          <p:cNvCxnSpPr/>
          <p:nvPr/>
        </p:nvCxnSpPr>
        <p:spPr>
          <a:xfrm rot="10800000">
            <a:off x="4638262" y="5168348"/>
            <a:ext cx="88789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modified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8" name="Google Shape;708;p42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709" name="Google Shape;7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710" name="Google Shape;71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11" name="Google Shape;71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2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and sends her encrypted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p42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14" name="Google Shape;714;p42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715" name="Google Shape;715;p42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716" name="Google Shape;716;p42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42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19" name="Google Shape;719;p42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0" name="Google Shape;720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1" name="Google Shape;721;p42"/>
              <p:cNvSpPr txBox="1"/>
              <p:nvPr/>
            </p:nvSpPr>
            <p:spPr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722" name="Google Shape;722;p42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723" name="Google Shape;723;p42"/>
          <p:cNvGrpSpPr/>
          <p:nvPr/>
        </p:nvGrpSpPr>
        <p:grpSpPr>
          <a:xfrm>
            <a:off x="5565917" y="4959492"/>
            <a:ext cx="1704369" cy="1242318"/>
            <a:chOff x="5565917" y="4959492"/>
            <a:chExt cx="1704369" cy="1242318"/>
          </a:xfrm>
        </p:grpSpPr>
        <p:grpSp>
          <p:nvGrpSpPr>
            <p:cNvPr id="724" name="Google Shape;724;p42"/>
            <p:cNvGrpSpPr/>
            <p:nvPr/>
          </p:nvGrpSpPr>
          <p:grpSpPr>
            <a:xfrm rot="-127396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725" name="Google Shape;725;p42"/>
              <p:cNvSpPr/>
              <p:nvPr/>
            </p:nvSpPr>
            <p:spPr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27" name="Google Shape;727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8" name="Google Shape;728;p42"/>
              <p:cNvSpPr txBox="1"/>
              <p:nvPr/>
            </p:nvSpPr>
            <p:spPr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</p:txBody>
          </p:sp>
        </p:grpSp>
        <p:cxnSp>
          <p:nvCxnSpPr>
            <p:cNvPr id="729" name="Google Shape;729;p42"/>
            <p:cNvCxnSpPr/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EN00179_[1]" id="730" name="Google Shape;730;p42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 rot="-299669">
            <a:off x="2148232" y="5668479"/>
            <a:ext cx="862013" cy="668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1" name="Google Shape;731;p42"/>
          <p:cNvCxnSpPr/>
          <p:nvPr/>
        </p:nvCxnSpPr>
        <p:spPr>
          <a:xfrm rot="-299669">
            <a:off x="2056157" y="4438167"/>
            <a:ext cx="623888" cy="12922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2" name="Google Shape;732;p42"/>
          <p:cNvCxnSpPr/>
          <p:nvPr/>
        </p:nvCxnSpPr>
        <p:spPr>
          <a:xfrm flipH="1" rot="10800000">
            <a:off x="3314701" y="4572000"/>
            <a:ext cx="3814970" cy="12987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33" name="Google Shape;733;p42"/>
          <p:cNvGrpSpPr/>
          <p:nvPr/>
        </p:nvGrpSpPr>
        <p:grpSpPr>
          <a:xfrm rot="-1194288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734" name="Google Shape;734;p42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735" name="Google Shape;735;p42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42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38" name="Google Shape;738;p42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9" name="Google Shape;739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0" name="Google Shape;740;p42"/>
              <p:cNvSpPr txBox="1"/>
              <p:nvPr/>
            </p:nvSpPr>
            <p:spPr>
              <a:xfrm>
                <a:off x="1024" y="1863"/>
                <a:ext cx="75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741" name="Google Shape;741;p42"/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42" name="Google Shape;742;p42"/>
          <p:cNvSpPr txBox="1"/>
          <p:nvPr/>
        </p:nvSpPr>
        <p:spPr>
          <a:xfrm>
            <a:off x="8146472" y="3792676"/>
            <a:ext cx="332671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playback attack still works: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records Alice’s packet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later plays it back to Bob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fourth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0" name="Google Shape;750;p43"/>
          <p:cNvSpPr txBox="1"/>
          <p:nvPr/>
        </p:nvSpPr>
        <p:spPr>
          <a:xfrm>
            <a:off x="732182" y="1255643"/>
            <a:ext cx="9684027" cy="612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playback attack</a:t>
            </a:r>
            <a:endParaRPr/>
          </a:p>
        </p:txBody>
      </p:sp>
      <p:sp>
        <p:nvSpPr>
          <p:cNvPr id="751" name="Google Shape;751;p43"/>
          <p:cNvSpPr txBox="1"/>
          <p:nvPr/>
        </p:nvSpPr>
        <p:spPr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ap4.0: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prove Alice “live”, Bob sends Alice nonce, R </a:t>
            </a:r>
            <a:endParaRPr/>
          </a:p>
          <a:p>
            <a:pPr indent="-3397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must return R, encrypted with shared secret key</a:t>
            </a:r>
            <a:endParaRPr/>
          </a:p>
        </p:txBody>
      </p:sp>
      <p:sp>
        <p:nvSpPr>
          <p:cNvPr id="752" name="Google Shape;752;p43"/>
          <p:cNvSpPr txBox="1"/>
          <p:nvPr/>
        </p:nvSpPr>
        <p:spPr>
          <a:xfrm>
            <a:off x="760358" y="1729270"/>
            <a:ext cx="805585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nonce: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(R) used only 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once-in-a-lifetime</a:t>
            </a:r>
            <a:endParaRPr/>
          </a:p>
        </p:txBody>
      </p:sp>
      <p:sp>
        <p:nvSpPr>
          <p:cNvPr id="753" name="Google Shape;753;p43"/>
          <p:cNvSpPr txBox="1"/>
          <p:nvPr/>
        </p:nvSpPr>
        <p:spPr>
          <a:xfrm>
            <a:off x="1169610" y="5576266"/>
            <a:ext cx="36585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Failures, drawbacks?</a:t>
            </a:r>
            <a:endParaRPr/>
          </a:p>
        </p:txBody>
      </p:sp>
      <p:pic>
        <p:nvPicPr>
          <p:cNvPr descr="Alice" id="754" name="Google Shape;7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9131" y="3458679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55" name="Google Shape;75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9517" y="3792192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6" name="Google Shape;756;p43"/>
          <p:cNvGrpSpPr/>
          <p:nvPr/>
        </p:nvGrpSpPr>
        <p:grpSpPr>
          <a:xfrm>
            <a:off x="3966128" y="3573117"/>
            <a:ext cx="3697288" cy="614363"/>
            <a:chOff x="2733675" y="3467100"/>
            <a:chExt cx="3697288" cy="614363"/>
          </a:xfrm>
        </p:grpSpPr>
        <p:cxnSp>
          <p:nvCxnSpPr>
            <p:cNvPr id="757" name="Google Shape;757;p43"/>
            <p:cNvCxnSpPr/>
            <p:nvPr/>
          </p:nvCxnSpPr>
          <p:spPr>
            <a:xfrm>
              <a:off x="2733675" y="3819525"/>
              <a:ext cx="3697288" cy="26193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8" name="Google Shape;758;p43"/>
            <p:cNvSpPr txBox="1"/>
            <p:nvPr/>
          </p:nvSpPr>
          <p:spPr>
            <a:xfrm>
              <a:off x="3779654" y="3467100"/>
              <a:ext cx="164660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/>
            </a:p>
          </p:txBody>
        </p:sp>
      </p:grpSp>
      <p:grpSp>
        <p:nvGrpSpPr>
          <p:cNvPr id="759" name="Google Shape;759;p43"/>
          <p:cNvGrpSpPr/>
          <p:nvPr/>
        </p:nvGrpSpPr>
        <p:grpSpPr>
          <a:xfrm>
            <a:off x="3959778" y="4247805"/>
            <a:ext cx="3697288" cy="557212"/>
            <a:chOff x="2727325" y="4141788"/>
            <a:chExt cx="3697288" cy="557212"/>
          </a:xfrm>
        </p:grpSpPr>
        <p:cxnSp>
          <p:nvCxnSpPr>
            <p:cNvPr id="760" name="Google Shape;760;p43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1" name="Google Shape;761;p43"/>
            <p:cNvSpPr txBox="1"/>
            <p:nvPr/>
          </p:nvSpPr>
          <p:spPr>
            <a:xfrm>
              <a:off x="4305030" y="4141788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762" name="Google Shape;762;p43"/>
          <p:cNvGrpSpPr/>
          <p:nvPr/>
        </p:nvGrpSpPr>
        <p:grpSpPr>
          <a:xfrm>
            <a:off x="3967716" y="4806605"/>
            <a:ext cx="7442403" cy="1421928"/>
            <a:chOff x="2735263" y="4700588"/>
            <a:chExt cx="7442403" cy="1421928"/>
          </a:xfrm>
        </p:grpSpPr>
        <p:cxnSp>
          <p:nvCxnSpPr>
            <p:cNvPr id="763" name="Google Shape;763;p43"/>
            <p:cNvCxnSpPr/>
            <p:nvPr/>
          </p:nvCxnSpPr>
          <p:spPr>
            <a:xfrm>
              <a:off x="2735263" y="5097463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64" name="Google Shape;764;p43"/>
            <p:cNvGrpSpPr/>
            <p:nvPr/>
          </p:nvGrpSpPr>
          <p:grpSpPr>
            <a:xfrm>
              <a:off x="4573589" y="4743450"/>
              <a:ext cx="973138" cy="581025"/>
              <a:chOff x="2726" y="3555"/>
              <a:chExt cx="613" cy="366"/>
            </a:xfrm>
          </p:grpSpPr>
          <p:sp>
            <p:nvSpPr>
              <p:cNvPr id="765" name="Google Shape;765;p43"/>
              <p:cNvSpPr txBox="1"/>
              <p:nvPr/>
            </p:nvSpPr>
            <p:spPr>
              <a:xfrm>
                <a:off x="2726" y="3555"/>
                <a:ext cx="6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 (R)</a:t>
                </a:r>
                <a:endParaRPr/>
              </a:p>
            </p:txBody>
          </p:sp>
          <p:sp>
            <p:nvSpPr>
              <p:cNvPr id="766" name="Google Shape;766;p43"/>
              <p:cNvSpPr txBox="1"/>
              <p:nvPr/>
            </p:nvSpPr>
            <p:spPr>
              <a:xfrm>
                <a:off x="2811" y="3688"/>
                <a:ext cx="322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A-B</a:t>
                </a:r>
                <a:endParaRPr/>
              </a:p>
            </p:txBody>
          </p:sp>
        </p:grpSp>
        <p:sp>
          <p:nvSpPr>
            <p:cNvPr id="767" name="Google Shape;767;p43"/>
            <p:cNvSpPr txBox="1"/>
            <p:nvPr/>
          </p:nvSpPr>
          <p:spPr>
            <a:xfrm>
              <a:off x="6501569" y="4700588"/>
              <a:ext cx="3676097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know Alice is live, and only Alice knows key to encrypt nonce, so it must be Alice!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5" name="Google Shape;775;p44"/>
          <p:cNvSpPr txBox="1"/>
          <p:nvPr/>
        </p:nvSpPr>
        <p:spPr>
          <a:xfrm>
            <a:off x="791749" y="1134512"/>
            <a:ext cx="10923173" cy="1625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ap4.0 requires shared symmetric key  - can we authenticate using public key techniques?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ap5.0: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nonce, public key cryptography</a:t>
            </a:r>
            <a:endParaRPr/>
          </a:p>
        </p:txBody>
      </p:sp>
      <p:pic>
        <p:nvPicPr>
          <p:cNvPr descr="Alice" id="776" name="Google Shape;77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983" y="2875583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77" name="Google Shape;77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8369" y="3209096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8" name="Google Shape;778;p44"/>
          <p:cNvGrpSpPr/>
          <p:nvPr/>
        </p:nvGrpSpPr>
        <p:grpSpPr>
          <a:xfrm>
            <a:off x="3064980" y="3241813"/>
            <a:ext cx="3697288" cy="461665"/>
            <a:chOff x="2733675" y="3718892"/>
            <a:chExt cx="3697288" cy="461665"/>
          </a:xfrm>
        </p:grpSpPr>
        <p:cxnSp>
          <p:nvCxnSpPr>
            <p:cNvPr id="779" name="Google Shape;779;p44"/>
            <p:cNvCxnSpPr/>
            <p:nvPr/>
          </p:nvCxnSpPr>
          <p:spPr>
            <a:xfrm>
              <a:off x="2733675" y="3819525"/>
              <a:ext cx="3697288" cy="26193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0" name="Google Shape;780;p44"/>
            <p:cNvSpPr txBox="1"/>
            <p:nvPr/>
          </p:nvSpPr>
          <p:spPr>
            <a:xfrm>
              <a:off x="3766402" y="3718892"/>
              <a:ext cx="1646605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/>
            </a:p>
          </p:txBody>
        </p:sp>
      </p:grpSp>
      <p:grpSp>
        <p:nvGrpSpPr>
          <p:cNvPr id="781" name="Google Shape;781;p44"/>
          <p:cNvGrpSpPr/>
          <p:nvPr/>
        </p:nvGrpSpPr>
        <p:grpSpPr>
          <a:xfrm>
            <a:off x="3058630" y="3757474"/>
            <a:ext cx="3697288" cy="523220"/>
            <a:chOff x="2727325" y="4234553"/>
            <a:chExt cx="3697288" cy="523220"/>
          </a:xfrm>
        </p:grpSpPr>
        <p:cxnSp>
          <p:nvCxnSpPr>
            <p:cNvPr id="782" name="Google Shape;782;p44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3" name="Google Shape;783;p44"/>
            <p:cNvSpPr txBox="1"/>
            <p:nvPr/>
          </p:nvSpPr>
          <p:spPr>
            <a:xfrm>
              <a:off x="4370115" y="4234553"/>
              <a:ext cx="380232" cy="5232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784" name="Google Shape;784;p44"/>
          <p:cNvGrpSpPr/>
          <p:nvPr/>
        </p:nvGrpSpPr>
        <p:grpSpPr>
          <a:xfrm>
            <a:off x="3086100" y="4124601"/>
            <a:ext cx="3697287" cy="676275"/>
            <a:chOff x="3086100" y="4124601"/>
            <a:chExt cx="3697287" cy="676275"/>
          </a:xfrm>
        </p:grpSpPr>
        <p:cxnSp>
          <p:nvCxnSpPr>
            <p:cNvPr id="785" name="Google Shape;785;p44"/>
            <p:cNvCxnSpPr/>
            <p:nvPr/>
          </p:nvCxnSpPr>
          <p:spPr>
            <a:xfrm>
              <a:off x="3086100" y="4408349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86" name="Google Shape;786;p44"/>
            <p:cNvGrpSpPr/>
            <p:nvPr/>
          </p:nvGrpSpPr>
          <p:grpSpPr>
            <a:xfrm>
              <a:off x="4409040" y="4124601"/>
              <a:ext cx="1028700" cy="676275"/>
              <a:chOff x="2852" y="2891"/>
              <a:chExt cx="648" cy="426"/>
            </a:xfrm>
          </p:grpSpPr>
          <p:sp>
            <p:nvSpPr>
              <p:cNvPr id="787" name="Google Shape;787;p44"/>
              <p:cNvSpPr txBox="1"/>
              <p:nvPr/>
            </p:nvSpPr>
            <p:spPr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88" name="Google Shape;788;p44"/>
              <p:cNvSpPr txBox="1"/>
              <p:nvPr/>
            </p:nvSpPr>
            <p:spPr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89" name="Google Shape;789;p44"/>
              <p:cNvSpPr txBox="1"/>
              <p:nvPr/>
            </p:nvSpPr>
            <p:spPr>
              <a:xfrm>
                <a:off x="2992" y="2891"/>
                <a:ext cx="17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790" name="Google Shape;790;p44"/>
          <p:cNvGrpSpPr/>
          <p:nvPr/>
        </p:nvGrpSpPr>
        <p:grpSpPr>
          <a:xfrm>
            <a:off x="2985743" y="5009805"/>
            <a:ext cx="3697288" cy="369332"/>
            <a:chOff x="2727325" y="4380327"/>
            <a:chExt cx="3697288" cy="369332"/>
          </a:xfrm>
        </p:grpSpPr>
        <p:cxnSp>
          <p:nvCxnSpPr>
            <p:cNvPr id="791" name="Google Shape;791;p44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2" name="Google Shape;792;p44"/>
            <p:cNvSpPr txBox="1"/>
            <p:nvPr/>
          </p:nvSpPr>
          <p:spPr>
            <a:xfrm>
              <a:off x="3364913" y="4380327"/>
              <a:ext cx="2470163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793" name="Google Shape;793;p44"/>
          <p:cNvGrpSpPr/>
          <p:nvPr/>
        </p:nvGrpSpPr>
        <p:grpSpPr>
          <a:xfrm>
            <a:off x="3072848" y="5310670"/>
            <a:ext cx="3697287" cy="676275"/>
            <a:chOff x="3072848" y="5310670"/>
            <a:chExt cx="3697287" cy="676275"/>
          </a:xfrm>
        </p:grpSpPr>
        <p:cxnSp>
          <p:nvCxnSpPr>
            <p:cNvPr id="794" name="Google Shape;794;p44"/>
            <p:cNvCxnSpPr/>
            <p:nvPr/>
          </p:nvCxnSpPr>
          <p:spPr>
            <a:xfrm>
              <a:off x="3072848" y="5647428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95" name="Google Shape;795;p44"/>
            <p:cNvGrpSpPr/>
            <p:nvPr/>
          </p:nvGrpSpPr>
          <p:grpSpPr>
            <a:xfrm>
              <a:off x="4495179" y="5310670"/>
              <a:ext cx="1028700" cy="676275"/>
              <a:chOff x="2852" y="2891"/>
              <a:chExt cx="648" cy="426"/>
            </a:xfrm>
          </p:grpSpPr>
          <p:sp>
            <p:nvSpPr>
              <p:cNvPr id="796" name="Google Shape;796;p44"/>
              <p:cNvSpPr txBox="1"/>
              <p:nvPr/>
            </p:nvSpPr>
            <p:spPr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97" name="Google Shape;797;p44"/>
              <p:cNvSpPr txBox="1"/>
              <p:nvPr/>
            </p:nvSpPr>
            <p:spPr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98" name="Google Shape;798;p44"/>
              <p:cNvSpPr txBox="1"/>
              <p:nvPr/>
            </p:nvSpPr>
            <p:spPr>
              <a:xfrm>
                <a:off x="2978" y="2891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799" name="Google Shape;799;p44"/>
          <p:cNvGrpSpPr/>
          <p:nvPr/>
        </p:nvGrpSpPr>
        <p:grpSpPr>
          <a:xfrm>
            <a:off x="6970643" y="3647722"/>
            <a:ext cx="4818978" cy="2819542"/>
            <a:chOff x="6970643" y="3647722"/>
            <a:chExt cx="4818978" cy="2819542"/>
          </a:xfrm>
        </p:grpSpPr>
        <p:sp>
          <p:nvSpPr>
            <p:cNvPr id="800" name="Google Shape;800;p44"/>
            <p:cNvSpPr txBox="1"/>
            <p:nvPr/>
          </p:nvSpPr>
          <p:spPr>
            <a:xfrm>
              <a:off x="8433479" y="3647722"/>
              <a:ext cx="254793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801" name="Google Shape;801;p44"/>
            <p:cNvSpPr txBox="1"/>
            <p:nvPr/>
          </p:nvSpPr>
          <p:spPr>
            <a:xfrm>
              <a:off x="8473314" y="4710956"/>
              <a:ext cx="331630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knows only Alice could have the private key, that encrypted R such that</a:t>
              </a:r>
              <a:endParaRPr/>
            </a:p>
          </p:txBody>
        </p:sp>
        <p:grpSp>
          <p:nvGrpSpPr>
            <p:cNvPr id="802" name="Google Shape;802;p44"/>
            <p:cNvGrpSpPr/>
            <p:nvPr/>
          </p:nvGrpSpPr>
          <p:grpSpPr>
            <a:xfrm>
              <a:off x="8450469" y="5513107"/>
              <a:ext cx="2051879" cy="954157"/>
              <a:chOff x="942" y="3588"/>
              <a:chExt cx="1183" cy="522"/>
            </a:xfrm>
          </p:grpSpPr>
          <p:sp>
            <p:nvSpPr>
              <p:cNvPr id="803" name="Google Shape;803;p44"/>
              <p:cNvSpPr txBox="1"/>
              <p:nvPr/>
            </p:nvSpPr>
            <p:spPr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(R)) = R</a:t>
                </a:r>
                <a:endParaRPr/>
              </a:p>
            </p:txBody>
          </p:sp>
          <p:sp>
            <p:nvSpPr>
              <p:cNvPr id="804" name="Google Shape;804;p44"/>
              <p:cNvSpPr txBox="1"/>
              <p:nvPr/>
            </p:nvSpPr>
            <p:spPr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05" name="Google Shape;805;p44"/>
              <p:cNvSpPr txBox="1"/>
              <p:nvPr/>
            </p:nvSpPr>
            <p:spPr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806" name="Google Shape;806;p44"/>
              <p:cNvSpPr txBox="1"/>
              <p:nvPr/>
            </p:nvSpPr>
            <p:spPr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07" name="Google Shape;807;p44"/>
              <p:cNvSpPr txBox="1"/>
              <p:nvPr/>
            </p:nvSpPr>
            <p:spPr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08" name="Google Shape;808;p44"/>
              <p:cNvSpPr txBox="1"/>
              <p:nvPr/>
            </p:nvSpPr>
            <p:spPr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grpSp>
          <p:nvGrpSpPr>
            <p:cNvPr id="809" name="Google Shape;809;p44"/>
            <p:cNvGrpSpPr/>
            <p:nvPr/>
          </p:nvGrpSpPr>
          <p:grpSpPr>
            <a:xfrm>
              <a:off x="8443844" y="3896138"/>
              <a:ext cx="2051879" cy="954157"/>
              <a:chOff x="942" y="3588"/>
              <a:chExt cx="1183" cy="522"/>
            </a:xfrm>
          </p:grpSpPr>
          <p:sp>
            <p:nvSpPr>
              <p:cNvPr id="810" name="Google Shape;810;p44"/>
              <p:cNvSpPr txBox="1"/>
              <p:nvPr/>
            </p:nvSpPr>
            <p:spPr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(R)) = R</a:t>
                </a:r>
                <a:endParaRPr/>
              </a:p>
            </p:txBody>
          </p:sp>
          <p:sp>
            <p:nvSpPr>
              <p:cNvPr id="811" name="Google Shape;811;p44"/>
              <p:cNvSpPr txBox="1"/>
              <p:nvPr/>
            </p:nvSpPr>
            <p:spPr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12" name="Google Shape;812;p44"/>
              <p:cNvSpPr txBox="1"/>
              <p:nvPr/>
            </p:nvSpPr>
            <p:spPr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813" name="Google Shape;813;p44"/>
              <p:cNvSpPr txBox="1"/>
              <p:nvPr/>
            </p:nvSpPr>
            <p:spPr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14" name="Google Shape;814;p44"/>
              <p:cNvSpPr txBox="1"/>
              <p:nvPr/>
            </p:nvSpPr>
            <p:spPr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15" name="Google Shape;815;p44"/>
              <p:cNvSpPr txBox="1"/>
              <p:nvPr/>
            </p:nvSpPr>
            <p:spPr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cxnSp>
          <p:nvCxnSpPr>
            <p:cNvPr id="816" name="Google Shape;816;p44"/>
            <p:cNvCxnSpPr/>
            <p:nvPr/>
          </p:nvCxnSpPr>
          <p:spPr>
            <a:xfrm>
              <a:off x="8375374" y="3806822"/>
              <a:ext cx="0" cy="2487961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" name="Google Shape;817;p44"/>
            <p:cNvCxnSpPr/>
            <p:nvPr/>
          </p:nvCxnSpPr>
          <p:spPr>
            <a:xfrm>
              <a:off x="6970643" y="5917096"/>
              <a:ext cx="1398105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 – there’s still a flaw!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p45"/>
          <p:cNvSpPr txBox="1"/>
          <p:nvPr/>
        </p:nvSpPr>
        <p:spPr>
          <a:xfrm>
            <a:off x="533400" y="1137272"/>
            <a:ext cx="10768980" cy="91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 (or woman) in the middle attack: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poses as Alice (to Bob) and as Bob (to Alice)</a:t>
            </a:r>
            <a:endParaRPr/>
          </a:p>
        </p:txBody>
      </p:sp>
      <p:pic>
        <p:nvPicPr>
          <p:cNvPr descr="Bob" id="826" name="Google Shape;8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827" name="Google Shape;82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828" name="Google Shape;82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9" name="Google Shape;829;p45"/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cxnSp>
          <p:nvCxnSpPr>
            <p:cNvPr id="830" name="Google Shape;830;p45"/>
            <p:cNvCxnSpPr/>
            <p:nvPr/>
          </p:nvCxnSpPr>
          <p:spPr>
            <a:xfrm>
              <a:off x="2221395" y="2638357"/>
              <a:ext cx="26009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1" name="Google Shape;831;p45"/>
            <p:cNvSpPr txBox="1"/>
            <p:nvPr/>
          </p:nvSpPr>
          <p:spPr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832" name="Google Shape;832;p45"/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cxnSp>
          <p:nvCxnSpPr>
            <p:cNvPr id="833" name="Google Shape;833;p45"/>
            <p:cNvCxnSpPr/>
            <p:nvPr/>
          </p:nvCxnSpPr>
          <p:spPr>
            <a:xfrm>
              <a:off x="6760197" y="2678044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4" name="Google Shape;834;p45"/>
            <p:cNvSpPr txBox="1"/>
            <p:nvPr/>
          </p:nvSpPr>
          <p:spPr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835" name="Google Shape;835;p45"/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cxnSp>
          <p:nvCxnSpPr>
            <p:cNvPr id="836" name="Google Shape;836;p45"/>
            <p:cNvCxnSpPr/>
            <p:nvPr/>
          </p:nvCxnSpPr>
          <p:spPr>
            <a:xfrm flipH="1">
              <a:off x="6864626" y="3363843"/>
              <a:ext cx="2167283" cy="3865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7" name="Google Shape;837;p45"/>
            <p:cNvSpPr txBox="1"/>
            <p:nvPr/>
          </p:nvSpPr>
          <p:spPr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838" name="Google Shape;838;p45"/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cxnSp>
          <p:nvCxnSpPr>
            <p:cNvPr id="839" name="Google Shape;839;p45"/>
            <p:cNvCxnSpPr/>
            <p:nvPr/>
          </p:nvCxnSpPr>
          <p:spPr>
            <a:xfrm flipH="1">
              <a:off x="2221395" y="4074629"/>
              <a:ext cx="2546972" cy="338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0" name="Google Shape;840;p45"/>
            <p:cNvSpPr txBox="1"/>
            <p:nvPr/>
          </p:nvSpPr>
          <p:spPr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841" name="Google Shape;841;p45"/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842" name="Google Shape;842;p45"/>
            <p:cNvGrpSpPr/>
            <p:nvPr/>
          </p:nvGrpSpPr>
          <p:grpSpPr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843" name="Google Shape;843;p45"/>
              <p:cNvSpPr txBox="1"/>
              <p:nvPr/>
            </p:nvSpPr>
            <p:spPr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44" name="Google Shape;844;p45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845" name="Google Shape;845;p45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846" name="Google Shape;846;p45"/>
              <p:cNvSpPr txBox="1"/>
              <p:nvPr/>
            </p:nvSpPr>
            <p:spPr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47" name="Google Shape;847;p45"/>
              <p:cNvSpPr txBox="1"/>
              <p:nvPr/>
            </p:nvSpPr>
            <p:spPr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848" name="Google Shape;848;p45"/>
            <p:cNvSpPr txBox="1"/>
            <p:nvPr/>
          </p:nvSpPr>
          <p:spPr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m:</a:t>
              </a:r>
              <a:endParaRPr/>
            </a:p>
          </p:txBody>
        </p:sp>
        <p:sp>
          <p:nvSpPr>
            <p:cNvPr id="849" name="Google Shape;849;p45"/>
            <p:cNvSpPr txBox="1"/>
            <p:nvPr/>
          </p:nvSpPr>
          <p:spPr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sends m to Alice encrypted with Alice’s public key</a:t>
              </a:r>
              <a:endParaRPr/>
            </a:p>
          </p:txBody>
        </p:sp>
      </p:grpSp>
      <p:grpSp>
        <p:nvGrpSpPr>
          <p:cNvPr id="850" name="Google Shape;850;p45"/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cxnSp>
          <p:nvCxnSpPr>
            <p:cNvPr id="851" name="Google Shape;851;p45"/>
            <p:cNvCxnSpPr/>
            <p:nvPr/>
          </p:nvCxnSpPr>
          <p:spPr>
            <a:xfrm>
              <a:off x="6828459" y="3195569"/>
              <a:ext cx="22494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52" name="Google Shape;852;p45"/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853" name="Google Shape;853;p45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45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55" name="Google Shape;855;p45"/>
              <p:cNvSpPr txBox="1"/>
              <p:nvPr/>
            </p:nvSpPr>
            <p:spPr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856" name="Google Shape;856;p45"/>
              <p:cNvSpPr txBox="1"/>
              <p:nvPr/>
            </p:nvSpPr>
            <p:spPr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857" name="Google Shape;857;p45"/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cxnSp>
          <p:nvCxnSpPr>
            <p:cNvPr id="858" name="Google Shape;858;p45"/>
            <p:cNvCxnSpPr/>
            <p:nvPr/>
          </p:nvCxnSpPr>
          <p:spPr>
            <a:xfrm flipH="1">
              <a:off x="6799884" y="2746307"/>
              <a:ext cx="2165350" cy="2809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59" name="Google Shape;859;p45"/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860" name="Google Shape;860;p45"/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45"/>
              <p:cNvSpPr txBox="1"/>
              <p:nvPr/>
            </p:nvSpPr>
            <p:spPr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/>
              </a:p>
            </p:txBody>
          </p:sp>
        </p:grpSp>
      </p:grpSp>
      <p:grpSp>
        <p:nvGrpSpPr>
          <p:cNvPr id="862" name="Google Shape;862;p45"/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cxnSp>
          <p:nvCxnSpPr>
            <p:cNvPr id="863" name="Google Shape;863;p45"/>
            <p:cNvCxnSpPr/>
            <p:nvPr/>
          </p:nvCxnSpPr>
          <p:spPr>
            <a:xfrm>
              <a:off x="6896722" y="3882957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64" name="Google Shape;864;p45"/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865" name="Google Shape;865;p45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45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67" name="Google Shape;867;p45"/>
              <p:cNvSpPr txBox="1"/>
              <p:nvPr/>
            </p:nvSpPr>
            <p:spPr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68" name="Google Shape;868;p45"/>
              <p:cNvSpPr txBox="1"/>
              <p:nvPr/>
            </p:nvSpPr>
            <p:spPr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869" name="Google Shape;869;p45"/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870" name="Google Shape;870;p45"/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1" name="Google Shape;871;p45"/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872" name="Google Shape;872;p45"/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873" name="Google Shape;873;p45"/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45"/>
                <p:cNvSpPr txBox="1"/>
                <p:nvPr/>
              </p:nvSpPr>
              <p:spPr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875" name="Google Shape;875;p45"/>
                <p:cNvSpPr txBox="1"/>
                <p:nvPr/>
              </p:nvSpPr>
              <p:spPr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endParaRPr/>
                </a:p>
              </p:txBody>
            </p:sp>
            <p:sp>
              <p:nvSpPr>
                <p:cNvPr id="876" name="Google Shape;876;p45"/>
                <p:cNvSpPr txBox="1"/>
                <p:nvPr/>
              </p:nvSpPr>
              <p:spPr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  <p:sp>
            <p:nvSpPr>
              <p:cNvPr id="877" name="Google Shape;877;p45"/>
              <p:cNvSpPr txBox="1"/>
              <p:nvPr/>
            </p:nvSpPr>
            <p:spPr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 (R)) =  R,</a:t>
                </a:r>
                <a:endParaRPr/>
              </a:p>
            </p:txBody>
          </p:sp>
          <p:grpSp>
            <p:nvGrpSpPr>
              <p:cNvPr id="878" name="Google Shape;878;p45"/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879" name="Google Shape;879;p45"/>
                <p:cNvSpPr txBox="1"/>
                <p:nvPr/>
              </p:nvSpPr>
              <p:spPr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880" name="Google Shape;880;p45"/>
                <p:cNvSpPr txBox="1"/>
                <p:nvPr/>
              </p:nvSpPr>
              <p:spPr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</p:grpSp>
        </p:grpSp>
        <p:sp>
          <p:nvSpPr>
            <p:cNvPr id="881" name="Google Shape;881;p45"/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882" name="Google Shape;882;p45"/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authenticating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as Alice</a:t>
              </a:r>
              <a:endParaRPr/>
            </a:p>
          </p:txBody>
        </p:sp>
      </p:grpSp>
      <p:sp>
        <p:nvSpPr>
          <p:cNvPr id="883" name="Google Shape;883;p45"/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4" name="Google Shape;884;p45"/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cxnSp>
          <p:nvCxnSpPr>
            <p:cNvPr id="885" name="Google Shape;885;p45"/>
            <p:cNvCxnSpPr/>
            <p:nvPr/>
          </p:nvCxnSpPr>
          <p:spPr>
            <a:xfrm flipH="1">
              <a:off x="2221395" y="3390832"/>
              <a:ext cx="2480297" cy="3218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86" name="Google Shape;886;p45"/>
            <p:cNvSpPr txBox="1"/>
            <p:nvPr/>
          </p:nvSpPr>
          <p:spPr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887" name="Google Shape;887;p45"/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cxnSp>
          <p:nvCxnSpPr>
            <p:cNvPr id="888" name="Google Shape;888;p45"/>
            <p:cNvCxnSpPr/>
            <p:nvPr/>
          </p:nvCxnSpPr>
          <p:spPr>
            <a:xfrm>
              <a:off x="2221395" y="3840094"/>
              <a:ext cx="25930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89" name="Google Shape;889;p45"/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890" name="Google Shape;890;p45"/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45"/>
              <p:cNvSpPr txBox="1"/>
              <p:nvPr/>
            </p:nvSpPr>
            <p:spPr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92" name="Google Shape;892;p45"/>
              <p:cNvSpPr txBox="1"/>
              <p:nvPr/>
            </p:nvSpPr>
            <p:spPr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893" name="Google Shape;893;p45"/>
              <p:cNvSpPr txBox="1"/>
              <p:nvPr/>
            </p:nvSpPr>
            <p:spPr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894" name="Google Shape;894;p45"/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cxnSp>
          <p:nvCxnSpPr>
            <p:cNvPr id="895" name="Google Shape;895;p45"/>
            <p:cNvCxnSpPr/>
            <p:nvPr/>
          </p:nvCxnSpPr>
          <p:spPr>
            <a:xfrm>
              <a:off x="2221395" y="4527482"/>
              <a:ext cx="2661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96" name="Google Shape;896;p45"/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897" name="Google Shape;897;p45"/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45"/>
              <p:cNvSpPr txBox="1"/>
              <p:nvPr/>
            </p:nvSpPr>
            <p:spPr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99" name="Google Shape;899;p45"/>
              <p:cNvSpPr txBox="1"/>
              <p:nvPr/>
            </p:nvSpPr>
            <p:spPr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00" name="Google Shape;900;p45"/>
              <p:cNvSpPr txBox="1"/>
              <p:nvPr/>
            </p:nvSpPr>
            <p:spPr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901" name="Google Shape;901;p45"/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2" name="Google Shape;902;p45"/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cxnSp>
          <p:nvCxnSpPr>
            <p:cNvPr id="903" name="Google Shape;903;p45"/>
            <p:cNvCxnSpPr/>
            <p:nvPr/>
          </p:nvCxnSpPr>
          <p:spPr>
            <a:xfrm rot="10800000">
              <a:off x="6941172" y="5117202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04" name="Google Shape;904;p45"/>
            <p:cNvGrpSpPr/>
            <p:nvPr/>
          </p:nvGrpSpPr>
          <p:grpSpPr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905" name="Google Shape;905;p45"/>
              <p:cNvSpPr txBox="1"/>
              <p:nvPr/>
            </p:nvSpPr>
            <p:spPr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(m)</a:t>
                </a:r>
                <a:endParaRPr/>
              </a:p>
            </p:txBody>
          </p:sp>
          <p:sp>
            <p:nvSpPr>
              <p:cNvPr id="906" name="Google Shape;906;p45"/>
              <p:cNvSpPr txBox="1"/>
              <p:nvPr/>
            </p:nvSpPr>
            <p:spPr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07" name="Google Shape;907;p45"/>
              <p:cNvSpPr txBox="1"/>
              <p:nvPr/>
            </p:nvSpPr>
            <p:spPr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</p:grpSp>
      </p:grpSp>
      <p:sp>
        <p:nvSpPr>
          <p:cNvPr id="908" name="Google Shape;908;p45"/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sends a personal message, m to Alice</a:t>
            </a:r>
            <a:endParaRPr/>
          </a:p>
        </p:txBody>
      </p:sp>
      <p:grpSp>
        <p:nvGrpSpPr>
          <p:cNvPr id="909" name="Google Shape;909;p45"/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cxnSp>
          <p:nvCxnSpPr>
            <p:cNvPr id="910" name="Google Shape;910;p45"/>
            <p:cNvCxnSpPr/>
            <p:nvPr/>
          </p:nvCxnSpPr>
          <p:spPr>
            <a:xfrm rot="10800000">
              <a:off x="2601085" y="5367337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1" name="Google Shape;911;p45"/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" name="Google Shape;912;p45"/>
            <p:cNvGrpSpPr/>
            <p:nvPr/>
          </p:nvGrpSpPr>
          <p:grpSpPr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913" name="Google Shape;913;p45"/>
              <p:cNvSpPr txBox="1"/>
              <p:nvPr/>
            </p:nvSpPr>
            <p:spPr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45"/>
              <p:cNvSpPr txBox="1"/>
              <p:nvPr/>
            </p:nvSpPr>
            <p:spPr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(m)</a:t>
                </a:r>
                <a:endParaRPr/>
              </a:p>
            </p:txBody>
          </p:sp>
          <p:sp>
            <p:nvSpPr>
              <p:cNvPr id="915" name="Google Shape;915;p45"/>
              <p:cNvSpPr txBox="1"/>
              <p:nvPr/>
            </p:nvSpPr>
            <p:spPr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916" name="Google Shape;916;p45"/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917" name="Google Shape;917;p45"/>
            <p:cNvGrpSpPr/>
            <p:nvPr/>
          </p:nvGrpSpPr>
          <p:grpSpPr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918" name="Google Shape;918;p45"/>
              <p:cNvSpPr txBox="1"/>
              <p:nvPr/>
            </p:nvSpPr>
            <p:spPr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919" name="Google Shape;919;p45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920" name="Google Shape;920;p45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21" name="Google Shape;921;p45"/>
              <p:cNvSpPr txBox="1"/>
              <p:nvPr/>
            </p:nvSpPr>
            <p:spPr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922" name="Google Shape;922;p45"/>
              <p:cNvSpPr txBox="1"/>
              <p:nvPr/>
            </p:nvSpPr>
            <p:spPr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923" name="Google Shape;923;p45"/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Bob’s m:</a:t>
              </a:r>
              <a:endParaRPr/>
            </a:p>
          </p:txBody>
        </p:sp>
        <p:sp>
          <p:nvSpPr>
            <p:cNvPr id="924" name="Google Shape;924;p45"/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she and Bob meet a week later in person and discuss m, not knowing Trudy knows m</a:t>
              </a:r>
              <a:endParaRPr/>
            </a:p>
          </p:txBody>
        </p:sp>
      </p:grpSp>
      <p:grpSp>
        <p:nvGrpSpPr>
          <p:cNvPr id="925" name="Google Shape;925;p45"/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926" name="Google Shape;926;p45"/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927" name="Google Shape;927;p45"/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Where are mistakes made here?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6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934" name="Google Shape;93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935" name="Google Shape;935;p46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936" name="Google Shape;936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signatures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4" name="Google Shape;944;p47"/>
          <p:cNvSpPr txBox="1"/>
          <p:nvPr/>
        </p:nvSpPr>
        <p:spPr>
          <a:xfrm>
            <a:off x="671444" y="1174405"/>
            <a:ext cx="11215756" cy="33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cryptographic technique analogous to hand-written signatures: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(Bob) digitally signs document: he is document owner/creator.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verifiable, nonforgeable: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recipient (Alice) can prove to someone that Bob, and no one else (including Alice), must have signed document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simple digital signature for message m: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signs m by encrypting with his private key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creating “signed” message,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7"/>
          <p:cNvSpPr txBox="1"/>
          <p:nvPr/>
        </p:nvSpPr>
        <p:spPr>
          <a:xfrm>
            <a:off x="1593367" y="4292739"/>
            <a:ext cx="2735262" cy="39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Bob’s message, m</a:t>
            </a:r>
            <a:endParaRPr/>
          </a:p>
        </p:txBody>
      </p:sp>
      <p:sp>
        <p:nvSpPr>
          <p:cNvPr id="946" name="Google Shape;946;p47"/>
          <p:cNvSpPr/>
          <p:nvPr/>
        </p:nvSpPr>
        <p:spPr>
          <a:xfrm>
            <a:off x="5082692" y="5054739"/>
            <a:ext cx="1516891" cy="1147279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47"/>
          <p:cNvSpPr txBox="1"/>
          <p:nvPr/>
        </p:nvSpPr>
        <p:spPr>
          <a:xfrm>
            <a:off x="5162134" y="5102916"/>
            <a:ext cx="136842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encryption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/>
          </a:p>
        </p:txBody>
      </p:sp>
      <p:cxnSp>
        <p:nvCxnSpPr>
          <p:cNvPr id="948" name="Google Shape;948;p47"/>
          <p:cNvCxnSpPr/>
          <p:nvPr/>
        </p:nvCxnSpPr>
        <p:spPr>
          <a:xfrm>
            <a:off x="4205080" y="5531541"/>
            <a:ext cx="67468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" name="Google Shape;949;p47"/>
          <p:cNvSpPr txBox="1"/>
          <p:nvPr/>
        </p:nvSpPr>
        <p:spPr>
          <a:xfrm>
            <a:off x="5849454" y="4245114"/>
            <a:ext cx="17621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private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</a:t>
            </a:r>
            <a:endParaRPr/>
          </a:p>
        </p:txBody>
      </p:sp>
      <p:pic>
        <p:nvPicPr>
          <p:cNvPr descr="BS00768_[1]" id="950" name="Google Shape;9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4955692" y="4426089"/>
            <a:ext cx="458787" cy="2365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1" name="Google Shape;951;p47"/>
          <p:cNvGrpSpPr/>
          <p:nvPr/>
        </p:nvGrpSpPr>
        <p:grpSpPr>
          <a:xfrm>
            <a:off x="5427179" y="4194314"/>
            <a:ext cx="533400" cy="628650"/>
            <a:chOff x="2994" y="2058"/>
            <a:chExt cx="336" cy="396"/>
          </a:xfrm>
        </p:grpSpPr>
        <p:grpSp>
          <p:nvGrpSpPr>
            <p:cNvPr id="952" name="Google Shape;952;p47"/>
            <p:cNvGrpSpPr/>
            <p:nvPr/>
          </p:nvGrpSpPr>
          <p:grpSpPr>
            <a:xfrm>
              <a:off x="2994" y="2144"/>
              <a:ext cx="336" cy="310"/>
              <a:chOff x="2994" y="2144"/>
              <a:chExt cx="336" cy="310"/>
            </a:xfrm>
          </p:grpSpPr>
          <p:sp>
            <p:nvSpPr>
              <p:cNvPr id="953" name="Google Shape;953;p47"/>
              <p:cNvSpPr txBox="1"/>
              <p:nvPr/>
            </p:nvSpPr>
            <p:spPr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</a:t>
                </a:r>
                <a:endParaRPr/>
              </a:p>
            </p:txBody>
          </p:sp>
          <p:sp>
            <p:nvSpPr>
              <p:cNvPr id="954" name="Google Shape;954;p47"/>
              <p:cNvSpPr txBox="1"/>
              <p:nvPr/>
            </p:nvSpPr>
            <p:spPr>
              <a:xfrm>
                <a:off x="3128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</p:grpSp>
        <p:sp>
          <p:nvSpPr>
            <p:cNvPr id="955" name="Google Shape;955;p47"/>
            <p:cNvSpPr txBox="1"/>
            <p:nvPr/>
          </p:nvSpPr>
          <p:spPr>
            <a:xfrm>
              <a:off x="3140" y="2058"/>
              <a:ext cx="16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cxnSp>
        <p:nvCxnSpPr>
          <p:cNvPr id="956" name="Google Shape;956;p47"/>
          <p:cNvCxnSpPr/>
          <p:nvPr/>
        </p:nvCxnSpPr>
        <p:spPr>
          <a:xfrm>
            <a:off x="5430354" y="4578489"/>
            <a:ext cx="1588" cy="469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57" name="Google Shape;957;p47"/>
          <p:cNvCxnSpPr/>
          <p:nvPr/>
        </p:nvCxnSpPr>
        <p:spPr>
          <a:xfrm>
            <a:off x="6720784" y="5518289"/>
            <a:ext cx="67468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58" name="Google Shape;958;p47"/>
          <p:cNvGrpSpPr/>
          <p:nvPr/>
        </p:nvGrpSpPr>
        <p:grpSpPr>
          <a:xfrm>
            <a:off x="7968289" y="4143377"/>
            <a:ext cx="1164873" cy="638175"/>
            <a:chOff x="8750169" y="4275897"/>
            <a:chExt cx="1164873" cy="638175"/>
          </a:xfrm>
        </p:grpSpPr>
        <p:sp>
          <p:nvSpPr>
            <p:cNvPr id="959" name="Google Shape;959;p47"/>
            <p:cNvSpPr txBox="1"/>
            <p:nvPr/>
          </p:nvSpPr>
          <p:spPr>
            <a:xfrm>
              <a:off x="8750169" y="4421947"/>
              <a:ext cx="6406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m,K </a:t>
              </a:r>
              <a:endParaRPr/>
            </a:p>
          </p:txBody>
        </p:sp>
        <p:grpSp>
          <p:nvGrpSpPr>
            <p:cNvPr id="960" name="Google Shape;960;p47"/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961" name="Google Shape;961;p47"/>
              <p:cNvSpPr txBox="1"/>
              <p:nvPr/>
            </p:nvSpPr>
            <p:spPr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962" name="Google Shape;962;p47"/>
              <p:cNvSpPr txBox="1"/>
              <p:nvPr/>
            </p:nvSpPr>
            <p:spPr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963" name="Google Shape;963;p47"/>
              <p:cNvSpPr txBox="1"/>
              <p:nvPr/>
            </p:nvSpPr>
            <p:spPr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(m)</a:t>
                </a:r>
                <a:endParaRPr/>
              </a:p>
            </p:txBody>
          </p:sp>
        </p:grpSp>
      </p:grpSp>
      <p:grpSp>
        <p:nvGrpSpPr>
          <p:cNvPr id="964" name="Google Shape;964;p47"/>
          <p:cNvGrpSpPr/>
          <p:nvPr/>
        </p:nvGrpSpPr>
        <p:grpSpPr>
          <a:xfrm>
            <a:off x="1918529" y="4679033"/>
            <a:ext cx="2217806" cy="1630659"/>
            <a:chOff x="1096894" y="4771797"/>
            <a:chExt cx="2217806" cy="1630659"/>
          </a:xfrm>
        </p:grpSpPr>
        <p:pic>
          <p:nvPicPr>
            <p:cNvPr id="965" name="Google Shape;965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47"/>
            <p:cNvSpPr txBox="1"/>
            <p:nvPr/>
          </p:nvSpPr>
          <p:spPr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Dear Alice</a:t>
              </a:r>
              <a:endParaRPr/>
            </a:p>
            <a:p>
              <a:pPr indent="0" lvl="0" marL="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Oh, how I have missed you. I think of you all the time! …(blah blah blah)</a:t>
              </a:r>
              <a:endParaRPr/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</a:t>
              </a:r>
              <a:endParaRPr/>
            </a:p>
          </p:txBody>
        </p:sp>
      </p:grpSp>
      <p:grpSp>
        <p:nvGrpSpPr>
          <p:cNvPr id="967" name="Google Shape;967;p47"/>
          <p:cNvGrpSpPr/>
          <p:nvPr/>
        </p:nvGrpSpPr>
        <p:grpSpPr>
          <a:xfrm>
            <a:off x="7451311" y="4685661"/>
            <a:ext cx="2217806" cy="1630659"/>
            <a:chOff x="1096894" y="4771797"/>
            <a:chExt cx="2217806" cy="1630659"/>
          </a:xfrm>
        </p:grpSpPr>
        <p:pic>
          <p:nvPicPr>
            <p:cNvPr id="968" name="Google Shape;968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47"/>
            <p:cNvSpPr txBox="1"/>
            <p:nvPr/>
          </p:nvSpPr>
          <p:spPr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Dear Alice</a:t>
              </a:r>
              <a:endParaRPr/>
            </a:p>
            <a:p>
              <a:pPr indent="0" lvl="0" marL="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Oh, how I have missed you. I think of you all the time! …(blah blah blah)</a:t>
              </a:r>
              <a:endParaRPr/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</a:t>
              </a:r>
              <a:endParaRPr/>
            </a:p>
          </p:txBody>
        </p:sp>
      </p:grpSp>
      <p:grpSp>
        <p:nvGrpSpPr>
          <p:cNvPr id="970" name="Google Shape;970;p47"/>
          <p:cNvGrpSpPr/>
          <p:nvPr/>
        </p:nvGrpSpPr>
        <p:grpSpPr>
          <a:xfrm>
            <a:off x="8720518" y="5674301"/>
            <a:ext cx="893521" cy="638175"/>
            <a:chOff x="9021521" y="4275897"/>
            <a:chExt cx="893521" cy="638175"/>
          </a:xfrm>
        </p:grpSpPr>
        <p:sp>
          <p:nvSpPr>
            <p:cNvPr id="971" name="Google Shape;971;p47"/>
            <p:cNvSpPr txBox="1"/>
            <p:nvPr/>
          </p:nvSpPr>
          <p:spPr>
            <a:xfrm>
              <a:off x="9021521" y="4421947"/>
              <a:ext cx="4267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grpSp>
          <p:nvGrpSpPr>
            <p:cNvPr id="972" name="Google Shape;972;p47"/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973" name="Google Shape;973;p47"/>
              <p:cNvSpPr txBox="1"/>
              <p:nvPr/>
            </p:nvSpPr>
            <p:spPr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974" name="Google Shape;974;p47"/>
              <p:cNvSpPr txBox="1"/>
              <p:nvPr/>
            </p:nvSpPr>
            <p:spPr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975" name="Google Shape;975;p47"/>
              <p:cNvSpPr txBox="1"/>
              <p:nvPr/>
            </p:nvSpPr>
            <p:spPr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(m)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8"/>
          <p:cNvSpPr txBox="1"/>
          <p:nvPr>
            <p:ph type="title"/>
          </p:nvPr>
        </p:nvSpPr>
        <p:spPr>
          <a:xfrm>
            <a:off x="798691" y="289325"/>
            <a:ext cx="439616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signatures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3" name="Google Shape;983;p48"/>
          <p:cNvSpPr txBox="1"/>
          <p:nvPr/>
        </p:nvSpPr>
        <p:spPr>
          <a:xfrm>
            <a:off x="8134143" y="1129265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grpSp>
        <p:nvGrpSpPr>
          <p:cNvPr id="984" name="Google Shape;984;p48"/>
          <p:cNvGrpSpPr/>
          <p:nvPr/>
        </p:nvGrpSpPr>
        <p:grpSpPr>
          <a:xfrm>
            <a:off x="911086" y="3648075"/>
            <a:ext cx="10976113" cy="2792482"/>
            <a:chOff x="911086" y="3648075"/>
            <a:chExt cx="10976113" cy="2792482"/>
          </a:xfrm>
        </p:grpSpPr>
        <p:sp>
          <p:nvSpPr>
            <p:cNvPr id="985" name="Google Shape;985;p48"/>
            <p:cNvSpPr txBox="1"/>
            <p:nvPr/>
          </p:nvSpPr>
          <p:spPr>
            <a:xfrm>
              <a:off x="911086" y="3648075"/>
              <a:ext cx="10976113" cy="2792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20000"/>
            </a:bodyPr>
            <a:lstStyle/>
            <a:p>
              <a:pPr indent="-381000" lvl="0" marL="3810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Alice thus verifies that: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signed m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one else signed m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signed m and not m’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381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non-repudiation:</a:t>
              </a:r>
              <a:endParaRPr/>
            </a:p>
            <a:p>
              <a:pPr indent="-342900" lvl="1" marL="80010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ct val="100000"/>
                <a:buFont typeface="Noto Sans Symbols"/>
                <a:buChar char="✔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 can take m, and signature K</a:t>
              </a:r>
              <a:r>
                <a:rPr b="0" baseline="-2500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(m) to court and prove that Bob signed m</a:t>
              </a:r>
              <a:endParaRPr/>
            </a:p>
            <a:p>
              <a:pPr indent="-240030" lvl="0" marL="381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86" name="Google Shape;986;p48"/>
            <p:cNvSpPr txBox="1"/>
            <p:nvPr/>
          </p:nvSpPr>
          <p:spPr>
            <a:xfrm>
              <a:off x="6230316" y="5250071"/>
              <a:ext cx="736600" cy="422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-</a:t>
              </a:r>
              <a:endParaRPr/>
            </a:p>
          </p:txBody>
        </p:sp>
      </p:grpSp>
      <p:sp>
        <p:nvSpPr>
          <p:cNvPr id="987" name="Google Shape;987;p48"/>
          <p:cNvSpPr txBox="1"/>
          <p:nvPr/>
        </p:nvSpPr>
        <p:spPr>
          <a:xfrm>
            <a:off x="982525" y="1239838"/>
            <a:ext cx="11209475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2778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Alice receives msg m, with signature: m,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verifies m signed by Bob by applying Bob’s public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then checks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) = m.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) = m, whoever signed m must have used Bob’s private key</a:t>
            </a:r>
            <a:endParaRPr/>
          </a:p>
        </p:txBody>
      </p:sp>
      <p:sp>
        <p:nvSpPr>
          <p:cNvPr id="988" name="Google Shape;988;p48"/>
          <p:cNvSpPr txBox="1"/>
          <p:nvPr/>
        </p:nvSpPr>
        <p:spPr>
          <a:xfrm>
            <a:off x="1703388" y="2433638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89" name="Google Shape;989;p48"/>
          <p:cNvSpPr txBox="1"/>
          <p:nvPr/>
        </p:nvSpPr>
        <p:spPr>
          <a:xfrm>
            <a:off x="3201642" y="2148164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90" name="Google Shape;990;p48"/>
          <p:cNvSpPr txBox="1"/>
          <p:nvPr/>
        </p:nvSpPr>
        <p:spPr>
          <a:xfrm>
            <a:off x="10242895" y="1671638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91" name="Google Shape;991;p48"/>
          <p:cNvSpPr txBox="1"/>
          <p:nvPr/>
        </p:nvSpPr>
        <p:spPr>
          <a:xfrm>
            <a:off x="1295400" y="2466975"/>
            <a:ext cx="73660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2" name="Google Shape;992;p48"/>
          <p:cNvSpPr txBox="1"/>
          <p:nvPr/>
        </p:nvSpPr>
        <p:spPr>
          <a:xfrm>
            <a:off x="9487245" y="1687513"/>
            <a:ext cx="7366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3" name="Google Shape;993;p48"/>
          <p:cNvSpPr txBox="1"/>
          <p:nvPr/>
        </p:nvSpPr>
        <p:spPr>
          <a:xfrm>
            <a:off x="2779367" y="2165626"/>
            <a:ext cx="73660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9"/>
          <p:cNvSpPr txBox="1"/>
          <p:nvPr>
            <p:ph type="title"/>
          </p:nvPr>
        </p:nvSpPr>
        <p:spPr>
          <a:xfrm>
            <a:off x="798691" y="289325"/>
            <a:ext cx="439616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Message digests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1" name="Google Shape;1001;p49"/>
          <p:cNvSpPr txBox="1"/>
          <p:nvPr/>
        </p:nvSpPr>
        <p:spPr>
          <a:xfrm>
            <a:off x="715618" y="4531897"/>
            <a:ext cx="10853530" cy="20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lang="en-US" sz="35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Hash function properties: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many-to-1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fixed-size msg digest (fingerprint)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message digest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computationally infeasible to find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H(m)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02" name="Google Shape;1002;p49"/>
          <p:cNvGrpSpPr/>
          <p:nvPr/>
        </p:nvGrpSpPr>
        <p:grpSpPr>
          <a:xfrm>
            <a:off x="3588165" y="3273286"/>
            <a:ext cx="4575174" cy="1008822"/>
            <a:chOff x="6463887" y="636104"/>
            <a:chExt cx="4575174" cy="1008822"/>
          </a:xfrm>
        </p:grpSpPr>
        <p:grpSp>
          <p:nvGrpSpPr>
            <p:cNvPr id="1003" name="Google Shape;1003;p49"/>
            <p:cNvGrpSpPr/>
            <p:nvPr/>
          </p:nvGrpSpPr>
          <p:grpSpPr>
            <a:xfrm>
              <a:off x="6463887" y="636104"/>
              <a:ext cx="1384938" cy="1008822"/>
              <a:chOff x="434147" y="4121426"/>
              <a:chExt cx="1384938" cy="1008822"/>
            </a:xfrm>
          </p:grpSpPr>
          <p:pic>
            <p:nvPicPr>
              <p:cNvPr id="1004" name="Google Shape;1004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47019" y="4121426"/>
                <a:ext cx="1372066" cy="10088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5" name="Google Shape;1005;p49"/>
              <p:cNvSpPr txBox="1"/>
              <p:nvPr/>
            </p:nvSpPr>
            <p:spPr>
              <a:xfrm>
                <a:off x="434147" y="4139580"/>
                <a:ext cx="1343025" cy="9861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large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</a:t>
                </a:r>
                <a:endParaRPr/>
              </a:p>
            </p:txBody>
          </p:sp>
        </p:grpSp>
        <p:sp>
          <p:nvSpPr>
            <p:cNvPr id="1006" name="Google Shape;1006;p49"/>
            <p:cNvSpPr/>
            <p:nvPr/>
          </p:nvSpPr>
          <p:spPr>
            <a:xfrm>
              <a:off x="8362607" y="781257"/>
              <a:ext cx="1108075" cy="75882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49"/>
            <p:cNvSpPr txBox="1"/>
            <p:nvPr/>
          </p:nvSpPr>
          <p:spPr>
            <a:xfrm>
              <a:off x="8349423" y="802999"/>
              <a:ext cx="1190625" cy="701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H: Hash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Function</a:t>
              </a:r>
              <a:endParaRPr/>
            </a:p>
          </p:txBody>
        </p:sp>
        <p:cxnSp>
          <p:nvCxnSpPr>
            <p:cNvPr id="1008" name="Google Shape;1008;p49"/>
            <p:cNvCxnSpPr/>
            <p:nvPr/>
          </p:nvCxnSpPr>
          <p:spPr>
            <a:xfrm>
              <a:off x="7842390" y="1161774"/>
              <a:ext cx="50641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9" name="Google Shape;1009;p49"/>
            <p:cNvSpPr txBox="1"/>
            <p:nvPr/>
          </p:nvSpPr>
          <p:spPr>
            <a:xfrm>
              <a:off x="9872180" y="924133"/>
              <a:ext cx="11668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H(m)</a:t>
              </a:r>
              <a:endParaRPr/>
            </a:p>
          </p:txBody>
        </p:sp>
        <p:cxnSp>
          <p:nvCxnSpPr>
            <p:cNvPr id="1010" name="Google Shape;1010;p49"/>
            <p:cNvCxnSpPr/>
            <p:nvPr/>
          </p:nvCxnSpPr>
          <p:spPr>
            <a:xfrm>
              <a:off x="9518790" y="1194904"/>
              <a:ext cx="50641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11" name="Google Shape;1011;p49"/>
          <p:cNvSpPr txBox="1"/>
          <p:nvPr/>
        </p:nvSpPr>
        <p:spPr>
          <a:xfrm>
            <a:off x="862977" y="1368840"/>
            <a:ext cx="11050726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computationally expensive to public-key-encrypt long messages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fixed-length, easy- to-compute digital “fingerprint”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hash function H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get fixed size message digest,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H(m)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50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Internet checksum: poor crypto hash function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9" name="Google Shape;1019;p50"/>
          <p:cNvSpPr txBox="1"/>
          <p:nvPr/>
        </p:nvSpPr>
        <p:spPr>
          <a:xfrm>
            <a:off x="876300" y="1400244"/>
            <a:ext cx="10282030" cy="212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checksum has some properties of hash function: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fixed length digest (16-bit sum) of message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many-to-one</a:t>
            </a:r>
            <a:endParaRPr/>
          </a:p>
        </p:txBody>
      </p:sp>
      <p:sp>
        <p:nvSpPr>
          <p:cNvPr id="1020" name="Google Shape;1020;p50"/>
          <p:cNvSpPr/>
          <p:nvPr/>
        </p:nvSpPr>
        <p:spPr>
          <a:xfrm>
            <a:off x="1031667" y="2995405"/>
            <a:ext cx="10282029" cy="97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given message with given hash value, it is easy to find another message with same hash value: </a:t>
            </a:r>
            <a:endParaRPr/>
          </a:p>
        </p:txBody>
      </p:sp>
      <p:sp>
        <p:nvSpPr>
          <p:cNvPr id="1021" name="Google Shape;1021;p50"/>
          <p:cNvSpPr txBox="1"/>
          <p:nvPr/>
        </p:nvSpPr>
        <p:spPr>
          <a:xfrm>
            <a:off x="1804366" y="4331390"/>
            <a:ext cx="1109663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O U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0 0 . 9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 O B</a:t>
            </a:r>
            <a:endParaRPr/>
          </a:p>
        </p:txBody>
      </p:sp>
      <p:sp>
        <p:nvSpPr>
          <p:cNvPr id="1022" name="Google Shape;1022;p50"/>
          <p:cNvSpPr txBox="1"/>
          <p:nvPr/>
        </p:nvSpPr>
        <p:spPr>
          <a:xfrm>
            <a:off x="3210891" y="4331390"/>
            <a:ext cx="15811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4F 55 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30 2E 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 42 D2 42</a:t>
            </a:r>
            <a:endParaRPr/>
          </a:p>
        </p:txBody>
      </p:sp>
      <p:sp>
        <p:nvSpPr>
          <p:cNvPr id="1023" name="Google Shape;1023;p50"/>
          <p:cNvSpPr txBox="1"/>
          <p:nvPr/>
        </p:nvSpPr>
        <p:spPr>
          <a:xfrm>
            <a:off x="1721816" y="3972615"/>
            <a:ext cx="12239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sp>
        <p:nvSpPr>
          <p:cNvPr id="1024" name="Google Shape;1024;p50"/>
          <p:cNvSpPr txBox="1"/>
          <p:nvPr/>
        </p:nvSpPr>
        <p:spPr>
          <a:xfrm>
            <a:off x="3210891" y="3967853"/>
            <a:ext cx="16494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 format</a:t>
            </a:r>
            <a:endParaRPr/>
          </a:p>
        </p:txBody>
      </p:sp>
      <p:cxnSp>
        <p:nvCxnSpPr>
          <p:cNvPr id="1025" name="Google Shape;1025;p50"/>
          <p:cNvCxnSpPr/>
          <p:nvPr/>
        </p:nvCxnSpPr>
        <p:spPr>
          <a:xfrm>
            <a:off x="3191841" y="5350565"/>
            <a:ext cx="1603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6" name="Google Shape;1026;p50"/>
          <p:cNvSpPr txBox="1"/>
          <p:nvPr/>
        </p:nvSpPr>
        <p:spPr>
          <a:xfrm>
            <a:off x="3142629" y="5383903"/>
            <a:ext cx="1744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 C1 D2 AC</a:t>
            </a:r>
            <a:endParaRPr/>
          </a:p>
        </p:txBody>
      </p:sp>
      <p:sp>
        <p:nvSpPr>
          <p:cNvPr id="1027" name="Google Shape;1027;p50"/>
          <p:cNvSpPr txBox="1"/>
          <p:nvPr/>
        </p:nvSpPr>
        <p:spPr>
          <a:xfrm>
            <a:off x="6825629" y="4315515"/>
            <a:ext cx="11096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O U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0 0 .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 O B</a:t>
            </a:r>
            <a:endParaRPr/>
          </a:p>
        </p:txBody>
      </p:sp>
      <p:sp>
        <p:nvSpPr>
          <p:cNvPr id="1028" name="Google Shape;1028;p50"/>
          <p:cNvSpPr txBox="1"/>
          <p:nvPr/>
        </p:nvSpPr>
        <p:spPr>
          <a:xfrm>
            <a:off x="8232154" y="4315515"/>
            <a:ext cx="15811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4F 55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30 2E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 42 D2 42</a:t>
            </a:r>
            <a:endParaRPr/>
          </a:p>
        </p:txBody>
      </p:sp>
      <p:sp>
        <p:nvSpPr>
          <p:cNvPr id="1029" name="Google Shape;1029;p50"/>
          <p:cNvSpPr txBox="1"/>
          <p:nvPr/>
        </p:nvSpPr>
        <p:spPr>
          <a:xfrm>
            <a:off x="6743079" y="3956740"/>
            <a:ext cx="12239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sp>
        <p:nvSpPr>
          <p:cNvPr id="1030" name="Google Shape;1030;p50"/>
          <p:cNvSpPr txBox="1"/>
          <p:nvPr/>
        </p:nvSpPr>
        <p:spPr>
          <a:xfrm>
            <a:off x="8232154" y="3951978"/>
            <a:ext cx="16494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 format</a:t>
            </a:r>
            <a:endParaRPr/>
          </a:p>
        </p:txBody>
      </p:sp>
      <p:cxnSp>
        <p:nvCxnSpPr>
          <p:cNvPr id="1031" name="Google Shape;1031;p50"/>
          <p:cNvCxnSpPr/>
          <p:nvPr/>
        </p:nvCxnSpPr>
        <p:spPr>
          <a:xfrm>
            <a:off x="8213104" y="5334690"/>
            <a:ext cx="1603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50"/>
          <p:cNvSpPr txBox="1"/>
          <p:nvPr/>
        </p:nvSpPr>
        <p:spPr>
          <a:xfrm>
            <a:off x="8163891" y="5368028"/>
            <a:ext cx="17446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 C1 D2 AC</a:t>
            </a:r>
            <a:endParaRPr/>
          </a:p>
        </p:txBody>
      </p:sp>
      <p:sp>
        <p:nvSpPr>
          <p:cNvPr id="1033" name="Google Shape;1033;p50"/>
          <p:cNvSpPr txBox="1"/>
          <p:nvPr/>
        </p:nvSpPr>
        <p:spPr>
          <a:xfrm>
            <a:off x="4944635" y="5442640"/>
            <a:ext cx="324287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different messages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but identical checksums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cxnSp>
        <p:nvCxnSpPr>
          <p:cNvPr id="1034" name="Google Shape;1034;p50"/>
          <p:cNvCxnSpPr/>
          <p:nvPr/>
        </p:nvCxnSpPr>
        <p:spPr>
          <a:xfrm rot="10800000">
            <a:off x="4879354" y="5575990"/>
            <a:ext cx="381000" cy="8413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50"/>
          <p:cNvCxnSpPr/>
          <p:nvPr/>
        </p:nvCxnSpPr>
        <p:spPr>
          <a:xfrm flipH="1" rot="10800000">
            <a:off x="7789241" y="5560115"/>
            <a:ext cx="381000" cy="8413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51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 = signed message digest</a:t>
            </a:r>
            <a:endParaRPr/>
          </a:p>
        </p:txBody>
      </p:sp>
      <p:sp>
        <p:nvSpPr>
          <p:cNvPr id="1042" name="Google Shape;1042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43" name="Google Shape;1043;p51"/>
          <p:cNvGrpSpPr/>
          <p:nvPr/>
        </p:nvGrpSpPr>
        <p:grpSpPr>
          <a:xfrm>
            <a:off x="4296054" y="3224833"/>
            <a:ext cx="1196163" cy="955675"/>
            <a:chOff x="4296054" y="3224833"/>
            <a:chExt cx="1196163" cy="955675"/>
          </a:xfrm>
        </p:grpSpPr>
        <p:sp>
          <p:nvSpPr>
            <p:cNvPr id="1044" name="Google Shape;1044;p51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51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(encrypt)</a:t>
              </a:r>
              <a:endParaRPr/>
            </a:p>
          </p:txBody>
        </p:sp>
      </p:grpSp>
      <p:grpSp>
        <p:nvGrpSpPr>
          <p:cNvPr id="1046" name="Google Shape;1046;p51"/>
          <p:cNvGrpSpPr/>
          <p:nvPr/>
        </p:nvGrpSpPr>
        <p:grpSpPr>
          <a:xfrm>
            <a:off x="1199737" y="4905030"/>
            <a:ext cx="846138" cy="519112"/>
            <a:chOff x="984" y="2831"/>
            <a:chExt cx="533" cy="327"/>
          </a:xfrm>
        </p:grpSpPr>
        <p:sp>
          <p:nvSpPr>
            <p:cNvPr id="1047" name="Google Shape;1047;p51"/>
            <p:cNvSpPr txBox="1"/>
            <p:nvPr/>
          </p:nvSpPr>
          <p:spPr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1048" name="Google Shape;1048;p51"/>
            <p:cNvSpPr/>
            <p:nvPr/>
          </p:nvSpPr>
          <p:spPr>
            <a:xfrm>
              <a:off x="1152" y="2924"/>
              <a:ext cx="195" cy="16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49" name="Google Shape;1049;p51"/>
          <p:cNvCxnSpPr/>
          <p:nvPr/>
        </p:nvCxnSpPr>
        <p:spPr>
          <a:xfrm>
            <a:off x="1647412" y="3034955"/>
            <a:ext cx="0" cy="1981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0" name="Google Shape;1050;p51"/>
          <p:cNvCxnSpPr/>
          <p:nvPr/>
        </p:nvCxnSpPr>
        <p:spPr>
          <a:xfrm>
            <a:off x="1620425" y="5328892"/>
            <a:ext cx="3175" cy="30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592_[1]" id="1051" name="Google Shape;105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837" y="5657505"/>
            <a:ext cx="627063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51"/>
          <p:cNvSpPr/>
          <p:nvPr/>
        </p:nvSpPr>
        <p:spPr>
          <a:xfrm>
            <a:off x="796788" y="1348754"/>
            <a:ext cx="5389769" cy="54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sends digitally signed message:</a:t>
            </a:r>
            <a:endParaRPr/>
          </a:p>
        </p:txBody>
      </p:sp>
      <p:grpSp>
        <p:nvGrpSpPr>
          <p:cNvPr id="1053" name="Google Shape;1053;p51"/>
          <p:cNvGrpSpPr/>
          <p:nvPr/>
        </p:nvGrpSpPr>
        <p:grpSpPr>
          <a:xfrm>
            <a:off x="1123264" y="2107094"/>
            <a:ext cx="1343025" cy="855306"/>
            <a:chOff x="434147" y="4121426"/>
            <a:chExt cx="1343025" cy="855306"/>
          </a:xfrm>
        </p:grpSpPr>
        <p:pic>
          <p:nvPicPr>
            <p:cNvPr id="1054" name="Google Shape;1054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51"/>
            <p:cNvSpPr txBox="1"/>
            <p:nvPr/>
          </p:nvSpPr>
          <p:spPr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large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6" name="Google Shape;1056;p51"/>
          <p:cNvSpPr/>
          <p:nvPr/>
        </p:nvSpPr>
        <p:spPr>
          <a:xfrm>
            <a:off x="2889461" y="2185987"/>
            <a:ext cx="1108075" cy="7588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51"/>
          <p:cNvSpPr txBox="1"/>
          <p:nvPr/>
        </p:nvSpPr>
        <p:spPr>
          <a:xfrm>
            <a:off x="2876277" y="2207729"/>
            <a:ext cx="11906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H: Hash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</p:txBody>
      </p:sp>
      <p:cxnSp>
        <p:nvCxnSpPr>
          <p:cNvPr id="1058" name="Google Shape;1058;p51"/>
          <p:cNvCxnSpPr/>
          <p:nvPr/>
        </p:nvCxnSpPr>
        <p:spPr>
          <a:xfrm>
            <a:off x="2425148" y="2553252"/>
            <a:ext cx="3710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9" name="Google Shape;1059;p51"/>
          <p:cNvSpPr txBox="1"/>
          <p:nvPr/>
        </p:nvSpPr>
        <p:spPr>
          <a:xfrm>
            <a:off x="4399034" y="2328863"/>
            <a:ext cx="11668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H(m)</a:t>
            </a:r>
            <a:endParaRPr/>
          </a:p>
        </p:txBody>
      </p:sp>
      <p:cxnSp>
        <p:nvCxnSpPr>
          <p:cNvPr id="1060" name="Google Shape;1060;p51"/>
          <p:cNvCxnSpPr/>
          <p:nvPr/>
        </p:nvCxnSpPr>
        <p:spPr>
          <a:xfrm>
            <a:off x="4072149" y="2599634"/>
            <a:ext cx="38058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1" name="Google Shape;1061;p51"/>
          <p:cNvCxnSpPr/>
          <p:nvPr/>
        </p:nvCxnSpPr>
        <p:spPr>
          <a:xfrm rot="10800000">
            <a:off x="1815550" y="5155096"/>
            <a:ext cx="202758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2" name="Google Shape;1062;p51"/>
          <p:cNvCxnSpPr/>
          <p:nvPr/>
        </p:nvCxnSpPr>
        <p:spPr>
          <a:xfrm>
            <a:off x="4896678" y="2763079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3" name="Google Shape;1063;p51"/>
          <p:cNvCxnSpPr/>
          <p:nvPr/>
        </p:nvCxnSpPr>
        <p:spPr>
          <a:xfrm>
            <a:off x="4890054" y="4227444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4" name="Google Shape;1064;p51"/>
          <p:cNvSpPr txBox="1"/>
          <p:nvPr/>
        </p:nvSpPr>
        <p:spPr>
          <a:xfrm>
            <a:off x="6599583" y="1436272"/>
            <a:ext cx="5088834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verifies signature, integrity of digitally signed message:</a:t>
            </a:r>
            <a:endParaRPr/>
          </a:p>
        </p:txBody>
      </p:sp>
      <p:pic>
        <p:nvPicPr>
          <p:cNvPr descr="BS00592_[1]" id="1065" name="Google Shape;106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5074" y="2413071"/>
            <a:ext cx="627062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51"/>
          <p:cNvSpPr txBox="1"/>
          <p:nvPr/>
        </p:nvSpPr>
        <p:spPr>
          <a:xfrm>
            <a:off x="7335079" y="4651511"/>
            <a:ext cx="1017588" cy="646113"/>
          </a:xfrm>
          <a:prstGeom prst="rect">
            <a:avLst/>
          </a:prstGeom>
          <a:solidFill>
            <a:srgbClr val="0012A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H: Hash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</p:txBody>
      </p:sp>
      <p:sp>
        <p:nvSpPr>
          <p:cNvPr id="1067" name="Google Shape;1067;p51"/>
          <p:cNvSpPr txBox="1"/>
          <p:nvPr/>
        </p:nvSpPr>
        <p:spPr>
          <a:xfrm>
            <a:off x="7346691" y="5467929"/>
            <a:ext cx="8731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H(m)</a:t>
            </a:r>
            <a:endParaRPr/>
          </a:p>
        </p:txBody>
      </p:sp>
      <p:sp>
        <p:nvSpPr>
          <p:cNvPr id="1068" name="Google Shape;1068;p51"/>
          <p:cNvSpPr txBox="1"/>
          <p:nvPr/>
        </p:nvSpPr>
        <p:spPr>
          <a:xfrm>
            <a:off x="10294041" y="5444295"/>
            <a:ext cx="78477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H(m)</a:t>
            </a:r>
            <a:endParaRPr/>
          </a:p>
        </p:txBody>
      </p:sp>
      <p:cxnSp>
        <p:nvCxnSpPr>
          <p:cNvPr id="1069" name="Google Shape;1069;p51"/>
          <p:cNvCxnSpPr/>
          <p:nvPr/>
        </p:nvCxnSpPr>
        <p:spPr>
          <a:xfrm rot="10800000">
            <a:off x="8190534" y="2863020"/>
            <a:ext cx="144938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70" name="Google Shape;1070;p51"/>
          <p:cNvCxnSpPr/>
          <p:nvPr/>
        </p:nvCxnSpPr>
        <p:spPr>
          <a:xfrm>
            <a:off x="7868272" y="5872920"/>
            <a:ext cx="873125" cy="2111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1" name="Google Shape;1071;p51"/>
          <p:cNvCxnSpPr/>
          <p:nvPr/>
        </p:nvCxnSpPr>
        <p:spPr>
          <a:xfrm flipH="1">
            <a:off x="9485934" y="5866570"/>
            <a:ext cx="873125" cy="2111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72" name="Google Shape;1072;p51"/>
          <p:cNvGrpSpPr/>
          <p:nvPr/>
        </p:nvGrpSpPr>
        <p:grpSpPr>
          <a:xfrm>
            <a:off x="7225890" y="3491944"/>
            <a:ext cx="1343025" cy="855306"/>
            <a:chOff x="434147" y="4121426"/>
            <a:chExt cx="1343025" cy="855306"/>
          </a:xfrm>
        </p:grpSpPr>
        <p:pic>
          <p:nvPicPr>
            <p:cNvPr id="1073" name="Google Shape;1073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4" name="Google Shape;1074;p51"/>
            <p:cNvSpPr txBox="1"/>
            <p:nvPr/>
          </p:nvSpPr>
          <p:spPr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large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5" name="Google Shape;1075;p51"/>
          <p:cNvGrpSpPr/>
          <p:nvPr/>
        </p:nvGrpSpPr>
        <p:grpSpPr>
          <a:xfrm>
            <a:off x="2762875" y="3478075"/>
            <a:ext cx="1491075" cy="812454"/>
            <a:chOff x="1914734" y="3557588"/>
            <a:chExt cx="1491075" cy="812454"/>
          </a:xfrm>
        </p:grpSpPr>
        <p:sp>
          <p:nvSpPr>
            <p:cNvPr id="1076" name="Google Shape;1076;p51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077" name="Google Shape;1077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78" name="Google Shape;1078;p51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079" name="Google Shape;1079;p51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080" name="Google Shape;1080;p51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081" name="Google Shape;1081;p51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082" name="Google Shape;1082;p51"/>
              <p:cNvSpPr txBox="1"/>
              <p:nvPr/>
            </p:nvSpPr>
            <p:spPr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cxnSp>
          <p:nvCxnSpPr>
            <p:cNvPr id="1083" name="Google Shape;1083;p51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084" name="Google Shape;1084;p51"/>
          <p:cNvGrpSpPr/>
          <p:nvPr/>
        </p:nvGrpSpPr>
        <p:grpSpPr>
          <a:xfrm>
            <a:off x="3922645" y="4683817"/>
            <a:ext cx="1855305" cy="908600"/>
            <a:chOff x="3922645" y="4683817"/>
            <a:chExt cx="1855305" cy="908600"/>
          </a:xfrm>
        </p:grpSpPr>
        <p:grpSp>
          <p:nvGrpSpPr>
            <p:cNvPr id="1085" name="Google Shape;1085;p51"/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86" name="Google Shape;1086;p51"/>
              <p:cNvGrpSpPr/>
              <p:nvPr/>
            </p:nvGrpSpPr>
            <p:grpSpPr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87" name="Google Shape;1087;p51"/>
                <p:cNvSpPr txBox="1"/>
                <p:nvPr/>
              </p:nvSpPr>
              <p:spPr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</a:t>
                  </a:r>
                  <a:r>
                    <a:rPr b="0" baseline="-25000" i="0" lang="en-US" sz="2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(H(m))</a:t>
                  </a:r>
                  <a:endParaRPr/>
                </a:p>
              </p:txBody>
            </p:sp>
            <p:sp>
              <p:nvSpPr>
                <p:cNvPr id="1088" name="Google Shape;1088;p51"/>
                <p:cNvSpPr txBox="1"/>
                <p:nvPr/>
              </p:nvSpPr>
              <p:spPr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sp>
            <p:nvSpPr>
              <p:cNvPr id="1089" name="Google Shape;1089;p51"/>
              <p:cNvSpPr txBox="1"/>
              <p:nvPr/>
            </p:nvSpPr>
            <p:spPr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 digest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0" name="Google Shape;1090;p51"/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1" name="Google Shape;1091;p51"/>
          <p:cNvGrpSpPr/>
          <p:nvPr/>
        </p:nvGrpSpPr>
        <p:grpSpPr>
          <a:xfrm>
            <a:off x="9680714" y="2543589"/>
            <a:ext cx="1855305" cy="908600"/>
            <a:chOff x="3922645" y="4683817"/>
            <a:chExt cx="1855305" cy="908600"/>
          </a:xfrm>
        </p:grpSpPr>
        <p:grpSp>
          <p:nvGrpSpPr>
            <p:cNvPr id="1092" name="Google Shape;1092;p51"/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93" name="Google Shape;1093;p51"/>
              <p:cNvGrpSpPr/>
              <p:nvPr/>
            </p:nvGrpSpPr>
            <p:grpSpPr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94" name="Google Shape;1094;p51"/>
                <p:cNvSpPr txBox="1"/>
                <p:nvPr/>
              </p:nvSpPr>
              <p:spPr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</a:t>
                  </a:r>
                  <a:r>
                    <a:rPr b="0" baseline="-25000" i="0" lang="en-US" sz="2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(H(m))</a:t>
                  </a:r>
                  <a:endParaRPr/>
                </a:p>
              </p:txBody>
            </p:sp>
            <p:sp>
              <p:nvSpPr>
                <p:cNvPr id="1095" name="Google Shape;1095;p51"/>
                <p:cNvSpPr txBox="1"/>
                <p:nvPr/>
              </p:nvSpPr>
              <p:spPr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sp>
            <p:nvSpPr>
              <p:cNvPr id="1096" name="Google Shape;1096;p51"/>
              <p:cNvSpPr txBox="1"/>
              <p:nvPr/>
            </p:nvSpPr>
            <p:spPr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 digest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7" name="Google Shape;1097;p51"/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98" name="Google Shape;1098;p51"/>
          <p:cNvCxnSpPr/>
          <p:nvPr/>
        </p:nvCxnSpPr>
        <p:spPr>
          <a:xfrm>
            <a:off x="7848600" y="3225466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99" name="Google Shape;1099;p51"/>
          <p:cNvCxnSpPr/>
          <p:nvPr/>
        </p:nvCxnSpPr>
        <p:spPr>
          <a:xfrm>
            <a:off x="7848600" y="4372328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0" name="Google Shape;1100;p51"/>
          <p:cNvCxnSpPr/>
          <p:nvPr/>
        </p:nvCxnSpPr>
        <p:spPr>
          <a:xfrm>
            <a:off x="7848600" y="5321141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01" name="Google Shape;1101;p51"/>
          <p:cNvGrpSpPr/>
          <p:nvPr/>
        </p:nvGrpSpPr>
        <p:grpSpPr>
          <a:xfrm>
            <a:off x="10040871" y="3980758"/>
            <a:ext cx="1196163" cy="955675"/>
            <a:chOff x="4296054" y="3224833"/>
            <a:chExt cx="1196163" cy="955675"/>
          </a:xfrm>
        </p:grpSpPr>
        <p:sp>
          <p:nvSpPr>
            <p:cNvPr id="1102" name="Google Shape;1102;p51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51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(decrypt)</a:t>
              </a:r>
              <a:endParaRPr/>
            </a:p>
          </p:txBody>
        </p:sp>
      </p:grpSp>
      <p:cxnSp>
        <p:nvCxnSpPr>
          <p:cNvPr id="1104" name="Google Shape;1104;p51"/>
          <p:cNvCxnSpPr/>
          <p:nvPr/>
        </p:nvCxnSpPr>
        <p:spPr>
          <a:xfrm>
            <a:off x="10641495" y="3519004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5" name="Google Shape;1105;p51"/>
          <p:cNvCxnSpPr/>
          <p:nvPr/>
        </p:nvCxnSpPr>
        <p:spPr>
          <a:xfrm>
            <a:off x="10634871" y="4983369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06" name="Google Shape;1106;p51"/>
          <p:cNvGrpSpPr/>
          <p:nvPr/>
        </p:nvGrpSpPr>
        <p:grpSpPr>
          <a:xfrm>
            <a:off x="8507692" y="4234000"/>
            <a:ext cx="1491075" cy="812454"/>
            <a:chOff x="1914734" y="3557588"/>
            <a:chExt cx="1491075" cy="812454"/>
          </a:xfrm>
        </p:grpSpPr>
        <p:sp>
          <p:nvSpPr>
            <p:cNvPr id="1107" name="Google Shape;1107;p51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108" name="Google Shape;1108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09" name="Google Shape;1109;p51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110" name="Google Shape;1110;p51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111" name="Google Shape;1111;p51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112" name="Google Shape;1112;p51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113" name="Google Shape;1113;p51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114" name="Google Shape;1114;p51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15" name="Google Shape;1115;p51"/>
          <p:cNvGrpSpPr/>
          <p:nvPr/>
        </p:nvGrpSpPr>
        <p:grpSpPr>
          <a:xfrm>
            <a:off x="8203097" y="5653926"/>
            <a:ext cx="1789043" cy="1107996"/>
            <a:chOff x="10084905" y="1590261"/>
            <a:chExt cx="1789043" cy="1107996"/>
          </a:xfrm>
        </p:grpSpPr>
        <p:sp>
          <p:nvSpPr>
            <p:cNvPr id="1116" name="Google Shape;1116;p51"/>
            <p:cNvSpPr txBox="1"/>
            <p:nvPr/>
          </p:nvSpPr>
          <p:spPr>
            <a:xfrm>
              <a:off x="10707757" y="1590261"/>
              <a:ext cx="577402" cy="1107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117" name="Google Shape;1117;p51"/>
            <p:cNvSpPr txBox="1"/>
            <p:nvPr/>
          </p:nvSpPr>
          <p:spPr>
            <a:xfrm>
              <a:off x="10084905" y="1881807"/>
              <a:ext cx="1789043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equal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52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Hash function algorithms</a:t>
            </a:r>
            <a:endParaRPr/>
          </a:p>
        </p:txBody>
      </p:sp>
      <p:sp>
        <p:nvSpPr>
          <p:cNvPr id="1124" name="Google Shape;1124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5" name="Google Shape;1125;p52"/>
          <p:cNvSpPr txBox="1"/>
          <p:nvPr/>
        </p:nvSpPr>
        <p:spPr>
          <a:xfrm>
            <a:off x="871400" y="1396310"/>
            <a:ext cx="1094953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MD5 hash function widely used (RFC 1321)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128-bit message digest in 4-step process.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128-bit string x, appears difficult to construct msg m whose MD5 hash is equal to x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SHA-1 is also used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standard [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NIST, FIPS PUB 180-1]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160-bit message digest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5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 – let’s fix it!!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3" name="Google Shape;1133;p53"/>
          <p:cNvSpPr txBox="1"/>
          <p:nvPr/>
        </p:nvSpPr>
        <p:spPr>
          <a:xfrm>
            <a:off x="865909" y="1170523"/>
            <a:ext cx="10768980" cy="91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Recall the problem: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poses as Alice (to Bob) and as Bob (to Alice)</a:t>
            </a:r>
            <a:endParaRPr/>
          </a:p>
        </p:txBody>
      </p:sp>
      <p:pic>
        <p:nvPicPr>
          <p:cNvPr descr="Bob" id="1134" name="Google Shape;113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1135" name="Google Shape;1135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136" name="Google Shape;1136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7" name="Google Shape;1137;p53"/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cxnSp>
          <p:nvCxnSpPr>
            <p:cNvPr id="1138" name="Google Shape;1138;p53"/>
            <p:cNvCxnSpPr/>
            <p:nvPr/>
          </p:nvCxnSpPr>
          <p:spPr>
            <a:xfrm>
              <a:off x="2221395" y="2638357"/>
              <a:ext cx="26009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39" name="Google Shape;1139;p53"/>
            <p:cNvSpPr txBox="1"/>
            <p:nvPr/>
          </p:nvSpPr>
          <p:spPr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1140" name="Google Shape;1140;p53"/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cxnSp>
          <p:nvCxnSpPr>
            <p:cNvPr id="1141" name="Google Shape;1141;p53"/>
            <p:cNvCxnSpPr/>
            <p:nvPr/>
          </p:nvCxnSpPr>
          <p:spPr>
            <a:xfrm>
              <a:off x="6760197" y="2678044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2" name="Google Shape;1142;p53"/>
            <p:cNvSpPr txBox="1"/>
            <p:nvPr/>
          </p:nvSpPr>
          <p:spPr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1143" name="Google Shape;1143;p53"/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cxnSp>
          <p:nvCxnSpPr>
            <p:cNvPr id="1144" name="Google Shape;1144;p53"/>
            <p:cNvCxnSpPr/>
            <p:nvPr/>
          </p:nvCxnSpPr>
          <p:spPr>
            <a:xfrm flipH="1">
              <a:off x="6864626" y="3363843"/>
              <a:ext cx="2167283" cy="3865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5" name="Google Shape;1145;p53"/>
            <p:cNvSpPr txBox="1"/>
            <p:nvPr/>
          </p:nvSpPr>
          <p:spPr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1146" name="Google Shape;1146;p53"/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cxnSp>
          <p:nvCxnSpPr>
            <p:cNvPr id="1147" name="Google Shape;1147;p53"/>
            <p:cNvCxnSpPr/>
            <p:nvPr/>
          </p:nvCxnSpPr>
          <p:spPr>
            <a:xfrm flipH="1">
              <a:off x="2221395" y="4074629"/>
              <a:ext cx="2546972" cy="338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8" name="Google Shape;1148;p53"/>
            <p:cNvSpPr txBox="1"/>
            <p:nvPr/>
          </p:nvSpPr>
          <p:spPr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1149" name="Google Shape;1149;p53"/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150" name="Google Shape;1150;p53"/>
            <p:cNvGrpSpPr/>
            <p:nvPr/>
          </p:nvGrpSpPr>
          <p:grpSpPr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151" name="Google Shape;1151;p53"/>
              <p:cNvSpPr txBox="1"/>
              <p:nvPr/>
            </p:nvSpPr>
            <p:spPr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52" name="Google Shape;1152;p53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1153" name="Google Shape;1153;p53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154" name="Google Shape;1154;p53"/>
              <p:cNvSpPr txBox="1"/>
              <p:nvPr/>
            </p:nvSpPr>
            <p:spPr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55" name="Google Shape;1155;p53"/>
              <p:cNvSpPr txBox="1"/>
              <p:nvPr/>
            </p:nvSpPr>
            <p:spPr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1156" name="Google Shape;1156;p53"/>
            <p:cNvSpPr txBox="1"/>
            <p:nvPr/>
          </p:nvSpPr>
          <p:spPr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m:</a:t>
              </a:r>
              <a:endParaRPr/>
            </a:p>
          </p:txBody>
        </p:sp>
        <p:sp>
          <p:nvSpPr>
            <p:cNvPr id="1157" name="Google Shape;1157;p53"/>
            <p:cNvSpPr txBox="1"/>
            <p:nvPr/>
          </p:nvSpPr>
          <p:spPr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sends m to Alice encrypted with Alice’s public key</a:t>
              </a:r>
              <a:endParaRPr/>
            </a:p>
          </p:txBody>
        </p:sp>
      </p:grpSp>
      <p:grpSp>
        <p:nvGrpSpPr>
          <p:cNvPr id="1158" name="Google Shape;1158;p53"/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cxnSp>
          <p:nvCxnSpPr>
            <p:cNvPr id="1159" name="Google Shape;1159;p53"/>
            <p:cNvCxnSpPr/>
            <p:nvPr/>
          </p:nvCxnSpPr>
          <p:spPr>
            <a:xfrm>
              <a:off x="6828459" y="3195569"/>
              <a:ext cx="22494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60" name="Google Shape;1160;p53"/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1161" name="Google Shape;1161;p53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53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63" name="Google Shape;1163;p53"/>
              <p:cNvSpPr txBox="1"/>
              <p:nvPr/>
            </p:nvSpPr>
            <p:spPr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1164" name="Google Shape;1164;p53"/>
              <p:cNvSpPr txBox="1"/>
              <p:nvPr/>
            </p:nvSpPr>
            <p:spPr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1165" name="Google Shape;1165;p53"/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cxnSp>
          <p:nvCxnSpPr>
            <p:cNvPr id="1166" name="Google Shape;1166;p53"/>
            <p:cNvCxnSpPr/>
            <p:nvPr/>
          </p:nvCxnSpPr>
          <p:spPr>
            <a:xfrm flipH="1">
              <a:off x="6799884" y="2746307"/>
              <a:ext cx="2165350" cy="2809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67" name="Google Shape;1167;p53"/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1168" name="Google Shape;1168;p53"/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53"/>
              <p:cNvSpPr txBox="1"/>
              <p:nvPr/>
            </p:nvSpPr>
            <p:spPr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/>
              </a:p>
            </p:txBody>
          </p:sp>
        </p:grpSp>
      </p:grpSp>
      <p:grpSp>
        <p:nvGrpSpPr>
          <p:cNvPr id="1170" name="Google Shape;1170;p53"/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cxnSp>
          <p:nvCxnSpPr>
            <p:cNvPr id="1171" name="Google Shape;1171;p53"/>
            <p:cNvCxnSpPr/>
            <p:nvPr/>
          </p:nvCxnSpPr>
          <p:spPr>
            <a:xfrm>
              <a:off x="6896722" y="3882957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72" name="Google Shape;1172;p53"/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173" name="Google Shape;1173;p53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53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75" name="Google Shape;1175;p53"/>
              <p:cNvSpPr txBox="1"/>
              <p:nvPr/>
            </p:nvSpPr>
            <p:spPr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1176" name="Google Shape;1176;p53"/>
              <p:cNvSpPr txBox="1"/>
              <p:nvPr/>
            </p:nvSpPr>
            <p:spPr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1177" name="Google Shape;1177;p53"/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178" name="Google Shape;1178;p53"/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9" name="Google Shape;1179;p53"/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180" name="Google Shape;1180;p53"/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181" name="Google Shape;1181;p53"/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2" name="Google Shape;1182;p53"/>
                <p:cNvSpPr txBox="1"/>
                <p:nvPr/>
              </p:nvSpPr>
              <p:spPr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1183" name="Google Shape;1183;p53"/>
                <p:cNvSpPr txBox="1"/>
                <p:nvPr/>
              </p:nvSpPr>
              <p:spPr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endParaRPr/>
                </a:p>
              </p:txBody>
            </p:sp>
            <p:sp>
              <p:nvSpPr>
                <p:cNvPr id="1184" name="Google Shape;1184;p53"/>
                <p:cNvSpPr txBox="1"/>
                <p:nvPr/>
              </p:nvSpPr>
              <p:spPr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  <p:sp>
            <p:nvSpPr>
              <p:cNvPr id="1185" name="Google Shape;1185;p53"/>
              <p:cNvSpPr txBox="1"/>
              <p:nvPr/>
            </p:nvSpPr>
            <p:spPr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 (R)) =  R,</a:t>
                </a:r>
                <a:endParaRPr/>
              </a:p>
            </p:txBody>
          </p:sp>
          <p:grpSp>
            <p:nvGrpSpPr>
              <p:cNvPr id="1186" name="Google Shape;1186;p53"/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187" name="Google Shape;1187;p53"/>
                <p:cNvSpPr txBox="1"/>
                <p:nvPr/>
              </p:nvSpPr>
              <p:spPr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1188" name="Google Shape;1188;p53"/>
                <p:cNvSpPr txBox="1"/>
                <p:nvPr/>
              </p:nvSpPr>
              <p:spPr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</p:grpSp>
        </p:grpSp>
        <p:sp>
          <p:nvSpPr>
            <p:cNvPr id="1189" name="Google Shape;1189;p53"/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1190" name="Google Shape;1190;p53"/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authenticating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as Alice</a:t>
              </a:r>
              <a:endParaRPr/>
            </a:p>
          </p:txBody>
        </p:sp>
      </p:grpSp>
      <p:sp>
        <p:nvSpPr>
          <p:cNvPr id="1191" name="Google Shape;1191;p53"/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2" name="Google Shape;1192;p53"/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cxnSp>
          <p:nvCxnSpPr>
            <p:cNvPr id="1193" name="Google Shape;1193;p53"/>
            <p:cNvCxnSpPr/>
            <p:nvPr/>
          </p:nvCxnSpPr>
          <p:spPr>
            <a:xfrm flipH="1">
              <a:off x="2221395" y="3390832"/>
              <a:ext cx="2480297" cy="3218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4" name="Google Shape;1194;p53"/>
            <p:cNvSpPr txBox="1"/>
            <p:nvPr/>
          </p:nvSpPr>
          <p:spPr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1195" name="Google Shape;1195;p53"/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cxnSp>
          <p:nvCxnSpPr>
            <p:cNvPr id="1196" name="Google Shape;1196;p53"/>
            <p:cNvCxnSpPr/>
            <p:nvPr/>
          </p:nvCxnSpPr>
          <p:spPr>
            <a:xfrm>
              <a:off x="2221395" y="3840094"/>
              <a:ext cx="25930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97" name="Google Shape;1197;p53"/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198" name="Google Shape;1198;p53"/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53"/>
              <p:cNvSpPr txBox="1"/>
              <p:nvPr/>
            </p:nvSpPr>
            <p:spPr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00" name="Google Shape;1200;p53"/>
              <p:cNvSpPr txBox="1"/>
              <p:nvPr/>
            </p:nvSpPr>
            <p:spPr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1201" name="Google Shape;1201;p53"/>
              <p:cNvSpPr txBox="1"/>
              <p:nvPr/>
            </p:nvSpPr>
            <p:spPr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1202" name="Google Shape;1202;p53"/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cxnSp>
          <p:nvCxnSpPr>
            <p:cNvPr id="1203" name="Google Shape;1203;p53"/>
            <p:cNvCxnSpPr/>
            <p:nvPr/>
          </p:nvCxnSpPr>
          <p:spPr>
            <a:xfrm>
              <a:off x="2221395" y="4527482"/>
              <a:ext cx="2661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204" name="Google Shape;1204;p53"/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205" name="Google Shape;1205;p53"/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53"/>
              <p:cNvSpPr txBox="1"/>
              <p:nvPr/>
            </p:nvSpPr>
            <p:spPr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1207" name="Google Shape;1207;p53"/>
              <p:cNvSpPr txBox="1"/>
              <p:nvPr/>
            </p:nvSpPr>
            <p:spPr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08" name="Google Shape;1208;p53"/>
              <p:cNvSpPr txBox="1"/>
              <p:nvPr/>
            </p:nvSpPr>
            <p:spPr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1209" name="Google Shape;1209;p53"/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0" name="Google Shape;1210;p53"/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cxnSp>
          <p:nvCxnSpPr>
            <p:cNvPr id="1211" name="Google Shape;1211;p53"/>
            <p:cNvCxnSpPr/>
            <p:nvPr/>
          </p:nvCxnSpPr>
          <p:spPr>
            <a:xfrm rot="10800000">
              <a:off x="6941172" y="5117202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212" name="Google Shape;1212;p53"/>
            <p:cNvGrpSpPr/>
            <p:nvPr/>
          </p:nvGrpSpPr>
          <p:grpSpPr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213" name="Google Shape;1213;p53"/>
              <p:cNvSpPr txBox="1"/>
              <p:nvPr/>
            </p:nvSpPr>
            <p:spPr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(m)</a:t>
                </a:r>
                <a:endParaRPr/>
              </a:p>
            </p:txBody>
          </p:sp>
          <p:sp>
            <p:nvSpPr>
              <p:cNvPr id="1214" name="Google Shape;1214;p53"/>
              <p:cNvSpPr txBox="1"/>
              <p:nvPr/>
            </p:nvSpPr>
            <p:spPr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15" name="Google Shape;1215;p53"/>
              <p:cNvSpPr txBox="1"/>
              <p:nvPr/>
            </p:nvSpPr>
            <p:spPr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</p:grpSp>
      </p:grpSp>
      <p:sp>
        <p:nvSpPr>
          <p:cNvPr id="1216" name="Google Shape;1216;p53"/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sends a personal message, m to Alice</a:t>
            </a:r>
            <a:endParaRPr/>
          </a:p>
        </p:txBody>
      </p:sp>
      <p:grpSp>
        <p:nvGrpSpPr>
          <p:cNvPr id="1217" name="Google Shape;1217;p53"/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cxnSp>
          <p:nvCxnSpPr>
            <p:cNvPr id="1218" name="Google Shape;1218;p53"/>
            <p:cNvCxnSpPr/>
            <p:nvPr/>
          </p:nvCxnSpPr>
          <p:spPr>
            <a:xfrm rot="10800000">
              <a:off x="2601085" y="5367337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19" name="Google Shape;1219;p53"/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0" name="Google Shape;1220;p53"/>
            <p:cNvGrpSpPr/>
            <p:nvPr/>
          </p:nvGrpSpPr>
          <p:grpSpPr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221" name="Google Shape;1221;p53"/>
              <p:cNvSpPr txBox="1"/>
              <p:nvPr/>
            </p:nvSpPr>
            <p:spPr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53"/>
              <p:cNvSpPr txBox="1"/>
              <p:nvPr/>
            </p:nvSpPr>
            <p:spPr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(m)</a:t>
                </a:r>
                <a:endParaRPr/>
              </a:p>
            </p:txBody>
          </p:sp>
          <p:sp>
            <p:nvSpPr>
              <p:cNvPr id="1223" name="Google Shape;1223;p53"/>
              <p:cNvSpPr txBox="1"/>
              <p:nvPr/>
            </p:nvSpPr>
            <p:spPr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1224" name="Google Shape;1224;p53"/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225" name="Google Shape;1225;p53"/>
            <p:cNvGrpSpPr/>
            <p:nvPr/>
          </p:nvGrpSpPr>
          <p:grpSpPr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226" name="Google Shape;1226;p53"/>
              <p:cNvSpPr txBox="1"/>
              <p:nvPr/>
            </p:nvSpPr>
            <p:spPr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27" name="Google Shape;1227;p53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1228" name="Google Shape;1228;p53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29" name="Google Shape;1229;p53"/>
              <p:cNvSpPr txBox="1"/>
              <p:nvPr/>
            </p:nvSpPr>
            <p:spPr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30" name="Google Shape;1230;p53"/>
              <p:cNvSpPr txBox="1"/>
              <p:nvPr/>
            </p:nvSpPr>
            <p:spPr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1231" name="Google Shape;1231;p53"/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Bob’s m:</a:t>
              </a:r>
              <a:endParaRPr/>
            </a:p>
          </p:txBody>
        </p:sp>
        <p:sp>
          <p:nvSpPr>
            <p:cNvPr id="1232" name="Google Shape;1232;p53"/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she and Bob meet a week later in person and discuss m, not knowing Trudy knows m</a:t>
              </a:r>
              <a:endParaRPr/>
            </a:p>
          </p:txBody>
        </p:sp>
      </p:grpSp>
      <p:grpSp>
        <p:nvGrpSpPr>
          <p:cNvPr id="1233" name="Google Shape;1233;p53"/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1234" name="Google Shape;1234;p53"/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235" name="Google Shape;1235;p53"/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Where are mistakes made here?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5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Need for certified public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3" name="Google Shape;1243;p54"/>
          <p:cNvSpPr txBox="1"/>
          <p:nvPr/>
        </p:nvSpPr>
        <p:spPr>
          <a:xfrm>
            <a:off x="533400" y="1490663"/>
            <a:ext cx="7749209" cy="753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motivation: Trudy plays pizza prank on Bob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Delivery Pepperoni Pizza | Taste Test | Serious Eats" id="1244" name="Google Shape;124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2407" y="2252869"/>
            <a:ext cx="3712524" cy="363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54"/>
          <p:cNvSpPr txBox="1"/>
          <p:nvPr/>
        </p:nvSpPr>
        <p:spPr>
          <a:xfrm>
            <a:off x="868681" y="2059478"/>
            <a:ext cx="6812280" cy="4342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8925" lvl="1" marL="746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creates e-mail order: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Dear Pizza Store, Please deliver to me four pepperoni pizzas. Thank you, Bob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signs order with her private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sends order to Pizza Store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sends to Pizza Store her public key, but says it’s Bob’s public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Pizza Store verifies signature; then delivers four pepperoni pizzas to Bob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doesn’t even like pepperoni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5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Public key Certification Authorities (CA)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3" name="Google Shape;1253;p55"/>
          <p:cNvSpPr txBox="1"/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certification authority (CA):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binds public key to particular entity, 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(person, website, router) registers its public key with CE provides “proof of identity” to CA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 creates certificate binding identity E to E’s public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containing E’s public key digitally signed by CA: CA says “this is E’s public key”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0175664[1]" id="1254" name="Google Shape;125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651" y="4860718"/>
            <a:ext cx="1155700" cy="91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255" name="Google Shape;1255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3814" y="5583030"/>
            <a:ext cx="590550" cy="6048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6" name="Google Shape;1256;p55"/>
          <p:cNvCxnSpPr/>
          <p:nvPr/>
        </p:nvCxnSpPr>
        <p:spPr>
          <a:xfrm>
            <a:off x="3635651" y="4532105"/>
            <a:ext cx="698500" cy="6159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257" name="Google Shape;1257;p55"/>
          <p:cNvSpPr txBox="1"/>
          <p:nvPr/>
        </p:nvSpPr>
        <p:spPr>
          <a:xfrm>
            <a:off x="1638576" y="5387768"/>
            <a:ext cx="1309688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Bob’s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identifying information </a:t>
            </a:r>
            <a:endParaRPr/>
          </a:p>
        </p:txBody>
      </p:sp>
      <p:cxnSp>
        <p:nvCxnSpPr>
          <p:cNvPr id="1258" name="Google Shape;1258;p55"/>
          <p:cNvCxnSpPr/>
          <p:nvPr/>
        </p:nvCxnSpPr>
        <p:spPr>
          <a:xfrm flipH="1" rot="10800000">
            <a:off x="3599139" y="5314743"/>
            <a:ext cx="741362" cy="3413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59" name="Google Shape;1259;p55"/>
          <p:cNvCxnSpPr/>
          <p:nvPr/>
        </p:nvCxnSpPr>
        <p:spPr>
          <a:xfrm>
            <a:off x="3686451" y="4349543"/>
            <a:ext cx="2222500" cy="63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0" name="Google Shape;1260;p55"/>
          <p:cNvCxnSpPr/>
          <p:nvPr/>
        </p:nvCxnSpPr>
        <p:spPr>
          <a:xfrm flipH="1" rot="10800000">
            <a:off x="7163076" y="4376530"/>
            <a:ext cx="1133475" cy="95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61" name="Google Shape;1261;p55"/>
          <p:cNvGrpSpPr/>
          <p:nvPr/>
        </p:nvGrpSpPr>
        <p:grpSpPr>
          <a:xfrm>
            <a:off x="8307077" y="4044674"/>
            <a:ext cx="858838" cy="1158875"/>
            <a:chOff x="4446" y="2648"/>
            <a:chExt cx="541" cy="730"/>
          </a:xfrm>
        </p:grpSpPr>
        <p:pic>
          <p:nvPicPr>
            <p:cNvPr descr="SO00109_[1]" id="1262" name="Google Shape;1262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3" name="Google Shape;1263;p55"/>
            <p:cNvGrpSpPr/>
            <p:nvPr/>
          </p:nvGrpSpPr>
          <p:grpSpPr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1264" name="Google Shape;1264;p55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265" name="Google Shape;1265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66" name="Google Shape;1266;p55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267" name="Google Shape;1267;p55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pic>
          <p:nvPicPr>
            <p:cNvPr descr="BS00768_[1]" id="1268" name="Google Shape;1268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9" name="Google Shape;1269;p55"/>
          <p:cNvSpPr txBox="1"/>
          <p:nvPr/>
        </p:nvSpPr>
        <p:spPr>
          <a:xfrm>
            <a:off x="8175142" y="5204723"/>
            <a:ext cx="326148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for Bob’s public key, signed by CA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0" name="Google Shape;1270;p55"/>
          <p:cNvGrpSpPr/>
          <p:nvPr/>
        </p:nvGrpSpPr>
        <p:grpSpPr>
          <a:xfrm>
            <a:off x="2120145" y="4048470"/>
            <a:ext cx="1491075" cy="812454"/>
            <a:chOff x="1914734" y="3557588"/>
            <a:chExt cx="1491075" cy="812454"/>
          </a:xfrm>
        </p:grpSpPr>
        <p:sp>
          <p:nvSpPr>
            <p:cNvPr id="1271" name="Google Shape;1271;p55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272" name="Google Shape;1272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3" name="Google Shape;1273;p55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274" name="Google Shape;1274;p55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275" name="Google Shape;1275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76" name="Google Shape;1276;p55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277" name="Google Shape;1277;p55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278" name="Google Shape;1278;p55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279" name="Google Shape;1279;p55"/>
          <p:cNvGrpSpPr/>
          <p:nvPr/>
        </p:nvGrpSpPr>
        <p:grpSpPr>
          <a:xfrm>
            <a:off x="5939324" y="3900693"/>
            <a:ext cx="1196163" cy="955675"/>
            <a:chOff x="4296054" y="3224833"/>
            <a:chExt cx="1196163" cy="955675"/>
          </a:xfrm>
        </p:grpSpPr>
        <p:sp>
          <p:nvSpPr>
            <p:cNvPr id="1280" name="Google Shape;1280;p55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55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(encrypt)</a:t>
              </a:r>
              <a:endParaRPr/>
            </a:p>
          </p:txBody>
        </p:sp>
      </p:grpSp>
      <p:grpSp>
        <p:nvGrpSpPr>
          <p:cNvPr id="1282" name="Google Shape;1282;p55"/>
          <p:cNvGrpSpPr/>
          <p:nvPr/>
        </p:nvGrpSpPr>
        <p:grpSpPr>
          <a:xfrm>
            <a:off x="5466319" y="4883978"/>
            <a:ext cx="1517579" cy="936623"/>
            <a:chOff x="1914734" y="3458819"/>
            <a:chExt cx="1517579" cy="936623"/>
          </a:xfrm>
        </p:grpSpPr>
        <p:sp>
          <p:nvSpPr>
            <p:cNvPr id="1283" name="Google Shape;1283;p55"/>
            <p:cNvSpPr txBox="1"/>
            <p:nvPr/>
          </p:nvSpPr>
          <p:spPr>
            <a:xfrm>
              <a:off x="1914734" y="362384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284" name="Google Shape;1284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5" name="Google Shape;1285;p55"/>
            <p:cNvGrpSpPr/>
            <p:nvPr/>
          </p:nvGrpSpPr>
          <p:grpSpPr>
            <a:xfrm>
              <a:off x="2777720" y="3765205"/>
              <a:ext cx="639764" cy="630237"/>
              <a:chOff x="2994" y="2073"/>
              <a:chExt cx="403" cy="397"/>
            </a:xfrm>
          </p:grpSpPr>
          <p:grpSp>
            <p:nvGrpSpPr>
              <p:cNvPr id="1286" name="Google Shape;1286;p55"/>
              <p:cNvGrpSpPr/>
              <p:nvPr/>
            </p:nvGrpSpPr>
            <p:grpSpPr>
              <a:xfrm>
                <a:off x="2994" y="2144"/>
                <a:ext cx="403" cy="326"/>
                <a:chOff x="2994" y="2144"/>
                <a:chExt cx="403" cy="326"/>
              </a:xfrm>
            </p:grpSpPr>
            <p:sp>
              <p:nvSpPr>
                <p:cNvPr id="1287" name="Google Shape;1287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88" name="Google Shape;1288;p55"/>
                <p:cNvSpPr txBox="1"/>
                <p:nvPr/>
              </p:nvSpPr>
              <p:spPr>
                <a:xfrm>
                  <a:off x="3102" y="2257"/>
                  <a:ext cx="295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sp>
            <p:nvSpPr>
              <p:cNvPr id="1289" name="Google Shape;1289;p55"/>
              <p:cNvSpPr txBox="1"/>
              <p:nvPr/>
            </p:nvSpPr>
            <p:spPr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cxnSp>
          <p:nvCxnSpPr>
            <p:cNvPr id="1290" name="Google Shape;1290;p55"/>
            <p:cNvCxnSpPr/>
            <p:nvPr/>
          </p:nvCxnSpPr>
          <p:spPr>
            <a:xfrm flipH="1" rot="10800000">
              <a:off x="3430736" y="3458819"/>
              <a:ext cx="1577" cy="6350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5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Public key Certification Authorities (CA)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j0175664[1]" id="1298" name="Google Shape;12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410" y="4380535"/>
            <a:ext cx="908948" cy="744538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56"/>
          <p:cNvSpPr txBox="1"/>
          <p:nvPr/>
        </p:nvSpPr>
        <p:spPr>
          <a:xfrm>
            <a:off x="8629926" y="3334578"/>
            <a:ext cx="960438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endParaRPr/>
          </a:p>
        </p:txBody>
      </p:sp>
      <p:pic>
        <p:nvPicPr>
          <p:cNvPr descr="BS00768_[1]" id="1300" name="Google Shape;1300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156851" y="3393730"/>
            <a:ext cx="458788" cy="2365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1" name="Google Shape;1301;p56"/>
          <p:cNvGrpSpPr/>
          <p:nvPr/>
        </p:nvGrpSpPr>
        <p:grpSpPr>
          <a:xfrm>
            <a:off x="8066364" y="3631855"/>
            <a:ext cx="528637" cy="604837"/>
            <a:chOff x="2994" y="2073"/>
            <a:chExt cx="333" cy="381"/>
          </a:xfrm>
        </p:grpSpPr>
        <p:grpSp>
          <p:nvGrpSpPr>
            <p:cNvPr id="1302" name="Google Shape;1302;p56"/>
            <p:cNvGrpSpPr/>
            <p:nvPr/>
          </p:nvGrpSpPr>
          <p:grpSpPr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1303" name="Google Shape;1303;p56"/>
              <p:cNvSpPr txBox="1"/>
              <p:nvPr/>
            </p:nvSpPr>
            <p:spPr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</a:t>
                </a:r>
                <a:endParaRPr/>
              </a:p>
            </p:txBody>
          </p:sp>
          <p:sp>
            <p:nvSpPr>
              <p:cNvPr id="1304" name="Google Shape;1304;p56"/>
              <p:cNvSpPr txBox="1"/>
              <p:nvPr/>
            </p:nvSpPr>
            <p:spPr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</p:grpSp>
        <p:sp>
          <p:nvSpPr>
            <p:cNvPr id="1305" name="Google Shape;1305;p56"/>
            <p:cNvSpPr txBox="1"/>
            <p:nvPr/>
          </p:nvSpPr>
          <p:spPr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1306" name="Google Shape;1306;p56"/>
          <p:cNvGrpSpPr/>
          <p:nvPr/>
        </p:nvGrpSpPr>
        <p:grpSpPr>
          <a:xfrm>
            <a:off x="3029916" y="3212410"/>
            <a:ext cx="858838" cy="1158875"/>
            <a:chOff x="4446" y="2648"/>
            <a:chExt cx="541" cy="730"/>
          </a:xfrm>
        </p:grpSpPr>
        <p:pic>
          <p:nvPicPr>
            <p:cNvPr descr="SO00109_[1]" id="1307" name="Google Shape;1307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08" name="Google Shape;1308;p56"/>
            <p:cNvGrpSpPr/>
            <p:nvPr/>
          </p:nvGrpSpPr>
          <p:grpSpPr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1309" name="Google Shape;1309;p56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310" name="Google Shape;1310;p56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311" name="Google Shape;1311;p56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312" name="Google Shape;1312;p56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pic>
          <p:nvPicPr>
            <p:cNvPr descr="BS00768_[1]" id="1313" name="Google Shape;1313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4" name="Google Shape;1314;p56"/>
          <p:cNvSpPr txBox="1"/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when Alice wants Bob’s public key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gets Bob’s certificate (Bob or elsewhere)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apply CA’s public key to Bob’s certificate, get Bob’s public key</a:t>
            </a:r>
            <a:endParaRPr b="0" i="0" sz="2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5" name="Google Shape;1315;p56"/>
          <p:cNvGrpSpPr/>
          <p:nvPr/>
        </p:nvGrpSpPr>
        <p:grpSpPr>
          <a:xfrm>
            <a:off x="5042250" y="4300884"/>
            <a:ext cx="1571020" cy="993773"/>
            <a:chOff x="1914734" y="3458819"/>
            <a:chExt cx="1571020" cy="993773"/>
          </a:xfrm>
        </p:grpSpPr>
        <p:sp>
          <p:nvSpPr>
            <p:cNvPr id="1316" name="Google Shape;1316;p56"/>
            <p:cNvSpPr txBox="1"/>
            <p:nvPr/>
          </p:nvSpPr>
          <p:spPr>
            <a:xfrm>
              <a:off x="1914734" y="3570839"/>
              <a:ext cx="960437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pic>
          <p:nvPicPr>
            <p:cNvPr descr="BS00768_[1]" id="1317" name="Google Shape;1317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18" name="Google Shape;1318;p56"/>
            <p:cNvGrpSpPr/>
            <p:nvPr/>
          </p:nvGrpSpPr>
          <p:grpSpPr>
            <a:xfrm>
              <a:off x="2753914" y="3765205"/>
              <a:ext cx="731840" cy="687387"/>
              <a:chOff x="2979" y="2073"/>
              <a:chExt cx="461" cy="433"/>
            </a:xfrm>
          </p:grpSpPr>
          <p:grpSp>
            <p:nvGrpSpPr>
              <p:cNvPr id="1319" name="Google Shape;1319;p56"/>
              <p:cNvGrpSpPr/>
              <p:nvPr/>
            </p:nvGrpSpPr>
            <p:grpSpPr>
              <a:xfrm>
                <a:off x="2979" y="2144"/>
                <a:ext cx="461" cy="362"/>
                <a:chOff x="2979" y="2144"/>
                <a:chExt cx="461" cy="362"/>
              </a:xfrm>
            </p:grpSpPr>
            <p:sp>
              <p:nvSpPr>
                <p:cNvPr id="1320" name="Google Shape;1320;p56"/>
                <p:cNvSpPr txBox="1"/>
                <p:nvPr/>
              </p:nvSpPr>
              <p:spPr>
                <a:xfrm>
                  <a:off x="2979" y="214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321" name="Google Shape;1321;p56"/>
                <p:cNvSpPr txBox="1"/>
                <p:nvPr/>
              </p:nvSpPr>
              <p:spPr>
                <a:xfrm>
                  <a:off x="3122" y="2273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sp>
            <p:nvSpPr>
              <p:cNvPr id="1322" name="Google Shape;1322;p56"/>
              <p:cNvSpPr txBox="1"/>
              <p:nvPr/>
            </p:nvSpPr>
            <p:spPr>
              <a:xfrm>
                <a:off x="3101" y="2073"/>
                <a:ext cx="201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323" name="Google Shape;1323;p56"/>
            <p:cNvCxnSpPr/>
            <p:nvPr/>
          </p:nvCxnSpPr>
          <p:spPr>
            <a:xfrm flipH="1" rot="10800000">
              <a:off x="3430736" y="3458819"/>
              <a:ext cx="1577" cy="6350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24" name="Google Shape;1324;p56"/>
          <p:cNvGrpSpPr/>
          <p:nvPr/>
        </p:nvGrpSpPr>
        <p:grpSpPr>
          <a:xfrm>
            <a:off x="5521879" y="3212132"/>
            <a:ext cx="1196163" cy="955675"/>
            <a:chOff x="4296054" y="3224833"/>
            <a:chExt cx="1196163" cy="955675"/>
          </a:xfrm>
        </p:grpSpPr>
        <p:sp>
          <p:nvSpPr>
            <p:cNvPr id="1325" name="Google Shape;1325;p56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56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(decrypt)</a:t>
              </a:r>
              <a:endParaRPr/>
            </a:p>
          </p:txBody>
        </p:sp>
      </p:grpSp>
      <p:cxnSp>
        <p:nvCxnSpPr>
          <p:cNvPr id="1327" name="Google Shape;1327;p56"/>
          <p:cNvCxnSpPr/>
          <p:nvPr/>
        </p:nvCxnSpPr>
        <p:spPr>
          <a:xfrm>
            <a:off x="3949148" y="3697357"/>
            <a:ext cx="149749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28" name="Google Shape;1328;p56"/>
          <p:cNvCxnSpPr/>
          <p:nvPr/>
        </p:nvCxnSpPr>
        <p:spPr>
          <a:xfrm>
            <a:off x="6778487" y="3690731"/>
            <a:ext cx="149749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57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335" name="Google Shape;133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336" name="Google Shape;1336;p57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337" name="Google Shape;1337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3" name="Google Shape;1343;p58"/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4" name="Google Shape;1344;p58"/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5" name="Google Shape;1345;p58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confidentiality </a:t>
            </a:r>
            <a:endParaRPr/>
          </a:p>
        </p:txBody>
      </p:sp>
      <p:sp>
        <p:nvSpPr>
          <p:cNvPr id="1346" name="Google Shape;1346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7" name="Google Shape;1347;p58"/>
          <p:cNvSpPr txBox="1"/>
          <p:nvPr/>
        </p:nvSpPr>
        <p:spPr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e-mail, m, to Bob.</a:t>
            </a:r>
            <a:endParaRPr/>
          </a:p>
        </p:txBody>
      </p:sp>
      <p:sp>
        <p:nvSpPr>
          <p:cNvPr id="1348" name="Google Shape;1348;p58"/>
          <p:cNvSpPr/>
          <p:nvPr/>
        </p:nvSpPr>
        <p:spPr>
          <a:xfrm>
            <a:off x="5606568" y="2924035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9" name="Google Shape;1349;p58"/>
          <p:cNvCxnSpPr/>
          <p:nvPr/>
        </p:nvCxnSpPr>
        <p:spPr>
          <a:xfrm>
            <a:off x="2332524" y="259542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768_[1]" id="1350" name="Google Shape;135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1" name="Google Shape;1351;p58"/>
          <p:cNvGrpSpPr/>
          <p:nvPr/>
        </p:nvGrpSpPr>
        <p:grpSpPr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1352" name="Google Shape;1352;p58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58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54" name="Google Shape;1354;p58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355" name="Google Shape;1355;p58"/>
          <p:cNvGrpSpPr/>
          <p:nvPr/>
        </p:nvGrpSpPr>
        <p:grpSpPr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1356" name="Google Shape;1356;p58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58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58" name="Google Shape;1358;p58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359" name="Google Shape;1359;p58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360" name="Google Shape;1360;p58"/>
          <p:cNvCxnSpPr/>
          <p:nvPr/>
        </p:nvCxnSpPr>
        <p:spPr>
          <a:xfrm>
            <a:off x="2383324" y="3822560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1" name="Google Shape;1361;p58"/>
          <p:cNvSpPr txBox="1"/>
          <p:nvPr/>
        </p:nvSpPr>
        <p:spPr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362" name="Google Shape;1362;p58"/>
          <p:cNvGrpSpPr/>
          <p:nvPr/>
        </p:nvGrpSpPr>
        <p:grpSpPr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1363" name="Google Shape;1363;p58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364" name="Google Shape;1364;p58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365" name="Google Shape;1365;p58"/>
          <p:cNvSpPr/>
          <p:nvPr/>
        </p:nvSpPr>
        <p:spPr>
          <a:xfrm>
            <a:off x="3585062" y="26033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58"/>
          <p:cNvSpPr/>
          <p:nvPr/>
        </p:nvSpPr>
        <p:spPr>
          <a:xfrm flipH="1" rot="10800000">
            <a:off x="3607287" y="34240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58"/>
          <p:cNvSpPr txBox="1"/>
          <p:nvPr/>
        </p:nvSpPr>
        <p:spPr>
          <a:xfrm>
            <a:off x="1956287" y="2374760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1368" name="Google Shape;1368;p58"/>
          <p:cNvSpPr txBox="1"/>
          <p:nvPr/>
        </p:nvSpPr>
        <p:spPr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369" name="Google Shape;1369;p58"/>
          <p:cNvSpPr txBox="1"/>
          <p:nvPr/>
        </p:nvSpPr>
        <p:spPr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370" name="Google Shape;1370;p58"/>
          <p:cNvGrpSpPr/>
          <p:nvPr/>
        </p:nvGrpSpPr>
        <p:grpSpPr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1371" name="Google Shape;1371;p58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58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Alice" id="1373" name="Google Shape;137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592_[1]" id="1374" name="Google Shape;1374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58"/>
          <p:cNvSpPr txBox="1"/>
          <p:nvPr/>
        </p:nvSpPr>
        <p:spPr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1376" name="Google Shape;1376;p58"/>
          <p:cNvSpPr/>
          <p:nvPr/>
        </p:nvSpPr>
        <p:spPr>
          <a:xfrm flipH="1">
            <a:off x="8120821" y="259701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7" name="Google Shape;1377;p58"/>
          <p:cNvGrpSpPr/>
          <p:nvPr/>
        </p:nvGrpSpPr>
        <p:grpSpPr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1378" name="Google Shape;1378;p58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58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80" name="Google Shape;1380;p58"/>
            <p:cNvSpPr txBox="1"/>
            <p:nvPr/>
          </p:nvSpPr>
          <p:spPr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381" name="Google Shape;1381;p58"/>
          <p:cNvSpPr/>
          <p:nvPr/>
        </p:nvSpPr>
        <p:spPr>
          <a:xfrm rot="10800000">
            <a:off x="8143046" y="3432035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2" name="Google Shape;1382;p58"/>
          <p:cNvGrpSpPr/>
          <p:nvPr/>
        </p:nvGrpSpPr>
        <p:grpSpPr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1383" name="Google Shape;1383;p58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58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85" name="Google Shape;1385;p58"/>
            <p:cNvSpPr txBox="1"/>
            <p:nvPr/>
          </p:nvSpPr>
          <p:spPr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386" name="Google Shape;1386;p58"/>
            <p:cNvSpPr txBox="1"/>
            <p:nvPr/>
          </p:nvSpPr>
          <p:spPr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387" name="Google Shape;138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8" name="Google Shape;1388;p58"/>
          <p:cNvGrpSpPr/>
          <p:nvPr/>
        </p:nvGrpSpPr>
        <p:grpSpPr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1389" name="Google Shape;1389;p58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58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391" name="Google Shape;1391;p58"/>
          <p:cNvSpPr txBox="1"/>
          <p:nvPr/>
        </p:nvSpPr>
        <p:spPr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1392" name="Google Shape;1392;p58"/>
          <p:cNvCxnSpPr/>
          <p:nvPr/>
        </p:nvCxnSpPr>
        <p:spPr>
          <a:xfrm>
            <a:off x="9609896" y="260177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3" name="Google Shape;1393;p58"/>
          <p:cNvSpPr txBox="1"/>
          <p:nvPr/>
        </p:nvSpPr>
        <p:spPr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descr="Bob" id="1394" name="Google Shape;1394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58"/>
          <p:cNvSpPr txBox="1"/>
          <p:nvPr/>
        </p:nvSpPr>
        <p:spPr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396" name="Google Shape;1396;p58"/>
          <p:cNvGrpSpPr/>
          <p:nvPr/>
        </p:nvGrpSpPr>
        <p:grpSpPr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1397" name="Google Shape;1397;p58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398" name="Google Shape;1398;p58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592_[1]" id="1399" name="Google Shape;139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58"/>
          <p:cNvSpPr txBox="1"/>
          <p:nvPr/>
        </p:nvSpPr>
        <p:spPr>
          <a:xfrm>
            <a:off x="1655073" y="4308821"/>
            <a:ext cx="9741797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Alice: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random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private key,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encrypts message with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(for efficiency)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encrypts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Bob’s public key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both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and K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Bob</a:t>
            </a:r>
            <a:endParaRPr/>
          </a:p>
        </p:txBody>
      </p:sp>
      <p:grpSp>
        <p:nvGrpSpPr>
          <p:cNvPr id="1401" name="Google Shape;1401;p58"/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1402" name="Google Shape;1402;p58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58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404" name="Google Shape;1404;p58"/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1405" name="Google Shape;1405;p58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58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cxnSp>
        <p:nvCxnSpPr>
          <p:cNvPr id="1407" name="Google Shape;1407;p58"/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08" name="Google Shape;1408;p58"/>
          <p:cNvCxnSpPr/>
          <p:nvPr/>
        </p:nvCxnSpPr>
        <p:spPr>
          <a:xfrm rot="10800000">
            <a:off x="3238142" y="40704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09" name="Google Shape;1409;p58"/>
          <p:cNvCxnSpPr/>
          <p:nvPr/>
        </p:nvCxnSpPr>
        <p:spPr>
          <a:xfrm rot="10800000">
            <a:off x="9042677" y="40683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10" name="Google Shape;1410;p58"/>
          <p:cNvCxnSpPr/>
          <p:nvPr/>
        </p:nvCxnSpPr>
        <p:spPr>
          <a:xfrm rot="10800000">
            <a:off x="8996473" y="2842592"/>
            <a:ext cx="0" cy="70294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pic>
        <p:nvPicPr>
          <p:cNvPr descr="BS00768_[1]" id="1411" name="Google Shape;141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412" name="Google Shape;141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8" name="Google Shape;1418;p59"/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19" name="Google Shape;1419;p59"/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0" name="Google Shape;1420;p59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confidentiality </a:t>
            </a:r>
            <a:r>
              <a:rPr b="0" lang="en-US" sz="3600">
                <a:latin typeface="Calibri"/>
                <a:ea typeface="Calibri"/>
                <a:cs typeface="Calibri"/>
                <a:sym typeface="Calibri"/>
              </a:rPr>
              <a:t>(more) 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2" name="Google Shape;1422;p59"/>
          <p:cNvSpPr txBox="1"/>
          <p:nvPr/>
        </p:nvSpPr>
        <p:spPr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e-mail, m, to Bob.</a:t>
            </a:r>
            <a:endParaRPr/>
          </a:p>
        </p:txBody>
      </p:sp>
      <p:sp>
        <p:nvSpPr>
          <p:cNvPr id="1423" name="Google Shape;1423;p59"/>
          <p:cNvSpPr/>
          <p:nvPr/>
        </p:nvSpPr>
        <p:spPr>
          <a:xfrm>
            <a:off x="5606568" y="2924035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4" name="Google Shape;1424;p59"/>
          <p:cNvCxnSpPr/>
          <p:nvPr/>
        </p:nvCxnSpPr>
        <p:spPr>
          <a:xfrm>
            <a:off x="2292768" y="259542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768_[1]" id="1425" name="Google Shape;142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6" name="Google Shape;1426;p59"/>
          <p:cNvGrpSpPr/>
          <p:nvPr/>
        </p:nvGrpSpPr>
        <p:grpSpPr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1427" name="Google Shape;1427;p59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59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29" name="Google Shape;1429;p59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430" name="Google Shape;1430;p59"/>
          <p:cNvGrpSpPr/>
          <p:nvPr/>
        </p:nvGrpSpPr>
        <p:grpSpPr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1431" name="Google Shape;1431;p59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59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33" name="Google Shape;1433;p59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34" name="Google Shape;1434;p59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435" name="Google Shape;1435;p59"/>
          <p:cNvCxnSpPr/>
          <p:nvPr/>
        </p:nvCxnSpPr>
        <p:spPr>
          <a:xfrm>
            <a:off x="2290560" y="3822560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6" name="Google Shape;1436;p59"/>
          <p:cNvSpPr txBox="1"/>
          <p:nvPr/>
        </p:nvSpPr>
        <p:spPr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437" name="Google Shape;1437;p59"/>
          <p:cNvGrpSpPr/>
          <p:nvPr/>
        </p:nvGrpSpPr>
        <p:grpSpPr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1438" name="Google Shape;1438;p59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39" name="Google Shape;1439;p59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440" name="Google Shape;1440;p59"/>
          <p:cNvSpPr/>
          <p:nvPr/>
        </p:nvSpPr>
        <p:spPr>
          <a:xfrm>
            <a:off x="3585062" y="26033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59"/>
          <p:cNvSpPr/>
          <p:nvPr/>
        </p:nvSpPr>
        <p:spPr>
          <a:xfrm flipH="1" rot="10800000">
            <a:off x="3607287" y="34240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59"/>
          <p:cNvSpPr txBox="1"/>
          <p:nvPr/>
        </p:nvSpPr>
        <p:spPr>
          <a:xfrm>
            <a:off x="1943035" y="236150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1443" name="Google Shape;1443;p59"/>
          <p:cNvSpPr txBox="1"/>
          <p:nvPr/>
        </p:nvSpPr>
        <p:spPr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444" name="Google Shape;1444;p59"/>
          <p:cNvSpPr txBox="1"/>
          <p:nvPr/>
        </p:nvSpPr>
        <p:spPr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445" name="Google Shape;1445;p59"/>
          <p:cNvGrpSpPr/>
          <p:nvPr/>
        </p:nvGrpSpPr>
        <p:grpSpPr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1446" name="Google Shape;1446;p59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59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448" name="Google Shape;144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449" name="Google Shape;144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592_[1]" id="1450" name="Google Shape;145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59"/>
          <p:cNvSpPr txBox="1"/>
          <p:nvPr/>
        </p:nvSpPr>
        <p:spPr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1452" name="Google Shape;1452;p59"/>
          <p:cNvSpPr/>
          <p:nvPr/>
        </p:nvSpPr>
        <p:spPr>
          <a:xfrm flipH="1">
            <a:off x="8120821" y="259701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3" name="Google Shape;1453;p59"/>
          <p:cNvGrpSpPr/>
          <p:nvPr/>
        </p:nvGrpSpPr>
        <p:grpSpPr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1454" name="Google Shape;1454;p59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59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56" name="Google Shape;1456;p59"/>
            <p:cNvSpPr txBox="1"/>
            <p:nvPr/>
          </p:nvSpPr>
          <p:spPr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457" name="Google Shape;1457;p59"/>
          <p:cNvSpPr/>
          <p:nvPr/>
        </p:nvSpPr>
        <p:spPr>
          <a:xfrm rot="10800000">
            <a:off x="8143046" y="3432035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8" name="Google Shape;1458;p59"/>
          <p:cNvGrpSpPr/>
          <p:nvPr/>
        </p:nvGrpSpPr>
        <p:grpSpPr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1459" name="Google Shape;1459;p59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59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61" name="Google Shape;1461;p59"/>
            <p:cNvSpPr txBox="1"/>
            <p:nvPr/>
          </p:nvSpPr>
          <p:spPr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62" name="Google Shape;1462;p59"/>
            <p:cNvSpPr txBox="1"/>
            <p:nvPr/>
          </p:nvSpPr>
          <p:spPr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463" name="Google Shape;146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4" name="Google Shape;1464;p59"/>
          <p:cNvGrpSpPr/>
          <p:nvPr/>
        </p:nvGrpSpPr>
        <p:grpSpPr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1465" name="Google Shape;1465;p59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59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467" name="Google Shape;146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59"/>
          <p:cNvSpPr txBox="1"/>
          <p:nvPr/>
        </p:nvSpPr>
        <p:spPr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1469" name="Google Shape;1469;p59"/>
          <p:cNvCxnSpPr/>
          <p:nvPr/>
        </p:nvCxnSpPr>
        <p:spPr>
          <a:xfrm>
            <a:off x="9609896" y="260177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0" name="Google Shape;1470;p59"/>
          <p:cNvSpPr txBox="1"/>
          <p:nvPr/>
        </p:nvSpPr>
        <p:spPr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descr="Bob" id="1471" name="Google Shape;1471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59"/>
          <p:cNvSpPr txBox="1"/>
          <p:nvPr/>
        </p:nvSpPr>
        <p:spPr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473" name="Google Shape;1473;p59"/>
          <p:cNvGrpSpPr/>
          <p:nvPr/>
        </p:nvGrpSpPr>
        <p:grpSpPr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1474" name="Google Shape;1474;p59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75" name="Google Shape;1475;p59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592_[1]" id="1476" name="Google Shape;1476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7" name="Google Shape;1477;p59"/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1478" name="Google Shape;1478;p59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59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480" name="Google Shape;1480;p59"/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1481" name="Google Shape;1481;p59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59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sp>
        <p:nvSpPr>
          <p:cNvPr id="1483" name="Google Shape;1483;p59"/>
          <p:cNvSpPr txBox="1"/>
          <p:nvPr/>
        </p:nvSpPr>
        <p:spPr>
          <a:xfrm>
            <a:off x="6241774" y="4401586"/>
            <a:ext cx="5340626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Bob: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his private key to decrypt and recover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decrypt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to recover m</a:t>
            </a:r>
            <a:endParaRPr/>
          </a:p>
        </p:txBody>
      </p:sp>
      <p:cxnSp>
        <p:nvCxnSpPr>
          <p:cNvPr id="1484" name="Google Shape;1484;p59"/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5" name="Google Shape;1485;p59"/>
          <p:cNvCxnSpPr/>
          <p:nvPr/>
        </p:nvCxnSpPr>
        <p:spPr>
          <a:xfrm rot="10800000">
            <a:off x="3238142" y="40704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6" name="Google Shape;1486;p59"/>
          <p:cNvCxnSpPr/>
          <p:nvPr/>
        </p:nvCxnSpPr>
        <p:spPr>
          <a:xfrm rot="10800000">
            <a:off x="9042677" y="40683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7" name="Google Shape;1487;p59"/>
          <p:cNvCxnSpPr/>
          <p:nvPr/>
        </p:nvCxnSpPr>
        <p:spPr>
          <a:xfrm rot="10800000">
            <a:off x="8996473" y="2842592"/>
            <a:ext cx="0" cy="70294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60"/>
          <p:cNvSpPr/>
          <p:nvPr/>
        </p:nvSpPr>
        <p:spPr>
          <a:xfrm>
            <a:off x="5566811" y="3122817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60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</a:t>
            </a:r>
            <a:r>
              <a:rPr b="0" lang="en-US" sz="4000">
                <a:latin typeface="Calibri"/>
                <a:ea typeface="Calibri"/>
                <a:cs typeface="Calibri"/>
                <a:sym typeface="Calibri"/>
              </a:rPr>
              <a:t>integrity, authentication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6" name="Google Shape;1496;p60"/>
          <p:cNvSpPr txBox="1"/>
          <p:nvPr/>
        </p:nvSpPr>
        <p:spPr>
          <a:xfrm>
            <a:off x="830677" y="1195663"/>
            <a:ext cx="103328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m to Bob, with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497" name="Google Shape;1497;p60"/>
          <p:cNvSpPr/>
          <p:nvPr/>
        </p:nvSpPr>
        <p:spPr>
          <a:xfrm>
            <a:off x="3309110" y="2832340"/>
            <a:ext cx="989013" cy="406400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8" name="Google Shape;1498;p60"/>
          <p:cNvGrpSpPr/>
          <p:nvPr/>
        </p:nvGrpSpPr>
        <p:grpSpPr>
          <a:xfrm>
            <a:off x="2583623" y="2337040"/>
            <a:ext cx="754063" cy="725487"/>
            <a:chOff x="694" y="2457"/>
            <a:chExt cx="475" cy="457"/>
          </a:xfrm>
        </p:grpSpPr>
        <p:sp>
          <p:nvSpPr>
            <p:cNvPr id="1499" name="Google Shape;1499;p60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60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01" name="Google Shape;1501;p60"/>
            <p:cNvSpPr txBox="1"/>
            <p:nvPr/>
          </p:nvSpPr>
          <p:spPr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502" name="Google Shape;1502;p60"/>
          <p:cNvGrpSpPr/>
          <p:nvPr/>
        </p:nvGrpSpPr>
        <p:grpSpPr>
          <a:xfrm>
            <a:off x="3450398" y="2330690"/>
            <a:ext cx="757238" cy="714375"/>
            <a:chOff x="1541" y="1987"/>
            <a:chExt cx="477" cy="450"/>
          </a:xfrm>
        </p:grpSpPr>
        <p:sp>
          <p:nvSpPr>
            <p:cNvPr id="1503" name="Google Shape;1503;p60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60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05" name="Google Shape;1505;p60"/>
            <p:cNvSpPr txBox="1"/>
            <p:nvPr/>
          </p:nvSpPr>
          <p:spPr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06" name="Google Shape;1506;p60"/>
            <p:cNvSpPr txBox="1"/>
            <p:nvPr/>
          </p:nvSpPr>
          <p:spPr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07" name="Google Shape;1507;p60"/>
          <p:cNvSpPr txBox="1"/>
          <p:nvPr/>
        </p:nvSpPr>
        <p:spPr>
          <a:xfrm>
            <a:off x="9946648" y="2526444"/>
            <a:ext cx="8794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H(m )</a:t>
            </a:r>
            <a:endParaRPr/>
          </a:p>
        </p:txBody>
      </p:sp>
      <p:grpSp>
        <p:nvGrpSpPr>
          <p:cNvPr id="1508" name="Google Shape;1508;p60"/>
          <p:cNvGrpSpPr/>
          <p:nvPr/>
        </p:nvGrpSpPr>
        <p:grpSpPr>
          <a:xfrm>
            <a:off x="4188585" y="2308465"/>
            <a:ext cx="1135063" cy="528637"/>
            <a:chOff x="1778" y="2485"/>
            <a:chExt cx="715" cy="333"/>
          </a:xfrm>
        </p:grpSpPr>
        <p:sp>
          <p:nvSpPr>
            <p:cNvPr id="1509" name="Google Shape;1509;p60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10" name="Google Shape;1510;p60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11" name="Google Shape;1511;p60"/>
          <p:cNvSpPr/>
          <p:nvPr/>
        </p:nvSpPr>
        <p:spPr>
          <a:xfrm flipH="1" rot="10800000">
            <a:off x="2361373" y="3667365"/>
            <a:ext cx="1958975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60"/>
          <p:cNvSpPr txBox="1"/>
          <p:nvPr/>
        </p:nvSpPr>
        <p:spPr>
          <a:xfrm flipH="1">
            <a:off x="2361350" y="3667350"/>
            <a:ext cx="1958975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60"/>
          <p:cNvSpPr txBox="1"/>
          <p:nvPr/>
        </p:nvSpPr>
        <p:spPr>
          <a:xfrm>
            <a:off x="1789873" y="260532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14" name="Google Shape;1514;p60"/>
          <p:cNvGrpSpPr/>
          <p:nvPr/>
        </p:nvGrpSpPr>
        <p:grpSpPr>
          <a:xfrm>
            <a:off x="3375785" y="1954453"/>
            <a:ext cx="452438" cy="474662"/>
            <a:chOff x="2637" y="716"/>
            <a:chExt cx="285" cy="299"/>
          </a:xfrm>
        </p:grpSpPr>
        <p:sp>
          <p:nvSpPr>
            <p:cNvPr id="1515" name="Google Shape;1515;p60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60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517" name="Google Shape;151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872131" y="2141182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518" name="Google Shape;1518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485" y="3141903"/>
            <a:ext cx="527050" cy="6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9" name="Google Shape;1519;p60"/>
          <p:cNvSpPr/>
          <p:nvPr/>
        </p:nvSpPr>
        <p:spPr>
          <a:xfrm flipH="1">
            <a:off x="8131245" y="2840278"/>
            <a:ext cx="75565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60"/>
          <p:cNvSpPr/>
          <p:nvPr/>
        </p:nvSpPr>
        <p:spPr>
          <a:xfrm rot="10800000">
            <a:off x="8153470" y="3675303"/>
            <a:ext cx="75565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60"/>
          <p:cNvSpPr txBox="1"/>
          <p:nvPr/>
        </p:nvSpPr>
        <p:spPr>
          <a:xfrm>
            <a:off x="8153450" y="3675300"/>
            <a:ext cx="755650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b" id="1522" name="Google Shape;1522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1858" y="306570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3" name="Google Shape;1523;p60"/>
          <p:cNvSpPr txBox="1"/>
          <p:nvPr/>
        </p:nvSpPr>
        <p:spPr>
          <a:xfrm>
            <a:off x="1994660" y="3836607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24" name="Google Shape;1524;p60"/>
          <p:cNvGrpSpPr/>
          <p:nvPr/>
        </p:nvGrpSpPr>
        <p:grpSpPr>
          <a:xfrm>
            <a:off x="8894833" y="2319578"/>
            <a:ext cx="757238" cy="708025"/>
            <a:chOff x="1541" y="1993"/>
            <a:chExt cx="477" cy="446"/>
          </a:xfrm>
        </p:grpSpPr>
        <p:sp>
          <p:nvSpPr>
            <p:cNvPr id="1525" name="Google Shape;1525;p60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60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27" name="Google Shape;1527;p60"/>
            <p:cNvSpPr txBox="1"/>
            <p:nvPr/>
          </p:nvSpPr>
          <p:spPr>
            <a:xfrm>
              <a:off x="1735" y="1993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28" name="Google Shape;1528;p60"/>
            <p:cNvSpPr txBox="1"/>
            <p:nvPr/>
          </p:nvSpPr>
          <p:spPr>
            <a:xfrm>
              <a:off x="1633" y="208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529" name="Google Shape;152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601812" y="212114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0" name="Google Shape;1530;p60"/>
          <p:cNvGrpSpPr/>
          <p:nvPr/>
        </p:nvGrpSpPr>
        <p:grpSpPr>
          <a:xfrm>
            <a:off x="9096445" y="1932228"/>
            <a:ext cx="481013" cy="474662"/>
            <a:chOff x="2637" y="716"/>
            <a:chExt cx="303" cy="299"/>
          </a:xfrm>
        </p:grpSpPr>
        <p:sp>
          <p:nvSpPr>
            <p:cNvPr id="1531" name="Google Shape;1531;p60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60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1533" name="Google Shape;1533;p60"/>
          <p:cNvGrpSpPr/>
          <p:nvPr/>
        </p:nvGrpSpPr>
        <p:grpSpPr>
          <a:xfrm>
            <a:off x="7691438" y="2234268"/>
            <a:ext cx="1135063" cy="528637"/>
            <a:chOff x="1778" y="2485"/>
            <a:chExt cx="715" cy="333"/>
          </a:xfrm>
        </p:grpSpPr>
        <p:sp>
          <p:nvSpPr>
            <p:cNvPr id="1534" name="Google Shape;1534;p60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35" name="Google Shape;1535;p60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36" name="Google Shape;1536;p60"/>
          <p:cNvSpPr txBox="1"/>
          <p:nvPr/>
        </p:nvSpPr>
        <p:spPr>
          <a:xfrm>
            <a:off x="8120133" y="4042015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37" name="Google Shape;1537;p60"/>
          <p:cNvGrpSpPr/>
          <p:nvPr/>
        </p:nvGrpSpPr>
        <p:grpSpPr>
          <a:xfrm>
            <a:off x="8915470" y="3532428"/>
            <a:ext cx="754063" cy="712787"/>
            <a:chOff x="694" y="2465"/>
            <a:chExt cx="475" cy="449"/>
          </a:xfrm>
        </p:grpSpPr>
        <p:sp>
          <p:nvSpPr>
            <p:cNvPr id="1538" name="Google Shape;1538;p60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60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40" name="Google Shape;1540;p60"/>
            <p:cNvSpPr txBox="1"/>
            <p:nvPr/>
          </p:nvSpPr>
          <p:spPr>
            <a:xfrm>
              <a:off x="885" y="2465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541" name="Google Shape;1541;p60"/>
          <p:cNvSpPr/>
          <p:nvPr/>
        </p:nvSpPr>
        <p:spPr>
          <a:xfrm flipH="1" rot="10800000">
            <a:off x="9696520" y="3667365"/>
            <a:ext cx="30480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60"/>
          <p:cNvSpPr txBox="1"/>
          <p:nvPr/>
        </p:nvSpPr>
        <p:spPr>
          <a:xfrm flipH="1">
            <a:off x="9696500" y="3667350"/>
            <a:ext cx="304800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60"/>
          <p:cNvSpPr/>
          <p:nvPr/>
        </p:nvSpPr>
        <p:spPr>
          <a:xfrm>
            <a:off x="9675883" y="2791065"/>
            <a:ext cx="30480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60"/>
          <p:cNvSpPr txBox="1"/>
          <p:nvPr/>
        </p:nvSpPr>
        <p:spPr>
          <a:xfrm>
            <a:off x="9990828" y="3973269"/>
            <a:ext cx="8794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H(m )</a:t>
            </a:r>
            <a:endParaRPr/>
          </a:p>
        </p:txBody>
      </p:sp>
      <p:sp>
        <p:nvSpPr>
          <p:cNvPr id="1545" name="Google Shape;1545;p60"/>
          <p:cNvSpPr txBox="1"/>
          <p:nvPr/>
        </p:nvSpPr>
        <p:spPr>
          <a:xfrm>
            <a:off x="9487276" y="3240592"/>
            <a:ext cx="13589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/>
          </a:p>
        </p:txBody>
      </p:sp>
      <p:cxnSp>
        <p:nvCxnSpPr>
          <p:cNvPr id="1546" name="Google Shape;1546;p60"/>
          <p:cNvCxnSpPr/>
          <p:nvPr/>
        </p:nvCxnSpPr>
        <p:spPr>
          <a:xfrm>
            <a:off x="7040216" y="3412435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7" name="Google Shape;1547;p60"/>
          <p:cNvCxnSpPr/>
          <p:nvPr/>
        </p:nvCxnSpPr>
        <p:spPr>
          <a:xfrm>
            <a:off x="4611756" y="3425687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BS00592_[1]" id="1548" name="Google Shape;1548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1615" y="3033435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9" name="Google Shape;1549;p60"/>
          <p:cNvSpPr txBox="1"/>
          <p:nvPr/>
        </p:nvSpPr>
        <p:spPr>
          <a:xfrm>
            <a:off x="5771598" y="3327122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descr="BS00592_[1]" id="1550" name="Google Shape;1550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9718" y="3092312"/>
            <a:ext cx="544513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1" name="Google Shape;1551;p60"/>
          <p:cNvGrpSpPr/>
          <p:nvPr/>
        </p:nvGrpSpPr>
        <p:grpSpPr>
          <a:xfrm>
            <a:off x="4121427" y="3167270"/>
            <a:ext cx="389850" cy="584775"/>
            <a:chOff x="9846364" y="1192696"/>
            <a:chExt cx="389850" cy="584775"/>
          </a:xfrm>
        </p:grpSpPr>
        <p:sp>
          <p:nvSpPr>
            <p:cNvPr id="1552" name="Google Shape;1552;p60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60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554" name="Google Shape;1554;p60"/>
          <p:cNvGrpSpPr/>
          <p:nvPr/>
        </p:nvGrpSpPr>
        <p:grpSpPr>
          <a:xfrm>
            <a:off x="7967869" y="3147393"/>
            <a:ext cx="344557" cy="584775"/>
            <a:chOff x="9859617" y="1179444"/>
            <a:chExt cx="344557" cy="584775"/>
          </a:xfrm>
        </p:grpSpPr>
        <p:sp>
          <p:nvSpPr>
            <p:cNvPr id="1555" name="Google Shape;1555;p60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60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cxnSp>
        <p:nvCxnSpPr>
          <p:cNvPr id="1557" name="Google Shape;1557;p60"/>
          <p:cNvCxnSpPr/>
          <p:nvPr/>
        </p:nvCxnSpPr>
        <p:spPr>
          <a:xfrm>
            <a:off x="2147404" y="2834861"/>
            <a:ext cx="39756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8" name="Google Shape;1558;p60"/>
          <p:cNvCxnSpPr/>
          <p:nvPr/>
        </p:nvCxnSpPr>
        <p:spPr>
          <a:xfrm>
            <a:off x="3807329" y="2195527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559" name="Google Shape;1559;p60"/>
          <p:cNvCxnSpPr/>
          <p:nvPr/>
        </p:nvCxnSpPr>
        <p:spPr>
          <a:xfrm>
            <a:off x="9516467" y="2187153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560" name="Google Shape;1560;p60"/>
          <p:cNvSpPr txBox="1"/>
          <p:nvPr/>
        </p:nvSpPr>
        <p:spPr>
          <a:xfrm>
            <a:off x="1061416" y="4699345"/>
            <a:ext cx="1011016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7813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digitally signs hash of her message with her private key, providing integrity and authentication </a:t>
            </a:r>
            <a:endParaRPr/>
          </a:p>
          <a:p>
            <a:pPr indent="-277813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both message (in the clear) and digital signature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61"/>
          <p:cNvSpPr/>
          <p:nvPr/>
        </p:nvSpPr>
        <p:spPr>
          <a:xfrm>
            <a:off x="2869617" y="1808924"/>
            <a:ext cx="3133618" cy="272332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61"/>
          <p:cNvSpPr/>
          <p:nvPr/>
        </p:nvSpPr>
        <p:spPr>
          <a:xfrm>
            <a:off x="6387545" y="2001078"/>
            <a:ext cx="2610678" cy="3286539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61"/>
          <p:cNvSpPr/>
          <p:nvPr/>
        </p:nvSpPr>
        <p:spPr>
          <a:xfrm>
            <a:off x="9913522" y="3440871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61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</a:t>
            </a:r>
            <a:r>
              <a:rPr b="0" lang="en-US" sz="4000">
                <a:latin typeface="Calibri"/>
                <a:ea typeface="Calibri"/>
                <a:cs typeface="Calibri"/>
                <a:sym typeface="Calibri"/>
              </a:rPr>
              <a:t>integrity, authentication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1" name="Google Shape;1571;p61"/>
          <p:cNvSpPr txBox="1"/>
          <p:nvPr/>
        </p:nvSpPr>
        <p:spPr>
          <a:xfrm>
            <a:off x="830677" y="1195663"/>
            <a:ext cx="108114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sends m to Bob, with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confidentiality,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572" name="Google Shape;1572;p61"/>
          <p:cNvSpPr/>
          <p:nvPr/>
        </p:nvSpPr>
        <p:spPr>
          <a:xfrm>
            <a:off x="4223508" y="2660061"/>
            <a:ext cx="989013" cy="406400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3" name="Google Shape;1573;p61"/>
          <p:cNvGrpSpPr/>
          <p:nvPr/>
        </p:nvGrpSpPr>
        <p:grpSpPr>
          <a:xfrm>
            <a:off x="3498021" y="2164761"/>
            <a:ext cx="754063" cy="725487"/>
            <a:chOff x="694" y="2457"/>
            <a:chExt cx="475" cy="457"/>
          </a:xfrm>
        </p:grpSpPr>
        <p:sp>
          <p:nvSpPr>
            <p:cNvPr id="1574" name="Google Shape;1574;p61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61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76" name="Google Shape;1576;p61"/>
            <p:cNvSpPr txBox="1"/>
            <p:nvPr/>
          </p:nvSpPr>
          <p:spPr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577" name="Google Shape;1577;p61"/>
          <p:cNvGrpSpPr/>
          <p:nvPr/>
        </p:nvGrpSpPr>
        <p:grpSpPr>
          <a:xfrm>
            <a:off x="4364796" y="2158411"/>
            <a:ext cx="757238" cy="714375"/>
            <a:chOff x="1541" y="1987"/>
            <a:chExt cx="477" cy="450"/>
          </a:xfrm>
        </p:grpSpPr>
        <p:sp>
          <p:nvSpPr>
            <p:cNvPr id="1578" name="Google Shape;1578;p61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61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80" name="Google Shape;1580;p61"/>
            <p:cNvSpPr txBox="1"/>
            <p:nvPr/>
          </p:nvSpPr>
          <p:spPr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81" name="Google Shape;1581;p61"/>
            <p:cNvSpPr txBox="1"/>
            <p:nvPr/>
          </p:nvSpPr>
          <p:spPr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grpSp>
        <p:nvGrpSpPr>
          <p:cNvPr id="1582" name="Google Shape;1582;p61"/>
          <p:cNvGrpSpPr/>
          <p:nvPr/>
        </p:nvGrpSpPr>
        <p:grpSpPr>
          <a:xfrm>
            <a:off x="5102983" y="2083178"/>
            <a:ext cx="1135063" cy="528637"/>
            <a:chOff x="1778" y="2485"/>
            <a:chExt cx="715" cy="333"/>
          </a:xfrm>
        </p:grpSpPr>
        <p:sp>
          <p:nvSpPr>
            <p:cNvPr id="1583" name="Google Shape;1583;p61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84" name="Google Shape;1584;p61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85" name="Google Shape;1585;p61"/>
          <p:cNvSpPr/>
          <p:nvPr/>
        </p:nvSpPr>
        <p:spPr>
          <a:xfrm flipH="1" rot="10800000">
            <a:off x="3259587" y="3495086"/>
            <a:ext cx="1958975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61"/>
          <p:cNvSpPr txBox="1"/>
          <p:nvPr/>
        </p:nvSpPr>
        <p:spPr>
          <a:xfrm flipH="1">
            <a:off x="3259575" y="3495075"/>
            <a:ext cx="1958975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61"/>
          <p:cNvSpPr txBox="1"/>
          <p:nvPr/>
        </p:nvSpPr>
        <p:spPr>
          <a:xfrm>
            <a:off x="2909755" y="2436474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88" name="Google Shape;1588;p61"/>
          <p:cNvGrpSpPr/>
          <p:nvPr/>
        </p:nvGrpSpPr>
        <p:grpSpPr>
          <a:xfrm>
            <a:off x="4290183" y="1782174"/>
            <a:ext cx="452438" cy="474662"/>
            <a:chOff x="2637" y="716"/>
            <a:chExt cx="285" cy="299"/>
          </a:xfrm>
        </p:grpSpPr>
        <p:sp>
          <p:nvSpPr>
            <p:cNvPr id="1589" name="Google Shape;1589;p61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61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591" name="Google Shape;159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4786529" y="1968903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592" name="Google Shape;159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1" y="2956372"/>
            <a:ext cx="527050" cy="6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61"/>
          <p:cNvSpPr txBox="1"/>
          <p:nvPr/>
        </p:nvSpPr>
        <p:spPr>
          <a:xfrm>
            <a:off x="2909058" y="366432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cxnSp>
        <p:nvCxnSpPr>
          <p:cNvPr id="1594" name="Google Shape;1594;p61"/>
          <p:cNvCxnSpPr/>
          <p:nvPr/>
        </p:nvCxnSpPr>
        <p:spPr>
          <a:xfrm>
            <a:off x="5526154" y="3253408"/>
            <a:ext cx="155050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95" name="Google Shape;1595;p61"/>
          <p:cNvSpPr txBox="1"/>
          <p:nvPr/>
        </p:nvSpPr>
        <p:spPr>
          <a:xfrm>
            <a:off x="10118309" y="3645176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grpSp>
        <p:nvGrpSpPr>
          <p:cNvPr id="1596" name="Google Shape;1596;p61"/>
          <p:cNvGrpSpPr/>
          <p:nvPr/>
        </p:nvGrpSpPr>
        <p:grpSpPr>
          <a:xfrm>
            <a:off x="5035825" y="2994991"/>
            <a:ext cx="389850" cy="584775"/>
            <a:chOff x="9846364" y="1192696"/>
            <a:chExt cx="389850" cy="584775"/>
          </a:xfrm>
        </p:grpSpPr>
        <p:sp>
          <p:nvSpPr>
            <p:cNvPr id="1597" name="Google Shape;1597;p61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61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cxnSp>
        <p:nvCxnSpPr>
          <p:cNvPr id="1599" name="Google Shape;1599;p61"/>
          <p:cNvCxnSpPr/>
          <p:nvPr/>
        </p:nvCxnSpPr>
        <p:spPr>
          <a:xfrm>
            <a:off x="3262538" y="2662582"/>
            <a:ext cx="22765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0" name="Google Shape;1600;p61"/>
          <p:cNvCxnSpPr/>
          <p:nvPr/>
        </p:nvCxnSpPr>
        <p:spPr>
          <a:xfrm>
            <a:off x="4721727" y="2023248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601" name="Google Shape;1601;p61"/>
          <p:cNvCxnSpPr/>
          <p:nvPr/>
        </p:nvCxnSpPr>
        <p:spPr>
          <a:xfrm>
            <a:off x="8878954" y="3829879"/>
            <a:ext cx="110655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BS00592_[1]" id="1602" name="Google Shape;1602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81836" y="3496504"/>
            <a:ext cx="544513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603" name="Google Shape;160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536899" y="24715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4" name="Google Shape;1604;p61"/>
          <p:cNvGrpSpPr/>
          <p:nvPr/>
        </p:nvGrpSpPr>
        <p:grpSpPr>
          <a:xfrm>
            <a:off x="7109862" y="2731948"/>
            <a:ext cx="754063" cy="727075"/>
            <a:chOff x="1645" y="264"/>
            <a:chExt cx="475" cy="458"/>
          </a:xfrm>
        </p:grpSpPr>
        <p:sp>
          <p:nvSpPr>
            <p:cNvPr id="1605" name="Google Shape;1605;p61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61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607" name="Google Shape;1607;p61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608" name="Google Shape;1608;p61"/>
          <p:cNvGrpSpPr/>
          <p:nvPr/>
        </p:nvGrpSpPr>
        <p:grpSpPr>
          <a:xfrm>
            <a:off x="7133674" y="3970198"/>
            <a:ext cx="754063" cy="708025"/>
            <a:chOff x="2144" y="3246"/>
            <a:chExt cx="475" cy="446"/>
          </a:xfrm>
        </p:grpSpPr>
        <p:sp>
          <p:nvSpPr>
            <p:cNvPr id="1609" name="Google Shape;1609;p61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61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611" name="Google Shape;1611;p61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612" name="Google Shape;1612;p61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613" name="Google Shape;1613;p61"/>
          <p:cNvCxnSpPr/>
          <p:nvPr/>
        </p:nvCxnSpPr>
        <p:spPr>
          <a:xfrm>
            <a:off x="6798362" y="4432160"/>
            <a:ext cx="279061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4" name="Google Shape;1614;p61"/>
          <p:cNvSpPr txBox="1"/>
          <p:nvPr/>
        </p:nvSpPr>
        <p:spPr>
          <a:xfrm>
            <a:off x="7854399" y="28256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615" name="Google Shape;1615;p61"/>
          <p:cNvGrpSpPr/>
          <p:nvPr/>
        </p:nvGrpSpPr>
        <p:grpSpPr>
          <a:xfrm>
            <a:off x="7879799" y="4314685"/>
            <a:ext cx="969963" cy="527050"/>
            <a:chOff x="3501" y="648"/>
            <a:chExt cx="611" cy="332"/>
          </a:xfrm>
        </p:grpSpPr>
        <p:sp>
          <p:nvSpPr>
            <p:cNvPr id="1616" name="Google Shape;1616;p61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617" name="Google Shape;1617;p61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618" name="Google Shape;1618;p61"/>
          <p:cNvSpPr/>
          <p:nvPr/>
        </p:nvSpPr>
        <p:spPr>
          <a:xfrm>
            <a:off x="7865512" y="32129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61"/>
          <p:cNvSpPr/>
          <p:nvPr/>
        </p:nvSpPr>
        <p:spPr>
          <a:xfrm flipH="1" rot="10800000">
            <a:off x="7887737" y="40336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61"/>
          <p:cNvSpPr txBox="1"/>
          <p:nvPr/>
        </p:nvSpPr>
        <p:spPr>
          <a:xfrm>
            <a:off x="7105099" y="23620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621" name="Google Shape;1621;p61"/>
          <p:cNvGrpSpPr/>
          <p:nvPr/>
        </p:nvGrpSpPr>
        <p:grpSpPr>
          <a:xfrm>
            <a:off x="7098749" y="4714735"/>
            <a:ext cx="471488" cy="474663"/>
            <a:chOff x="2643" y="716"/>
            <a:chExt cx="297" cy="299"/>
          </a:xfrm>
        </p:grpSpPr>
        <p:sp>
          <p:nvSpPr>
            <p:cNvPr id="1622" name="Google Shape;1622;p61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61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624" name="Google Shape;162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586112" y="4900510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61"/>
          <p:cNvSpPr txBox="1"/>
          <p:nvPr/>
        </p:nvSpPr>
        <p:spPr>
          <a:xfrm>
            <a:off x="6435448" y="4236346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626" name="Google Shape;1626;p61"/>
          <p:cNvGrpSpPr/>
          <p:nvPr/>
        </p:nvGrpSpPr>
        <p:grpSpPr>
          <a:xfrm>
            <a:off x="8441634" y="3538330"/>
            <a:ext cx="389850" cy="584775"/>
            <a:chOff x="9846364" y="1192696"/>
            <a:chExt cx="389850" cy="584775"/>
          </a:xfrm>
        </p:grpSpPr>
        <p:sp>
          <p:nvSpPr>
            <p:cNvPr id="1627" name="Google Shape;1627;p61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61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cxnSp>
        <p:nvCxnSpPr>
          <p:cNvPr id="1629" name="Google Shape;1629;p61"/>
          <p:cNvCxnSpPr/>
          <p:nvPr/>
        </p:nvCxnSpPr>
        <p:spPr>
          <a:xfrm>
            <a:off x="7500550" y="26205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630" name="Google Shape;1630;p61"/>
          <p:cNvCxnSpPr/>
          <p:nvPr/>
        </p:nvCxnSpPr>
        <p:spPr>
          <a:xfrm rot="10800000">
            <a:off x="7518592" y="46800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631" name="Google Shape;1631;p61"/>
          <p:cNvSpPr txBox="1"/>
          <p:nvPr/>
        </p:nvSpPr>
        <p:spPr>
          <a:xfrm>
            <a:off x="2864885" y="4078011"/>
            <a:ext cx="297607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632" name="Google Shape;1632;p61"/>
          <p:cNvSpPr txBox="1"/>
          <p:nvPr/>
        </p:nvSpPr>
        <p:spPr>
          <a:xfrm>
            <a:off x="7085699" y="2017299"/>
            <a:ext cx="13703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confidentiality</a:t>
            </a:r>
            <a:endParaRPr/>
          </a:p>
        </p:txBody>
      </p:sp>
      <p:sp>
        <p:nvSpPr>
          <p:cNvPr id="1633" name="Google Shape;1633;p61"/>
          <p:cNvSpPr txBox="1"/>
          <p:nvPr/>
        </p:nvSpPr>
        <p:spPr>
          <a:xfrm>
            <a:off x="912329" y="5433185"/>
            <a:ext cx="110278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Alice uses three keys: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 private key, Bob’s public key, new symmetric key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61"/>
          <p:cNvSpPr txBox="1"/>
          <p:nvPr/>
        </p:nvSpPr>
        <p:spPr>
          <a:xfrm>
            <a:off x="2729947" y="5983150"/>
            <a:ext cx="62550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What are Bob’s complementary actions?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62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641" name="Google Shape;164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642" name="Google Shape;1642;p62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643" name="Google Shape;1643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6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1" name="Google Shape;1651;p63"/>
          <p:cNvSpPr txBox="1"/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deployed security protocol above the transport layer</a:t>
            </a:r>
            <a:endParaRPr/>
          </a:p>
          <a:p>
            <a:pPr indent="-2365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almost all browsers, web servers: https (port 443)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symmetric encryption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cryptographic hashing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 key cryptography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52" name="Google Shape;1652;p63"/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1653" name="Google Shape;1653;p63"/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63"/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techniques we have studied!</a:t>
              </a:r>
              <a:endParaRPr/>
            </a:p>
          </p:txBody>
        </p:sp>
      </p:grpSp>
      <p:sp>
        <p:nvSpPr>
          <p:cNvPr id="1655" name="Google Shape;1655;p63"/>
          <p:cNvSpPr txBox="1"/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history: 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research, implementation: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network programming, secure sockets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socket layer (SSL) deprecated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[2015]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RFC 8846 [2018]</a:t>
            </a:r>
            <a:endParaRPr/>
          </a:p>
          <a:p>
            <a:pPr indent="-72073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80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3" name="Google Shape;1663;p64"/>
          <p:cNvSpPr txBox="1"/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deployed security protocol above the transport layer</a:t>
            </a:r>
            <a:endParaRPr/>
          </a:p>
          <a:p>
            <a:pPr indent="-2365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almost all browsers, web servers: https (port 443)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symmetric encryption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cryptographic hashing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 key cryptography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64" name="Google Shape;1664;p64"/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1665" name="Google Shape;1665;p64"/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64"/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techniques we have studied!</a:t>
              </a:r>
              <a:endParaRPr/>
            </a:p>
          </p:txBody>
        </p:sp>
      </p:grpSp>
      <p:sp>
        <p:nvSpPr>
          <p:cNvPr id="1667" name="Google Shape;1667;p64"/>
          <p:cNvSpPr txBox="1"/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history: 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research, implementation: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network programming, secure sockets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socket layer (SSL) deprecated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[2015]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RFC 8846 [2018]</a:t>
            </a:r>
            <a:endParaRPr/>
          </a:p>
          <a:p>
            <a:pPr indent="-72073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80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65"/>
          <p:cNvSpPr txBox="1"/>
          <p:nvPr>
            <p:ph type="title"/>
          </p:nvPr>
        </p:nvSpPr>
        <p:spPr>
          <a:xfrm>
            <a:off x="798691" y="289325"/>
            <a:ext cx="1083671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security: what’s needed?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4" name="Google Shape;1674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5" name="Google Shape;1675;p65"/>
          <p:cNvSpPr txBox="1"/>
          <p:nvPr/>
        </p:nvSpPr>
        <p:spPr>
          <a:xfrm>
            <a:off x="1386660" y="2616219"/>
            <a:ext cx="10561981" cy="3597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handshake: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Alice, Bob use their certificates, private keys to authenticate each other, exchange or create shared secret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key derivation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Alice, Bob use shared secret to derive set of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transfer: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 data transfer: data as a series of records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just one-time transactions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 closure: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messages to securely close connection</a:t>
            </a:r>
            <a:endParaRPr/>
          </a:p>
        </p:txBody>
      </p:sp>
      <p:sp>
        <p:nvSpPr>
          <p:cNvPr id="1676" name="Google Shape;1676;p65"/>
          <p:cNvSpPr txBox="1"/>
          <p:nvPr/>
        </p:nvSpPr>
        <p:spPr>
          <a:xfrm>
            <a:off x="990600" y="1371393"/>
            <a:ext cx="10598426" cy="62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toy TLS protocol,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t-tls,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see what’s needed!</a:t>
            </a:r>
            <a:endParaRPr sz="28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65"/>
          <p:cNvSpPr txBox="1"/>
          <p:nvPr/>
        </p:nvSpPr>
        <p:spPr>
          <a:xfrm>
            <a:off x="1028700" y="1943100"/>
            <a:ext cx="60733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6863" lvl="0" marL="29686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we’ve seen the “pieces” already: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3" name="Google Shape;1683;p66"/>
          <p:cNvGrpSpPr/>
          <p:nvPr/>
        </p:nvGrpSpPr>
        <p:grpSpPr>
          <a:xfrm>
            <a:off x="2421281" y="5115338"/>
            <a:ext cx="2153478" cy="1174878"/>
            <a:chOff x="1623392" y="2040836"/>
            <a:chExt cx="2153478" cy="1742662"/>
          </a:xfrm>
        </p:grpSpPr>
        <p:grpSp>
          <p:nvGrpSpPr>
            <p:cNvPr id="1684" name="Google Shape;1684;p66"/>
            <p:cNvGrpSpPr/>
            <p:nvPr/>
          </p:nvGrpSpPr>
          <p:grpSpPr>
            <a:xfrm>
              <a:off x="1669774" y="2040836"/>
              <a:ext cx="2107096" cy="848139"/>
              <a:chOff x="6983896" y="4081670"/>
              <a:chExt cx="2107096" cy="848139"/>
            </a:xfrm>
          </p:grpSpPr>
          <p:cxnSp>
            <p:nvCxnSpPr>
              <p:cNvPr id="1685" name="Google Shape;1685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86" name="Google Shape;1686;p66"/>
              <p:cNvSpPr txBox="1"/>
              <p:nvPr/>
            </p:nvSpPr>
            <p:spPr>
              <a:xfrm>
                <a:off x="7328454" y="4219266"/>
                <a:ext cx="1762538" cy="59347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client request</a:t>
                </a:r>
                <a:endParaRPr/>
              </a:p>
            </p:txBody>
          </p:sp>
        </p:grpSp>
        <p:grpSp>
          <p:nvGrpSpPr>
            <p:cNvPr id="1687" name="Google Shape;1687;p66"/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1688" name="Google Shape;1688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89" name="Google Shape;1689;p66"/>
              <p:cNvSpPr txBox="1"/>
              <p:nvPr/>
            </p:nvSpPr>
            <p:spPr>
              <a:xfrm>
                <a:off x="7083285" y="4209288"/>
                <a:ext cx="1716158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 reply</a:t>
                </a:r>
                <a:endParaRPr/>
              </a:p>
            </p:txBody>
          </p:sp>
        </p:grpSp>
      </p:grpSp>
      <p:grpSp>
        <p:nvGrpSpPr>
          <p:cNvPr id="1690" name="Google Shape;1690;p66"/>
          <p:cNvGrpSpPr/>
          <p:nvPr/>
        </p:nvGrpSpPr>
        <p:grpSpPr>
          <a:xfrm>
            <a:off x="2447786" y="3511826"/>
            <a:ext cx="2431772" cy="1782419"/>
            <a:chOff x="1623392" y="2040836"/>
            <a:chExt cx="2431772" cy="2643809"/>
          </a:xfrm>
        </p:grpSpPr>
        <p:grpSp>
          <p:nvGrpSpPr>
            <p:cNvPr id="1691" name="Google Shape;1691;p66"/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1692" name="Google Shape;1692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3" name="Google Shape;1693;p66"/>
              <p:cNvSpPr txBox="1"/>
              <p:nvPr/>
            </p:nvSpPr>
            <p:spPr>
              <a:xfrm>
                <a:off x="7460974" y="4179953"/>
                <a:ext cx="1258957" cy="59347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t-tls hello</a:t>
                </a:r>
                <a:endParaRPr/>
              </a:p>
            </p:txBody>
          </p:sp>
        </p:grpSp>
        <p:grpSp>
          <p:nvGrpSpPr>
            <p:cNvPr id="1694" name="Google Shape;1694;p66"/>
            <p:cNvGrpSpPr/>
            <p:nvPr/>
          </p:nvGrpSpPr>
          <p:grpSpPr>
            <a:xfrm flipH="1">
              <a:off x="1623392" y="2935359"/>
              <a:ext cx="2431772" cy="848139"/>
              <a:chOff x="6632715" y="4081670"/>
              <a:chExt cx="2431772" cy="848139"/>
            </a:xfrm>
          </p:grpSpPr>
          <p:cxnSp>
            <p:nvCxnSpPr>
              <p:cNvPr id="1695" name="Google Shape;1695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6" name="Google Shape;1696;p66"/>
              <p:cNvSpPr txBox="1"/>
              <p:nvPr/>
            </p:nvSpPr>
            <p:spPr>
              <a:xfrm>
                <a:off x="6632715" y="4150319"/>
                <a:ext cx="2360681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 key certificate</a:t>
                </a:r>
                <a:endParaRPr/>
              </a:p>
            </p:txBody>
          </p:sp>
        </p:grpSp>
        <p:cxnSp>
          <p:nvCxnSpPr>
            <p:cNvPr id="1697" name="Google Shape;1697;p66"/>
            <p:cNvCxnSpPr/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698" name="Google Shape;1698;p66"/>
            <p:cNvSpPr txBox="1"/>
            <p:nvPr/>
          </p:nvSpPr>
          <p:spPr>
            <a:xfrm>
              <a:off x="1785594" y="3790270"/>
              <a:ext cx="1805745" cy="684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aseline="30000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(MS) = EMS</a:t>
              </a:r>
              <a:endParaRPr/>
            </a:p>
          </p:txBody>
        </p:sp>
      </p:grpSp>
      <p:grpSp>
        <p:nvGrpSpPr>
          <p:cNvPr id="1699" name="Google Shape;1699;p66"/>
          <p:cNvGrpSpPr/>
          <p:nvPr/>
        </p:nvGrpSpPr>
        <p:grpSpPr>
          <a:xfrm>
            <a:off x="2454413" y="1981200"/>
            <a:ext cx="2126973" cy="1782419"/>
            <a:chOff x="1623392" y="2040836"/>
            <a:chExt cx="2126973" cy="2643809"/>
          </a:xfrm>
        </p:grpSpPr>
        <p:grpSp>
          <p:nvGrpSpPr>
            <p:cNvPr id="1700" name="Google Shape;1700;p66"/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1701" name="Google Shape;1701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2" name="Google Shape;1702;p66"/>
              <p:cNvSpPr txBox="1"/>
              <p:nvPr/>
            </p:nvSpPr>
            <p:spPr>
              <a:xfrm>
                <a:off x="7587837" y="4219266"/>
                <a:ext cx="1085712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 SYN</a:t>
                </a:r>
                <a:endParaRPr/>
              </a:p>
            </p:txBody>
          </p:sp>
        </p:grpSp>
        <p:grpSp>
          <p:nvGrpSpPr>
            <p:cNvPr id="1703" name="Google Shape;1703;p66"/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1704" name="Google Shape;1704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5" name="Google Shape;1705;p66"/>
              <p:cNvSpPr txBox="1"/>
              <p:nvPr/>
            </p:nvSpPr>
            <p:spPr>
              <a:xfrm>
                <a:off x="7341705" y="4150319"/>
                <a:ext cx="1113184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SYNACK</a:t>
                </a:r>
                <a:endParaRPr/>
              </a:p>
            </p:txBody>
          </p:sp>
        </p:grpSp>
        <p:cxnSp>
          <p:nvCxnSpPr>
            <p:cNvPr id="1706" name="Google Shape;1706;p66"/>
            <p:cNvCxnSpPr/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noFill/>
            <a:ln cap="flat" cmpd="sng" w="19050">
              <a:solidFill>
                <a:srgbClr val="BFBFB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07" name="Google Shape;1707;p66"/>
            <p:cNvSpPr txBox="1"/>
            <p:nvPr/>
          </p:nvSpPr>
          <p:spPr>
            <a:xfrm>
              <a:off x="2286001" y="3868895"/>
              <a:ext cx="742122" cy="684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ACK</a:t>
              </a:r>
              <a:endParaRPr sz="20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8" name="Google Shape;1708;p6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initial handshake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66"/>
          <p:cNvSpPr txBox="1"/>
          <p:nvPr>
            <p:ph idx="2" type="body"/>
          </p:nvPr>
        </p:nvSpPr>
        <p:spPr>
          <a:xfrm>
            <a:off x="6198703" y="1216025"/>
            <a:ext cx="5181600" cy="5237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t-tls handshake phase: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establishes TCP connection with Alice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verifies that Alice is really Alice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sends Alice a master secret key (MS), used to generate all other keys for TLS session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potential issues: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3 RTT before client can start receiving data (including TCP handshake)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10" name="Google Shape;1710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lice" id="1711" name="Google Shape;171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8683" y="1581219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712" name="Google Shape;1712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5974" y="1696280"/>
            <a:ext cx="622682" cy="636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6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cryptographic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0" name="Google Shape;1720;p67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considered bad to use same key for more than one cryptographic function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keys for message authentication code (MAC) and encryption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keys: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encryption key for data sent from client to server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MAC key for data sent from client to server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encryption key for data sent from server to client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MAC key for data sent from server to client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derived from key derivation function (KDF)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takes master secret and (possibly) some additional random data to create new keys</a:t>
            </a:r>
            <a:endParaRPr/>
          </a:p>
        </p:txBody>
      </p:sp>
      <p:pic>
        <p:nvPicPr>
          <p:cNvPr descr="BS00768_[1]" id="1721" name="Google Shape;172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33729" y="3413389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2" name="Google Shape;172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42259" y="3868685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3" name="Google Shape;172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40685" y="4323981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4" name="Google Shape;1724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39111" y="4774225"/>
            <a:ext cx="400050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6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encrypting data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2" name="Google Shape;1732;p68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68"/>
          <p:cNvSpPr txBox="1"/>
          <p:nvPr/>
        </p:nvSpPr>
        <p:spPr>
          <a:xfrm>
            <a:off x="824946" y="1408042"/>
            <a:ext cx="10227367" cy="3362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TCP provides data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abstraction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encrypt data in-stream as written into TCP socket?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sng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would MAC go? If at end, no message integrity until all data received and connection closed!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sng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 stream in series of “records”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client-to-server record carries a MAC, created using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can act on each record as it arrives</a:t>
            </a:r>
            <a:endParaRPr/>
          </a:p>
        </p:txBody>
      </p:sp>
      <p:grpSp>
        <p:nvGrpSpPr>
          <p:cNvPr id="1734" name="Google Shape;1734;p68"/>
          <p:cNvGrpSpPr/>
          <p:nvPr/>
        </p:nvGrpSpPr>
        <p:grpSpPr>
          <a:xfrm>
            <a:off x="3259219" y="5449045"/>
            <a:ext cx="5723798" cy="700398"/>
            <a:chOff x="1748471" y="5104488"/>
            <a:chExt cx="5723798" cy="700398"/>
          </a:xfrm>
        </p:grpSpPr>
        <p:sp>
          <p:nvSpPr>
            <p:cNvPr id="1735" name="Google Shape;1735;p68"/>
            <p:cNvSpPr/>
            <p:nvPr/>
          </p:nvSpPr>
          <p:spPr>
            <a:xfrm>
              <a:off x="1748471" y="5111919"/>
              <a:ext cx="5723798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36" name="Google Shape;1736;p68"/>
            <p:cNvCxnSpPr/>
            <p:nvPr/>
          </p:nvCxnSpPr>
          <p:spPr>
            <a:xfrm>
              <a:off x="3035104" y="5104488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7" name="Google Shape;1737;p68"/>
            <p:cNvCxnSpPr/>
            <p:nvPr/>
          </p:nvCxnSpPr>
          <p:spPr>
            <a:xfrm>
              <a:off x="5494902" y="5111544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38" name="Google Shape;1738;p68"/>
            <p:cNvSpPr txBox="1"/>
            <p:nvPr/>
          </p:nvSpPr>
          <p:spPr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739" name="Google Shape;1739;p68"/>
            <p:cNvSpPr txBox="1"/>
            <p:nvPr/>
          </p:nvSpPr>
          <p:spPr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MAC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68"/>
            <p:cNvSpPr txBox="1"/>
            <p:nvPr/>
          </p:nvSpPr>
          <p:spPr>
            <a:xfrm>
              <a:off x="1755217" y="5346778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length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1" name="Google Shape;1741;p68"/>
          <p:cNvGrpSpPr/>
          <p:nvPr/>
        </p:nvGrpSpPr>
        <p:grpSpPr>
          <a:xfrm>
            <a:off x="950842" y="4595190"/>
            <a:ext cx="10227367" cy="1602505"/>
            <a:chOff x="950842" y="4595190"/>
            <a:chExt cx="10227367" cy="1602505"/>
          </a:xfrm>
        </p:grpSpPr>
        <p:sp>
          <p:nvSpPr>
            <p:cNvPr id="1742" name="Google Shape;1742;p68"/>
            <p:cNvSpPr txBox="1"/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t-tls record encrypted using symmetric key, K</a:t>
              </a:r>
              <a:r>
                <a:rPr baseline="-25000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c,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passed to TCP:</a:t>
              </a:r>
              <a:endParaRPr/>
            </a:p>
          </p:txBody>
        </p:sp>
        <p:sp>
          <p:nvSpPr>
            <p:cNvPr id="1743" name="Google Shape;1743;p68"/>
            <p:cNvSpPr txBox="1"/>
            <p:nvPr/>
          </p:nvSpPr>
          <p:spPr>
            <a:xfrm>
              <a:off x="2358886" y="5274365"/>
              <a:ext cx="93576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/>
            </a:p>
          </p:txBody>
        </p:sp>
        <p:sp>
          <p:nvSpPr>
            <p:cNvPr id="1744" name="Google Shape;1744;p68"/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6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encrypting data </a:t>
            </a:r>
            <a:r>
              <a:rPr b="0" lang="en-US" sz="3600">
                <a:latin typeface="Calibri"/>
                <a:ea typeface="Calibri"/>
                <a:cs typeface="Calibri"/>
                <a:sym typeface="Calibri"/>
              </a:rPr>
              <a:t>(more)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1" name="Google Shape;1751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2" name="Google Shape;1752;p69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69"/>
          <p:cNvSpPr txBox="1"/>
          <p:nvPr/>
        </p:nvSpPr>
        <p:spPr>
          <a:xfrm>
            <a:off x="824946" y="1408042"/>
            <a:ext cx="10770706" cy="186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attacks on data stream?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re-ordering: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man-in middle intercepts TCP segments and reorders (manipulating sequence #s in unencrypted TCP header)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replay</a:t>
            </a:r>
            <a:endParaRPr/>
          </a:p>
        </p:txBody>
      </p:sp>
      <p:sp>
        <p:nvSpPr>
          <p:cNvPr id="1754" name="Google Shape;1754;p69"/>
          <p:cNvSpPr txBox="1"/>
          <p:nvPr/>
        </p:nvSpPr>
        <p:spPr>
          <a:xfrm>
            <a:off x="738807" y="3124198"/>
            <a:ext cx="10770706" cy="186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TLS sequence numbers (data, TLS-seq-# incorporated into MAC)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nonce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7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connection close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2" name="Google Shape;1762;p70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3" name="Google Shape;1763;p70"/>
          <p:cNvGrpSpPr/>
          <p:nvPr/>
        </p:nvGrpSpPr>
        <p:grpSpPr>
          <a:xfrm>
            <a:off x="2515561" y="4712132"/>
            <a:ext cx="6745752" cy="719730"/>
            <a:chOff x="726517" y="5104488"/>
            <a:chExt cx="6745752" cy="719730"/>
          </a:xfrm>
        </p:grpSpPr>
        <p:sp>
          <p:nvSpPr>
            <p:cNvPr id="1764" name="Google Shape;1764;p70"/>
            <p:cNvSpPr/>
            <p:nvPr/>
          </p:nvSpPr>
          <p:spPr>
            <a:xfrm>
              <a:off x="849795" y="5111919"/>
              <a:ext cx="6622474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65" name="Google Shape;1765;p70"/>
            <p:cNvCxnSpPr/>
            <p:nvPr/>
          </p:nvCxnSpPr>
          <p:spPr>
            <a:xfrm>
              <a:off x="3035104" y="5104488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6" name="Google Shape;1766;p70"/>
            <p:cNvCxnSpPr/>
            <p:nvPr/>
          </p:nvCxnSpPr>
          <p:spPr>
            <a:xfrm>
              <a:off x="5494902" y="5111544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7" name="Google Shape;1767;p70"/>
            <p:cNvSpPr txBox="1"/>
            <p:nvPr/>
          </p:nvSpPr>
          <p:spPr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768" name="Google Shape;1768;p70"/>
            <p:cNvSpPr txBox="1"/>
            <p:nvPr/>
          </p:nvSpPr>
          <p:spPr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MAC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70"/>
            <p:cNvSpPr txBox="1"/>
            <p:nvPr/>
          </p:nvSpPr>
          <p:spPr>
            <a:xfrm>
              <a:off x="726517" y="5355912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length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70"/>
            <p:cNvSpPr txBox="1"/>
            <p:nvPr/>
          </p:nvSpPr>
          <p:spPr>
            <a:xfrm>
              <a:off x="1816177" y="5344482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71" name="Google Shape;1771;p70"/>
            <p:cNvCxnSpPr/>
            <p:nvPr/>
          </p:nvCxnSpPr>
          <p:spPr>
            <a:xfrm>
              <a:off x="1955412" y="5130876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72" name="Google Shape;1772;p70"/>
          <p:cNvGrpSpPr/>
          <p:nvPr/>
        </p:nvGrpSpPr>
        <p:grpSpPr>
          <a:xfrm>
            <a:off x="1176130" y="3879573"/>
            <a:ext cx="10227367" cy="1582628"/>
            <a:chOff x="950842" y="4595190"/>
            <a:chExt cx="10227367" cy="1582628"/>
          </a:xfrm>
        </p:grpSpPr>
        <p:sp>
          <p:nvSpPr>
            <p:cNvPr id="1773" name="Google Shape;1773;p70"/>
            <p:cNvSpPr txBox="1"/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444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70"/>
            <p:cNvSpPr txBox="1"/>
            <p:nvPr/>
          </p:nvSpPr>
          <p:spPr>
            <a:xfrm>
              <a:off x="1547356" y="5240075"/>
              <a:ext cx="93576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/>
            </a:p>
          </p:txBody>
        </p:sp>
        <p:sp>
          <p:nvSpPr>
            <p:cNvPr id="1775" name="Google Shape;1775;p70"/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</p:grpSp>
      <p:sp>
        <p:nvSpPr>
          <p:cNvPr id="1776" name="Google Shape;1776;p70"/>
          <p:cNvSpPr txBox="1"/>
          <p:nvPr/>
        </p:nvSpPr>
        <p:spPr>
          <a:xfrm>
            <a:off x="1222512" y="1507434"/>
            <a:ext cx="10969487" cy="3821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truncation attack: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attacker forges TCP connection close segment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or both sides thinks there is less data than there actually is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types, with one type for closure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0 for data; type 1 for close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now computed using data, type, sequence #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7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84" name="Google Shape;1784;p71"/>
          <p:cNvGrpSpPr/>
          <p:nvPr/>
        </p:nvGrpSpPr>
        <p:grpSpPr>
          <a:xfrm>
            <a:off x="1211829" y="3044908"/>
            <a:ext cx="9269796" cy="3185247"/>
            <a:chOff x="1211829" y="3044908"/>
            <a:chExt cx="9269796" cy="3185247"/>
          </a:xfrm>
        </p:grpSpPr>
        <p:sp>
          <p:nvSpPr>
            <p:cNvPr id="1785" name="Google Shape;1785;p71"/>
            <p:cNvSpPr/>
            <p:nvPr/>
          </p:nvSpPr>
          <p:spPr>
            <a:xfrm>
              <a:off x="5149446" y="4793255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71"/>
            <p:cNvSpPr txBox="1"/>
            <p:nvPr/>
          </p:nvSpPr>
          <p:spPr>
            <a:xfrm>
              <a:off x="5924933" y="4836616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787" name="Google Shape;1787;p71"/>
            <p:cNvSpPr/>
            <p:nvPr/>
          </p:nvSpPr>
          <p:spPr>
            <a:xfrm>
              <a:off x="5151315" y="4221859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71"/>
            <p:cNvSpPr txBox="1"/>
            <p:nvPr/>
          </p:nvSpPr>
          <p:spPr>
            <a:xfrm>
              <a:off x="5841132" y="4268295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sp>
          <p:nvSpPr>
            <p:cNvPr id="1789" name="Google Shape;1789;p71"/>
            <p:cNvSpPr/>
            <p:nvPr/>
          </p:nvSpPr>
          <p:spPr>
            <a:xfrm>
              <a:off x="5152164" y="364007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71"/>
            <p:cNvSpPr txBox="1"/>
            <p:nvPr/>
          </p:nvSpPr>
          <p:spPr>
            <a:xfrm>
              <a:off x="5841981" y="3686508"/>
              <a:ext cx="5002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TLS</a:t>
              </a:r>
              <a:endParaRPr/>
            </a:p>
          </p:txBody>
        </p:sp>
        <p:grpSp>
          <p:nvGrpSpPr>
            <p:cNvPr id="1791" name="Google Shape;1791;p71"/>
            <p:cNvGrpSpPr/>
            <p:nvPr/>
          </p:nvGrpSpPr>
          <p:grpSpPr>
            <a:xfrm>
              <a:off x="5149446" y="3055575"/>
              <a:ext cx="1905057" cy="455283"/>
              <a:chOff x="975444" y="4703759"/>
              <a:chExt cx="2128813" cy="498521"/>
            </a:xfrm>
          </p:grpSpPr>
          <p:sp>
            <p:nvSpPr>
              <p:cNvPr id="1792" name="Google Shape;1792;p71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71"/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HTTP/2</a:t>
                </a:r>
                <a:endParaRPr/>
              </a:p>
            </p:txBody>
          </p:sp>
        </p:grpSp>
        <p:sp>
          <p:nvSpPr>
            <p:cNvPr id="1794" name="Google Shape;1794;p71"/>
            <p:cNvSpPr/>
            <p:nvPr/>
          </p:nvSpPr>
          <p:spPr>
            <a:xfrm>
              <a:off x="7636227" y="4795730"/>
              <a:ext cx="1905057" cy="45527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71"/>
            <p:cNvSpPr txBox="1"/>
            <p:nvPr/>
          </p:nvSpPr>
          <p:spPr>
            <a:xfrm>
              <a:off x="8411714" y="4839088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796" name="Google Shape;1796;p71"/>
            <p:cNvSpPr/>
            <p:nvPr/>
          </p:nvSpPr>
          <p:spPr>
            <a:xfrm>
              <a:off x="7638096" y="4311256"/>
              <a:ext cx="1905057" cy="368352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71"/>
            <p:cNvSpPr txBox="1"/>
            <p:nvPr/>
          </p:nvSpPr>
          <p:spPr>
            <a:xfrm>
              <a:off x="8314921" y="4299992"/>
              <a:ext cx="5950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UDP</a:t>
              </a:r>
              <a:endParaRPr/>
            </a:p>
          </p:txBody>
        </p:sp>
        <p:sp>
          <p:nvSpPr>
            <p:cNvPr id="1798" name="Google Shape;1798;p71"/>
            <p:cNvSpPr/>
            <p:nvPr/>
          </p:nvSpPr>
          <p:spPr>
            <a:xfrm>
              <a:off x="7638945" y="3516536"/>
              <a:ext cx="1905057" cy="574888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71"/>
            <p:cNvSpPr txBox="1"/>
            <p:nvPr/>
          </p:nvSpPr>
          <p:spPr>
            <a:xfrm>
              <a:off x="8197291" y="3622988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QUIC</a:t>
              </a:r>
              <a:endParaRPr/>
            </a:p>
          </p:txBody>
        </p:sp>
        <p:sp>
          <p:nvSpPr>
            <p:cNvPr id="1800" name="Google Shape;1800;p71"/>
            <p:cNvSpPr/>
            <p:nvPr/>
          </p:nvSpPr>
          <p:spPr>
            <a:xfrm>
              <a:off x="7636227" y="3044911"/>
              <a:ext cx="1905057" cy="39778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71"/>
            <p:cNvSpPr txBox="1"/>
            <p:nvPr/>
          </p:nvSpPr>
          <p:spPr>
            <a:xfrm>
              <a:off x="7757860" y="3044908"/>
              <a:ext cx="17676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(slimmed)</a:t>
              </a:r>
              <a:endParaRPr/>
            </a:p>
          </p:txBody>
        </p:sp>
        <p:cxnSp>
          <p:nvCxnSpPr>
            <p:cNvPr id="1802" name="Google Shape;1802;p71"/>
            <p:cNvCxnSpPr/>
            <p:nvPr/>
          </p:nvCxnSpPr>
          <p:spPr>
            <a:xfrm>
              <a:off x="2411896" y="4737663"/>
              <a:ext cx="7475083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03" name="Google Shape;1803;p71"/>
            <p:cNvCxnSpPr/>
            <p:nvPr/>
          </p:nvCxnSpPr>
          <p:spPr>
            <a:xfrm>
              <a:off x="2451652" y="4162508"/>
              <a:ext cx="7454449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804" name="Google Shape;1804;p71"/>
            <p:cNvSpPr txBox="1"/>
            <p:nvPr/>
          </p:nvSpPr>
          <p:spPr>
            <a:xfrm>
              <a:off x="1343560" y="4839087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805" name="Google Shape;1805;p71"/>
            <p:cNvSpPr txBox="1"/>
            <p:nvPr/>
          </p:nvSpPr>
          <p:spPr>
            <a:xfrm>
              <a:off x="1349731" y="4245114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  <p:sp>
          <p:nvSpPr>
            <p:cNvPr id="1806" name="Google Shape;1806;p71"/>
            <p:cNvSpPr txBox="1"/>
            <p:nvPr/>
          </p:nvSpPr>
          <p:spPr>
            <a:xfrm>
              <a:off x="1211829" y="3372674"/>
              <a:ext cx="1379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  <p:sp>
          <p:nvSpPr>
            <p:cNvPr id="1807" name="Google Shape;1807;p71"/>
            <p:cNvSpPr txBox="1"/>
            <p:nvPr/>
          </p:nvSpPr>
          <p:spPr>
            <a:xfrm>
              <a:off x="5294085" y="5424359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TCP</a:t>
              </a:r>
              <a:endParaRPr/>
            </a:p>
          </p:txBody>
        </p:sp>
        <p:sp>
          <p:nvSpPr>
            <p:cNvPr id="1808" name="Google Shape;1808;p71"/>
            <p:cNvSpPr/>
            <p:nvPr/>
          </p:nvSpPr>
          <p:spPr>
            <a:xfrm>
              <a:off x="9601057" y="3044908"/>
              <a:ext cx="155448" cy="1050444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71"/>
            <p:cNvSpPr txBox="1"/>
            <p:nvPr/>
          </p:nvSpPr>
          <p:spPr>
            <a:xfrm>
              <a:off x="9581566" y="3388735"/>
              <a:ext cx="90005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HTTP/3</a:t>
              </a:r>
              <a:endParaRPr/>
            </a:p>
          </p:txBody>
        </p:sp>
        <p:sp>
          <p:nvSpPr>
            <p:cNvPr id="1810" name="Google Shape;1810;p71"/>
            <p:cNvSpPr txBox="1"/>
            <p:nvPr/>
          </p:nvSpPr>
          <p:spPr>
            <a:xfrm>
              <a:off x="7470431" y="5467510"/>
              <a:ext cx="2497799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QUIC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(which incorporates TLS)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over UDP</a:t>
              </a:r>
              <a:endParaRPr/>
            </a:p>
          </p:txBody>
        </p:sp>
        <p:sp>
          <p:nvSpPr>
            <p:cNvPr id="1811" name="Google Shape;1811;p71"/>
            <p:cNvSpPr/>
            <p:nvPr/>
          </p:nvSpPr>
          <p:spPr>
            <a:xfrm>
              <a:off x="2850194" y="4786628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71"/>
            <p:cNvSpPr txBox="1"/>
            <p:nvPr/>
          </p:nvSpPr>
          <p:spPr>
            <a:xfrm>
              <a:off x="3625681" y="4829989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813" name="Google Shape;1813;p71"/>
            <p:cNvSpPr/>
            <p:nvPr/>
          </p:nvSpPr>
          <p:spPr>
            <a:xfrm>
              <a:off x="2852063" y="421523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71"/>
            <p:cNvSpPr txBox="1"/>
            <p:nvPr/>
          </p:nvSpPr>
          <p:spPr>
            <a:xfrm>
              <a:off x="3541880" y="4261668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grpSp>
          <p:nvGrpSpPr>
            <p:cNvPr id="1815" name="Google Shape;1815;p71"/>
            <p:cNvGrpSpPr/>
            <p:nvPr/>
          </p:nvGrpSpPr>
          <p:grpSpPr>
            <a:xfrm>
              <a:off x="2889950" y="3062200"/>
              <a:ext cx="1905057" cy="455283"/>
              <a:chOff x="975444" y="4703759"/>
              <a:chExt cx="2128813" cy="498521"/>
            </a:xfrm>
          </p:grpSpPr>
          <p:sp>
            <p:nvSpPr>
              <p:cNvPr id="1816" name="Google Shape;1816;p71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7" name="Google Shape;1817;p71"/>
              <p:cNvSpPr txBox="1"/>
              <p:nvPr/>
            </p:nvSpPr>
            <p:spPr>
              <a:xfrm>
                <a:off x="1488098" y="4754605"/>
                <a:ext cx="1136031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</a:t>
                </a:r>
                <a:r>
                  <a:rPr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1.0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18" name="Google Shape;1818;p71"/>
            <p:cNvSpPr txBox="1"/>
            <p:nvPr/>
          </p:nvSpPr>
          <p:spPr>
            <a:xfrm>
              <a:off x="2994833" y="5417732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TCP</a:t>
              </a:r>
              <a:endParaRPr/>
            </a:p>
          </p:txBody>
        </p:sp>
      </p:grpSp>
      <p:sp>
        <p:nvSpPr>
          <p:cNvPr id="1819" name="Google Shape;1819;p71"/>
          <p:cNvSpPr txBox="1"/>
          <p:nvPr/>
        </p:nvSpPr>
        <p:spPr>
          <a:xfrm>
            <a:off x="990600" y="1371393"/>
            <a:ext cx="10598426" cy="1279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93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0" name="Google Shape;1820;p71"/>
          <p:cNvSpPr txBox="1"/>
          <p:nvPr/>
        </p:nvSpPr>
        <p:spPr>
          <a:xfrm>
            <a:off x="990600" y="1391270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provides an API that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 can use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HTTP view of TLS: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87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72"/>
          <p:cNvSpPr txBox="1"/>
          <p:nvPr>
            <p:ph idx="1" type="body"/>
          </p:nvPr>
        </p:nvSpPr>
        <p:spPr>
          <a:xfrm>
            <a:off x="851451" y="1631260"/>
            <a:ext cx="10850217" cy="48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“cipher suite”: algorithms that can be used for key generation, encryption, MAC, digital signature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TLS: 1.3 </a:t>
            </a:r>
            <a:r>
              <a:rPr lang="en-US" sz="2000"/>
              <a:t>(2018)</a:t>
            </a:r>
            <a:r>
              <a:rPr lang="en-US" sz="3200"/>
              <a:t>:</a:t>
            </a:r>
            <a:r>
              <a:rPr lang="en-US"/>
              <a:t> more limited cipher suite choice than TLS 1.2 </a:t>
            </a:r>
            <a:r>
              <a:rPr lang="en-US" sz="2000"/>
              <a:t>(2008)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only 5 choices, rather than 37 choices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/>
              <a:t>requires</a:t>
            </a:r>
            <a:r>
              <a:rPr lang="en-US" sz="2800"/>
              <a:t> Diffie-Hellman (DH) for key exchange, rather than DH or RSA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combined encryption and authentication algorithm (“authenticated encryption”) for data rather than serial encryption, authentication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4 based on AES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HMAC uses SHA (256 or 284) cryptographic hash function</a:t>
            </a:r>
            <a:endParaRPr/>
          </a:p>
        </p:txBody>
      </p:sp>
      <p:sp>
        <p:nvSpPr>
          <p:cNvPr id="1827" name="Google Shape;1827;p7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TLS: 1.3 cipher suite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p73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 1.3 handshake: 1 RTT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5" name="Google Shape;1835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36" name="Google Shape;1836;p73"/>
          <p:cNvCxnSpPr/>
          <p:nvPr/>
        </p:nvCxnSpPr>
        <p:spPr>
          <a:xfrm>
            <a:off x="1530269" y="2213057"/>
            <a:ext cx="4486220" cy="1099985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7" name="Google Shape;1837;p73"/>
          <p:cNvCxnSpPr/>
          <p:nvPr/>
        </p:nvCxnSpPr>
        <p:spPr>
          <a:xfrm flipH="1">
            <a:off x="1417983" y="2123298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38" name="Google Shape;1838;p73"/>
          <p:cNvGrpSpPr/>
          <p:nvPr/>
        </p:nvGrpSpPr>
        <p:grpSpPr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descr="desktop_computer_stylized_medium" id="1839" name="Google Shape;1839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0" name="Google Shape;1840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1" name="Google Shape;1841;p73"/>
          <p:cNvGrpSpPr/>
          <p:nvPr/>
        </p:nvGrpSpPr>
        <p:grpSpPr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1842" name="Google Shape;1842;p7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73"/>
            <p:cNvSpPr/>
            <p:nvPr/>
          </p:nvSpPr>
          <p:spPr>
            <a:xfrm>
              <a:off x="4207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7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7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73"/>
            <p:cNvSpPr/>
            <p:nvPr/>
          </p:nvSpPr>
          <p:spPr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47" name="Google Shape;1847;p73"/>
            <p:cNvGrpSpPr/>
            <p:nvPr/>
          </p:nvGrpSpPr>
          <p:grpSpPr>
            <a:xfrm>
              <a:off x="4751" y="666"/>
              <a:ext cx="578" cy="148"/>
              <a:chOff x="617" y="2566"/>
              <a:chExt cx="721" cy="142"/>
            </a:xfrm>
          </p:grpSpPr>
          <p:sp>
            <p:nvSpPr>
              <p:cNvPr id="1848" name="Google Shape;1848;p73"/>
              <p:cNvSpPr/>
              <p:nvPr/>
            </p:nvSpPr>
            <p:spPr>
              <a:xfrm>
                <a:off x="617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9" name="Google Shape;1849;p73"/>
              <p:cNvSpPr/>
              <p:nvPr/>
            </p:nvSpPr>
            <p:spPr>
              <a:xfrm>
                <a:off x="634" y="2581"/>
                <a:ext cx="688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0" name="Google Shape;1850;p73"/>
            <p:cNvSpPr/>
            <p:nvPr/>
          </p:nvSpPr>
          <p:spPr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1" name="Google Shape;1851;p73"/>
            <p:cNvGrpSpPr/>
            <p:nvPr/>
          </p:nvGrpSpPr>
          <p:grpSpPr>
            <a:xfrm>
              <a:off x="4745" y="993"/>
              <a:ext cx="585" cy="134"/>
              <a:chOff x="611" y="2567"/>
              <a:chExt cx="730" cy="139"/>
            </a:xfrm>
          </p:grpSpPr>
          <p:sp>
            <p:nvSpPr>
              <p:cNvPr id="1852" name="Google Shape;1852;p73"/>
              <p:cNvSpPr/>
              <p:nvPr/>
            </p:nvSpPr>
            <p:spPr>
              <a:xfrm>
                <a:off x="611" y="2567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73"/>
              <p:cNvSpPr/>
              <p:nvPr/>
            </p:nvSpPr>
            <p:spPr>
              <a:xfrm>
                <a:off x="628" y="2582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4" name="Google Shape;1854;p73"/>
            <p:cNvSpPr/>
            <p:nvPr/>
          </p:nvSpPr>
          <p:spPr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73"/>
            <p:cNvSpPr/>
            <p:nvPr/>
          </p:nvSpPr>
          <p:spPr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6" name="Google Shape;1856;p73"/>
            <p:cNvGrpSpPr/>
            <p:nvPr/>
          </p:nvGrpSpPr>
          <p:grpSpPr>
            <a:xfrm>
              <a:off x="4738" y="1630"/>
              <a:ext cx="578" cy="149"/>
              <a:chOff x="618" y="2571"/>
              <a:chExt cx="720" cy="137"/>
            </a:xfrm>
          </p:grpSpPr>
          <p:sp>
            <p:nvSpPr>
              <p:cNvPr id="1857" name="Google Shape;1857;p73"/>
              <p:cNvSpPr/>
              <p:nvPr/>
            </p:nvSpPr>
            <p:spPr>
              <a:xfrm>
                <a:off x="618" y="2571"/>
                <a:ext cx="720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73"/>
              <p:cNvSpPr/>
              <p:nvPr/>
            </p:nvSpPr>
            <p:spPr>
              <a:xfrm>
                <a:off x="635" y="2585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9" name="Google Shape;1859;p7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60" name="Google Shape;1860;p73"/>
            <p:cNvGrpSpPr/>
            <p:nvPr/>
          </p:nvGrpSpPr>
          <p:grpSpPr>
            <a:xfrm>
              <a:off x="4738" y="1327"/>
              <a:ext cx="584" cy="141"/>
              <a:chOff x="613" y="2568"/>
              <a:chExt cx="728" cy="141"/>
            </a:xfrm>
          </p:grpSpPr>
          <p:sp>
            <p:nvSpPr>
              <p:cNvPr id="1861" name="Google Shape;1861;p73"/>
              <p:cNvSpPr/>
              <p:nvPr/>
            </p:nvSpPr>
            <p:spPr>
              <a:xfrm>
                <a:off x="613" y="2568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73"/>
              <p:cNvSpPr/>
              <p:nvPr/>
            </p:nvSpPr>
            <p:spPr>
              <a:xfrm>
                <a:off x="630" y="2582"/>
                <a:ext cx="69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3" name="Google Shape;1863;p73"/>
            <p:cNvSpPr/>
            <p:nvPr/>
          </p:nvSpPr>
          <p:spPr>
            <a:xfrm>
              <a:off x="5249" y="429"/>
              <a:ext cx="67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7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7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73"/>
            <p:cNvSpPr/>
            <p:nvPr/>
          </p:nvSpPr>
          <p:spPr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7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73"/>
            <p:cNvSpPr/>
            <p:nvPr/>
          </p:nvSpPr>
          <p:spPr>
            <a:xfrm>
              <a:off x="4140" y="2677"/>
              <a:ext cx="1196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73"/>
            <p:cNvSpPr/>
            <p:nvPr/>
          </p:nvSpPr>
          <p:spPr>
            <a:xfrm>
              <a:off x="4207" y="2714"/>
              <a:ext cx="1069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73"/>
            <p:cNvSpPr/>
            <p:nvPr/>
          </p:nvSpPr>
          <p:spPr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73"/>
            <p:cNvSpPr/>
            <p:nvPr/>
          </p:nvSpPr>
          <p:spPr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73"/>
            <p:cNvSpPr/>
            <p:nvPr/>
          </p:nvSpPr>
          <p:spPr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73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74" name="Google Shape;1874;p73"/>
          <p:cNvCxnSpPr/>
          <p:nvPr/>
        </p:nvCxnSpPr>
        <p:spPr>
          <a:xfrm flipH="1">
            <a:off x="5970104" y="2037159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5" name="Google Shape;1875;p73"/>
          <p:cNvCxnSpPr/>
          <p:nvPr/>
        </p:nvCxnSpPr>
        <p:spPr>
          <a:xfrm flipH="1">
            <a:off x="1510389" y="3419059"/>
            <a:ext cx="4453089" cy="748747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6" name="Google Shape;1876;p73"/>
          <p:cNvCxnSpPr/>
          <p:nvPr/>
        </p:nvCxnSpPr>
        <p:spPr>
          <a:xfrm>
            <a:off x="1510390" y="4446052"/>
            <a:ext cx="4466341" cy="762054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77" name="Google Shape;1877;p73"/>
          <p:cNvGrpSpPr/>
          <p:nvPr/>
        </p:nvGrpSpPr>
        <p:grpSpPr>
          <a:xfrm>
            <a:off x="1706701" y="1921563"/>
            <a:ext cx="3024326" cy="1148008"/>
            <a:chOff x="1706701" y="1921563"/>
            <a:chExt cx="3024326" cy="1148008"/>
          </a:xfrm>
        </p:grpSpPr>
        <p:sp>
          <p:nvSpPr>
            <p:cNvPr id="1878" name="Google Shape;1878;p73"/>
            <p:cNvSpPr/>
            <p:nvPr/>
          </p:nvSpPr>
          <p:spPr>
            <a:xfrm>
              <a:off x="3442912" y="2409556"/>
              <a:ext cx="1049579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73"/>
            <p:cNvSpPr/>
            <p:nvPr/>
          </p:nvSpPr>
          <p:spPr>
            <a:xfrm>
              <a:off x="2198572" y="2658404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73"/>
            <p:cNvSpPr/>
            <p:nvPr/>
          </p:nvSpPr>
          <p:spPr>
            <a:xfrm>
              <a:off x="2067341" y="1921563"/>
              <a:ext cx="2637181" cy="112643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73"/>
            <p:cNvSpPr txBox="1"/>
            <p:nvPr/>
          </p:nvSpPr>
          <p:spPr>
            <a:xfrm>
              <a:off x="2054088" y="1921564"/>
              <a:ext cx="2676939" cy="1148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 hello: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supported cipher suites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DH key agreement protocol, parameters</a:t>
              </a:r>
              <a:endParaRPr/>
            </a:p>
          </p:txBody>
        </p:sp>
        <p:grpSp>
          <p:nvGrpSpPr>
            <p:cNvPr id="1882" name="Google Shape;1882;p73"/>
            <p:cNvGrpSpPr/>
            <p:nvPr/>
          </p:nvGrpSpPr>
          <p:grpSpPr>
            <a:xfrm>
              <a:off x="1706701" y="2080591"/>
              <a:ext cx="318052" cy="369332"/>
              <a:chOff x="10015814" y="1484244"/>
              <a:chExt cx="318052" cy="369332"/>
            </a:xfrm>
          </p:grpSpPr>
          <p:sp>
            <p:nvSpPr>
              <p:cNvPr id="1883" name="Google Shape;1883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1885" name="Google Shape;1885;p73"/>
          <p:cNvGrpSpPr/>
          <p:nvPr/>
        </p:nvGrpSpPr>
        <p:grpSpPr>
          <a:xfrm>
            <a:off x="2020957" y="3160644"/>
            <a:ext cx="3442735" cy="1148007"/>
            <a:chOff x="2020957" y="3160644"/>
            <a:chExt cx="3442735" cy="1148007"/>
          </a:xfrm>
        </p:grpSpPr>
        <p:grpSp>
          <p:nvGrpSpPr>
            <p:cNvPr id="1886" name="Google Shape;1886;p73"/>
            <p:cNvGrpSpPr/>
            <p:nvPr/>
          </p:nvGrpSpPr>
          <p:grpSpPr>
            <a:xfrm>
              <a:off x="2020957" y="3160644"/>
              <a:ext cx="2696817" cy="1148007"/>
              <a:chOff x="8382000" y="2670313"/>
              <a:chExt cx="2696817" cy="1148007"/>
            </a:xfrm>
          </p:grpSpPr>
          <p:sp>
            <p:nvSpPr>
              <p:cNvPr id="1887" name="Google Shape;1887;p73"/>
              <p:cNvSpPr/>
              <p:nvPr/>
            </p:nvSpPr>
            <p:spPr>
              <a:xfrm>
                <a:off x="8526484" y="3407153"/>
                <a:ext cx="593334" cy="3555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73"/>
              <p:cNvSpPr/>
              <p:nvPr/>
            </p:nvSpPr>
            <p:spPr>
              <a:xfrm>
                <a:off x="8382000" y="2683565"/>
                <a:ext cx="2696817" cy="1126435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73"/>
              <p:cNvSpPr txBox="1"/>
              <p:nvPr/>
            </p:nvSpPr>
            <p:spPr>
              <a:xfrm>
                <a:off x="8382000" y="2670313"/>
                <a:ext cx="2670313" cy="114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 hello:</a:t>
                </a:r>
                <a:endParaRPr/>
              </a:p>
              <a:p>
                <a:pPr indent="-220663" lvl="0" marL="28575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2A0"/>
                  </a:buClr>
                  <a:buSzPts val="1800"/>
                  <a:buFont typeface="Noto Sans Symbols"/>
                  <a:buChar char="▪"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selected cipher suite</a:t>
                </a:r>
                <a:endParaRPr/>
              </a:p>
              <a:p>
                <a:pPr indent="-220663" lvl="0" marL="28575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2A0"/>
                  </a:buClr>
                  <a:buSzPts val="1800"/>
                  <a:buFont typeface="Noto Sans Symbols"/>
                  <a:buChar char="▪"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DH key agreement protocol, parameters</a:t>
                </a:r>
                <a:endParaRPr/>
              </a:p>
            </p:txBody>
          </p:sp>
        </p:grpSp>
        <p:grpSp>
          <p:nvGrpSpPr>
            <p:cNvPr id="1890" name="Google Shape;1890;p73"/>
            <p:cNvGrpSpPr/>
            <p:nvPr/>
          </p:nvGrpSpPr>
          <p:grpSpPr>
            <a:xfrm>
              <a:off x="5145640" y="3332921"/>
              <a:ext cx="318052" cy="369332"/>
              <a:chOff x="10015814" y="1484244"/>
              <a:chExt cx="318052" cy="369332"/>
            </a:xfrm>
          </p:grpSpPr>
          <p:sp>
            <p:nvSpPr>
              <p:cNvPr id="1891" name="Google Shape;1891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2" name="Google Shape;1892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893" name="Google Shape;1893;p73"/>
          <p:cNvGrpSpPr/>
          <p:nvPr/>
        </p:nvGrpSpPr>
        <p:grpSpPr>
          <a:xfrm>
            <a:off x="1030840" y="4094921"/>
            <a:ext cx="318052" cy="369332"/>
            <a:chOff x="10015814" y="1484244"/>
            <a:chExt cx="318052" cy="369332"/>
          </a:xfrm>
        </p:grpSpPr>
        <p:sp>
          <p:nvSpPr>
            <p:cNvPr id="1894" name="Google Shape;1894;p73"/>
            <p:cNvSpPr/>
            <p:nvPr/>
          </p:nvSpPr>
          <p:spPr>
            <a:xfrm>
              <a:off x="10015814" y="1517597"/>
              <a:ext cx="318052" cy="318052"/>
            </a:xfrm>
            <a:prstGeom prst="ellipse">
              <a:avLst/>
            </a:prstGeom>
            <a:solidFill>
              <a:schemeClr val="lt1"/>
            </a:solidFill>
            <a:ln cap="flat" cmpd="sng" w="222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73"/>
            <p:cNvSpPr txBox="1"/>
            <p:nvPr/>
          </p:nvSpPr>
          <p:spPr>
            <a:xfrm>
              <a:off x="10029066" y="1484244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1896" name="Google Shape;1896;p73"/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endParaRPr/>
          </a:p>
        </p:txBody>
      </p:sp>
      <p:sp>
        <p:nvSpPr>
          <p:cNvPr id="1897" name="Google Shape;1897;p73"/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</a:t>
            </a:r>
            <a:endParaRPr/>
          </a:p>
        </p:txBody>
      </p:sp>
      <p:grpSp>
        <p:nvGrpSpPr>
          <p:cNvPr id="1898" name="Google Shape;1898;p73"/>
          <p:cNvGrpSpPr/>
          <p:nvPr/>
        </p:nvGrpSpPr>
        <p:grpSpPr>
          <a:xfrm>
            <a:off x="7098196" y="1159564"/>
            <a:ext cx="4775747" cy="1670444"/>
            <a:chOff x="7098196" y="1159564"/>
            <a:chExt cx="4775747" cy="1670444"/>
          </a:xfrm>
        </p:grpSpPr>
        <p:sp>
          <p:nvSpPr>
            <p:cNvPr id="1899" name="Google Shape;1899;p73"/>
            <p:cNvSpPr txBox="1"/>
            <p:nvPr/>
          </p:nvSpPr>
          <p:spPr>
            <a:xfrm>
              <a:off x="7421212" y="1165257"/>
              <a:ext cx="4452731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 TLS hello msg: 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guesses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agreement protocol, parameters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indicates cipher suites it supports</a:t>
              </a:r>
              <a:endParaRPr/>
            </a:p>
          </p:txBody>
        </p:sp>
        <p:grpSp>
          <p:nvGrpSpPr>
            <p:cNvPr id="1900" name="Google Shape;1900;p73"/>
            <p:cNvGrpSpPr/>
            <p:nvPr/>
          </p:nvGrpSpPr>
          <p:grpSpPr>
            <a:xfrm>
              <a:off x="7098196" y="1159564"/>
              <a:ext cx="318052" cy="369332"/>
              <a:chOff x="10015814" y="1484244"/>
              <a:chExt cx="318052" cy="369332"/>
            </a:xfrm>
          </p:grpSpPr>
          <p:sp>
            <p:nvSpPr>
              <p:cNvPr id="1901" name="Google Shape;1901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2" name="Google Shape;1902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1903" name="Google Shape;1903;p73"/>
          <p:cNvGrpSpPr/>
          <p:nvPr/>
        </p:nvGrpSpPr>
        <p:grpSpPr>
          <a:xfrm>
            <a:off x="7084944" y="2854909"/>
            <a:ext cx="4444447" cy="1664751"/>
            <a:chOff x="7084944" y="2854909"/>
            <a:chExt cx="4444447" cy="1664751"/>
          </a:xfrm>
        </p:grpSpPr>
        <p:sp>
          <p:nvSpPr>
            <p:cNvPr id="1904" name="Google Shape;1904;p73"/>
            <p:cNvSpPr txBox="1"/>
            <p:nvPr/>
          </p:nvSpPr>
          <p:spPr>
            <a:xfrm>
              <a:off x="7394708" y="2854909"/>
              <a:ext cx="4134683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 TLS hello msg chooses 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agreement protocol, parameters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cipher suite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server-signed certificate</a:t>
              </a:r>
              <a:endParaRPr/>
            </a:p>
          </p:txBody>
        </p:sp>
        <p:grpSp>
          <p:nvGrpSpPr>
            <p:cNvPr id="1905" name="Google Shape;1905;p73"/>
            <p:cNvGrpSpPr/>
            <p:nvPr/>
          </p:nvGrpSpPr>
          <p:grpSpPr>
            <a:xfrm>
              <a:off x="7084944" y="2875721"/>
              <a:ext cx="318052" cy="369332"/>
              <a:chOff x="10015814" y="1484244"/>
              <a:chExt cx="318052" cy="369332"/>
            </a:xfrm>
          </p:grpSpPr>
          <p:sp>
            <p:nvSpPr>
              <p:cNvPr id="1906" name="Google Shape;1906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908" name="Google Shape;1908;p73"/>
          <p:cNvGrpSpPr/>
          <p:nvPr/>
        </p:nvGrpSpPr>
        <p:grpSpPr>
          <a:xfrm>
            <a:off x="7071692" y="4538868"/>
            <a:ext cx="4934773" cy="1674744"/>
            <a:chOff x="7071692" y="4538868"/>
            <a:chExt cx="4934773" cy="1674744"/>
          </a:xfrm>
        </p:grpSpPr>
        <p:sp>
          <p:nvSpPr>
            <p:cNvPr id="1909" name="Google Shape;1909;p73"/>
            <p:cNvSpPr txBox="1"/>
            <p:nvPr/>
          </p:nvSpPr>
          <p:spPr>
            <a:xfrm>
              <a:off x="7381456" y="4548861"/>
              <a:ext cx="4625009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client: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checks server certificate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generates key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can now make application request (e.g.., HTTPS GET)</a:t>
              </a:r>
              <a:endParaRPr/>
            </a:p>
          </p:txBody>
        </p:sp>
        <p:grpSp>
          <p:nvGrpSpPr>
            <p:cNvPr id="1910" name="Google Shape;1910;p73"/>
            <p:cNvGrpSpPr/>
            <p:nvPr/>
          </p:nvGrpSpPr>
          <p:grpSpPr>
            <a:xfrm>
              <a:off x="7071692" y="4538868"/>
              <a:ext cx="318052" cy="369332"/>
              <a:chOff x="10015814" y="1484244"/>
              <a:chExt cx="318052" cy="369332"/>
            </a:xfrm>
          </p:grpSpPr>
          <p:sp>
            <p:nvSpPr>
              <p:cNvPr id="1911" name="Google Shape;1911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p74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 1.3 handshake: 0 RTT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20" name="Google Shape;1920;p74"/>
          <p:cNvCxnSpPr/>
          <p:nvPr/>
        </p:nvCxnSpPr>
        <p:spPr>
          <a:xfrm>
            <a:off x="1530269" y="2213057"/>
            <a:ext cx="4486220" cy="1099985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1" name="Google Shape;1921;p74"/>
          <p:cNvCxnSpPr/>
          <p:nvPr/>
        </p:nvCxnSpPr>
        <p:spPr>
          <a:xfrm flipH="1">
            <a:off x="1417983" y="2123298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22" name="Google Shape;1922;p74"/>
          <p:cNvGrpSpPr/>
          <p:nvPr/>
        </p:nvGrpSpPr>
        <p:grpSpPr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descr="desktop_computer_stylized_medium" id="1923" name="Google Shape;1923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4" name="Google Shape;1924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5" name="Google Shape;1925;p74"/>
          <p:cNvGrpSpPr/>
          <p:nvPr/>
        </p:nvGrpSpPr>
        <p:grpSpPr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1926" name="Google Shape;1926;p7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74"/>
            <p:cNvSpPr/>
            <p:nvPr/>
          </p:nvSpPr>
          <p:spPr>
            <a:xfrm>
              <a:off x="4207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7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7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74"/>
            <p:cNvSpPr/>
            <p:nvPr/>
          </p:nvSpPr>
          <p:spPr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31" name="Google Shape;1931;p74"/>
            <p:cNvGrpSpPr/>
            <p:nvPr/>
          </p:nvGrpSpPr>
          <p:grpSpPr>
            <a:xfrm>
              <a:off x="4751" y="666"/>
              <a:ext cx="578" cy="148"/>
              <a:chOff x="617" y="2566"/>
              <a:chExt cx="721" cy="142"/>
            </a:xfrm>
          </p:grpSpPr>
          <p:sp>
            <p:nvSpPr>
              <p:cNvPr id="1932" name="Google Shape;1932;p74"/>
              <p:cNvSpPr/>
              <p:nvPr/>
            </p:nvSpPr>
            <p:spPr>
              <a:xfrm>
                <a:off x="617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3" name="Google Shape;1933;p74"/>
              <p:cNvSpPr/>
              <p:nvPr/>
            </p:nvSpPr>
            <p:spPr>
              <a:xfrm>
                <a:off x="634" y="2581"/>
                <a:ext cx="688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4" name="Google Shape;1934;p74"/>
            <p:cNvSpPr/>
            <p:nvPr/>
          </p:nvSpPr>
          <p:spPr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35" name="Google Shape;1935;p74"/>
            <p:cNvGrpSpPr/>
            <p:nvPr/>
          </p:nvGrpSpPr>
          <p:grpSpPr>
            <a:xfrm>
              <a:off x="4745" y="993"/>
              <a:ext cx="585" cy="134"/>
              <a:chOff x="611" y="2567"/>
              <a:chExt cx="730" cy="139"/>
            </a:xfrm>
          </p:grpSpPr>
          <p:sp>
            <p:nvSpPr>
              <p:cNvPr id="1936" name="Google Shape;1936;p74"/>
              <p:cNvSpPr/>
              <p:nvPr/>
            </p:nvSpPr>
            <p:spPr>
              <a:xfrm>
                <a:off x="611" y="2567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7" name="Google Shape;1937;p74"/>
              <p:cNvSpPr/>
              <p:nvPr/>
            </p:nvSpPr>
            <p:spPr>
              <a:xfrm>
                <a:off x="628" y="2582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8" name="Google Shape;1938;p74"/>
            <p:cNvSpPr/>
            <p:nvPr/>
          </p:nvSpPr>
          <p:spPr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74"/>
            <p:cNvSpPr/>
            <p:nvPr/>
          </p:nvSpPr>
          <p:spPr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0" name="Google Shape;1940;p74"/>
            <p:cNvGrpSpPr/>
            <p:nvPr/>
          </p:nvGrpSpPr>
          <p:grpSpPr>
            <a:xfrm>
              <a:off x="4738" y="1630"/>
              <a:ext cx="578" cy="149"/>
              <a:chOff x="618" y="2571"/>
              <a:chExt cx="720" cy="137"/>
            </a:xfrm>
          </p:grpSpPr>
          <p:sp>
            <p:nvSpPr>
              <p:cNvPr id="1941" name="Google Shape;1941;p74"/>
              <p:cNvSpPr/>
              <p:nvPr/>
            </p:nvSpPr>
            <p:spPr>
              <a:xfrm>
                <a:off x="618" y="2571"/>
                <a:ext cx="720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2" name="Google Shape;1942;p74"/>
              <p:cNvSpPr/>
              <p:nvPr/>
            </p:nvSpPr>
            <p:spPr>
              <a:xfrm>
                <a:off x="635" y="2585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3" name="Google Shape;1943;p7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4" name="Google Shape;1944;p74"/>
            <p:cNvGrpSpPr/>
            <p:nvPr/>
          </p:nvGrpSpPr>
          <p:grpSpPr>
            <a:xfrm>
              <a:off x="4738" y="1327"/>
              <a:ext cx="584" cy="141"/>
              <a:chOff x="613" y="2568"/>
              <a:chExt cx="728" cy="141"/>
            </a:xfrm>
          </p:grpSpPr>
          <p:sp>
            <p:nvSpPr>
              <p:cNvPr id="1945" name="Google Shape;1945;p74"/>
              <p:cNvSpPr/>
              <p:nvPr/>
            </p:nvSpPr>
            <p:spPr>
              <a:xfrm>
                <a:off x="613" y="2568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6" name="Google Shape;1946;p74"/>
              <p:cNvSpPr/>
              <p:nvPr/>
            </p:nvSpPr>
            <p:spPr>
              <a:xfrm>
                <a:off x="630" y="2582"/>
                <a:ext cx="69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7" name="Google Shape;1947;p74"/>
            <p:cNvSpPr/>
            <p:nvPr/>
          </p:nvSpPr>
          <p:spPr>
            <a:xfrm>
              <a:off x="5249" y="429"/>
              <a:ext cx="67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7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7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74"/>
            <p:cNvSpPr/>
            <p:nvPr/>
          </p:nvSpPr>
          <p:spPr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7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74"/>
            <p:cNvSpPr/>
            <p:nvPr/>
          </p:nvSpPr>
          <p:spPr>
            <a:xfrm>
              <a:off x="4140" y="2677"/>
              <a:ext cx="1196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74"/>
            <p:cNvSpPr/>
            <p:nvPr/>
          </p:nvSpPr>
          <p:spPr>
            <a:xfrm>
              <a:off x="4207" y="2714"/>
              <a:ext cx="1069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74"/>
            <p:cNvSpPr/>
            <p:nvPr/>
          </p:nvSpPr>
          <p:spPr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74"/>
            <p:cNvSpPr/>
            <p:nvPr/>
          </p:nvSpPr>
          <p:spPr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74"/>
            <p:cNvSpPr/>
            <p:nvPr/>
          </p:nvSpPr>
          <p:spPr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74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58" name="Google Shape;1958;p74"/>
          <p:cNvCxnSpPr/>
          <p:nvPr/>
        </p:nvCxnSpPr>
        <p:spPr>
          <a:xfrm flipH="1">
            <a:off x="5970104" y="2037159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74"/>
          <p:cNvCxnSpPr/>
          <p:nvPr/>
        </p:nvCxnSpPr>
        <p:spPr>
          <a:xfrm flipH="1">
            <a:off x="1510389" y="3856384"/>
            <a:ext cx="4453089" cy="748747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0" name="Google Shape;1960;p74"/>
          <p:cNvSpPr/>
          <p:nvPr/>
        </p:nvSpPr>
        <p:spPr>
          <a:xfrm>
            <a:off x="3442912" y="2409556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74"/>
          <p:cNvSpPr/>
          <p:nvPr/>
        </p:nvSpPr>
        <p:spPr>
          <a:xfrm>
            <a:off x="2198572" y="2658404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74"/>
          <p:cNvSpPr/>
          <p:nvPr/>
        </p:nvSpPr>
        <p:spPr>
          <a:xfrm>
            <a:off x="2067341" y="1921564"/>
            <a:ext cx="2637181" cy="13914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74"/>
          <p:cNvSpPr txBox="1"/>
          <p:nvPr/>
        </p:nvSpPr>
        <p:spPr>
          <a:xfrm>
            <a:off x="2054088" y="1921564"/>
            <a:ext cx="2676939" cy="139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hello: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cipher suites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 key agreement protocol, parameters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 data</a:t>
            </a:r>
            <a:endParaRPr/>
          </a:p>
        </p:txBody>
      </p:sp>
      <p:grpSp>
        <p:nvGrpSpPr>
          <p:cNvPr id="1964" name="Google Shape;1964;p74"/>
          <p:cNvGrpSpPr/>
          <p:nvPr/>
        </p:nvGrpSpPr>
        <p:grpSpPr>
          <a:xfrm>
            <a:off x="2020957" y="3597969"/>
            <a:ext cx="2683565" cy="1437857"/>
            <a:chOff x="8382000" y="2670313"/>
            <a:chExt cx="2683565" cy="1437857"/>
          </a:xfrm>
        </p:grpSpPr>
        <p:sp>
          <p:nvSpPr>
            <p:cNvPr id="1965" name="Google Shape;1965;p74"/>
            <p:cNvSpPr/>
            <p:nvPr/>
          </p:nvSpPr>
          <p:spPr>
            <a:xfrm>
              <a:off x="8526484" y="3407153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74"/>
            <p:cNvSpPr/>
            <p:nvPr/>
          </p:nvSpPr>
          <p:spPr>
            <a:xfrm>
              <a:off x="8382000" y="2683565"/>
              <a:ext cx="2683565" cy="14246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74"/>
            <p:cNvSpPr txBox="1"/>
            <p:nvPr/>
          </p:nvSpPr>
          <p:spPr>
            <a:xfrm>
              <a:off x="8382000" y="2670313"/>
              <a:ext cx="2670313" cy="1397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 hello: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selected cipher suite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DH key agreement protocol, parameters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 data (reply)</a:t>
              </a:r>
              <a:endParaRPr/>
            </a:p>
          </p:txBody>
        </p:sp>
      </p:grpSp>
      <p:sp>
        <p:nvSpPr>
          <p:cNvPr id="1968" name="Google Shape;1968;p74"/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endParaRPr/>
          </a:p>
        </p:txBody>
      </p:sp>
      <p:sp>
        <p:nvSpPr>
          <p:cNvPr id="1969" name="Google Shape;1969;p74"/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</a:t>
            </a:r>
            <a:endParaRPr/>
          </a:p>
        </p:txBody>
      </p:sp>
      <p:sp>
        <p:nvSpPr>
          <p:cNvPr id="1970" name="Google Shape;1970;p74"/>
          <p:cNvSpPr txBox="1"/>
          <p:nvPr>
            <p:ph idx="1" type="body"/>
          </p:nvPr>
        </p:nvSpPr>
        <p:spPr>
          <a:xfrm>
            <a:off x="6944140" y="1430821"/>
            <a:ext cx="4929807" cy="48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initial hello message contains encrypted application data!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“resuming” earlier connection between client and server 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application data encrypted using “resumption master secret” from earlier connection</a:t>
            </a:r>
            <a:endParaRPr/>
          </a:p>
          <a:p>
            <a:pPr indent="-2349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vulnerable to replay attacks!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maybe OK for get HTTP GET or client requests not modifying server state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p75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977" name="Google Shape;197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978" name="Google Shape;1978;p75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979" name="Google Shape;1979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76"/>
          <p:cNvSpPr txBox="1"/>
          <p:nvPr>
            <p:ph idx="1" type="body"/>
          </p:nvPr>
        </p:nvSpPr>
        <p:spPr>
          <a:xfrm>
            <a:off x="868016" y="1371600"/>
            <a:ext cx="1085021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Char char="▪"/>
            </a:pPr>
            <a:r>
              <a:rPr lang="en-US" sz="3100"/>
              <a:t>provides datagram-level encryption, authentication, integrity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for both user traffic and control traffic (e.g., BGP, DNS messages)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100"/>
              <a:buChar char="▪"/>
            </a:pPr>
            <a:r>
              <a:rPr lang="en-US" sz="3100"/>
              <a:t>two “modes”: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986" name="Google Shape;1986;p76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 Sec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7" name="Google Shape;1987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8" name="Google Shape;1988;p76"/>
          <p:cNvSpPr txBox="1"/>
          <p:nvPr/>
        </p:nvSpPr>
        <p:spPr>
          <a:xfrm>
            <a:off x="1470993" y="4681977"/>
            <a:ext cx="3856382" cy="1166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 mode: </a:t>
            </a:r>
            <a:endParaRPr/>
          </a:p>
          <a:p>
            <a:pPr indent="-222250" lvl="0" marL="287338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datagram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encrypted, authenticated</a:t>
            </a:r>
            <a:endParaRPr/>
          </a:p>
        </p:txBody>
      </p:sp>
      <p:sp>
        <p:nvSpPr>
          <p:cNvPr id="1989" name="Google Shape;1989;p76"/>
          <p:cNvSpPr/>
          <p:nvPr/>
        </p:nvSpPr>
        <p:spPr>
          <a:xfrm>
            <a:off x="6188765" y="4093770"/>
            <a:ext cx="4717774" cy="217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tunnel mode: </a:t>
            </a:r>
            <a:endParaRPr/>
          </a:p>
          <a:p>
            <a:pPr indent="-220663" lvl="0" marL="28575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entire datagram is encrypted, authenticated</a:t>
            </a:r>
            <a:endParaRPr/>
          </a:p>
          <a:p>
            <a:pPr indent="-220663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encrypted datagram encapsulated in new datagram with new IP header, tunneled to destination</a:t>
            </a:r>
            <a:endParaRPr/>
          </a:p>
        </p:txBody>
      </p:sp>
      <p:grpSp>
        <p:nvGrpSpPr>
          <p:cNvPr id="1990" name="Google Shape;1990;p76"/>
          <p:cNvGrpSpPr/>
          <p:nvPr/>
        </p:nvGrpSpPr>
        <p:grpSpPr>
          <a:xfrm>
            <a:off x="5943602" y="2769704"/>
            <a:ext cx="4841859" cy="1089162"/>
            <a:chOff x="5943602" y="2769704"/>
            <a:chExt cx="4841859" cy="1089162"/>
          </a:xfrm>
        </p:grpSpPr>
        <p:sp>
          <p:nvSpPr>
            <p:cNvPr id="1991" name="Google Shape;1991;p76"/>
            <p:cNvSpPr/>
            <p:nvPr/>
          </p:nvSpPr>
          <p:spPr>
            <a:xfrm rot="5400000">
              <a:off x="8079996" y="2940636"/>
              <a:ext cx="506067" cy="1330393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92" name="Google Shape;1992;p76"/>
            <p:cNvGrpSpPr/>
            <p:nvPr/>
          </p:nvGrpSpPr>
          <p:grpSpPr>
            <a:xfrm>
              <a:off x="5943602" y="2769704"/>
              <a:ext cx="1681218" cy="980660"/>
              <a:chOff x="6049618" y="2769704"/>
              <a:chExt cx="1681218" cy="980660"/>
            </a:xfrm>
          </p:grpSpPr>
          <p:cxnSp>
            <p:nvCxnSpPr>
              <p:cNvPr id="1993" name="Google Shape;1993;p76"/>
              <p:cNvCxnSpPr>
                <a:endCxn id="1994" idx="9"/>
              </p:cNvCxnSpPr>
              <p:nvPr/>
            </p:nvCxnSpPr>
            <p:spPr>
              <a:xfrm>
                <a:off x="6645292" y="3188175"/>
                <a:ext cx="781500" cy="358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995" name="Google Shape;1995;p76"/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1996" name="Google Shape;1996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97" name="Google Shape;1997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998" name="Google Shape;1998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999" name="Google Shape;1999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0" name="Google Shape;2000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1" name="Google Shape;2001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4" name="Google Shape;1994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002" name="Google Shape;2002;p76"/>
              <p:cNvGrpSpPr/>
              <p:nvPr/>
            </p:nvGrpSpPr>
            <p:grpSpPr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descr="desktop_computer_stylized_medium" id="2003" name="Google Shape;2003;p7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4" name="Google Shape;2004;p7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05" name="Google Shape;2005;p76"/>
            <p:cNvGrpSpPr/>
            <p:nvPr/>
          </p:nvGrpSpPr>
          <p:grpSpPr>
            <a:xfrm flipH="1">
              <a:off x="9104243" y="2789583"/>
              <a:ext cx="1681218" cy="980660"/>
              <a:chOff x="6049618" y="2769704"/>
              <a:chExt cx="1681218" cy="980660"/>
            </a:xfrm>
          </p:grpSpPr>
          <p:cxnSp>
            <p:nvCxnSpPr>
              <p:cNvPr id="2006" name="Google Shape;2006;p76"/>
              <p:cNvCxnSpPr>
                <a:endCxn id="2007" idx="9"/>
              </p:cNvCxnSpPr>
              <p:nvPr/>
            </p:nvCxnSpPr>
            <p:spPr>
              <a:xfrm>
                <a:off x="6645292" y="3188175"/>
                <a:ext cx="781500" cy="358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08" name="Google Shape;2008;p76"/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2009" name="Google Shape;2009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010" name="Google Shape;2010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011" name="Google Shape;2011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012" name="Google Shape;2012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3" name="Google Shape;2013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4" name="Google Shape;2014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7" name="Google Shape;2007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015" name="Google Shape;2015;p76"/>
              <p:cNvGrpSpPr/>
              <p:nvPr/>
            </p:nvGrpSpPr>
            <p:grpSpPr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descr="desktop_computer_stylized_medium" id="2016" name="Google Shape;2016;p7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17" name="Google Shape;2017;p7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8" name="Google Shape;2018;p76"/>
            <p:cNvGrpSpPr/>
            <p:nvPr/>
          </p:nvGrpSpPr>
          <p:grpSpPr>
            <a:xfrm>
              <a:off x="7715977" y="3548786"/>
              <a:ext cx="1285150" cy="185014"/>
              <a:chOff x="1616358" y="2551230"/>
              <a:chExt cx="2138678" cy="218510"/>
            </a:xfrm>
          </p:grpSpPr>
          <p:sp>
            <p:nvSpPr>
              <p:cNvPr id="2019" name="Google Shape;2019;p76"/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52000">
                    <a:srgbClr val="6EBFF0"/>
                  </a:gs>
                  <a:gs pos="100000">
                    <a:srgbClr val="0012A0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0" name="Google Shape;2020;p76"/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rgbClr val="D8D8D8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1" name="Google Shape;2021;p76"/>
              <p:cNvSpPr/>
              <p:nvPr/>
            </p:nvSpPr>
            <p:spPr>
              <a:xfrm>
                <a:off x="3643756" y="2559750"/>
                <a:ext cx="111280" cy="209990"/>
              </a:xfrm>
              <a:prstGeom prst="ellipse">
                <a:avLst/>
              </a:prstGeom>
              <a:gradFill>
                <a:gsLst>
                  <a:gs pos="0">
                    <a:srgbClr val="0012A0"/>
                  </a:gs>
                  <a:gs pos="29000">
                    <a:srgbClr val="6EBFF0"/>
                  </a:gs>
                  <a:gs pos="75000">
                    <a:srgbClr val="66ACD3"/>
                  </a:gs>
                  <a:gs pos="99000">
                    <a:srgbClr val="0012A0"/>
                  </a:gs>
                  <a:gs pos="100000">
                    <a:srgbClr val="0012A0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2" name="Google Shape;2022;p76"/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52000">
                    <a:srgbClr val="6EBFF0"/>
                  </a:gs>
                  <a:gs pos="100000">
                    <a:srgbClr val="0012A0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23" name="Google Shape;2023;p76"/>
          <p:cNvSpPr/>
          <p:nvPr/>
        </p:nvSpPr>
        <p:spPr>
          <a:xfrm rot="5400000">
            <a:off x="2931526" y="3676128"/>
            <a:ext cx="506067" cy="133039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4" name="Google Shape;2024;p76"/>
          <p:cNvGrpSpPr/>
          <p:nvPr/>
        </p:nvGrpSpPr>
        <p:grpSpPr>
          <a:xfrm>
            <a:off x="795132" y="3505196"/>
            <a:ext cx="1681218" cy="980660"/>
            <a:chOff x="6049618" y="2769704"/>
            <a:chExt cx="1681218" cy="980660"/>
          </a:xfrm>
        </p:grpSpPr>
        <p:cxnSp>
          <p:nvCxnSpPr>
            <p:cNvPr id="2025" name="Google Shape;2025;p76"/>
            <p:cNvCxnSpPr>
              <a:endCxn id="2026" idx="9"/>
            </p:cNvCxnSpPr>
            <p:nvPr/>
          </p:nvCxnSpPr>
          <p:spPr>
            <a:xfrm>
              <a:off x="6645292" y="3188175"/>
              <a:ext cx="781500" cy="358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27" name="Google Shape;2027;p76"/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2028" name="Google Shape;2028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29" name="Google Shape;2029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30" name="Google Shape;2030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31" name="Google Shape;2031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2" name="Google Shape;2032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3" name="Google Shape;2033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6" name="Google Shape;2026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34" name="Google Shape;2034;p76"/>
            <p:cNvGrpSpPr/>
            <p:nvPr/>
          </p:nvGrpSpPr>
          <p:grpSpPr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descr="desktop_computer_stylized_medium" id="2035" name="Google Shape;2035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36" name="Google Shape;2036;p7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7" name="Google Shape;2037;p76"/>
          <p:cNvGrpSpPr/>
          <p:nvPr/>
        </p:nvGrpSpPr>
        <p:grpSpPr>
          <a:xfrm flipH="1">
            <a:off x="3955773" y="3525075"/>
            <a:ext cx="1681218" cy="980660"/>
            <a:chOff x="6049618" y="2769704"/>
            <a:chExt cx="1681218" cy="980660"/>
          </a:xfrm>
        </p:grpSpPr>
        <p:cxnSp>
          <p:nvCxnSpPr>
            <p:cNvPr id="2038" name="Google Shape;2038;p76"/>
            <p:cNvCxnSpPr>
              <a:endCxn id="2039" idx="9"/>
            </p:cNvCxnSpPr>
            <p:nvPr/>
          </p:nvCxnSpPr>
          <p:spPr>
            <a:xfrm>
              <a:off x="6645292" y="3188175"/>
              <a:ext cx="781500" cy="358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40" name="Google Shape;2040;p76"/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2041" name="Google Shape;2041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42" name="Google Shape;2042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43" name="Google Shape;2043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44" name="Google Shape;2044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5" name="Google Shape;2045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6" name="Google Shape;2046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9" name="Google Shape;2039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47" name="Google Shape;2047;p76"/>
            <p:cNvGrpSpPr/>
            <p:nvPr/>
          </p:nvGrpSpPr>
          <p:grpSpPr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descr="desktop_computer_stylized_medium" id="2048" name="Google Shape;2048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49" name="Google Shape;2049;p7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50" name="Google Shape;2050;p76"/>
          <p:cNvGrpSpPr/>
          <p:nvPr/>
        </p:nvGrpSpPr>
        <p:grpSpPr>
          <a:xfrm>
            <a:off x="1596889" y="3625654"/>
            <a:ext cx="1744188" cy="288737"/>
            <a:chOff x="1596889" y="3055814"/>
            <a:chExt cx="1744188" cy="288737"/>
          </a:xfrm>
        </p:grpSpPr>
        <p:grpSp>
          <p:nvGrpSpPr>
            <p:cNvPr id="2051" name="Google Shape;2051;p76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052" name="Google Shape;2052;p76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3" name="Google Shape;2053;p76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4" name="Google Shape;2054;p76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55" name="Google Shape;2055;p76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6" name="Google Shape;2056;p76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7" name="Google Shape;2057;p76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8" name="Google Shape;2058;p76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059" name="Google Shape;2059;p76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0" name="Google Shape;2060;p76"/>
          <p:cNvGrpSpPr/>
          <p:nvPr/>
        </p:nvGrpSpPr>
        <p:grpSpPr>
          <a:xfrm>
            <a:off x="1889212" y="3652032"/>
            <a:ext cx="749300" cy="222250"/>
            <a:chOff x="2066925" y="3086100"/>
            <a:chExt cx="749300" cy="222250"/>
          </a:xfrm>
        </p:grpSpPr>
        <p:sp>
          <p:nvSpPr>
            <p:cNvPr id="2061" name="Google Shape;2061;p76"/>
            <p:cNvSpPr/>
            <p:nvPr/>
          </p:nvSpPr>
          <p:spPr>
            <a:xfrm>
              <a:off x="2066925" y="3092450"/>
              <a:ext cx="749300" cy="215900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2745"/>
              </a:schemeClr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2" name="Google Shape;2062;p76"/>
            <p:cNvCxnSpPr/>
            <p:nvPr/>
          </p:nvCxnSpPr>
          <p:spPr>
            <a:xfrm flipH="1">
              <a:off x="209867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3" name="Google Shape;2063;p76"/>
            <p:cNvCxnSpPr/>
            <p:nvPr/>
          </p:nvCxnSpPr>
          <p:spPr>
            <a:xfrm flipH="1">
              <a:off x="21907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4" name="Google Shape;2064;p76"/>
            <p:cNvCxnSpPr/>
            <p:nvPr/>
          </p:nvCxnSpPr>
          <p:spPr>
            <a:xfrm flipH="1">
              <a:off x="22828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5" name="Google Shape;2065;p76"/>
            <p:cNvCxnSpPr/>
            <p:nvPr/>
          </p:nvCxnSpPr>
          <p:spPr>
            <a:xfrm flipH="1">
              <a:off x="237490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6" name="Google Shape;2066;p76"/>
            <p:cNvCxnSpPr/>
            <p:nvPr/>
          </p:nvCxnSpPr>
          <p:spPr>
            <a:xfrm flipH="1">
              <a:off x="2466975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7" name="Google Shape;2067;p76"/>
            <p:cNvCxnSpPr/>
            <p:nvPr/>
          </p:nvCxnSpPr>
          <p:spPr>
            <a:xfrm flipH="1">
              <a:off x="25590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8" name="Google Shape;2068;p76"/>
            <p:cNvCxnSpPr/>
            <p:nvPr/>
          </p:nvCxnSpPr>
          <p:spPr>
            <a:xfrm flipH="1">
              <a:off x="26511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9" name="Google Shape;2069;p76"/>
            <p:cNvCxnSpPr/>
            <p:nvPr/>
          </p:nvCxnSpPr>
          <p:spPr>
            <a:xfrm flipH="1">
              <a:off x="273685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70" name="Google Shape;2070;p76"/>
          <p:cNvGrpSpPr/>
          <p:nvPr/>
        </p:nvGrpSpPr>
        <p:grpSpPr>
          <a:xfrm>
            <a:off x="6745359" y="2651620"/>
            <a:ext cx="1744188" cy="288737"/>
            <a:chOff x="1596889" y="3055814"/>
            <a:chExt cx="1744188" cy="288737"/>
          </a:xfrm>
        </p:grpSpPr>
        <p:grpSp>
          <p:nvGrpSpPr>
            <p:cNvPr id="2071" name="Google Shape;2071;p76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072" name="Google Shape;2072;p76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3" name="Google Shape;2073;p76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4" name="Google Shape;2074;p76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75" name="Google Shape;2075;p76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76" name="Google Shape;2076;p76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77" name="Google Shape;2077;p76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78" name="Google Shape;2078;p76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079" name="Google Shape;2079;p76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0" name="Google Shape;2080;p76"/>
          <p:cNvSpPr/>
          <p:nvPr/>
        </p:nvSpPr>
        <p:spPr>
          <a:xfrm>
            <a:off x="8691048" y="3108820"/>
            <a:ext cx="613508" cy="28873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58000">
                <a:srgbClr val="6EBFF0"/>
              </a:gs>
              <a:gs pos="99000">
                <a:srgbClr val="0012A0"/>
              </a:gs>
              <a:gs pos="100000">
                <a:srgbClr val="0012A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1" name="Google Shape;2081;p76"/>
          <p:cNvGrpSpPr/>
          <p:nvPr/>
        </p:nvGrpSpPr>
        <p:grpSpPr>
          <a:xfrm>
            <a:off x="7232575" y="3038475"/>
            <a:ext cx="1430955" cy="365894"/>
            <a:chOff x="7219875" y="3091894"/>
            <a:chExt cx="1430955" cy="271200"/>
          </a:xfrm>
        </p:grpSpPr>
        <p:sp>
          <p:nvSpPr>
            <p:cNvPr id="2082" name="Google Shape;2082;p76"/>
            <p:cNvSpPr/>
            <p:nvPr/>
          </p:nvSpPr>
          <p:spPr>
            <a:xfrm>
              <a:off x="7219875" y="3096088"/>
              <a:ext cx="1430955" cy="25346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83" name="Google Shape;2083;p76"/>
            <p:cNvCxnSpPr/>
            <p:nvPr/>
          </p:nvCxnSpPr>
          <p:spPr>
            <a:xfrm>
              <a:off x="7498944" y="30918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4" name="Google Shape;2084;p76"/>
            <p:cNvCxnSpPr/>
            <p:nvPr/>
          </p:nvCxnSpPr>
          <p:spPr>
            <a:xfrm>
              <a:off x="7273344" y="30966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5" name="Google Shape;2085;p76"/>
            <p:cNvCxnSpPr/>
            <p:nvPr/>
          </p:nvCxnSpPr>
          <p:spPr>
            <a:xfrm>
              <a:off x="7321344" y="30942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6" name="Google Shape;2086;p76"/>
            <p:cNvCxnSpPr/>
            <p:nvPr/>
          </p:nvCxnSpPr>
          <p:spPr>
            <a:xfrm>
              <a:off x="7423344" y="30918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87" name="Google Shape;2087;p76"/>
          <p:cNvGrpSpPr/>
          <p:nvPr/>
        </p:nvGrpSpPr>
        <p:grpSpPr>
          <a:xfrm>
            <a:off x="7564040" y="3084742"/>
            <a:ext cx="1060174" cy="276999"/>
            <a:chOff x="2418521" y="3140627"/>
            <a:chExt cx="1060174" cy="276999"/>
          </a:xfrm>
        </p:grpSpPr>
        <p:sp>
          <p:nvSpPr>
            <p:cNvPr id="2088" name="Google Shape;2088;p76"/>
            <p:cNvSpPr/>
            <p:nvPr/>
          </p:nvSpPr>
          <p:spPr>
            <a:xfrm>
              <a:off x="2418521" y="3187148"/>
              <a:ext cx="1060174" cy="18553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76"/>
            <p:cNvSpPr/>
            <p:nvPr/>
          </p:nvSpPr>
          <p:spPr>
            <a:xfrm>
              <a:off x="2706480" y="3197527"/>
              <a:ext cx="733425" cy="158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76"/>
            <p:cNvSpPr txBox="1"/>
            <p:nvPr/>
          </p:nvSpPr>
          <p:spPr>
            <a:xfrm>
              <a:off x="2750930" y="3140627"/>
              <a:ext cx="6815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payload</a:t>
              </a:r>
              <a:endParaRPr i="1" sz="11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1" name="Google Shape;2091;p76"/>
            <p:cNvCxnSpPr/>
            <p:nvPr/>
          </p:nvCxnSpPr>
          <p:spPr>
            <a:xfrm>
              <a:off x="2474705" y="3196425"/>
              <a:ext cx="0" cy="166838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2" name="Google Shape;2092;p76"/>
            <p:cNvCxnSpPr/>
            <p:nvPr/>
          </p:nvCxnSpPr>
          <p:spPr>
            <a:xfrm>
              <a:off x="2525505" y="3199637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3" name="Google Shape;2093;p76"/>
            <p:cNvCxnSpPr/>
            <p:nvPr/>
          </p:nvCxnSpPr>
          <p:spPr>
            <a:xfrm>
              <a:off x="2616945" y="3194825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4" name="Google Shape;2094;p76"/>
            <p:cNvCxnSpPr/>
            <p:nvPr/>
          </p:nvCxnSpPr>
          <p:spPr>
            <a:xfrm>
              <a:off x="2660259" y="3196429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95" name="Google Shape;2095;p76"/>
          <p:cNvGrpSpPr/>
          <p:nvPr/>
        </p:nvGrpSpPr>
        <p:grpSpPr>
          <a:xfrm>
            <a:off x="7542671" y="3101525"/>
            <a:ext cx="1106157" cy="224519"/>
            <a:chOff x="2044062" y="3084919"/>
            <a:chExt cx="1106157" cy="224519"/>
          </a:xfrm>
        </p:grpSpPr>
        <p:sp>
          <p:nvSpPr>
            <p:cNvPr id="2096" name="Google Shape;2096;p76"/>
            <p:cNvSpPr/>
            <p:nvPr/>
          </p:nvSpPr>
          <p:spPr>
            <a:xfrm>
              <a:off x="2044062" y="3092450"/>
              <a:ext cx="1106157" cy="215900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2745"/>
              </a:schemeClr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7" name="Google Shape;2097;p76"/>
            <p:cNvCxnSpPr/>
            <p:nvPr/>
          </p:nvCxnSpPr>
          <p:spPr>
            <a:xfrm flipH="1">
              <a:off x="209867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8" name="Google Shape;2098;p76"/>
            <p:cNvCxnSpPr/>
            <p:nvPr/>
          </p:nvCxnSpPr>
          <p:spPr>
            <a:xfrm flipH="1">
              <a:off x="21907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9" name="Google Shape;2099;p76"/>
            <p:cNvCxnSpPr/>
            <p:nvPr/>
          </p:nvCxnSpPr>
          <p:spPr>
            <a:xfrm flipH="1">
              <a:off x="22828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0" name="Google Shape;2100;p76"/>
            <p:cNvCxnSpPr/>
            <p:nvPr/>
          </p:nvCxnSpPr>
          <p:spPr>
            <a:xfrm flipH="1">
              <a:off x="237490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1" name="Google Shape;2101;p76"/>
            <p:cNvCxnSpPr/>
            <p:nvPr/>
          </p:nvCxnSpPr>
          <p:spPr>
            <a:xfrm flipH="1">
              <a:off x="2466975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2" name="Google Shape;2102;p76"/>
            <p:cNvCxnSpPr/>
            <p:nvPr/>
          </p:nvCxnSpPr>
          <p:spPr>
            <a:xfrm flipH="1">
              <a:off x="25590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3" name="Google Shape;2103;p76"/>
            <p:cNvCxnSpPr/>
            <p:nvPr/>
          </p:nvCxnSpPr>
          <p:spPr>
            <a:xfrm flipH="1">
              <a:off x="26511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4" name="Google Shape;2104;p76"/>
            <p:cNvCxnSpPr/>
            <p:nvPr/>
          </p:nvCxnSpPr>
          <p:spPr>
            <a:xfrm flipH="1">
              <a:off x="273685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5" name="Google Shape;2105;p76"/>
            <p:cNvCxnSpPr/>
            <p:nvPr/>
          </p:nvCxnSpPr>
          <p:spPr>
            <a:xfrm flipH="1">
              <a:off x="2814139" y="308492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6" name="Google Shape;2106;p76"/>
            <p:cNvCxnSpPr/>
            <p:nvPr/>
          </p:nvCxnSpPr>
          <p:spPr>
            <a:xfrm flipH="1">
              <a:off x="2891428" y="3090363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7" name="Google Shape;2107;p76"/>
            <p:cNvCxnSpPr/>
            <p:nvPr/>
          </p:nvCxnSpPr>
          <p:spPr>
            <a:xfrm flipH="1">
              <a:off x="2968717" y="3089274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8" name="Google Shape;2108;p76"/>
            <p:cNvCxnSpPr/>
            <p:nvPr/>
          </p:nvCxnSpPr>
          <p:spPr>
            <a:xfrm flipH="1">
              <a:off x="3046006" y="3084919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77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Two IPsec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6" name="Google Shape;2116;p77"/>
          <p:cNvSpPr txBox="1"/>
          <p:nvPr>
            <p:ph idx="1" type="body"/>
          </p:nvPr>
        </p:nvSpPr>
        <p:spPr>
          <a:xfrm>
            <a:off x="944217" y="1409700"/>
            <a:ext cx="1151282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Authentication Header (AH) protocol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[RFC 4302]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provides source authentication &amp; data integrity but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confidentiality</a:t>
            </a:r>
            <a:endParaRPr i="1" sz="2800"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Encapsulation Security Protocol (ESP)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[RFC 4303]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provides source authentication, data integrity,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and confidentiality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more widely used than AH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2" name="Google Shape;2122;p78"/>
          <p:cNvGrpSpPr/>
          <p:nvPr/>
        </p:nvGrpSpPr>
        <p:grpSpPr>
          <a:xfrm>
            <a:off x="4412974" y="4461518"/>
            <a:ext cx="2075622" cy="462165"/>
            <a:chOff x="5075582" y="4872335"/>
            <a:chExt cx="2075622" cy="462165"/>
          </a:xfrm>
        </p:grpSpPr>
        <p:grpSp>
          <p:nvGrpSpPr>
            <p:cNvPr id="2123" name="Google Shape;2123;p78"/>
            <p:cNvGrpSpPr/>
            <p:nvPr/>
          </p:nvGrpSpPr>
          <p:grpSpPr>
            <a:xfrm>
              <a:off x="5075582" y="4896928"/>
              <a:ext cx="2075622" cy="437572"/>
              <a:chOff x="5049078" y="4896928"/>
              <a:chExt cx="2075622" cy="437572"/>
            </a:xfrm>
          </p:grpSpPr>
          <p:cxnSp>
            <p:nvCxnSpPr>
              <p:cNvPr id="2124" name="Google Shape;2124;p78"/>
              <p:cNvCxnSpPr/>
              <p:nvPr/>
            </p:nvCxnSpPr>
            <p:spPr>
              <a:xfrm>
                <a:off x="5049078" y="4896928"/>
                <a:ext cx="0" cy="43732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5" name="Google Shape;2125;p78"/>
              <p:cNvCxnSpPr/>
              <p:nvPr/>
            </p:nvCxnSpPr>
            <p:spPr>
              <a:xfrm>
                <a:off x="7124700" y="4897178"/>
                <a:ext cx="0" cy="43732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6" name="Google Shape;2126;p78"/>
              <p:cNvCxnSpPr/>
              <p:nvPr/>
            </p:nvCxnSpPr>
            <p:spPr>
              <a:xfrm>
                <a:off x="5049078" y="5088835"/>
                <a:ext cx="2075622" cy="0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2127" name="Google Shape;2127;p78"/>
            <p:cNvSpPr txBox="1"/>
            <p:nvPr/>
          </p:nvSpPr>
          <p:spPr>
            <a:xfrm>
              <a:off x="5844208" y="4872335"/>
              <a:ext cx="501419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SA</a:t>
              </a:r>
              <a:endParaRPr/>
            </a:p>
          </p:txBody>
        </p:sp>
      </p:grpSp>
      <p:sp>
        <p:nvSpPr>
          <p:cNvPr id="2128" name="Google Shape;2128;p78"/>
          <p:cNvSpPr/>
          <p:nvPr/>
        </p:nvSpPr>
        <p:spPr>
          <a:xfrm flipH="1">
            <a:off x="6417911" y="3939027"/>
            <a:ext cx="2272749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129" name="Google Shape;2129;p78"/>
          <p:cNvSpPr/>
          <p:nvPr/>
        </p:nvSpPr>
        <p:spPr>
          <a:xfrm>
            <a:off x="2199862" y="3869635"/>
            <a:ext cx="2202205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130" name="Google Shape;2130;p78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Security associations (SAs)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2" name="Google Shape;2132;p78"/>
          <p:cNvSpPr txBox="1"/>
          <p:nvPr>
            <p:ph idx="1" type="body"/>
          </p:nvPr>
        </p:nvSpPr>
        <p:spPr>
          <a:xfrm>
            <a:off x="957469" y="1277178"/>
            <a:ext cx="1057192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before sending data, </a:t>
            </a:r>
            <a:r>
              <a:rPr lang="en-US">
                <a:solidFill>
                  <a:srgbClr val="C00000"/>
                </a:solidFill>
              </a:rPr>
              <a:t>security association (SA) </a:t>
            </a:r>
            <a:r>
              <a:rPr lang="en-US"/>
              <a:t>established from sending to receiving entity  (directional)</a:t>
            </a:r>
            <a:endParaRPr sz="3200"/>
          </a:p>
          <a:p>
            <a:pPr indent="-287338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ending, receiving entitles maintain </a:t>
            </a:r>
            <a:r>
              <a:rPr i="1" lang="en-US"/>
              <a:t>state information</a:t>
            </a:r>
            <a:r>
              <a:rPr lang="en-US"/>
              <a:t> about SA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recall: TCP endpoints also maintain state info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IP is connectionless; IPsec is connection-oriented!</a:t>
            </a:r>
            <a:endParaRPr/>
          </a:p>
        </p:txBody>
      </p:sp>
      <p:sp>
        <p:nvSpPr>
          <p:cNvPr id="2133" name="Google Shape;2133;p78"/>
          <p:cNvSpPr/>
          <p:nvPr/>
        </p:nvSpPr>
        <p:spPr>
          <a:xfrm rot="5400000">
            <a:off x="5175294" y="3311699"/>
            <a:ext cx="506067" cy="1966498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4" name="Google Shape;2134;p78"/>
          <p:cNvGrpSpPr/>
          <p:nvPr/>
        </p:nvGrpSpPr>
        <p:grpSpPr>
          <a:xfrm>
            <a:off x="3891171" y="4067354"/>
            <a:ext cx="606136" cy="332367"/>
            <a:chOff x="7493876" y="2774731"/>
            <a:chExt cx="1481958" cy="894622"/>
          </a:xfrm>
        </p:grpSpPr>
        <p:sp>
          <p:nvSpPr>
            <p:cNvPr id="2135" name="Google Shape;2135;p7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36" name="Google Shape;2136;p7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37" name="Google Shape;2137;p7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38" name="Google Shape;2138;p7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9" name="Google Shape;2139;p7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0" name="Google Shape;2140;p7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7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42" name="Google Shape;2142;p78"/>
          <p:cNvGrpSpPr/>
          <p:nvPr/>
        </p:nvGrpSpPr>
        <p:grpSpPr>
          <a:xfrm>
            <a:off x="2153481" y="3763618"/>
            <a:ext cx="720837" cy="645768"/>
            <a:chOff x="-44" y="1473"/>
            <a:chExt cx="981" cy="1105"/>
          </a:xfrm>
        </p:grpSpPr>
        <p:pic>
          <p:nvPicPr>
            <p:cNvPr descr="desktop_computer_stylized_medium" id="2143" name="Google Shape;2143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4" name="Google Shape;2144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5" name="Google Shape;2145;p78"/>
          <p:cNvGrpSpPr/>
          <p:nvPr/>
        </p:nvGrpSpPr>
        <p:grpSpPr>
          <a:xfrm flipH="1">
            <a:off x="6411723" y="4079806"/>
            <a:ext cx="606136" cy="332367"/>
            <a:chOff x="7493876" y="2774731"/>
            <a:chExt cx="1481958" cy="894622"/>
          </a:xfrm>
        </p:grpSpPr>
        <p:sp>
          <p:nvSpPr>
            <p:cNvPr id="2146" name="Google Shape;2146;p7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47" name="Google Shape;2147;p7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48" name="Google Shape;2148;p7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9" name="Google Shape;2149;p7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150;p7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1" name="Google Shape;2151;p7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7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3" name="Google Shape;2153;p78"/>
          <p:cNvGrpSpPr/>
          <p:nvPr/>
        </p:nvGrpSpPr>
        <p:grpSpPr>
          <a:xfrm flipH="1">
            <a:off x="7864763" y="3902767"/>
            <a:ext cx="720837" cy="645768"/>
            <a:chOff x="-44" y="1473"/>
            <a:chExt cx="981" cy="1105"/>
          </a:xfrm>
        </p:grpSpPr>
        <p:pic>
          <p:nvPicPr>
            <p:cNvPr descr="desktop_computer_stylized_medium" id="2154" name="Google Shape;2154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5" name="Google Shape;2155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6" name="Google Shape;2156;p78"/>
          <p:cNvGrpSpPr/>
          <p:nvPr/>
        </p:nvGrpSpPr>
        <p:grpSpPr>
          <a:xfrm>
            <a:off x="4611757" y="4151258"/>
            <a:ext cx="1653170" cy="214830"/>
            <a:chOff x="1616358" y="2551230"/>
            <a:chExt cx="2134354" cy="218510"/>
          </a:xfrm>
        </p:grpSpPr>
        <p:sp>
          <p:nvSpPr>
            <p:cNvPr id="2157" name="Google Shape;2157;p78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8" name="Google Shape;2158;p78"/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78"/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>
              <a:gsLst>
                <a:gs pos="0">
                  <a:srgbClr val="0012A0"/>
                </a:gs>
                <a:gs pos="29000">
                  <a:srgbClr val="6EBFF0"/>
                </a:gs>
                <a:gs pos="69000">
                  <a:srgbClr val="66ACD3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78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61" name="Google Shape;2161;p78"/>
          <p:cNvCxnSpPr/>
          <p:nvPr/>
        </p:nvCxnSpPr>
        <p:spPr>
          <a:xfrm>
            <a:off x="4495545" y="4251618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2" name="Google Shape;2162;p78"/>
          <p:cNvCxnSpPr/>
          <p:nvPr/>
        </p:nvCxnSpPr>
        <p:spPr>
          <a:xfrm>
            <a:off x="6259031" y="4266690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3" name="Google Shape;2163;p78"/>
          <p:cNvSpPr txBox="1"/>
          <p:nvPr/>
        </p:nvSpPr>
        <p:spPr>
          <a:xfrm>
            <a:off x="6134349" y="3729810"/>
            <a:ext cx="10502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193.68.2.23</a:t>
            </a:r>
            <a:endParaRPr/>
          </a:p>
        </p:txBody>
      </p:sp>
      <p:sp>
        <p:nvSpPr>
          <p:cNvPr id="2164" name="Google Shape;2164;p78"/>
          <p:cNvSpPr txBox="1"/>
          <p:nvPr/>
        </p:nvSpPr>
        <p:spPr>
          <a:xfrm>
            <a:off x="3626745" y="3727970"/>
            <a:ext cx="12330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200.168.1.100</a:t>
            </a:r>
            <a:endParaRPr/>
          </a:p>
        </p:txBody>
      </p:sp>
      <p:cxnSp>
        <p:nvCxnSpPr>
          <p:cNvPr id="2165" name="Google Shape;2165;p78"/>
          <p:cNvCxnSpPr/>
          <p:nvPr/>
        </p:nvCxnSpPr>
        <p:spPr>
          <a:xfrm rot="10800000">
            <a:off x="6370204" y="4003180"/>
            <a:ext cx="0" cy="2151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6" name="Google Shape;2166;p78"/>
          <p:cNvCxnSpPr/>
          <p:nvPr/>
        </p:nvCxnSpPr>
        <p:spPr>
          <a:xfrm rot="10800000">
            <a:off x="4522354" y="3997577"/>
            <a:ext cx="0" cy="2151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167" name="Google Shape;2167;p78"/>
          <p:cNvGrpSpPr/>
          <p:nvPr/>
        </p:nvGrpSpPr>
        <p:grpSpPr>
          <a:xfrm>
            <a:off x="1109249" y="4672427"/>
            <a:ext cx="9147934" cy="1993417"/>
            <a:chOff x="1109249" y="4672427"/>
            <a:chExt cx="9147934" cy="1993417"/>
          </a:xfrm>
        </p:grpSpPr>
        <p:sp>
          <p:nvSpPr>
            <p:cNvPr id="2168" name="Google Shape;2168;p78"/>
            <p:cNvSpPr txBox="1"/>
            <p:nvPr/>
          </p:nvSpPr>
          <p:spPr>
            <a:xfrm>
              <a:off x="1109249" y="4672427"/>
              <a:ext cx="8161337" cy="1953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R1 stores for SA: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32-bit identifier: </a:t>
              </a:r>
              <a:r>
                <a:rPr i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 Parameter Index (SPI)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origin SA interface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(200.168.1.100)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destination SA interface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(193.68.2.23)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type of encryption used</a:t>
              </a:r>
              <a:endParaRPr/>
            </a:p>
          </p:txBody>
        </p:sp>
        <p:sp>
          <p:nvSpPr>
            <p:cNvPr id="2169" name="Google Shape;2169;p78"/>
            <p:cNvSpPr txBox="1"/>
            <p:nvPr/>
          </p:nvSpPr>
          <p:spPr>
            <a:xfrm>
              <a:off x="6045685" y="5487436"/>
              <a:ext cx="4211498" cy="11784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encryption key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type of integrity check used 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key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4" name="Shape 2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5" name="Google Shape;2175;p79"/>
          <p:cNvSpPr/>
          <p:nvPr/>
        </p:nvSpPr>
        <p:spPr>
          <a:xfrm>
            <a:off x="3286107" y="3295753"/>
            <a:ext cx="1376764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6" name="Google Shape;2176;p79"/>
          <p:cNvSpPr/>
          <p:nvPr/>
        </p:nvSpPr>
        <p:spPr>
          <a:xfrm>
            <a:off x="6656987" y="3290586"/>
            <a:ext cx="2298915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79"/>
          <p:cNvSpPr/>
          <p:nvPr/>
        </p:nvSpPr>
        <p:spPr>
          <a:xfrm>
            <a:off x="2464696" y="2177291"/>
            <a:ext cx="6455044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79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IPsec datagram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0" name="Google Shape;2180;p79"/>
          <p:cNvSpPr/>
          <p:nvPr/>
        </p:nvSpPr>
        <p:spPr>
          <a:xfrm>
            <a:off x="2466181" y="2174539"/>
            <a:ext cx="1128712" cy="60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IP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2181" name="Google Shape;2181;p79"/>
          <p:cNvSpPr/>
          <p:nvPr/>
        </p:nvSpPr>
        <p:spPr>
          <a:xfrm>
            <a:off x="3594893" y="2174539"/>
            <a:ext cx="700087" cy="609600"/>
          </a:xfrm>
          <a:prstGeom prst="rect">
            <a:avLst/>
          </a:prstGeom>
          <a:solidFill>
            <a:srgbClr val="FF99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2182" name="Google Shape;2182;p79"/>
          <p:cNvSpPr/>
          <p:nvPr/>
        </p:nvSpPr>
        <p:spPr>
          <a:xfrm>
            <a:off x="4294981" y="2174539"/>
            <a:ext cx="976312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hdr</a:t>
            </a:r>
            <a:endParaRPr/>
          </a:p>
        </p:txBody>
      </p:sp>
      <p:sp>
        <p:nvSpPr>
          <p:cNvPr id="2183" name="Google Shape;2183;p79"/>
          <p:cNvSpPr/>
          <p:nvPr/>
        </p:nvSpPr>
        <p:spPr>
          <a:xfrm>
            <a:off x="5271293" y="2174539"/>
            <a:ext cx="2224087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IP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datagram payload</a:t>
            </a:r>
            <a:endParaRPr/>
          </a:p>
        </p:txBody>
      </p:sp>
      <p:sp>
        <p:nvSpPr>
          <p:cNvPr id="2184" name="Google Shape;2184;p79"/>
          <p:cNvSpPr/>
          <p:nvPr/>
        </p:nvSpPr>
        <p:spPr>
          <a:xfrm>
            <a:off x="7495381" y="2166239"/>
            <a:ext cx="700087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trailer</a:t>
            </a:r>
            <a:endParaRPr/>
          </a:p>
        </p:txBody>
      </p:sp>
      <p:sp>
        <p:nvSpPr>
          <p:cNvPr id="2185" name="Google Shape;2185;p79"/>
          <p:cNvSpPr/>
          <p:nvPr/>
        </p:nvSpPr>
        <p:spPr>
          <a:xfrm>
            <a:off x="8201818" y="2166239"/>
            <a:ext cx="700087" cy="609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/>
          </a:p>
        </p:txBody>
      </p:sp>
      <p:grpSp>
        <p:nvGrpSpPr>
          <p:cNvPr id="2186" name="Google Shape;2186;p79"/>
          <p:cNvGrpSpPr/>
          <p:nvPr/>
        </p:nvGrpSpPr>
        <p:grpSpPr>
          <a:xfrm>
            <a:off x="6669881" y="3282614"/>
            <a:ext cx="2281237" cy="609600"/>
            <a:chOff x="3346" y="2367"/>
            <a:chExt cx="1437" cy="384"/>
          </a:xfrm>
        </p:grpSpPr>
        <p:sp>
          <p:nvSpPr>
            <p:cNvPr id="2187" name="Google Shape;2187;p79"/>
            <p:cNvSpPr/>
            <p:nvPr/>
          </p:nvSpPr>
          <p:spPr>
            <a:xfrm>
              <a:off x="3346" y="2367"/>
              <a:ext cx="529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padding</a:t>
              </a:r>
              <a:endParaRPr/>
            </a:p>
          </p:txBody>
        </p:sp>
        <p:sp>
          <p:nvSpPr>
            <p:cNvPr id="2188" name="Google Shape;2188;p79"/>
            <p:cNvSpPr/>
            <p:nvPr/>
          </p:nvSpPr>
          <p:spPr>
            <a:xfrm>
              <a:off x="3878" y="2367"/>
              <a:ext cx="468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pad</a:t>
              </a:r>
              <a:b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length</a:t>
              </a:r>
              <a:endParaRPr/>
            </a:p>
          </p:txBody>
        </p:sp>
        <p:sp>
          <p:nvSpPr>
            <p:cNvPr id="2189" name="Google Shape;2189;p79"/>
            <p:cNvSpPr/>
            <p:nvPr/>
          </p:nvSpPr>
          <p:spPr>
            <a:xfrm>
              <a:off x="4341" y="2367"/>
              <a:ext cx="442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b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</a:t>
              </a:r>
              <a:endParaRPr/>
            </a:p>
          </p:txBody>
        </p:sp>
      </p:grpSp>
      <p:cxnSp>
        <p:nvCxnSpPr>
          <p:cNvPr id="2190" name="Google Shape;2190;p79"/>
          <p:cNvCxnSpPr/>
          <p:nvPr/>
        </p:nvCxnSpPr>
        <p:spPr>
          <a:xfrm flipH="1" rot="10800000">
            <a:off x="6692106" y="2836527"/>
            <a:ext cx="803275" cy="3746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1" name="Google Shape;2191;p79"/>
          <p:cNvCxnSpPr/>
          <p:nvPr/>
        </p:nvCxnSpPr>
        <p:spPr>
          <a:xfrm rot="10800000">
            <a:off x="8189118" y="2822239"/>
            <a:ext cx="747712" cy="4032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92" name="Google Shape;2192;p79"/>
          <p:cNvGrpSpPr/>
          <p:nvPr/>
        </p:nvGrpSpPr>
        <p:grpSpPr>
          <a:xfrm>
            <a:off x="3275806" y="3285789"/>
            <a:ext cx="1392237" cy="625475"/>
            <a:chOff x="1409" y="2193"/>
            <a:chExt cx="877" cy="386"/>
          </a:xfrm>
        </p:grpSpPr>
        <p:sp>
          <p:nvSpPr>
            <p:cNvPr id="2193" name="Google Shape;2193;p79"/>
            <p:cNvSpPr/>
            <p:nvPr/>
          </p:nvSpPr>
          <p:spPr>
            <a:xfrm>
              <a:off x="1409" y="2193"/>
              <a:ext cx="441" cy="384"/>
            </a:xfrm>
            <a:prstGeom prst="rect">
              <a:avLst/>
            </a:prstGeom>
            <a:solidFill>
              <a:srgbClr val="FF99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SPI</a:t>
              </a:r>
              <a:endParaRPr/>
            </a:p>
          </p:txBody>
        </p:sp>
        <p:sp>
          <p:nvSpPr>
            <p:cNvPr id="2194" name="Google Shape;2194;p79"/>
            <p:cNvSpPr/>
            <p:nvPr/>
          </p:nvSpPr>
          <p:spPr>
            <a:xfrm>
              <a:off x="1845" y="2195"/>
              <a:ext cx="441" cy="384"/>
            </a:xfrm>
            <a:prstGeom prst="rect">
              <a:avLst/>
            </a:prstGeom>
            <a:solidFill>
              <a:srgbClr val="FF99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/>
            </a:p>
          </p:txBody>
        </p:sp>
      </p:grpSp>
      <p:cxnSp>
        <p:nvCxnSpPr>
          <p:cNvPr id="2195" name="Google Shape;2195;p79"/>
          <p:cNvCxnSpPr/>
          <p:nvPr/>
        </p:nvCxnSpPr>
        <p:spPr>
          <a:xfrm flipH="1" rot="10800000">
            <a:off x="3269456" y="2823827"/>
            <a:ext cx="319087" cy="427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6" name="Google Shape;2196;p79"/>
          <p:cNvCxnSpPr/>
          <p:nvPr/>
        </p:nvCxnSpPr>
        <p:spPr>
          <a:xfrm>
            <a:off x="4294981" y="2865102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7" name="Google Shape;2197;p79"/>
          <p:cNvCxnSpPr/>
          <p:nvPr/>
        </p:nvCxnSpPr>
        <p:spPr>
          <a:xfrm>
            <a:off x="4280693" y="2823827"/>
            <a:ext cx="360362" cy="4143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8" name="Google Shape;2198;p79"/>
          <p:cNvCxnSpPr/>
          <p:nvPr/>
        </p:nvCxnSpPr>
        <p:spPr>
          <a:xfrm>
            <a:off x="4283533" y="1959429"/>
            <a:ext cx="394498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199" name="Google Shape;2199;p79"/>
          <p:cNvSpPr txBox="1"/>
          <p:nvPr/>
        </p:nvSpPr>
        <p:spPr>
          <a:xfrm>
            <a:off x="5609844" y="1775579"/>
            <a:ext cx="1140056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encrypted</a:t>
            </a:r>
            <a:endParaRPr/>
          </a:p>
        </p:txBody>
      </p:sp>
      <p:cxnSp>
        <p:nvCxnSpPr>
          <p:cNvPr id="2200" name="Google Shape;2200;p79"/>
          <p:cNvCxnSpPr/>
          <p:nvPr/>
        </p:nvCxnSpPr>
        <p:spPr>
          <a:xfrm>
            <a:off x="3586848" y="1693817"/>
            <a:ext cx="530787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201" name="Google Shape;2201;p79"/>
          <p:cNvSpPr txBox="1"/>
          <p:nvPr/>
        </p:nvSpPr>
        <p:spPr>
          <a:xfrm>
            <a:off x="4270810" y="1503708"/>
            <a:ext cx="150554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authenticated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2" name="Google Shape;2202;p79"/>
          <p:cNvSpPr txBox="1"/>
          <p:nvPr/>
        </p:nvSpPr>
        <p:spPr>
          <a:xfrm>
            <a:off x="2221640" y="4220754"/>
            <a:ext cx="10475458" cy="236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trailer: padding for block ciphers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header: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SPI, so receiving entity knows what to do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number, to thwart replay attacks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in ESP auth field created with shared secret key</a:t>
            </a:r>
            <a:endParaRPr/>
          </a:p>
        </p:txBody>
      </p:sp>
      <p:sp>
        <p:nvSpPr>
          <p:cNvPr id="2203" name="Google Shape;2203;p79"/>
          <p:cNvSpPr txBox="1"/>
          <p:nvPr/>
        </p:nvSpPr>
        <p:spPr>
          <a:xfrm>
            <a:off x="9481978" y="2534194"/>
            <a:ext cx="201689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tunnel mode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ESP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80"/>
          <p:cNvSpPr/>
          <p:nvPr/>
        </p:nvSpPr>
        <p:spPr>
          <a:xfrm flipH="1">
            <a:off x="10431271" y="1866576"/>
            <a:ext cx="1445739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210" name="Google Shape;2210;p80"/>
          <p:cNvSpPr/>
          <p:nvPr/>
        </p:nvSpPr>
        <p:spPr>
          <a:xfrm>
            <a:off x="7119480" y="1797184"/>
            <a:ext cx="1295948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211" name="Google Shape;2211;p80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ESP tunnel mode: actions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2" name="Google Shape;2212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3" name="Google Shape;2213;p80"/>
          <p:cNvSpPr/>
          <p:nvPr/>
        </p:nvSpPr>
        <p:spPr>
          <a:xfrm rot="5400000">
            <a:off x="9188655" y="1239248"/>
            <a:ext cx="506067" cy="1966498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4" name="Google Shape;2214;p80"/>
          <p:cNvGrpSpPr/>
          <p:nvPr/>
        </p:nvGrpSpPr>
        <p:grpSpPr>
          <a:xfrm>
            <a:off x="7705752" y="1994903"/>
            <a:ext cx="606136" cy="332367"/>
            <a:chOff x="7493876" y="2774731"/>
            <a:chExt cx="1481958" cy="894622"/>
          </a:xfrm>
        </p:grpSpPr>
        <p:sp>
          <p:nvSpPr>
            <p:cNvPr id="2215" name="Google Shape;2215;p8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16" name="Google Shape;2216;p8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17" name="Google Shape;2217;p8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18" name="Google Shape;2218;p8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9" name="Google Shape;2219;p8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0" name="Google Shape;2220;p8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8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22" name="Google Shape;2222;p80"/>
          <p:cNvGrpSpPr/>
          <p:nvPr/>
        </p:nvGrpSpPr>
        <p:grpSpPr>
          <a:xfrm>
            <a:off x="6975223" y="1412870"/>
            <a:ext cx="720837" cy="645768"/>
            <a:chOff x="-44" y="1473"/>
            <a:chExt cx="981" cy="1105"/>
          </a:xfrm>
        </p:grpSpPr>
        <p:pic>
          <p:nvPicPr>
            <p:cNvPr descr="desktop_computer_stylized_medium" id="2223" name="Google Shape;2223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4" name="Google Shape;2224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5" name="Google Shape;2225;p80"/>
          <p:cNvGrpSpPr/>
          <p:nvPr/>
        </p:nvGrpSpPr>
        <p:grpSpPr>
          <a:xfrm flipH="1">
            <a:off x="10425084" y="2007355"/>
            <a:ext cx="606136" cy="332367"/>
            <a:chOff x="7493876" y="2774731"/>
            <a:chExt cx="1481958" cy="894622"/>
          </a:xfrm>
        </p:grpSpPr>
        <p:sp>
          <p:nvSpPr>
            <p:cNvPr id="2226" name="Google Shape;2226;p8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27" name="Google Shape;2227;p8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28" name="Google Shape;2228;p8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9" name="Google Shape;2229;p8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0" name="Google Shape;2230;p8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1" name="Google Shape;2231;p8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8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3" name="Google Shape;2233;p80"/>
          <p:cNvGrpSpPr/>
          <p:nvPr/>
        </p:nvGrpSpPr>
        <p:grpSpPr>
          <a:xfrm flipH="1">
            <a:off x="11471163" y="1737550"/>
            <a:ext cx="720837" cy="645768"/>
            <a:chOff x="-44" y="1473"/>
            <a:chExt cx="981" cy="1105"/>
          </a:xfrm>
        </p:grpSpPr>
        <p:pic>
          <p:nvPicPr>
            <p:cNvPr descr="desktop_computer_stylized_medium" id="2234" name="Google Shape;2234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5" name="Google Shape;2235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6" name="Google Shape;2236;p80"/>
          <p:cNvGrpSpPr/>
          <p:nvPr/>
        </p:nvGrpSpPr>
        <p:grpSpPr>
          <a:xfrm>
            <a:off x="8625118" y="2078807"/>
            <a:ext cx="1653170" cy="214830"/>
            <a:chOff x="1616358" y="2551230"/>
            <a:chExt cx="2134354" cy="218510"/>
          </a:xfrm>
        </p:grpSpPr>
        <p:sp>
          <p:nvSpPr>
            <p:cNvPr id="2237" name="Google Shape;2237;p80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80"/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9" name="Google Shape;2239;p80"/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>
              <a:gsLst>
                <a:gs pos="0">
                  <a:srgbClr val="0012A0"/>
                </a:gs>
                <a:gs pos="29000">
                  <a:srgbClr val="6EBFF0"/>
                </a:gs>
                <a:gs pos="69000">
                  <a:srgbClr val="66ACD3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0" name="Google Shape;2240;p80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41" name="Google Shape;2241;p80"/>
          <p:cNvCxnSpPr/>
          <p:nvPr/>
        </p:nvCxnSpPr>
        <p:spPr>
          <a:xfrm>
            <a:off x="8309113" y="2179167"/>
            <a:ext cx="350519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42" name="Google Shape;2242;p80"/>
          <p:cNvCxnSpPr/>
          <p:nvPr/>
        </p:nvCxnSpPr>
        <p:spPr>
          <a:xfrm>
            <a:off x="10272392" y="2194239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3" name="Google Shape;2243;p80"/>
          <p:cNvSpPr txBox="1"/>
          <p:nvPr/>
        </p:nvSpPr>
        <p:spPr>
          <a:xfrm>
            <a:off x="751440" y="1346132"/>
            <a:ext cx="1315899" cy="4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at R1:</a:t>
            </a:r>
            <a:endParaRPr/>
          </a:p>
        </p:txBody>
      </p:sp>
      <p:sp>
        <p:nvSpPr>
          <p:cNvPr id="2244" name="Google Shape;2244;p80"/>
          <p:cNvSpPr txBox="1"/>
          <p:nvPr/>
        </p:nvSpPr>
        <p:spPr>
          <a:xfrm>
            <a:off x="957470" y="1815547"/>
            <a:ext cx="5628860" cy="462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ESP trailer to original datagram (which includes original header fields!)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encrypts result using algorithm &amp; key specified by SA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ESP header to front of this encrypted quantity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authentication MAC using algorithm and key specified in SA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MAC forming 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new IP header, new IP header fields, addresses to tunnel endpoint</a:t>
            </a:r>
            <a:endParaRPr sz="2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245" name="Google Shape;2245;p80"/>
          <p:cNvGrpSpPr/>
          <p:nvPr/>
        </p:nvGrpSpPr>
        <p:grpSpPr>
          <a:xfrm>
            <a:off x="7182680" y="1021603"/>
            <a:ext cx="1744188" cy="288737"/>
            <a:chOff x="1596889" y="3055814"/>
            <a:chExt cx="1744188" cy="288737"/>
          </a:xfrm>
        </p:grpSpPr>
        <p:grpSp>
          <p:nvGrpSpPr>
            <p:cNvPr id="2246" name="Google Shape;2246;p80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247" name="Google Shape;2247;p80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8" name="Google Shape;2248;p80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9" name="Google Shape;2249;p80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50" name="Google Shape;2250;p80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1" name="Google Shape;2251;p80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2" name="Google Shape;2252;p80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3" name="Google Shape;2253;p80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254" name="Google Shape;2254;p80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5" name="Google Shape;2255;p80"/>
          <p:cNvGrpSpPr/>
          <p:nvPr/>
        </p:nvGrpSpPr>
        <p:grpSpPr>
          <a:xfrm>
            <a:off x="7810500" y="2415622"/>
            <a:ext cx="2071981" cy="365894"/>
            <a:chOff x="8266244" y="1514475"/>
            <a:chExt cx="2071981" cy="365894"/>
          </a:xfrm>
        </p:grpSpPr>
        <p:sp>
          <p:nvSpPr>
            <p:cNvPr id="2256" name="Google Shape;2256;p80"/>
            <p:cNvSpPr/>
            <p:nvPr/>
          </p:nvSpPr>
          <p:spPr>
            <a:xfrm>
              <a:off x="9724717" y="1584820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57" name="Google Shape;2257;p80"/>
            <p:cNvGrpSpPr/>
            <p:nvPr/>
          </p:nvGrpSpPr>
          <p:grpSpPr>
            <a:xfrm>
              <a:off x="8266244" y="1514475"/>
              <a:ext cx="1430955" cy="365894"/>
              <a:chOff x="7219875" y="3091894"/>
              <a:chExt cx="1430955" cy="271200"/>
            </a:xfrm>
          </p:grpSpPr>
          <p:sp>
            <p:nvSpPr>
              <p:cNvPr id="2258" name="Google Shape;2258;p80"/>
              <p:cNvSpPr/>
              <p:nvPr/>
            </p:nvSpPr>
            <p:spPr>
              <a:xfrm>
                <a:off x="7219875" y="3096088"/>
                <a:ext cx="1430955" cy="253465"/>
              </a:xfrm>
              <a:prstGeom prst="rect">
                <a:avLst/>
              </a:pr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59" name="Google Shape;2259;p80"/>
              <p:cNvCxnSpPr/>
              <p:nvPr/>
            </p:nvCxnSpPr>
            <p:spPr>
              <a:xfrm>
                <a:off x="7498944" y="30918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0" name="Google Shape;2260;p80"/>
              <p:cNvCxnSpPr/>
              <p:nvPr/>
            </p:nvCxnSpPr>
            <p:spPr>
              <a:xfrm>
                <a:off x="7273344" y="30966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1" name="Google Shape;2261;p80"/>
              <p:cNvCxnSpPr/>
              <p:nvPr/>
            </p:nvCxnSpPr>
            <p:spPr>
              <a:xfrm>
                <a:off x="7321344" y="30942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2" name="Google Shape;2262;p80"/>
              <p:cNvCxnSpPr/>
              <p:nvPr/>
            </p:nvCxnSpPr>
            <p:spPr>
              <a:xfrm>
                <a:off x="7423344" y="30918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63" name="Google Shape;2263;p80"/>
            <p:cNvGrpSpPr/>
            <p:nvPr/>
          </p:nvGrpSpPr>
          <p:grpSpPr>
            <a:xfrm>
              <a:off x="8597709" y="1560742"/>
              <a:ext cx="1060174" cy="276999"/>
              <a:chOff x="2418521" y="3140627"/>
              <a:chExt cx="1060174" cy="276999"/>
            </a:xfrm>
          </p:grpSpPr>
          <p:sp>
            <p:nvSpPr>
              <p:cNvPr id="2264" name="Google Shape;2264;p80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5" name="Google Shape;2265;p80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6" name="Google Shape;2266;p80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67" name="Google Shape;2267;p80"/>
              <p:cNvCxnSpPr/>
              <p:nvPr/>
            </p:nvCxnSpPr>
            <p:spPr>
              <a:xfrm>
                <a:off x="2474705" y="3196425"/>
                <a:ext cx="0" cy="16683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8" name="Google Shape;2268;p80"/>
              <p:cNvCxnSpPr/>
              <p:nvPr/>
            </p:nvCxnSpPr>
            <p:spPr>
              <a:xfrm>
                <a:off x="2525505" y="3199637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9" name="Google Shape;2269;p80"/>
              <p:cNvCxnSpPr/>
              <p:nvPr/>
            </p:nvCxnSpPr>
            <p:spPr>
              <a:xfrm>
                <a:off x="2616945" y="3194825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0" name="Google Shape;2270;p80"/>
              <p:cNvCxnSpPr/>
              <p:nvPr/>
            </p:nvCxnSpPr>
            <p:spPr>
              <a:xfrm>
                <a:off x="2660259" y="3196429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71" name="Google Shape;2271;p80"/>
            <p:cNvGrpSpPr/>
            <p:nvPr/>
          </p:nvGrpSpPr>
          <p:grpSpPr>
            <a:xfrm>
              <a:off x="8589592" y="1577525"/>
              <a:ext cx="1106157" cy="224519"/>
              <a:chOff x="2044062" y="3084919"/>
              <a:chExt cx="1106157" cy="224519"/>
            </a:xfrm>
          </p:grpSpPr>
          <p:sp>
            <p:nvSpPr>
              <p:cNvPr id="2272" name="Google Shape;2272;p80"/>
              <p:cNvSpPr/>
              <p:nvPr/>
            </p:nvSpPr>
            <p:spPr>
              <a:xfrm>
                <a:off x="2044062" y="3092450"/>
                <a:ext cx="1106157" cy="215900"/>
              </a:xfrm>
              <a:prstGeom prst="roundRect">
                <a:avLst>
                  <a:gd fmla="val 16667" name="adj"/>
                </a:avLst>
              </a:prstGeom>
              <a:solidFill>
                <a:schemeClr val="lt1">
                  <a:alpha val="82745"/>
                </a:schemeClr>
              </a:solidFill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73" name="Google Shape;2273;p80"/>
              <p:cNvCxnSpPr/>
              <p:nvPr/>
            </p:nvCxnSpPr>
            <p:spPr>
              <a:xfrm flipH="1">
                <a:off x="209867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4" name="Google Shape;2274;p80"/>
              <p:cNvCxnSpPr/>
              <p:nvPr/>
            </p:nvCxnSpPr>
            <p:spPr>
              <a:xfrm flipH="1">
                <a:off x="2190750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5" name="Google Shape;2275;p80"/>
              <p:cNvCxnSpPr/>
              <p:nvPr/>
            </p:nvCxnSpPr>
            <p:spPr>
              <a:xfrm flipH="1">
                <a:off x="228282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6" name="Google Shape;2276;p80"/>
              <p:cNvCxnSpPr/>
              <p:nvPr/>
            </p:nvCxnSpPr>
            <p:spPr>
              <a:xfrm flipH="1">
                <a:off x="2374900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7" name="Google Shape;2277;p80"/>
              <p:cNvCxnSpPr/>
              <p:nvPr/>
            </p:nvCxnSpPr>
            <p:spPr>
              <a:xfrm flipH="1">
                <a:off x="2466975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8" name="Google Shape;2278;p80"/>
              <p:cNvCxnSpPr/>
              <p:nvPr/>
            </p:nvCxnSpPr>
            <p:spPr>
              <a:xfrm flipH="1">
                <a:off x="2559050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9" name="Google Shape;2279;p80"/>
              <p:cNvCxnSpPr/>
              <p:nvPr/>
            </p:nvCxnSpPr>
            <p:spPr>
              <a:xfrm flipH="1">
                <a:off x="265112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0" name="Google Shape;2280;p80"/>
              <p:cNvCxnSpPr/>
              <p:nvPr/>
            </p:nvCxnSpPr>
            <p:spPr>
              <a:xfrm flipH="1">
                <a:off x="2736850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1" name="Google Shape;2281;p80"/>
              <p:cNvCxnSpPr/>
              <p:nvPr/>
            </p:nvCxnSpPr>
            <p:spPr>
              <a:xfrm flipH="1">
                <a:off x="2814139" y="308492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2" name="Google Shape;2282;p80"/>
              <p:cNvCxnSpPr/>
              <p:nvPr/>
            </p:nvCxnSpPr>
            <p:spPr>
              <a:xfrm flipH="1">
                <a:off x="2891428" y="3090363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3" name="Google Shape;2283;p80"/>
              <p:cNvCxnSpPr/>
              <p:nvPr/>
            </p:nvCxnSpPr>
            <p:spPr>
              <a:xfrm flipH="1">
                <a:off x="2968717" y="3089274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4" name="Google Shape;2284;p80"/>
              <p:cNvCxnSpPr/>
              <p:nvPr/>
            </p:nvCxnSpPr>
            <p:spPr>
              <a:xfrm flipH="1">
                <a:off x="3046006" y="3084919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2285" name="Google Shape;2285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3598" y="3140765"/>
            <a:ext cx="4114331" cy="1602697"/>
          </a:xfrm>
          <a:prstGeom prst="rect">
            <a:avLst/>
          </a:prstGeom>
          <a:noFill/>
          <a:ln>
            <a:noFill/>
          </a:ln>
        </p:spPr>
      </p:pic>
      <p:sp>
        <p:nvSpPr>
          <p:cNvPr id="2286" name="Google Shape;2286;p80"/>
          <p:cNvSpPr txBox="1"/>
          <p:nvPr/>
        </p:nvSpPr>
        <p:spPr>
          <a:xfrm>
            <a:off x="7635945" y="1684062"/>
            <a:ext cx="752682" cy="4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81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IPsec sequence numbers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3" name="Google Shape;2293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4" name="Google Shape;2294;p81"/>
          <p:cNvSpPr txBox="1"/>
          <p:nvPr/>
        </p:nvSpPr>
        <p:spPr>
          <a:xfrm>
            <a:off x="929446" y="1302164"/>
            <a:ext cx="1042766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new SA, sender initializes seq. # to 0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time datagram is sent on SA: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increments seq # counter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places value in seq # field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attacker from sniffing and replaying a packet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receipt of duplicate, authenticated IP packets may disrupt service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checks for duplicates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 keep track of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received packets; instead uses a window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82"/>
          <p:cNvSpPr txBox="1"/>
          <p:nvPr>
            <p:ph type="title"/>
          </p:nvPr>
        </p:nvSpPr>
        <p:spPr>
          <a:xfrm>
            <a:off x="970720" y="1472239"/>
            <a:ext cx="622520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None/>
            </a:pPr>
            <a:r>
              <a:rPr b="0" lang="en-US" sz="3200">
                <a:latin typeface="Calibri"/>
                <a:ea typeface="Calibri"/>
                <a:cs typeface="Calibri"/>
                <a:sym typeface="Calibri"/>
              </a:rPr>
              <a:t>Security Policy Database (SPD)</a:t>
            </a:r>
            <a:endParaRPr/>
          </a:p>
        </p:txBody>
      </p:sp>
      <p:sp>
        <p:nvSpPr>
          <p:cNvPr id="2301" name="Google Shape;2301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2" name="Google Shape;2302;p82"/>
          <p:cNvSpPr txBox="1"/>
          <p:nvPr/>
        </p:nvSpPr>
        <p:spPr>
          <a:xfrm>
            <a:off x="864705" y="2554356"/>
            <a:ext cx="5231295" cy="2746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policy: for given datagram, sender needs to know if it should use IP 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stored in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security policy database (SPD)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 to know which SA to use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use: source and destination IP address; protocol number</a:t>
            </a:r>
            <a:endParaRPr/>
          </a:p>
        </p:txBody>
      </p:sp>
      <p:sp>
        <p:nvSpPr>
          <p:cNvPr id="2303" name="Google Shape;2303;p82"/>
          <p:cNvSpPr txBox="1"/>
          <p:nvPr/>
        </p:nvSpPr>
        <p:spPr>
          <a:xfrm>
            <a:off x="6586329" y="1603513"/>
            <a:ext cx="539363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Security Assoc. Database (SAD)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82"/>
          <p:cNvSpPr/>
          <p:nvPr/>
        </p:nvSpPr>
        <p:spPr>
          <a:xfrm>
            <a:off x="6824524" y="2207176"/>
            <a:ext cx="5367476" cy="2921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138" lvl="0" marL="3381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 holds SA state in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security association database (SAD)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sending IPsec datagram, R1 accesses SAD to determine how to process datagram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IPsec datagram arrives to R2, R2 examines SPI in IPsec datagram, indexes SAD with SPI, processing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accordingly.</a:t>
            </a:r>
            <a:endParaRPr/>
          </a:p>
          <a:p>
            <a:pPr indent="-2286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5" name="Google Shape;2305;p82"/>
          <p:cNvSpPr txBox="1"/>
          <p:nvPr/>
        </p:nvSpPr>
        <p:spPr>
          <a:xfrm>
            <a:off x="7810500" y="5526157"/>
            <a:ext cx="28303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SPD: “what” to do</a:t>
            </a:r>
            <a:endParaRPr/>
          </a:p>
        </p:txBody>
      </p:sp>
      <p:sp>
        <p:nvSpPr>
          <p:cNvPr id="2306" name="Google Shape;2306;p82"/>
          <p:cNvSpPr txBox="1"/>
          <p:nvPr/>
        </p:nvSpPr>
        <p:spPr>
          <a:xfrm>
            <a:off x="2206488" y="5506277"/>
            <a:ext cx="30852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SAD: “how” to do it </a:t>
            </a:r>
            <a:endParaRPr i="1" sz="28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8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IPsec security databases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4" name="Google Shape;2314;p8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Summary: IPsec services</a:t>
            </a:r>
            <a:endParaRPr/>
          </a:p>
        </p:txBody>
      </p:sp>
      <p:sp>
        <p:nvSpPr>
          <p:cNvPr id="2315" name="Google Shape;2315;p83"/>
          <p:cNvSpPr txBox="1"/>
          <p:nvPr>
            <p:ph idx="1" type="body"/>
          </p:nvPr>
        </p:nvSpPr>
        <p:spPr>
          <a:xfrm>
            <a:off x="2720658" y="1650048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Trudy sits somewhere between R1, R2. she doesn’t know the keys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will Trudy be able to see original contents of datagram? How about source, dest IP address, transport protocol, application port?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flip bits without detection?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masquerade as R1 using R1’s IP address?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replay a datagram?</a:t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Eve" id="2316" name="Google Shape;231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675" y="1622425"/>
            <a:ext cx="936625" cy="11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3" name="Google Shape;2323;p8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IKE: Internet Key Exchange </a:t>
            </a:r>
            <a:endParaRPr/>
          </a:p>
        </p:txBody>
      </p:sp>
      <p:sp>
        <p:nvSpPr>
          <p:cNvPr id="2324" name="Google Shape;2324;p84"/>
          <p:cNvSpPr txBox="1"/>
          <p:nvPr/>
        </p:nvSpPr>
        <p:spPr>
          <a:xfrm>
            <a:off x="758686" y="1467679"/>
            <a:ext cx="111285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previous examples: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establishment of IPsec SAs in IPsec endpoints: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Example SA: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SPI: 12345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IP: 200.168.1.100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 IP: 193.68.2.23 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Protocol: ESP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algorithm: 3DES-cbc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HMAC algorithm: MD5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key: 0x7aeaca…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HMAC key:0xc0291f…</a:t>
            </a:r>
            <a:endParaRPr/>
          </a:p>
          <a:p>
            <a:pPr indent="-287338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keying is impractical for VPN with 100s of endpoints </a:t>
            </a:r>
            <a:endParaRPr/>
          </a:p>
          <a:p>
            <a:pPr indent="-287338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use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IPsec IKE (Internet Key Exchange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31775" lvl="1" marL="6953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1" name="Google Shape;2331;p8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IKE: PSK and PKI</a:t>
            </a:r>
            <a:endParaRPr/>
          </a:p>
        </p:txBody>
      </p:sp>
      <p:sp>
        <p:nvSpPr>
          <p:cNvPr id="2332" name="Google Shape;2332;p85"/>
          <p:cNvSpPr txBox="1"/>
          <p:nvPr/>
        </p:nvSpPr>
        <p:spPr>
          <a:xfrm>
            <a:off x="1022212" y="1426403"/>
            <a:ext cx="10599945" cy="492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(prove who you are) with either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pre-shared secret (PSK) or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PKI (pubic/private keys and certificates).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PSK: both sides start with secret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IKE to authenticate each other and to generate IPsec SAs (one in each direction), including encryption, authentication keys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PKI: both sides start with public/private key pair, certificate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IKE to authenticate each other, obtain IPsec SAs (one in each direction).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with handshake in SSL.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9" name="Google Shape;2339;p86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 phases</a:t>
            </a:r>
            <a:endParaRPr/>
          </a:p>
        </p:txBody>
      </p:sp>
      <p:sp>
        <p:nvSpPr>
          <p:cNvPr id="2340" name="Google Shape;2340;p86"/>
          <p:cNvSpPr txBox="1"/>
          <p:nvPr/>
        </p:nvSpPr>
        <p:spPr>
          <a:xfrm>
            <a:off x="970722" y="1467677"/>
            <a:ext cx="1032013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IKE has two phases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phase 1: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bi-directional IKE SA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IKE SA different from IPsec SA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 ISAKMP security association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phase 2: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ISAKMP is used to securely negotiate IPsec pair of SAs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1 has two modes: aggressive mode and main mode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aggressive mode uses fewer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mode provides identity protection and is more flexible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5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7" name="Google Shape;2347;p8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IPsec summary</a:t>
            </a:r>
            <a:endParaRPr/>
          </a:p>
        </p:txBody>
      </p:sp>
      <p:sp>
        <p:nvSpPr>
          <p:cNvPr id="2348" name="Google Shape;2348;p87"/>
          <p:cNvSpPr txBox="1"/>
          <p:nvPr/>
        </p:nvSpPr>
        <p:spPr>
          <a:xfrm>
            <a:off x="864704" y="1507435"/>
            <a:ext cx="1062493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IKE message exchange for algorithms, secret keys, SPI numbers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 AH or ESP protocol  (or both)</a:t>
            </a:r>
            <a:endParaRPr/>
          </a:p>
          <a:p>
            <a:pPr indent="-274638" lvl="2" marL="8524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 provides integrity, source authentication</a:t>
            </a:r>
            <a:endParaRPr/>
          </a:p>
          <a:p>
            <a:pPr indent="-274638" lvl="2" marL="8524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protocol (with AH) additionally provides encryption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IPsec peers can be two end systems, two routers/firewalls, or a router/firewall and 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end system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3" name="Shape 2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4" name="Google Shape;2354;p88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2355" name="Google Shape;2355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356" name="Google Shape;2356;p88"/>
          <p:cNvSpPr txBox="1"/>
          <p:nvPr/>
        </p:nvSpPr>
        <p:spPr>
          <a:xfrm>
            <a:off x="931677" y="1378226"/>
            <a:ext cx="8729157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 (WiFi)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2357" name="Google Shape;2357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89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4" name="Google Shape;2364;p89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365" name="Google Shape;2365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66" name="Google Shape;2366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7" name="Google Shape;2367;p89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368" name="Google Shape;2368;p8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369" name="Google Shape;2369;p8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0" name="Google Shape;2370;p89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371" name="Google Shape;2371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72" name="Google Shape;2372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3" name="Google Shape;2373;p89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4" name="Google Shape;2374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5" name="Google Shape;2375;p8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376" name="Google Shape;2376;p89"/>
          <p:cNvSpPr txBox="1"/>
          <p:nvPr/>
        </p:nvSpPr>
        <p:spPr>
          <a:xfrm>
            <a:off x="891208" y="3591340"/>
            <a:ext cx="10664687" cy="22992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must: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with access point: (establish) communication over wireless link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authenticate to network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89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8" name="Google Shape;2378;p89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9" name="Google Shape;2379;p89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89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grpSp>
        <p:nvGrpSpPr>
          <p:cNvPr id="2381" name="Google Shape;2381;p89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382" name="Google Shape;2382;p8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83" name="Google Shape;2383;p8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4" name="Google Shape;2384;p89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385" name="Google Shape;2385;p8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386" name="Google Shape;2386;p8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7" name="Google Shape;2387;p89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388" name="Google Shape;2388;p8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9" name="Google Shape;2389;p89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0" name="Google Shape;2390;p8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8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89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3" name="Google Shape;2393;p89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394" name="Google Shape;2394;p89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5" name="Google Shape;2395;p89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96" name="Google Shape;2396;p89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7" name="Google Shape;2397;p89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398" name="Google Shape;2398;p89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9" name="Google Shape;2399;p89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00" name="Google Shape;2400;p89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1" name="Google Shape;2401;p89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02" name="Google Shape;2402;p89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403" name="Google Shape;2403;p89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4" name="Google Shape;2404;p89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05" name="Google Shape;2405;p8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06" name="Google Shape;2406;p89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407" name="Google Shape;2407;p89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8" name="Google Shape;2408;p89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09" name="Google Shape;2409;p89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0" name="Google Shape;2410;p8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1" name="Google Shape;2411;p8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2" name="Google Shape;2412;p89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3" name="Google Shape;2413;p8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4" name="Google Shape;2414;p89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5" name="Google Shape;2415;p89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6" name="Google Shape;2416;p89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7" name="Google Shape;2417;p89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8" name="Google Shape;2418;p89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9" name="Google Shape;2419;p89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0" name="Google Shape;2420;p89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421" name="Google Shape;2421;p89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2" name="Google Shape;2422;p89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sp>
        <p:nvSpPr>
          <p:cNvPr id="2423" name="Google Shape;2423;p89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p90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0" name="Google Shape;2430;p90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431" name="Google Shape;243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32" name="Google Shape;2432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3" name="Google Shape;2433;p90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434" name="Google Shape;2434;p9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435" name="Google Shape;2435;p9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6" name="Google Shape;2436;p90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437" name="Google Shape;2437;p9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38" name="Google Shape;2438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39" name="Google Shape;2439;p90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1" name="Google Shape;2441;p9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442" name="Google Shape;2442;p90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3" name="Google Shape;2443;p90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4" name="Google Shape;2444;p90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5" name="Google Shape;2445;p90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grpSp>
        <p:nvGrpSpPr>
          <p:cNvPr id="2446" name="Google Shape;2446;p90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447" name="Google Shape;2447;p9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48" name="Google Shape;2448;p9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49" name="Google Shape;2449;p90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450" name="Google Shape;2450;p9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451" name="Google Shape;2451;p9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2" name="Google Shape;2452;p90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453" name="Google Shape;2453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4" name="Google Shape;2454;p90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5" name="Google Shape;2455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6" name="Google Shape;2456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7" name="Google Shape;2457;p90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58" name="Google Shape;2458;p90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459" name="Google Shape;2459;p90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0" name="Google Shape;2460;p90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1" name="Google Shape;2461;p90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2" name="Google Shape;2462;p90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463" name="Google Shape;2463;p9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4" name="Google Shape;2464;p90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5" name="Google Shape;2465;p90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6" name="Google Shape;2466;p90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7" name="Google Shape;2467;p90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468" name="Google Shape;2468;p90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9" name="Google Shape;2469;p90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0" name="Google Shape;2470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1" name="Google Shape;2471;p90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472" name="Google Shape;2472;p90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3" name="Google Shape;2473;p90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4" name="Google Shape;2474;p9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5" name="Google Shape;2475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6" name="Google Shape;2476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7" name="Google Shape;2477;p90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8" name="Google Shape;2478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90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90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90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90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90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4" name="Google Shape;2484;p90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5" name="Google Shape;2485;p90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486" name="Google Shape;2486;p90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7" name="Google Shape;2487;p90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488" name="Google Shape;2488;p90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489" name="Google Shape;2489;p90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490" name="Google Shape;2490;p90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1" name="Google Shape;2491;p90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492" name="Google Shape;2492;p90"/>
          <p:cNvSpPr txBox="1"/>
          <p:nvPr/>
        </p:nvSpPr>
        <p:spPr>
          <a:xfrm>
            <a:off x="1364974" y="4041914"/>
            <a:ext cx="10111408" cy="223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capabilities:</a:t>
            </a:r>
            <a:endParaRPr/>
          </a:p>
          <a:p>
            <a:pPr indent="-234950" lvl="0" marL="352425" marR="0" rtl="0" algn="l"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 advertises its presence, forms of authentication and encryption provided</a:t>
            </a:r>
            <a:endParaRPr/>
          </a:p>
          <a:p>
            <a:pPr indent="-234950" lvl="0" marL="352425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requests specific forms authentication, encryption desired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although device, AP already exchanging messages, device not yet authenticated, does not have encryption keys</a:t>
            </a:r>
            <a:endParaRPr/>
          </a:p>
        </p:txBody>
      </p:sp>
      <p:grpSp>
        <p:nvGrpSpPr>
          <p:cNvPr id="2493" name="Google Shape;2493;p90"/>
          <p:cNvGrpSpPr/>
          <p:nvPr/>
        </p:nvGrpSpPr>
        <p:grpSpPr>
          <a:xfrm>
            <a:off x="974035" y="4088297"/>
            <a:ext cx="357808" cy="400110"/>
            <a:chOff x="8680174" y="4002157"/>
            <a:chExt cx="357808" cy="400110"/>
          </a:xfrm>
        </p:grpSpPr>
        <p:sp>
          <p:nvSpPr>
            <p:cNvPr id="2494" name="Google Shape;2494;p90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5" name="Google Shape;2495;p90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496" name="Google Shape;2496;p90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90"/>
          <p:cNvSpPr txBox="1"/>
          <p:nvPr/>
        </p:nvSpPr>
        <p:spPr>
          <a:xfrm>
            <a:off x="1391479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p91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4" name="Google Shape;2504;p91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505" name="Google Shape;2505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06" name="Google Shape;2506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7" name="Google Shape;2507;p91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508" name="Google Shape;2508;p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09" name="Google Shape;2509;p9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0" name="Google Shape;2510;p91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511" name="Google Shape;2511;p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12" name="Google Shape;2512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3" name="Google Shape;2513;p91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5" name="Google Shape;2515;p9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516" name="Google Shape;2516;p91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7" name="Google Shape;2517;p91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8" name="Google Shape;2518;p91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91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520" name="Google Shape;2520;p91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1" name="Google Shape;2521;p91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522" name="Google Shape;2522;p9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23" name="Google Shape;2523;p9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4" name="Google Shape;2524;p91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525" name="Google Shape;2525;p9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26" name="Google Shape;2526;p9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7" name="Google Shape;2527;p91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528" name="Google Shape;2528;p9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9" name="Google Shape;2529;p91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0" name="Google Shape;2530;p9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9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91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3" name="Google Shape;2533;p91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534" name="Google Shape;2534;p91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5" name="Google Shape;2535;p91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6" name="Google Shape;2536;p91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7" name="Google Shape;2537;p91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538" name="Google Shape;2538;p91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9" name="Google Shape;2539;p91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0" name="Google Shape;2540;p91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1" name="Google Shape;2541;p91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2" name="Google Shape;2542;p91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543" name="Google Shape;2543;p91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4" name="Google Shape;2544;p91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5" name="Google Shape;2545;p9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6" name="Google Shape;2546;p91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547" name="Google Shape;2547;p91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8" name="Google Shape;2548;p91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9" name="Google Shape;2549;p9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0" name="Google Shape;2550;p9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9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91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9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91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91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91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91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91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91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0" name="Google Shape;2560;p91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561" name="Google Shape;2561;p91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p91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563" name="Google Shape;2563;p91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564" name="Google Shape;2564;p91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565" name="Google Shape;2565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91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567" name="Google Shape;2567;p91"/>
          <p:cNvSpPr txBox="1"/>
          <p:nvPr/>
        </p:nvSpPr>
        <p:spPr>
          <a:xfrm>
            <a:off x="1404731" y="4041913"/>
            <a:ext cx="10429460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authentication and shared symmetric key derivation: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already have shared common secret (e.g., password) 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use shared secret, nonces (prevent relay attacks), cryptographic hashing (ensure message integrity) to authenticating each other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derive symmetric session key</a:t>
            </a:r>
            <a:endParaRPr/>
          </a:p>
        </p:txBody>
      </p:sp>
      <p:sp>
        <p:nvSpPr>
          <p:cNvPr id="2568" name="Google Shape;2568;p91"/>
          <p:cNvSpPr txBox="1"/>
          <p:nvPr/>
        </p:nvSpPr>
        <p:spPr>
          <a:xfrm>
            <a:off x="1391479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569" name="Google Shape;2569;p91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570" name="Google Shape;2570;p91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571" name="Google Shape;2571;p91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572" name="Google Shape;2572;p91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3" name="Google Shape;2573;p91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74" name="Google Shape;2574;p91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575" name="Google Shape;2575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91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2577" name="Google Shape;2577;p91"/>
          <p:cNvGrpSpPr/>
          <p:nvPr/>
        </p:nvGrpSpPr>
        <p:grpSpPr>
          <a:xfrm>
            <a:off x="980666" y="4094923"/>
            <a:ext cx="357808" cy="400110"/>
            <a:chOff x="8680174" y="4002157"/>
            <a:chExt cx="357808" cy="400110"/>
          </a:xfrm>
        </p:grpSpPr>
        <p:sp>
          <p:nvSpPr>
            <p:cNvPr id="2578" name="Google Shape;2578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91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2580" name="Google Shape;2580;p91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p92"/>
          <p:cNvSpPr txBox="1"/>
          <p:nvPr/>
        </p:nvSpPr>
        <p:spPr>
          <a:xfrm>
            <a:off x="7484150" y="1791297"/>
            <a:ext cx="1618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shared secret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8" name="Google Shape;2588;p9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WPA3 handshake</a:t>
            </a:r>
            <a:endParaRPr/>
          </a:p>
        </p:txBody>
      </p:sp>
      <p:sp>
        <p:nvSpPr>
          <p:cNvPr id="2589" name="Google Shape;2589;p92"/>
          <p:cNvSpPr txBox="1"/>
          <p:nvPr>
            <p:ph idx="1" type="body"/>
          </p:nvPr>
        </p:nvSpPr>
        <p:spPr>
          <a:xfrm>
            <a:off x="1050235" y="3597966"/>
            <a:ext cx="10515600" cy="32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AS generates </a:t>
            </a:r>
            <a:r>
              <a:rPr i="1" lang="en-US"/>
              <a:t>Nonce</a:t>
            </a:r>
            <a:r>
              <a:rPr baseline="-25000" i="1" lang="en-US"/>
              <a:t>AS</a:t>
            </a:r>
            <a:r>
              <a:rPr lang="en-US"/>
              <a:t>, sends to mobile</a:t>
            </a:r>
            <a:endParaRPr/>
          </a:p>
          <a:p>
            <a:pPr indent="-222250" lvl="0" marL="3524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mobile receives </a:t>
            </a:r>
            <a:r>
              <a:rPr i="1" lang="en-US"/>
              <a:t>Nonce</a:t>
            </a:r>
            <a:r>
              <a:rPr baseline="-25000" i="1" lang="en-US"/>
              <a:t>AS 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generates </a:t>
            </a:r>
            <a:r>
              <a:rPr i="1" lang="en-US"/>
              <a:t>Nonce</a:t>
            </a:r>
            <a:r>
              <a:rPr baseline="-25000" i="1" lang="en-US"/>
              <a:t>M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generates symmetric shared session key </a:t>
            </a:r>
            <a:r>
              <a:rPr i="1" lang="en-US"/>
              <a:t>K</a:t>
            </a:r>
            <a:r>
              <a:rPr baseline="-25000" i="1" lang="en-US"/>
              <a:t>M-AP</a:t>
            </a:r>
            <a:r>
              <a:rPr i="1" lang="en-US"/>
              <a:t> </a:t>
            </a:r>
            <a:r>
              <a:rPr lang="en-US"/>
              <a:t>using </a:t>
            </a:r>
            <a:r>
              <a:rPr i="1" lang="en-US"/>
              <a:t>Nonce</a:t>
            </a:r>
            <a:r>
              <a:rPr baseline="-25000" i="1" lang="en-US"/>
              <a:t>AS</a:t>
            </a:r>
            <a:r>
              <a:rPr i="1" lang="en-US"/>
              <a:t>, Nonce</a:t>
            </a:r>
            <a:r>
              <a:rPr baseline="-25000" i="1" lang="en-US"/>
              <a:t>M</a:t>
            </a:r>
            <a:r>
              <a:rPr i="1" lang="en-US"/>
              <a:t>, </a:t>
            </a:r>
            <a:r>
              <a:rPr lang="en-US"/>
              <a:t>and initial shared secret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sends </a:t>
            </a:r>
            <a:r>
              <a:rPr i="1" lang="en-US"/>
              <a:t>Nonce</a:t>
            </a:r>
            <a:r>
              <a:rPr baseline="-25000" i="1" lang="en-US"/>
              <a:t>M</a:t>
            </a:r>
            <a:r>
              <a:rPr i="1" lang="en-US"/>
              <a:t>, </a:t>
            </a:r>
            <a:r>
              <a:rPr lang="en-US"/>
              <a:t>and</a:t>
            </a:r>
            <a:r>
              <a:rPr i="1" lang="en-US"/>
              <a:t> </a:t>
            </a:r>
            <a:r>
              <a:rPr lang="en-US"/>
              <a:t>HMAC-signed value using Nonce</a:t>
            </a:r>
            <a:r>
              <a:rPr baseline="-25000" lang="en-US"/>
              <a:t>AS </a:t>
            </a:r>
            <a:r>
              <a:rPr lang="en-US"/>
              <a:t>and initial shared secret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AS derives symmetric shared session key </a:t>
            </a:r>
            <a:r>
              <a:rPr i="1" lang="en-US"/>
              <a:t>K</a:t>
            </a:r>
            <a:r>
              <a:rPr baseline="-25000" i="1" lang="en-US"/>
              <a:t>M-AP</a:t>
            </a:r>
            <a:r>
              <a:rPr i="1" lang="en-US"/>
              <a:t> </a:t>
            </a:r>
            <a:endParaRPr/>
          </a:p>
        </p:txBody>
      </p:sp>
      <p:grpSp>
        <p:nvGrpSpPr>
          <p:cNvPr id="2590" name="Google Shape;2590;p92"/>
          <p:cNvGrpSpPr/>
          <p:nvPr/>
        </p:nvGrpSpPr>
        <p:grpSpPr>
          <a:xfrm>
            <a:off x="4686027" y="2150254"/>
            <a:ext cx="2657692" cy="556128"/>
            <a:chOff x="4686027" y="2057490"/>
            <a:chExt cx="2657692" cy="556128"/>
          </a:xfrm>
        </p:grpSpPr>
        <p:cxnSp>
          <p:nvCxnSpPr>
            <p:cNvPr id="2591" name="Google Shape;2591;p92"/>
            <p:cNvCxnSpPr/>
            <p:nvPr/>
          </p:nvCxnSpPr>
          <p:spPr>
            <a:xfrm rot="10800000">
              <a:off x="4686027" y="2422154"/>
              <a:ext cx="2657692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592" name="Google Shape;2592;p92"/>
            <p:cNvGrpSpPr/>
            <p:nvPr/>
          </p:nvGrpSpPr>
          <p:grpSpPr>
            <a:xfrm>
              <a:off x="5757868" y="2244286"/>
              <a:ext cx="295236" cy="369332"/>
              <a:chOff x="7037861" y="1735210"/>
              <a:chExt cx="295236" cy="369332"/>
            </a:xfrm>
          </p:grpSpPr>
          <p:sp>
            <p:nvSpPr>
              <p:cNvPr id="2593" name="Google Shape;2593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4" name="Google Shape;2594;p92"/>
              <p:cNvSpPr txBox="1"/>
              <p:nvPr/>
            </p:nvSpPr>
            <p:spPr>
              <a:xfrm>
                <a:off x="7037861" y="1735210"/>
                <a:ext cx="29523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  <p:sp>
          <p:nvSpPr>
            <p:cNvPr id="2595" name="Google Shape;2595;p92"/>
            <p:cNvSpPr txBox="1"/>
            <p:nvPr/>
          </p:nvSpPr>
          <p:spPr>
            <a:xfrm>
              <a:off x="6142471" y="2057490"/>
              <a:ext cx="8892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endParaRPr baseline="-25000" i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6" name="Google Shape;2596;p92"/>
          <p:cNvGrpSpPr/>
          <p:nvPr/>
        </p:nvGrpSpPr>
        <p:grpSpPr>
          <a:xfrm>
            <a:off x="4511329" y="2745303"/>
            <a:ext cx="2982945" cy="666245"/>
            <a:chOff x="4511329" y="2652539"/>
            <a:chExt cx="2982945" cy="666245"/>
          </a:xfrm>
        </p:grpSpPr>
        <p:cxnSp>
          <p:nvCxnSpPr>
            <p:cNvPr id="2597" name="Google Shape;2597;p92"/>
            <p:cNvCxnSpPr/>
            <p:nvPr/>
          </p:nvCxnSpPr>
          <p:spPr>
            <a:xfrm>
              <a:off x="4712531" y="2806614"/>
              <a:ext cx="2657692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598" name="Google Shape;2598;p92"/>
            <p:cNvGrpSpPr/>
            <p:nvPr/>
          </p:nvGrpSpPr>
          <p:grpSpPr>
            <a:xfrm>
              <a:off x="5739680" y="2652539"/>
              <a:ext cx="305943" cy="369332"/>
              <a:chOff x="7034462" y="1759003"/>
              <a:chExt cx="305943" cy="369332"/>
            </a:xfrm>
          </p:grpSpPr>
          <p:sp>
            <p:nvSpPr>
              <p:cNvPr id="2599" name="Google Shape;2599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0" name="Google Shape;2600;p92"/>
              <p:cNvSpPr txBox="1"/>
              <p:nvPr/>
            </p:nvSpPr>
            <p:spPr>
              <a:xfrm>
                <a:off x="7034462" y="1759003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2601" name="Google Shape;2601;p92"/>
            <p:cNvSpPr txBox="1"/>
            <p:nvPr/>
          </p:nvSpPr>
          <p:spPr>
            <a:xfrm>
              <a:off x="4511329" y="2980230"/>
              <a:ext cx="29829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HMAC(f(K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AS-M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 </a:t>
              </a:r>
              <a:endParaRPr/>
            </a:p>
          </p:txBody>
        </p:sp>
      </p:grpSp>
      <p:sp>
        <p:nvSpPr>
          <p:cNvPr id="2602" name="Google Shape;2602;p92"/>
          <p:cNvSpPr txBox="1"/>
          <p:nvPr/>
        </p:nvSpPr>
        <p:spPr>
          <a:xfrm>
            <a:off x="1152939" y="2408901"/>
            <a:ext cx="3390683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session key K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M-AP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 initial-shared-secret,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Nonce</a:t>
            </a:r>
            <a:r>
              <a:rPr baseline="-25000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Nonce</a:t>
            </a:r>
            <a:r>
              <a:rPr baseline="-25000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3" name="Google Shape;2603;p92"/>
          <p:cNvGrpSpPr/>
          <p:nvPr/>
        </p:nvGrpSpPr>
        <p:grpSpPr>
          <a:xfrm>
            <a:off x="4223165" y="1303682"/>
            <a:ext cx="577282" cy="677837"/>
            <a:chOff x="313" y="1407"/>
            <a:chExt cx="1152" cy="1104"/>
          </a:xfrm>
        </p:grpSpPr>
        <p:pic>
          <p:nvPicPr>
            <p:cNvPr descr="laptop_stylized_small" id="2604" name="Google Shape;2604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05" name="Google Shape;2605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6" name="Google Shape;2606;p92"/>
          <p:cNvGrpSpPr/>
          <p:nvPr/>
        </p:nvGrpSpPr>
        <p:grpSpPr>
          <a:xfrm>
            <a:off x="7139471" y="1369943"/>
            <a:ext cx="334755" cy="631133"/>
            <a:chOff x="4140" y="429"/>
            <a:chExt cx="1425" cy="2396"/>
          </a:xfrm>
        </p:grpSpPr>
        <p:sp>
          <p:nvSpPr>
            <p:cNvPr id="2607" name="Google Shape;2607;p9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92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9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9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92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2" name="Google Shape;2612;p92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613" name="Google Shape;2613;p92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4" name="Google Shape;2614;p92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5" name="Google Shape;2615;p92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6" name="Google Shape;2616;p92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617" name="Google Shape;2617;p92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8" name="Google Shape;2618;p92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9" name="Google Shape;2619;p92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92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1" name="Google Shape;2621;p92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622" name="Google Shape;2622;p92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3" name="Google Shape;2623;p92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24" name="Google Shape;2624;p9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5" name="Google Shape;2625;p92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626" name="Google Shape;2626;p92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7" name="Google Shape;2627;p92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28" name="Google Shape;2628;p92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9" name="Google Shape;2629;p9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9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92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9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92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92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92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92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92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92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BS00768_[1]" id="2639" name="Google Shape;2639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563127" y="1618559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2640" name="Google Shape;2640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4839806" y="1619110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1" name="Google Shape;2641;p92"/>
          <p:cNvSpPr txBox="1"/>
          <p:nvPr/>
        </p:nvSpPr>
        <p:spPr>
          <a:xfrm>
            <a:off x="4628307" y="1804287"/>
            <a:ext cx="1618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shared secret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2" name="Google Shape;2642;p92"/>
          <p:cNvGrpSpPr/>
          <p:nvPr/>
        </p:nvGrpSpPr>
        <p:grpSpPr>
          <a:xfrm>
            <a:off x="1152738" y="3642390"/>
            <a:ext cx="295236" cy="369332"/>
            <a:chOff x="7037861" y="1735210"/>
            <a:chExt cx="295236" cy="369332"/>
          </a:xfrm>
        </p:grpSpPr>
        <p:sp>
          <p:nvSpPr>
            <p:cNvPr id="2643" name="Google Shape;2643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4" name="Google Shape;2644;p92"/>
            <p:cNvSpPr txBox="1"/>
            <p:nvPr/>
          </p:nvSpPr>
          <p:spPr>
            <a:xfrm>
              <a:off x="7037861" y="1735210"/>
              <a:ext cx="295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grpSp>
        <p:nvGrpSpPr>
          <p:cNvPr id="2645" name="Google Shape;2645;p92"/>
          <p:cNvGrpSpPr/>
          <p:nvPr/>
        </p:nvGrpSpPr>
        <p:grpSpPr>
          <a:xfrm>
            <a:off x="1132861" y="4139346"/>
            <a:ext cx="306494" cy="369332"/>
            <a:chOff x="7037861" y="1761714"/>
            <a:chExt cx="306494" cy="369332"/>
          </a:xfrm>
        </p:grpSpPr>
        <p:sp>
          <p:nvSpPr>
            <p:cNvPr id="2646" name="Google Shape;2646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92"/>
            <p:cNvSpPr txBox="1"/>
            <p:nvPr/>
          </p:nvSpPr>
          <p:spPr>
            <a:xfrm>
              <a:off x="7037861" y="1761714"/>
              <a:ext cx="3064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grpSp>
        <p:nvGrpSpPr>
          <p:cNvPr id="2648" name="Google Shape;2648;p92"/>
          <p:cNvGrpSpPr/>
          <p:nvPr/>
        </p:nvGrpSpPr>
        <p:grpSpPr>
          <a:xfrm>
            <a:off x="1152738" y="5961517"/>
            <a:ext cx="284354" cy="369332"/>
            <a:chOff x="7037861" y="1735210"/>
            <a:chExt cx="284354" cy="369332"/>
          </a:xfrm>
        </p:grpSpPr>
        <p:sp>
          <p:nvSpPr>
            <p:cNvPr id="2649" name="Google Shape;2649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92"/>
            <p:cNvSpPr txBox="1"/>
            <p:nvPr/>
          </p:nvSpPr>
          <p:spPr>
            <a:xfrm>
              <a:off x="7037861" y="1735210"/>
              <a:ext cx="2824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</p:grpSp>
      <p:grpSp>
        <p:nvGrpSpPr>
          <p:cNvPr id="2651" name="Google Shape;2651;p92"/>
          <p:cNvGrpSpPr/>
          <p:nvPr/>
        </p:nvGrpSpPr>
        <p:grpSpPr>
          <a:xfrm>
            <a:off x="7533661" y="2676389"/>
            <a:ext cx="3651174" cy="535531"/>
            <a:chOff x="7493904" y="2636634"/>
            <a:chExt cx="3651174" cy="535531"/>
          </a:xfrm>
        </p:grpSpPr>
        <p:sp>
          <p:nvSpPr>
            <p:cNvPr id="2652" name="Google Shape;2652;p92"/>
            <p:cNvSpPr txBox="1"/>
            <p:nvPr/>
          </p:nvSpPr>
          <p:spPr>
            <a:xfrm>
              <a:off x="7780720" y="2636634"/>
              <a:ext cx="3364358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derive session key K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M-AP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 initial shared secret , 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53" name="Google Shape;2653;p92"/>
            <p:cNvGrpSpPr/>
            <p:nvPr/>
          </p:nvGrpSpPr>
          <p:grpSpPr>
            <a:xfrm>
              <a:off x="7493904" y="2668354"/>
              <a:ext cx="284354" cy="369332"/>
              <a:chOff x="7037861" y="1735210"/>
              <a:chExt cx="284354" cy="369332"/>
            </a:xfrm>
          </p:grpSpPr>
          <p:sp>
            <p:nvSpPr>
              <p:cNvPr id="2654" name="Google Shape;2654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5" name="Google Shape;2655;p92"/>
              <p:cNvSpPr txBox="1"/>
              <p:nvPr/>
            </p:nvSpPr>
            <p:spPr>
              <a:xfrm>
                <a:off x="7037861" y="1735210"/>
                <a:ext cx="2824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sp>
        <p:nvSpPr>
          <p:cNvPr id="2656" name="Google Shape;2656;p92"/>
          <p:cNvSpPr txBox="1"/>
          <p:nvPr/>
        </p:nvSpPr>
        <p:spPr>
          <a:xfrm>
            <a:off x="7457317" y="1239250"/>
            <a:ext cx="2622962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657" name="Google Shape;2657;p92"/>
          <p:cNvSpPr txBox="1"/>
          <p:nvPr/>
        </p:nvSpPr>
        <p:spPr>
          <a:xfrm>
            <a:off x="4758841" y="1222897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Google Shape;2663;p93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4" name="Google Shape;2664;p93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665" name="Google Shape;2665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66" name="Google Shape;2666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67" name="Google Shape;2667;p93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668" name="Google Shape;2668;p9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669" name="Google Shape;2669;p9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0" name="Google Shape;2670;p93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671" name="Google Shape;2671;p9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72" name="Google Shape;2672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3" name="Google Shape;2673;p93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5" name="Google Shape;2675;p9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676" name="Google Shape;2676;p93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7" name="Google Shape;2677;p93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8" name="Google Shape;2678;p93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9" name="Google Shape;2679;p93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680" name="Google Shape;2680;p93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1" name="Google Shape;2681;p93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682" name="Google Shape;2682;p9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83" name="Google Shape;2683;p9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4" name="Google Shape;2684;p93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685" name="Google Shape;2685;p9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686" name="Google Shape;2686;p9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7" name="Google Shape;2687;p93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688" name="Google Shape;2688;p9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9" name="Google Shape;2689;p93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9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9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93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3" name="Google Shape;2693;p93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694" name="Google Shape;2694;p93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5" name="Google Shape;2695;p93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6" name="Google Shape;2696;p93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7" name="Google Shape;2697;p93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698" name="Google Shape;2698;p93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9" name="Google Shape;2699;p93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0" name="Google Shape;2700;p93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1" name="Google Shape;2701;p93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2" name="Google Shape;2702;p93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703" name="Google Shape;2703;p93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4" name="Google Shape;2704;p93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5" name="Google Shape;2705;p9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6" name="Google Shape;2706;p93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707" name="Google Shape;2707;p93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8" name="Google Shape;2708;p93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9" name="Google Shape;2709;p93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0" name="Google Shape;2710;p9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1" name="Google Shape;2711;p9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93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9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93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93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93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93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8" name="Google Shape;2718;p93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93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0" name="Google Shape;2720;p93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721" name="Google Shape;2721;p93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2" name="Google Shape;2722;p93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723" name="Google Shape;2723;p93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724" name="Google Shape;2724;p93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725" name="Google Shape;2725;p93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6" name="Google Shape;2726;p93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727" name="Google Shape;2727;p93"/>
          <p:cNvSpPr txBox="1"/>
          <p:nvPr/>
        </p:nvSpPr>
        <p:spPr>
          <a:xfrm>
            <a:off x="1311967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728" name="Google Shape;2728;p93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729" name="Google Shape;2729;p93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730" name="Google Shape;2730;p93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731" name="Google Shape;2731;p93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2" name="Google Shape;2732;p93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33" name="Google Shape;2733;p93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734" name="Google Shape;2734;p93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5" name="Google Shape;2735;p93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2736" name="Google Shape;2736;p93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  <p:grpSp>
        <p:nvGrpSpPr>
          <p:cNvPr id="2737" name="Google Shape;2737;p93"/>
          <p:cNvGrpSpPr/>
          <p:nvPr/>
        </p:nvGrpSpPr>
        <p:grpSpPr>
          <a:xfrm>
            <a:off x="954161" y="3770244"/>
            <a:ext cx="10906534" cy="1984127"/>
            <a:chOff x="954161" y="3770244"/>
            <a:chExt cx="10906534" cy="1984127"/>
          </a:xfrm>
        </p:grpSpPr>
        <p:grpSp>
          <p:nvGrpSpPr>
            <p:cNvPr id="2738" name="Google Shape;2738;p93"/>
            <p:cNvGrpSpPr/>
            <p:nvPr/>
          </p:nvGrpSpPr>
          <p:grpSpPr>
            <a:xfrm>
              <a:off x="954161" y="4545497"/>
              <a:ext cx="357808" cy="400110"/>
              <a:chOff x="8680174" y="4002157"/>
              <a:chExt cx="357808" cy="400110"/>
            </a:xfrm>
          </p:grpSpPr>
          <p:sp>
            <p:nvSpPr>
              <p:cNvPr id="2739" name="Google Shape;2739;p93"/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93"/>
              <p:cNvSpPr txBox="1"/>
              <p:nvPr/>
            </p:nvSpPr>
            <p:spPr>
              <a:xfrm>
                <a:off x="8706678" y="4002157"/>
                <a:ext cx="31451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cxnSp>
          <p:nvCxnSpPr>
            <p:cNvPr id="2741" name="Google Shape;2741;p93"/>
            <p:cNvCxnSpPr/>
            <p:nvPr/>
          </p:nvCxnSpPr>
          <p:spPr>
            <a:xfrm>
              <a:off x="5387008" y="4048539"/>
              <a:ext cx="3597966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grpSp>
          <p:nvGrpSpPr>
            <p:cNvPr id="2742" name="Google Shape;2742;p93"/>
            <p:cNvGrpSpPr/>
            <p:nvPr/>
          </p:nvGrpSpPr>
          <p:grpSpPr>
            <a:xfrm>
              <a:off x="7176053" y="3836505"/>
              <a:ext cx="357808" cy="400110"/>
              <a:chOff x="8680174" y="4002157"/>
              <a:chExt cx="357808" cy="400110"/>
            </a:xfrm>
          </p:grpSpPr>
          <p:sp>
            <p:nvSpPr>
              <p:cNvPr id="2743" name="Google Shape;2743;p93"/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4" name="Google Shape;2744;p93"/>
              <p:cNvSpPr txBox="1"/>
              <p:nvPr/>
            </p:nvSpPr>
            <p:spPr>
              <a:xfrm>
                <a:off x="8693426" y="4002157"/>
                <a:ext cx="31451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sp>
          <p:nvSpPr>
            <p:cNvPr id="2745" name="Google Shape;2745;p93"/>
            <p:cNvSpPr txBox="1"/>
            <p:nvPr/>
          </p:nvSpPr>
          <p:spPr>
            <a:xfrm>
              <a:off x="1186073" y="3770244"/>
              <a:ext cx="302191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Shared symmetric key distribution</a:t>
              </a:r>
              <a:endParaRPr/>
            </a:p>
          </p:txBody>
        </p:sp>
        <p:sp>
          <p:nvSpPr>
            <p:cNvPr id="2746" name="Google Shape;2746;p93"/>
            <p:cNvSpPr txBox="1"/>
            <p:nvPr/>
          </p:nvSpPr>
          <p:spPr>
            <a:xfrm>
              <a:off x="1431235" y="4492487"/>
              <a:ext cx="10429460" cy="1261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shared symmetric session key distribution (e.g., for AES encryption)</a:t>
              </a:r>
              <a:endParaRPr/>
            </a:p>
            <a:p>
              <a:pPr indent="-274638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same key derived at mobile, AS</a:t>
              </a:r>
              <a:endParaRPr/>
            </a:p>
            <a:p>
              <a:pPr indent="-274638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 informs AP of the shared symmetric session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p94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3" name="Google Shape;2753;p94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754" name="Google Shape;2754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55" name="Google Shape;2755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6" name="Google Shape;2756;p94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757" name="Google Shape;2757;p9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758" name="Google Shape;2758;p9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9" name="Google Shape;2759;p94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760" name="Google Shape;2760;p9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61" name="Google Shape;2761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2" name="Google Shape;2762;p94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3" name="Google Shape;2763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4" name="Google Shape;2764;p9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765" name="Google Shape;2765;p94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6" name="Google Shape;2766;p94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7" name="Google Shape;2767;p94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8" name="Google Shape;2768;p94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769" name="Google Shape;2769;p94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0" name="Google Shape;2770;p94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771" name="Google Shape;2771;p9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72" name="Google Shape;2772;p9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3" name="Google Shape;2773;p94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774" name="Google Shape;2774;p9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775" name="Google Shape;2775;p9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6" name="Google Shape;2776;p94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777" name="Google Shape;2777;p9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8" name="Google Shape;2778;p94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9" name="Google Shape;2779;p9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0" name="Google Shape;2780;p9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1" name="Google Shape;2781;p94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2" name="Google Shape;2782;p94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783" name="Google Shape;2783;p94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4" name="Google Shape;2784;p94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85" name="Google Shape;2785;p94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6" name="Google Shape;2786;p94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787" name="Google Shape;2787;p94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94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89" name="Google Shape;2789;p94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0" name="Google Shape;2790;p94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1" name="Google Shape;2791;p94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792" name="Google Shape;2792;p94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3" name="Google Shape;2793;p94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4" name="Google Shape;2794;p9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5" name="Google Shape;2795;p94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796" name="Google Shape;2796;p94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94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8" name="Google Shape;2798;p94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9" name="Google Shape;2799;p9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0" name="Google Shape;2800;p9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1" name="Google Shape;2801;p94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2" name="Google Shape;2802;p9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3" name="Google Shape;2803;p94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4" name="Google Shape;2804;p94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5" name="Google Shape;2805;p94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6" name="Google Shape;2806;p94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7" name="Google Shape;2807;p94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8" name="Google Shape;2808;p94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9" name="Google Shape;2809;p94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810" name="Google Shape;2810;p94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1" name="Google Shape;2811;p94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812" name="Google Shape;2812;p94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813" name="Google Shape;2813;p94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814" name="Google Shape;2814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5" name="Google Shape;2815;p94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816" name="Google Shape;2816;p94"/>
          <p:cNvSpPr txBox="1"/>
          <p:nvPr/>
        </p:nvSpPr>
        <p:spPr>
          <a:xfrm>
            <a:off x="1311967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817" name="Google Shape;2817;p94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818" name="Google Shape;2818;p94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819" name="Google Shape;2819;p94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820" name="Google Shape;2820;p94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1" name="Google Shape;2821;p94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22" name="Google Shape;2822;p94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823" name="Google Shape;2823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4" name="Google Shape;2824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2825" name="Google Shape;2825;p94"/>
          <p:cNvGrpSpPr/>
          <p:nvPr/>
        </p:nvGrpSpPr>
        <p:grpSpPr>
          <a:xfrm>
            <a:off x="954161" y="4996073"/>
            <a:ext cx="357808" cy="400110"/>
            <a:chOff x="8680174" y="4002157"/>
            <a:chExt cx="357808" cy="400110"/>
          </a:xfrm>
        </p:grpSpPr>
        <p:sp>
          <p:nvSpPr>
            <p:cNvPr id="2826" name="Google Shape;2826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7" name="Google Shape;2827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2828" name="Google Shape;2828;p94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  <p:cxnSp>
        <p:nvCxnSpPr>
          <p:cNvPr id="2829" name="Google Shape;2829;p94"/>
          <p:cNvCxnSpPr/>
          <p:nvPr/>
        </p:nvCxnSpPr>
        <p:spPr>
          <a:xfrm>
            <a:off x="5387008" y="4048539"/>
            <a:ext cx="3597966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sm" w="sm" type="none"/>
          </a:ln>
        </p:spPr>
      </p:cxnSp>
      <p:grpSp>
        <p:nvGrpSpPr>
          <p:cNvPr id="2830" name="Google Shape;2830;p94"/>
          <p:cNvGrpSpPr/>
          <p:nvPr/>
        </p:nvGrpSpPr>
        <p:grpSpPr>
          <a:xfrm>
            <a:off x="7176053" y="3836505"/>
            <a:ext cx="357808" cy="400110"/>
            <a:chOff x="8680174" y="4002157"/>
            <a:chExt cx="357808" cy="400110"/>
          </a:xfrm>
        </p:grpSpPr>
        <p:sp>
          <p:nvSpPr>
            <p:cNvPr id="2831" name="Google Shape;2831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p94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2833" name="Google Shape;2833;p94"/>
          <p:cNvSpPr txBox="1"/>
          <p:nvPr/>
        </p:nvSpPr>
        <p:spPr>
          <a:xfrm>
            <a:off x="1199325" y="3770244"/>
            <a:ext cx="30219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shared symmetric key distribution</a:t>
            </a:r>
            <a:endParaRPr/>
          </a:p>
        </p:txBody>
      </p:sp>
      <p:sp>
        <p:nvSpPr>
          <p:cNvPr id="2834" name="Google Shape;2834;p94"/>
          <p:cNvSpPr txBox="1"/>
          <p:nvPr/>
        </p:nvSpPr>
        <p:spPr>
          <a:xfrm>
            <a:off x="1431235" y="4943063"/>
            <a:ext cx="10429460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encrypted communication between mobile and remote host via AP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key derived at mobile, AS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informs AP of the shared symmetric session</a:t>
            </a:r>
            <a:endParaRPr/>
          </a:p>
        </p:txBody>
      </p:sp>
      <p:cxnSp>
        <p:nvCxnSpPr>
          <p:cNvPr id="2835" name="Google Shape;2835;p94"/>
          <p:cNvCxnSpPr/>
          <p:nvPr/>
        </p:nvCxnSpPr>
        <p:spPr>
          <a:xfrm>
            <a:off x="3558209" y="447260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836" name="Google Shape;2836;p94"/>
          <p:cNvGrpSpPr/>
          <p:nvPr/>
        </p:nvGrpSpPr>
        <p:grpSpPr>
          <a:xfrm>
            <a:off x="4419601" y="4260575"/>
            <a:ext cx="357808" cy="400110"/>
            <a:chOff x="8680174" y="4002157"/>
            <a:chExt cx="357808" cy="400110"/>
          </a:xfrm>
        </p:grpSpPr>
        <p:sp>
          <p:nvSpPr>
            <p:cNvPr id="2837" name="Google Shape;2837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8" name="Google Shape;2838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2839" name="Google Shape;2839;p94"/>
          <p:cNvSpPr txBox="1"/>
          <p:nvPr/>
        </p:nvSpPr>
        <p:spPr>
          <a:xfrm>
            <a:off x="987290" y="4128053"/>
            <a:ext cx="32088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encrypted communication over WiFi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p95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6" name="Google Shape;2846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7" name="Google Shape;2847;p9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848" name="Google Shape;2848;p95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9" name="Google Shape;2849;p95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0" name="Google Shape;2850;p95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1" name="Google Shape;2851;p95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852" name="Google Shape;2852;p95"/>
          <p:cNvSpPr txBox="1"/>
          <p:nvPr/>
        </p:nvSpPr>
        <p:spPr>
          <a:xfrm>
            <a:off x="2611989" y="199152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3" name="Google Shape;2853;p95"/>
          <p:cNvGrpSpPr/>
          <p:nvPr/>
        </p:nvGrpSpPr>
        <p:grpSpPr>
          <a:xfrm>
            <a:off x="3215998" y="1780759"/>
            <a:ext cx="804863" cy="852488"/>
            <a:chOff x="313" y="1407"/>
            <a:chExt cx="1152" cy="1104"/>
          </a:xfrm>
        </p:grpSpPr>
        <p:pic>
          <p:nvPicPr>
            <p:cNvPr descr="laptop_stylized_small" id="2854" name="Google Shape;2854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55" name="Google Shape;2855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6" name="Google Shape;2856;p95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857" name="Google Shape;2857;p9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858" name="Google Shape;2858;p9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9" name="Google Shape;2859;p95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860" name="Google Shape;2860;p9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1" name="Google Shape;2861;p95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2" name="Google Shape;2862;p9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3" name="Google Shape;2863;p9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4" name="Google Shape;2864;p95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5" name="Google Shape;2865;p95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866" name="Google Shape;2866;p95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95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68" name="Google Shape;2868;p95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9" name="Google Shape;2869;p95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870" name="Google Shape;2870;p95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1" name="Google Shape;2871;p95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2" name="Google Shape;2872;p95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3" name="Google Shape;2873;p95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4" name="Google Shape;2874;p95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875" name="Google Shape;2875;p95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6" name="Google Shape;2876;p95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7" name="Google Shape;2877;p9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8" name="Google Shape;2878;p95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879" name="Google Shape;2879;p95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2880;p95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1" name="Google Shape;2881;p9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2" name="Google Shape;2882;p9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3" name="Google Shape;2883;p9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95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9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6" name="Google Shape;2886;p95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95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95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95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95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95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2" name="Google Shape;2892;p95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893" name="Google Shape;2893;p95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4" name="Google Shape;2894;p95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grpSp>
        <p:nvGrpSpPr>
          <p:cNvPr id="2895" name="Google Shape;2895;p95"/>
          <p:cNvGrpSpPr/>
          <p:nvPr/>
        </p:nvGrpSpPr>
        <p:grpSpPr>
          <a:xfrm>
            <a:off x="5777949" y="4004917"/>
            <a:ext cx="3087434" cy="668338"/>
            <a:chOff x="567" y="1481"/>
            <a:chExt cx="1644" cy="421"/>
          </a:xfrm>
        </p:grpSpPr>
        <p:sp>
          <p:nvSpPr>
            <p:cNvPr id="2896" name="Google Shape;2896;p95"/>
            <p:cNvSpPr/>
            <p:nvPr/>
          </p:nvSpPr>
          <p:spPr>
            <a:xfrm>
              <a:off x="567" y="1481"/>
              <a:ext cx="1644" cy="421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97" name="Google Shape;2897;p95"/>
            <p:cNvCxnSpPr/>
            <p:nvPr/>
          </p:nvCxnSpPr>
          <p:spPr>
            <a:xfrm>
              <a:off x="576" y="1687"/>
              <a:ext cx="163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98" name="Google Shape;2898;p95"/>
          <p:cNvGrpSpPr/>
          <p:nvPr/>
        </p:nvGrpSpPr>
        <p:grpSpPr>
          <a:xfrm>
            <a:off x="3232868" y="4011267"/>
            <a:ext cx="2306542" cy="668338"/>
            <a:chOff x="577" y="1481"/>
            <a:chExt cx="1800" cy="421"/>
          </a:xfrm>
        </p:grpSpPr>
        <p:sp>
          <p:nvSpPr>
            <p:cNvPr id="2899" name="Google Shape;2899;p95"/>
            <p:cNvSpPr/>
            <p:nvPr/>
          </p:nvSpPr>
          <p:spPr>
            <a:xfrm>
              <a:off x="577" y="1481"/>
              <a:ext cx="1800" cy="421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00" name="Google Shape;2900;p95"/>
            <p:cNvCxnSpPr/>
            <p:nvPr/>
          </p:nvCxnSpPr>
          <p:spPr>
            <a:xfrm>
              <a:off x="590" y="1687"/>
              <a:ext cx="176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01" name="Google Shape;2901;p95"/>
          <p:cNvSpPr/>
          <p:nvPr/>
        </p:nvSpPr>
        <p:spPr>
          <a:xfrm>
            <a:off x="3233530" y="3344517"/>
            <a:ext cx="5632174" cy="66675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2" name="Google Shape;2902;p95"/>
          <p:cNvSpPr txBox="1"/>
          <p:nvPr/>
        </p:nvSpPr>
        <p:spPr>
          <a:xfrm>
            <a:off x="5184965" y="3311576"/>
            <a:ext cx="997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TLS</a:t>
            </a:r>
            <a:endParaRPr/>
          </a:p>
        </p:txBody>
      </p:sp>
      <p:cxnSp>
        <p:nvCxnSpPr>
          <p:cNvPr id="2903" name="Google Shape;2903;p95"/>
          <p:cNvCxnSpPr/>
          <p:nvPr/>
        </p:nvCxnSpPr>
        <p:spPr>
          <a:xfrm>
            <a:off x="3247818" y="3677892"/>
            <a:ext cx="561400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4" name="Google Shape;2904;p95"/>
          <p:cNvSpPr txBox="1"/>
          <p:nvPr/>
        </p:nvSpPr>
        <p:spPr>
          <a:xfrm>
            <a:off x="5378242" y="3635427"/>
            <a:ext cx="6467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</a:t>
            </a:r>
            <a:endParaRPr/>
          </a:p>
        </p:txBody>
      </p:sp>
      <p:sp>
        <p:nvSpPr>
          <p:cNvPr id="2905" name="Google Shape;2905;p95"/>
          <p:cNvSpPr txBox="1"/>
          <p:nvPr/>
        </p:nvSpPr>
        <p:spPr>
          <a:xfrm>
            <a:off x="3286091" y="4003726"/>
            <a:ext cx="22733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over LAN (EAPoL) </a:t>
            </a:r>
            <a:endParaRPr/>
          </a:p>
        </p:txBody>
      </p:sp>
      <p:sp>
        <p:nvSpPr>
          <p:cNvPr id="2906" name="Google Shape;2906;p95"/>
          <p:cNvSpPr txBox="1"/>
          <p:nvPr/>
        </p:nvSpPr>
        <p:spPr>
          <a:xfrm>
            <a:off x="3728433" y="4337498"/>
            <a:ext cx="13276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IEEE 802.11 </a:t>
            </a:r>
            <a:endParaRPr/>
          </a:p>
        </p:txBody>
      </p:sp>
      <p:sp>
        <p:nvSpPr>
          <p:cNvPr id="2907" name="Google Shape;2907;p95"/>
          <p:cNvSpPr txBox="1"/>
          <p:nvPr/>
        </p:nvSpPr>
        <p:spPr>
          <a:xfrm>
            <a:off x="6757383" y="3998170"/>
            <a:ext cx="8963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RADIUS</a:t>
            </a:r>
            <a:endParaRPr/>
          </a:p>
        </p:txBody>
      </p:sp>
      <p:sp>
        <p:nvSpPr>
          <p:cNvPr id="2908" name="Google Shape;2908;p95"/>
          <p:cNvSpPr txBox="1"/>
          <p:nvPr/>
        </p:nvSpPr>
        <p:spPr>
          <a:xfrm>
            <a:off x="6779609" y="4327180"/>
            <a:ext cx="847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UDP/IP</a:t>
            </a:r>
            <a:endParaRPr/>
          </a:p>
        </p:txBody>
      </p:sp>
      <p:sp>
        <p:nvSpPr>
          <p:cNvPr id="2909" name="Google Shape;2909;p95"/>
          <p:cNvSpPr txBox="1"/>
          <p:nvPr>
            <p:ph idx="1" type="body"/>
          </p:nvPr>
        </p:nvSpPr>
        <p:spPr>
          <a:xfrm>
            <a:off x="851452" y="4976192"/>
            <a:ext cx="10515600" cy="987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Extensible Authentication Protocol (EAP) </a:t>
            </a:r>
            <a:r>
              <a:rPr lang="en-US" sz="2000"/>
              <a:t>[RFC 3748] </a:t>
            </a:r>
            <a:r>
              <a:rPr lang="en-US"/>
              <a:t>defines end-to-end request/response protocol between mobile device, AS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p96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2916" name="Google Shape;2916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917" name="Google Shape;2917;p96"/>
          <p:cNvSpPr txBox="1"/>
          <p:nvPr/>
        </p:nvSpPr>
        <p:spPr>
          <a:xfrm>
            <a:off x="931677" y="1505140"/>
            <a:ext cx="8729157" cy="490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802.11 (WiFi)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2918" name="Google Shape;2918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97"/>
          <p:cNvSpPr/>
          <p:nvPr/>
        </p:nvSpPr>
        <p:spPr>
          <a:xfrm>
            <a:off x="1686888" y="1980424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5" name="Google Shape;2925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6" name="Google Shape;2926;p9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cxnSp>
        <p:nvCxnSpPr>
          <p:cNvPr id="2927" name="Google Shape;2927;p97"/>
          <p:cNvCxnSpPr/>
          <p:nvPr/>
        </p:nvCxnSpPr>
        <p:spPr>
          <a:xfrm>
            <a:off x="5635004" y="2129946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8" name="Google Shape;2928;p97"/>
          <p:cNvSpPr/>
          <p:nvPr/>
        </p:nvSpPr>
        <p:spPr>
          <a:xfrm>
            <a:off x="4837045" y="1520811"/>
            <a:ext cx="2178110" cy="13415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9" name="Google Shape;2929;p97"/>
          <p:cNvSpPr txBox="1"/>
          <p:nvPr/>
        </p:nvSpPr>
        <p:spPr>
          <a:xfrm>
            <a:off x="5408232" y="2329104"/>
            <a:ext cx="1495987" cy="338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</p:txBody>
      </p:sp>
      <p:sp>
        <p:nvSpPr>
          <p:cNvPr id="2930" name="Google Shape;2930;p97"/>
          <p:cNvSpPr txBox="1"/>
          <p:nvPr/>
        </p:nvSpPr>
        <p:spPr>
          <a:xfrm>
            <a:off x="783189" y="1673474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1" name="Google Shape;2931;p97"/>
          <p:cNvGrpSpPr/>
          <p:nvPr/>
        </p:nvGrpSpPr>
        <p:grpSpPr>
          <a:xfrm>
            <a:off x="1272209" y="1457741"/>
            <a:ext cx="1060718" cy="1101004"/>
            <a:chOff x="2751" y="1851"/>
            <a:chExt cx="462" cy="478"/>
          </a:xfrm>
        </p:grpSpPr>
        <p:pic>
          <p:nvPicPr>
            <p:cNvPr descr="iphone_stylized_small" id="2932" name="Google Shape;2932;p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933" name="Google Shape;2933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4" name="Google Shape;2934;p97"/>
          <p:cNvSpPr/>
          <p:nvPr/>
        </p:nvSpPr>
        <p:spPr>
          <a:xfrm>
            <a:off x="3331269" y="1457741"/>
            <a:ext cx="1442882" cy="123245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5" name="Google Shape;2935;p97"/>
          <p:cNvSpPr txBox="1"/>
          <p:nvPr/>
        </p:nvSpPr>
        <p:spPr>
          <a:xfrm>
            <a:off x="3304533" y="2437230"/>
            <a:ext cx="1574150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 (BS)</a:t>
            </a:r>
            <a:endParaRPr b="1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6" name="Google Shape;2936;p97"/>
          <p:cNvGrpSpPr/>
          <p:nvPr/>
        </p:nvGrpSpPr>
        <p:grpSpPr>
          <a:xfrm>
            <a:off x="3737113" y="1415147"/>
            <a:ext cx="411911" cy="767924"/>
            <a:chOff x="6476205" y="1307523"/>
            <a:chExt cx="466245" cy="924931"/>
          </a:xfrm>
        </p:grpSpPr>
        <p:grpSp>
          <p:nvGrpSpPr>
            <p:cNvPr id="2937" name="Google Shape;2937;p97"/>
            <p:cNvGrpSpPr/>
            <p:nvPr/>
          </p:nvGrpSpPr>
          <p:grpSpPr>
            <a:xfrm>
              <a:off x="6476205" y="1307523"/>
              <a:ext cx="466245" cy="405864"/>
              <a:chOff x="2920" y="1445"/>
              <a:chExt cx="326" cy="299"/>
            </a:xfrm>
          </p:grpSpPr>
          <p:sp>
            <p:nvSpPr>
              <p:cNvPr id="2938" name="Google Shape;2938;p97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39" name="Google Shape;2939;p97"/>
              <p:cNvGrpSpPr/>
              <p:nvPr/>
            </p:nvGrpSpPr>
            <p:grpSpPr>
              <a:xfrm>
                <a:off x="2949" y="1476"/>
                <a:ext cx="265" cy="228"/>
                <a:chOff x="2949" y="1476"/>
                <a:chExt cx="265" cy="228"/>
              </a:xfrm>
            </p:grpSpPr>
            <p:sp>
              <p:nvSpPr>
                <p:cNvPr id="2940" name="Google Shape;2940;p97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1" name="Google Shape;2941;p97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2" name="Google Shape;2942;p97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3" name="Google Shape;2943;p97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44" name="Google Shape;2944;p97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5" name="Google Shape;2945;p97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2946" name="Google Shape;2946;p9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7" name="Google Shape;2947;p9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8" name="Google Shape;2948;p9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9" name="Google Shape;2949;p9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0" name="Google Shape;2950;p9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1" name="Google Shape;2951;p9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2" name="Google Shape;2952;p9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3" name="Google Shape;2953;p9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4" name="Google Shape;2954;p9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5" name="Google Shape;2955;p9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6" name="Google Shape;2956;p9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7" name="Google Shape;2957;p9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8" name="Google Shape;2958;p9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9" name="Google Shape;2959;p9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0" name="Google Shape;2960;p9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961" name="Google Shape;2961;p97"/>
          <p:cNvGrpSpPr/>
          <p:nvPr/>
        </p:nvGrpSpPr>
        <p:grpSpPr>
          <a:xfrm>
            <a:off x="3893635" y="2069587"/>
            <a:ext cx="677748" cy="346462"/>
            <a:chOff x="1503784" y="3006600"/>
            <a:chExt cx="1771786" cy="957087"/>
          </a:xfrm>
        </p:grpSpPr>
        <p:grpSp>
          <p:nvGrpSpPr>
            <p:cNvPr id="2962" name="Google Shape;2962;p97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2963" name="Google Shape;2963;p97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964" name="Google Shape;2964;p97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2965" name="Google Shape;2965;p97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2966" name="Google Shape;2966;p97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2967" name="Google Shape;2967;p97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8" name="Google Shape;2968;p97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69" name="Google Shape;2969;p97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2970" name="Google Shape;2970;p97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1" name="Google Shape;2971;p97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72" name="Google Shape;2972;p97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3" name="Google Shape;2973;p97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4" name="Google Shape;2974;p97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5" name="Google Shape;2975;p97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6" name="Google Shape;2976;p97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7" name="Google Shape;2977;p97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8" name="Google Shape;2978;p97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2979" name="Google Shape;2979;p97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0" name="Google Shape;2980;p97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1" name="Google Shape;2981;p97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2" name="Google Shape;2982;p97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83" name="Google Shape;2983;p97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4" name="Google Shape;2984;p97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85" name="Google Shape;2985;p97"/>
          <p:cNvSpPr txBox="1"/>
          <p:nvPr/>
        </p:nvSpPr>
        <p:spPr>
          <a:xfrm>
            <a:off x="5654431" y="1535784"/>
            <a:ext cx="1806542" cy="722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A screen shot of a computer&#10;&#10;Description automatically generated" id="2986" name="Google Shape;2986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4364" y="1409542"/>
            <a:ext cx="476091" cy="88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987" name="Google Shape;2987;p97"/>
          <p:cNvSpPr/>
          <p:nvPr/>
        </p:nvSpPr>
        <p:spPr>
          <a:xfrm flipH="1">
            <a:off x="8090453" y="1481055"/>
            <a:ext cx="2178110" cy="13415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97"/>
          <p:cNvSpPr txBox="1"/>
          <p:nvPr/>
        </p:nvSpPr>
        <p:spPr>
          <a:xfrm>
            <a:off x="8276936" y="2295519"/>
            <a:ext cx="14319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989" name="Google Shape;2989;p97"/>
          <p:cNvSpPr txBox="1"/>
          <p:nvPr/>
        </p:nvSpPr>
        <p:spPr>
          <a:xfrm>
            <a:off x="8814217" y="1394177"/>
            <a:ext cx="1682278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A screen shot of a computer&#10;&#10;Description automatically generated" id="2990" name="Google Shape;2990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1512" y="1429420"/>
            <a:ext cx="476091" cy="88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991" name="Google Shape;2991;p97"/>
          <p:cNvSpPr/>
          <p:nvPr/>
        </p:nvSpPr>
        <p:spPr>
          <a:xfrm>
            <a:off x="7103166" y="1835866"/>
            <a:ext cx="910996" cy="582658"/>
          </a:xfrm>
          <a:custGeom>
            <a:rect b="b" l="l" r="r" t="t"/>
            <a:pathLst>
              <a:path extrusionOk="0" h="1563328" w="2428541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sitting, drawing, bus&#10;&#10;Description automatically generated" id="2992" name="Google Shape;2992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7902" y="2001081"/>
            <a:ext cx="553011" cy="312708"/>
          </a:xfrm>
          <a:prstGeom prst="rect">
            <a:avLst/>
          </a:prstGeom>
          <a:noFill/>
          <a:ln>
            <a:noFill/>
          </a:ln>
        </p:spPr>
      </p:pic>
      <p:sp>
        <p:nvSpPr>
          <p:cNvPr id="2993" name="Google Shape;2993;p97"/>
          <p:cNvSpPr txBox="1"/>
          <p:nvPr/>
        </p:nvSpPr>
        <p:spPr>
          <a:xfrm>
            <a:off x="1139688" y="3074505"/>
            <a:ext cx="10654747" cy="3372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must:</a:t>
            </a:r>
            <a:endParaRPr/>
          </a:p>
          <a:p>
            <a:pPr indent="-274638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with BS: (establish) communication over 4G wireless link</a:t>
            </a:r>
            <a:endParaRPr/>
          </a:p>
          <a:p>
            <a:pPr indent="-274638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itself to network, and authenticate network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notable differences from WiFi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mobile’s SIMcard provides global identity, contains shared keys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 in visited network depend on (paid) service subscription in home network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8" name="Shape 2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9" name="Google Shape;2999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0" name="Google Shape;3000;p98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001" name="Google Shape;3001;p98"/>
          <p:cNvSpPr txBox="1"/>
          <p:nvPr/>
        </p:nvSpPr>
        <p:spPr>
          <a:xfrm>
            <a:off x="1139688" y="3167269"/>
            <a:ext cx="10654747" cy="3372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mobile, BS use derived session key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BS-M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encrypt communications over 4G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MME in visited network + HHS in home network, together play role of WiFi 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ultimate authenticator is HSS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 and business relationship between visited and home networks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2" name="Google Shape;3002;p98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003" name="Google Shape;3003;p98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4" name="Google Shape;3004;p98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5" name="Google Shape;3005;p98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06" name="Google Shape;3006;p98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07" name="Google Shape;3007;p98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8" name="Google Shape;3008;p98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009" name="Google Shape;3009;p98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10" name="Google Shape;3010;p98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011" name="Google Shape;3011;p9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012" name="Google Shape;3012;p9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13" name="Google Shape;3013;p98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014" name="Google Shape;3014;p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5" name="Google Shape;3015;p98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6" name="Google Shape;3016;p98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017" name="Google Shape;3017;p98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018" name="Google Shape;3018;p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9" name="Google Shape;3019;p98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020" name="Google Shape;3020;p9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1" name="Google Shape;3021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2" name="Google Shape;3022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3" name="Google Shape;3023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24" name="Google Shape;3024;p98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025" name="Google Shape;3025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26" name="Google Shape;3026;p98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027" name="Google Shape;3027;p98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028" name="Google Shape;3028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29" name="Google Shape;3029;p98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030" name="Google Shape;3030;p98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031" name="Google Shape;3031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32" name="Google Shape;3032;p98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033" name="Google Shape;3033;p98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034" name="Google Shape;3034;p98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035" name="Google Shape;3035;p98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36" name="Google Shape;3036;p98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037" name="Google Shape;3037;p9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8" name="Google Shape;3038;p9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39" name="Google Shape;3039;p9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0" name="Google Shape;3040;p9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41" name="Google Shape;3041;p98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42" name="Google Shape;3042;p98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043" name="Google Shape;3043;p9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4" name="Google Shape;3044;p9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5" name="Google Shape;3045;p9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6" name="Google Shape;3046;p9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7" name="Google Shape;3047;p9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8" name="Google Shape;3048;p9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9" name="Google Shape;3049;p9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0" name="Google Shape;3050;p9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1" name="Google Shape;3051;p9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2" name="Google Shape;3052;p9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3" name="Google Shape;3053;p9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4" name="Google Shape;3054;p9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5" name="Google Shape;3055;p9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6" name="Google Shape;3056;p9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7" name="Google Shape;3057;p9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058" name="Google Shape;3058;p98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059" name="Google Shape;3059;p98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060" name="Google Shape;3060;p98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61" name="Google Shape;3061;p98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062" name="Google Shape;3062;p98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063" name="Google Shape;3063;p98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064" name="Google Shape;3064;p9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5" name="Google Shape;3065;p9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6" name="Google Shape;3066;p98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067" name="Google Shape;3067;p9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8" name="Google Shape;3068;p9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69" name="Google Shape;3069;p98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0" name="Google Shape;3070;p98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1" name="Google Shape;3071;p98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2" name="Google Shape;3072;p98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3" name="Google Shape;3073;p98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4" name="Google Shape;3074;p98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75" name="Google Shape;3075;p98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076" name="Google Shape;3076;p98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7" name="Google Shape;3077;p98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8" name="Google Shape;3078;p98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9" name="Google Shape;3079;p98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80" name="Google Shape;3080;p98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1" name="Google Shape;3081;p98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6" name="Shape 3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7" name="Google Shape;3087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8" name="Google Shape;3088;p9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089" name="Google Shape;3089;p99"/>
          <p:cNvGrpSpPr/>
          <p:nvPr/>
        </p:nvGrpSpPr>
        <p:grpSpPr>
          <a:xfrm>
            <a:off x="1887538" y="2736842"/>
            <a:ext cx="7017923" cy="558823"/>
            <a:chOff x="1887538" y="2736842"/>
            <a:chExt cx="7017923" cy="558823"/>
          </a:xfrm>
        </p:grpSpPr>
        <p:cxnSp>
          <p:nvCxnSpPr>
            <p:cNvPr id="3090" name="Google Shape;3090;p99"/>
            <p:cNvCxnSpPr/>
            <p:nvPr/>
          </p:nvCxnSpPr>
          <p:spPr>
            <a:xfrm>
              <a:off x="1887538" y="3037340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1" name="Google Shape;3091;p99"/>
            <p:cNvCxnSpPr/>
            <p:nvPr/>
          </p:nvCxnSpPr>
          <p:spPr>
            <a:xfrm>
              <a:off x="4038600" y="3068672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2" name="Google Shape;3092;p99"/>
            <p:cNvCxnSpPr/>
            <p:nvPr/>
          </p:nvCxnSpPr>
          <p:spPr>
            <a:xfrm>
              <a:off x="5919866" y="3134515"/>
              <a:ext cx="2985595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093" name="Google Shape;3093;p99"/>
            <p:cNvGrpSpPr/>
            <p:nvPr/>
          </p:nvGrpSpPr>
          <p:grpSpPr>
            <a:xfrm>
              <a:off x="7139101" y="2926333"/>
              <a:ext cx="305943" cy="369332"/>
              <a:chOff x="7031063" y="1728412"/>
              <a:chExt cx="305943" cy="369332"/>
            </a:xfrm>
          </p:grpSpPr>
          <p:sp>
            <p:nvSpPr>
              <p:cNvPr id="3094" name="Google Shape;3094;p99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5" name="Google Shape;3095;p99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  <p:sp>
          <p:nvSpPr>
            <p:cNvPr id="3096" name="Google Shape;3096;p99"/>
            <p:cNvSpPr txBox="1"/>
            <p:nvPr/>
          </p:nvSpPr>
          <p:spPr>
            <a:xfrm>
              <a:off x="2465463" y="2736842"/>
              <a:ext cx="6407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attach</a:t>
              </a:r>
              <a:endParaRPr/>
            </a:p>
          </p:txBody>
        </p:sp>
        <p:sp>
          <p:nvSpPr>
            <p:cNvPr id="3097" name="Google Shape;3097;p99"/>
            <p:cNvSpPr txBox="1"/>
            <p:nvPr/>
          </p:nvSpPr>
          <p:spPr>
            <a:xfrm>
              <a:off x="4562472" y="2753114"/>
              <a:ext cx="6407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attach</a:t>
              </a:r>
              <a:endParaRPr/>
            </a:p>
          </p:txBody>
        </p:sp>
        <p:sp>
          <p:nvSpPr>
            <p:cNvPr id="3098" name="Google Shape;3098;p99"/>
            <p:cNvSpPr txBox="1"/>
            <p:nvPr/>
          </p:nvSpPr>
          <p:spPr>
            <a:xfrm>
              <a:off x="6241127" y="2738790"/>
              <a:ext cx="21031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AUTH_REQ (IMSI, VN info)</a:t>
              </a:r>
              <a:endParaRPr/>
            </a:p>
          </p:txBody>
        </p:sp>
      </p:grpSp>
      <p:cxnSp>
        <p:nvCxnSpPr>
          <p:cNvPr id="3099" name="Google Shape;3099;p99"/>
          <p:cNvCxnSpPr/>
          <p:nvPr/>
        </p:nvCxnSpPr>
        <p:spPr>
          <a:xfrm>
            <a:off x="1781522" y="2738790"/>
            <a:ext cx="0" cy="675303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0" name="Google Shape;3100;p99"/>
          <p:cNvCxnSpPr/>
          <p:nvPr/>
        </p:nvCxnSpPr>
        <p:spPr>
          <a:xfrm>
            <a:off x="3955634" y="2753114"/>
            <a:ext cx="0" cy="660979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1" name="Google Shape;3101;p99"/>
          <p:cNvCxnSpPr/>
          <p:nvPr/>
        </p:nvCxnSpPr>
        <p:spPr>
          <a:xfrm>
            <a:off x="5797483" y="2767438"/>
            <a:ext cx="0" cy="646655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2" name="Google Shape;3102;p99"/>
          <p:cNvCxnSpPr/>
          <p:nvPr/>
        </p:nvCxnSpPr>
        <p:spPr>
          <a:xfrm>
            <a:off x="8989635" y="2781762"/>
            <a:ext cx="0" cy="632331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103" name="Google Shape;3103;p99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104" name="Google Shape;3104;p99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5" name="Google Shape;3105;p99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6" name="Google Shape;3106;p99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07" name="Google Shape;3107;p99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08" name="Google Shape;3108;p99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9" name="Google Shape;3109;p99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110" name="Google Shape;3110;p99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11" name="Google Shape;3111;p99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112" name="Google Shape;3112;p9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113" name="Google Shape;3113;p9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14" name="Google Shape;3114;p99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115" name="Google Shape;3115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6" name="Google Shape;3116;p99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7" name="Google Shape;3117;p99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118" name="Google Shape;3118;p99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119" name="Google Shape;3119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0" name="Google Shape;3120;p99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121" name="Google Shape;3121;p9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2" name="Google Shape;3122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3" name="Google Shape;3123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4" name="Google Shape;3124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25" name="Google Shape;3125;p99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126" name="Google Shape;3126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27" name="Google Shape;3127;p99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128" name="Google Shape;3128;p99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129" name="Google Shape;3129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30" name="Google Shape;3130;p99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131" name="Google Shape;3131;p99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132" name="Google Shape;3132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33" name="Google Shape;3133;p99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134" name="Google Shape;3134;p99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135" name="Google Shape;3135;p99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136" name="Google Shape;3136;p99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37" name="Google Shape;3137;p99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138" name="Google Shape;3138;p99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39" name="Google Shape;3139;p99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0" name="Google Shape;3140;p99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1" name="Google Shape;3141;p99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42" name="Google Shape;3142;p99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43" name="Google Shape;3143;p99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144" name="Google Shape;3144;p99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5" name="Google Shape;3145;p99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6" name="Google Shape;3146;p99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7" name="Google Shape;3147;p99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8" name="Google Shape;3148;p99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9" name="Google Shape;3149;p99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0" name="Google Shape;3150;p99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1" name="Google Shape;3151;p99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2" name="Google Shape;3152;p99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3" name="Google Shape;3153;p99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4" name="Google Shape;3154;p99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5" name="Google Shape;3155;p99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6" name="Google Shape;3156;p99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7" name="Google Shape;3157;p99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8" name="Google Shape;3158;p99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159" name="Google Shape;3159;p99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160" name="Google Shape;3160;p99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161" name="Google Shape;3161;p99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62" name="Google Shape;3162;p99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163" name="Google Shape;3163;p99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164" name="Google Shape;3164;p99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165" name="Google Shape;3165;p9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6" name="Google Shape;3166;p9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67" name="Google Shape;3167;p99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168" name="Google Shape;3168;p9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9" name="Google Shape;3169;p9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70" name="Google Shape;3170;p99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1" name="Google Shape;3171;p99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2" name="Google Shape;3172;p99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3" name="Google Shape;3173;p99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4" name="Google Shape;3174;p99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5" name="Google Shape;3175;p99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76" name="Google Shape;3176;p99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177" name="Google Shape;3177;p99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78" name="Google Shape;3178;p99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79" name="Google Shape;3179;p99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0" name="Google Shape;3180;p99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81" name="Google Shape;3181;p99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2" name="Google Shape;3182;p99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183" name="Google Shape;3183;p99"/>
          <p:cNvGrpSpPr/>
          <p:nvPr/>
        </p:nvGrpSpPr>
        <p:grpSpPr>
          <a:xfrm>
            <a:off x="1028700" y="4055169"/>
            <a:ext cx="9819860" cy="1908215"/>
            <a:chOff x="1028700" y="4055169"/>
            <a:chExt cx="9819860" cy="1908215"/>
          </a:xfrm>
        </p:grpSpPr>
        <p:sp>
          <p:nvSpPr>
            <p:cNvPr id="3184" name="Google Shape;3184;p99"/>
            <p:cNvSpPr txBox="1"/>
            <p:nvPr/>
          </p:nvSpPr>
          <p:spPr>
            <a:xfrm>
              <a:off x="1081708" y="4055169"/>
              <a:ext cx="9766852" cy="190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7338" lvl="0" marL="287338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request to home network HSS</a:t>
              </a:r>
              <a:endParaRPr/>
            </a:p>
            <a:p>
              <a:pPr indent="-236537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sends attach message (containing its IMSI, visited network info) relayed from BS to visited MME to home HHS</a:t>
              </a:r>
              <a:endParaRPr/>
            </a:p>
            <a:p>
              <a:pPr indent="-236537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 identifies mobile’s home network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85" name="Google Shape;3185;p99"/>
            <p:cNvGrpSpPr/>
            <p:nvPr/>
          </p:nvGrpSpPr>
          <p:grpSpPr>
            <a:xfrm>
              <a:off x="1028700" y="4138907"/>
              <a:ext cx="305943" cy="369332"/>
              <a:chOff x="7031063" y="1754916"/>
              <a:chExt cx="305943" cy="369332"/>
            </a:xfrm>
          </p:grpSpPr>
          <p:sp>
            <p:nvSpPr>
              <p:cNvPr id="3186" name="Google Shape;3186;p99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7" name="Google Shape;3187;p99"/>
              <p:cNvSpPr txBox="1"/>
              <p:nvPr/>
            </p:nvSpPr>
            <p:spPr>
              <a:xfrm>
                <a:off x="7031063" y="1754916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2" name="Shape 3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3" name="Google Shape;3193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4" name="Google Shape;3194;p10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195" name="Google Shape;3195;p100"/>
          <p:cNvSpPr txBox="1"/>
          <p:nvPr/>
        </p:nvSpPr>
        <p:spPr>
          <a:xfrm>
            <a:off x="1126434" y="4068419"/>
            <a:ext cx="10919792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 use shared-in-advance secret key,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HSS-M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to derive authentication token,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expected authentication response token,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aseline="-25000"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endParaRPr i="1" sz="24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 info encrypted by HSS using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HSS-M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allowing mobile to know that whoever computed </a:t>
            </a: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knows shared-in-advance secret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has authenticated network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HSS keeps </a:t>
            </a:r>
            <a:r>
              <a:rPr b="0" i="1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="0" baseline="-25000" i="1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HSS </a:t>
            </a:r>
            <a:r>
              <a:rPr b="0" i="0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for later use</a:t>
            </a:r>
            <a:endParaRPr b="0" i="0" sz="1800" u="none" cap="none" strike="noStrike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6" name="Google Shape;3196;p100"/>
          <p:cNvGrpSpPr/>
          <p:nvPr/>
        </p:nvGrpSpPr>
        <p:grpSpPr>
          <a:xfrm>
            <a:off x="1028700" y="4138907"/>
            <a:ext cx="305943" cy="369332"/>
            <a:chOff x="7031063" y="1754916"/>
            <a:chExt cx="305943" cy="369332"/>
          </a:xfrm>
        </p:grpSpPr>
        <p:sp>
          <p:nvSpPr>
            <p:cNvPr id="3197" name="Google Shape;3197;p100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8" name="Google Shape;3198;p100"/>
            <p:cNvSpPr txBox="1"/>
            <p:nvPr/>
          </p:nvSpPr>
          <p:spPr>
            <a:xfrm>
              <a:off x="7031063" y="1754916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grpSp>
        <p:nvGrpSpPr>
          <p:cNvPr id="3199" name="Google Shape;3199;p100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200" name="Google Shape;3200;p100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201" name="Google Shape;3201;p100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202" name="Google Shape;3202;p100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3" name="Google Shape;3203;p100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204" name="Google Shape;3204;p100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205" name="Google Shape;3205;p100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06" name="Google Shape;3206;p100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207" name="Google Shape;3207;p100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208" name="Google Shape;3208;p100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209" name="Google Shape;3209;p100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0" name="Google Shape;3210;p100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1" name="Google Shape;3211;p100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212" name="Google Shape;3212;p100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213" name="Google Shape;3213;p100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4" name="Google Shape;3214;p100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215" name="Google Shape;3215;p100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216" name="Google Shape;3216;p100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217" name="Google Shape;3217;p100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218" name="Google Shape;3218;p100"/>
          <p:cNvCxnSpPr/>
          <p:nvPr/>
        </p:nvCxnSpPr>
        <p:spPr>
          <a:xfrm>
            <a:off x="1781522" y="2738790"/>
            <a:ext cx="0" cy="10331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19" name="Google Shape;3219;p100"/>
          <p:cNvCxnSpPr/>
          <p:nvPr/>
        </p:nvCxnSpPr>
        <p:spPr>
          <a:xfrm>
            <a:off x="3955634" y="2753114"/>
            <a:ext cx="0" cy="10187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0" name="Google Shape;3220;p100"/>
          <p:cNvCxnSpPr/>
          <p:nvPr/>
        </p:nvCxnSpPr>
        <p:spPr>
          <a:xfrm>
            <a:off x="5797483" y="2767438"/>
            <a:ext cx="0" cy="1004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1" name="Google Shape;3221;p100"/>
          <p:cNvCxnSpPr>
            <a:endCxn id="3204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222" name="Google Shape;3222;p100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223" name="Google Shape;3223;p100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4" name="Google Shape;3224;p100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5" name="Google Shape;3225;p100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26" name="Google Shape;3226;p100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7" name="Google Shape;3227;p100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8" name="Google Shape;3228;p100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229" name="Google Shape;3229;p100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30" name="Google Shape;3230;p100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231" name="Google Shape;3231;p10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232" name="Google Shape;3232;p10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233" name="Google Shape;3233;p100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234" name="Google Shape;3234;p10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5" name="Google Shape;3235;p100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6" name="Google Shape;3236;p100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237" name="Google Shape;3237;p100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238" name="Google Shape;3238;p10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9" name="Google Shape;3239;p100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240" name="Google Shape;3240;p10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1" name="Google Shape;3241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2" name="Google Shape;3242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3" name="Google Shape;3243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44" name="Google Shape;3244;p100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245" name="Google Shape;3245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46" name="Google Shape;3246;p100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247" name="Google Shape;3247;p100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248" name="Google Shape;3248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49" name="Google Shape;3249;p100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250" name="Google Shape;3250;p100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251" name="Google Shape;3251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52" name="Google Shape;3252;p100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253" name="Google Shape;3253;p100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254" name="Google Shape;3254;p100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255" name="Google Shape;3255;p100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56" name="Google Shape;3256;p100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257" name="Google Shape;3257;p100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8" name="Google Shape;3258;p100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9" name="Google Shape;3259;p100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0" name="Google Shape;3260;p100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61" name="Google Shape;3261;p100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62" name="Google Shape;3262;p100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263" name="Google Shape;3263;p100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4" name="Google Shape;3264;p100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5" name="Google Shape;3265;p100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6" name="Google Shape;3266;p100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7" name="Google Shape;3267;p100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8" name="Google Shape;3268;p100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9" name="Google Shape;3269;p100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0" name="Google Shape;3270;p100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1" name="Google Shape;3271;p100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2" name="Google Shape;3272;p100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3" name="Google Shape;3273;p100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4" name="Google Shape;3274;p100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5" name="Google Shape;3275;p100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6" name="Google Shape;3276;p100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7" name="Google Shape;3277;p100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278" name="Google Shape;3278;p100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279" name="Google Shape;3279;p100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280" name="Google Shape;3280;p100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281" name="Google Shape;3281;p100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282" name="Google Shape;3282;p100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283" name="Google Shape;3283;p100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284" name="Google Shape;3284;p10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85" name="Google Shape;3285;p10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86" name="Google Shape;3286;p100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287" name="Google Shape;3287;p10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88" name="Google Shape;3288;p10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89" name="Google Shape;3289;p100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0" name="Google Shape;3290;p100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1" name="Google Shape;3291;p100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2" name="Google Shape;3292;p100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3" name="Google Shape;3293;p100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4" name="Google Shape;3294;p100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95" name="Google Shape;3295;p100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296" name="Google Shape;3296;p100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7" name="Google Shape;3297;p100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8" name="Google Shape;3298;p100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9" name="Google Shape;3299;p100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00" name="Google Shape;3300;p100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1" name="Google Shape;3301;p100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6" name="Shape 3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" name="Google Shape;3307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08" name="Google Shape;3308;p10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309" name="Google Shape;3309;p101"/>
          <p:cNvGrpSpPr/>
          <p:nvPr/>
        </p:nvGrpSpPr>
        <p:grpSpPr>
          <a:xfrm>
            <a:off x="1028700" y="4797287"/>
            <a:ext cx="10023613" cy="1261884"/>
            <a:chOff x="1028700" y="4797287"/>
            <a:chExt cx="10023613" cy="1261884"/>
          </a:xfrm>
        </p:grpSpPr>
        <p:sp>
          <p:nvSpPr>
            <p:cNvPr id="3310" name="Google Shape;3310;p101"/>
            <p:cNvSpPr txBox="1"/>
            <p:nvPr/>
          </p:nvSpPr>
          <p:spPr>
            <a:xfrm>
              <a:off x="1126434" y="4797287"/>
              <a:ext cx="9925879" cy="1261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Char char="•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response from mobile:</a:t>
              </a:r>
              <a:endParaRPr/>
            </a:p>
            <a:p>
              <a:pPr indent="-184150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computes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its secret key to make same cryptographic calculation that HSS made to compute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and sends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MME</a:t>
              </a:r>
              <a:endParaRPr/>
            </a:p>
          </p:txBody>
        </p:sp>
        <p:grpSp>
          <p:nvGrpSpPr>
            <p:cNvPr id="3311" name="Google Shape;3311;p101"/>
            <p:cNvGrpSpPr/>
            <p:nvPr/>
          </p:nvGrpSpPr>
          <p:grpSpPr>
            <a:xfrm>
              <a:off x="1028700" y="4867775"/>
              <a:ext cx="291152" cy="369332"/>
              <a:chOff x="7031063" y="1754916"/>
              <a:chExt cx="291152" cy="369332"/>
            </a:xfrm>
          </p:grpSpPr>
          <p:sp>
            <p:nvSpPr>
              <p:cNvPr id="3312" name="Google Shape;3312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101"/>
              <p:cNvSpPr txBox="1"/>
              <p:nvPr/>
            </p:nvSpPr>
            <p:spPr>
              <a:xfrm>
                <a:off x="7031063" y="1754916"/>
                <a:ext cx="2824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grpSp>
        <p:nvGrpSpPr>
          <p:cNvPr id="3314" name="Google Shape;3314;p101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315" name="Google Shape;3315;p101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316" name="Google Shape;3316;p101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317" name="Google Shape;3317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8" name="Google Shape;3318;p101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319" name="Google Shape;3319;p101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320" name="Google Shape;3320;p101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321" name="Google Shape;3321;p101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322" name="Google Shape;3322;p101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323" name="Google Shape;3323;p101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324" name="Google Shape;3324;p101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5" name="Google Shape;3325;p101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6" name="Google Shape;3326;p101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327" name="Google Shape;3327;p101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328" name="Google Shape;3328;p101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9" name="Google Shape;3329;p101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330" name="Google Shape;3330;p101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331" name="Google Shape;3331;p101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332" name="Google Shape;3332;p101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333" name="Google Shape;3333;p101"/>
          <p:cNvCxnSpPr/>
          <p:nvPr/>
        </p:nvCxnSpPr>
        <p:spPr>
          <a:xfrm>
            <a:off x="1781522" y="2738790"/>
            <a:ext cx="0" cy="14141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4" name="Google Shape;3334;p101"/>
          <p:cNvCxnSpPr/>
          <p:nvPr/>
        </p:nvCxnSpPr>
        <p:spPr>
          <a:xfrm>
            <a:off x="3955634" y="2753114"/>
            <a:ext cx="0" cy="13997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5" name="Google Shape;3335;p101"/>
          <p:cNvCxnSpPr/>
          <p:nvPr/>
        </p:nvCxnSpPr>
        <p:spPr>
          <a:xfrm>
            <a:off x="5797483" y="2767438"/>
            <a:ext cx="0" cy="1385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6" name="Google Shape;3336;p101"/>
          <p:cNvCxnSpPr>
            <a:endCxn id="3319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337" name="Google Shape;3337;p101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338" name="Google Shape;3338;p101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9" name="Google Shape;3339;p101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0" name="Google Shape;3340;p101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41" name="Google Shape;3341;p101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42" name="Google Shape;3342;p101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3" name="Google Shape;3343;p101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344" name="Google Shape;3344;p101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45" name="Google Shape;3345;p101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346" name="Google Shape;3346;p10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347" name="Google Shape;3347;p10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348" name="Google Shape;3348;p101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349" name="Google Shape;3349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0" name="Google Shape;3350;p101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1" name="Google Shape;3351;p101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352" name="Google Shape;3352;p101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353" name="Google Shape;3353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4" name="Google Shape;3354;p101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355" name="Google Shape;3355;p10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56" name="Google Shape;3356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57" name="Google Shape;3357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58" name="Google Shape;3358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59" name="Google Shape;3359;p101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360" name="Google Shape;3360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1" name="Google Shape;3361;p101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362" name="Google Shape;3362;p101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363" name="Google Shape;3363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4" name="Google Shape;3364;p101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365" name="Google Shape;3365;p101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366" name="Google Shape;3366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7" name="Google Shape;3367;p101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368" name="Google Shape;3368;p101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369" name="Google Shape;3369;p101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370" name="Google Shape;3370;p101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71" name="Google Shape;3371;p101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372" name="Google Shape;3372;p101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3" name="Google Shape;3373;p101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4" name="Google Shape;3374;p101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5" name="Google Shape;3375;p101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76" name="Google Shape;3376;p101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77" name="Google Shape;3377;p101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378" name="Google Shape;3378;p101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79" name="Google Shape;3379;p101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0" name="Google Shape;3380;p101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1" name="Google Shape;3381;p101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2" name="Google Shape;3382;p101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3" name="Google Shape;3383;p101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4" name="Google Shape;3384;p101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5" name="Google Shape;3385;p101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6" name="Google Shape;3386;p101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7" name="Google Shape;3387;p101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8" name="Google Shape;3388;p101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9" name="Google Shape;3389;p101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0" name="Google Shape;3390;p101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1" name="Google Shape;3391;p101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2" name="Google Shape;3392;p101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393" name="Google Shape;3393;p101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394" name="Google Shape;3394;p101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395" name="Google Shape;3395;p101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396" name="Google Shape;3396;p101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397" name="Google Shape;3397;p101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398" name="Google Shape;3398;p101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399" name="Google Shape;3399;p101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0" name="Google Shape;3400;p101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01" name="Google Shape;3401;p101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402" name="Google Shape;3402;p101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3" name="Google Shape;3403;p101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04" name="Google Shape;3404;p101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5" name="Google Shape;3405;p101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6" name="Google Shape;3406;p101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7" name="Google Shape;3407;p101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8" name="Google Shape;3408;p101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9" name="Google Shape;3409;p101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10" name="Google Shape;3410;p101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411" name="Google Shape;3411;p101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2" name="Google Shape;3412;p101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3" name="Google Shape;3413;p101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4" name="Google Shape;3414;p101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15" name="Google Shape;3415;p101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6" name="Google Shape;3416;p101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417" name="Google Shape;3417;p101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418" name="Google Shape;3418;p101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419" name="Google Shape;3419;p101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420" name="Google Shape;3420;p101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421" name="Google Shape;3421;p101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422" name="Google Shape;3422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3" name="Google Shape;3423;p101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8" name="Shape 3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9" name="Google Shape;3429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0" name="Google Shape;3430;p10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431" name="Google Shape;3431;p102"/>
          <p:cNvSpPr txBox="1"/>
          <p:nvPr/>
        </p:nvSpPr>
        <p:spPr>
          <a:xfrm>
            <a:off x="1126434" y="4797287"/>
            <a:ext cx="10495723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is authenticated by network:</a:t>
            </a:r>
            <a:endParaRPr/>
          </a:p>
          <a:p>
            <a:pPr indent="-234950" lvl="0" marL="522288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MMS compares mobile-computed value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HSS-computed value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 If they match, mobile is authenticated ! (why?)</a:t>
            </a:r>
            <a:endParaRPr/>
          </a:p>
          <a:p>
            <a:pPr indent="-234950" lvl="0" marL="522288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MMS informs BS that mobile is authenticated, generates keys for BS</a:t>
            </a:r>
            <a:endParaRPr/>
          </a:p>
        </p:txBody>
      </p:sp>
      <p:grpSp>
        <p:nvGrpSpPr>
          <p:cNvPr id="3432" name="Google Shape;3432;p102"/>
          <p:cNvGrpSpPr/>
          <p:nvPr/>
        </p:nvGrpSpPr>
        <p:grpSpPr>
          <a:xfrm>
            <a:off x="1028700" y="4867775"/>
            <a:ext cx="306494" cy="369332"/>
            <a:chOff x="7031063" y="1754916"/>
            <a:chExt cx="306494" cy="369332"/>
          </a:xfrm>
        </p:grpSpPr>
        <p:sp>
          <p:nvSpPr>
            <p:cNvPr id="3433" name="Google Shape;3433;p10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4" name="Google Shape;3434;p102"/>
            <p:cNvSpPr txBox="1"/>
            <p:nvPr/>
          </p:nvSpPr>
          <p:spPr>
            <a:xfrm>
              <a:off x="7031063" y="1754916"/>
              <a:ext cx="3064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grpSp>
        <p:nvGrpSpPr>
          <p:cNvPr id="3435" name="Google Shape;3435;p102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436" name="Google Shape;3436;p102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437" name="Google Shape;3437;p102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438" name="Google Shape;3438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9" name="Google Shape;3439;p102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440" name="Google Shape;3440;p102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441" name="Google Shape;3441;p102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442" name="Google Shape;3442;p102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443" name="Google Shape;3443;p102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444" name="Google Shape;3444;p102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445" name="Google Shape;3445;p102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6" name="Google Shape;3446;p102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7" name="Google Shape;3447;p102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448" name="Google Shape;3448;p102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449" name="Google Shape;3449;p10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0" name="Google Shape;3450;p102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451" name="Google Shape;3451;p102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452" name="Google Shape;3452;p102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453" name="Google Shape;3453;p102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454" name="Google Shape;3454;p102"/>
          <p:cNvCxnSpPr/>
          <p:nvPr/>
        </p:nvCxnSpPr>
        <p:spPr>
          <a:xfrm>
            <a:off x="1781522" y="2738790"/>
            <a:ext cx="0" cy="19475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5" name="Google Shape;3455;p102"/>
          <p:cNvCxnSpPr/>
          <p:nvPr/>
        </p:nvCxnSpPr>
        <p:spPr>
          <a:xfrm>
            <a:off x="3955634" y="2753114"/>
            <a:ext cx="0" cy="19331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6" name="Google Shape;3456;p102"/>
          <p:cNvCxnSpPr/>
          <p:nvPr/>
        </p:nvCxnSpPr>
        <p:spPr>
          <a:xfrm>
            <a:off x="5797483" y="2767438"/>
            <a:ext cx="0" cy="19188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7" name="Google Shape;3457;p102"/>
          <p:cNvCxnSpPr>
            <a:endCxn id="3440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458" name="Google Shape;3458;p102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459" name="Google Shape;3459;p102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0" name="Google Shape;3460;p102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1" name="Google Shape;3461;p102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62" name="Google Shape;3462;p102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63" name="Google Shape;3463;p102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4" name="Google Shape;3464;p102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465" name="Google Shape;3465;p102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66" name="Google Shape;3466;p102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467" name="Google Shape;3467;p10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468" name="Google Shape;3468;p10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69" name="Google Shape;3469;p102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470" name="Google Shape;3470;p1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1" name="Google Shape;3471;p102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2" name="Google Shape;3472;p102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473" name="Google Shape;3473;p102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474" name="Google Shape;3474;p1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5" name="Google Shape;3475;p102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476" name="Google Shape;3476;p10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77" name="Google Shape;3477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78" name="Google Shape;3478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79" name="Google Shape;3479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80" name="Google Shape;3480;p102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481" name="Google Shape;3481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82" name="Google Shape;3482;p102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483" name="Google Shape;3483;p102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484" name="Google Shape;3484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85" name="Google Shape;3485;p102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486" name="Google Shape;3486;p102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487" name="Google Shape;3487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88" name="Google Shape;3488;p102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489" name="Google Shape;3489;p102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490" name="Google Shape;3490;p102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491" name="Google Shape;3491;p102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92" name="Google Shape;3492;p102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493" name="Google Shape;3493;p102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4" name="Google Shape;3494;p102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5" name="Google Shape;3495;p102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6" name="Google Shape;3496;p102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97" name="Google Shape;3497;p102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98" name="Google Shape;3498;p102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499" name="Google Shape;3499;p102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0" name="Google Shape;3500;p102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1" name="Google Shape;3501;p102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2" name="Google Shape;3502;p102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3" name="Google Shape;3503;p102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4" name="Google Shape;3504;p102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5" name="Google Shape;3505;p102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6" name="Google Shape;3506;p102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7" name="Google Shape;3507;p102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8" name="Google Shape;3508;p102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9" name="Google Shape;3509;p102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0" name="Google Shape;3510;p102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1" name="Google Shape;3511;p102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2" name="Google Shape;3512;p102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3" name="Google Shape;3513;p102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514" name="Google Shape;3514;p102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515" name="Google Shape;3515;p102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516" name="Google Shape;3516;p102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17" name="Google Shape;3517;p102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518" name="Google Shape;3518;p102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519" name="Google Shape;3519;p102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520" name="Google Shape;3520;p10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1" name="Google Shape;3521;p10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22" name="Google Shape;3522;p102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523" name="Google Shape;3523;p10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4" name="Google Shape;3524;p10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525" name="Google Shape;3525;p102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6" name="Google Shape;3526;p102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7" name="Google Shape;3527;p102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8" name="Google Shape;3528;p102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9" name="Google Shape;3529;p102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0" name="Google Shape;3530;p102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31" name="Google Shape;3531;p102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532" name="Google Shape;3532;p102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3" name="Google Shape;3533;p102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4" name="Google Shape;3534;p102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5" name="Google Shape;3535;p102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536" name="Google Shape;3536;p102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7" name="Google Shape;3537;p102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538" name="Google Shape;3538;p102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539" name="Google Shape;3539;p102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40" name="Google Shape;3540;p102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41" name="Google Shape;3541;p102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542" name="Google Shape;3542;p102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543" name="Google Shape;3543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4" name="Google Shape;3544;p102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grpSp>
        <p:nvGrpSpPr>
          <p:cNvPr id="3545" name="Google Shape;3545;p102"/>
          <p:cNvGrpSpPr/>
          <p:nvPr/>
        </p:nvGrpSpPr>
        <p:grpSpPr>
          <a:xfrm>
            <a:off x="1939054" y="4066669"/>
            <a:ext cx="3799395" cy="567195"/>
            <a:chOff x="1939054" y="4066669"/>
            <a:chExt cx="3799395" cy="567195"/>
          </a:xfrm>
        </p:grpSpPr>
        <p:cxnSp>
          <p:nvCxnSpPr>
            <p:cNvPr id="3546" name="Google Shape;3546;p102"/>
            <p:cNvCxnSpPr/>
            <p:nvPr/>
          </p:nvCxnSpPr>
          <p:spPr>
            <a:xfrm rot="10800000">
              <a:off x="4090116" y="447271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47" name="Google Shape;3547;p102"/>
            <p:cNvCxnSpPr/>
            <p:nvPr/>
          </p:nvCxnSpPr>
          <p:spPr>
            <a:xfrm rot="10800000">
              <a:off x="1939054" y="4563316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548" name="Google Shape;3548;p102"/>
            <p:cNvGrpSpPr/>
            <p:nvPr/>
          </p:nvGrpSpPr>
          <p:grpSpPr>
            <a:xfrm>
              <a:off x="4787193" y="4264532"/>
              <a:ext cx="305943" cy="369332"/>
              <a:chOff x="7031063" y="1728412"/>
              <a:chExt cx="305943" cy="369332"/>
            </a:xfrm>
          </p:grpSpPr>
          <p:sp>
            <p:nvSpPr>
              <p:cNvPr id="3549" name="Google Shape;3549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0" name="Google Shape;3550;p102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3551" name="Google Shape;3551;p102"/>
            <p:cNvSpPr txBox="1"/>
            <p:nvPr/>
          </p:nvSpPr>
          <p:spPr>
            <a:xfrm>
              <a:off x="4553695" y="4066669"/>
              <a:ext cx="80462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OK, keys</a:t>
              </a:r>
              <a:endParaRPr baseline="-2500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2" name="Google Shape;3552;p102"/>
            <p:cNvSpPr txBox="1"/>
            <p:nvPr/>
          </p:nvSpPr>
          <p:spPr>
            <a:xfrm>
              <a:off x="2161442" y="4233327"/>
              <a:ext cx="39681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aseline="-2500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7" name="Shape 3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8" name="Google Shape;3558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59" name="Google Shape;3559;p10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560" name="Google Shape;3560;p103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561" name="Google Shape;3561;p103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562" name="Google Shape;3562;p103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563" name="Google Shape;3563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4" name="Google Shape;3564;p103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565" name="Google Shape;3565;p103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566" name="Google Shape;3566;p103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67" name="Google Shape;3567;p103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68" name="Google Shape;3568;p103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569" name="Google Shape;3569;p103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570" name="Google Shape;3570;p103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71" name="Google Shape;3571;p103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72" name="Google Shape;3572;p103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573" name="Google Shape;3573;p103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574" name="Google Shape;3574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576" name="Google Shape;3576;p103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577" name="Google Shape;3577;p103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578" name="Google Shape;3578;p103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579" name="Google Shape;3579;p103"/>
          <p:cNvCxnSpPr/>
          <p:nvPr/>
        </p:nvCxnSpPr>
        <p:spPr>
          <a:xfrm flipH="1">
            <a:off x="1775791" y="2738790"/>
            <a:ext cx="5731" cy="2548827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0" name="Google Shape;3580;p103"/>
          <p:cNvCxnSpPr/>
          <p:nvPr/>
        </p:nvCxnSpPr>
        <p:spPr>
          <a:xfrm>
            <a:off x="3955634" y="2753114"/>
            <a:ext cx="0" cy="2521251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1" name="Google Shape;3581;p103"/>
          <p:cNvCxnSpPr/>
          <p:nvPr/>
        </p:nvCxnSpPr>
        <p:spPr>
          <a:xfrm>
            <a:off x="5797483" y="2767438"/>
            <a:ext cx="0" cy="1004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2" name="Google Shape;3582;p103"/>
          <p:cNvCxnSpPr>
            <a:endCxn id="3565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583" name="Google Shape;3583;p103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584" name="Google Shape;3584;p103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103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103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87" name="Google Shape;3587;p103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88" name="Google Shape;3588;p103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9" name="Google Shape;3589;p103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590" name="Google Shape;3590;p103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1" name="Google Shape;3591;p103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592" name="Google Shape;3592;p10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593" name="Google Shape;3593;p10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94" name="Google Shape;3594;p103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595" name="Google Shape;3595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6" name="Google Shape;3596;p103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103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598" name="Google Shape;3598;p103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599" name="Google Shape;3599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0" name="Google Shape;3600;p103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601" name="Google Shape;3601;p10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2" name="Google Shape;3602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3" name="Google Shape;3603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4" name="Google Shape;3604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05" name="Google Shape;3605;p103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606" name="Google Shape;3606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07" name="Google Shape;3607;p103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608" name="Google Shape;3608;p103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609" name="Google Shape;3609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10" name="Google Shape;3610;p103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611" name="Google Shape;3611;p103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612" name="Google Shape;3612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13" name="Google Shape;3613;p103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614" name="Google Shape;3614;p103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615" name="Google Shape;3615;p103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616" name="Google Shape;3616;p103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17" name="Google Shape;3617;p103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618" name="Google Shape;3618;p103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19" name="Google Shape;3619;p103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0" name="Google Shape;3620;p103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1" name="Google Shape;3621;p103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22" name="Google Shape;3622;p103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23" name="Google Shape;3623;p103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624" name="Google Shape;3624;p10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5" name="Google Shape;3625;p10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6" name="Google Shape;3626;p10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7" name="Google Shape;3627;p10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8" name="Google Shape;3628;p10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9" name="Google Shape;3629;p10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0" name="Google Shape;3630;p10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1" name="Google Shape;3631;p10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2" name="Google Shape;3632;p10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3" name="Google Shape;3633;p10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4" name="Google Shape;3634;p10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5" name="Google Shape;3635;p10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6" name="Google Shape;3636;p10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7" name="Google Shape;3637;p10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8" name="Google Shape;3638;p10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639" name="Google Shape;3639;p103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640" name="Google Shape;3640;p103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641" name="Google Shape;3641;p103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642" name="Google Shape;3642;p103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643" name="Google Shape;3643;p103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644" name="Google Shape;3644;p103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645" name="Google Shape;3645;p103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46" name="Google Shape;3646;p103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47" name="Google Shape;3647;p103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648" name="Google Shape;3648;p103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49" name="Google Shape;3649;p103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50" name="Google Shape;3650;p103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1" name="Google Shape;3651;p103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2" name="Google Shape;3652;p103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3" name="Google Shape;3653;p103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4" name="Google Shape;3654;p103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5" name="Google Shape;3655;p103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56" name="Google Shape;3656;p103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657" name="Google Shape;3657;p103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58" name="Google Shape;3658;p103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59" name="Google Shape;3659;p103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0" name="Google Shape;3660;p103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61" name="Google Shape;3661;p103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2" name="Google Shape;3662;p103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63" name="Google Shape;3663;p103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664" name="Google Shape;3664;p103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65" name="Google Shape;3665;p103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66" name="Google Shape;3666;p103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667" name="Google Shape;3667;p103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668" name="Google Shape;3668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9" name="Google Shape;3669;p103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cxnSp>
        <p:nvCxnSpPr>
          <p:cNvPr id="3670" name="Google Shape;3670;p103"/>
          <p:cNvCxnSpPr/>
          <p:nvPr/>
        </p:nvCxnSpPr>
        <p:spPr>
          <a:xfrm rot="10800000">
            <a:off x="4090116" y="4472714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71" name="Google Shape;3671;p103"/>
          <p:cNvCxnSpPr/>
          <p:nvPr/>
        </p:nvCxnSpPr>
        <p:spPr>
          <a:xfrm rot="10800000">
            <a:off x="1939054" y="4563316"/>
            <a:ext cx="1965534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672" name="Google Shape;3672;p103"/>
          <p:cNvGrpSpPr/>
          <p:nvPr/>
        </p:nvGrpSpPr>
        <p:grpSpPr>
          <a:xfrm>
            <a:off x="4787193" y="4264532"/>
            <a:ext cx="305943" cy="369332"/>
            <a:chOff x="7031063" y="1728412"/>
            <a:chExt cx="305943" cy="369332"/>
          </a:xfrm>
        </p:grpSpPr>
        <p:sp>
          <p:nvSpPr>
            <p:cNvPr id="3673" name="Google Shape;3673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4" name="Google Shape;3674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sp>
        <p:nvSpPr>
          <p:cNvPr id="3675" name="Google Shape;3675;p103"/>
          <p:cNvSpPr txBox="1"/>
          <p:nvPr/>
        </p:nvSpPr>
        <p:spPr>
          <a:xfrm>
            <a:off x="4553695" y="4066669"/>
            <a:ext cx="8046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keys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6" name="Google Shape;3676;p103"/>
          <p:cNvSpPr txBox="1"/>
          <p:nvPr/>
        </p:nvSpPr>
        <p:spPr>
          <a:xfrm>
            <a:off x="2161442" y="4233327"/>
            <a:ext cx="39681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7" name="Google Shape;3677;p103"/>
          <p:cNvCxnSpPr/>
          <p:nvPr/>
        </p:nvCxnSpPr>
        <p:spPr>
          <a:xfrm rot="10800000">
            <a:off x="1925802" y="5037477"/>
            <a:ext cx="1965534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3678" name="Google Shape;3678;p103"/>
          <p:cNvGrpSpPr/>
          <p:nvPr/>
        </p:nvGrpSpPr>
        <p:grpSpPr>
          <a:xfrm>
            <a:off x="2744551" y="4829295"/>
            <a:ext cx="305943" cy="369332"/>
            <a:chOff x="7031063" y="1728412"/>
            <a:chExt cx="305943" cy="369332"/>
          </a:xfrm>
        </p:grpSpPr>
        <p:sp>
          <p:nvSpPr>
            <p:cNvPr id="3679" name="Google Shape;3679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0" name="Google Shape;3680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</p:grpSp>
      <p:sp>
        <p:nvSpPr>
          <p:cNvPr id="3681" name="Google Shape;3681;p103"/>
          <p:cNvSpPr txBox="1"/>
          <p:nvPr/>
        </p:nvSpPr>
        <p:spPr>
          <a:xfrm>
            <a:off x="2263483" y="4628374"/>
            <a:ext cx="1221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derivation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2" name="Google Shape;3682;p103"/>
          <p:cNvGrpSpPr/>
          <p:nvPr/>
        </p:nvGrpSpPr>
        <p:grpSpPr>
          <a:xfrm>
            <a:off x="6660875" y="4471409"/>
            <a:ext cx="5173317" cy="1569660"/>
            <a:chOff x="6660875" y="4471409"/>
            <a:chExt cx="5173317" cy="1569660"/>
          </a:xfrm>
        </p:grpSpPr>
        <p:grpSp>
          <p:nvGrpSpPr>
            <p:cNvPr id="3683" name="Google Shape;3683;p103"/>
            <p:cNvGrpSpPr/>
            <p:nvPr/>
          </p:nvGrpSpPr>
          <p:grpSpPr>
            <a:xfrm>
              <a:off x="6660875" y="4536471"/>
              <a:ext cx="306494" cy="369332"/>
              <a:chOff x="7031063" y="1754916"/>
              <a:chExt cx="306494" cy="369332"/>
            </a:xfrm>
          </p:grpSpPr>
          <p:sp>
            <p:nvSpPr>
              <p:cNvPr id="3684" name="Google Shape;3684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5" name="Google Shape;3685;p103"/>
              <p:cNvSpPr txBox="1"/>
              <p:nvPr/>
            </p:nvSpPr>
            <p:spPr>
              <a:xfrm>
                <a:off x="7031063" y="1754916"/>
                <a:ext cx="30649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</p:grpSp>
        <p:sp>
          <p:nvSpPr>
            <p:cNvPr id="3686" name="Google Shape;3686;p103"/>
            <p:cNvSpPr txBox="1"/>
            <p:nvPr/>
          </p:nvSpPr>
          <p:spPr>
            <a:xfrm>
              <a:off x="7005431" y="4471409"/>
              <a:ext cx="4828761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mobile, BS determine keys for encrypting data, control frames over 4G wireless channel</a:t>
              </a:r>
              <a:endParaRPr/>
            </a:p>
            <a:p>
              <a:pPr indent="-277813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AES can be used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1" name="Shape 3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2" name="Google Shape;3692;p104"/>
          <p:cNvSpPr txBox="1"/>
          <p:nvPr>
            <p:ph idx="1" type="body"/>
          </p:nvPr>
        </p:nvSpPr>
        <p:spPr>
          <a:xfrm>
            <a:off x="838200" y="1724027"/>
            <a:ext cx="10515600" cy="1482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4G</a:t>
            </a:r>
            <a:r>
              <a:rPr lang="en-US"/>
              <a:t>: MME in visited network makes authentication decision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5G: </a:t>
            </a:r>
            <a:r>
              <a:rPr lang="en-US"/>
              <a:t>home network provides authentication decision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visited MME plays “middleman” role but can still reject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693" name="Google Shape;3693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4" name="Google Shape;3694;p10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encryption: from 4G to 5G</a:t>
            </a:r>
            <a:endParaRPr/>
          </a:p>
        </p:txBody>
      </p:sp>
      <p:sp>
        <p:nvSpPr>
          <p:cNvPr id="3695" name="Google Shape;3695;p104"/>
          <p:cNvSpPr txBox="1"/>
          <p:nvPr/>
        </p:nvSpPr>
        <p:spPr>
          <a:xfrm>
            <a:off x="818322" y="3506446"/>
            <a:ext cx="10515600" cy="110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shared-in-advance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5G: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not shared in advance for IoT</a:t>
            </a:r>
            <a:endParaRPr/>
          </a:p>
        </p:txBody>
      </p:sp>
      <p:sp>
        <p:nvSpPr>
          <p:cNvPr id="3696" name="Google Shape;3696;p104"/>
          <p:cNvSpPr txBox="1"/>
          <p:nvPr/>
        </p:nvSpPr>
        <p:spPr>
          <a:xfrm>
            <a:off x="851452" y="4811785"/>
            <a:ext cx="10515600" cy="110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IMSI transmitted in cleartext to BS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5G: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key crypto used to encrypt IMSI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1" name="Shape 3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2" name="Google Shape;3702;p105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3703" name="Google Shape;370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3704" name="Google Shape;3704;p105"/>
          <p:cNvSpPr txBox="1"/>
          <p:nvPr/>
        </p:nvSpPr>
        <p:spPr>
          <a:xfrm>
            <a:off x="931677" y="1505140"/>
            <a:ext cx="8729157" cy="490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3705" name="Google Shape;3705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0" name="Shape 3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1" name="Google Shape;3711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2" name="Google Shape;3712;p106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Firewalls</a:t>
            </a:r>
            <a:endParaRPr/>
          </a:p>
        </p:txBody>
      </p:sp>
      <p:sp>
        <p:nvSpPr>
          <p:cNvPr id="3713" name="Google Shape;3713;p106"/>
          <p:cNvSpPr/>
          <p:nvPr/>
        </p:nvSpPr>
        <p:spPr>
          <a:xfrm>
            <a:off x="2007635" y="1516755"/>
            <a:ext cx="8541419" cy="1235075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4" name="Google Shape;3714;p106"/>
          <p:cNvSpPr/>
          <p:nvPr/>
        </p:nvSpPr>
        <p:spPr>
          <a:xfrm>
            <a:off x="2012397" y="4413942"/>
            <a:ext cx="3810000" cy="181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5" name="Google Shape;3715;p106"/>
          <p:cNvSpPr txBox="1"/>
          <p:nvPr/>
        </p:nvSpPr>
        <p:spPr>
          <a:xfrm>
            <a:off x="2066372" y="1702492"/>
            <a:ext cx="8361363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isolates organization’s internal network from larger Internet, allowing some packets to pass, blocking others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106"/>
          <p:cNvSpPr/>
          <p:nvPr/>
        </p:nvSpPr>
        <p:spPr>
          <a:xfrm>
            <a:off x="1510747" y="188505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106"/>
          <p:cNvSpPr/>
          <p:nvPr/>
        </p:nvSpPr>
        <p:spPr>
          <a:xfrm>
            <a:off x="3207785" y="3107430"/>
            <a:ext cx="5200650" cy="290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106"/>
          <p:cNvSpPr/>
          <p:nvPr/>
        </p:nvSpPr>
        <p:spPr>
          <a:xfrm>
            <a:off x="8421135" y="6158605"/>
            <a:ext cx="4328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106"/>
          <p:cNvSpPr/>
          <p:nvPr/>
        </p:nvSpPr>
        <p:spPr>
          <a:xfrm>
            <a:off x="5127072" y="6009380"/>
            <a:ext cx="1449388" cy="331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0" name="Google Shape;3720;p106"/>
          <p:cNvSpPr/>
          <p:nvPr/>
        </p:nvSpPr>
        <p:spPr>
          <a:xfrm>
            <a:off x="6176410" y="6071292"/>
            <a:ext cx="4328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1" name="Google Shape;3721;p106"/>
          <p:cNvGrpSpPr/>
          <p:nvPr/>
        </p:nvGrpSpPr>
        <p:grpSpPr>
          <a:xfrm>
            <a:off x="5558872" y="4901305"/>
            <a:ext cx="441325" cy="1095375"/>
            <a:chOff x="4048125" y="4787151"/>
            <a:chExt cx="441325" cy="1095375"/>
          </a:xfrm>
        </p:grpSpPr>
        <p:sp>
          <p:nvSpPr>
            <p:cNvPr id="3722" name="Google Shape;3722;p106"/>
            <p:cNvSpPr/>
            <p:nvPr/>
          </p:nvSpPr>
          <p:spPr>
            <a:xfrm>
              <a:off x="4092575" y="4868114"/>
              <a:ext cx="219075" cy="1012825"/>
            </a:xfrm>
            <a:custGeom>
              <a:rect b="b" l="l" r="r" t="t"/>
              <a:pathLst>
                <a:path extrusionOk="0" h="638" w="1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3" name="Google Shape;3723;p106"/>
            <p:cNvSpPr/>
            <p:nvPr/>
          </p:nvSpPr>
          <p:spPr>
            <a:xfrm>
              <a:off x="4311650" y="4982414"/>
              <a:ext cx="133350" cy="900112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4" name="Google Shape;3724;p106"/>
            <p:cNvSpPr/>
            <p:nvPr/>
          </p:nvSpPr>
          <p:spPr>
            <a:xfrm>
              <a:off x="4306888" y="4982414"/>
              <a:ext cx="136525" cy="101600"/>
            </a:xfrm>
            <a:custGeom>
              <a:rect b="b" l="l" r="r" t="t"/>
              <a:pathLst>
                <a:path extrusionOk="0" h="64" w="86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5" name="Google Shape;3725;p106"/>
            <p:cNvSpPr/>
            <p:nvPr/>
          </p:nvSpPr>
          <p:spPr>
            <a:xfrm>
              <a:off x="4311650" y="5114176"/>
              <a:ext cx="650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6" name="Google Shape;3726;p106"/>
            <p:cNvSpPr/>
            <p:nvPr/>
          </p:nvSpPr>
          <p:spPr>
            <a:xfrm>
              <a:off x="4379913" y="511258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7" name="Google Shape;3727;p106"/>
            <p:cNvSpPr/>
            <p:nvPr/>
          </p:nvSpPr>
          <p:spPr>
            <a:xfrm>
              <a:off x="4344988" y="5053851"/>
              <a:ext cx="68262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8" name="Google Shape;3728;p106"/>
            <p:cNvSpPr/>
            <p:nvPr/>
          </p:nvSpPr>
          <p:spPr>
            <a:xfrm>
              <a:off x="4414838" y="5053851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9" name="Google Shape;3729;p106"/>
            <p:cNvSpPr/>
            <p:nvPr/>
          </p:nvSpPr>
          <p:spPr>
            <a:xfrm>
              <a:off x="4305300" y="50538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106"/>
            <p:cNvSpPr/>
            <p:nvPr/>
          </p:nvSpPr>
          <p:spPr>
            <a:xfrm>
              <a:off x="4310063" y="499193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106"/>
            <p:cNvSpPr/>
            <p:nvPr/>
          </p:nvSpPr>
          <p:spPr>
            <a:xfrm>
              <a:off x="4381500" y="4993526"/>
              <a:ext cx="68263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2" name="Google Shape;3732;p106"/>
            <p:cNvSpPr/>
            <p:nvPr/>
          </p:nvSpPr>
          <p:spPr>
            <a:xfrm>
              <a:off x="4310063" y="5233239"/>
              <a:ext cx="63500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3" name="Google Shape;3733;p106"/>
            <p:cNvSpPr/>
            <p:nvPr/>
          </p:nvSpPr>
          <p:spPr>
            <a:xfrm>
              <a:off x="4379913" y="5233239"/>
              <a:ext cx="6667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106"/>
            <p:cNvSpPr/>
            <p:nvPr/>
          </p:nvSpPr>
          <p:spPr>
            <a:xfrm>
              <a:off x="4344988" y="5172914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5" name="Google Shape;3735;p106"/>
            <p:cNvSpPr/>
            <p:nvPr/>
          </p:nvSpPr>
          <p:spPr>
            <a:xfrm>
              <a:off x="4413250" y="5172914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6" name="Google Shape;3736;p106"/>
            <p:cNvSpPr/>
            <p:nvPr/>
          </p:nvSpPr>
          <p:spPr>
            <a:xfrm>
              <a:off x="4311650" y="5172914"/>
              <a:ext cx="26988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106"/>
            <p:cNvSpPr/>
            <p:nvPr/>
          </p:nvSpPr>
          <p:spPr>
            <a:xfrm>
              <a:off x="4310063" y="534912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106"/>
            <p:cNvSpPr/>
            <p:nvPr/>
          </p:nvSpPr>
          <p:spPr>
            <a:xfrm>
              <a:off x="4379913" y="534912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9" name="Google Shape;3739;p106"/>
            <p:cNvSpPr/>
            <p:nvPr/>
          </p:nvSpPr>
          <p:spPr>
            <a:xfrm>
              <a:off x="4344988" y="529038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106"/>
            <p:cNvSpPr/>
            <p:nvPr/>
          </p:nvSpPr>
          <p:spPr>
            <a:xfrm>
              <a:off x="4413250" y="5290389"/>
              <a:ext cx="3492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106"/>
            <p:cNvSpPr/>
            <p:nvPr/>
          </p:nvSpPr>
          <p:spPr>
            <a:xfrm>
              <a:off x="4310063" y="5290389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106"/>
            <p:cNvSpPr/>
            <p:nvPr/>
          </p:nvSpPr>
          <p:spPr>
            <a:xfrm>
              <a:off x="4310063" y="546977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106"/>
            <p:cNvSpPr/>
            <p:nvPr/>
          </p:nvSpPr>
          <p:spPr>
            <a:xfrm>
              <a:off x="4379913" y="546977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106"/>
            <p:cNvSpPr/>
            <p:nvPr/>
          </p:nvSpPr>
          <p:spPr>
            <a:xfrm>
              <a:off x="4343400" y="5409451"/>
              <a:ext cx="68263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5" name="Google Shape;3745;p106"/>
            <p:cNvSpPr/>
            <p:nvPr/>
          </p:nvSpPr>
          <p:spPr>
            <a:xfrm>
              <a:off x="4413250" y="5409451"/>
              <a:ext cx="3333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6" name="Google Shape;3746;p106"/>
            <p:cNvSpPr/>
            <p:nvPr/>
          </p:nvSpPr>
          <p:spPr>
            <a:xfrm>
              <a:off x="4311650" y="5409451"/>
              <a:ext cx="269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7" name="Google Shape;3747;p106"/>
            <p:cNvSpPr/>
            <p:nvPr/>
          </p:nvSpPr>
          <p:spPr>
            <a:xfrm>
              <a:off x="4310063" y="558883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8" name="Google Shape;3748;p106"/>
            <p:cNvSpPr/>
            <p:nvPr/>
          </p:nvSpPr>
          <p:spPr>
            <a:xfrm>
              <a:off x="4379913" y="5587251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9" name="Google Shape;3749;p106"/>
            <p:cNvSpPr/>
            <p:nvPr/>
          </p:nvSpPr>
          <p:spPr>
            <a:xfrm>
              <a:off x="4344988" y="5528514"/>
              <a:ext cx="68262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0" name="Google Shape;3750;p106"/>
            <p:cNvSpPr/>
            <p:nvPr/>
          </p:nvSpPr>
          <p:spPr>
            <a:xfrm>
              <a:off x="4414838" y="5528514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1" name="Google Shape;3751;p106"/>
            <p:cNvSpPr/>
            <p:nvPr/>
          </p:nvSpPr>
          <p:spPr>
            <a:xfrm>
              <a:off x="4310063" y="5707901"/>
              <a:ext cx="63500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2" name="Google Shape;3752;p106"/>
            <p:cNvSpPr/>
            <p:nvPr/>
          </p:nvSpPr>
          <p:spPr>
            <a:xfrm>
              <a:off x="4379913" y="5707901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3" name="Google Shape;3753;p106"/>
            <p:cNvSpPr/>
            <p:nvPr/>
          </p:nvSpPr>
          <p:spPr>
            <a:xfrm>
              <a:off x="4344988" y="5649164"/>
              <a:ext cx="66675" cy="4921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106"/>
            <p:cNvSpPr/>
            <p:nvPr/>
          </p:nvSpPr>
          <p:spPr>
            <a:xfrm>
              <a:off x="4413250" y="5645989"/>
              <a:ext cx="3492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5" name="Google Shape;3755;p106"/>
            <p:cNvSpPr/>
            <p:nvPr/>
          </p:nvSpPr>
          <p:spPr>
            <a:xfrm>
              <a:off x="4311650" y="5645989"/>
              <a:ext cx="26988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106"/>
            <p:cNvSpPr/>
            <p:nvPr/>
          </p:nvSpPr>
          <p:spPr>
            <a:xfrm>
              <a:off x="4310063" y="5825376"/>
              <a:ext cx="63500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7" name="Google Shape;3757;p106"/>
            <p:cNvSpPr/>
            <p:nvPr/>
          </p:nvSpPr>
          <p:spPr>
            <a:xfrm>
              <a:off x="4379913" y="5825376"/>
              <a:ext cx="66675" cy="50800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106"/>
            <p:cNvSpPr/>
            <p:nvPr/>
          </p:nvSpPr>
          <p:spPr>
            <a:xfrm>
              <a:off x="4344988" y="5765051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9" name="Google Shape;3759;p106"/>
            <p:cNvSpPr/>
            <p:nvPr/>
          </p:nvSpPr>
          <p:spPr>
            <a:xfrm>
              <a:off x="4413250" y="57650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0" name="Google Shape;3760;p106"/>
            <p:cNvSpPr/>
            <p:nvPr/>
          </p:nvSpPr>
          <p:spPr>
            <a:xfrm>
              <a:off x="4310063" y="5765051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1" name="Google Shape;3761;p106"/>
            <p:cNvSpPr/>
            <p:nvPr/>
          </p:nvSpPr>
          <p:spPr>
            <a:xfrm>
              <a:off x="4292600" y="5807914"/>
              <a:ext cx="19050" cy="65087"/>
            </a:xfrm>
            <a:custGeom>
              <a:rect b="b" l="l" r="r" t="t"/>
              <a:pathLst>
                <a:path extrusionOk="0" h="41" w="12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106"/>
            <p:cNvSpPr/>
            <p:nvPr/>
          </p:nvSpPr>
          <p:spPr>
            <a:xfrm>
              <a:off x="4233863" y="5741239"/>
              <a:ext cx="55562" cy="111125"/>
            </a:xfrm>
            <a:custGeom>
              <a:rect b="b" l="l" r="r" t="t"/>
              <a:pathLst>
                <a:path extrusionOk="0" h="70" w="35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106"/>
            <p:cNvSpPr/>
            <p:nvPr/>
          </p:nvSpPr>
          <p:spPr>
            <a:xfrm>
              <a:off x="4176713" y="5679326"/>
              <a:ext cx="55562" cy="106363"/>
            </a:xfrm>
            <a:custGeom>
              <a:rect b="b" l="l" r="r" t="t"/>
              <a:pathLst>
                <a:path extrusionOk="0" h="67" w="35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4" name="Google Shape;3764;p106"/>
            <p:cNvSpPr/>
            <p:nvPr/>
          </p:nvSpPr>
          <p:spPr>
            <a:xfrm>
              <a:off x="4117975" y="5617414"/>
              <a:ext cx="53975" cy="103187"/>
            </a:xfrm>
            <a:custGeom>
              <a:rect b="b" l="l" r="r" t="t"/>
              <a:pathLst>
                <a:path extrusionOk="0" h="65" w="34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5" name="Google Shape;3765;p106"/>
            <p:cNvSpPr/>
            <p:nvPr/>
          </p:nvSpPr>
          <p:spPr>
            <a:xfrm>
              <a:off x="4087813" y="5584076"/>
              <a:ext cx="26987" cy="73025"/>
            </a:xfrm>
            <a:custGeom>
              <a:rect b="b" l="l" r="r" t="t"/>
              <a:pathLst>
                <a:path extrusionOk="0" h="46" w="17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6" name="Google Shape;3766;p106"/>
            <p:cNvSpPr/>
            <p:nvPr/>
          </p:nvSpPr>
          <p:spPr>
            <a:xfrm>
              <a:off x="4292600" y="4984001"/>
              <a:ext cx="19050" cy="57150"/>
            </a:xfrm>
            <a:custGeom>
              <a:rect b="b" l="l" r="r" t="t"/>
              <a:pathLst>
                <a:path extrusionOk="0" h="36" w="12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106"/>
            <p:cNvSpPr/>
            <p:nvPr/>
          </p:nvSpPr>
          <p:spPr>
            <a:xfrm>
              <a:off x="4233863" y="4952251"/>
              <a:ext cx="55562" cy="77788"/>
            </a:xfrm>
            <a:custGeom>
              <a:rect b="b" l="l" r="r" t="t"/>
              <a:pathLst>
                <a:path extrusionOk="0" h="49" w="35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106"/>
            <p:cNvSpPr/>
            <p:nvPr/>
          </p:nvSpPr>
          <p:spPr>
            <a:xfrm>
              <a:off x="4176713" y="4922089"/>
              <a:ext cx="55562" cy="73025"/>
            </a:xfrm>
            <a:custGeom>
              <a:rect b="b" l="l" r="r" t="t"/>
              <a:pathLst>
                <a:path extrusionOk="0" h="46" w="35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106"/>
            <p:cNvSpPr/>
            <p:nvPr/>
          </p:nvSpPr>
          <p:spPr>
            <a:xfrm>
              <a:off x="4117975" y="4890339"/>
              <a:ext cx="53975" cy="73025"/>
            </a:xfrm>
            <a:custGeom>
              <a:rect b="b" l="l" r="r" t="t"/>
              <a:pathLst>
                <a:path extrusionOk="0" h="46" w="34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0" name="Google Shape;3770;p106"/>
            <p:cNvSpPr/>
            <p:nvPr/>
          </p:nvSpPr>
          <p:spPr>
            <a:xfrm>
              <a:off x="4087813" y="4872876"/>
              <a:ext cx="26987" cy="57150"/>
            </a:xfrm>
            <a:custGeom>
              <a:rect b="b" l="l" r="r" t="t"/>
              <a:pathLst>
                <a:path extrusionOk="0" h="36" w="17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1" name="Google Shape;3771;p106"/>
            <p:cNvSpPr/>
            <p:nvPr/>
          </p:nvSpPr>
          <p:spPr>
            <a:xfrm>
              <a:off x="4233863" y="5064964"/>
              <a:ext cx="55562" cy="82550"/>
            </a:xfrm>
            <a:custGeom>
              <a:rect b="b" l="l" r="r" t="t"/>
              <a:pathLst>
                <a:path extrusionOk="0" h="52" w="35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106"/>
            <p:cNvSpPr/>
            <p:nvPr/>
          </p:nvSpPr>
          <p:spPr>
            <a:xfrm>
              <a:off x="4176713" y="5028451"/>
              <a:ext cx="55562" cy="82550"/>
            </a:xfrm>
            <a:custGeom>
              <a:rect b="b" l="l" r="r" t="t"/>
              <a:pathLst>
                <a:path extrusionOk="0" h="52" w="35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106"/>
            <p:cNvSpPr/>
            <p:nvPr/>
          </p:nvSpPr>
          <p:spPr>
            <a:xfrm>
              <a:off x="4117975" y="4993526"/>
              <a:ext cx="53975" cy="77788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106"/>
            <p:cNvSpPr/>
            <p:nvPr/>
          </p:nvSpPr>
          <p:spPr>
            <a:xfrm>
              <a:off x="4087813" y="4974476"/>
              <a:ext cx="26987" cy="61913"/>
            </a:xfrm>
            <a:custGeom>
              <a:rect b="b" l="l" r="r" t="t"/>
              <a:pathLst>
                <a:path extrusionOk="0" h="39" w="17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106"/>
            <p:cNvSpPr/>
            <p:nvPr/>
          </p:nvSpPr>
          <p:spPr>
            <a:xfrm>
              <a:off x="4292600" y="5220539"/>
              <a:ext cx="19050" cy="60325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6" name="Google Shape;3776;p106"/>
            <p:cNvSpPr/>
            <p:nvPr/>
          </p:nvSpPr>
          <p:spPr>
            <a:xfrm>
              <a:off x="4233863" y="5177676"/>
              <a:ext cx="55562" cy="87313"/>
            </a:xfrm>
            <a:custGeom>
              <a:rect b="b" l="l" r="r" t="t"/>
              <a:pathLst>
                <a:path extrusionOk="0" h="55" w="3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7" name="Google Shape;3777;p106"/>
            <p:cNvSpPr/>
            <p:nvPr/>
          </p:nvSpPr>
          <p:spPr>
            <a:xfrm>
              <a:off x="4176713" y="5136401"/>
              <a:ext cx="55562" cy="85725"/>
            </a:xfrm>
            <a:custGeom>
              <a:rect b="b" l="l" r="r" t="t"/>
              <a:pathLst>
                <a:path extrusionOk="0" h="54" w="35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106"/>
            <p:cNvSpPr/>
            <p:nvPr/>
          </p:nvSpPr>
          <p:spPr>
            <a:xfrm>
              <a:off x="4117975" y="5098301"/>
              <a:ext cx="53975" cy="82550"/>
            </a:xfrm>
            <a:custGeom>
              <a:rect b="b" l="l" r="r" t="t"/>
              <a:pathLst>
                <a:path extrusionOk="0" h="52" w="34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106"/>
            <p:cNvSpPr/>
            <p:nvPr/>
          </p:nvSpPr>
          <p:spPr>
            <a:xfrm>
              <a:off x="4087813" y="5077664"/>
              <a:ext cx="26987" cy="60325"/>
            </a:xfrm>
            <a:custGeom>
              <a:rect b="b" l="l" r="r" t="t"/>
              <a:pathLst>
                <a:path extrusionOk="0" h="38" w="17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0" name="Google Shape;3780;p106"/>
            <p:cNvSpPr/>
            <p:nvPr/>
          </p:nvSpPr>
          <p:spPr>
            <a:xfrm>
              <a:off x="4292600" y="5334839"/>
              <a:ext cx="17463" cy="63500"/>
            </a:xfrm>
            <a:custGeom>
              <a:rect b="b" l="l" r="r" t="t"/>
              <a:pathLst>
                <a:path extrusionOk="0" h="40" w="11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106"/>
            <p:cNvSpPr/>
            <p:nvPr/>
          </p:nvSpPr>
          <p:spPr>
            <a:xfrm>
              <a:off x="4233863" y="5290389"/>
              <a:ext cx="55562" cy="90487"/>
            </a:xfrm>
            <a:custGeom>
              <a:rect b="b" l="l" r="r" t="t"/>
              <a:pathLst>
                <a:path extrusionOk="0" h="57" w="35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106"/>
            <p:cNvSpPr/>
            <p:nvPr/>
          </p:nvSpPr>
          <p:spPr>
            <a:xfrm>
              <a:off x="4176713" y="5245939"/>
              <a:ext cx="55562" cy="88900"/>
            </a:xfrm>
            <a:custGeom>
              <a:rect b="b" l="l" r="r" t="t"/>
              <a:pathLst>
                <a:path extrusionOk="0" h="56" w="35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3" name="Google Shape;3783;p106"/>
            <p:cNvSpPr/>
            <p:nvPr/>
          </p:nvSpPr>
          <p:spPr>
            <a:xfrm>
              <a:off x="4117975" y="5199901"/>
              <a:ext cx="53975" cy="88900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4" name="Google Shape;3784;p106"/>
            <p:cNvSpPr/>
            <p:nvPr/>
          </p:nvSpPr>
          <p:spPr>
            <a:xfrm>
              <a:off x="4087813" y="5177676"/>
              <a:ext cx="26987" cy="65088"/>
            </a:xfrm>
            <a:custGeom>
              <a:rect b="b" l="l" r="r" t="t"/>
              <a:pathLst>
                <a:path extrusionOk="0" h="41" w="17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5" name="Google Shape;3785;p106"/>
            <p:cNvSpPr/>
            <p:nvPr/>
          </p:nvSpPr>
          <p:spPr>
            <a:xfrm>
              <a:off x="4292600" y="5453901"/>
              <a:ext cx="19050" cy="65088"/>
            </a:xfrm>
            <a:custGeom>
              <a:rect b="b" l="l" r="r" t="t"/>
              <a:pathLst>
                <a:path extrusionOk="0" h="41" w="12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6" name="Google Shape;3786;p106"/>
            <p:cNvSpPr/>
            <p:nvPr/>
          </p:nvSpPr>
          <p:spPr>
            <a:xfrm>
              <a:off x="4233863" y="5403101"/>
              <a:ext cx="55562" cy="93663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7" name="Google Shape;3787;p106"/>
            <p:cNvSpPr/>
            <p:nvPr/>
          </p:nvSpPr>
          <p:spPr>
            <a:xfrm>
              <a:off x="4176713" y="5353889"/>
              <a:ext cx="55562" cy="93662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8" name="Google Shape;3788;p106"/>
            <p:cNvSpPr/>
            <p:nvPr/>
          </p:nvSpPr>
          <p:spPr>
            <a:xfrm>
              <a:off x="4117975" y="5303089"/>
              <a:ext cx="53975" cy="93662"/>
            </a:xfrm>
            <a:custGeom>
              <a:rect b="b" l="l" r="r" t="t"/>
              <a:pathLst>
                <a:path extrusionOk="0" h="59" w="34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9" name="Google Shape;3789;p106"/>
            <p:cNvSpPr/>
            <p:nvPr/>
          </p:nvSpPr>
          <p:spPr>
            <a:xfrm>
              <a:off x="4087813" y="5279276"/>
              <a:ext cx="26987" cy="66675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0" name="Google Shape;3790;p106"/>
            <p:cNvSpPr/>
            <p:nvPr/>
          </p:nvSpPr>
          <p:spPr>
            <a:xfrm>
              <a:off x="4292600" y="5574551"/>
              <a:ext cx="17463" cy="60325"/>
            </a:xfrm>
            <a:custGeom>
              <a:rect b="b" l="l" r="r" t="t"/>
              <a:pathLst>
                <a:path extrusionOk="0" h="38" w="11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1" name="Google Shape;3791;p106"/>
            <p:cNvSpPr/>
            <p:nvPr/>
          </p:nvSpPr>
          <p:spPr>
            <a:xfrm>
              <a:off x="4233863" y="5517401"/>
              <a:ext cx="55562" cy="100013"/>
            </a:xfrm>
            <a:custGeom>
              <a:rect b="b" l="l" r="r" t="t"/>
              <a:pathLst>
                <a:path extrusionOk="0" h="63" w="35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2" name="Google Shape;3792;p106"/>
            <p:cNvSpPr/>
            <p:nvPr/>
          </p:nvSpPr>
          <p:spPr>
            <a:xfrm>
              <a:off x="4176713" y="5463426"/>
              <a:ext cx="55562" cy="95250"/>
            </a:xfrm>
            <a:custGeom>
              <a:rect b="b" l="l" r="r" t="t"/>
              <a:pathLst>
                <a:path extrusionOk="0" h="60" w="35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106"/>
            <p:cNvSpPr/>
            <p:nvPr/>
          </p:nvSpPr>
          <p:spPr>
            <a:xfrm>
              <a:off x="4116388" y="5406276"/>
              <a:ext cx="55562" cy="96838"/>
            </a:xfrm>
            <a:custGeom>
              <a:rect b="b" l="l" r="r" t="t"/>
              <a:pathLst>
                <a:path extrusionOk="0" h="61" w="35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4" name="Google Shape;3794;p106"/>
            <p:cNvSpPr/>
            <p:nvPr/>
          </p:nvSpPr>
          <p:spPr>
            <a:xfrm>
              <a:off x="4087813" y="5380876"/>
              <a:ext cx="26987" cy="66675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5" name="Google Shape;3795;p106"/>
            <p:cNvSpPr/>
            <p:nvPr/>
          </p:nvSpPr>
          <p:spPr>
            <a:xfrm>
              <a:off x="4292600" y="5687264"/>
              <a:ext cx="17463" cy="69850"/>
            </a:xfrm>
            <a:custGeom>
              <a:rect b="b" l="l" r="r" t="t"/>
              <a:pathLst>
                <a:path extrusionOk="0" h="44" w="11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106"/>
            <p:cNvSpPr/>
            <p:nvPr/>
          </p:nvSpPr>
          <p:spPr>
            <a:xfrm>
              <a:off x="4233863" y="5630114"/>
              <a:ext cx="55562" cy="103187"/>
            </a:xfrm>
            <a:custGeom>
              <a:rect b="b" l="l" r="r" t="t"/>
              <a:pathLst>
                <a:path extrusionOk="0" h="65" w="3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7" name="Google Shape;3797;p106"/>
            <p:cNvSpPr/>
            <p:nvPr/>
          </p:nvSpPr>
          <p:spPr>
            <a:xfrm>
              <a:off x="4176713" y="5569789"/>
              <a:ext cx="55562" cy="103187"/>
            </a:xfrm>
            <a:custGeom>
              <a:rect b="b" l="l" r="r" t="t"/>
              <a:pathLst>
                <a:path extrusionOk="0" h="65" w="3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8" name="Google Shape;3798;p106"/>
            <p:cNvSpPr/>
            <p:nvPr/>
          </p:nvSpPr>
          <p:spPr>
            <a:xfrm>
              <a:off x="4117975" y="5512639"/>
              <a:ext cx="53975" cy="100012"/>
            </a:xfrm>
            <a:custGeom>
              <a:rect b="b" l="l" r="r" t="t"/>
              <a:pathLst>
                <a:path extrusionOk="0" h="63" w="34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9" name="Google Shape;3799;p106"/>
            <p:cNvSpPr/>
            <p:nvPr/>
          </p:nvSpPr>
          <p:spPr>
            <a:xfrm>
              <a:off x="4087813" y="5485651"/>
              <a:ext cx="26987" cy="69850"/>
            </a:xfrm>
            <a:custGeom>
              <a:rect b="b" l="l" r="r" t="t"/>
              <a:pathLst>
                <a:path extrusionOk="0" h="44" w="17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0" name="Google Shape;3800;p106"/>
            <p:cNvSpPr/>
            <p:nvPr/>
          </p:nvSpPr>
          <p:spPr>
            <a:xfrm>
              <a:off x="4087813" y="5534864"/>
              <a:ext cx="46037" cy="87312"/>
            </a:xfrm>
            <a:custGeom>
              <a:rect b="b" l="l" r="r" t="t"/>
              <a:pathLst>
                <a:path extrusionOk="0" h="55" w="29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1" name="Google Shape;3801;p106"/>
            <p:cNvSpPr/>
            <p:nvPr/>
          </p:nvSpPr>
          <p:spPr>
            <a:xfrm>
              <a:off x="4248150" y="5698376"/>
              <a:ext cx="61913" cy="112713"/>
            </a:xfrm>
            <a:custGeom>
              <a:rect b="b" l="l" r="r" t="t"/>
              <a:pathLst>
                <a:path extrusionOk="0" h="71" w="39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2" name="Google Shape;3802;p106"/>
            <p:cNvSpPr/>
            <p:nvPr/>
          </p:nvSpPr>
          <p:spPr>
            <a:xfrm>
              <a:off x="4194175" y="5642814"/>
              <a:ext cx="50800" cy="101600"/>
            </a:xfrm>
            <a:custGeom>
              <a:rect b="b" l="l" r="r" t="t"/>
              <a:pathLst>
                <a:path extrusionOk="0" h="64" w="32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3" name="Google Shape;3803;p106"/>
            <p:cNvSpPr/>
            <p:nvPr/>
          </p:nvSpPr>
          <p:spPr>
            <a:xfrm>
              <a:off x="4137025" y="5585664"/>
              <a:ext cx="53975" cy="98425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4" name="Google Shape;3804;p106"/>
            <p:cNvSpPr/>
            <p:nvPr/>
          </p:nvSpPr>
          <p:spPr>
            <a:xfrm>
              <a:off x="4087813" y="4925264"/>
              <a:ext cx="47625" cy="69850"/>
            </a:xfrm>
            <a:custGeom>
              <a:rect b="b" l="l" r="r" t="t"/>
              <a:pathLst>
                <a:path extrusionOk="0" h="44" w="30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5" name="Google Shape;3805;p106"/>
            <p:cNvSpPr/>
            <p:nvPr/>
          </p:nvSpPr>
          <p:spPr>
            <a:xfrm>
              <a:off x="4195763" y="4985589"/>
              <a:ext cx="52387" cy="79375"/>
            </a:xfrm>
            <a:custGeom>
              <a:rect b="b" l="l" r="r" t="t"/>
              <a:pathLst>
                <a:path extrusionOk="0" h="50" w="33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106"/>
            <p:cNvSpPr/>
            <p:nvPr/>
          </p:nvSpPr>
          <p:spPr>
            <a:xfrm>
              <a:off x="4138613" y="4952251"/>
              <a:ext cx="53975" cy="77788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106"/>
            <p:cNvSpPr/>
            <p:nvPr/>
          </p:nvSpPr>
          <p:spPr>
            <a:xfrm>
              <a:off x="4087813" y="5025276"/>
              <a:ext cx="47625" cy="76200"/>
            </a:xfrm>
            <a:custGeom>
              <a:rect b="b" l="l" r="r" t="t"/>
              <a:pathLst>
                <a:path extrusionOk="0" h="48" w="30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106"/>
            <p:cNvSpPr/>
            <p:nvPr/>
          </p:nvSpPr>
          <p:spPr>
            <a:xfrm>
              <a:off x="4249738" y="5133226"/>
              <a:ext cx="61912" cy="88900"/>
            </a:xfrm>
            <a:custGeom>
              <a:rect b="b" l="l" r="r" t="t"/>
              <a:pathLst>
                <a:path extrusionOk="0" h="56" w="39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9" name="Google Shape;3809;p106"/>
            <p:cNvSpPr/>
            <p:nvPr/>
          </p:nvSpPr>
          <p:spPr>
            <a:xfrm>
              <a:off x="4195763" y="5098301"/>
              <a:ext cx="52387" cy="80963"/>
            </a:xfrm>
            <a:custGeom>
              <a:rect b="b" l="l" r="r" t="t"/>
              <a:pathLst>
                <a:path extrusionOk="0" h="51" w="33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0" name="Google Shape;3810;p106"/>
            <p:cNvSpPr/>
            <p:nvPr/>
          </p:nvSpPr>
          <p:spPr>
            <a:xfrm>
              <a:off x="4138613" y="5060201"/>
              <a:ext cx="53975" cy="79375"/>
            </a:xfrm>
            <a:custGeom>
              <a:rect b="b" l="l" r="r" t="t"/>
              <a:pathLst>
                <a:path extrusionOk="0" h="50" w="34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106"/>
            <p:cNvSpPr/>
            <p:nvPr/>
          </p:nvSpPr>
          <p:spPr>
            <a:xfrm>
              <a:off x="4087813" y="5126876"/>
              <a:ext cx="47625" cy="77788"/>
            </a:xfrm>
            <a:custGeom>
              <a:rect b="b" l="l" r="r" t="t"/>
              <a:pathLst>
                <a:path extrusionOk="0" h="49" w="30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2" name="Google Shape;3812;p106"/>
            <p:cNvSpPr/>
            <p:nvPr/>
          </p:nvSpPr>
          <p:spPr>
            <a:xfrm>
              <a:off x="4195763" y="5206251"/>
              <a:ext cx="52387" cy="85725"/>
            </a:xfrm>
            <a:custGeom>
              <a:rect b="b" l="l" r="r" t="t"/>
              <a:pathLst>
                <a:path extrusionOk="0" h="54" w="33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106"/>
            <p:cNvSpPr/>
            <p:nvPr/>
          </p:nvSpPr>
          <p:spPr>
            <a:xfrm>
              <a:off x="4138613" y="5164976"/>
              <a:ext cx="53975" cy="84138"/>
            </a:xfrm>
            <a:custGeom>
              <a:rect b="b" l="l" r="r" t="t"/>
              <a:pathLst>
                <a:path extrusionOk="0" h="53" w="34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4" name="Google Shape;3814;p106"/>
            <p:cNvSpPr/>
            <p:nvPr/>
          </p:nvSpPr>
          <p:spPr>
            <a:xfrm>
              <a:off x="4087813" y="5230064"/>
              <a:ext cx="46037" cy="79375"/>
            </a:xfrm>
            <a:custGeom>
              <a:rect b="b" l="l" r="r" t="t"/>
              <a:pathLst>
                <a:path extrusionOk="0" h="50" w="29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5" name="Google Shape;3815;p106"/>
            <p:cNvSpPr/>
            <p:nvPr/>
          </p:nvSpPr>
          <p:spPr>
            <a:xfrm>
              <a:off x="4248150" y="5357064"/>
              <a:ext cx="63500" cy="100012"/>
            </a:xfrm>
            <a:custGeom>
              <a:rect b="b" l="l" r="r" t="t"/>
              <a:pathLst>
                <a:path extrusionOk="0" h="63" w="40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6" name="Google Shape;3816;p106"/>
            <p:cNvSpPr/>
            <p:nvPr/>
          </p:nvSpPr>
          <p:spPr>
            <a:xfrm>
              <a:off x="4194175" y="5314201"/>
              <a:ext cx="50800" cy="92075"/>
            </a:xfrm>
            <a:custGeom>
              <a:rect b="b" l="l" r="r" t="t"/>
              <a:pathLst>
                <a:path extrusionOk="0" h="58" w="32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7" name="Google Shape;3817;p106"/>
            <p:cNvSpPr/>
            <p:nvPr/>
          </p:nvSpPr>
          <p:spPr>
            <a:xfrm>
              <a:off x="4137025" y="5268164"/>
              <a:ext cx="53975" cy="88900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8" name="Google Shape;3818;p106"/>
            <p:cNvSpPr/>
            <p:nvPr/>
          </p:nvSpPr>
          <p:spPr>
            <a:xfrm>
              <a:off x="4087813" y="5331664"/>
              <a:ext cx="46037" cy="80962"/>
            </a:xfrm>
            <a:custGeom>
              <a:rect b="b" l="l" r="r" t="t"/>
              <a:pathLst>
                <a:path extrusionOk="0" h="51" w="29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106"/>
            <p:cNvSpPr/>
            <p:nvPr/>
          </p:nvSpPr>
          <p:spPr>
            <a:xfrm>
              <a:off x="4248150" y="5472951"/>
              <a:ext cx="63500" cy="101600"/>
            </a:xfrm>
            <a:custGeom>
              <a:rect b="b" l="l" r="r" t="t"/>
              <a:pathLst>
                <a:path extrusionOk="0" h="64" w="40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0" name="Google Shape;3820;p106"/>
            <p:cNvSpPr/>
            <p:nvPr/>
          </p:nvSpPr>
          <p:spPr>
            <a:xfrm>
              <a:off x="4194175" y="5423739"/>
              <a:ext cx="50800" cy="95250"/>
            </a:xfrm>
            <a:custGeom>
              <a:rect b="b" l="l" r="r" t="t"/>
              <a:pathLst>
                <a:path extrusionOk="0" h="60" w="32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1" name="Google Shape;3821;p106"/>
            <p:cNvSpPr/>
            <p:nvPr/>
          </p:nvSpPr>
          <p:spPr>
            <a:xfrm>
              <a:off x="4137025" y="5371351"/>
              <a:ext cx="53975" cy="95250"/>
            </a:xfrm>
            <a:custGeom>
              <a:rect b="b" l="l" r="r" t="t"/>
              <a:pathLst>
                <a:path extrusionOk="0" h="60" w="34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2" name="Google Shape;3822;p106"/>
            <p:cNvSpPr/>
            <p:nvPr/>
          </p:nvSpPr>
          <p:spPr>
            <a:xfrm>
              <a:off x="4087813" y="5431676"/>
              <a:ext cx="46037" cy="88900"/>
            </a:xfrm>
            <a:custGeom>
              <a:rect b="b" l="l" r="r" t="t"/>
              <a:pathLst>
                <a:path extrusionOk="0" h="56" w="29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3" name="Google Shape;3823;p106"/>
            <p:cNvSpPr/>
            <p:nvPr/>
          </p:nvSpPr>
          <p:spPr>
            <a:xfrm>
              <a:off x="4248150" y="5585664"/>
              <a:ext cx="63500" cy="111125"/>
            </a:xfrm>
            <a:custGeom>
              <a:rect b="b" l="l" r="r" t="t"/>
              <a:pathLst>
                <a:path extrusionOk="0" h="70" w="4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4" name="Google Shape;3824;p106"/>
            <p:cNvSpPr/>
            <p:nvPr/>
          </p:nvSpPr>
          <p:spPr>
            <a:xfrm>
              <a:off x="4194175" y="5534864"/>
              <a:ext cx="50800" cy="98425"/>
            </a:xfrm>
            <a:custGeom>
              <a:rect b="b" l="l" r="r" t="t"/>
              <a:pathLst>
                <a:path extrusionOk="0" h="62" w="3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5" name="Google Shape;3825;p106"/>
            <p:cNvSpPr/>
            <p:nvPr/>
          </p:nvSpPr>
          <p:spPr>
            <a:xfrm>
              <a:off x="4137025" y="5479301"/>
              <a:ext cx="53975" cy="98425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6" name="Google Shape;3826;p106"/>
            <p:cNvSpPr/>
            <p:nvPr/>
          </p:nvSpPr>
          <p:spPr>
            <a:xfrm>
              <a:off x="4249738" y="5017339"/>
              <a:ext cx="60325" cy="85725"/>
            </a:xfrm>
            <a:custGeom>
              <a:rect b="b" l="l" r="r" t="t"/>
              <a:pathLst>
                <a:path extrusionOk="0" h="54" w="38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7" name="Google Shape;3827;p106"/>
            <p:cNvSpPr/>
            <p:nvPr/>
          </p:nvSpPr>
          <p:spPr>
            <a:xfrm>
              <a:off x="4292600" y="5101476"/>
              <a:ext cx="19050" cy="60325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8" name="Google Shape;3828;p106"/>
            <p:cNvSpPr/>
            <p:nvPr/>
          </p:nvSpPr>
          <p:spPr>
            <a:xfrm>
              <a:off x="4249738" y="5245939"/>
              <a:ext cx="60325" cy="92075"/>
            </a:xfrm>
            <a:custGeom>
              <a:rect b="b" l="l" r="r" t="t"/>
              <a:pathLst>
                <a:path extrusionOk="0" h="58" w="3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9" name="Google Shape;3829;p106"/>
            <p:cNvSpPr/>
            <p:nvPr/>
          </p:nvSpPr>
          <p:spPr>
            <a:xfrm>
              <a:off x="4310063" y="5528514"/>
              <a:ext cx="285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0" name="Google Shape;3830;p106"/>
            <p:cNvSpPr/>
            <p:nvPr/>
          </p:nvSpPr>
          <p:spPr>
            <a:xfrm>
              <a:off x="4048125" y="4787151"/>
              <a:ext cx="441325" cy="125413"/>
            </a:xfrm>
            <a:custGeom>
              <a:rect b="b" l="l" r="r" t="t"/>
              <a:pathLst>
                <a:path extrusionOk="0" h="79" w="278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1" name="Google Shape;3831;p106"/>
            <p:cNvSpPr/>
            <p:nvPr/>
          </p:nvSpPr>
          <p:spPr>
            <a:xfrm>
              <a:off x="4316413" y="4903039"/>
              <a:ext cx="171450" cy="93662"/>
            </a:xfrm>
            <a:custGeom>
              <a:rect b="b" l="l" r="r" t="t"/>
              <a:pathLst>
                <a:path extrusionOk="0" h="59" w="108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2" name="Google Shape;3832;p106"/>
            <p:cNvSpPr/>
            <p:nvPr/>
          </p:nvSpPr>
          <p:spPr>
            <a:xfrm>
              <a:off x="4049713" y="4787151"/>
              <a:ext cx="273050" cy="207963"/>
            </a:xfrm>
            <a:custGeom>
              <a:rect b="b" l="l" r="r" t="t"/>
              <a:pathLst>
                <a:path extrusionOk="0" h="131" w="172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3" name="Google Shape;3833;p106"/>
          <p:cNvSpPr/>
          <p:nvPr/>
        </p:nvSpPr>
        <p:spPr>
          <a:xfrm>
            <a:off x="5019122" y="5214042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4" name="Google Shape;3834;p106"/>
          <p:cNvSpPr/>
          <p:nvPr/>
        </p:nvSpPr>
        <p:spPr>
          <a:xfrm>
            <a:off x="4842910" y="5426767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5" name="Google Shape;3835;p106"/>
          <p:cNvSpPr/>
          <p:nvPr/>
        </p:nvSpPr>
        <p:spPr>
          <a:xfrm>
            <a:off x="6678060" y="5156892"/>
            <a:ext cx="1449387" cy="53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6" name="Google Shape;3836;p106"/>
          <p:cNvSpPr/>
          <p:nvPr/>
        </p:nvSpPr>
        <p:spPr>
          <a:xfrm>
            <a:off x="7721047" y="5214042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7" name="Google Shape;3837;p106"/>
          <p:cNvSpPr/>
          <p:nvPr/>
        </p:nvSpPr>
        <p:spPr>
          <a:xfrm>
            <a:off x="7728985" y="5426767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106"/>
          <p:cNvSpPr/>
          <p:nvPr/>
        </p:nvSpPr>
        <p:spPr>
          <a:xfrm>
            <a:off x="4974672" y="5388667"/>
            <a:ext cx="609600" cy="93663"/>
          </a:xfrm>
          <a:custGeom>
            <a:rect b="b" l="l" r="r" t="t"/>
            <a:pathLst>
              <a:path extrusionOk="0" h="59" w="384">
                <a:moveTo>
                  <a:pt x="4" y="26"/>
                </a:moveTo>
                <a:lnTo>
                  <a:pt x="335" y="26"/>
                </a:lnTo>
                <a:lnTo>
                  <a:pt x="337" y="26"/>
                </a:lnTo>
                <a:lnTo>
                  <a:pt x="338" y="26"/>
                </a:lnTo>
                <a:lnTo>
                  <a:pt x="339" y="27"/>
                </a:lnTo>
                <a:lnTo>
                  <a:pt x="339" y="30"/>
                </a:lnTo>
                <a:lnTo>
                  <a:pt x="339" y="31"/>
                </a:lnTo>
                <a:lnTo>
                  <a:pt x="338" y="32"/>
                </a:lnTo>
                <a:lnTo>
                  <a:pt x="337" y="33"/>
                </a:lnTo>
                <a:lnTo>
                  <a:pt x="335" y="33"/>
                </a:lnTo>
                <a:lnTo>
                  <a:pt x="4" y="33"/>
                </a:lnTo>
                <a:lnTo>
                  <a:pt x="3" y="33"/>
                </a:lnTo>
                <a:lnTo>
                  <a:pt x="2" y="32"/>
                </a:lnTo>
                <a:lnTo>
                  <a:pt x="2" y="31"/>
                </a:lnTo>
                <a:lnTo>
                  <a:pt x="0" y="30"/>
                </a:lnTo>
                <a:lnTo>
                  <a:pt x="2" y="27"/>
                </a:lnTo>
                <a:lnTo>
                  <a:pt x="2" y="26"/>
                </a:lnTo>
                <a:lnTo>
                  <a:pt x="3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9" name="Google Shape;3839;p106"/>
          <p:cNvSpPr/>
          <p:nvPr/>
        </p:nvSpPr>
        <p:spPr>
          <a:xfrm>
            <a:off x="2718835" y="5388667"/>
            <a:ext cx="868362" cy="74613"/>
          </a:xfrm>
          <a:custGeom>
            <a:rect b="b" l="l" r="r" t="t"/>
            <a:pathLst>
              <a:path extrusionOk="0" h="59" w="384">
                <a:moveTo>
                  <a:pt x="381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6" y="31"/>
                </a:lnTo>
                <a:lnTo>
                  <a:pt x="46" y="30"/>
                </a:lnTo>
                <a:lnTo>
                  <a:pt x="46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381" y="26"/>
                </a:lnTo>
                <a:lnTo>
                  <a:pt x="382" y="26"/>
                </a:lnTo>
                <a:lnTo>
                  <a:pt x="383" y="26"/>
                </a:lnTo>
                <a:lnTo>
                  <a:pt x="384" y="27"/>
                </a:lnTo>
                <a:lnTo>
                  <a:pt x="384" y="30"/>
                </a:lnTo>
                <a:lnTo>
                  <a:pt x="384" y="31"/>
                </a:lnTo>
                <a:lnTo>
                  <a:pt x="383" y="32"/>
                </a:lnTo>
                <a:lnTo>
                  <a:pt x="382" y="33"/>
                </a:lnTo>
                <a:lnTo>
                  <a:pt x="381" y="33"/>
                </a:lnTo>
                <a:close/>
                <a:moveTo>
                  <a:pt x="59" y="59"/>
                </a:moveTo>
                <a:lnTo>
                  <a:pt x="0" y="30"/>
                </a:lnTo>
                <a:lnTo>
                  <a:pt x="59" y="0"/>
                </a:lnTo>
                <a:lnTo>
                  <a:pt x="59" y="59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0" name="Google Shape;3840;p106"/>
          <p:cNvSpPr/>
          <p:nvPr/>
        </p:nvSpPr>
        <p:spPr>
          <a:xfrm>
            <a:off x="7732314" y="5388667"/>
            <a:ext cx="1069975" cy="74613"/>
          </a:xfrm>
          <a:custGeom>
            <a:rect b="b" l="l" r="r" t="t"/>
            <a:pathLst>
              <a:path extrusionOk="0" h="59" w="384">
                <a:moveTo>
                  <a:pt x="4" y="26"/>
                </a:moveTo>
                <a:lnTo>
                  <a:pt x="335" y="26"/>
                </a:lnTo>
                <a:lnTo>
                  <a:pt x="336" y="26"/>
                </a:lnTo>
                <a:lnTo>
                  <a:pt x="337" y="27"/>
                </a:lnTo>
                <a:lnTo>
                  <a:pt x="338" y="28"/>
                </a:lnTo>
                <a:lnTo>
                  <a:pt x="338" y="30"/>
                </a:lnTo>
                <a:lnTo>
                  <a:pt x="338" y="31"/>
                </a:lnTo>
                <a:lnTo>
                  <a:pt x="337" y="32"/>
                </a:lnTo>
                <a:lnTo>
                  <a:pt x="336" y="33"/>
                </a:lnTo>
                <a:lnTo>
                  <a:pt x="335" y="33"/>
                </a:lnTo>
                <a:lnTo>
                  <a:pt x="4" y="33"/>
                </a:lnTo>
                <a:lnTo>
                  <a:pt x="2" y="33"/>
                </a:lnTo>
                <a:lnTo>
                  <a:pt x="1" y="32"/>
                </a:lnTo>
                <a:lnTo>
                  <a:pt x="0" y="31"/>
                </a:lnTo>
                <a:lnTo>
                  <a:pt x="0" y="30"/>
                </a:lnTo>
                <a:lnTo>
                  <a:pt x="0" y="27"/>
                </a:lnTo>
                <a:lnTo>
                  <a:pt x="1" y="26"/>
                </a:lnTo>
                <a:lnTo>
                  <a:pt x="2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1" name="Google Shape;3841;p106"/>
          <p:cNvSpPr/>
          <p:nvPr/>
        </p:nvSpPr>
        <p:spPr>
          <a:xfrm>
            <a:off x="6024010" y="5388667"/>
            <a:ext cx="831850" cy="93663"/>
          </a:xfrm>
          <a:custGeom>
            <a:rect b="b" l="l" r="r" t="t"/>
            <a:pathLst>
              <a:path extrusionOk="0" h="59" w="671">
                <a:moveTo>
                  <a:pt x="668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5" y="31"/>
                </a:lnTo>
                <a:lnTo>
                  <a:pt x="45" y="30"/>
                </a:lnTo>
                <a:lnTo>
                  <a:pt x="45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668" y="26"/>
                </a:lnTo>
                <a:lnTo>
                  <a:pt x="669" y="26"/>
                </a:lnTo>
                <a:lnTo>
                  <a:pt x="670" y="26"/>
                </a:lnTo>
                <a:lnTo>
                  <a:pt x="671" y="27"/>
                </a:lnTo>
                <a:lnTo>
                  <a:pt x="671" y="30"/>
                </a:lnTo>
                <a:lnTo>
                  <a:pt x="671" y="31"/>
                </a:lnTo>
                <a:lnTo>
                  <a:pt x="670" y="32"/>
                </a:lnTo>
                <a:lnTo>
                  <a:pt x="669" y="33"/>
                </a:lnTo>
                <a:lnTo>
                  <a:pt x="668" y="33"/>
                </a:lnTo>
                <a:close/>
                <a:moveTo>
                  <a:pt x="58" y="59"/>
                </a:moveTo>
                <a:lnTo>
                  <a:pt x="0" y="30"/>
                </a:lnTo>
                <a:lnTo>
                  <a:pt x="58" y="0"/>
                </a:lnTo>
                <a:lnTo>
                  <a:pt x="58" y="59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2" name="Google Shape;3842;p106"/>
          <p:cNvSpPr txBox="1"/>
          <p:nvPr/>
        </p:nvSpPr>
        <p:spPr>
          <a:xfrm>
            <a:off x="3525432" y="5107680"/>
            <a:ext cx="142051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administered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3843" name="Google Shape;3843;p106"/>
          <p:cNvSpPr txBox="1"/>
          <p:nvPr/>
        </p:nvSpPr>
        <p:spPr>
          <a:xfrm>
            <a:off x="6845596" y="5102917"/>
            <a:ext cx="94506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3844" name="Google Shape;3844;p106"/>
          <p:cNvSpPr txBox="1"/>
          <p:nvPr/>
        </p:nvSpPr>
        <p:spPr>
          <a:xfrm>
            <a:off x="5355672" y="5942705"/>
            <a:ext cx="11206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</p:txBody>
      </p:sp>
      <p:sp>
        <p:nvSpPr>
          <p:cNvPr id="3845" name="Google Shape;3845;p106"/>
          <p:cNvSpPr txBox="1"/>
          <p:nvPr/>
        </p:nvSpPr>
        <p:spPr>
          <a:xfrm>
            <a:off x="2974422" y="5642667"/>
            <a:ext cx="27426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trusted “good guys” </a:t>
            </a:r>
            <a:endParaRPr/>
          </a:p>
        </p:txBody>
      </p:sp>
      <p:sp>
        <p:nvSpPr>
          <p:cNvPr id="3846" name="Google Shape;3846;p106"/>
          <p:cNvSpPr txBox="1"/>
          <p:nvPr/>
        </p:nvSpPr>
        <p:spPr>
          <a:xfrm>
            <a:off x="6549472" y="5674417"/>
            <a:ext cx="29031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untrusted “bad guys” </a:t>
            </a:r>
            <a:endParaRPr/>
          </a:p>
        </p:txBody>
      </p:sp>
      <p:grpSp>
        <p:nvGrpSpPr>
          <p:cNvPr id="3847" name="Google Shape;3847;p106"/>
          <p:cNvGrpSpPr/>
          <p:nvPr/>
        </p:nvGrpSpPr>
        <p:grpSpPr>
          <a:xfrm>
            <a:off x="2371962" y="1191231"/>
            <a:ext cx="1417639" cy="584200"/>
            <a:chOff x="1282" y="3611"/>
            <a:chExt cx="893" cy="368"/>
          </a:xfrm>
        </p:grpSpPr>
        <p:sp>
          <p:nvSpPr>
            <p:cNvPr id="3848" name="Google Shape;3848;p106"/>
            <p:cNvSpPr/>
            <p:nvPr/>
          </p:nvSpPr>
          <p:spPr>
            <a:xfrm>
              <a:off x="1356" y="3648"/>
              <a:ext cx="636" cy="23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9" name="Google Shape;3849;p106"/>
            <p:cNvSpPr txBox="1"/>
            <p:nvPr/>
          </p:nvSpPr>
          <p:spPr>
            <a:xfrm>
              <a:off x="1282" y="3611"/>
              <a:ext cx="893" cy="3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firewall</a:t>
              </a:r>
              <a:endParaRPr/>
            </a:p>
          </p:txBody>
        </p:sp>
      </p:grpSp>
      <p:grpSp>
        <p:nvGrpSpPr>
          <p:cNvPr id="3850" name="Google Shape;3850;p106"/>
          <p:cNvGrpSpPr/>
          <p:nvPr/>
        </p:nvGrpSpPr>
        <p:grpSpPr>
          <a:xfrm>
            <a:off x="2639460" y="3012180"/>
            <a:ext cx="5718175" cy="1846262"/>
            <a:chOff x="2639460" y="3012180"/>
            <a:chExt cx="5718175" cy="1846262"/>
          </a:xfrm>
        </p:grpSpPr>
        <p:sp>
          <p:nvSpPr>
            <p:cNvPr id="3851" name="Google Shape;3851;p106"/>
            <p:cNvSpPr/>
            <p:nvPr/>
          </p:nvSpPr>
          <p:spPr>
            <a:xfrm>
              <a:off x="2706135" y="3012180"/>
              <a:ext cx="3189287" cy="1808162"/>
            </a:xfrm>
            <a:custGeom>
              <a:rect b="b" l="l" r="r" t="t"/>
              <a:pathLst>
                <a:path extrusionOk="0" h="977" w="1672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2" name="Google Shape;3852;p106"/>
            <p:cNvSpPr/>
            <p:nvPr/>
          </p:nvSpPr>
          <p:spPr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3" name="Google Shape;3853;p106"/>
            <p:cNvCxnSpPr/>
            <p:nvPr/>
          </p:nvCxnSpPr>
          <p:spPr>
            <a:xfrm>
              <a:off x="4900060" y="4142480"/>
              <a:ext cx="434975" cy="1587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54" name="Google Shape;3854;p106"/>
            <p:cNvSpPr/>
            <p:nvPr/>
          </p:nvSpPr>
          <p:spPr>
            <a:xfrm>
              <a:off x="6455810" y="3518592"/>
              <a:ext cx="1901825" cy="1141413"/>
            </a:xfrm>
            <a:custGeom>
              <a:rect b="b" l="l" r="r" t="t"/>
              <a:pathLst>
                <a:path extrusionOk="0" h="719" w="1198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5" name="Google Shape;3855;p106"/>
            <p:cNvCxnSpPr/>
            <p:nvPr/>
          </p:nvCxnSpPr>
          <p:spPr>
            <a:xfrm flipH="1" rot="10800000">
              <a:off x="5962097" y="4125017"/>
              <a:ext cx="490538" cy="3175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6" name="Google Shape;3856;p106"/>
            <p:cNvCxnSpPr/>
            <p:nvPr/>
          </p:nvCxnSpPr>
          <p:spPr>
            <a:xfrm rot="10800000">
              <a:off x="3095072" y="3644005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7" name="Google Shape;3857;p106"/>
            <p:cNvCxnSpPr/>
            <p:nvPr/>
          </p:nvCxnSpPr>
          <p:spPr>
            <a:xfrm flipH="1">
              <a:off x="3482422" y="3691630"/>
              <a:ext cx="271463" cy="3143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8" name="Google Shape;3858;p106"/>
            <p:cNvCxnSpPr/>
            <p:nvPr/>
          </p:nvCxnSpPr>
          <p:spPr>
            <a:xfrm>
              <a:off x="3901522" y="3720205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59" name="Google Shape;3859;p106"/>
            <p:cNvGrpSpPr/>
            <p:nvPr/>
          </p:nvGrpSpPr>
          <p:grpSpPr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60" name="Google Shape;3860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1" name="Google Shape;3861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2" name="Google Shape;3862;p106"/>
            <p:cNvGrpSpPr/>
            <p:nvPr/>
          </p:nvGrpSpPr>
          <p:grpSpPr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63" name="Google Shape;3863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4" name="Google Shape;3864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865" name="Google Shape;3865;p106"/>
            <p:cNvCxnSpPr/>
            <p:nvPr/>
          </p:nvCxnSpPr>
          <p:spPr>
            <a:xfrm>
              <a:off x="4120597" y="3650355"/>
              <a:ext cx="377825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6" name="Google Shape;3866;p106"/>
            <p:cNvCxnSpPr/>
            <p:nvPr/>
          </p:nvCxnSpPr>
          <p:spPr>
            <a:xfrm flipH="1">
              <a:off x="4352372" y="4145655"/>
              <a:ext cx="120650" cy="2936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7" name="Google Shape;3867;p106"/>
            <p:cNvCxnSpPr/>
            <p:nvPr/>
          </p:nvCxnSpPr>
          <p:spPr>
            <a:xfrm>
              <a:off x="4757185" y="4156767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8" name="Google Shape;3868;p106"/>
            <p:cNvCxnSpPr/>
            <p:nvPr/>
          </p:nvCxnSpPr>
          <p:spPr>
            <a:xfrm rot="10800000">
              <a:off x="3953910" y="3604317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69" name="Google Shape;3869;p106"/>
            <p:cNvGrpSpPr/>
            <p:nvPr/>
          </p:nvGrpSpPr>
          <p:grpSpPr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3870" name="Google Shape;3870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1" name="Google Shape;3871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2" name="Google Shape;3872;p106"/>
            <p:cNvGrpSpPr/>
            <p:nvPr/>
          </p:nvGrpSpPr>
          <p:grpSpPr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73" name="Google Shape;3873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4" name="Google Shape;3874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5" name="Google Shape;3875;p106"/>
            <p:cNvGrpSpPr/>
            <p:nvPr/>
          </p:nvGrpSpPr>
          <p:grpSpPr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3876" name="Google Shape;3876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7" name="Google Shape;3877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8" name="Google Shape;3878;p106"/>
            <p:cNvGrpSpPr/>
            <p:nvPr/>
          </p:nvGrpSpPr>
          <p:grpSpPr>
            <a:xfrm>
              <a:off x="3228516" y="3879002"/>
              <a:ext cx="285523" cy="538072"/>
              <a:chOff x="4140" y="427"/>
              <a:chExt cx="1423" cy="2396"/>
            </a:xfrm>
          </p:grpSpPr>
          <p:sp>
            <p:nvSpPr>
              <p:cNvPr id="3879" name="Google Shape;3879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0" name="Google Shape;3880;p106"/>
              <p:cNvSpPr/>
              <p:nvPr/>
            </p:nvSpPr>
            <p:spPr>
              <a:xfrm>
                <a:off x="4211" y="427"/>
                <a:ext cx="103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1" name="Google Shape;3881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2" name="Google Shape;3882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3" name="Google Shape;3883;p106"/>
              <p:cNvSpPr/>
              <p:nvPr/>
            </p:nvSpPr>
            <p:spPr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84" name="Google Shape;3884;p106"/>
              <p:cNvGrpSpPr/>
              <p:nvPr/>
            </p:nvGrpSpPr>
            <p:grpSpPr>
              <a:xfrm>
                <a:off x="4749" y="667"/>
                <a:ext cx="578" cy="135"/>
                <a:chOff x="614" y="2567"/>
                <a:chExt cx="721" cy="129"/>
              </a:xfrm>
            </p:grpSpPr>
            <p:sp>
              <p:nvSpPr>
                <p:cNvPr id="3885" name="Google Shape;3885;p106"/>
                <p:cNvSpPr/>
                <p:nvPr/>
              </p:nvSpPr>
              <p:spPr>
                <a:xfrm>
                  <a:off x="614" y="2567"/>
                  <a:ext cx="721" cy="12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6" name="Google Shape;3886;p106"/>
                <p:cNvSpPr/>
                <p:nvPr/>
              </p:nvSpPr>
              <p:spPr>
                <a:xfrm>
                  <a:off x="633" y="2581"/>
                  <a:ext cx="691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87" name="Google Shape;3887;p106"/>
              <p:cNvSpPr/>
              <p:nvPr/>
            </p:nvSpPr>
            <p:spPr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88" name="Google Shape;3888;p106"/>
              <p:cNvGrpSpPr/>
              <p:nvPr/>
            </p:nvGrpSpPr>
            <p:grpSpPr>
              <a:xfrm>
                <a:off x="4749" y="992"/>
                <a:ext cx="578" cy="134"/>
                <a:chOff x="616" y="2566"/>
                <a:chExt cx="721" cy="139"/>
              </a:xfrm>
            </p:grpSpPr>
            <p:sp>
              <p:nvSpPr>
                <p:cNvPr id="3889" name="Google Shape;3889;p106"/>
                <p:cNvSpPr/>
                <p:nvPr/>
              </p:nvSpPr>
              <p:spPr>
                <a:xfrm>
                  <a:off x="616" y="2566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0" name="Google Shape;3890;p106"/>
                <p:cNvSpPr/>
                <p:nvPr/>
              </p:nvSpPr>
              <p:spPr>
                <a:xfrm>
                  <a:off x="626" y="2581"/>
                  <a:ext cx="70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91" name="Google Shape;3891;p106"/>
              <p:cNvSpPr/>
              <p:nvPr/>
            </p:nvSpPr>
            <p:spPr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2" name="Google Shape;3892;p106"/>
              <p:cNvSpPr/>
              <p:nvPr/>
            </p:nvSpPr>
            <p:spPr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93" name="Google Shape;3893;p106"/>
              <p:cNvGrpSpPr/>
              <p:nvPr/>
            </p:nvGrpSpPr>
            <p:grpSpPr>
              <a:xfrm>
                <a:off x="4733" y="1629"/>
                <a:ext cx="585" cy="149"/>
                <a:chOff x="611" y="2570"/>
                <a:chExt cx="729" cy="137"/>
              </a:xfrm>
            </p:grpSpPr>
            <p:sp>
              <p:nvSpPr>
                <p:cNvPr id="3894" name="Google Shape;3894;p106"/>
                <p:cNvSpPr/>
                <p:nvPr/>
              </p:nvSpPr>
              <p:spPr>
                <a:xfrm>
                  <a:off x="611" y="2570"/>
                  <a:ext cx="729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5" name="Google Shape;3895;p106"/>
                <p:cNvSpPr/>
                <p:nvPr/>
              </p:nvSpPr>
              <p:spPr>
                <a:xfrm>
                  <a:off x="631" y="2589"/>
                  <a:ext cx="690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96" name="Google Shape;3896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97" name="Google Shape;3897;p106"/>
              <p:cNvGrpSpPr/>
              <p:nvPr/>
            </p:nvGrpSpPr>
            <p:grpSpPr>
              <a:xfrm>
                <a:off x="4741" y="1325"/>
                <a:ext cx="570" cy="141"/>
                <a:chOff x="616" y="2566"/>
                <a:chExt cx="710" cy="141"/>
              </a:xfrm>
            </p:grpSpPr>
            <p:sp>
              <p:nvSpPr>
                <p:cNvPr id="3898" name="Google Shape;3898;p106"/>
                <p:cNvSpPr/>
                <p:nvPr/>
              </p:nvSpPr>
              <p:spPr>
                <a:xfrm>
                  <a:off x="616" y="2566"/>
                  <a:ext cx="710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9" name="Google Shape;3899;p106"/>
                <p:cNvSpPr/>
                <p:nvPr/>
              </p:nvSpPr>
              <p:spPr>
                <a:xfrm>
                  <a:off x="636" y="2580"/>
                  <a:ext cx="68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00" name="Google Shape;3900;p106"/>
              <p:cNvSpPr/>
              <p:nvPr/>
            </p:nvSpPr>
            <p:spPr>
              <a:xfrm>
                <a:off x="5247" y="427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1" name="Google Shape;3901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2" name="Google Shape;3902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3" name="Google Shape;3903;p106"/>
              <p:cNvSpPr/>
              <p:nvPr/>
            </p:nvSpPr>
            <p:spPr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4" name="Google Shape;3904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5" name="Google Shape;3905;p106"/>
              <p:cNvSpPr/>
              <p:nvPr/>
            </p:nvSpPr>
            <p:spPr>
              <a:xfrm>
                <a:off x="4140" y="2682"/>
                <a:ext cx="1195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6" name="Google Shape;3906;p106"/>
              <p:cNvSpPr/>
              <p:nvPr/>
            </p:nvSpPr>
            <p:spPr>
              <a:xfrm>
                <a:off x="4211" y="2710"/>
                <a:ext cx="1060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7" name="Google Shape;3907;p106"/>
              <p:cNvSpPr/>
              <p:nvPr/>
            </p:nvSpPr>
            <p:spPr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8" name="Google Shape;3908;p106"/>
              <p:cNvSpPr/>
              <p:nvPr/>
            </p:nvSpPr>
            <p:spPr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9" name="Google Shape;3909;p106"/>
              <p:cNvSpPr/>
              <p:nvPr/>
            </p:nvSpPr>
            <p:spPr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0" name="Google Shape;3910;p106"/>
              <p:cNvSpPr/>
              <p:nvPr/>
            </p:nvSpPr>
            <p:spPr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1" name="Google Shape;3911;p106"/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3912" name="Google Shape;3912;p106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3" name="Google Shape;3913;p106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14" name="Google Shape;3914;p106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15" name="Google Shape;3915;p106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6" name="Google Shape;3916;p106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7" name="Google Shape;3917;p106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8" name="Google Shape;3918;p106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19" name="Google Shape;3919;p106"/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3920" name="Google Shape;3920;p10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21" name="Google Shape;3921;p10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22" name="Google Shape;3922;p10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23" name="Google Shape;3923;p10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4" name="Google Shape;3924;p10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5" name="Google Shape;3925;p10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6" name="Google Shape;3926;p10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7" name="Google Shape;3927;p106"/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3928" name="Google Shape;3928;p106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9" name="Google Shape;3929;p106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30" name="Google Shape;3930;p106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31" name="Google Shape;3931;p106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2" name="Google Shape;3932;p106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3" name="Google Shape;3933;p106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4" name="Google Shape;3934;p106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35" name="Google Shape;3935;p106"/>
            <p:cNvGrpSpPr/>
            <p:nvPr/>
          </p:nvGrpSpPr>
          <p:grpSpPr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3936" name="Google Shape;3936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7" name="Google Shape;3937;p106"/>
              <p:cNvSpPr/>
              <p:nvPr/>
            </p:nvSpPr>
            <p:spPr>
              <a:xfrm>
                <a:off x="4209" y="429"/>
                <a:ext cx="1044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8" name="Google Shape;3938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9" name="Google Shape;3939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0" name="Google Shape;3940;p106"/>
              <p:cNvSpPr/>
              <p:nvPr/>
            </p:nvSpPr>
            <p:spPr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1" name="Google Shape;3941;p106"/>
              <p:cNvGrpSpPr/>
              <p:nvPr/>
            </p:nvGrpSpPr>
            <p:grpSpPr>
              <a:xfrm>
                <a:off x="4750" y="668"/>
                <a:ext cx="579" cy="134"/>
                <a:chOff x="615" y="2568"/>
                <a:chExt cx="723" cy="128"/>
              </a:xfrm>
            </p:grpSpPr>
            <p:sp>
              <p:nvSpPr>
                <p:cNvPr id="3942" name="Google Shape;3942;p106"/>
                <p:cNvSpPr/>
                <p:nvPr/>
              </p:nvSpPr>
              <p:spPr>
                <a:xfrm>
                  <a:off x="615" y="2568"/>
                  <a:ext cx="723" cy="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3" name="Google Shape;3943;p106"/>
                <p:cNvSpPr/>
                <p:nvPr/>
              </p:nvSpPr>
              <p:spPr>
                <a:xfrm>
                  <a:off x="634" y="2581"/>
                  <a:ext cx="694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44" name="Google Shape;3944;p106"/>
              <p:cNvSpPr/>
              <p:nvPr/>
            </p:nvSpPr>
            <p:spPr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5" name="Google Shape;3945;p106"/>
              <p:cNvGrpSpPr/>
              <p:nvPr/>
            </p:nvGrpSpPr>
            <p:grpSpPr>
              <a:xfrm>
                <a:off x="4749" y="991"/>
                <a:ext cx="579" cy="133"/>
                <a:chOff x="617" y="2565"/>
                <a:chExt cx="723" cy="138"/>
              </a:xfrm>
            </p:grpSpPr>
            <p:sp>
              <p:nvSpPr>
                <p:cNvPr id="3946" name="Google Shape;3946;p106"/>
                <p:cNvSpPr/>
                <p:nvPr/>
              </p:nvSpPr>
              <p:spPr>
                <a:xfrm>
                  <a:off x="617" y="2565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7" name="Google Shape;3947;p106"/>
                <p:cNvSpPr/>
                <p:nvPr/>
              </p:nvSpPr>
              <p:spPr>
                <a:xfrm>
                  <a:off x="627" y="2580"/>
                  <a:ext cx="704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48" name="Google Shape;3948;p106"/>
              <p:cNvSpPr/>
              <p:nvPr/>
            </p:nvSpPr>
            <p:spPr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9" name="Google Shape;3949;p106"/>
              <p:cNvSpPr/>
              <p:nvPr/>
            </p:nvSpPr>
            <p:spPr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50" name="Google Shape;3950;p106"/>
              <p:cNvGrpSpPr/>
              <p:nvPr/>
            </p:nvGrpSpPr>
            <p:grpSpPr>
              <a:xfrm>
                <a:off x="4735" y="1630"/>
                <a:ext cx="587" cy="148"/>
                <a:chOff x="613" y="2571"/>
                <a:chExt cx="731" cy="136"/>
              </a:xfrm>
            </p:grpSpPr>
            <p:sp>
              <p:nvSpPr>
                <p:cNvPr id="3951" name="Google Shape;3951;p106"/>
                <p:cNvSpPr/>
                <p:nvPr/>
              </p:nvSpPr>
              <p:spPr>
                <a:xfrm>
                  <a:off x="613" y="2571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2" name="Google Shape;3952;p106"/>
                <p:cNvSpPr/>
                <p:nvPr/>
              </p:nvSpPr>
              <p:spPr>
                <a:xfrm>
                  <a:off x="632" y="2591"/>
                  <a:ext cx="693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3" name="Google Shape;3953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54" name="Google Shape;3954;p106"/>
              <p:cNvGrpSpPr/>
              <p:nvPr/>
            </p:nvGrpSpPr>
            <p:grpSpPr>
              <a:xfrm>
                <a:off x="4742" y="1328"/>
                <a:ext cx="572" cy="141"/>
                <a:chOff x="618" y="2569"/>
                <a:chExt cx="712" cy="141"/>
              </a:xfrm>
            </p:grpSpPr>
            <p:sp>
              <p:nvSpPr>
                <p:cNvPr id="3955" name="Google Shape;3955;p106"/>
                <p:cNvSpPr/>
                <p:nvPr/>
              </p:nvSpPr>
              <p:spPr>
                <a:xfrm>
                  <a:off x="618" y="2569"/>
                  <a:ext cx="712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6" name="Google Shape;3956;p106"/>
                <p:cNvSpPr/>
                <p:nvPr/>
              </p:nvSpPr>
              <p:spPr>
                <a:xfrm>
                  <a:off x="637" y="2583"/>
                  <a:ext cx="683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7" name="Google Shape;3957;p106"/>
              <p:cNvSpPr/>
              <p:nvPr/>
            </p:nvSpPr>
            <p:spPr>
              <a:xfrm>
                <a:off x="5253" y="429"/>
                <a:ext cx="69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8" name="Google Shape;3958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9" name="Google Shape;3959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0" name="Google Shape;3960;p106"/>
              <p:cNvSpPr/>
              <p:nvPr/>
            </p:nvSpPr>
            <p:spPr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1" name="Google Shape;3961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2" name="Google Shape;3962;p106"/>
              <p:cNvSpPr/>
              <p:nvPr/>
            </p:nvSpPr>
            <p:spPr>
              <a:xfrm>
                <a:off x="4140" y="2684"/>
                <a:ext cx="1196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3" name="Google Shape;3963;p106"/>
              <p:cNvSpPr/>
              <p:nvPr/>
            </p:nvSpPr>
            <p:spPr>
              <a:xfrm>
                <a:off x="4209" y="2713"/>
                <a:ext cx="1067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4" name="Google Shape;3964;p106"/>
              <p:cNvSpPr/>
              <p:nvPr/>
            </p:nvSpPr>
            <p:spPr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5" name="Google Shape;3965;p106"/>
              <p:cNvSpPr/>
              <p:nvPr/>
            </p:nvSpPr>
            <p:spPr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6" name="Google Shape;3966;p106"/>
              <p:cNvSpPr/>
              <p:nvPr/>
            </p:nvSpPr>
            <p:spPr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7" name="Google Shape;3967;p106"/>
              <p:cNvSpPr/>
              <p:nvPr/>
            </p:nvSpPr>
            <p:spPr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2" name="Shape 3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" name="Google Shape;3973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4" name="Google Shape;3974;p10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Firewalls: why</a:t>
            </a:r>
            <a:endParaRPr/>
          </a:p>
        </p:txBody>
      </p:sp>
      <p:sp>
        <p:nvSpPr>
          <p:cNvPr id="3975" name="Google Shape;3975;p107"/>
          <p:cNvSpPr/>
          <p:nvPr/>
        </p:nvSpPr>
        <p:spPr>
          <a:xfrm>
            <a:off x="921099" y="1346162"/>
            <a:ext cx="10051701" cy="4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prevent denial of service attacks: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 flooding: attacker establishes many bogus TCP connections, no resources left for “real” connections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prevent illegal modification/access of internal data</a:t>
            </a:r>
            <a:endParaRPr/>
          </a:p>
          <a:p>
            <a:pPr indent="-233362" lvl="1" marL="690563" marR="0" rtl="0" algn="l"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attacker replaces CIA’s homepage with something else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allow only authorized access to inside network</a:t>
            </a:r>
            <a:endParaRPr/>
          </a:p>
          <a:p>
            <a:pPr indent="-223837" lvl="1" marL="690563" marR="0" rtl="0" algn="l"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 of authenticated users/hosts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three types of firewalls: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stateless packet filters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stateful packet filters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gateways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0" name="Shape 3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1" name="Google Shape;3981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2" name="Google Shape;3982;p108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</a:t>
            </a:r>
            <a:endParaRPr/>
          </a:p>
        </p:txBody>
      </p:sp>
      <p:grpSp>
        <p:nvGrpSpPr>
          <p:cNvPr id="3983" name="Google Shape;3983;p108"/>
          <p:cNvGrpSpPr/>
          <p:nvPr/>
        </p:nvGrpSpPr>
        <p:grpSpPr>
          <a:xfrm>
            <a:off x="2461040" y="1551370"/>
            <a:ext cx="5718175" cy="1846262"/>
            <a:chOff x="2639460" y="3012180"/>
            <a:chExt cx="5718175" cy="1846262"/>
          </a:xfrm>
        </p:grpSpPr>
        <p:sp>
          <p:nvSpPr>
            <p:cNvPr id="3984" name="Google Shape;3984;p108"/>
            <p:cNvSpPr/>
            <p:nvPr/>
          </p:nvSpPr>
          <p:spPr>
            <a:xfrm>
              <a:off x="2706135" y="3012180"/>
              <a:ext cx="3189287" cy="1808162"/>
            </a:xfrm>
            <a:custGeom>
              <a:rect b="b" l="l" r="r" t="t"/>
              <a:pathLst>
                <a:path extrusionOk="0" h="977" w="1672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5" name="Google Shape;3985;p108"/>
            <p:cNvSpPr/>
            <p:nvPr/>
          </p:nvSpPr>
          <p:spPr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86" name="Google Shape;3986;p108"/>
            <p:cNvCxnSpPr/>
            <p:nvPr/>
          </p:nvCxnSpPr>
          <p:spPr>
            <a:xfrm>
              <a:off x="4900060" y="4142480"/>
              <a:ext cx="434975" cy="1587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87" name="Google Shape;3987;p108"/>
            <p:cNvSpPr/>
            <p:nvPr/>
          </p:nvSpPr>
          <p:spPr>
            <a:xfrm>
              <a:off x="6455810" y="3518592"/>
              <a:ext cx="1901825" cy="1141413"/>
            </a:xfrm>
            <a:custGeom>
              <a:rect b="b" l="l" r="r" t="t"/>
              <a:pathLst>
                <a:path extrusionOk="0" h="719" w="1198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88" name="Google Shape;3988;p108"/>
            <p:cNvCxnSpPr/>
            <p:nvPr/>
          </p:nvCxnSpPr>
          <p:spPr>
            <a:xfrm flipH="1" rot="10800000">
              <a:off x="5962097" y="4125017"/>
              <a:ext cx="490538" cy="3175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9" name="Google Shape;3989;p108"/>
            <p:cNvCxnSpPr/>
            <p:nvPr/>
          </p:nvCxnSpPr>
          <p:spPr>
            <a:xfrm rot="10800000">
              <a:off x="3095072" y="3644005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0" name="Google Shape;3990;p108"/>
            <p:cNvCxnSpPr/>
            <p:nvPr/>
          </p:nvCxnSpPr>
          <p:spPr>
            <a:xfrm flipH="1">
              <a:off x="3482422" y="3691630"/>
              <a:ext cx="271463" cy="3143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1" name="Google Shape;3991;p108"/>
            <p:cNvCxnSpPr/>
            <p:nvPr/>
          </p:nvCxnSpPr>
          <p:spPr>
            <a:xfrm>
              <a:off x="3901522" y="3720205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992" name="Google Shape;3992;p108"/>
            <p:cNvGrpSpPr/>
            <p:nvPr/>
          </p:nvGrpSpPr>
          <p:grpSpPr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993" name="Google Shape;3993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4" name="Google Shape;3994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95" name="Google Shape;3995;p108"/>
            <p:cNvGrpSpPr/>
            <p:nvPr/>
          </p:nvGrpSpPr>
          <p:grpSpPr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996" name="Google Shape;3996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7" name="Google Shape;3997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98" name="Google Shape;3998;p108"/>
            <p:cNvCxnSpPr/>
            <p:nvPr/>
          </p:nvCxnSpPr>
          <p:spPr>
            <a:xfrm>
              <a:off x="4120597" y="3650355"/>
              <a:ext cx="377825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9" name="Google Shape;3999;p108"/>
            <p:cNvCxnSpPr/>
            <p:nvPr/>
          </p:nvCxnSpPr>
          <p:spPr>
            <a:xfrm flipH="1">
              <a:off x="4352372" y="4145655"/>
              <a:ext cx="120650" cy="2936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0" name="Google Shape;4000;p108"/>
            <p:cNvCxnSpPr/>
            <p:nvPr/>
          </p:nvCxnSpPr>
          <p:spPr>
            <a:xfrm>
              <a:off x="4757185" y="4156767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1" name="Google Shape;4001;p108"/>
            <p:cNvCxnSpPr/>
            <p:nvPr/>
          </p:nvCxnSpPr>
          <p:spPr>
            <a:xfrm rot="10800000">
              <a:off x="3953910" y="3604317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02" name="Google Shape;4002;p108"/>
            <p:cNvGrpSpPr/>
            <p:nvPr/>
          </p:nvGrpSpPr>
          <p:grpSpPr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4003" name="Google Shape;4003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4" name="Google Shape;4004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5" name="Google Shape;4005;p108"/>
            <p:cNvGrpSpPr/>
            <p:nvPr/>
          </p:nvGrpSpPr>
          <p:grpSpPr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4006" name="Google Shape;4006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7" name="Google Shape;4007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8" name="Google Shape;4008;p108"/>
            <p:cNvGrpSpPr/>
            <p:nvPr/>
          </p:nvGrpSpPr>
          <p:grpSpPr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4009" name="Google Shape;4009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10" name="Google Shape;4010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1" name="Google Shape;4011;p108"/>
            <p:cNvGrpSpPr/>
            <p:nvPr/>
          </p:nvGrpSpPr>
          <p:grpSpPr>
            <a:xfrm>
              <a:off x="3228516" y="3879002"/>
              <a:ext cx="285523" cy="538072"/>
              <a:chOff x="4140" y="427"/>
              <a:chExt cx="1423" cy="2396"/>
            </a:xfrm>
          </p:grpSpPr>
          <p:sp>
            <p:nvSpPr>
              <p:cNvPr id="4012" name="Google Shape;4012;p10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3" name="Google Shape;4013;p108"/>
              <p:cNvSpPr/>
              <p:nvPr/>
            </p:nvSpPr>
            <p:spPr>
              <a:xfrm>
                <a:off x="4211" y="427"/>
                <a:ext cx="103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4" name="Google Shape;4014;p10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5" name="Google Shape;4015;p10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6" name="Google Shape;4016;p108"/>
              <p:cNvSpPr/>
              <p:nvPr/>
            </p:nvSpPr>
            <p:spPr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17" name="Google Shape;4017;p108"/>
              <p:cNvGrpSpPr/>
              <p:nvPr/>
            </p:nvGrpSpPr>
            <p:grpSpPr>
              <a:xfrm>
                <a:off x="4749" y="667"/>
                <a:ext cx="578" cy="135"/>
                <a:chOff x="614" y="2567"/>
                <a:chExt cx="721" cy="129"/>
              </a:xfrm>
            </p:grpSpPr>
            <p:sp>
              <p:nvSpPr>
                <p:cNvPr id="4018" name="Google Shape;4018;p108"/>
                <p:cNvSpPr/>
                <p:nvPr/>
              </p:nvSpPr>
              <p:spPr>
                <a:xfrm>
                  <a:off x="614" y="2567"/>
                  <a:ext cx="721" cy="12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9" name="Google Shape;4019;p108"/>
                <p:cNvSpPr/>
                <p:nvPr/>
              </p:nvSpPr>
              <p:spPr>
                <a:xfrm>
                  <a:off x="633" y="2581"/>
                  <a:ext cx="691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0" name="Google Shape;4020;p108"/>
              <p:cNvSpPr/>
              <p:nvPr/>
            </p:nvSpPr>
            <p:spPr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21" name="Google Shape;4021;p108"/>
              <p:cNvGrpSpPr/>
              <p:nvPr/>
            </p:nvGrpSpPr>
            <p:grpSpPr>
              <a:xfrm>
                <a:off x="4749" y="992"/>
                <a:ext cx="578" cy="134"/>
                <a:chOff x="616" y="2566"/>
                <a:chExt cx="721" cy="139"/>
              </a:xfrm>
            </p:grpSpPr>
            <p:sp>
              <p:nvSpPr>
                <p:cNvPr id="4022" name="Google Shape;4022;p108"/>
                <p:cNvSpPr/>
                <p:nvPr/>
              </p:nvSpPr>
              <p:spPr>
                <a:xfrm>
                  <a:off x="616" y="2566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3" name="Google Shape;4023;p108"/>
                <p:cNvSpPr/>
                <p:nvPr/>
              </p:nvSpPr>
              <p:spPr>
                <a:xfrm>
                  <a:off x="626" y="2581"/>
                  <a:ext cx="70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4" name="Google Shape;4024;p108"/>
              <p:cNvSpPr/>
              <p:nvPr/>
            </p:nvSpPr>
            <p:spPr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5" name="Google Shape;4025;p108"/>
              <p:cNvSpPr/>
              <p:nvPr/>
            </p:nvSpPr>
            <p:spPr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26" name="Google Shape;4026;p108"/>
              <p:cNvGrpSpPr/>
              <p:nvPr/>
            </p:nvGrpSpPr>
            <p:grpSpPr>
              <a:xfrm>
                <a:off x="4733" y="1629"/>
                <a:ext cx="585" cy="149"/>
                <a:chOff x="611" y="2570"/>
                <a:chExt cx="729" cy="137"/>
              </a:xfrm>
            </p:grpSpPr>
            <p:sp>
              <p:nvSpPr>
                <p:cNvPr id="4027" name="Google Shape;4027;p108"/>
                <p:cNvSpPr/>
                <p:nvPr/>
              </p:nvSpPr>
              <p:spPr>
                <a:xfrm>
                  <a:off x="611" y="2570"/>
                  <a:ext cx="729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8" name="Google Shape;4028;p108"/>
                <p:cNvSpPr/>
                <p:nvPr/>
              </p:nvSpPr>
              <p:spPr>
                <a:xfrm>
                  <a:off x="631" y="2589"/>
                  <a:ext cx="690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9" name="Google Shape;4029;p10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30" name="Google Shape;4030;p108"/>
              <p:cNvGrpSpPr/>
              <p:nvPr/>
            </p:nvGrpSpPr>
            <p:grpSpPr>
              <a:xfrm>
                <a:off x="4741" y="1325"/>
                <a:ext cx="570" cy="141"/>
                <a:chOff x="616" y="2566"/>
                <a:chExt cx="710" cy="141"/>
              </a:xfrm>
            </p:grpSpPr>
            <p:sp>
              <p:nvSpPr>
                <p:cNvPr id="4031" name="Google Shape;4031;p108"/>
                <p:cNvSpPr/>
                <p:nvPr/>
              </p:nvSpPr>
              <p:spPr>
                <a:xfrm>
                  <a:off x="616" y="2566"/>
                  <a:ext cx="710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2" name="Google Shape;4032;p108"/>
                <p:cNvSpPr/>
                <p:nvPr/>
              </p:nvSpPr>
              <p:spPr>
                <a:xfrm>
                  <a:off x="636" y="2580"/>
                  <a:ext cx="68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3" name="Google Shape;4033;p108"/>
              <p:cNvSpPr/>
              <p:nvPr/>
            </p:nvSpPr>
            <p:spPr>
              <a:xfrm>
                <a:off x="5247" y="427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4" name="Google Shape;4034;p10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5" name="Google Shape;4035;p10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6" name="Google Shape;4036;p108"/>
              <p:cNvSpPr/>
              <p:nvPr/>
            </p:nvSpPr>
            <p:spPr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7" name="Google Shape;4037;p10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8" name="Google Shape;4038;p108"/>
              <p:cNvSpPr/>
              <p:nvPr/>
            </p:nvSpPr>
            <p:spPr>
              <a:xfrm>
                <a:off x="4140" y="2682"/>
                <a:ext cx="1195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9" name="Google Shape;4039;p108"/>
              <p:cNvSpPr/>
              <p:nvPr/>
            </p:nvSpPr>
            <p:spPr>
              <a:xfrm>
                <a:off x="4211" y="2710"/>
                <a:ext cx="1060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0" name="Google Shape;4040;p108"/>
              <p:cNvSpPr/>
              <p:nvPr/>
            </p:nvSpPr>
            <p:spPr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1" name="Google Shape;4041;p108"/>
              <p:cNvSpPr/>
              <p:nvPr/>
            </p:nvSpPr>
            <p:spPr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2" name="Google Shape;4042;p108"/>
              <p:cNvSpPr/>
              <p:nvPr/>
            </p:nvSpPr>
            <p:spPr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3" name="Google Shape;4043;p108"/>
              <p:cNvSpPr/>
              <p:nvPr/>
            </p:nvSpPr>
            <p:spPr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4" name="Google Shape;4044;p108"/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4045" name="Google Shape;4045;p10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6" name="Google Shape;4046;p10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47" name="Google Shape;4047;p10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48" name="Google Shape;4048;p10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9" name="Google Shape;4049;p10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0" name="Google Shape;4050;p10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1" name="Google Shape;4051;p10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52" name="Google Shape;4052;p108"/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4053" name="Google Shape;4053;p10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054" name="Google Shape;4054;p10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055" name="Google Shape;4055;p10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056" name="Google Shape;4056;p10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7" name="Google Shape;4057;p10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8" name="Google Shape;4058;p10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9" name="Google Shape;4059;p10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60" name="Google Shape;4060;p108"/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4061" name="Google Shape;4061;p10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2" name="Google Shape;4062;p10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3" name="Google Shape;4063;p10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64" name="Google Shape;4064;p10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5" name="Google Shape;4065;p10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6" name="Google Shape;4066;p10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7" name="Google Shape;4067;p10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68" name="Google Shape;4068;p108"/>
            <p:cNvGrpSpPr/>
            <p:nvPr/>
          </p:nvGrpSpPr>
          <p:grpSpPr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4069" name="Google Shape;4069;p10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0" name="Google Shape;4070;p108"/>
              <p:cNvSpPr/>
              <p:nvPr/>
            </p:nvSpPr>
            <p:spPr>
              <a:xfrm>
                <a:off x="4209" y="429"/>
                <a:ext cx="1044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1" name="Google Shape;4071;p10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2" name="Google Shape;4072;p10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3" name="Google Shape;4073;p108"/>
              <p:cNvSpPr/>
              <p:nvPr/>
            </p:nvSpPr>
            <p:spPr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74" name="Google Shape;4074;p108"/>
              <p:cNvGrpSpPr/>
              <p:nvPr/>
            </p:nvGrpSpPr>
            <p:grpSpPr>
              <a:xfrm>
                <a:off x="4750" y="668"/>
                <a:ext cx="579" cy="134"/>
                <a:chOff x="615" y="2568"/>
                <a:chExt cx="723" cy="128"/>
              </a:xfrm>
            </p:grpSpPr>
            <p:sp>
              <p:nvSpPr>
                <p:cNvPr id="4075" name="Google Shape;4075;p108"/>
                <p:cNvSpPr/>
                <p:nvPr/>
              </p:nvSpPr>
              <p:spPr>
                <a:xfrm>
                  <a:off x="615" y="2568"/>
                  <a:ext cx="723" cy="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6" name="Google Shape;4076;p108"/>
                <p:cNvSpPr/>
                <p:nvPr/>
              </p:nvSpPr>
              <p:spPr>
                <a:xfrm>
                  <a:off x="634" y="2581"/>
                  <a:ext cx="694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77" name="Google Shape;4077;p108"/>
              <p:cNvSpPr/>
              <p:nvPr/>
            </p:nvSpPr>
            <p:spPr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78" name="Google Shape;4078;p108"/>
              <p:cNvGrpSpPr/>
              <p:nvPr/>
            </p:nvGrpSpPr>
            <p:grpSpPr>
              <a:xfrm>
                <a:off x="4749" y="991"/>
                <a:ext cx="579" cy="133"/>
                <a:chOff x="617" y="2565"/>
                <a:chExt cx="723" cy="138"/>
              </a:xfrm>
            </p:grpSpPr>
            <p:sp>
              <p:nvSpPr>
                <p:cNvPr id="4079" name="Google Shape;4079;p108"/>
                <p:cNvSpPr/>
                <p:nvPr/>
              </p:nvSpPr>
              <p:spPr>
                <a:xfrm>
                  <a:off x="617" y="2565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0" name="Google Shape;4080;p108"/>
                <p:cNvSpPr/>
                <p:nvPr/>
              </p:nvSpPr>
              <p:spPr>
                <a:xfrm>
                  <a:off x="627" y="2580"/>
                  <a:ext cx="704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81" name="Google Shape;4081;p108"/>
              <p:cNvSpPr/>
              <p:nvPr/>
            </p:nvSpPr>
            <p:spPr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2" name="Google Shape;4082;p108"/>
              <p:cNvSpPr/>
              <p:nvPr/>
            </p:nvSpPr>
            <p:spPr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83" name="Google Shape;4083;p108"/>
              <p:cNvGrpSpPr/>
              <p:nvPr/>
            </p:nvGrpSpPr>
            <p:grpSpPr>
              <a:xfrm>
                <a:off x="4735" y="1630"/>
                <a:ext cx="587" cy="148"/>
                <a:chOff x="613" y="2571"/>
                <a:chExt cx="731" cy="136"/>
              </a:xfrm>
            </p:grpSpPr>
            <p:sp>
              <p:nvSpPr>
                <p:cNvPr id="4084" name="Google Shape;4084;p108"/>
                <p:cNvSpPr/>
                <p:nvPr/>
              </p:nvSpPr>
              <p:spPr>
                <a:xfrm>
                  <a:off x="613" y="2571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5" name="Google Shape;4085;p108"/>
                <p:cNvSpPr/>
                <p:nvPr/>
              </p:nvSpPr>
              <p:spPr>
                <a:xfrm>
                  <a:off x="632" y="2591"/>
                  <a:ext cx="693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86" name="Google Shape;4086;p10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7" name="Google Shape;4087;p108"/>
              <p:cNvGrpSpPr/>
              <p:nvPr/>
            </p:nvGrpSpPr>
            <p:grpSpPr>
              <a:xfrm>
                <a:off x="4742" y="1328"/>
                <a:ext cx="572" cy="141"/>
                <a:chOff x="618" y="2569"/>
                <a:chExt cx="712" cy="141"/>
              </a:xfrm>
            </p:grpSpPr>
            <p:sp>
              <p:nvSpPr>
                <p:cNvPr id="4088" name="Google Shape;4088;p108"/>
                <p:cNvSpPr/>
                <p:nvPr/>
              </p:nvSpPr>
              <p:spPr>
                <a:xfrm>
                  <a:off x="618" y="2569"/>
                  <a:ext cx="712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9" name="Google Shape;4089;p108"/>
                <p:cNvSpPr/>
                <p:nvPr/>
              </p:nvSpPr>
              <p:spPr>
                <a:xfrm>
                  <a:off x="637" y="2583"/>
                  <a:ext cx="683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90" name="Google Shape;4090;p108"/>
              <p:cNvSpPr/>
              <p:nvPr/>
            </p:nvSpPr>
            <p:spPr>
              <a:xfrm>
                <a:off x="5253" y="429"/>
                <a:ext cx="69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1" name="Google Shape;4091;p10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2" name="Google Shape;4092;p10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3" name="Google Shape;4093;p108"/>
              <p:cNvSpPr/>
              <p:nvPr/>
            </p:nvSpPr>
            <p:spPr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4" name="Google Shape;4094;p10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5" name="Google Shape;4095;p108"/>
              <p:cNvSpPr/>
              <p:nvPr/>
            </p:nvSpPr>
            <p:spPr>
              <a:xfrm>
                <a:off x="4140" y="2684"/>
                <a:ext cx="1196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6" name="Google Shape;4096;p108"/>
              <p:cNvSpPr/>
              <p:nvPr/>
            </p:nvSpPr>
            <p:spPr>
              <a:xfrm>
                <a:off x="4209" y="2713"/>
                <a:ext cx="1067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7" name="Google Shape;4097;p108"/>
              <p:cNvSpPr/>
              <p:nvPr/>
            </p:nvSpPr>
            <p:spPr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8" name="Google Shape;4098;p108"/>
              <p:cNvSpPr/>
              <p:nvPr/>
            </p:nvSpPr>
            <p:spPr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9" name="Google Shape;4099;p108"/>
              <p:cNvSpPr/>
              <p:nvPr/>
            </p:nvSpPr>
            <p:spPr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0" name="Google Shape;4100;p108"/>
              <p:cNvSpPr/>
              <p:nvPr/>
            </p:nvSpPr>
            <p:spPr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01" name="Google Shape;4101;p108"/>
          <p:cNvSpPr/>
          <p:nvPr/>
        </p:nvSpPr>
        <p:spPr>
          <a:xfrm>
            <a:off x="6025106" y="1569883"/>
            <a:ext cx="1435100" cy="407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2" name="Google Shape;4102;p108"/>
          <p:cNvSpPr/>
          <p:nvPr/>
        </p:nvSpPr>
        <p:spPr>
          <a:xfrm>
            <a:off x="5612356" y="1706408"/>
            <a:ext cx="815975" cy="19685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3" name="Google Shape;4103;p108"/>
          <p:cNvSpPr/>
          <p:nvPr/>
        </p:nvSpPr>
        <p:spPr>
          <a:xfrm>
            <a:off x="5528218" y="1861983"/>
            <a:ext cx="350838" cy="153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4" name="Google Shape;4104;p108"/>
          <p:cNvGrpSpPr/>
          <p:nvPr/>
        </p:nvGrpSpPr>
        <p:grpSpPr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4105" name="Google Shape;4105;p108"/>
            <p:cNvSpPr/>
            <p:nvPr/>
          </p:nvSpPr>
          <p:spPr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6" name="Google Shape;4106;p108"/>
            <p:cNvSpPr txBox="1"/>
            <p:nvPr/>
          </p:nvSpPr>
          <p:spPr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Should arriving packet be allowed in? Departing packet let out?</a:t>
              </a:r>
              <a:endParaRPr/>
            </a:p>
          </p:txBody>
        </p:sp>
      </p:grpSp>
      <p:grpSp>
        <p:nvGrpSpPr>
          <p:cNvPr id="4107" name="Google Shape;4107;p108"/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4108" name="Google Shape;4108;p108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09" name="Google Shape;4109;p108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110" name="Google Shape;4110;p108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1" name="Google Shape;4111;p108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2" name="Google Shape;4112;p108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13" name="Google Shape;4113;p108"/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4114" name="Google Shape;4114;p108"/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15" name="Google Shape;4115;p108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116" name="Google Shape;4116;p108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7" name="Google Shape;4117;p108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8" name="Google Shape;4118;p108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19" name="Google Shape;4119;p108"/>
          <p:cNvSpPr txBox="1"/>
          <p:nvPr/>
        </p:nvSpPr>
        <p:spPr>
          <a:xfrm>
            <a:off x="935038" y="3700424"/>
            <a:ext cx="10405752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network connected to Internet via router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packet-by-packet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to forward/drop packet based 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IP address, destination IP address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TCP/UDP source, destination port numbers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 type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SYN, ACK bits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4" name="Shape 4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5" name="Google Shape;4125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6" name="Google Shape;4126;p10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filtering: example</a:t>
            </a:r>
            <a:endParaRPr/>
          </a:p>
        </p:txBody>
      </p:sp>
      <p:sp>
        <p:nvSpPr>
          <p:cNvPr id="4127" name="Google Shape;4127;p109"/>
          <p:cNvSpPr/>
          <p:nvPr/>
        </p:nvSpPr>
        <p:spPr>
          <a:xfrm>
            <a:off x="2527715" y="1551370"/>
            <a:ext cx="3189287" cy="1808162"/>
          </a:xfrm>
          <a:custGeom>
            <a:rect b="b" l="l" r="r" t="t"/>
            <a:pathLst>
              <a:path extrusionOk="0" h="977" w="1672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8" name="Google Shape;4128;p109"/>
          <p:cNvSpPr/>
          <p:nvPr/>
        </p:nvSpPr>
        <p:spPr>
          <a:xfrm>
            <a:off x="5496340" y="2654682"/>
            <a:ext cx="41275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9" name="Google Shape;4129;p109"/>
          <p:cNvCxnSpPr/>
          <p:nvPr/>
        </p:nvCxnSpPr>
        <p:spPr>
          <a:xfrm>
            <a:off x="4721640" y="2681670"/>
            <a:ext cx="434975" cy="1587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0" name="Google Shape;4130;p109"/>
          <p:cNvSpPr/>
          <p:nvPr/>
        </p:nvSpPr>
        <p:spPr>
          <a:xfrm>
            <a:off x="6277390" y="2057782"/>
            <a:ext cx="1901825" cy="1141413"/>
          </a:xfrm>
          <a:custGeom>
            <a:rect b="b" l="l" r="r" t="t"/>
            <a:pathLst>
              <a:path extrusionOk="0" h="719" w="1198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>
            <a:gsLst>
              <a:gs pos="0">
                <a:srgbClr val="9AE0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1" name="Google Shape;4131;p109"/>
          <p:cNvCxnSpPr/>
          <p:nvPr/>
        </p:nvCxnSpPr>
        <p:spPr>
          <a:xfrm flipH="1" rot="10800000">
            <a:off x="5783677" y="2664207"/>
            <a:ext cx="490538" cy="3175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2" name="Google Shape;4132;p109"/>
          <p:cNvCxnSpPr/>
          <p:nvPr/>
        </p:nvCxnSpPr>
        <p:spPr>
          <a:xfrm rot="10800000">
            <a:off x="2916652" y="2183195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3" name="Google Shape;4133;p109"/>
          <p:cNvCxnSpPr/>
          <p:nvPr/>
        </p:nvCxnSpPr>
        <p:spPr>
          <a:xfrm flipH="1">
            <a:off x="3304002" y="2230820"/>
            <a:ext cx="271463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4" name="Google Shape;4134;p109"/>
          <p:cNvCxnSpPr/>
          <p:nvPr/>
        </p:nvCxnSpPr>
        <p:spPr>
          <a:xfrm>
            <a:off x="3723102" y="2259395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35" name="Google Shape;4135;p109"/>
          <p:cNvGrpSpPr/>
          <p:nvPr/>
        </p:nvGrpSpPr>
        <p:grpSpPr>
          <a:xfrm>
            <a:off x="2461040" y="1985847"/>
            <a:ext cx="568325" cy="481182"/>
            <a:chOff x="-44" y="1473"/>
            <a:chExt cx="981" cy="1105"/>
          </a:xfrm>
        </p:grpSpPr>
        <p:pic>
          <p:nvPicPr>
            <p:cNvPr descr="desktop_computer_stylized_medium" id="4136" name="Google Shape;4136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7" name="Google Shape;4137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8" name="Google Shape;4138;p109"/>
          <p:cNvGrpSpPr/>
          <p:nvPr/>
        </p:nvGrpSpPr>
        <p:grpSpPr>
          <a:xfrm>
            <a:off x="3396078" y="2474970"/>
            <a:ext cx="568325" cy="481182"/>
            <a:chOff x="-44" y="1473"/>
            <a:chExt cx="981" cy="1105"/>
          </a:xfrm>
        </p:grpSpPr>
        <p:pic>
          <p:nvPicPr>
            <p:cNvPr descr="desktop_computer_stylized_medium" id="4139" name="Google Shape;4139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0" name="Google Shape;4140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41" name="Google Shape;4141;p109"/>
          <p:cNvCxnSpPr/>
          <p:nvPr/>
        </p:nvCxnSpPr>
        <p:spPr>
          <a:xfrm>
            <a:off x="3942177" y="2189545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2" name="Google Shape;4142;p109"/>
          <p:cNvCxnSpPr/>
          <p:nvPr/>
        </p:nvCxnSpPr>
        <p:spPr>
          <a:xfrm flipH="1">
            <a:off x="4173952" y="2684845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3" name="Google Shape;4143;p109"/>
          <p:cNvCxnSpPr/>
          <p:nvPr/>
        </p:nvCxnSpPr>
        <p:spPr>
          <a:xfrm>
            <a:off x="4578765" y="2695957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4" name="Google Shape;4144;p109"/>
          <p:cNvCxnSpPr/>
          <p:nvPr/>
        </p:nvCxnSpPr>
        <p:spPr>
          <a:xfrm rot="10800000">
            <a:off x="3775490" y="2143507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45" name="Google Shape;4145;p109"/>
          <p:cNvGrpSpPr/>
          <p:nvPr/>
        </p:nvGrpSpPr>
        <p:grpSpPr>
          <a:xfrm>
            <a:off x="3800890" y="2848163"/>
            <a:ext cx="568325" cy="481183"/>
            <a:chOff x="-44" y="1473"/>
            <a:chExt cx="981" cy="1105"/>
          </a:xfrm>
        </p:grpSpPr>
        <p:pic>
          <p:nvPicPr>
            <p:cNvPr descr="desktop_computer_stylized_medium" id="4146" name="Google Shape;4146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7" name="Google Shape;4147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8" name="Google Shape;4148;p109"/>
          <p:cNvGrpSpPr/>
          <p:nvPr/>
        </p:nvGrpSpPr>
        <p:grpSpPr>
          <a:xfrm>
            <a:off x="4258090" y="2916450"/>
            <a:ext cx="568325" cy="481182"/>
            <a:chOff x="-44" y="1473"/>
            <a:chExt cx="981" cy="1105"/>
          </a:xfrm>
        </p:grpSpPr>
        <p:pic>
          <p:nvPicPr>
            <p:cNvPr descr="desktop_computer_stylized_medium" id="4149" name="Google Shape;4149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0" name="Google Shape;4150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1" name="Google Shape;4151;p109"/>
          <p:cNvGrpSpPr/>
          <p:nvPr/>
        </p:nvGrpSpPr>
        <p:grpSpPr>
          <a:xfrm>
            <a:off x="4080477" y="1806957"/>
            <a:ext cx="568325" cy="481183"/>
            <a:chOff x="-44" y="1473"/>
            <a:chExt cx="981" cy="1105"/>
          </a:xfrm>
        </p:grpSpPr>
        <p:pic>
          <p:nvPicPr>
            <p:cNvPr descr="desktop_computer_stylized_medium" id="4152" name="Google Shape;4152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3" name="Google Shape;4153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4" name="Google Shape;4154;p109"/>
          <p:cNvGrpSpPr/>
          <p:nvPr/>
        </p:nvGrpSpPr>
        <p:grpSpPr>
          <a:xfrm>
            <a:off x="3050096" y="2418192"/>
            <a:ext cx="285523" cy="538072"/>
            <a:chOff x="4140" y="427"/>
            <a:chExt cx="1423" cy="2396"/>
          </a:xfrm>
        </p:grpSpPr>
        <p:sp>
          <p:nvSpPr>
            <p:cNvPr id="4155" name="Google Shape;4155;p10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6" name="Google Shape;4156;p109"/>
            <p:cNvSpPr/>
            <p:nvPr/>
          </p:nvSpPr>
          <p:spPr>
            <a:xfrm>
              <a:off x="4211" y="427"/>
              <a:ext cx="103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7" name="Google Shape;4157;p10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8" name="Google Shape;4158;p10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9" name="Google Shape;4159;p109"/>
            <p:cNvSpPr/>
            <p:nvPr/>
          </p:nvSpPr>
          <p:spPr>
            <a:xfrm>
              <a:off x="4211" y="688"/>
              <a:ext cx="593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60" name="Google Shape;4160;p109"/>
            <p:cNvGrpSpPr/>
            <p:nvPr/>
          </p:nvGrpSpPr>
          <p:grpSpPr>
            <a:xfrm>
              <a:off x="4749" y="667"/>
              <a:ext cx="578" cy="135"/>
              <a:chOff x="614" y="2567"/>
              <a:chExt cx="721" cy="129"/>
            </a:xfrm>
          </p:grpSpPr>
          <p:sp>
            <p:nvSpPr>
              <p:cNvPr id="4161" name="Google Shape;4161;p109"/>
              <p:cNvSpPr/>
              <p:nvPr/>
            </p:nvSpPr>
            <p:spPr>
              <a:xfrm>
                <a:off x="614" y="2567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2" name="Google Shape;4162;p109"/>
              <p:cNvSpPr/>
              <p:nvPr/>
            </p:nvSpPr>
            <p:spPr>
              <a:xfrm>
                <a:off x="633" y="2581"/>
                <a:ext cx="691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3" name="Google Shape;4163;p109"/>
            <p:cNvSpPr/>
            <p:nvPr/>
          </p:nvSpPr>
          <p:spPr>
            <a:xfrm>
              <a:off x="4227" y="1021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64" name="Google Shape;4164;p109"/>
            <p:cNvGrpSpPr/>
            <p:nvPr/>
          </p:nvGrpSpPr>
          <p:grpSpPr>
            <a:xfrm>
              <a:off x="4749" y="992"/>
              <a:ext cx="578" cy="134"/>
              <a:chOff x="616" y="2566"/>
              <a:chExt cx="721" cy="139"/>
            </a:xfrm>
          </p:grpSpPr>
          <p:sp>
            <p:nvSpPr>
              <p:cNvPr id="4165" name="Google Shape;4165;p109"/>
              <p:cNvSpPr/>
              <p:nvPr/>
            </p:nvSpPr>
            <p:spPr>
              <a:xfrm>
                <a:off x="616" y="2566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6" name="Google Shape;4166;p109"/>
              <p:cNvSpPr/>
              <p:nvPr/>
            </p:nvSpPr>
            <p:spPr>
              <a:xfrm>
                <a:off x="626" y="2581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7" name="Google Shape;4167;p109"/>
            <p:cNvSpPr/>
            <p:nvPr/>
          </p:nvSpPr>
          <p:spPr>
            <a:xfrm>
              <a:off x="4211" y="1360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8" name="Google Shape;4168;p109"/>
            <p:cNvSpPr/>
            <p:nvPr/>
          </p:nvSpPr>
          <p:spPr>
            <a:xfrm>
              <a:off x="4227" y="1657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69" name="Google Shape;4169;p109"/>
            <p:cNvGrpSpPr/>
            <p:nvPr/>
          </p:nvGrpSpPr>
          <p:grpSpPr>
            <a:xfrm>
              <a:off x="4733" y="1629"/>
              <a:ext cx="585" cy="149"/>
              <a:chOff x="611" y="2570"/>
              <a:chExt cx="729" cy="137"/>
            </a:xfrm>
          </p:grpSpPr>
          <p:sp>
            <p:nvSpPr>
              <p:cNvPr id="4170" name="Google Shape;4170;p109"/>
              <p:cNvSpPr/>
              <p:nvPr/>
            </p:nvSpPr>
            <p:spPr>
              <a:xfrm>
                <a:off x="611" y="2570"/>
                <a:ext cx="729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1" name="Google Shape;4171;p109"/>
              <p:cNvSpPr/>
              <p:nvPr/>
            </p:nvSpPr>
            <p:spPr>
              <a:xfrm>
                <a:off x="631" y="2589"/>
                <a:ext cx="690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2" name="Google Shape;4172;p10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73" name="Google Shape;4173;p109"/>
            <p:cNvGrpSpPr/>
            <p:nvPr/>
          </p:nvGrpSpPr>
          <p:grpSpPr>
            <a:xfrm>
              <a:off x="4741" y="1325"/>
              <a:ext cx="570" cy="141"/>
              <a:chOff x="616" y="2566"/>
              <a:chExt cx="710" cy="141"/>
            </a:xfrm>
          </p:grpSpPr>
          <p:sp>
            <p:nvSpPr>
              <p:cNvPr id="4174" name="Google Shape;4174;p109"/>
              <p:cNvSpPr/>
              <p:nvPr/>
            </p:nvSpPr>
            <p:spPr>
              <a:xfrm>
                <a:off x="616" y="2566"/>
                <a:ext cx="710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5" name="Google Shape;4175;p109"/>
              <p:cNvSpPr/>
              <p:nvPr/>
            </p:nvSpPr>
            <p:spPr>
              <a:xfrm>
                <a:off x="636" y="2580"/>
                <a:ext cx="680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6" name="Google Shape;4176;p109"/>
            <p:cNvSpPr/>
            <p:nvPr/>
          </p:nvSpPr>
          <p:spPr>
            <a:xfrm>
              <a:off x="5247" y="427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7" name="Google Shape;4177;p10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8" name="Google Shape;4178;p10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9" name="Google Shape;4179;p109"/>
            <p:cNvSpPr/>
            <p:nvPr/>
          </p:nvSpPr>
          <p:spPr>
            <a:xfrm>
              <a:off x="5516" y="2604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0" name="Google Shape;4180;p10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1" name="Google Shape;4181;p109"/>
            <p:cNvSpPr/>
            <p:nvPr/>
          </p:nvSpPr>
          <p:spPr>
            <a:xfrm>
              <a:off x="4140" y="2682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2" name="Google Shape;4182;p109"/>
            <p:cNvSpPr/>
            <p:nvPr/>
          </p:nvSpPr>
          <p:spPr>
            <a:xfrm>
              <a:off x="4211" y="2710"/>
              <a:ext cx="106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3" name="Google Shape;4183;p109"/>
            <p:cNvSpPr/>
            <p:nvPr/>
          </p:nvSpPr>
          <p:spPr>
            <a:xfrm>
              <a:off x="4306" y="2385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4" name="Google Shape;4184;p109"/>
            <p:cNvSpPr/>
            <p:nvPr/>
          </p:nvSpPr>
          <p:spPr>
            <a:xfrm>
              <a:off x="4488" y="2385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5" name="Google Shape;4185;p109"/>
            <p:cNvSpPr/>
            <p:nvPr/>
          </p:nvSpPr>
          <p:spPr>
            <a:xfrm>
              <a:off x="4662" y="2378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p109"/>
            <p:cNvSpPr/>
            <p:nvPr/>
          </p:nvSpPr>
          <p:spPr>
            <a:xfrm>
              <a:off x="5057" y="1834"/>
              <a:ext cx="87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7" name="Google Shape;4187;p109"/>
          <p:cNvGrpSpPr/>
          <p:nvPr/>
        </p:nvGrpSpPr>
        <p:grpSpPr>
          <a:xfrm>
            <a:off x="3305130" y="2019858"/>
            <a:ext cx="710244" cy="282076"/>
            <a:chOff x="3668110" y="2448910"/>
            <a:chExt cx="3794234" cy="2165130"/>
          </a:xfrm>
        </p:grpSpPr>
        <p:sp>
          <p:nvSpPr>
            <p:cNvPr id="4188" name="Google Shape;4188;p10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9" name="Google Shape;4189;p10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0" name="Google Shape;4190;p10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191" name="Google Shape;4191;p10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2" name="Google Shape;4192;p10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3" name="Google Shape;4193;p10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4" name="Google Shape;4194;p10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95" name="Google Shape;4195;p109"/>
          <p:cNvGrpSpPr/>
          <p:nvPr/>
        </p:nvGrpSpPr>
        <p:grpSpPr>
          <a:xfrm>
            <a:off x="5123392" y="2482830"/>
            <a:ext cx="754294" cy="393599"/>
            <a:chOff x="7493876" y="2774731"/>
            <a:chExt cx="1481958" cy="894622"/>
          </a:xfrm>
        </p:grpSpPr>
        <p:sp>
          <p:nvSpPr>
            <p:cNvPr id="4196" name="Google Shape;4196;p10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97" name="Google Shape;4197;p10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198" name="Google Shape;4198;p10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9" name="Google Shape;4199;p10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0" name="Google Shape;4200;p10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1" name="Google Shape;4201;p10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2" name="Google Shape;4202;p10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03" name="Google Shape;4203;p109"/>
          <p:cNvGrpSpPr/>
          <p:nvPr/>
        </p:nvGrpSpPr>
        <p:grpSpPr>
          <a:xfrm>
            <a:off x="4089472" y="2510373"/>
            <a:ext cx="710244" cy="282076"/>
            <a:chOff x="3668110" y="2448910"/>
            <a:chExt cx="3794234" cy="2165130"/>
          </a:xfrm>
        </p:grpSpPr>
        <p:sp>
          <p:nvSpPr>
            <p:cNvPr id="4204" name="Google Shape;4204;p10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5" name="Google Shape;4205;p10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06" name="Google Shape;4206;p10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207" name="Google Shape;4207;p10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8" name="Google Shape;4208;p10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9" name="Google Shape;4209;p10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0" name="Google Shape;4210;p10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11" name="Google Shape;4211;p109"/>
          <p:cNvGrpSpPr/>
          <p:nvPr/>
        </p:nvGrpSpPr>
        <p:grpSpPr>
          <a:xfrm>
            <a:off x="5345682" y="2003885"/>
            <a:ext cx="296863" cy="541338"/>
            <a:chOff x="4140" y="429"/>
            <a:chExt cx="1425" cy="2396"/>
          </a:xfrm>
        </p:grpSpPr>
        <p:sp>
          <p:nvSpPr>
            <p:cNvPr id="4212" name="Google Shape;4212;p10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3" name="Google Shape;4213;p109"/>
            <p:cNvSpPr/>
            <p:nvPr/>
          </p:nvSpPr>
          <p:spPr>
            <a:xfrm>
              <a:off x="4209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4" name="Google Shape;4214;p10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5" name="Google Shape;4215;p10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6" name="Google Shape;4216;p109"/>
            <p:cNvSpPr/>
            <p:nvPr/>
          </p:nvSpPr>
          <p:spPr>
            <a:xfrm>
              <a:off x="4216" y="689"/>
              <a:ext cx="587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7" name="Google Shape;4217;p109"/>
            <p:cNvGrpSpPr/>
            <p:nvPr/>
          </p:nvGrpSpPr>
          <p:grpSpPr>
            <a:xfrm>
              <a:off x="4750" y="668"/>
              <a:ext cx="579" cy="134"/>
              <a:chOff x="615" y="2568"/>
              <a:chExt cx="723" cy="128"/>
            </a:xfrm>
          </p:grpSpPr>
          <p:sp>
            <p:nvSpPr>
              <p:cNvPr id="4218" name="Google Shape;4218;p109"/>
              <p:cNvSpPr/>
              <p:nvPr/>
            </p:nvSpPr>
            <p:spPr>
              <a:xfrm>
                <a:off x="615" y="2568"/>
                <a:ext cx="723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9" name="Google Shape;4219;p109"/>
              <p:cNvSpPr/>
              <p:nvPr/>
            </p:nvSpPr>
            <p:spPr>
              <a:xfrm>
                <a:off x="634" y="2581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0" name="Google Shape;4220;p109"/>
            <p:cNvSpPr/>
            <p:nvPr/>
          </p:nvSpPr>
          <p:spPr>
            <a:xfrm>
              <a:off x="4224" y="1019"/>
              <a:ext cx="594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1" name="Google Shape;4221;p109"/>
            <p:cNvGrpSpPr/>
            <p:nvPr/>
          </p:nvGrpSpPr>
          <p:grpSpPr>
            <a:xfrm>
              <a:off x="4749" y="991"/>
              <a:ext cx="579" cy="133"/>
              <a:chOff x="617" y="2565"/>
              <a:chExt cx="723" cy="138"/>
            </a:xfrm>
          </p:grpSpPr>
          <p:sp>
            <p:nvSpPr>
              <p:cNvPr id="4222" name="Google Shape;4222;p109"/>
              <p:cNvSpPr/>
              <p:nvPr/>
            </p:nvSpPr>
            <p:spPr>
              <a:xfrm>
                <a:off x="617" y="2565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3" name="Google Shape;4223;p109"/>
              <p:cNvSpPr/>
              <p:nvPr/>
            </p:nvSpPr>
            <p:spPr>
              <a:xfrm>
                <a:off x="627" y="2580"/>
                <a:ext cx="704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4" name="Google Shape;4224;p109"/>
            <p:cNvSpPr/>
            <p:nvPr/>
          </p:nvSpPr>
          <p:spPr>
            <a:xfrm>
              <a:off x="4216" y="1364"/>
              <a:ext cx="594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5" name="Google Shape;4225;p109"/>
            <p:cNvSpPr/>
            <p:nvPr/>
          </p:nvSpPr>
          <p:spPr>
            <a:xfrm>
              <a:off x="4224" y="1659"/>
              <a:ext cx="602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6" name="Google Shape;4226;p109"/>
            <p:cNvGrpSpPr/>
            <p:nvPr/>
          </p:nvGrpSpPr>
          <p:grpSpPr>
            <a:xfrm>
              <a:off x="4735" y="1630"/>
              <a:ext cx="587" cy="148"/>
              <a:chOff x="613" y="2571"/>
              <a:chExt cx="731" cy="136"/>
            </a:xfrm>
          </p:grpSpPr>
          <p:sp>
            <p:nvSpPr>
              <p:cNvPr id="4227" name="Google Shape;4227;p109"/>
              <p:cNvSpPr/>
              <p:nvPr/>
            </p:nvSpPr>
            <p:spPr>
              <a:xfrm>
                <a:off x="613" y="2571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8" name="Google Shape;4228;p109"/>
              <p:cNvSpPr/>
              <p:nvPr/>
            </p:nvSpPr>
            <p:spPr>
              <a:xfrm>
                <a:off x="632" y="2591"/>
                <a:ext cx="693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9" name="Google Shape;4229;p10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30" name="Google Shape;4230;p109"/>
            <p:cNvGrpSpPr/>
            <p:nvPr/>
          </p:nvGrpSpPr>
          <p:grpSpPr>
            <a:xfrm>
              <a:off x="4742" y="1328"/>
              <a:ext cx="572" cy="141"/>
              <a:chOff x="618" y="2569"/>
              <a:chExt cx="712" cy="141"/>
            </a:xfrm>
          </p:grpSpPr>
          <p:sp>
            <p:nvSpPr>
              <p:cNvPr id="4231" name="Google Shape;4231;p109"/>
              <p:cNvSpPr/>
              <p:nvPr/>
            </p:nvSpPr>
            <p:spPr>
              <a:xfrm>
                <a:off x="618" y="2569"/>
                <a:ext cx="712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2" name="Google Shape;4232;p109"/>
              <p:cNvSpPr/>
              <p:nvPr/>
            </p:nvSpPr>
            <p:spPr>
              <a:xfrm>
                <a:off x="637" y="2583"/>
                <a:ext cx="683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33" name="Google Shape;4233;p109"/>
            <p:cNvSpPr/>
            <p:nvPr/>
          </p:nvSpPr>
          <p:spPr>
            <a:xfrm>
              <a:off x="5253" y="429"/>
              <a:ext cx="69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4" name="Google Shape;4234;p10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5" name="Google Shape;4235;p10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6" name="Google Shape;4236;p109"/>
            <p:cNvSpPr/>
            <p:nvPr/>
          </p:nvSpPr>
          <p:spPr>
            <a:xfrm>
              <a:off x="5519" y="2607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7" name="Google Shape;4237;p10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8" name="Google Shape;4238;p109"/>
            <p:cNvSpPr/>
            <p:nvPr/>
          </p:nvSpPr>
          <p:spPr>
            <a:xfrm>
              <a:off x="4140" y="2684"/>
              <a:ext cx="1196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9" name="Google Shape;4239;p109"/>
            <p:cNvSpPr/>
            <p:nvPr/>
          </p:nvSpPr>
          <p:spPr>
            <a:xfrm>
              <a:off x="4209" y="2713"/>
              <a:ext cx="1067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0" name="Google Shape;4240;p109"/>
            <p:cNvSpPr/>
            <p:nvPr/>
          </p:nvSpPr>
          <p:spPr>
            <a:xfrm>
              <a:off x="4308" y="2382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1" name="Google Shape;4241;p109"/>
            <p:cNvSpPr/>
            <p:nvPr/>
          </p:nvSpPr>
          <p:spPr>
            <a:xfrm>
              <a:off x="4483" y="2382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2" name="Google Shape;4242;p109"/>
            <p:cNvSpPr/>
            <p:nvPr/>
          </p:nvSpPr>
          <p:spPr>
            <a:xfrm>
              <a:off x="4666" y="2382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3" name="Google Shape;4243;p109"/>
            <p:cNvSpPr/>
            <p:nvPr/>
          </p:nvSpPr>
          <p:spPr>
            <a:xfrm>
              <a:off x="5062" y="1834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4" name="Google Shape;4244;p109"/>
          <p:cNvSpPr/>
          <p:nvPr/>
        </p:nvSpPr>
        <p:spPr>
          <a:xfrm>
            <a:off x="6025106" y="1569883"/>
            <a:ext cx="1435100" cy="407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5" name="Google Shape;4245;p109"/>
          <p:cNvSpPr/>
          <p:nvPr/>
        </p:nvSpPr>
        <p:spPr>
          <a:xfrm>
            <a:off x="5612356" y="1706408"/>
            <a:ext cx="815975" cy="19685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6" name="Google Shape;4246;p109"/>
          <p:cNvSpPr/>
          <p:nvPr/>
        </p:nvSpPr>
        <p:spPr>
          <a:xfrm>
            <a:off x="5528218" y="1861983"/>
            <a:ext cx="350838" cy="153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7" name="Google Shape;4247;p109"/>
          <p:cNvGrpSpPr/>
          <p:nvPr/>
        </p:nvGrpSpPr>
        <p:grpSpPr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4248" name="Google Shape;4248;p109"/>
            <p:cNvSpPr/>
            <p:nvPr/>
          </p:nvSpPr>
          <p:spPr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9" name="Google Shape;4249;p109"/>
            <p:cNvSpPr txBox="1"/>
            <p:nvPr/>
          </p:nvSpPr>
          <p:spPr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Should arriving packet be allowed in? Departing packet let out?</a:t>
              </a:r>
              <a:endParaRPr/>
            </a:p>
          </p:txBody>
        </p:sp>
      </p:grpSp>
      <p:grpSp>
        <p:nvGrpSpPr>
          <p:cNvPr id="4250" name="Google Shape;4250;p109"/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4251" name="Google Shape;4251;p109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52" name="Google Shape;4252;p109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253" name="Google Shape;4253;p10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4" name="Google Shape;4254;p10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5" name="Google Shape;4255;p10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56" name="Google Shape;4256;p109"/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4257" name="Google Shape;4257;p109"/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58" name="Google Shape;4258;p109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259" name="Google Shape;4259;p10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0" name="Google Shape;4260;p10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1" name="Google Shape;4261;p10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62" name="Google Shape;4262;p109"/>
          <p:cNvSpPr txBox="1"/>
          <p:nvPr/>
        </p:nvSpPr>
        <p:spPr>
          <a:xfrm>
            <a:off x="673100" y="3702204"/>
            <a:ext cx="10444666" cy="269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 1: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incoming and outgoing datagrams with IP protocol field = 17 and with either source or dest port = 23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incoming, outgoing UDP flows and telnet connections are blocked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 2: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inbound TCP segments with ACK=0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prevents external clients from making TCP connections with internal clients, but allows internal clients to connect to outside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7" name="Shape 4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8" name="Google Shape;4268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69" name="Google Shape;4269;p11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filtering: more examples</a:t>
            </a:r>
            <a:endParaRPr/>
          </a:p>
        </p:txBody>
      </p:sp>
      <p:graphicFrame>
        <p:nvGraphicFramePr>
          <p:cNvPr id="4270" name="Google Shape;4270;p110"/>
          <p:cNvGraphicFramePr/>
          <p:nvPr/>
        </p:nvGraphicFramePr>
        <p:xfrm>
          <a:off x="1215483" y="1345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{B7135BA7-2E80-49A5-8662-528F6C81CF3C}</a:tableStyleId>
              </a:tblPr>
              <a:tblGrid>
                <a:gridCol w="4583150"/>
                <a:gridCol w="5363725"/>
              </a:tblGrid>
              <a:tr h="49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Firewall Setting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outside Web access 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outgoing packets to any IP address, port 80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incoming TCP connections, except those for institution’s public Web server only.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incoming TCP SYN packets to any IP except 130.207.244.203, port 80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Web-radios from eating up the available bandwidth.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incoming UDP packets - except DNS and router broadcasts.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your network from being used for a smurf DoS attack.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ICMP packets going to a “broadcast” address (e.g. 130.207.255.255)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your network from being tracerouted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outgoing ICMP TTL expired traffic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5" name="Shape 4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6" name="Google Shape;4276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7" name="Google Shape;4277;p11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Access Control Lists</a:t>
            </a:r>
            <a:endParaRPr/>
          </a:p>
        </p:txBody>
      </p:sp>
      <p:graphicFrame>
        <p:nvGraphicFramePr>
          <p:cNvPr id="4278" name="Google Shape;4278;p111"/>
          <p:cNvGraphicFramePr/>
          <p:nvPr/>
        </p:nvGraphicFramePr>
        <p:xfrm>
          <a:off x="1548509" y="244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{B7135BA7-2E80-49A5-8662-528F6C81CF3C}</a:tableStyleId>
              </a:tblPr>
              <a:tblGrid>
                <a:gridCol w="1228050"/>
                <a:gridCol w="1229700"/>
                <a:gridCol w="1329425"/>
                <a:gridCol w="1243000"/>
                <a:gridCol w="1115050"/>
                <a:gridCol w="1229700"/>
                <a:gridCol w="1043600"/>
              </a:tblGrid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protocol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----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deny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79" name="Google Shape;4279;p111"/>
          <p:cNvSpPr/>
          <p:nvPr/>
        </p:nvSpPr>
        <p:spPr>
          <a:xfrm>
            <a:off x="1028700" y="1278058"/>
            <a:ext cx="105128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01688" lvl="0" marL="801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ACL: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of rules, applied top to bottom to incoming packets: (action, condition) pairs: looks like OpenFlow forwarding (Ch. 4)!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4" name="Shape 4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5" name="Google Shape;4285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6" name="Google Shape;4286;p11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Stateful packet filtering</a:t>
            </a:r>
            <a:endParaRPr/>
          </a:p>
        </p:txBody>
      </p:sp>
      <p:sp>
        <p:nvSpPr>
          <p:cNvPr id="4287" name="Google Shape;4287;p112"/>
          <p:cNvSpPr txBox="1"/>
          <p:nvPr/>
        </p:nvSpPr>
        <p:spPr>
          <a:xfrm>
            <a:off x="934998" y="1290560"/>
            <a:ext cx="10829539" cy="4592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277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stateless packet filter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heavy handed tool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admits packets that “make no sense,” e.g., dest port = 80, ACK bit set, even though no TCP connection established: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88" name="Google Shape;4288;p112"/>
          <p:cNvGraphicFramePr/>
          <p:nvPr/>
        </p:nvGraphicFramePr>
        <p:xfrm>
          <a:off x="2311555" y="263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{B7135BA7-2E80-49A5-8662-528F6C81CF3C}</a:tableStyleId>
              </a:tblPr>
              <a:tblGrid>
                <a:gridCol w="1114425"/>
                <a:gridCol w="1117600"/>
                <a:gridCol w="1206500"/>
                <a:gridCol w="1128725"/>
                <a:gridCol w="1012825"/>
                <a:gridCol w="1116000"/>
                <a:gridCol w="947750"/>
              </a:tblGrid>
              <a:tr h="62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5225" marB="452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protocol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9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225" marB="452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89" name="Google Shape;4289;p112"/>
          <p:cNvSpPr/>
          <p:nvPr/>
        </p:nvSpPr>
        <p:spPr>
          <a:xfrm>
            <a:off x="908980" y="4362567"/>
            <a:ext cx="10721742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stateful packet filter:</a:t>
            </a: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status of every TCP connection</a:t>
            </a:r>
            <a:endParaRPr/>
          </a:p>
          <a:p>
            <a:pPr indent="-238125" lvl="1" marL="6953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connection setup (SYN), teardown (FIN): determine whether incoming, outgoing packets “makes sense”</a:t>
            </a:r>
            <a:endParaRPr/>
          </a:p>
          <a:p>
            <a:pPr indent="-238125" lvl="1" marL="6953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timeout inactive connections at firewall: no longer admit packets</a:t>
            </a:r>
            <a:endParaRPr/>
          </a:p>
          <a:p>
            <a:pPr indent="-152400" lvl="1" marL="695325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4" name="Shape 4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5" name="Google Shape;4295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6" name="Google Shape;4296;p11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Stateful packet filtering</a:t>
            </a:r>
            <a:endParaRPr/>
          </a:p>
        </p:txBody>
      </p:sp>
      <p:graphicFrame>
        <p:nvGraphicFramePr>
          <p:cNvPr id="4297" name="Google Shape;4297;p113"/>
          <p:cNvGraphicFramePr/>
          <p:nvPr/>
        </p:nvGraphicFramePr>
        <p:xfrm>
          <a:off x="1818696" y="2576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{B7135BA7-2E80-49A5-8662-528F6C81CF3C}</a:tableStyleId>
              </a:tblPr>
              <a:tblGrid>
                <a:gridCol w="1173150"/>
                <a:gridCol w="1174750"/>
                <a:gridCol w="1270000"/>
                <a:gridCol w="835025"/>
                <a:gridCol w="1043000"/>
                <a:gridCol w="1055675"/>
                <a:gridCol w="914400"/>
                <a:gridCol w="1253200"/>
              </a:tblGrid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connection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----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25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FF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deny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98" name="Google Shape;4298;p113"/>
          <p:cNvSpPr txBox="1"/>
          <p:nvPr/>
        </p:nvSpPr>
        <p:spPr>
          <a:xfrm>
            <a:off x="2112964" y="5965748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9" name="Google Shape;4299;p113"/>
          <p:cNvSpPr/>
          <p:nvPr/>
        </p:nvSpPr>
        <p:spPr>
          <a:xfrm>
            <a:off x="1028700" y="1394546"/>
            <a:ext cx="10925407" cy="1103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ACL augmented to indicate need to check connection state table before admitting packet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4" name="Shape 4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5" name="Google Shape;4305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6" name="Google Shape;4306;p11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gateways</a:t>
            </a:r>
            <a:endParaRPr/>
          </a:p>
        </p:txBody>
      </p:sp>
      <p:sp>
        <p:nvSpPr>
          <p:cNvPr id="4307" name="Google Shape;4307;p114"/>
          <p:cNvSpPr txBox="1"/>
          <p:nvPr/>
        </p:nvSpPr>
        <p:spPr>
          <a:xfrm>
            <a:off x="1028700" y="1356848"/>
            <a:ext cx="4279280" cy="2568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packets on application data as well as on IP/TCP/UDP fields.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select internal users to telnet outside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8" name="Google Shape;4308;p114"/>
          <p:cNvSpPr/>
          <p:nvPr/>
        </p:nvSpPr>
        <p:spPr>
          <a:xfrm>
            <a:off x="1028699" y="4367523"/>
            <a:ext cx="10735837" cy="199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 all telnet users to telnet through gateway.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authorized users, gateway sets up telnet connection to dest host</a:t>
            </a:r>
            <a:endParaRPr/>
          </a:p>
          <a:p>
            <a:pPr indent="-177799" lvl="0" marL="5778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12A0"/>
              </a:buClr>
              <a:buSzPts val="238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gateway relays data between 2 connections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filter blocks all telnet connections not originating from gateway</a:t>
            </a:r>
            <a:endParaRPr/>
          </a:p>
        </p:txBody>
      </p:sp>
      <p:sp>
        <p:nvSpPr>
          <p:cNvPr id="4309" name="Google Shape;4309;p114"/>
          <p:cNvSpPr txBox="1"/>
          <p:nvPr/>
        </p:nvSpPr>
        <p:spPr>
          <a:xfrm>
            <a:off x="7657681" y="1577642"/>
            <a:ext cx="1102739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0" name="Google Shape;4310;p114"/>
          <p:cNvSpPr/>
          <p:nvPr/>
        </p:nvSpPr>
        <p:spPr>
          <a:xfrm>
            <a:off x="6107635" y="1847031"/>
            <a:ext cx="3648994" cy="1808285"/>
          </a:xfrm>
          <a:custGeom>
            <a:rect b="b" l="l" r="r" t="t"/>
            <a:pathLst>
              <a:path extrusionOk="0" h="10000" w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1" name="Google Shape;4311;p114"/>
          <p:cNvSpPr/>
          <p:nvPr/>
        </p:nvSpPr>
        <p:spPr>
          <a:xfrm>
            <a:off x="9535948" y="2950310"/>
            <a:ext cx="46488" cy="20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2" name="Google Shape;4312;p114"/>
          <p:cNvCxnSpPr/>
          <p:nvPr/>
        </p:nvCxnSpPr>
        <p:spPr>
          <a:xfrm>
            <a:off x="8359103" y="2797457"/>
            <a:ext cx="837092" cy="181434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3" name="Google Shape;4313;p114"/>
          <p:cNvCxnSpPr/>
          <p:nvPr/>
        </p:nvCxnSpPr>
        <p:spPr>
          <a:xfrm rot="10800000">
            <a:off x="6538409" y="2391666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4" name="Google Shape;4314;p114"/>
          <p:cNvCxnSpPr/>
          <p:nvPr/>
        </p:nvCxnSpPr>
        <p:spPr>
          <a:xfrm flipH="1">
            <a:off x="6925759" y="2439291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5" name="Google Shape;4315;p114"/>
          <p:cNvCxnSpPr/>
          <p:nvPr/>
        </p:nvCxnSpPr>
        <p:spPr>
          <a:xfrm>
            <a:off x="7344859" y="246786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16" name="Google Shape;4316;p114"/>
          <p:cNvGrpSpPr/>
          <p:nvPr/>
        </p:nvGrpSpPr>
        <p:grpSpPr>
          <a:xfrm>
            <a:off x="6082318" y="2194476"/>
            <a:ext cx="568374" cy="481119"/>
            <a:chOff x="-44" y="1473"/>
            <a:chExt cx="981" cy="1105"/>
          </a:xfrm>
        </p:grpSpPr>
        <p:pic>
          <p:nvPicPr>
            <p:cNvPr descr="desktop_computer_stylized_medium" id="4317" name="Google Shape;4317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18" name="Google Shape;4318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19" name="Google Shape;4319;p114"/>
          <p:cNvGrpSpPr/>
          <p:nvPr/>
        </p:nvGrpSpPr>
        <p:grpSpPr>
          <a:xfrm>
            <a:off x="7017436" y="2683535"/>
            <a:ext cx="568374" cy="481119"/>
            <a:chOff x="-44" y="1473"/>
            <a:chExt cx="981" cy="1105"/>
          </a:xfrm>
        </p:grpSpPr>
        <p:pic>
          <p:nvPicPr>
            <p:cNvPr descr="desktop_computer_stylized_medium" id="4320" name="Google Shape;4320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1" name="Google Shape;4321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22" name="Google Shape;4322;p114"/>
          <p:cNvCxnSpPr/>
          <p:nvPr/>
        </p:nvCxnSpPr>
        <p:spPr>
          <a:xfrm>
            <a:off x="7563934" y="2398016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3" name="Google Shape;4323;p114"/>
          <p:cNvCxnSpPr/>
          <p:nvPr/>
        </p:nvCxnSpPr>
        <p:spPr>
          <a:xfrm flipH="1">
            <a:off x="7795709" y="2893316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4" name="Google Shape;4324;p114"/>
          <p:cNvCxnSpPr/>
          <p:nvPr/>
        </p:nvCxnSpPr>
        <p:spPr>
          <a:xfrm>
            <a:off x="8200521" y="2904428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5" name="Google Shape;4325;p114"/>
          <p:cNvCxnSpPr/>
          <p:nvPr/>
        </p:nvCxnSpPr>
        <p:spPr>
          <a:xfrm rot="10800000">
            <a:off x="7395659" y="2351978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26" name="Google Shape;4326;p114"/>
          <p:cNvGrpSpPr/>
          <p:nvPr/>
        </p:nvGrpSpPr>
        <p:grpSpPr>
          <a:xfrm>
            <a:off x="7422283" y="3056680"/>
            <a:ext cx="568374" cy="481120"/>
            <a:chOff x="-44" y="1473"/>
            <a:chExt cx="981" cy="1105"/>
          </a:xfrm>
        </p:grpSpPr>
        <p:pic>
          <p:nvPicPr>
            <p:cNvPr descr="desktop_computer_stylized_medium" id="4327" name="Google Shape;4327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8" name="Google Shape;4328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9" name="Google Shape;4329;p114"/>
          <p:cNvGrpSpPr/>
          <p:nvPr/>
        </p:nvGrpSpPr>
        <p:grpSpPr>
          <a:xfrm>
            <a:off x="7879522" y="3124959"/>
            <a:ext cx="568374" cy="481119"/>
            <a:chOff x="-44" y="1473"/>
            <a:chExt cx="981" cy="1105"/>
          </a:xfrm>
        </p:grpSpPr>
        <p:pic>
          <p:nvPicPr>
            <p:cNvPr descr="desktop_computer_stylized_medium" id="4330" name="Google Shape;4330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1" name="Google Shape;4331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2" name="Google Shape;4332;p114"/>
          <p:cNvGrpSpPr/>
          <p:nvPr/>
        </p:nvGrpSpPr>
        <p:grpSpPr>
          <a:xfrm>
            <a:off x="6476612" y="2628334"/>
            <a:ext cx="568374" cy="481120"/>
            <a:chOff x="-44" y="1473"/>
            <a:chExt cx="981" cy="1105"/>
          </a:xfrm>
        </p:grpSpPr>
        <p:pic>
          <p:nvPicPr>
            <p:cNvPr descr="desktop_computer_stylized_medium" id="4333" name="Google Shape;4333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4" name="Google Shape;4334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5" name="Google Shape;4335;p114"/>
          <p:cNvGrpSpPr/>
          <p:nvPr/>
        </p:nvGrpSpPr>
        <p:grpSpPr>
          <a:xfrm>
            <a:off x="7867223" y="2074267"/>
            <a:ext cx="285548" cy="538002"/>
            <a:chOff x="4142" y="429"/>
            <a:chExt cx="1423" cy="2396"/>
          </a:xfrm>
        </p:grpSpPr>
        <p:sp>
          <p:nvSpPr>
            <p:cNvPr id="4336" name="Google Shape;4336;p1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7" name="Google Shape;4337;p114"/>
            <p:cNvSpPr/>
            <p:nvPr/>
          </p:nvSpPr>
          <p:spPr>
            <a:xfrm>
              <a:off x="4213" y="429"/>
              <a:ext cx="1036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1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1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0" name="Google Shape;4340;p114"/>
            <p:cNvSpPr/>
            <p:nvPr/>
          </p:nvSpPr>
          <p:spPr>
            <a:xfrm>
              <a:off x="4213" y="690"/>
              <a:ext cx="593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1" name="Google Shape;4341;p114"/>
            <p:cNvGrpSpPr/>
            <p:nvPr/>
          </p:nvGrpSpPr>
          <p:grpSpPr>
            <a:xfrm>
              <a:off x="4751" y="669"/>
              <a:ext cx="578" cy="135"/>
              <a:chOff x="616" y="2569"/>
              <a:chExt cx="721" cy="129"/>
            </a:xfrm>
          </p:grpSpPr>
          <p:sp>
            <p:nvSpPr>
              <p:cNvPr id="4342" name="Google Shape;4342;p114"/>
              <p:cNvSpPr/>
              <p:nvPr/>
            </p:nvSpPr>
            <p:spPr>
              <a:xfrm>
                <a:off x="616" y="2569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3" name="Google Shape;4343;p114"/>
              <p:cNvSpPr/>
              <p:nvPr/>
            </p:nvSpPr>
            <p:spPr>
              <a:xfrm>
                <a:off x="636" y="2582"/>
                <a:ext cx="691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44" name="Google Shape;4344;p114"/>
            <p:cNvSpPr/>
            <p:nvPr/>
          </p:nvSpPr>
          <p:spPr>
            <a:xfrm>
              <a:off x="4229" y="1022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5" name="Google Shape;4345;p114"/>
            <p:cNvGrpSpPr/>
            <p:nvPr/>
          </p:nvGrpSpPr>
          <p:grpSpPr>
            <a:xfrm>
              <a:off x="4751" y="994"/>
              <a:ext cx="578" cy="134"/>
              <a:chOff x="619" y="2568"/>
              <a:chExt cx="721" cy="139"/>
            </a:xfrm>
          </p:grpSpPr>
          <p:sp>
            <p:nvSpPr>
              <p:cNvPr id="4346" name="Google Shape;4346;p114"/>
              <p:cNvSpPr/>
              <p:nvPr/>
            </p:nvSpPr>
            <p:spPr>
              <a:xfrm>
                <a:off x="619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7" name="Google Shape;4347;p114"/>
              <p:cNvSpPr/>
              <p:nvPr/>
            </p:nvSpPr>
            <p:spPr>
              <a:xfrm>
                <a:off x="629" y="2583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48" name="Google Shape;4348;p114"/>
            <p:cNvSpPr/>
            <p:nvPr/>
          </p:nvSpPr>
          <p:spPr>
            <a:xfrm>
              <a:off x="4213" y="1362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9" name="Google Shape;4349;p114"/>
            <p:cNvSpPr/>
            <p:nvPr/>
          </p:nvSpPr>
          <p:spPr>
            <a:xfrm>
              <a:off x="4229" y="1659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0" name="Google Shape;4350;p114"/>
            <p:cNvGrpSpPr/>
            <p:nvPr/>
          </p:nvGrpSpPr>
          <p:grpSpPr>
            <a:xfrm>
              <a:off x="4735" y="1630"/>
              <a:ext cx="585" cy="149"/>
              <a:chOff x="613" y="2571"/>
              <a:chExt cx="729" cy="137"/>
            </a:xfrm>
          </p:grpSpPr>
          <p:sp>
            <p:nvSpPr>
              <p:cNvPr id="4351" name="Google Shape;4351;p114"/>
              <p:cNvSpPr/>
              <p:nvPr/>
            </p:nvSpPr>
            <p:spPr>
              <a:xfrm>
                <a:off x="613" y="2571"/>
                <a:ext cx="729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2" name="Google Shape;4352;p114"/>
              <p:cNvSpPr/>
              <p:nvPr/>
            </p:nvSpPr>
            <p:spPr>
              <a:xfrm>
                <a:off x="633" y="2591"/>
                <a:ext cx="690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3" name="Google Shape;4353;p1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4" name="Google Shape;4354;p114"/>
            <p:cNvGrpSpPr/>
            <p:nvPr/>
          </p:nvGrpSpPr>
          <p:grpSpPr>
            <a:xfrm>
              <a:off x="4743" y="1326"/>
              <a:ext cx="570" cy="141"/>
              <a:chOff x="619" y="2567"/>
              <a:chExt cx="710" cy="141"/>
            </a:xfrm>
          </p:grpSpPr>
          <p:sp>
            <p:nvSpPr>
              <p:cNvPr id="4355" name="Google Shape;4355;p114"/>
              <p:cNvSpPr/>
              <p:nvPr/>
            </p:nvSpPr>
            <p:spPr>
              <a:xfrm>
                <a:off x="619" y="2567"/>
                <a:ext cx="710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6" name="Google Shape;4356;p114"/>
              <p:cNvSpPr/>
              <p:nvPr/>
            </p:nvSpPr>
            <p:spPr>
              <a:xfrm>
                <a:off x="639" y="2582"/>
                <a:ext cx="680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7" name="Google Shape;4357;p114"/>
            <p:cNvSpPr/>
            <p:nvPr/>
          </p:nvSpPr>
          <p:spPr>
            <a:xfrm>
              <a:off x="5249" y="429"/>
              <a:ext cx="71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8" name="Google Shape;4358;p1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9" name="Google Shape;4359;p1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0" name="Google Shape;4360;p114"/>
            <p:cNvSpPr/>
            <p:nvPr/>
          </p:nvSpPr>
          <p:spPr>
            <a:xfrm>
              <a:off x="5518" y="2606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1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2" name="Google Shape;4362;p114"/>
            <p:cNvSpPr/>
            <p:nvPr/>
          </p:nvSpPr>
          <p:spPr>
            <a:xfrm>
              <a:off x="4142" y="2684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3" name="Google Shape;4363;p114"/>
            <p:cNvSpPr/>
            <p:nvPr/>
          </p:nvSpPr>
          <p:spPr>
            <a:xfrm>
              <a:off x="4213" y="2712"/>
              <a:ext cx="106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4" name="Google Shape;4364;p114"/>
            <p:cNvSpPr/>
            <p:nvPr/>
          </p:nvSpPr>
          <p:spPr>
            <a:xfrm>
              <a:off x="4308" y="2387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5" name="Google Shape;4365;p114"/>
            <p:cNvSpPr/>
            <p:nvPr/>
          </p:nvSpPr>
          <p:spPr>
            <a:xfrm>
              <a:off x="4490" y="2387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6" name="Google Shape;4366;p114"/>
            <p:cNvSpPr/>
            <p:nvPr/>
          </p:nvSpPr>
          <p:spPr>
            <a:xfrm>
              <a:off x="4664" y="2380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7" name="Google Shape;4367;p114"/>
            <p:cNvSpPr/>
            <p:nvPr/>
          </p:nvSpPr>
          <p:spPr>
            <a:xfrm>
              <a:off x="5059" y="1835"/>
              <a:ext cx="87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8" name="Google Shape;4368;p114"/>
          <p:cNvSpPr txBox="1"/>
          <p:nvPr/>
        </p:nvSpPr>
        <p:spPr>
          <a:xfrm>
            <a:off x="5897059" y="1385191"/>
            <a:ext cx="1697901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host-to-gateway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telnet session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9" name="Google Shape;4369;p114"/>
          <p:cNvSpPr/>
          <p:nvPr/>
        </p:nvSpPr>
        <p:spPr>
          <a:xfrm>
            <a:off x="6625618" y="1769096"/>
            <a:ext cx="1239327" cy="415072"/>
          </a:xfrm>
          <a:custGeom>
            <a:rect b="b" l="l" r="r" t="t"/>
            <a:pathLst>
              <a:path extrusionOk="0" h="144" w="636">
                <a:moveTo>
                  <a:pt x="0" y="144"/>
                </a:moveTo>
                <a:cubicBezTo>
                  <a:pt x="180" y="6"/>
                  <a:pt x="450" y="0"/>
                  <a:pt x="636" y="114"/>
                </a:cubicBezTo>
              </a:path>
            </a:pathLst>
          </a:cu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0" name="Google Shape;4370;p114"/>
          <p:cNvSpPr txBox="1"/>
          <p:nvPr/>
        </p:nvSpPr>
        <p:spPr>
          <a:xfrm>
            <a:off x="8632390" y="2051586"/>
            <a:ext cx="1513876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and filter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1" name="Google Shape;4371;p114"/>
          <p:cNvSpPr txBox="1"/>
          <p:nvPr/>
        </p:nvSpPr>
        <p:spPr>
          <a:xfrm>
            <a:off x="9212920" y="3086387"/>
            <a:ext cx="2033633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gateway-to-remote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telnet session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2" name="Google Shape;4372;p114"/>
          <p:cNvCxnSpPr/>
          <p:nvPr/>
        </p:nvCxnSpPr>
        <p:spPr>
          <a:xfrm>
            <a:off x="9413455" y="2917673"/>
            <a:ext cx="837092" cy="181434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3" name="Google Shape;4373;p114"/>
          <p:cNvGrpSpPr/>
          <p:nvPr/>
        </p:nvGrpSpPr>
        <p:grpSpPr>
          <a:xfrm>
            <a:off x="8847900" y="2733388"/>
            <a:ext cx="754294" cy="393599"/>
            <a:chOff x="7493876" y="2774731"/>
            <a:chExt cx="1481958" cy="894622"/>
          </a:xfrm>
        </p:grpSpPr>
        <p:sp>
          <p:nvSpPr>
            <p:cNvPr id="4374" name="Google Shape;4374;p1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375" name="Google Shape;4375;p1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376" name="Google Shape;4376;p1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77" name="Google Shape;4377;p1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8" name="Google Shape;4378;p1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9" name="Google Shape;4379;p1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0" name="Google Shape;4380;p1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81" name="Google Shape;4381;p114"/>
          <p:cNvGrpSpPr/>
          <p:nvPr/>
        </p:nvGrpSpPr>
        <p:grpSpPr>
          <a:xfrm>
            <a:off x="6966643" y="2242007"/>
            <a:ext cx="693067" cy="304790"/>
            <a:chOff x="3668110" y="2448910"/>
            <a:chExt cx="3794234" cy="2165130"/>
          </a:xfrm>
        </p:grpSpPr>
        <p:sp>
          <p:nvSpPr>
            <p:cNvPr id="4382" name="Google Shape;4382;p1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3" name="Google Shape;4383;p1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84" name="Google Shape;4384;p1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85" name="Google Shape;4385;p1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6" name="Google Shape;4386;p1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7" name="Google Shape;4387;p1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8" name="Google Shape;4388;p1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89" name="Google Shape;4389;p114"/>
          <p:cNvGrpSpPr/>
          <p:nvPr/>
        </p:nvGrpSpPr>
        <p:grpSpPr>
          <a:xfrm>
            <a:off x="9027595" y="2323427"/>
            <a:ext cx="297033" cy="541476"/>
            <a:chOff x="4140" y="427"/>
            <a:chExt cx="1424" cy="2400"/>
          </a:xfrm>
        </p:grpSpPr>
        <p:sp>
          <p:nvSpPr>
            <p:cNvPr id="4390" name="Google Shape;4390;p1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1" name="Google Shape;4391;p114"/>
            <p:cNvSpPr/>
            <p:nvPr/>
          </p:nvSpPr>
          <p:spPr>
            <a:xfrm>
              <a:off x="4209" y="427"/>
              <a:ext cx="1043" cy="2287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2" name="Google Shape;4392;p1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3" name="Google Shape;4393;p1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4" name="Google Shape;4394;p114"/>
            <p:cNvSpPr/>
            <p:nvPr/>
          </p:nvSpPr>
          <p:spPr>
            <a:xfrm>
              <a:off x="4216" y="687"/>
              <a:ext cx="586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5" name="Google Shape;4395;p114"/>
            <p:cNvGrpSpPr/>
            <p:nvPr/>
          </p:nvGrpSpPr>
          <p:grpSpPr>
            <a:xfrm>
              <a:off x="4749" y="666"/>
              <a:ext cx="579" cy="134"/>
              <a:chOff x="614" y="2566"/>
              <a:chExt cx="722" cy="128"/>
            </a:xfrm>
          </p:grpSpPr>
          <p:sp>
            <p:nvSpPr>
              <p:cNvPr id="4396" name="Google Shape;4396;p114"/>
              <p:cNvSpPr/>
              <p:nvPr/>
            </p:nvSpPr>
            <p:spPr>
              <a:xfrm>
                <a:off x="614" y="2566"/>
                <a:ext cx="722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7" name="Google Shape;4397;p114"/>
              <p:cNvSpPr/>
              <p:nvPr/>
            </p:nvSpPr>
            <p:spPr>
              <a:xfrm>
                <a:off x="633" y="2580"/>
                <a:ext cx="69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98" name="Google Shape;4398;p114"/>
            <p:cNvSpPr/>
            <p:nvPr/>
          </p:nvSpPr>
          <p:spPr>
            <a:xfrm>
              <a:off x="4224" y="1018"/>
              <a:ext cx="594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9" name="Google Shape;4399;p114"/>
            <p:cNvGrpSpPr/>
            <p:nvPr/>
          </p:nvGrpSpPr>
          <p:grpSpPr>
            <a:xfrm>
              <a:off x="4749" y="990"/>
              <a:ext cx="579" cy="134"/>
              <a:chOff x="616" y="2564"/>
              <a:chExt cx="722" cy="139"/>
            </a:xfrm>
          </p:grpSpPr>
          <p:sp>
            <p:nvSpPr>
              <p:cNvPr id="4400" name="Google Shape;4400;p114"/>
              <p:cNvSpPr/>
              <p:nvPr/>
            </p:nvSpPr>
            <p:spPr>
              <a:xfrm>
                <a:off x="616" y="2564"/>
                <a:ext cx="722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1" name="Google Shape;4401;p114"/>
              <p:cNvSpPr/>
              <p:nvPr/>
            </p:nvSpPr>
            <p:spPr>
              <a:xfrm>
                <a:off x="626" y="2578"/>
                <a:ext cx="703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2" name="Google Shape;4402;p114"/>
            <p:cNvSpPr/>
            <p:nvPr/>
          </p:nvSpPr>
          <p:spPr>
            <a:xfrm>
              <a:off x="4216" y="1363"/>
              <a:ext cx="594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3" name="Google Shape;4403;p114"/>
            <p:cNvSpPr/>
            <p:nvPr/>
          </p:nvSpPr>
          <p:spPr>
            <a:xfrm>
              <a:off x="4224" y="1658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04" name="Google Shape;4404;p114"/>
            <p:cNvGrpSpPr/>
            <p:nvPr/>
          </p:nvGrpSpPr>
          <p:grpSpPr>
            <a:xfrm>
              <a:off x="4734" y="1630"/>
              <a:ext cx="586" cy="148"/>
              <a:chOff x="612" y="2571"/>
              <a:chExt cx="730" cy="136"/>
            </a:xfrm>
          </p:grpSpPr>
          <p:sp>
            <p:nvSpPr>
              <p:cNvPr id="4405" name="Google Shape;4405;p114"/>
              <p:cNvSpPr/>
              <p:nvPr/>
            </p:nvSpPr>
            <p:spPr>
              <a:xfrm>
                <a:off x="612" y="2571"/>
                <a:ext cx="730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6" name="Google Shape;4406;p114"/>
              <p:cNvSpPr/>
              <p:nvPr/>
            </p:nvSpPr>
            <p:spPr>
              <a:xfrm>
                <a:off x="631" y="2591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7" name="Google Shape;4407;p1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08" name="Google Shape;4408;p114"/>
            <p:cNvGrpSpPr/>
            <p:nvPr/>
          </p:nvGrpSpPr>
          <p:grpSpPr>
            <a:xfrm>
              <a:off x="4741" y="1328"/>
              <a:ext cx="571" cy="141"/>
              <a:chOff x="617" y="2569"/>
              <a:chExt cx="711" cy="141"/>
            </a:xfrm>
          </p:grpSpPr>
          <p:sp>
            <p:nvSpPr>
              <p:cNvPr id="4409" name="Google Shape;4409;p114"/>
              <p:cNvSpPr/>
              <p:nvPr/>
            </p:nvSpPr>
            <p:spPr>
              <a:xfrm>
                <a:off x="617" y="2569"/>
                <a:ext cx="711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0" name="Google Shape;4410;p114"/>
              <p:cNvSpPr/>
              <p:nvPr/>
            </p:nvSpPr>
            <p:spPr>
              <a:xfrm>
                <a:off x="636" y="2583"/>
                <a:ext cx="68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11" name="Google Shape;4411;p114"/>
            <p:cNvSpPr/>
            <p:nvPr/>
          </p:nvSpPr>
          <p:spPr>
            <a:xfrm>
              <a:off x="5251" y="427"/>
              <a:ext cx="68" cy="2294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2" name="Google Shape;4412;p1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3" name="Google Shape;4413;p1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114"/>
            <p:cNvSpPr/>
            <p:nvPr/>
          </p:nvSpPr>
          <p:spPr>
            <a:xfrm>
              <a:off x="5518" y="2608"/>
              <a:ext cx="46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5" name="Google Shape;4415;p1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6" name="Google Shape;4416;p114"/>
            <p:cNvSpPr/>
            <p:nvPr/>
          </p:nvSpPr>
          <p:spPr>
            <a:xfrm>
              <a:off x="4140" y="2686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7" name="Google Shape;4417;p114"/>
            <p:cNvSpPr/>
            <p:nvPr/>
          </p:nvSpPr>
          <p:spPr>
            <a:xfrm>
              <a:off x="4209" y="2714"/>
              <a:ext cx="1065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8" name="Google Shape;4418;p114"/>
            <p:cNvSpPr/>
            <p:nvPr/>
          </p:nvSpPr>
          <p:spPr>
            <a:xfrm>
              <a:off x="4308" y="2383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9" name="Google Shape;4419;p114"/>
            <p:cNvSpPr/>
            <p:nvPr/>
          </p:nvSpPr>
          <p:spPr>
            <a:xfrm>
              <a:off x="4483" y="2383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0" name="Google Shape;4420;p114"/>
            <p:cNvSpPr/>
            <p:nvPr/>
          </p:nvSpPr>
          <p:spPr>
            <a:xfrm>
              <a:off x="4665" y="2383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1" name="Google Shape;4421;p114"/>
            <p:cNvSpPr/>
            <p:nvPr/>
          </p:nvSpPr>
          <p:spPr>
            <a:xfrm>
              <a:off x="5061" y="1834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2" name="Google Shape;4422;p114"/>
          <p:cNvSpPr/>
          <p:nvPr/>
        </p:nvSpPr>
        <p:spPr>
          <a:xfrm>
            <a:off x="8217430" y="2426479"/>
            <a:ext cx="2115294" cy="560485"/>
          </a:xfrm>
          <a:custGeom>
            <a:rect b="b" l="l" r="r" t="t"/>
            <a:pathLst>
              <a:path extrusionOk="0" h="9369" w="9169">
                <a:moveTo>
                  <a:pt x="0" y="42"/>
                </a:moveTo>
                <a:cubicBezTo>
                  <a:pt x="172" y="-490"/>
                  <a:pt x="1259" y="4154"/>
                  <a:pt x="3048" y="4475"/>
                </a:cubicBezTo>
                <a:cubicBezTo>
                  <a:pt x="4280" y="2061"/>
                  <a:pt x="4508" y="-199"/>
                  <a:pt x="5625" y="5539"/>
                </a:cubicBezTo>
                <a:cubicBezTo>
                  <a:pt x="6872" y="6531"/>
                  <a:pt x="7556" y="7648"/>
                  <a:pt x="9169" y="9369"/>
                </a:cubicBezTo>
              </a:path>
            </a:pathLst>
          </a:cu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23" name="Google Shape;4423;p114"/>
          <p:cNvGrpSpPr/>
          <p:nvPr/>
        </p:nvGrpSpPr>
        <p:grpSpPr>
          <a:xfrm>
            <a:off x="7730789" y="2693841"/>
            <a:ext cx="693067" cy="304790"/>
            <a:chOff x="3668110" y="2448910"/>
            <a:chExt cx="3794234" cy="2165130"/>
          </a:xfrm>
        </p:grpSpPr>
        <p:sp>
          <p:nvSpPr>
            <p:cNvPr id="4424" name="Google Shape;4424;p1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5" name="Google Shape;4425;p1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26" name="Google Shape;4426;p1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27" name="Google Shape;4427;p1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8" name="Google Shape;4428;p1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9" name="Google Shape;4429;p1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0" name="Google Shape;4430;p1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5" name="Shape 4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6" name="Google Shape;4436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7" name="Google Shape;4437;p11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Limitations of firewalls, gateways</a:t>
            </a:r>
            <a:endParaRPr/>
          </a:p>
        </p:txBody>
      </p:sp>
      <p:sp>
        <p:nvSpPr>
          <p:cNvPr id="4438" name="Google Shape;4438;p115"/>
          <p:cNvSpPr txBox="1"/>
          <p:nvPr/>
        </p:nvSpPr>
        <p:spPr>
          <a:xfrm>
            <a:off x="1284868" y="1616462"/>
            <a:ext cx="498211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 spoofing: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can’t know if data “really” comes from claimed source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multiple apps need special treatment, each has own app. gateway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software must know how to contact gateway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must set IP address of proxy in Web browser</a:t>
            </a:r>
            <a:endParaRPr/>
          </a:p>
        </p:txBody>
      </p:sp>
      <p:sp>
        <p:nvSpPr>
          <p:cNvPr id="4439" name="Google Shape;4439;p115"/>
          <p:cNvSpPr txBox="1"/>
          <p:nvPr/>
        </p:nvSpPr>
        <p:spPr>
          <a:xfrm>
            <a:off x="6900630" y="1632220"/>
            <a:ext cx="484160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often use all or nothing policy for UDP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tradeoff: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degree of communication with outside world, level of security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highly protected sites still suffer from attacks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4" name="Shape 4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5" name="Google Shape;4445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6" name="Google Shape;4446;p116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Intrusion detection systems</a:t>
            </a:r>
            <a:endParaRPr/>
          </a:p>
        </p:txBody>
      </p:sp>
      <p:sp>
        <p:nvSpPr>
          <p:cNvPr id="4447" name="Google Shape;4447;p116"/>
          <p:cNvSpPr txBox="1"/>
          <p:nvPr/>
        </p:nvSpPr>
        <p:spPr>
          <a:xfrm>
            <a:off x="833011" y="1482725"/>
            <a:ext cx="11277213" cy="487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 filtering: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operates on TCP/IP headers only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correlation check among sessions 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IDS: intrusion detection system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deep packet inspection: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packet contents (e.g., check character strings in packet against database of known virus, attack strings)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examine correlation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among multiple packets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scanning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mapping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attack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2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p117"/>
          <p:cNvSpPr/>
          <p:nvPr/>
        </p:nvSpPr>
        <p:spPr>
          <a:xfrm>
            <a:off x="5352585" y="3757961"/>
            <a:ext cx="1929163" cy="1917106"/>
          </a:xfrm>
          <a:prstGeom prst="ellipse">
            <a:avLst/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4" name="Google Shape;4454;p117"/>
          <p:cNvSpPr/>
          <p:nvPr/>
        </p:nvSpPr>
        <p:spPr>
          <a:xfrm>
            <a:off x="2171255" y="2415743"/>
            <a:ext cx="3648994" cy="1808285"/>
          </a:xfrm>
          <a:custGeom>
            <a:rect b="b" l="l" r="r" t="t"/>
            <a:pathLst>
              <a:path extrusionOk="0" h="10000" w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5" name="Google Shape;4455;p117"/>
          <p:cNvCxnSpPr/>
          <p:nvPr/>
        </p:nvCxnSpPr>
        <p:spPr>
          <a:xfrm>
            <a:off x="4348172" y="3470082"/>
            <a:ext cx="3166946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6" name="Google Shape;4456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7" name="Google Shape;4457;p117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Intrusion detection systems</a:t>
            </a:r>
            <a:endParaRPr/>
          </a:p>
        </p:txBody>
      </p:sp>
      <p:sp>
        <p:nvSpPr>
          <p:cNvPr id="4458" name="Google Shape;4458;p117"/>
          <p:cNvSpPr/>
          <p:nvPr/>
        </p:nvSpPr>
        <p:spPr>
          <a:xfrm>
            <a:off x="7415601" y="2968780"/>
            <a:ext cx="3324225" cy="1131888"/>
          </a:xfrm>
          <a:custGeom>
            <a:rect b="b" l="l" r="r" t="t"/>
            <a:pathLst>
              <a:path extrusionOk="0" h="719" w="1198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>
            <a:gsLst>
              <a:gs pos="0">
                <a:srgbClr val="9AE0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59" name="Google Shape;4459;p117"/>
          <p:cNvCxnSpPr/>
          <p:nvPr/>
        </p:nvCxnSpPr>
        <p:spPr>
          <a:xfrm>
            <a:off x="6264663" y="3524405"/>
            <a:ext cx="11113" cy="5572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0" name="Google Shape;4460;p117"/>
          <p:cNvCxnSpPr/>
          <p:nvPr/>
        </p:nvCxnSpPr>
        <p:spPr>
          <a:xfrm flipH="1">
            <a:off x="5778888" y="4327680"/>
            <a:ext cx="325438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1" name="Google Shape;4461;p117"/>
          <p:cNvCxnSpPr/>
          <p:nvPr/>
        </p:nvCxnSpPr>
        <p:spPr>
          <a:xfrm flipH="1">
            <a:off x="6191638" y="4327680"/>
            <a:ext cx="61913" cy="4460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2" name="Google Shape;4462;p117"/>
          <p:cNvCxnSpPr/>
          <p:nvPr/>
        </p:nvCxnSpPr>
        <p:spPr>
          <a:xfrm>
            <a:off x="6561526" y="4267355"/>
            <a:ext cx="136525" cy="1714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3" name="Google Shape;4463;p117"/>
          <p:cNvSpPr txBox="1"/>
          <p:nvPr/>
        </p:nvSpPr>
        <p:spPr>
          <a:xfrm>
            <a:off x="4989127" y="4517483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4" name="Google Shape;4464;p117"/>
          <p:cNvSpPr txBox="1"/>
          <p:nvPr/>
        </p:nvSpPr>
        <p:spPr>
          <a:xfrm>
            <a:off x="5816950" y="5015068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FTP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5" name="Google Shape;4465;p117"/>
          <p:cNvSpPr txBox="1"/>
          <p:nvPr/>
        </p:nvSpPr>
        <p:spPr>
          <a:xfrm>
            <a:off x="6332461" y="4789604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6" name="Google Shape;4466;p117"/>
          <p:cNvSpPr txBox="1"/>
          <p:nvPr/>
        </p:nvSpPr>
        <p:spPr>
          <a:xfrm>
            <a:off x="7742703" y="3348347"/>
            <a:ext cx="1197892" cy="39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4467" name="Google Shape;4467;p117"/>
          <p:cNvSpPr txBox="1"/>
          <p:nvPr/>
        </p:nvSpPr>
        <p:spPr>
          <a:xfrm>
            <a:off x="7282821" y="4508706"/>
            <a:ext cx="1881156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demilitarized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zone</a:t>
            </a:r>
            <a:endParaRPr/>
          </a:p>
        </p:txBody>
      </p:sp>
      <p:sp>
        <p:nvSpPr>
          <p:cNvPr id="4468" name="Google Shape;4468;p117"/>
          <p:cNvSpPr txBox="1"/>
          <p:nvPr/>
        </p:nvSpPr>
        <p:spPr>
          <a:xfrm>
            <a:off x="5878901" y="2354418"/>
            <a:ext cx="878446" cy="319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</p:txBody>
      </p:sp>
      <p:sp>
        <p:nvSpPr>
          <p:cNvPr id="4469" name="Google Shape;4469;p117"/>
          <p:cNvSpPr/>
          <p:nvPr/>
        </p:nvSpPr>
        <p:spPr>
          <a:xfrm>
            <a:off x="6209139" y="3816505"/>
            <a:ext cx="134938" cy="134938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0" name="Google Shape;4470;p117"/>
          <p:cNvSpPr txBox="1"/>
          <p:nvPr/>
        </p:nvSpPr>
        <p:spPr>
          <a:xfrm>
            <a:off x="3349079" y="4584855"/>
            <a:ext cx="1282979" cy="79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IDS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/>
          </a:p>
        </p:txBody>
      </p:sp>
      <p:cxnSp>
        <p:nvCxnSpPr>
          <p:cNvPr id="4471" name="Google Shape;4471;p117"/>
          <p:cNvCxnSpPr/>
          <p:nvPr/>
        </p:nvCxnSpPr>
        <p:spPr>
          <a:xfrm flipH="1" rot="10800000">
            <a:off x="4027876" y="3941918"/>
            <a:ext cx="2152650" cy="69532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2" name="Google Shape;4472;p117"/>
          <p:cNvSpPr txBox="1"/>
          <p:nvPr/>
        </p:nvSpPr>
        <p:spPr>
          <a:xfrm>
            <a:off x="1028700" y="1535972"/>
            <a:ext cx="10577926" cy="649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IDSs: different types of checking at different locations</a:t>
            </a:r>
            <a:endParaRPr/>
          </a:p>
        </p:txBody>
      </p:sp>
      <p:sp>
        <p:nvSpPr>
          <p:cNvPr id="4473" name="Google Shape;4473;p117"/>
          <p:cNvSpPr/>
          <p:nvPr/>
        </p:nvSpPr>
        <p:spPr>
          <a:xfrm>
            <a:off x="5509013" y="3545043"/>
            <a:ext cx="41275" cy="19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4" name="Google Shape;4474;p117"/>
          <p:cNvCxnSpPr/>
          <p:nvPr/>
        </p:nvCxnSpPr>
        <p:spPr>
          <a:xfrm rot="10800000">
            <a:off x="2510226" y="298624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5" name="Google Shape;4475;p117"/>
          <p:cNvCxnSpPr/>
          <p:nvPr/>
        </p:nvCxnSpPr>
        <p:spPr>
          <a:xfrm flipH="1">
            <a:off x="2772163" y="3033868"/>
            <a:ext cx="396875" cy="48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6" name="Google Shape;4476;p117"/>
          <p:cNvCxnSpPr/>
          <p:nvPr/>
        </p:nvCxnSpPr>
        <p:spPr>
          <a:xfrm>
            <a:off x="3316676" y="3062443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77" name="Google Shape;4477;p117"/>
          <p:cNvGrpSpPr/>
          <p:nvPr/>
        </p:nvGrpSpPr>
        <p:grpSpPr>
          <a:xfrm>
            <a:off x="2054613" y="2769551"/>
            <a:ext cx="568325" cy="481012"/>
            <a:chOff x="-44" y="1473"/>
            <a:chExt cx="981" cy="1105"/>
          </a:xfrm>
        </p:grpSpPr>
        <p:pic>
          <p:nvPicPr>
            <p:cNvPr descr="desktop_computer_stylized_medium" id="4478" name="Google Shape;4478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79" name="Google Shape;4479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80" name="Google Shape;4480;p117"/>
          <p:cNvGrpSpPr/>
          <p:nvPr/>
        </p:nvGrpSpPr>
        <p:grpSpPr>
          <a:xfrm>
            <a:off x="2989651" y="3278343"/>
            <a:ext cx="568325" cy="481012"/>
            <a:chOff x="-44" y="1473"/>
            <a:chExt cx="981" cy="1105"/>
          </a:xfrm>
        </p:grpSpPr>
        <p:pic>
          <p:nvPicPr>
            <p:cNvPr descr="desktop_computer_stylized_medium" id="4481" name="Google Shape;4481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2" name="Google Shape;4482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83" name="Google Shape;4483;p117"/>
          <p:cNvCxnSpPr/>
          <p:nvPr/>
        </p:nvCxnSpPr>
        <p:spPr>
          <a:xfrm>
            <a:off x="3535751" y="299259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4" name="Google Shape;4484;p117"/>
          <p:cNvCxnSpPr/>
          <p:nvPr/>
        </p:nvCxnSpPr>
        <p:spPr>
          <a:xfrm flipH="1">
            <a:off x="3767526" y="3487893"/>
            <a:ext cx="120650" cy="2936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5" name="Google Shape;4485;p117"/>
          <p:cNvCxnSpPr/>
          <p:nvPr/>
        </p:nvCxnSpPr>
        <p:spPr>
          <a:xfrm>
            <a:off x="4172338" y="349900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6" name="Google Shape;4486;p117"/>
          <p:cNvCxnSpPr/>
          <p:nvPr/>
        </p:nvCxnSpPr>
        <p:spPr>
          <a:xfrm rot="10800000">
            <a:off x="3369063" y="2946555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87" name="Google Shape;4487;p117"/>
          <p:cNvGrpSpPr/>
          <p:nvPr/>
        </p:nvGrpSpPr>
        <p:grpSpPr>
          <a:xfrm>
            <a:off x="3394463" y="3651405"/>
            <a:ext cx="568325" cy="481013"/>
            <a:chOff x="-44" y="1473"/>
            <a:chExt cx="981" cy="1105"/>
          </a:xfrm>
        </p:grpSpPr>
        <p:pic>
          <p:nvPicPr>
            <p:cNvPr descr="desktop_computer_stylized_medium" id="4488" name="Google Shape;4488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9" name="Google Shape;4489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0" name="Google Shape;4490;p117"/>
          <p:cNvGrpSpPr/>
          <p:nvPr/>
        </p:nvGrpSpPr>
        <p:grpSpPr>
          <a:xfrm>
            <a:off x="3851663" y="3719668"/>
            <a:ext cx="568325" cy="481012"/>
            <a:chOff x="-44" y="1473"/>
            <a:chExt cx="981" cy="1105"/>
          </a:xfrm>
        </p:grpSpPr>
        <p:pic>
          <p:nvPicPr>
            <p:cNvPr descr="desktop_computer_stylized_medium" id="4491" name="Google Shape;4491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2" name="Google Shape;4492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3" name="Google Shape;4493;p117"/>
          <p:cNvGrpSpPr/>
          <p:nvPr/>
        </p:nvGrpSpPr>
        <p:grpSpPr>
          <a:xfrm>
            <a:off x="3645288" y="2656043"/>
            <a:ext cx="568325" cy="481012"/>
            <a:chOff x="-44" y="1473"/>
            <a:chExt cx="981" cy="1105"/>
          </a:xfrm>
        </p:grpSpPr>
        <p:pic>
          <p:nvPicPr>
            <p:cNvPr descr="desktop_computer_stylized_medium" id="4494" name="Google Shape;4494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5" name="Google Shape;4495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6" name="Google Shape;4496;p117"/>
          <p:cNvGrpSpPr/>
          <p:nvPr/>
        </p:nvGrpSpPr>
        <p:grpSpPr>
          <a:xfrm>
            <a:off x="2524513" y="3446618"/>
            <a:ext cx="285951" cy="536575"/>
            <a:chOff x="4140" y="429"/>
            <a:chExt cx="1426" cy="2396"/>
          </a:xfrm>
        </p:grpSpPr>
        <p:sp>
          <p:nvSpPr>
            <p:cNvPr id="4497" name="Google Shape;4497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8" name="Google Shape;4498;p117"/>
            <p:cNvSpPr/>
            <p:nvPr/>
          </p:nvSpPr>
          <p:spPr>
            <a:xfrm>
              <a:off x="4211" y="429"/>
              <a:ext cx="1037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9" name="Google Shape;4499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0" name="Google Shape;4500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1" name="Google Shape;4501;p117"/>
            <p:cNvSpPr/>
            <p:nvPr/>
          </p:nvSpPr>
          <p:spPr>
            <a:xfrm>
              <a:off x="4211" y="691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2" name="Google Shape;4502;p117"/>
            <p:cNvGrpSpPr/>
            <p:nvPr/>
          </p:nvGrpSpPr>
          <p:grpSpPr>
            <a:xfrm>
              <a:off x="4750" y="670"/>
              <a:ext cx="578" cy="135"/>
              <a:chOff x="615" y="2570"/>
              <a:chExt cx="721" cy="129"/>
            </a:xfrm>
          </p:grpSpPr>
          <p:sp>
            <p:nvSpPr>
              <p:cNvPr id="4503" name="Google Shape;4503;p117"/>
              <p:cNvSpPr/>
              <p:nvPr/>
            </p:nvSpPr>
            <p:spPr>
              <a:xfrm>
                <a:off x="615" y="2570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4" name="Google Shape;4504;p117"/>
              <p:cNvSpPr/>
              <p:nvPr/>
            </p:nvSpPr>
            <p:spPr>
              <a:xfrm>
                <a:off x="634" y="2584"/>
                <a:ext cx="692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5" name="Google Shape;4505;p117"/>
            <p:cNvSpPr/>
            <p:nvPr/>
          </p:nvSpPr>
          <p:spPr>
            <a:xfrm>
              <a:off x="4227" y="1017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6" name="Google Shape;4506;p117"/>
            <p:cNvGrpSpPr/>
            <p:nvPr/>
          </p:nvGrpSpPr>
          <p:grpSpPr>
            <a:xfrm>
              <a:off x="4749" y="996"/>
              <a:ext cx="578" cy="135"/>
              <a:chOff x="617" y="2570"/>
              <a:chExt cx="721" cy="140"/>
            </a:xfrm>
          </p:grpSpPr>
          <p:sp>
            <p:nvSpPr>
              <p:cNvPr id="4507" name="Google Shape;4507;p117"/>
              <p:cNvSpPr/>
              <p:nvPr/>
            </p:nvSpPr>
            <p:spPr>
              <a:xfrm>
                <a:off x="617" y="2570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8" name="Google Shape;4508;p117"/>
              <p:cNvSpPr/>
              <p:nvPr/>
            </p:nvSpPr>
            <p:spPr>
              <a:xfrm>
                <a:off x="627" y="2585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9" name="Google Shape;4509;p117"/>
            <p:cNvSpPr/>
            <p:nvPr/>
          </p:nvSpPr>
          <p:spPr>
            <a:xfrm>
              <a:off x="4211" y="1358"/>
              <a:ext cx="602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0" name="Google Shape;4510;p117"/>
            <p:cNvSpPr/>
            <p:nvPr/>
          </p:nvSpPr>
          <p:spPr>
            <a:xfrm>
              <a:off x="4227" y="1655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1" name="Google Shape;4511;p117"/>
            <p:cNvGrpSpPr/>
            <p:nvPr/>
          </p:nvGrpSpPr>
          <p:grpSpPr>
            <a:xfrm>
              <a:off x="4734" y="1627"/>
              <a:ext cx="586" cy="156"/>
              <a:chOff x="612" y="2568"/>
              <a:chExt cx="730" cy="144"/>
            </a:xfrm>
          </p:grpSpPr>
          <p:sp>
            <p:nvSpPr>
              <p:cNvPr id="4512" name="Google Shape;4512;p117"/>
              <p:cNvSpPr/>
              <p:nvPr/>
            </p:nvSpPr>
            <p:spPr>
              <a:xfrm>
                <a:off x="612" y="2568"/>
                <a:ext cx="730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3" name="Google Shape;4513;p117"/>
              <p:cNvSpPr/>
              <p:nvPr/>
            </p:nvSpPr>
            <p:spPr>
              <a:xfrm>
                <a:off x="632" y="2588"/>
                <a:ext cx="690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4" name="Google Shape;4514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5" name="Google Shape;4515;p117"/>
            <p:cNvGrpSpPr/>
            <p:nvPr/>
          </p:nvGrpSpPr>
          <p:grpSpPr>
            <a:xfrm>
              <a:off x="4741" y="1329"/>
              <a:ext cx="570" cy="135"/>
              <a:chOff x="617" y="2570"/>
              <a:chExt cx="710" cy="135"/>
            </a:xfrm>
          </p:grpSpPr>
          <p:sp>
            <p:nvSpPr>
              <p:cNvPr id="4516" name="Google Shape;4516;p117"/>
              <p:cNvSpPr/>
              <p:nvPr/>
            </p:nvSpPr>
            <p:spPr>
              <a:xfrm>
                <a:off x="617" y="2570"/>
                <a:ext cx="710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7" name="Google Shape;4517;p117"/>
              <p:cNvSpPr/>
              <p:nvPr/>
            </p:nvSpPr>
            <p:spPr>
              <a:xfrm>
                <a:off x="637" y="2584"/>
                <a:ext cx="680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8" name="Google Shape;4518;p117"/>
            <p:cNvSpPr/>
            <p:nvPr/>
          </p:nvSpPr>
          <p:spPr>
            <a:xfrm>
              <a:off x="5248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9" name="Google Shape;4519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0" name="Google Shape;4520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1" name="Google Shape;4521;p117"/>
            <p:cNvSpPr/>
            <p:nvPr/>
          </p:nvSpPr>
          <p:spPr>
            <a:xfrm>
              <a:off x="5518" y="2605"/>
              <a:ext cx="48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2" name="Google Shape;4522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3" name="Google Shape;4523;p117"/>
            <p:cNvSpPr/>
            <p:nvPr/>
          </p:nvSpPr>
          <p:spPr>
            <a:xfrm>
              <a:off x="4140" y="2683"/>
              <a:ext cx="1195" cy="142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4" name="Google Shape;4524;p117"/>
            <p:cNvSpPr/>
            <p:nvPr/>
          </p:nvSpPr>
          <p:spPr>
            <a:xfrm>
              <a:off x="4211" y="2712"/>
              <a:ext cx="1061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5" name="Google Shape;4525;p117"/>
            <p:cNvSpPr/>
            <p:nvPr/>
          </p:nvSpPr>
          <p:spPr>
            <a:xfrm>
              <a:off x="4306" y="2385"/>
              <a:ext cx="158" cy="13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6" name="Google Shape;4526;p117"/>
            <p:cNvSpPr/>
            <p:nvPr/>
          </p:nvSpPr>
          <p:spPr>
            <a:xfrm>
              <a:off x="4488" y="2385"/>
              <a:ext cx="158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7" name="Google Shape;4527;p117"/>
            <p:cNvSpPr/>
            <p:nvPr/>
          </p:nvSpPr>
          <p:spPr>
            <a:xfrm>
              <a:off x="4663" y="2378"/>
              <a:ext cx="158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8" name="Google Shape;4528;p117"/>
            <p:cNvSpPr/>
            <p:nvPr/>
          </p:nvSpPr>
          <p:spPr>
            <a:xfrm>
              <a:off x="5058" y="1833"/>
              <a:ext cx="87" cy="76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29" name="Google Shape;4529;p117"/>
          <p:cNvSpPr txBox="1"/>
          <p:nvPr/>
        </p:nvSpPr>
        <p:spPr>
          <a:xfrm>
            <a:off x="4362460" y="2776693"/>
            <a:ext cx="122687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grpSp>
        <p:nvGrpSpPr>
          <p:cNvPr id="4530" name="Google Shape;4530;p117"/>
          <p:cNvGrpSpPr/>
          <p:nvPr/>
        </p:nvGrpSpPr>
        <p:grpSpPr>
          <a:xfrm>
            <a:off x="5559813" y="4284818"/>
            <a:ext cx="220663" cy="468312"/>
            <a:chOff x="4140" y="429"/>
            <a:chExt cx="1425" cy="2396"/>
          </a:xfrm>
        </p:grpSpPr>
        <p:sp>
          <p:nvSpPr>
            <p:cNvPr id="4531" name="Google Shape;4531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2" name="Google Shape;4532;p117"/>
            <p:cNvSpPr/>
            <p:nvPr/>
          </p:nvSpPr>
          <p:spPr>
            <a:xfrm>
              <a:off x="4212" y="429"/>
              <a:ext cx="1035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3" name="Google Shape;4533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4" name="Google Shape;4534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5" name="Google Shape;4535;p117"/>
            <p:cNvSpPr/>
            <p:nvPr/>
          </p:nvSpPr>
          <p:spPr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36" name="Google Shape;4536;p117"/>
            <p:cNvGrpSpPr/>
            <p:nvPr/>
          </p:nvGrpSpPr>
          <p:grpSpPr>
            <a:xfrm>
              <a:off x="4745" y="665"/>
              <a:ext cx="584" cy="138"/>
              <a:chOff x="609" y="2565"/>
              <a:chExt cx="729" cy="132"/>
            </a:xfrm>
          </p:grpSpPr>
          <p:sp>
            <p:nvSpPr>
              <p:cNvPr id="4537" name="Google Shape;4537;p117"/>
              <p:cNvSpPr/>
              <p:nvPr/>
            </p:nvSpPr>
            <p:spPr>
              <a:xfrm>
                <a:off x="609" y="2565"/>
                <a:ext cx="729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8" name="Google Shape;4538;p117"/>
              <p:cNvSpPr/>
              <p:nvPr/>
            </p:nvSpPr>
            <p:spPr>
              <a:xfrm>
                <a:off x="622" y="2580"/>
                <a:ext cx="704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39" name="Google Shape;4539;p117"/>
            <p:cNvSpPr/>
            <p:nvPr/>
          </p:nvSpPr>
          <p:spPr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0" name="Google Shape;4540;p117"/>
            <p:cNvGrpSpPr/>
            <p:nvPr/>
          </p:nvGrpSpPr>
          <p:grpSpPr>
            <a:xfrm>
              <a:off x="4745" y="998"/>
              <a:ext cx="584" cy="130"/>
              <a:chOff x="611" y="2572"/>
              <a:chExt cx="729" cy="135"/>
            </a:xfrm>
          </p:grpSpPr>
          <p:sp>
            <p:nvSpPr>
              <p:cNvPr id="4541" name="Google Shape;4541;p117"/>
              <p:cNvSpPr/>
              <p:nvPr/>
            </p:nvSpPr>
            <p:spPr>
              <a:xfrm>
                <a:off x="611" y="2572"/>
                <a:ext cx="729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2" name="Google Shape;4542;p117"/>
              <p:cNvSpPr/>
              <p:nvPr/>
            </p:nvSpPr>
            <p:spPr>
              <a:xfrm>
                <a:off x="624" y="2580"/>
                <a:ext cx="70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3" name="Google Shape;4543;p117"/>
            <p:cNvSpPr/>
            <p:nvPr/>
          </p:nvSpPr>
          <p:spPr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4" name="Google Shape;4544;p117"/>
            <p:cNvSpPr/>
            <p:nvPr/>
          </p:nvSpPr>
          <p:spPr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5" name="Google Shape;4545;p117"/>
            <p:cNvGrpSpPr/>
            <p:nvPr/>
          </p:nvGrpSpPr>
          <p:grpSpPr>
            <a:xfrm>
              <a:off x="4735" y="1631"/>
              <a:ext cx="584" cy="147"/>
              <a:chOff x="613" y="2572"/>
              <a:chExt cx="728" cy="135"/>
            </a:xfrm>
          </p:grpSpPr>
          <p:sp>
            <p:nvSpPr>
              <p:cNvPr id="4546" name="Google Shape;4546;p117"/>
              <p:cNvSpPr/>
              <p:nvPr/>
            </p:nvSpPr>
            <p:spPr>
              <a:xfrm>
                <a:off x="613" y="2572"/>
                <a:ext cx="728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7" name="Google Shape;4547;p117"/>
              <p:cNvSpPr/>
              <p:nvPr/>
            </p:nvSpPr>
            <p:spPr>
              <a:xfrm>
                <a:off x="626" y="2587"/>
                <a:ext cx="70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8" name="Google Shape;4548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9" name="Google Shape;4549;p117"/>
            <p:cNvGrpSpPr/>
            <p:nvPr/>
          </p:nvGrpSpPr>
          <p:grpSpPr>
            <a:xfrm>
              <a:off x="4735" y="1331"/>
              <a:ext cx="574" cy="138"/>
              <a:chOff x="609" y="2572"/>
              <a:chExt cx="715" cy="138"/>
            </a:xfrm>
          </p:grpSpPr>
          <p:sp>
            <p:nvSpPr>
              <p:cNvPr id="4550" name="Google Shape;4550;p117"/>
              <p:cNvSpPr/>
              <p:nvPr/>
            </p:nvSpPr>
            <p:spPr>
              <a:xfrm>
                <a:off x="609" y="2572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1" name="Google Shape;4551;p117"/>
              <p:cNvSpPr/>
              <p:nvPr/>
            </p:nvSpPr>
            <p:spPr>
              <a:xfrm>
                <a:off x="621" y="2588"/>
                <a:ext cx="70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2" name="Google Shape;4552;p117"/>
            <p:cNvSpPr/>
            <p:nvPr/>
          </p:nvSpPr>
          <p:spPr>
            <a:xfrm>
              <a:off x="5247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3" name="Google Shape;4553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4" name="Google Shape;4554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5" name="Google Shape;4555;p117"/>
            <p:cNvSpPr/>
            <p:nvPr/>
          </p:nvSpPr>
          <p:spPr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6" name="Google Shape;4556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7" name="Google Shape;4557;p117"/>
            <p:cNvSpPr/>
            <p:nvPr/>
          </p:nvSpPr>
          <p:spPr>
            <a:xfrm>
              <a:off x="4140" y="2679"/>
              <a:ext cx="1199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8" name="Google Shape;4558;p117"/>
            <p:cNvSpPr/>
            <p:nvPr/>
          </p:nvSpPr>
          <p:spPr>
            <a:xfrm>
              <a:off x="4212" y="2711"/>
              <a:ext cx="106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9" name="Google Shape;4559;p117"/>
            <p:cNvSpPr/>
            <p:nvPr/>
          </p:nvSpPr>
          <p:spPr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0" name="Google Shape;4560;p117"/>
            <p:cNvSpPr/>
            <p:nvPr/>
          </p:nvSpPr>
          <p:spPr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1" name="Google Shape;4561;p117"/>
            <p:cNvSpPr/>
            <p:nvPr/>
          </p:nvSpPr>
          <p:spPr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2" name="Google Shape;4562;p117"/>
            <p:cNvSpPr/>
            <p:nvPr/>
          </p:nvSpPr>
          <p:spPr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63" name="Google Shape;4563;p117"/>
          <p:cNvGrpSpPr/>
          <p:nvPr/>
        </p:nvGrpSpPr>
        <p:grpSpPr>
          <a:xfrm>
            <a:off x="6077338" y="4548343"/>
            <a:ext cx="220663" cy="468312"/>
            <a:chOff x="4140" y="429"/>
            <a:chExt cx="1425" cy="2396"/>
          </a:xfrm>
        </p:grpSpPr>
        <p:sp>
          <p:nvSpPr>
            <p:cNvPr id="4564" name="Google Shape;4564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5" name="Google Shape;4565;p117"/>
            <p:cNvSpPr/>
            <p:nvPr/>
          </p:nvSpPr>
          <p:spPr>
            <a:xfrm>
              <a:off x="4212" y="429"/>
              <a:ext cx="1035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6" name="Google Shape;4566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117"/>
            <p:cNvSpPr/>
            <p:nvPr/>
          </p:nvSpPr>
          <p:spPr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69" name="Google Shape;4569;p117"/>
            <p:cNvGrpSpPr/>
            <p:nvPr/>
          </p:nvGrpSpPr>
          <p:grpSpPr>
            <a:xfrm>
              <a:off x="4745" y="665"/>
              <a:ext cx="584" cy="138"/>
              <a:chOff x="609" y="2565"/>
              <a:chExt cx="729" cy="132"/>
            </a:xfrm>
          </p:grpSpPr>
          <p:sp>
            <p:nvSpPr>
              <p:cNvPr id="4570" name="Google Shape;4570;p117"/>
              <p:cNvSpPr/>
              <p:nvPr/>
            </p:nvSpPr>
            <p:spPr>
              <a:xfrm>
                <a:off x="609" y="2565"/>
                <a:ext cx="729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1" name="Google Shape;4571;p117"/>
              <p:cNvSpPr/>
              <p:nvPr/>
            </p:nvSpPr>
            <p:spPr>
              <a:xfrm>
                <a:off x="622" y="2580"/>
                <a:ext cx="704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2" name="Google Shape;4572;p117"/>
            <p:cNvSpPr/>
            <p:nvPr/>
          </p:nvSpPr>
          <p:spPr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3" name="Google Shape;4573;p117"/>
            <p:cNvGrpSpPr/>
            <p:nvPr/>
          </p:nvGrpSpPr>
          <p:grpSpPr>
            <a:xfrm>
              <a:off x="4745" y="998"/>
              <a:ext cx="584" cy="130"/>
              <a:chOff x="611" y="2572"/>
              <a:chExt cx="729" cy="135"/>
            </a:xfrm>
          </p:grpSpPr>
          <p:sp>
            <p:nvSpPr>
              <p:cNvPr id="4574" name="Google Shape;4574;p117"/>
              <p:cNvSpPr/>
              <p:nvPr/>
            </p:nvSpPr>
            <p:spPr>
              <a:xfrm>
                <a:off x="611" y="2572"/>
                <a:ext cx="729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5" name="Google Shape;4575;p117"/>
              <p:cNvSpPr/>
              <p:nvPr/>
            </p:nvSpPr>
            <p:spPr>
              <a:xfrm>
                <a:off x="624" y="2580"/>
                <a:ext cx="70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6" name="Google Shape;4576;p117"/>
            <p:cNvSpPr/>
            <p:nvPr/>
          </p:nvSpPr>
          <p:spPr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7" name="Google Shape;4577;p117"/>
            <p:cNvSpPr/>
            <p:nvPr/>
          </p:nvSpPr>
          <p:spPr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8" name="Google Shape;4578;p117"/>
            <p:cNvGrpSpPr/>
            <p:nvPr/>
          </p:nvGrpSpPr>
          <p:grpSpPr>
            <a:xfrm>
              <a:off x="4735" y="1631"/>
              <a:ext cx="584" cy="147"/>
              <a:chOff x="613" y="2572"/>
              <a:chExt cx="728" cy="135"/>
            </a:xfrm>
          </p:grpSpPr>
          <p:sp>
            <p:nvSpPr>
              <p:cNvPr id="4579" name="Google Shape;4579;p117"/>
              <p:cNvSpPr/>
              <p:nvPr/>
            </p:nvSpPr>
            <p:spPr>
              <a:xfrm>
                <a:off x="613" y="2572"/>
                <a:ext cx="728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0" name="Google Shape;4580;p117"/>
              <p:cNvSpPr/>
              <p:nvPr/>
            </p:nvSpPr>
            <p:spPr>
              <a:xfrm>
                <a:off x="626" y="2587"/>
                <a:ext cx="70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1" name="Google Shape;4581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2" name="Google Shape;4582;p117"/>
            <p:cNvGrpSpPr/>
            <p:nvPr/>
          </p:nvGrpSpPr>
          <p:grpSpPr>
            <a:xfrm>
              <a:off x="4735" y="1331"/>
              <a:ext cx="574" cy="138"/>
              <a:chOff x="609" y="2572"/>
              <a:chExt cx="715" cy="138"/>
            </a:xfrm>
          </p:grpSpPr>
          <p:sp>
            <p:nvSpPr>
              <p:cNvPr id="4583" name="Google Shape;4583;p117"/>
              <p:cNvSpPr/>
              <p:nvPr/>
            </p:nvSpPr>
            <p:spPr>
              <a:xfrm>
                <a:off x="609" y="2572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4" name="Google Shape;4584;p117"/>
              <p:cNvSpPr/>
              <p:nvPr/>
            </p:nvSpPr>
            <p:spPr>
              <a:xfrm>
                <a:off x="621" y="2588"/>
                <a:ext cx="70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5" name="Google Shape;4585;p117"/>
            <p:cNvSpPr/>
            <p:nvPr/>
          </p:nvSpPr>
          <p:spPr>
            <a:xfrm>
              <a:off x="5247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6" name="Google Shape;4586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7" name="Google Shape;4587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8" name="Google Shape;4588;p117"/>
            <p:cNvSpPr/>
            <p:nvPr/>
          </p:nvSpPr>
          <p:spPr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9" name="Google Shape;4589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0" name="Google Shape;4590;p117"/>
            <p:cNvSpPr/>
            <p:nvPr/>
          </p:nvSpPr>
          <p:spPr>
            <a:xfrm>
              <a:off x="4140" y="2679"/>
              <a:ext cx="1199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1" name="Google Shape;4591;p117"/>
            <p:cNvSpPr/>
            <p:nvPr/>
          </p:nvSpPr>
          <p:spPr>
            <a:xfrm>
              <a:off x="4212" y="2711"/>
              <a:ext cx="106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2" name="Google Shape;4592;p117"/>
            <p:cNvSpPr/>
            <p:nvPr/>
          </p:nvSpPr>
          <p:spPr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3" name="Google Shape;4593;p117"/>
            <p:cNvSpPr/>
            <p:nvPr/>
          </p:nvSpPr>
          <p:spPr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p117"/>
            <p:cNvSpPr/>
            <p:nvPr/>
          </p:nvSpPr>
          <p:spPr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5" name="Google Shape;4595;p117"/>
            <p:cNvSpPr/>
            <p:nvPr/>
          </p:nvSpPr>
          <p:spPr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6" name="Google Shape;4596;p117"/>
          <p:cNvGrpSpPr/>
          <p:nvPr/>
        </p:nvGrpSpPr>
        <p:grpSpPr>
          <a:xfrm>
            <a:off x="6618676" y="4332443"/>
            <a:ext cx="222250" cy="466725"/>
            <a:chOff x="4140" y="429"/>
            <a:chExt cx="1425" cy="2396"/>
          </a:xfrm>
        </p:grpSpPr>
        <p:sp>
          <p:nvSpPr>
            <p:cNvPr id="4597" name="Google Shape;4597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8" name="Google Shape;4598;p117"/>
            <p:cNvSpPr/>
            <p:nvPr/>
          </p:nvSpPr>
          <p:spPr>
            <a:xfrm>
              <a:off x="4211" y="429"/>
              <a:ext cx="1038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9" name="Google Shape;4599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117"/>
            <p:cNvSpPr/>
            <p:nvPr/>
          </p:nvSpPr>
          <p:spPr>
            <a:xfrm>
              <a:off x="4211" y="690"/>
              <a:ext cx="590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2" name="Google Shape;4602;p117"/>
            <p:cNvGrpSpPr/>
            <p:nvPr/>
          </p:nvGrpSpPr>
          <p:grpSpPr>
            <a:xfrm>
              <a:off x="4751" y="665"/>
              <a:ext cx="580" cy="139"/>
              <a:chOff x="616" y="2565"/>
              <a:chExt cx="724" cy="133"/>
            </a:xfrm>
          </p:grpSpPr>
          <p:sp>
            <p:nvSpPr>
              <p:cNvPr id="4603" name="Google Shape;4603;p117"/>
              <p:cNvSpPr/>
              <p:nvPr/>
            </p:nvSpPr>
            <p:spPr>
              <a:xfrm>
                <a:off x="616" y="2565"/>
                <a:ext cx="724" cy="13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4" name="Google Shape;4604;p117"/>
              <p:cNvSpPr/>
              <p:nvPr/>
            </p:nvSpPr>
            <p:spPr>
              <a:xfrm>
                <a:off x="629" y="2581"/>
                <a:ext cx="699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05" name="Google Shape;4605;p117"/>
            <p:cNvSpPr/>
            <p:nvPr/>
          </p:nvSpPr>
          <p:spPr>
            <a:xfrm>
              <a:off x="4221" y="1024"/>
              <a:ext cx="601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6" name="Google Shape;4606;p117"/>
            <p:cNvGrpSpPr/>
            <p:nvPr/>
          </p:nvGrpSpPr>
          <p:grpSpPr>
            <a:xfrm>
              <a:off x="4751" y="991"/>
              <a:ext cx="580" cy="139"/>
              <a:chOff x="619" y="2565"/>
              <a:chExt cx="724" cy="144"/>
            </a:xfrm>
          </p:grpSpPr>
          <p:sp>
            <p:nvSpPr>
              <p:cNvPr id="4607" name="Google Shape;4607;p117"/>
              <p:cNvSpPr/>
              <p:nvPr/>
            </p:nvSpPr>
            <p:spPr>
              <a:xfrm>
                <a:off x="619" y="2565"/>
                <a:ext cx="724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8" name="Google Shape;4608;p117"/>
              <p:cNvSpPr/>
              <p:nvPr/>
            </p:nvSpPr>
            <p:spPr>
              <a:xfrm>
                <a:off x="631" y="2582"/>
                <a:ext cx="699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09" name="Google Shape;4609;p117"/>
            <p:cNvSpPr/>
            <p:nvPr/>
          </p:nvSpPr>
          <p:spPr>
            <a:xfrm>
              <a:off x="4211" y="1358"/>
              <a:ext cx="601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0" name="Google Shape;4610;p117"/>
            <p:cNvSpPr/>
            <p:nvPr/>
          </p:nvSpPr>
          <p:spPr>
            <a:xfrm>
              <a:off x="4221" y="1660"/>
              <a:ext cx="601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1" name="Google Shape;4611;p117"/>
            <p:cNvGrpSpPr/>
            <p:nvPr/>
          </p:nvGrpSpPr>
          <p:grpSpPr>
            <a:xfrm>
              <a:off x="4731" y="1627"/>
              <a:ext cx="590" cy="155"/>
              <a:chOff x="608" y="2568"/>
              <a:chExt cx="735" cy="143"/>
            </a:xfrm>
          </p:grpSpPr>
          <p:sp>
            <p:nvSpPr>
              <p:cNvPr id="4612" name="Google Shape;4612;p117"/>
              <p:cNvSpPr/>
              <p:nvPr/>
            </p:nvSpPr>
            <p:spPr>
              <a:xfrm>
                <a:off x="608" y="2568"/>
                <a:ext cx="735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3" name="Google Shape;4613;p117"/>
              <p:cNvSpPr/>
              <p:nvPr/>
            </p:nvSpPr>
            <p:spPr>
              <a:xfrm>
                <a:off x="620" y="2583"/>
                <a:ext cx="710" cy="11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4" name="Google Shape;4614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5" name="Google Shape;4615;p117"/>
            <p:cNvGrpSpPr/>
            <p:nvPr/>
          </p:nvGrpSpPr>
          <p:grpSpPr>
            <a:xfrm>
              <a:off x="4741" y="1325"/>
              <a:ext cx="570" cy="139"/>
              <a:chOff x="616" y="2566"/>
              <a:chExt cx="710" cy="139"/>
            </a:xfrm>
          </p:grpSpPr>
          <p:sp>
            <p:nvSpPr>
              <p:cNvPr id="4616" name="Google Shape;4616;p117"/>
              <p:cNvSpPr/>
              <p:nvPr/>
            </p:nvSpPr>
            <p:spPr>
              <a:xfrm>
                <a:off x="616" y="2566"/>
                <a:ext cx="71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7" name="Google Shape;4617;p117"/>
              <p:cNvSpPr/>
              <p:nvPr/>
            </p:nvSpPr>
            <p:spPr>
              <a:xfrm>
                <a:off x="629" y="2583"/>
                <a:ext cx="697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8" name="Google Shape;4618;p117"/>
            <p:cNvSpPr/>
            <p:nvPr/>
          </p:nvSpPr>
          <p:spPr>
            <a:xfrm>
              <a:off x="5249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9" name="Google Shape;4619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0" name="Google Shape;4620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1" name="Google Shape;4621;p117"/>
            <p:cNvSpPr/>
            <p:nvPr/>
          </p:nvSpPr>
          <p:spPr>
            <a:xfrm>
              <a:off x="5514" y="2605"/>
              <a:ext cx="51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2" name="Google Shape;4622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3" name="Google Shape;4623;p117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4" name="Google Shape;4624;p117"/>
            <p:cNvSpPr/>
            <p:nvPr/>
          </p:nvSpPr>
          <p:spPr>
            <a:xfrm>
              <a:off x="4211" y="2711"/>
              <a:ext cx="1069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5" name="Google Shape;4625;p117"/>
            <p:cNvSpPr/>
            <p:nvPr/>
          </p:nvSpPr>
          <p:spPr>
            <a:xfrm>
              <a:off x="4303" y="2385"/>
              <a:ext cx="163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6" name="Google Shape;4626;p117"/>
            <p:cNvSpPr/>
            <p:nvPr/>
          </p:nvSpPr>
          <p:spPr>
            <a:xfrm>
              <a:off x="4486" y="2385"/>
              <a:ext cx="163" cy="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7" name="Google Shape;4627;p117"/>
            <p:cNvSpPr/>
            <p:nvPr/>
          </p:nvSpPr>
          <p:spPr>
            <a:xfrm>
              <a:off x="4659" y="2377"/>
              <a:ext cx="163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8" name="Google Shape;4628;p117"/>
            <p:cNvSpPr/>
            <p:nvPr/>
          </p:nvSpPr>
          <p:spPr>
            <a:xfrm>
              <a:off x="5056" y="1831"/>
              <a:ext cx="92" cy="76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29" name="Google Shape;4629;p117"/>
          <p:cNvSpPr/>
          <p:nvPr/>
        </p:nvSpPr>
        <p:spPr>
          <a:xfrm>
            <a:off x="5272476" y="3406930"/>
            <a:ext cx="134937" cy="134938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0" name="Google Shape;4630;p117"/>
          <p:cNvSpPr/>
          <p:nvPr/>
        </p:nvSpPr>
        <p:spPr>
          <a:xfrm>
            <a:off x="2835663" y="3291043"/>
            <a:ext cx="134938" cy="13493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1" name="Google Shape;4631;p117"/>
          <p:cNvCxnSpPr/>
          <p:nvPr/>
        </p:nvCxnSpPr>
        <p:spPr>
          <a:xfrm rot="10800000">
            <a:off x="2942026" y="3502180"/>
            <a:ext cx="1074737" cy="113982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2" name="Google Shape;4632;p117"/>
          <p:cNvCxnSpPr/>
          <p:nvPr/>
        </p:nvCxnSpPr>
        <p:spPr>
          <a:xfrm flipH="1" rot="10800000">
            <a:off x="4012001" y="3606955"/>
            <a:ext cx="1293812" cy="1046163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633" name="Google Shape;4633;p117"/>
          <p:cNvGrpSpPr/>
          <p:nvPr/>
        </p:nvGrpSpPr>
        <p:grpSpPr>
          <a:xfrm>
            <a:off x="5892827" y="3212890"/>
            <a:ext cx="754294" cy="393599"/>
            <a:chOff x="7493876" y="2774731"/>
            <a:chExt cx="1481958" cy="894622"/>
          </a:xfrm>
        </p:grpSpPr>
        <p:sp>
          <p:nvSpPr>
            <p:cNvPr id="4634" name="Google Shape;4634;p1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635" name="Google Shape;4635;p1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636" name="Google Shape;4636;p1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7" name="Google Shape;4637;p1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8" name="Google Shape;4638;p1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9" name="Google Shape;4639;p1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0" name="Google Shape;4640;p1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41" name="Google Shape;4641;p117"/>
          <p:cNvGrpSpPr/>
          <p:nvPr/>
        </p:nvGrpSpPr>
        <p:grpSpPr>
          <a:xfrm>
            <a:off x="2889389" y="2833453"/>
            <a:ext cx="693067" cy="304790"/>
            <a:chOff x="3668110" y="2448910"/>
            <a:chExt cx="3794234" cy="2165130"/>
          </a:xfrm>
        </p:grpSpPr>
        <p:sp>
          <p:nvSpPr>
            <p:cNvPr id="4642" name="Google Shape;4642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3" name="Google Shape;4643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44" name="Google Shape;4644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45" name="Google Shape;4645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6" name="Google Shape;4646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7" name="Google Shape;4647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8" name="Google Shape;4648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49" name="Google Shape;4649;p117"/>
          <p:cNvGrpSpPr/>
          <p:nvPr/>
        </p:nvGrpSpPr>
        <p:grpSpPr>
          <a:xfrm>
            <a:off x="3652490" y="3210326"/>
            <a:ext cx="693067" cy="304790"/>
            <a:chOff x="3668110" y="2448910"/>
            <a:chExt cx="3794234" cy="2165130"/>
          </a:xfrm>
        </p:grpSpPr>
        <p:sp>
          <p:nvSpPr>
            <p:cNvPr id="4650" name="Google Shape;4650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1" name="Google Shape;4651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2" name="Google Shape;4652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53" name="Google Shape;4653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4" name="Google Shape;4654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5" name="Google Shape;4655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6" name="Google Shape;4656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57" name="Google Shape;4657;p117"/>
          <p:cNvGrpSpPr/>
          <p:nvPr/>
        </p:nvGrpSpPr>
        <p:grpSpPr>
          <a:xfrm>
            <a:off x="6134488" y="2695730"/>
            <a:ext cx="261938" cy="866775"/>
            <a:chOff x="2550" y="2912"/>
            <a:chExt cx="278" cy="690"/>
          </a:xfrm>
        </p:grpSpPr>
        <p:sp>
          <p:nvSpPr>
            <p:cNvPr id="4658" name="Google Shape;4658;p117"/>
            <p:cNvSpPr/>
            <p:nvPr/>
          </p:nvSpPr>
          <p:spPr>
            <a:xfrm>
              <a:off x="2578" y="2963"/>
              <a:ext cx="138" cy="638"/>
            </a:xfrm>
            <a:custGeom>
              <a:rect b="b" l="l" r="r" t="t"/>
              <a:pathLst>
                <a:path extrusionOk="0" h="638" w="1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9" name="Google Shape;4659;p117"/>
            <p:cNvSpPr/>
            <p:nvPr/>
          </p:nvSpPr>
          <p:spPr>
            <a:xfrm>
              <a:off x="2716" y="3035"/>
              <a:ext cx="84" cy="567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0" name="Google Shape;4660;p117"/>
            <p:cNvSpPr/>
            <p:nvPr/>
          </p:nvSpPr>
          <p:spPr>
            <a:xfrm>
              <a:off x="2713" y="3035"/>
              <a:ext cx="86" cy="64"/>
            </a:xfrm>
            <a:custGeom>
              <a:rect b="b" l="l" r="r" t="t"/>
              <a:pathLst>
                <a:path extrusionOk="0" h="64" w="86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117"/>
            <p:cNvSpPr/>
            <p:nvPr/>
          </p:nvSpPr>
          <p:spPr>
            <a:xfrm>
              <a:off x="2716" y="3118"/>
              <a:ext cx="4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117"/>
            <p:cNvSpPr/>
            <p:nvPr/>
          </p:nvSpPr>
          <p:spPr>
            <a:xfrm>
              <a:off x="2759" y="3117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3" name="Google Shape;4663;p117"/>
            <p:cNvSpPr/>
            <p:nvPr/>
          </p:nvSpPr>
          <p:spPr>
            <a:xfrm>
              <a:off x="2737" y="3080"/>
              <a:ext cx="43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4" name="Google Shape;4664;p117"/>
            <p:cNvSpPr/>
            <p:nvPr/>
          </p:nvSpPr>
          <p:spPr>
            <a:xfrm>
              <a:off x="2781" y="3080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5" name="Google Shape;4665;p117"/>
            <p:cNvSpPr/>
            <p:nvPr/>
          </p:nvSpPr>
          <p:spPr>
            <a:xfrm>
              <a:off x="2712" y="3080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6" name="Google Shape;4666;p117"/>
            <p:cNvSpPr/>
            <p:nvPr/>
          </p:nvSpPr>
          <p:spPr>
            <a:xfrm>
              <a:off x="2715" y="3041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7" name="Google Shape;4667;p117"/>
            <p:cNvSpPr/>
            <p:nvPr/>
          </p:nvSpPr>
          <p:spPr>
            <a:xfrm>
              <a:off x="2760" y="3042"/>
              <a:ext cx="43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8" name="Google Shape;4668;p117"/>
            <p:cNvSpPr/>
            <p:nvPr/>
          </p:nvSpPr>
          <p:spPr>
            <a:xfrm>
              <a:off x="2715" y="3193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9" name="Google Shape;4669;p117"/>
            <p:cNvSpPr/>
            <p:nvPr/>
          </p:nvSpPr>
          <p:spPr>
            <a:xfrm>
              <a:off x="2759" y="3193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0" name="Google Shape;4670;p117"/>
            <p:cNvSpPr/>
            <p:nvPr/>
          </p:nvSpPr>
          <p:spPr>
            <a:xfrm>
              <a:off x="2780" y="3155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1" name="Google Shape;4671;p117"/>
            <p:cNvSpPr/>
            <p:nvPr/>
          </p:nvSpPr>
          <p:spPr>
            <a:xfrm>
              <a:off x="2716" y="3155"/>
              <a:ext cx="17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2" name="Google Shape;4672;p117"/>
            <p:cNvSpPr/>
            <p:nvPr/>
          </p:nvSpPr>
          <p:spPr>
            <a:xfrm>
              <a:off x="2715" y="3266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3" name="Google Shape;4673;p117"/>
            <p:cNvSpPr/>
            <p:nvPr/>
          </p:nvSpPr>
          <p:spPr>
            <a:xfrm>
              <a:off x="2759" y="3266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4" name="Google Shape;4674;p117"/>
            <p:cNvSpPr/>
            <p:nvPr/>
          </p:nvSpPr>
          <p:spPr>
            <a:xfrm>
              <a:off x="2737" y="3229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5" name="Google Shape;4675;p117"/>
            <p:cNvSpPr/>
            <p:nvPr/>
          </p:nvSpPr>
          <p:spPr>
            <a:xfrm>
              <a:off x="2780" y="3229"/>
              <a:ext cx="2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6" name="Google Shape;4676;p117"/>
            <p:cNvSpPr/>
            <p:nvPr/>
          </p:nvSpPr>
          <p:spPr>
            <a:xfrm>
              <a:off x="2715" y="3229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p117"/>
            <p:cNvSpPr/>
            <p:nvPr/>
          </p:nvSpPr>
          <p:spPr>
            <a:xfrm>
              <a:off x="2715" y="3342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Google Shape;4678;p117"/>
            <p:cNvSpPr/>
            <p:nvPr/>
          </p:nvSpPr>
          <p:spPr>
            <a:xfrm>
              <a:off x="2759" y="334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9" name="Google Shape;4679;p117"/>
            <p:cNvSpPr/>
            <p:nvPr/>
          </p:nvSpPr>
          <p:spPr>
            <a:xfrm>
              <a:off x="2736" y="3304"/>
              <a:ext cx="43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p117"/>
            <p:cNvSpPr/>
            <p:nvPr/>
          </p:nvSpPr>
          <p:spPr>
            <a:xfrm>
              <a:off x="2780" y="3304"/>
              <a:ext cx="2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1" name="Google Shape;4681;p117"/>
            <p:cNvSpPr/>
            <p:nvPr/>
          </p:nvSpPr>
          <p:spPr>
            <a:xfrm>
              <a:off x="2716" y="3304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2" name="Google Shape;4682;p117"/>
            <p:cNvSpPr/>
            <p:nvPr/>
          </p:nvSpPr>
          <p:spPr>
            <a:xfrm>
              <a:off x="2715" y="3417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3" name="Google Shape;4683;p117"/>
            <p:cNvSpPr/>
            <p:nvPr/>
          </p:nvSpPr>
          <p:spPr>
            <a:xfrm>
              <a:off x="2759" y="3416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4" name="Google Shape;4684;p117"/>
            <p:cNvSpPr/>
            <p:nvPr/>
          </p:nvSpPr>
          <p:spPr>
            <a:xfrm>
              <a:off x="2737" y="3379"/>
              <a:ext cx="43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5" name="Google Shape;4685;p117"/>
            <p:cNvSpPr/>
            <p:nvPr/>
          </p:nvSpPr>
          <p:spPr>
            <a:xfrm>
              <a:off x="2781" y="3379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6" name="Google Shape;4686;p117"/>
            <p:cNvSpPr/>
            <p:nvPr/>
          </p:nvSpPr>
          <p:spPr>
            <a:xfrm>
              <a:off x="2715" y="3492"/>
              <a:ext cx="40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7" name="Google Shape;4687;p117"/>
            <p:cNvSpPr/>
            <p:nvPr/>
          </p:nvSpPr>
          <p:spPr>
            <a:xfrm>
              <a:off x="2759" y="349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8" name="Google Shape;4688;p117"/>
            <p:cNvSpPr/>
            <p:nvPr/>
          </p:nvSpPr>
          <p:spPr>
            <a:xfrm>
              <a:off x="2737" y="3455"/>
              <a:ext cx="42" cy="31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9" name="Google Shape;4689;p117"/>
            <p:cNvSpPr/>
            <p:nvPr/>
          </p:nvSpPr>
          <p:spPr>
            <a:xfrm>
              <a:off x="2780" y="3453"/>
              <a:ext cx="2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0" name="Google Shape;4690;p117"/>
            <p:cNvSpPr/>
            <p:nvPr/>
          </p:nvSpPr>
          <p:spPr>
            <a:xfrm>
              <a:off x="2716" y="3453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1" name="Google Shape;4691;p117"/>
            <p:cNvSpPr/>
            <p:nvPr/>
          </p:nvSpPr>
          <p:spPr>
            <a:xfrm>
              <a:off x="2715" y="3566"/>
              <a:ext cx="40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2" name="Google Shape;4692;p117"/>
            <p:cNvSpPr/>
            <p:nvPr/>
          </p:nvSpPr>
          <p:spPr>
            <a:xfrm>
              <a:off x="2759" y="3566"/>
              <a:ext cx="42" cy="32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3" name="Google Shape;4693;p117"/>
            <p:cNvSpPr/>
            <p:nvPr/>
          </p:nvSpPr>
          <p:spPr>
            <a:xfrm>
              <a:off x="2737" y="3528"/>
              <a:ext cx="4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4" name="Google Shape;4694;p117"/>
            <p:cNvSpPr/>
            <p:nvPr/>
          </p:nvSpPr>
          <p:spPr>
            <a:xfrm>
              <a:off x="2780" y="3528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5" name="Google Shape;4695;p117"/>
            <p:cNvSpPr/>
            <p:nvPr/>
          </p:nvSpPr>
          <p:spPr>
            <a:xfrm>
              <a:off x="2715" y="3528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6" name="Google Shape;4696;p117"/>
            <p:cNvSpPr/>
            <p:nvPr/>
          </p:nvSpPr>
          <p:spPr>
            <a:xfrm>
              <a:off x="2704" y="3555"/>
              <a:ext cx="12" cy="41"/>
            </a:xfrm>
            <a:custGeom>
              <a:rect b="b" l="l" r="r" t="t"/>
              <a:pathLst>
                <a:path extrusionOk="0" h="41" w="12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7" name="Google Shape;4697;p117"/>
            <p:cNvSpPr/>
            <p:nvPr/>
          </p:nvSpPr>
          <p:spPr>
            <a:xfrm>
              <a:off x="2667" y="3513"/>
              <a:ext cx="35" cy="70"/>
            </a:xfrm>
            <a:custGeom>
              <a:rect b="b" l="l" r="r" t="t"/>
              <a:pathLst>
                <a:path extrusionOk="0" h="70" w="35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8" name="Google Shape;4698;p117"/>
            <p:cNvSpPr/>
            <p:nvPr/>
          </p:nvSpPr>
          <p:spPr>
            <a:xfrm>
              <a:off x="2631" y="3474"/>
              <a:ext cx="35" cy="67"/>
            </a:xfrm>
            <a:custGeom>
              <a:rect b="b" l="l" r="r" t="t"/>
              <a:pathLst>
                <a:path extrusionOk="0" h="67" w="35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9" name="Google Shape;4699;p117"/>
            <p:cNvSpPr/>
            <p:nvPr/>
          </p:nvSpPr>
          <p:spPr>
            <a:xfrm>
              <a:off x="2594" y="3435"/>
              <a:ext cx="34" cy="65"/>
            </a:xfrm>
            <a:custGeom>
              <a:rect b="b" l="l" r="r" t="t"/>
              <a:pathLst>
                <a:path extrusionOk="0" h="65" w="34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0" name="Google Shape;4700;p117"/>
            <p:cNvSpPr/>
            <p:nvPr/>
          </p:nvSpPr>
          <p:spPr>
            <a:xfrm>
              <a:off x="2575" y="3414"/>
              <a:ext cx="17" cy="46"/>
            </a:xfrm>
            <a:custGeom>
              <a:rect b="b" l="l" r="r" t="t"/>
              <a:pathLst>
                <a:path extrusionOk="0" h="46" w="17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1" name="Google Shape;4701;p117"/>
            <p:cNvSpPr/>
            <p:nvPr/>
          </p:nvSpPr>
          <p:spPr>
            <a:xfrm>
              <a:off x="2704" y="3036"/>
              <a:ext cx="12" cy="36"/>
            </a:xfrm>
            <a:custGeom>
              <a:rect b="b" l="l" r="r" t="t"/>
              <a:pathLst>
                <a:path extrusionOk="0" h="36" w="12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2" name="Google Shape;4702;p117"/>
            <p:cNvSpPr/>
            <p:nvPr/>
          </p:nvSpPr>
          <p:spPr>
            <a:xfrm>
              <a:off x="2667" y="3016"/>
              <a:ext cx="35" cy="49"/>
            </a:xfrm>
            <a:custGeom>
              <a:rect b="b" l="l" r="r" t="t"/>
              <a:pathLst>
                <a:path extrusionOk="0" h="49" w="35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3" name="Google Shape;4703;p117"/>
            <p:cNvSpPr/>
            <p:nvPr/>
          </p:nvSpPr>
          <p:spPr>
            <a:xfrm>
              <a:off x="2631" y="2997"/>
              <a:ext cx="35" cy="46"/>
            </a:xfrm>
            <a:custGeom>
              <a:rect b="b" l="l" r="r" t="t"/>
              <a:pathLst>
                <a:path extrusionOk="0" h="46" w="35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4" name="Google Shape;4704;p117"/>
            <p:cNvSpPr/>
            <p:nvPr/>
          </p:nvSpPr>
          <p:spPr>
            <a:xfrm>
              <a:off x="2594" y="2977"/>
              <a:ext cx="34" cy="46"/>
            </a:xfrm>
            <a:custGeom>
              <a:rect b="b" l="l" r="r" t="t"/>
              <a:pathLst>
                <a:path extrusionOk="0" h="46" w="34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5" name="Google Shape;4705;p117"/>
            <p:cNvSpPr/>
            <p:nvPr/>
          </p:nvSpPr>
          <p:spPr>
            <a:xfrm>
              <a:off x="2575" y="2966"/>
              <a:ext cx="17" cy="36"/>
            </a:xfrm>
            <a:custGeom>
              <a:rect b="b" l="l" r="r" t="t"/>
              <a:pathLst>
                <a:path extrusionOk="0" h="36" w="17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6" name="Google Shape;4706;p117"/>
            <p:cNvSpPr/>
            <p:nvPr/>
          </p:nvSpPr>
          <p:spPr>
            <a:xfrm>
              <a:off x="2667" y="3087"/>
              <a:ext cx="35" cy="52"/>
            </a:xfrm>
            <a:custGeom>
              <a:rect b="b" l="l" r="r" t="t"/>
              <a:pathLst>
                <a:path extrusionOk="0" h="52" w="35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7" name="Google Shape;4707;p117"/>
            <p:cNvSpPr/>
            <p:nvPr/>
          </p:nvSpPr>
          <p:spPr>
            <a:xfrm>
              <a:off x="2631" y="3064"/>
              <a:ext cx="35" cy="52"/>
            </a:xfrm>
            <a:custGeom>
              <a:rect b="b" l="l" r="r" t="t"/>
              <a:pathLst>
                <a:path extrusionOk="0" h="52" w="35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8" name="Google Shape;4708;p117"/>
            <p:cNvSpPr/>
            <p:nvPr/>
          </p:nvSpPr>
          <p:spPr>
            <a:xfrm>
              <a:off x="2594" y="3042"/>
              <a:ext cx="34" cy="49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9" name="Google Shape;4709;p117"/>
            <p:cNvSpPr/>
            <p:nvPr/>
          </p:nvSpPr>
          <p:spPr>
            <a:xfrm>
              <a:off x="2575" y="3030"/>
              <a:ext cx="17" cy="39"/>
            </a:xfrm>
            <a:custGeom>
              <a:rect b="b" l="l" r="r" t="t"/>
              <a:pathLst>
                <a:path extrusionOk="0" h="39" w="17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0" name="Google Shape;4710;p117"/>
            <p:cNvSpPr/>
            <p:nvPr/>
          </p:nvSpPr>
          <p:spPr>
            <a:xfrm>
              <a:off x="2704" y="3185"/>
              <a:ext cx="12" cy="38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1" name="Google Shape;4711;p117"/>
            <p:cNvSpPr/>
            <p:nvPr/>
          </p:nvSpPr>
          <p:spPr>
            <a:xfrm>
              <a:off x="2667" y="3158"/>
              <a:ext cx="35" cy="55"/>
            </a:xfrm>
            <a:custGeom>
              <a:rect b="b" l="l" r="r" t="t"/>
              <a:pathLst>
                <a:path extrusionOk="0" h="55" w="3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2" name="Google Shape;4712;p117"/>
            <p:cNvSpPr/>
            <p:nvPr/>
          </p:nvSpPr>
          <p:spPr>
            <a:xfrm>
              <a:off x="2631" y="3132"/>
              <a:ext cx="35" cy="54"/>
            </a:xfrm>
            <a:custGeom>
              <a:rect b="b" l="l" r="r" t="t"/>
              <a:pathLst>
                <a:path extrusionOk="0" h="54" w="35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3" name="Google Shape;4713;p117"/>
            <p:cNvSpPr/>
            <p:nvPr/>
          </p:nvSpPr>
          <p:spPr>
            <a:xfrm>
              <a:off x="2594" y="3108"/>
              <a:ext cx="34" cy="52"/>
            </a:xfrm>
            <a:custGeom>
              <a:rect b="b" l="l" r="r" t="t"/>
              <a:pathLst>
                <a:path extrusionOk="0" h="52" w="34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4" name="Google Shape;4714;p117"/>
            <p:cNvSpPr/>
            <p:nvPr/>
          </p:nvSpPr>
          <p:spPr>
            <a:xfrm>
              <a:off x="2575" y="3095"/>
              <a:ext cx="17" cy="38"/>
            </a:xfrm>
            <a:custGeom>
              <a:rect b="b" l="l" r="r" t="t"/>
              <a:pathLst>
                <a:path extrusionOk="0" h="38" w="17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5" name="Google Shape;4715;p117"/>
            <p:cNvSpPr/>
            <p:nvPr/>
          </p:nvSpPr>
          <p:spPr>
            <a:xfrm>
              <a:off x="2704" y="3257"/>
              <a:ext cx="11" cy="40"/>
            </a:xfrm>
            <a:custGeom>
              <a:rect b="b" l="l" r="r" t="t"/>
              <a:pathLst>
                <a:path extrusionOk="0" h="40" w="11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6" name="Google Shape;4716;p117"/>
            <p:cNvSpPr/>
            <p:nvPr/>
          </p:nvSpPr>
          <p:spPr>
            <a:xfrm>
              <a:off x="2667" y="3229"/>
              <a:ext cx="35" cy="57"/>
            </a:xfrm>
            <a:custGeom>
              <a:rect b="b" l="l" r="r" t="t"/>
              <a:pathLst>
                <a:path extrusionOk="0" h="57" w="35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7" name="Google Shape;4717;p117"/>
            <p:cNvSpPr/>
            <p:nvPr/>
          </p:nvSpPr>
          <p:spPr>
            <a:xfrm>
              <a:off x="2631" y="3201"/>
              <a:ext cx="35" cy="56"/>
            </a:xfrm>
            <a:custGeom>
              <a:rect b="b" l="l" r="r" t="t"/>
              <a:pathLst>
                <a:path extrusionOk="0" h="56" w="35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8" name="Google Shape;4718;p117"/>
            <p:cNvSpPr/>
            <p:nvPr/>
          </p:nvSpPr>
          <p:spPr>
            <a:xfrm>
              <a:off x="2594" y="3172"/>
              <a:ext cx="34" cy="56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9" name="Google Shape;4719;p117"/>
            <p:cNvSpPr/>
            <p:nvPr/>
          </p:nvSpPr>
          <p:spPr>
            <a:xfrm>
              <a:off x="2575" y="3158"/>
              <a:ext cx="17" cy="41"/>
            </a:xfrm>
            <a:custGeom>
              <a:rect b="b" l="l" r="r" t="t"/>
              <a:pathLst>
                <a:path extrusionOk="0" h="41" w="17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0" name="Google Shape;4720;p117"/>
            <p:cNvSpPr/>
            <p:nvPr/>
          </p:nvSpPr>
          <p:spPr>
            <a:xfrm>
              <a:off x="2704" y="3332"/>
              <a:ext cx="12" cy="41"/>
            </a:xfrm>
            <a:custGeom>
              <a:rect b="b" l="l" r="r" t="t"/>
              <a:pathLst>
                <a:path extrusionOk="0" h="41" w="12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1" name="Google Shape;4721;p117"/>
            <p:cNvSpPr/>
            <p:nvPr/>
          </p:nvSpPr>
          <p:spPr>
            <a:xfrm>
              <a:off x="2667" y="3300"/>
              <a:ext cx="35" cy="59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p117"/>
            <p:cNvSpPr/>
            <p:nvPr/>
          </p:nvSpPr>
          <p:spPr>
            <a:xfrm>
              <a:off x="2631" y="3269"/>
              <a:ext cx="35" cy="59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3" name="Google Shape;4723;p117"/>
            <p:cNvSpPr/>
            <p:nvPr/>
          </p:nvSpPr>
          <p:spPr>
            <a:xfrm>
              <a:off x="2594" y="3237"/>
              <a:ext cx="34" cy="59"/>
            </a:xfrm>
            <a:custGeom>
              <a:rect b="b" l="l" r="r" t="t"/>
              <a:pathLst>
                <a:path extrusionOk="0" h="59" w="34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4" name="Google Shape;4724;p117"/>
            <p:cNvSpPr/>
            <p:nvPr/>
          </p:nvSpPr>
          <p:spPr>
            <a:xfrm>
              <a:off x="2575" y="3222"/>
              <a:ext cx="17" cy="42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5" name="Google Shape;4725;p117"/>
            <p:cNvSpPr/>
            <p:nvPr/>
          </p:nvSpPr>
          <p:spPr>
            <a:xfrm>
              <a:off x="2704" y="3408"/>
              <a:ext cx="11" cy="38"/>
            </a:xfrm>
            <a:custGeom>
              <a:rect b="b" l="l" r="r" t="t"/>
              <a:pathLst>
                <a:path extrusionOk="0" h="38" w="11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6" name="Google Shape;4726;p117"/>
            <p:cNvSpPr/>
            <p:nvPr/>
          </p:nvSpPr>
          <p:spPr>
            <a:xfrm>
              <a:off x="2667" y="3372"/>
              <a:ext cx="35" cy="63"/>
            </a:xfrm>
            <a:custGeom>
              <a:rect b="b" l="l" r="r" t="t"/>
              <a:pathLst>
                <a:path extrusionOk="0" h="63" w="35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7" name="Google Shape;4727;p117"/>
            <p:cNvSpPr/>
            <p:nvPr/>
          </p:nvSpPr>
          <p:spPr>
            <a:xfrm>
              <a:off x="2631" y="3338"/>
              <a:ext cx="35" cy="60"/>
            </a:xfrm>
            <a:custGeom>
              <a:rect b="b" l="l" r="r" t="t"/>
              <a:pathLst>
                <a:path extrusionOk="0" h="60" w="35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8" name="Google Shape;4728;p117"/>
            <p:cNvSpPr/>
            <p:nvPr/>
          </p:nvSpPr>
          <p:spPr>
            <a:xfrm>
              <a:off x="2593" y="3302"/>
              <a:ext cx="35" cy="61"/>
            </a:xfrm>
            <a:custGeom>
              <a:rect b="b" l="l" r="r" t="t"/>
              <a:pathLst>
                <a:path extrusionOk="0" h="61" w="35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9" name="Google Shape;4729;p117"/>
            <p:cNvSpPr/>
            <p:nvPr/>
          </p:nvSpPr>
          <p:spPr>
            <a:xfrm>
              <a:off x="2575" y="3286"/>
              <a:ext cx="17" cy="42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0" name="Google Shape;4730;p117"/>
            <p:cNvSpPr/>
            <p:nvPr/>
          </p:nvSpPr>
          <p:spPr>
            <a:xfrm>
              <a:off x="2704" y="3479"/>
              <a:ext cx="11" cy="44"/>
            </a:xfrm>
            <a:custGeom>
              <a:rect b="b" l="l" r="r" t="t"/>
              <a:pathLst>
                <a:path extrusionOk="0" h="44" w="11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1" name="Google Shape;4731;p117"/>
            <p:cNvSpPr/>
            <p:nvPr/>
          </p:nvSpPr>
          <p:spPr>
            <a:xfrm>
              <a:off x="2667" y="3443"/>
              <a:ext cx="35" cy="65"/>
            </a:xfrm>
            <a:custGeom>
              <a:rect b="b" l="l" r="r" t="t"/>
              <a:pathLst>
                <a:path extrusionOk="0" h="65" w="3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2" name="Google Shape;4732;p117"/>
            <p:cNvSpPr/>
            <p:nvPr/>
          </p:nvSpPr>
          <p:spPr>
            <a:xfrm>
              <a:off x="2631" y="3405"/>
              <a:ext cx="35" cy="65"/>
            </a:xfrm>
            <a:custGeom>
              <a:rect b="b" l="l" r="r" t="t"/>
              <a:pathLst>
                <a:path extrusionOk="0" h="65" w="3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117"/>
            <p:cNvSpPr/>
            <p:nvPr/>
          </p:nvSpPr>
          <p:spPr>
            <a:xfrm>
              <a:off x="2594" y="3369"/>
              <a:ext cx="34" cy="63"/>
            </a:xfrm>
            <a:custGeom>
              <a:rect b="b" l="l" r="r" t="t"/>
              <a:pathLst>
                <a:path extrusionOk="0" h="63" w="34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p117"/>
            <p:cNvSpPr/>
            <p:nvPr/>
          </p:nvSpPr>
          <p:spPr>
            <a:xfrm>
              <a:off x="2575" y="3352"/>
              <a:ext cx="17" cy="44"/>
            </a:xfrm>
            <a:custGeom>
              <a:rect b="b" l="l" r="r" t="t"/>
              <a:pathLst>
                <a:path extrusionOk="0" h="44" w="17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5" name="Google Shape;4735;p117"/>
            <p:cNvSpPr/>
            <p:nvPr/>
          </p:nvSpPr>
          <p:spPr>
            <a:xfrm>
              <a:off x="2575" y="3383"/>
              <a:ext cx="29" cy="55"/>
            </a:xfrm>
            <a:custGeom>
              <a:rect b="b" l="l" r="r" t="t"/>
              <a:pathLst>
                <a:path extrusionOk="0" h="55" w="29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6" name="Google Shape;4736;p117"/>
            <p:cNvSpPr/>
            <p:nvPr/>
          </p:nvSpPr>
          <p:spPr>
            <a:xfrm>
              <a:off x="2676" y="3486"/>
              <a:ext cx="39" cy="71"/>
            </a:xfrm>
            <a:custGeom>
              <a:rect b="b" l="l" r="r" t="t"/>
              <a:pathLst>
                <a:path extrusionOk="0" h="71" w="39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7" name="Google Shape;4737;p117"/>
            <p:cNvSpPr/>
            <p:nvPr/>
          </p:nvSpPr>
          <p:spPr>
            <a:xfrm>
              <a:off x="2642" y="3451"/>
              <a:ext cx="32" cy="64"/>
            </a:xfrm>
            <a:custGeom>
              <a:rect b="b" l="l" r="r" t="t"/>
              <a:pathLst>
                <a:path extrusionOk="0" h="64" w="32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8" name="Google Shape;4738;p117"/>
            <p:cNvSpPr/>
            <p:nvPr/>
          </p:nvSpPr>
          <p:spPr>
            <a:xfrm>
              <a:off x="2606" y="3415"/>
              <a:ext cx="34" cy="62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9" name="Google Shape;4739;p117"/>
            <p:cNvSpPr/>
            <p:nvPr/>
          </p:nvSpPr>
          <p:spPr>
            <a:xfrm>
              <a:off x="2575" y="2999"/>
              <a:ext cx="30" cy="44"/>
            </a:xfrm>
            <a:custGeom>
              <a:rect b="b" l="l" r="r" t="t"/>
              <a:pathLst>
                <a:path extrusionOk="0" h="44" w="30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0" name="Google Shape;4740;p117"/>
            <p:cNvSpPr/>
            <p:nvPr/>
          </p:nvSpPr>
          <p:spPr>
            <a:xfrm>
              <a:off x="2643" y="3037"/>
              <a:ext cx="33" cy="50"/>
            </a:xfrm>
            <a:custGeom>
              <a:rect b="b" l="l" r="r" t="t"/>
              <a:pathLst>
                <a:path extrusionOk="0" h="50" w="33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1" name="Google Shape;4741;p117"/>
            <p:cNvSpPr/>
            <p:nvPr/>
          </p:nvSpPr>
          <p:spPr>
            <a:xfrm>
              <a:off x="2607" y="3016"/>
              <a:ext cx="34" cy="49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2" name="Google Shape;4742;p117"/>
            <p:cNvSpPr/>
            <p:nvPr/>
          </p:nvSpPr>
          <p:spPr>
            <a:xfrm>
              <a:off x="2575" y="3062"/>
              <a:ext cx="30" cy="48"/>
            </a:xfrm>
            <a:custGeom>
              <a:rect b="b" l="l" r="r" t="t"/>
              <a:pathLst>
                <a:path extrusionOk="0" h="48" w="30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3" name="Google Shape;4743;p117"/>
            <p:cNvSpPr/>
            <p:nvPr/>
          </p:nvSpPr>
          <p:spPr>
            <a:xfrm>
              <a:off x="2677" y="3130"/>
              <a:ext cx="39" cy="56"/>
            </a:xfrm>
            <a:custGeom>
              <a:rect b="b" l="l" r="r" t="t"/>
              <a:pathLst>
                <a:path extrusionOk="0" h="56" w="39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4" name="Google Shape;4744;p117"/>
            <p:cNvSpPr/>
            <p:nvPr/>
          </p:nvSpPr>
          <p:spPr>
            <a:xfrm>
              <a:off x="2643" y="3108"/>
              <a:ext cx="33" cy="51"/>
            </a:xfrm>
            <a:custGeom>
              <a:rect b="b" l="l" r="r" t="t"/>
              <a:pathLst>
                <a:path extrusionOk="0" h="51" w="33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5" name="Google Shape;4745;p117"/>
            <p:cNvSpPr/>
            <p:nvPr/>
          </p:nvSpPr>
          <p:spPr>
            <a:xfrm>
              <a:off x="2607" y="3084"/>
              <a:ext cx="34" cy="50"/>
            </a:xfrm>
            <a:custGeom>
              <a:rect b="b" l="l" r="r" t="t"/>
              <a:pathLst>
                <a:path extrusionOk="0" h="50" w="34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6" name="Google Shape;4746;p117"/>
            <p:cNvSpPr/>
            <p:nvPr/>
          </p:nvSpPr>
          <p:spPr>
            <a:xfrm>
              <a:off x="2575" y="3126"/>
              <a:ext cx="30" cy="49"/>
            </a:xfrm>
            <a:custGeom>
              <a:rect b="b" l="l" r="r" t="t"/>
              <a:pathLst>
                <a:path extrusionOk="0" h="49" w="30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7" name="Google Shape;4747;p117"/>
            <p:cNvSpPr/>
            <p:nvPr/>
          </p:nvSpPr>
          <p:spPr>
            <a:xfrm>
              <a:off x="2643" y="3176"/>
              <a:ext cx="33" cy="54"/>
            </a:xfrm>
            <a:custGeom>
              <a:rect b="b" l="l" r="r" t="t"/>
              <a:pathLst>
                <a:path extrusionOk="0" h="54" w="33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8" name="Google Shape;4748;p117"/>
            <p:cNvSpPr/>
            <p:nvPr/>
          </p:nvSpPr>
          <p:spPr>
            <a:xfrm>
              <a:off x="2607" y="3150"/>
              <a:ext cx="34" cy="53"/>
            </a:xfrm>
            <a:custGeom>
              <a:rect b="b" l="l" r="r" t="t"/>
              <a:pathLst>
                <a:path extrusionOk="0" h="53" w="34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9" name="Google Shape;4749;p117"/>
            <p:cNvSpPr/>
            <p:nvPr/>
          </p:nvSpPr>
          <p:spPr>
            <a:xfrm>
              <a:off x="2575" y="3191"/>
              <a:ext cx="29" cy="50"/>
            </a:xfrm>
            <a:custGeom>
              <a:rect b="b" l="l" r="r" t="t"/>
              <a:pathLst>
                <a:path extrusionOk="0" h="50" w="29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0" name="Google Shape;4750;p117"/>
            <p:cNvSpPr/>
            <p:nvPr/>
          </p:nvSpPr>
          <p:spPr>
            <a:xfrm>
              <a:off x="2676" y="3271"/>
              <a:ext cx="40" cy="63"/>
            </a:xfrm>
            <a:custGeom>
              <a:rect b="b" l="l" r="r" t="t"/>
              <a:pathLst>
                <a:path extrusionOk="0" h="63" w="40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1" name="Google Shape;4751;p117"/>
            <p:cNvSpPr/>
            <p:nvPr/>
          </p:nvSpPr>
          <p:spPr>
            <a:xfrm>
              <a:off x="2642" y="3244"/>
              <a:ext cx="32" cy="58"/>
            </a:xfrm>
            <a:custGeom>
              <a:rect b="b" l="l" r="r" t="t"/>
              <a:pathLst>
                <a:path extrusionOk="0" h="58" w="32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2" name="Google Shape;4752;p117"/>
            <p:cNvSpPr/>
            <p:nvPr/>
          </p:nvSpPr>
          <p:spPr>
            <a:xfrm>
              <a:off x="2606" y="3215"/>
              <a:ext cx="34" cy="56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3" name="Google Shape;4753;p117"/>
            <p:cNvSpPr/>
            <p:nvPr/>
          </p:nvSpPr>
          <p:spPr>
            <a:xfrm>
              <a:off x="2575" y="3255"/>
              <a:ext cx="29" cy="51"/>
            </a:xfrm>
            <a:custGeom>
              <a:rect b="b" l="l" r="r" t="t"/>
              <a:pathLst>
                <a:path extrusionOk="0" h="51" w="29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4" name="Google Shape;4754;p117"/>
            <p:cNvSpPr/>
            <p:nvPr/>
          </p:nvSpPr>
          <p:spPr>
            <a:xfrm>
              <a:off x="2676" y="3344"/>
              <a:ext cx="40" cy="64"/>
            </a:xfrm>
            <a:custGeom>
              <a:rect b="b" l="l" r="r" t="t"/>
              <a:pathLst>
                <a:path extrusionOk="0" h="64" w="40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5" name="Google Shape;4755;p117"/>
            <p:cNvSpPr/>
            <p:nvPr/>
          </p:nvSpPr>
          <p:spPr>
            <a:xfrm>
              <a:off x="2642" y="3313"/>
              <a:ext cx="32" cy="60"/>
            </a:xfrm>
            <a:custGeom>
              <a:rect b="b" l="l" r="r" t="t"/>
              <a:pathLst>
                <a:path extrusionOk="0" h="60" w="32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6" name="Google Shape;4756;p117"/>
            <p:cNvSpPr/>
            <p:nvPr/>
          </p:nvSpPr>
          <p:spPr>
            <a:xfrm>
              <a:off x="2606" y="3280"/>
              <a:ext cx="34" cy="60"/>
            </a:xfrm>
            <a:custGeom>
              <a:rect b="b" l="l" r="r" t="t"/>
              <a:pathLst>
                <a:path extrusionOk="0" h="60" w="34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7" name="Google Shape;4757;p117"/>
            <p:cNvSpPr/>
            <p:nvPr/>
          </p:nvSpPr>
          <p:spPr>
            <a:xfrm>
              <a:off x="2575" y="3318"/>
              <a:ext cx="29" cy="56"/>
            </a:xfrm>
            <a:custGeom>
              <a:rect b="b" l="l" r="r" t="t"/>
              <a:pathLst>
                <a:path extrusionOk="0" h="56" w="29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8" name="Google Shape;4758;p117"/>
            <p:cNvSpPr/>
            <p:nvPr/>
          </p:nvSpPr>
          <p:spPr>
            <a:xfrm>
              <a:off x="2676" y="3415"/>
              <a:ext cx="40" cy="70"/>
            </a:xfrm>
            <a:custGeom>
              <a:rect b="b" l="l" r="r" t="t"/>
              <a:pathLst>
                <a:path extrusionOk="0" h="70" w="4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9" name="Google Shape;4759;p117"/>
            <p:cNvSpPr/>
            <p:nvPr/>
          </p:nvSpPr>
          <p:spPr>
            <a:xfrm>
              <a:off x="2642" y="3383"/>
              <a:ext cx="32" cy="62"/>
            </a:xfrm>
            <a:custGeom>
              <a:rect b="b" l="l" r="r" t="t"/>
              <a:pathLst>
                <a:path extrusionOk="0" h="62" w="3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0" name="Google Shape;4760;p117"/>
            <p:cNvSpPr/>
            <p:nvPr/>
          </p:nvSpPr>
          <p:spPr>
            <a:xfrm>
              <a:off x="2606" y="3348"/>
              <a:ext cx="34" cy="62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1" name="Google Shape;4761;p117"/>
            <p:cNvSpPr/>
            <p:nvPr/>
          </p:nvSpPr>
          <p:spPr>
            <a:xfrm>
              <a:off x="2677" y="3057"/>
              <a:ext cx="38" cy="54"/>
            </a:xfrm>
            <a:custGeom>
              <a:rect b="b" l="l" r="r" t="t"/>
              <a:pathLst>
                <a:path extrusionOk="0" h="54" w="38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2" name="Google Shape;4762;p117"/>
            <p:cNvSpPr/>
            <p:nvPr/>
          </p:nvSpPr>
          <p:spPr>
            <a:xfrm>
              <a:off x="2704" y="3110"/>
              <a:ext cx="12" cy="38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3" name="Google Shape;4763;p117"/>
            <p:cNvSpPr/>
            <p:nvPr/>
          </p:nvSpPr>
          <p:spPr>
            <a:xfrm>
              <a:off x="2677" y="3201"/>
              <a:ext cx="38" cy="58"/>
            </a:xfrm>
            <a:custGeom>
              <a:rect b="b" l="l" r="r" t="t"/>
              <a:pathLst>
                <a:path extrusionOk="0" h="58" w="3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4" name="Google Shape;4764;p117"/>
            <p:cNvSpPr/>
            <p:nvPr/>
          </p:nvSpPr>
          <p:spPr>
            <a:xfrm>
              <a:off x="2715" y="3379"/>
              <a:ext cx="18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5" name="Google Shape;4765;p117"/>
            <p:cNvSpPr/>
            <p:nvPr/>
          </p:nvSpPr>
          <p:spPr>
            <a:xfrm>
              <a:off x="2550" y="2912"/>
              <a:ext cx="278" cy="79"/>
            </a:xfrm>
            <a:custGeom>
              <a:rect b="b" l="l" r="r" t="t"/>
              <a:pathLst>
                <a:path extrusionOk="0" h="79" w="278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6" name="Google Shape;4766;p117"/>
            <p:cNvSpPr/>
            <p:nvPr/>
          </p:nvSpPr>
          <p:spPr>
            <a:xfrm>
              <a:off x="2719" y="2985"/>
              <a:ext cx="108" cy="59"/>
            </a:xfrm>
            <a:custGeom>
              <a:rect b="b" l="l" r="r" t="t"/>
              <a:pathLst>
                <a:path extrusionOk="0" h="59" w="108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7" name="Google Shape;4767;p117"/>
            <p:cNvSpPr/>
            <p:nvPr/>
          </p:nvSpPr>
          <p:spPr>
            <a:xfrm>
              <a:off x="2551" y="2912"/>
              <a:ext cx="172" cy="131"/>
            </a:xfrm>
            <a:custGeom>
              <a:rect b="b" l="l" r="r" t="t"/>
              <a:pathLst>
                <a:path extrusionOk="0" h="131" w="172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8" name="Google Shape;4768;p117"/>
          <p:cNvGrpSpPr/>
          <p:nvPr/>
        </p:nvGrpSpPr>
        <p:grpSpPr>
          <a:xfrm>
            <a:off x="5983411" y="4080435"/>
            <a:ext cx="600237" cy="305947"/>
            <a:chOff x="3668110" y="2448910"/>
            <a:chExt cx="3794234" cy="2165130"/>
          </a:xfrm>
        </p:grpSpPr>
        <p:sp>
          <p:nvSpPr>
            <p:cNvPr id="4769" name="Google Shape;4769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0" name="Google Shape;4770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71" name="Google Shape;4771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772" name="Google Shape;4772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3" name="Google Shape;4773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4" name="Google Shape;4774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5" name="Google Shape;4775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0" name="Shape 4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1" name="Google Shape;4781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2" name="Google Shape;4782;p118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Network Security (summary)</a:t>
            </a:r>
            <a:endParaRPr/>
          </a:p>
        </p:txBody>
      </p:sp>
      <p:sp>
        <p:nvSpPr>
          <p:cNvPr id="4783" name="Google Shape;4783;p118"/>
          <p:cNvSpPr txBox="1"/>
          <p:nvPr/>
        </p:nvSpPr>
        <p:spPr>
          <a:xfrm>
            <a:off x="845635" y="1377872"/>
            <a:ext cx="8148638" cy="50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basic techniques…...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cryptography (symmetric and public key)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end-point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…. used in many different security scenarios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email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transport (TLS)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sec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802.11, 4G/5G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A train crossing a bridge over a body of water&#10;&#10;Description automatically generated" id="4784" name="Google Shape;4784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2372" y="57010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