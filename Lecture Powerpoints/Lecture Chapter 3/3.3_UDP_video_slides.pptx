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Tahoma"/>
      <p:regular r:id="rId22"/>
      <p:bold r:id="rId23"/>
    </p:embeddedFont>
    <p:embeddedFont>
      <p:font typeface="Gill Sans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480">
          <p15:clr>
            <a:srgbClr val="A4A3A4"/>
          </p15:clr>
        </p15:guide>
        <p15:guide id="2" pos="2208">
          <p15:clr>
            <a:srgbClr val="A4A3A4"/>
          </p15:clr>
        </p15:guide>
        <p15:guide id="3" orient="horz" pos="1680">
          <p15:clr>
            <a:srgbClr val="A4A3A4"/>
          </p15:clr>
        </p15:guide>
        <p15:guide id="4" pos="7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480" orient="horz"/>
        <p:guide pos="2208"/>
        <p:guide pos="1680" orient="horz"/>
        <p:guide pos="7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Tahoma-regular.fntdata"/><Relationship Id="rId21" Type="http://schemas.openxmlformats.org/officeDocument/2006/relationships/slide" Target="slides/slide16.xml"/><Relationship Id="rId24" Type="http://schemas.openxmlformats.org/officeDocument/2006/relationships/font" Target="fonts/GillSans-regular.fntdata"/><Relationship Id="rId23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read this RFC – it’s only 2.5 pages!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3" name="Google Shape;51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Introduction: 1-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8.jpg"/><Relationship Id="rId5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36" name="Google Shape;36;p6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37" name="Google Shape;3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38;p6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39" name="Google Shape;39;p6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40" name="Google Shape;40;p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" name="Google Shape;41;p6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User Datagram Protocol</a:t>
            </a:r>
            <a:endParaRPr/>
          </a:p>
        </p:txBody>
      </p:sp>
      <p:sp>
        <p:nvSpPr>
          <p:cNvPr id="48" name="Google Shape;48;p7"/>
          <p:cNvSpPr txBox="1"/>
          <p:nvPr/>
        </p:nvSpPr>
        <p:spPr>
          <a:xfrm>
            <a:off x="618385" y="1528553"/>
            <a:ext cx="5550595" cy="29275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30200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“no frills,” “bare bones” Internet transport protocol</a:t>
            </a:r>
            <a:endParaRPr/>
          </a:p>
          <a:p>
            <a:pPr indent="-330200" lvl="0" marL="4603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“best effort” service, UDP segments may be:</a:t>
            </a:r>
            <a:endParaRPr/>
          </a:p>
          <a:p>
            <a:pPr indent="-231775" lvl="1" marL="808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lost</a:t>
            </a:r>
            <a:endParaRPr/>
          </a:p>
          <a:p>
            <a:pPr indent="-231775" lvl="1" marL="80803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delivered out-of-order to app</a:t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6568225" y="1335368"/>
            <a:ext cx="5029004" cy="5014363"/>
            <a:chOff x="4979987" y="2821302"/>
            <a:chExt cx="6630121" cy="3829830"/>
          </a:xfrm>
        </p:grpSpPr>
        <p:sp>
          <p:nvSpPr>
            <p:cNvPr id="50" name="Google Shape;50;p7"/>
            <p:cNvSpPr txBox="1"/>
            <p:nvPr/>
          </p:nvSpPr>
          <p:spPr>
            <a:xfrm>
              <a:off x="5218112" y="3235273"/>
              <a:ext cx="6059488" cy="3044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84163" lvl="0" marL="284163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 connection establishment (which can add RTT delay)</a:t>
              </a:r>
              <a:endParaRPr/>
            </a:p>
            <a:p>
              <a:pPr indent="-284163" lvl="0" marL="284163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simple: no connection state at sender, receiver</a:t>
              </a:r>
              <a:endParaRPr/>
            </a:p>
            <a:p>
              <a:pPr indent="-284163" lvl="0" marL="284163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small header size</a:t>
              </a:r>
              <a:endParaRPr/>
            </a:p>
            <a:p>
              <a:pPr indent="-284163" lvl="0" marL="284163" marR="0" rtl="0" algn="l">
                <a:lnSpc>
                  <a:spcPct val="85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no congestion control</a:t>
              </a:r>
              <a:endPara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84163" lvl="1" marL="68738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 can blast away as fast as desired!</a:t>
              </a:r>
              <a:endParaRPr/>
            </a:p>
            <a:p>
              <a:pPr indent="-284163" lvl="1" marL="68738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Noto Sans Symbols"/>
                <a:buChar char="▪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can function in the face of congestion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4979987" y="2988017"/>
              <a:ext cx="6630121" cy="3663115"/>
            </a:xfrm>
            <a:prstGeom prst="rect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7"/>
            <p:cNvSpPr txBox="1"/>
            <p:nvPr/>
          </p:nvSpPr>
          <p:spPr>
            <a:xfrm>
              <a:off x="5124449" y="2821302"/>
              <a:ext cx="5102112" cy="37890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80"/>
                <a:buFont typeface="Noto Sans Symbols"/>
                <a:buNone/>
              </a:pPr>
              <a:r>
                <a:rPr b="0" i="0" lang="en-US" sz="32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Why is there a UDP?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" name="Google Shape;53;p7"/>
          <p:cNvSpPr txBox="1"/>
          <p:nvPr/>
        </p:nvSpPr>
        <p:spPr>
          <a:xfrm>
            <a:off x="641997" y="4404835"/>
            <a:ext cx="5550595" cy="20603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33375" lvl="0" marL="4603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connectionless:</a:t>
            </a:r>
            <a:endParaRPr b="0" i="0" sz="36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handshaking between UDP sender, receiver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each UDP segment handled independently of others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User Datagram Protocol</a:t>
            </a:r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798690" y="1543058"/>
            <a:ext cx="11100625" cy="4888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92100" lvl="0" marL="2921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use: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streaming multimedia apps (loss tolerant, rate sensitive)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SNMP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HTTP/3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292100" marR="0" rtl="0" algn="l">
              <a:lnSpc>
                <a:spcPct val="85000"/>
              </a:lnSpc>
              <a:spcBef>
                <a:spcPts val="64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reliable transfer needed over UDP (e.g., HTTP/3): 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 needed reliability at application layer</a:t>
            </a:r>
            <a:endParaRPr/>
          </a:p>
          <a:p>
            <a:pPr indent="-231775" lvl="1" marL="688975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 congestion control at application layer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User Datagram Protocol </a:t>
            </a:r>
            <a:r>
              <a:rPr lang="en-US" sz="3600"/>
              <a:t>[RFC 768]</a:t>
            </a:r>
            <a:endParaRPr sz="4400"/>
          </a:p>
        </p:txBody>
      </p:sp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243" y="1232551"/>
            <a:ext cx="6509995" cy="5467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74" name="Google Shape;74;p10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75" name="Google Shape;75;p1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6" name="Google Shape;76;p10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7" name="Google Shape;77;p1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8" name="Google Shape;78;p1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79" name="Google Shape;79;p10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0" name="Google Shape;80;p10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81" name="Google Shape;81;p10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2" name="Google Shape;82;p10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3" name="Google Shape;83;p10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4" name="Google Shape;84;p10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85" name="Google Shape;85;p10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86" name="Google Shape;86;p10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87" name="Google Shape;87;p10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88" name="Google Shape;88;p10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89" name="Google Shape;89;p10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90" name="Google Shape;90;p10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1" name="Google Shape;91;p10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2" name="Google Shape;92;p1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93" name="Google Shape;93;p10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94" name="Google Shape;94;p10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95" name="Google Shape;95;p10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96" name="Google Shape;96;p10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7" name="Google Shape;97;p1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8" name="Google Shape;98;p1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99" name="Google Shape;99;p10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0" name="Google Shape;100;p1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1" name="Google Shape;101;p10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3" name="Google Shape;103;p10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4" name="Google Shape;104;p10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0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6" name="Google Shape;106;p10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107" name="Google Shape;107;p10"/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server</a:t>
            </a:r>
            <a:endParaRPr/>
          </a:p>
        </p:txBody>
      </p:sp>
      <p:sp>
        <p:nvSpPr>
          <p:cNvPr id="108" name="Google Shape;108;p10"/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client</a:t>
            </a:r>
            <a:endParaRPr/>
          </a:p>
        </p:txBody>
      </p:sp>
      <p:grpSp>
        <p:nvGrpSpPr>
          <p:cNvPr id="109" name="Google Shape;109;p10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110" name="Google Shape;110;p10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1" name="Google Shape;111;p10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2" name="Google Shape;112;p10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3" name="Google Shape;113;p10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lang="en-US" sz="20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14" name="Google Shape;114;p10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5" name="Google Shape;115;p10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16" name="Google Shape;116;p10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17" name="Google Shape;117;p10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118" name="Google Shape;118;p10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9" name="Google Shape;119;p10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0" name="Google Shape;120;p10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sp>
        <p:nvSpPr>
          <p:cNvPr id="121" name="Google Shape;121;p10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Transport Layer Actions</a:t>
            </a:r>
            <a:endParaRPr/>
          </a:p>
        </p:txBody>
      </p:sp>
      <p:cxnSp>
        <p:nvCxnSpPr>
          <p:cNvPr id="122" name="Google Shape;122;p10"/>
          <p:cNvCxnSpPr>
            <a:stCxn id="115" idx="2"/>
          </p:cNvCxnSpPr>
          <p:nvPr/>
        </p:nvCxnSpPr>
        <p:spPr>
          <a:xfrm flipH="1">
            <a:off x="7971935" y="4973372"/>
            <a:ext cx="1473600" cy="4743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23" name="Google Shape;123;p10"/>
          <p:cNvCxnSpPr/>
          <p:nvPr/>
        </p:nvCxnSpPr>
        <p:spPr>
          <a:xfrm>
            <a:off x="2578811" y="5062556"/>
            <a:ext cx="1582832" cy="30261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0"/>
          <p:cNvSpPr/>
          <p:nvPr/>
        </p:nvSpPr>
        <p:spPr>
          <a:xfrm>
            <a:off x="4062521" y="4965666"/>
            <a:ext cx="4036903" cy="1028731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0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26" name="Google Shape;126;p10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127" name="Google Shape;127;p10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8" name="Google Shape;128;p10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9" name="Google Shape;129;p10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" name="Google Shape;130;p10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lang="en-US" sz="2000" u="non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31" name="Google Shape;131;p10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2" name="Google Shape;132;p10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133" name="Google Shape;133;p10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134" name="Google Shape;134;p10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135" name="Google Shape;135;p10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6" name="Google Shape;136;p10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7" name="Google Shape;137;p10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138" name="Google Shape;138;p10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139" name="Google Shape;139;p1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140" name="Google Shape;140;p1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141" name="Google Shape;141;p1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42" name="Google Shape;142;p1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1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1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6" name="Google Shape;146;p10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147" name="Google Shape;147;p10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8" name="Google Shape;148;p10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9" name="Google Shape;149;p10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0" name="Google Shape;150;p10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151" name="Google Shape;151;p10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152" name="Google Shape;152;p10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3" name="Google Shape;153;p10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4" name="Google Shape;154;p10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11"/>
          <p:cNvGrpSpPr/>
          <p:nvPr/>
        </p:nvGrpSpPr>
        <p:grpSpPr>
          <a:xfrm>
            <a:off x="2578811" y="4965666"/>
            <a:ext cx="6866725" cy="1028731"/>
            <a:chOff x="2578811" y="4965666"/>
            <a:chExt cx="6866725" cy="1028731"/>
          </a:xfrm>
        </p:grpSpPr>
        <p:cxnSp>
          <p:nvCxnSpPr>
            <p:cNvPr id="162" name="Google Shape;162;p11"/>
            <p:cNvCxnSpPr/>
            <p:nvPr/>
          </p:nvCxnSpPr>
          <p:spPr>
            <a:xfrm>
              <a:off x="2578811" y="5062556"/>
              <a:ext cx="1582832" cy="302617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63" name="Google Shape;163;p11"/>
            <p:cNvGrpSpPr/>
            <p:nvPr/>
          </p:nvGrpSpPr>
          <p:grpSpPr>
            <a:xfrm>
              <a:off x="4062521" y="4965666"/>
              <a:ext cx="5383015" cy="1028731"/>
              <a:chOff x="4062521" y="4965666"/>
              <a:chExt cx="5383015" cy="1028731"/>
            </a:xfrm>
          </p:grpSpPr>
          <p:cxnSp>
            <p:nvCxnSpPr>
              <p:cNvPr id="164" name="Google Shape;164;p11"/>
              <p:cNvCxnSpPr/>
              <p:nvPr/>
            </p:nvCxnSpPr>
            <p:spPr>
              <a:xfrm flipH="1">
                <a:off x="7972023" y="4973372"/>
                <a:ext cx="1473513" cy="474391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sp>
            <p:nvSpPr>
              <p:cNvPr id="165" name="Google Shape;165;p11"/>
              <p:cNvSpPr/>
              <p:nvPr/>
            </p:nvSpPr>
            <p:spPr>
              <a:xfrm>
                <a:off x="4062521" y="4965666"/>
                <a:ext cx="4036903" cy="1028731"/>
              </a:xfrm>
              <a:custGeom>
                <a:rect b="b" l="l" r="r" t="t"/>
                <a:pathLst>
                  <a:path extrusionOk="0" h="917" w="1877">
                    <a:moveTo>
                      <a:pt x="889" y="23"/>
                    </a:moveTo>
                    <a:cubicBezTo>
                      <a:pt x="804" y="39"/>
                      <a:pt x="771" y="98"/>
                      <a:pt x="692" y="109"/>
                    </a:cubicBezTo>
                    <a:cubicBezTo>
                      <a:pt x="613" y="120"/>
                      <a:pt x="511" y="81"/>
                      <a:pt x="415" y="91"/>
                    </a:cubicBezTo>
                    <a:cubicBezTo>
                      <a:pt x="319" y="101"/>
                      <a:pt x="174" y="126"/>
                      <a:pt x="112" y="170"/>
                    </a:cubicBezTo>
                    <a:cubicBezTo>
                      <a:pt x="51" y="214"/>
                      <a:pt x="66" y="294"/>
                      <a:pt x="50" y="353"/>
                    </a:cubicBezTo>
                    <a:cubicBezTo>
                      <a:pt x="34" y="412"/>
                      <a:pt x="0" y="479"/>
                      <a:pt x="14" y="528"/>
                    </a:cubicBezTo>
                    <a:cubicBezTo>
                      <a:pt x="29" y="577"/>
                      <a:pt x="57" y="608"/>
                      <a:pt x="139" y="650"/>
                    </a:cubicBezTo>
                    <a:cubicBezTo>
                      <a:pt x="221" y="692"/>
                      <a:pt x="372" y="742"/>
                      <a:pt x="505" y="781"/>
                    </a:cubicBezTo>
                    <a:cubicBezTo>
                      <a:pt x="638" y="820"/>
                      <a:pt x="789" y="866"/>
                      <a:pt x="933" y="886"/>
                    </a:cubicBezTo>
                    <a:cubicBezTo>
                      <a:pt x="1077" y="906"/>
                      <a:pt x="1246" y="917"/>
                      <a:pt x="1370" y="901"/>
                    </a:cubicBezTo>
                    <a:cubicBezTo>
                      <a:pt x="1494" y="885"/>
                      <a:pt x="1594" y="839"/>
                      <a:pt x="1676" y="793"/>
                    </a:cubicBezTo>
                    <a:cubicBezTo>
                      <a:pt x="1758" y="747"/>
                      <a:pt x="1843" y="720"/>
                      <a:pt x="1860" y="624"/>
                    </a:cubicBezTo>
                    <a:cubicBezTo>
                      <a:pt x="1877" y="528"/>
                      <a:pt x="1835" y="306"/>
                      <a:pt x="1776" y="219"/>
                    </a:cubicBezTo>
                    <a:cubicBezTo>
                      <a:pt x="1717" y="132"/>
                      <a:pt x="1599" y="134"/>
                      <a:pt x="1503" y="100"/>
                    </a:cubicBezTo>
                    <a:cubicBezTo>
                      <a:pt x="1407" y="66"/>
                      <a:pt x="1302" y="26"/>
                      <a:pt x="1200" y="13"/>
                    </a:cubicBezTo>
                    <a:cubicBezTo>
                      <a:pt x="1098" y="0"/>
                      <a:pt x="974" y="7"/>
                      <a:pt x="889" y="23"/>
                    </a:cubicBezTo>
                    <a:close/>
                  </a:path>
                </a:pathLst>
              </a:custGeom>
              <a:solidFill>
                <a:srgbClr val="9CDFF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</a:t>
                </a:r>
                <a:endParaRPr/>
              </a:p>
            </p:txBody>
          </p:sp>
        </p:grpSp>
      </p:grpSp>
      <p:sp>
        <p:nvSpPr>
          <p:cNvPr id="166" name="Google Shape;166;p11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68" name="Google Shape;168;p11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169" name="Google Shape;169;p1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1" name="Google Shape;171;p1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2" name="Google Shape;172;p1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3" name="Google Shape;173;p11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4" name="Google Shape;174;p11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175" name="Google Shape;175;p11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77" name="Google Shape;177;p11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78" name="Google Shape;178;p11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179" name="Google Shape;179;p11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81" name="Google Shape;181;p11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3" name="Google Shape;183;p11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184" name="Google Shape;184;p11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5" name="Google Shape;185;p11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86" name="Google Shape;186;p1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187" name="Google Shape;187;p11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188" name="Google Shape;188;p11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89" name="Google Shape;189;p11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90" name="Google Shape;190;p11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5" name="Google Shape;195;p11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7" name="Google Shape;197;p11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11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1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0" name="Google Shape;200;p11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01" name="Google Shape;201;p11"/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server</a:t>
            </a:r>
            <a:endParaRPr/>
          </a:p>
        </p:txBody>
      </p:sp>
      <p:sp>
        <p:nvSpPr>
          <p:cNvPr id="202" name="Google Shape;202;p11"/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client</a:t>
            </a:r>
            <a:endParaRPr/>
          </a:p>
        </p:txBody>
      </p:sp>
      <p:grpSp>
        <p:nvGrpSpPr>
          <p:cNvPr id="203" name="Google Shape;203;p11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204" name="Google Shape;204;p11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11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6" name="Google Shape;206;p11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7" name="Google Shape;207;p11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08" name="Google Shape;208;p11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" name="Google Shape;209;p11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10" name="Google Shape;210;p11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11" name="Google Shape;211;p11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212" name="Google Shape;212;p11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3" name="Google Shape;213;p11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4" name="Google Shape;214;p11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215" name="Google Shape;215;p11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216" name="Google Shape;216;p11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7" name="Google Shape;217;p11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8" name="Google Shape;218;p11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" name="Google Shape;219;p11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0" name="Google Shape;220;p11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" name="Google Shape;221;p11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223" name="Google Shape;223;p11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224" name="Google Shape;224;p11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25" name="Google Shape;225;p11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6" name="Google Shape;226;p11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227" name="Google Shape;227;p11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228" name="Google Shape;228;p1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30" name="Google Shape;230;p1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" name="Google Shape;234;p1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5" name="Google Shape;235;p11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Transport Layer Actions</a:t>
            </a:r>
            <a:endParaRPr/>
          </a:p>
        </p:txBody>
      </p:sp>
      <p:grpSp>
        <p:nvGrpSpPr>
          <p:cNvPr id="236" name="Google Shape;236;p11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237" name="Google Shape;237;p11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8" name="Google Shape;238;p11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9" name="Google Shape;239;p11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41" name="Google Shape;241;p11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242" name="Google Shape;242;p11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46" name="Google Shape;246;p11"/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sender actions:</a:t>
            </a:r>
            <a:endParaRPr/>
          </a:p>
          <a:p>
            <a:pPr indent="-92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8502120" y="2078245"/>
            <a:ext cx="1986815" cy="2938360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8" name="Google Shape;248;p11"/>
          <p:cNvGrpSpPr/>
          <p:nvPr/>
        </p:nvGrpSpPr>
        <p:grpSpPr>
          <a:xfrm>
            <a:off x="9130164" y="2303106"/>
            <a:ext cx="1259074" cy="369332"/>
            <a:chOff x="8934916" y="2775692"/>
            <a:chExt cx="1259074" cy="369332"/>
          </a:xfrm>
        </p:grpSpPr>
        <p:sp>
          <p:nvSpPr>
            <p:cNvPr id="249" name="Google Shape;249;p11"/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1"/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 msg</a:t>
              </a:r>
              <a:endParaRPr/>
            </a:p>
          </p:txBody>
        </p:sp>
      </p:grpSp>
      <p:sp>
        <p:nvSpPr>
          <p:cNvPr id="251" name="Google Shape;251;p11"/>
          <p:cNvSpPr txBox="1"/>
          <p:nvPr/>
        </p:nvSpPr>
        <p:spPr>
          <a:xfrm>
            <a:off x="4391544" y="2325099"/>
            <a:ext cx="3825456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passed an application-layer message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4388186" y="2990916"/>
            <a:ext cx="3825456" cy="1036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determines UDP segment header fields values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4376692" y="35928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UDP segment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4381369" y="4025163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passes segment to IP</a:t>
            </a:r>
            <a:endParaRPr/>
          </a:p>
        </p:txBody>
      </p:sp>
      <p:sp>
        <p:nvSpPr>
          <p:cNvPr id="255" name="Google Shape;255;p11"/>
          <p:cNvSpPr/>
          <p:nvPr/>
        </p:nvSpPr>
        <p:spPr>
          <a:xfrm>
            <a:off x="169333" y="1343378"/>
            <a:ext cx="3723445" cy="4402666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6" name="Google Shape;256;p11"/>
          <p:cNvGrpSpPr/>
          <p:nvPr/>
        </p:nvGrpSpPr>
        <p:grpSpPr>
          <a:xfrm>
            <a:off x="8473556" y="2992506"/>
            <a:ext cx="1259074" cy="338554"/>
            <a:chOff x="8964789" y="2639236"/>
            <a:chExt cx="1259074" cy="338554"/>
          </a:xfrm>
        </p:grpSpPr>
        <p:sp>
          <p:nvSpPr>
            <p:cNvPr id="257" name="Google Shape;257;p11"/>
            <p:cNvSpPr/>
            <p:nvPr/>
          </p:nvSpPr>
          <p:spPr>
            <a:xfrm>
              <a:off x="9032744" y="2707400"/>
              <a:ext cx="543189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8964789" y="2639236"/>
              <a:ext cx="1259074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</a:t>
              </a:r>
              <a:endParaRPr baseline="-25000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1"/>
          <p:cNvGrpSpPr/>
          <p:nvPr/>
        </p:nvGrpSpPr>
        <p:grpSpPr>
          <a:xfrm>
            <a:off x="8545052" y="3003638"/>
            <a:ext cx="1818022" cy="369332"/>
            <a:chOff x="7863122" y="5632673"/>
            <a:chExt cx="1818022" cy="369332"/>
          </a:xfrm>
        </p:grpSpPr>
        <p:grpSp>
          <p:nvGrpSpPr>
            <p:cNvPr id="260" name="Google Shape;260;p11"/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261" name="Google Shape;261;p11"/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1"/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aseline="-25000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264" name="Google Shape;264;p11"/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1"/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SNMP msg</a:t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"/>
          <p:cNvSpPr/>
          <p:nvPr/>
        </p:nvSpPr>
        <p:spPr>
          <a:xfrm>
            <a:off x="10295012" y="2167472"/>
            <a:ext cx="890436" cy="2912558"/>
          </a:xfrm>
          <a:custGeom>
            <a:rect b="b" l="l" r="r" t="t"/>
            <a:pathLst>
              <a:path extrusionOk="0" h="1284" w="366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>
            <a:gsLst>
              <a:gs pos="0">
                <a:srgbClr val="B2B2B2"/>
              </a:gs>
              <a:gs pos="100000">
                <a:srgbClr val="FFFFFF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854349" y="2256655"/>
            <a:ext cx="846644" cy="2922199"/>
          </a:xfrm>
          <a:custGeom>
            <a:rect b="b" l="l" r="r" t="t"/>
            <a:pathLst>
              <a:path extrusionOk="0" h="1312" w="348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2B2B2"/>
              </a:gs>
            </a:gsLst>
            <a:lin ang="0" scaled="0"/>
          </a:gra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273" name="Google Shape;273;p12"/>
          <p:cNvGrpSpPr/>
          <p:nvPr/>
        </p:nvGrpSpPr>
        <p:grpSpPr>
          <a:xfrm>
            <a:off x="10955688" y="4246759"/>
            <a:ext cx="549832" cy="1070215"/>
            <a:chOff x="4140" y="429"/>
            <a:chExt cx="1425" cy="2396"/>
          </a:xfrm>
        </p:grpSpPr>
        <p:sp>
          <p:nvSpPr>
            <p:cNvPr id="274" name="Google Shape;274;p1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5" name="Google Shape;275;p12"/>
            <p:cNvSpPr/>
            <p:nvPr/>
          </p:nvSpPr>
          <p:spPr>
            <a:xfrm>
              <a:off x="4203" y="429"/>
              <a:ext cx="1053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6" name="Google Shape;276;p1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7" name="Google Shape;277;p1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8" name="Google Shape;278;p12"/>
            <p:cNvSpPr/>
            <p:nvPr/>
          </p:nvSpPr>
          <p:spPr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79" name="Google Shape;279;p12"/>
            <p:cNvGrpSpPr/>
            <p:nvPr/>
          </p:nvGrpSpPr>
          <p:grpSpPr>
            <a:xfrm>
              <a:off x="4751" y="667"/>
              <a:ext cx="580" cy="146"/>
              <a:chOff x="617" y="2567"/>
              <a:chExt cx="724" cy="140"/>
            </a:xfrm>
          </p:grpSpPr>
          <p:sp>
            <p:nvSpPr>
              <p:cNvPr id="280" name="Google Shape;280;p12"/>
              <p:cNvSpPr/>
              <p:nvPr/>
            </p:nvSpPr>
            <p:spPr>
              <a:xfrm>
                <a:off x="617" y="2567"/>
                <a:ext cx="724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1" name="Google Shape;281;p12"/>
              <p:cNvSpPr/>
              <p:nvPr/>
            </p:nvSpPr>
            <p:spPr>
              <a:xfrm>
                <a:off x="633" y="2582"/>
                <a:ext cx="692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82" name="Google Shape;282;p12"/>
            <p:cNvSpPr/>
            <p:nvPr/>
          </p:nvSpPr>
          <p:spPr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83" name="Google Shape;283;p12"/>
            <p:cNvGrpSpPr/>
            <p:nvPr/>
          </p:nvGrpSpPr>
          <p:grpSpPr>
            <a:xfrm>
              <a:off x="4745" y="996"/>
              <a:ext cx="580" cy="156"/>
              <a:chOff x="612" y="2570"/>
              <a:chExt cx="724" cy="162"/>
            </a:xfrm>
          </p:grpSpPr>
          <p:sp>
            <p:nvSpPr>
              <p:cNvPr id="284" name="Google Shape;284;p12"/>
              <p:cNvSpPr/>
              <p:nvPr/>
            </p:nvSpPr>
            <p:spPr>
              <a:xfrm>
                <a:off x="612" y="2570"/>
                <a:ext cx="724" cy="16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5" name="Google Shape;285;p12"/>
              <p:cNvSpPr/>
              <p:nvPr/>
            </p:nvSpPr>
            <p:spPr>
              <a:xfrm>
                <a:off x="628" y="2586"/>
                <a:ext cx="69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86" name="Google Shape;286;p12"/>
            <p:cNvSpPr/>
            <p:nvPr/>
          </p:nvSpPr>
          <p:spPr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7" name="Google Shape;287;p12"/>
            <p:cNvSpPr/>
            <p:nvPr/>
          </p:nvSpPr>
          <p:spPr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88" name="Google Shape;288;p12"/>
            <p:cNvGrpSpPr/>
            <p:nvPr/>
          </p:nvGrpSpPr>
          <p:grpSpPr>
            <a:xfrm>
              <a:off x="4733" y="1627"/>
              <a:ext cx="586" cy="151"/>
              <a:chOff x="611" y="2568"/>
              <a:chExt cx="730" cy="139"/>
            </a:xfrm>
          </p:grpSpPr>
          <p:sp>
            <p:nvSpPr>
              <p:cNvPr id="289" name="Google Shape;289;p12"/>
              <p:cNvSpPr/>
              <p:nvPr/>
            </p:nvSpPr>
            <p:spPr>
              <a:xfrm>
                <a:off x="611" y="2568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0" name="Google Shape;290;p12"/>
              <p:cNvSpPr/>
              <p:nvPr/>
            </p:nvSpPr>
            <p:spPr>
              <a:xfrm>
                <a:off x="627" y="2583"/>
                <a:ext cx="699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91" name="Google Shape;291;p1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92" name="Google Shape;292;p12"/>
            <p:cNvGrpSpPr/>
            <p:nvPr/>
          </p:nvGrpSpPr>
          <p:grpSpPr>
            <a:xfrm>
              <a:off x="4739" y="1325"/>
              <a:ext cx="580" cy="140"/>
              <a:chOff x="614" y="2566"/>
              <a:chExt cx="723" cy="140"/>
            </a:xfrm>
          </p:grpSpPr>
          <p:sp>
            <p:nvSpPr>
              <p:cNvPr id="293" name="Google Shape;293;p12"/>
              <p:cNvSpPr/>
              <p:nvPr/>
            </p:nvSpPr>
            <p:spPr>
              <a:xfrm>
                <a:off x="614" y="2566"/>
                <a:ext cx="723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4" name="Google Shape;294;p12"/>
              <p:cNvSpPr/>
              <p:nvPr/>
            </p:nvSpPr>
            <p:spPr>
              <a:xfrm>
                <a:off x="630" y="2582"/>
                <a:ext cx="691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Calibri"/>
                  <a:buNone/>
                </a:pPr>
                <a:r>
                  <a:t/>
                </a:r>
                <a:endParaRPr b="0" i="0" sz="24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295" name="Google Shape;295;p12"/>
            <p:cNvSpPr/>
            <p:nvPr/>
          </p:nvSpPr>
          <p:spPr>
            <a:xfrm>
              <a:off x="5250" y="429"/>
              <a:ext cx="69" cy="2288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6" name="Google Shape;296;p1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7" name="Google Shape;297;p1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8" name="Google Shape;298;p12"/>
            <p:cNvSpPr/>
            <p:nvPr/>
          </p:nvSpPr>
          <p:spPr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99" name="Google Shape;299;p1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0" name="Google Shape;300;p12"/>
            <p:cNvSpPr/>
            <p:nvPr/>
          </p:nvSpPr>
          <p:spPr>
            <a:xfrm>
              <a:off x="4140" y="2679"/>
              <a:ext cx="1198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1" name="Google Shape;301;p12"/>
            <p:cNvSpPr/>
            <p:nvPr/>
          </p:nvSpPr>
          <p:spPr>
            <a:xfrm>
              <a:off x="4203" y="2712"/>
              <a:ext cx="1072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2" name="Google Shape;302;p12"/>
            <p:cNvSpPr/>
            <p:nvPr/>
          </p:nvSpPr>
          <p:spPr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3" name="Google Shape;303;p12"/>
            <p:cNvSpPr/>
            <p:nvPr/>
          </p:nvSpPr>
          <p:spPr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Calibri"/>
                <a:buNone/>
              </a:pPr>
              <a:r>
                <a:t/>
              </a:r>
              <a:endParaRPr b="0" i="0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2"/>
            <p:cNvSpPr/>
            <p:nvPr/>
          </p:nvSpPr>
          <p:spPr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05" name="Google Shape;305;p12"/>
            <p:cNvSpPr/>
            <p:nvPr/>
          </p:nvSpPr>
          <p:spPr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06" name="Google Shape;306;p12"/>
          <p:cNvSpPr txBox="1"/>
          <p:nvPr/>
        </p:nvSpPr>
        <p:spPr>
          <a:xfrm>
            <a:off x="8481037" y="1538123"/>
            <a:ext cx="20664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server</a:t>
            </a:r>
            <a:endParaRPr/>
          </a:p>
        </p:txBody>
      </p:sp>
      <p:sp>
        <p:nvSpPr>
          <p:cNvPr id="307" name="Google Shape;307;p12"/>
          <p:cNvSpPr txBox="1"/>
          <p:nvPr/>
        </p:nvSpPr>
        <p:spPr>
          <a:xfrm>
            <a:off x="1935319" y="1662731"/>
            <a:ext cx="19574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SNMP client</a:t>
            </a:r>
            <a:endParaRPr/>
          </a:p>
        </p:txBody>
      </p:sp>
      <p:grpSp>
        <p:nvGrpSpPr>
          <p:cNvPr id="308" name="Google Shape;308;p12"/>
          <p:cNvGrpSpPr/>
          <p:nvPr/>
        </p:nvGrpSpPr>
        <p:grpSpPr>
          <a:xfrm>
            <a:off x="8510352" y="2078288"/>
            <a:ext cx="1946338" cy="2912558"/>
            <a:chOff x="8091785" y="2078288"/>
            <a:chExt cx="2364905" cy="2912558"/>
          </a:xfrm>
        </p:grpSpPr>
        <p:sp>
          <p:nvSpPr>
            <p:cNvPr id="309" name="Google Shape;309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0" name="Google Shape;310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11" name="Google Shape;311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2" name="Google Shape;312;p12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13" name="Google Shape;313;p12"/>
            <p:cNvCxnSpPr/>
            <p:nvPr/>
          </p:nvCxnSpPr>
          <p:spPr>
            <a:xfrm>
              <a:off x="8108201" y="3602458"/>
              <a:ext cx="223338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4" name="Google Shape;314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315" name="Google Shape;315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316" name="Google Shape;316;p12"/>
            <p:cNvSpPr txBox="1"/>
            <p:nvPr/>
          </p:nvSpPr>
          <p:spPr>
            <a:xfrm>
              <a:off x="8218436" y="3646079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317" name="Google Shape;317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18" name="Google Shape;318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9" name="Google Shape;319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320" name="Google Shape;320;p12"/>
          <p:cNvGrpSpPr/>
          <p:nvPr/>
        </p:nvGrpSpPr>
        <p:grpSpPr>
          <a:xfrm>
            <a:off x="1687770" y="2167472"/>
            <a:ext cx="2131701" cy="2912558"/>
            <a:chOff x="8091785" y="2078288"/>
            <a:chExt cx="2364905" cy="2912558"/>
          </a:xfrm>
        </p:grpSpPr>
        <p:sp>
          <p:nvSpPr>
            <p:cNvPr id="321" name="Google Shape;321;p12"/>
            <p:cNvSpPr/>
            <p:nvPr/>
          </p:nvSpPr>
          <p:spPr>
            <a:xfrm>
              <a:off x="8179440" y="2078288"/>
              <a:ext cx="2277250" cy="2799267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2" name="Google Shape;322;p12"/>
            <p:cNvSpPr/>
            <p:nvPr/>
          </p:nvSpPr>
          <p:spPr>
            <a:xfrm>
              <a:off x="8091785" y="2167472"/>
              <a:ext cx="2254867" cy="2823374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Tahoma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3" name="Google Shape;323;p12"/>
            <p:cNvCxnSpPr/>
            <p:nvPr/>
          </p:nvCxnSpPr>
          <p:spPr>
            <a:xfrm>
              <a:off x="8108956" y="2749010"/>
              <a:ext cx="2238254" cy="482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4" name="Google Shape;324;p12"/>
            <p:cNvSpPr txBox="1"/>
            <p:nvPr/>
          </p:nvSpPr>
          <p:spPr>
            <a:xfrm>
              <a:off x="8376445" y="2832513"/>
              <a:ext cx="1703276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transport</a:t>
              </a:r>
              <a:endParaRPr/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lang="en-US" sz="2000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(UDP)</a:t>
              </a:r>
              <a:endParaRPr b="0" i="0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25" name="Google Shape;325;p12"/>
            <p:cNvCxnSpPr/>
            <p:nvPr/>
          </p:nvCxnSpPr>
          <p:spPr>
            <a:xfrm>
              <a:off x="8121121" y="3602458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6" name="Google Shape;326;p12"/>
            <p:cNvSpPr txBox="1"/>
            <p:nvPr/>
          </p:nvSpPr>
          <p:spPr>
            <a:xfrm>
              <a:off x="8218436" y="4533100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physical</a:t>
              </a:r>
              <a:endParaRPr/>
            </a:p>
          </p:txBody>
        </p:sp>
        <p:sp>
          <p:nvSpPr>
            <p:cNvPr id="327" name="Google Shape;327;p12"/>
            <p:cNvSpPr txBox="1"/>
            <p:nvPr/>
          </p:nvSpPr>
          <p:spPr>
            <a:xfrm>
              <a:off x="8218436" y="4088345"/>
              <a:ext cx="2019294" cy="4402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link</a:t>
              </a:r>
              <a:endParaRPr/>
            </a:p>
          </p:txBody>
        </p:sp>
        <p:sp>
          <p:nvSpPr>
            <p:cNvPr id="328" name="Google Shape;328;p12"/>
            <p:cNvSpPr txBox="1"/>
            <p:nvPr/>
          </p:nvSpPr>
          <p:spPr>
            <a:xfrm>
              <a:off x="8218436" y="3646079"/>
              <a:ext cx="2019294" cy="737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network (IP)</a:t>
              </a:r>
              <a:endParaRPr/>
            </a:p>
          </p:txBody>
        </p:sp>
        <p:cxnSp>
          <p:nvCxnSpPr>
            <p:cNvPr id="329" name="Google Shape;329;p12"/>
            <p:cNvCxnSpPr/>
            <p:nvPr/>
          </p:nvCxnSpPr>
          <p:spPr>
            <a:xfrm>
              <a:off x="8116255" y="4074895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30" name="Google Shape;330;p12"/>
            <p:cNvCxnSpPr/>
            <p:nvPr/>
          </p:nvCxnSpPr>
          <p:spPr>
            <a:xfrm>
              <a:off x="8111389" y="4528049"/>
              <a:ext cx="223338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1" name="Google Shape;331;p12"/>
            <p:cNvSpPr txBox="1"/>
            <p:nvPr/>
          </p:nvSpPr>
          <p:spPr>
            <a:xfrm>
              <a:off x="8179440" y="2284368"/>
              <a:ext cx="2019294" cy="3988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rPr>
                <a:t>application</a:t>
              </a:r>
              <a:endParaRPr/>
            </a:p>
          </p:txBody>
        </p:sp>
      </p:grpSp>
      <p:grpSp>
        <p:nvGrpSpPr>
          <p:cNvPr id="332" name="Google Shape;332;p12"/>
          <p:cNvGrpSpPr/>
          <p:nvPr/>
        </p:nvGrpSpPr>
        <p:grpSpPr>
          <a:xfrm>
            <a:off x="500734" y="4943580"/>
            <a:ext cx="1026523" cy="597153"/>
            <a:chOff x="7493876" y="2774731"/>
            <a:chExt cx="1481958" cy="894622"/>
          </a:xfrm>
        </p:grpSpPr>
        <p:sp>
          <p:nvSpPr>
            <p:cNvPr id="333" name="Google Shape;333;p12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334" name="Google Shape;334;p12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335" name="Google Shape;335;p12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36" name="Google Shape;336;p12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12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2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2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0" name="Google Shape;340;p1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UDP: Transport Layer Actions</a:t>
            </a:r>
            <a:endParaRPr/>
          </a:p>
        </p:txBody>
      </p:sp>
      <p:grpSp>
        <p:nvGrpSpPr>
          <p:cNvPr id="341" name="Google Shape;341;p12"/>
          <p:cNvGrpSpPr/>
          <p:nvPr/>
        </p:nvGrpSpPr>
        <p:grpSpPr>
          <a:xfrm>
            <a:off x="2462207" y="2756023"/>
            <a:ext cx="412750" cy="158750"/>
            <a:chOff x="1287" y="2524"/>
            <a:chExt cx="260" cy="100"/>
          </a:xfrm>
        </p:grpSpPr>
        <p:sp>
          <p:nvSpPr>
            <p:cNvPr id="342" name="Google Shape;342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3" name="Google Shape;343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4" name="Google Shape;344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5" name="Google Shape;345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46" name="Google Shape;346;p12"/>
          <p:cNvGrpSpPr/>
          <p:nvPr/>
        </p:nvGrpSpPr>
        <p:grpSpPr>
          <a:xfrm>
            <a:off x="9681144" y="2673610"/>
            <a:ext cx="412750" cy="158750"/>
            <a:chOff x="1287" y="2524"/>
            <a:chExt cx="260" cy="100"/>
          </a:xfrm>
        </p:grpSpPr>
        <p:sp>
          <p:nvSpPr>
            <p:cNvPr id="347" name="Google Shape;347;p12"/>
            <p:cNvSpPr/>
            <p:nvPr/>
          </p:nvSpPr>
          <p:spPr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8" name="Google Shape;348;p12"/>
            <p:cNvSpPr/>
            <p:nvPr/>
          </p:nvSpPr>
          <p:spPr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9" name="Google Shape;349;p12"/>
            <p:cNvSpPr/>
            <p:nvPr/>
          </p:nvSpPr>
          <p:spPr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0" name="Google Shape;350;p12"/>
            <p:cNvSpPr/>
            <p:nvPr/>
          </p:nvSpPr>
          <p:spPr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cap="flat" cmpd="sng" w="9525">
              <a:solidFill>
                <a:srgbClr val="CC99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351" name="Google Shape;351;p12"/>
          <p:cNvSpPr txBox="1"/>
          <p:nvPr/>
        </p:nvSpPr>
        <p:spPr>
          <a:xfrm>
            <a:off x="4212477" y="1830701"/>
            <a:ext cx="389834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UDP receiver actions:</a:t>
            </a:r>
            <a:endParaRPr/>
          </a:p>
          <a:p>
            <a:pPr indent="-92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1655121" y="2160335"/>
            <a:ext cx="2199790" cy="2938360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3" name="Google Shape;353;p12"/>
          <p:cNvGrpSpPr/>
          <p:nvPr/>
        </p:nvGrpSpPr>
        <p:grpSpPr>
          <a:xfrm>
            <a:off x="2355694" y="3088859"/>
            <a:ext cx="1259074" cy="369332"/>
            <a:chOff x="8934916" y="2775692"/>
            <a:chExt cx="1259074" cy="369332"/>
          </a:xfrm>
        </p:grpSpPr>
        <p:sp>
          <p:nvSpPr>
            <p:cNvPr id="354" name="Google Shape;354;p12"/>
            <p:cNvSpPr/>
            <p:nvPr/>
          </p:nvSpPr>
          <p:spPr>
            <a:xfrm>
              <a:off x="8964931" y="2842303"/>
              <a:ext cx="1140727" cy="246705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12"/>
            <p:cNvSpPr txBox="1"/>
            <p:nvPr/>
          </p:nvSpPr>
          <p:spPr>
            <a:xfrm>
              <a:off x="8934916" y="2775692"/>
              <a:ext cx="125907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SNMP msg</a:t>
              </a:r>
              <a:endParaRPr/>
            </a:p>
          </p:txBody>
        </p:sp>
      </p:grpSp>
      <p:sp>
        <p:nvSpPr>
          <p:cNvPr id="356" name="Google Shape;356;p12"/>
          <p:cNvSpPr txBox="1"/>
          <p:nvPr/>
        </p:nvSpPr>
        <p:spPr>
          <a:xfrm>
            <a:off x="4380155" y="3324883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extracts application-layer message</a:t>
            </a:r>
            <a:endParaRPr/>
          </a:p>
        </p:txBody>
      </p:sp>
      <p:sp>
        <p:nvSpPr>
          <p:cNvPr id="357" name="Google Shape;357;p12"/>
          <p:cNvSpPr txBox="1"/>
          <p:nvPr/>
        </p:nvSpPr>
        <p:spPr>
          <a:xfrm>
            <a:off x="4378217" y="2693557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checks UDP checksum header value</a:t>
            </a:r>
            <a:endParaRPr/>
          </a:p>
        </p:txBody>
      </p:sp>
      <p:sp>
        <p:nvSpPr>
          <p:cNvPr id="358" name="Google Shape;358;p12"/>
          <p:cNvSpPr txBox="1"/>
          <p:nvPr/>
        </p:nvSpPr>
        <p:spPr>
          <a:xfrm>
            <a:off x="4388103" y="2278130"/>
            <a:ext cx="382545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receives segment from IP</a:t>
            </a:r>
            <a:endParaRPr/>
          </a:p>
        </p:txBody>
      </p:sp>
      <p:grpSp>
        <p:nvGrpSpPr>
          <p:cNvPr id="359" name="Google Shape;359;p12"/>
          <p:cNvGrpSpPr/>
          <p:nvPr/>
        </p:nvGrpSpPr>
        <p:grpSpPr>
          <a:xfrm>
            <a:off x="1795827" y="3762839"/>
            <a:ext cx="1818022" cy="369332"/>
            <a:chOff x="7863122" y="5632673"/>
            <a:chExt cx="1818022" cy="369332"/>
          </a:xfrm>
        </p:grpSpPr>
        <p:grpSp>
          <p:nvGrpSpPr>
            <p:cNvPr id="360" name="Google Shape;360;p12"/>
            <p:cNvGrpSpPr/>
            <p:nvPr/>
          </p:nvGrpSpPr>
          <p:grpSpPr>
            <a:xfrm>
              <a:off x="7863122" y="5638955"/>
              <a:ext cx="1259074" cy="338554"/>
              <a:chOff x="8964789" y="2648929"/>
              <a:chExt cx="1259074" cy="338554"/>
            </a:xfrm>
          </p:grpSpPr>
          <p:sp>
            <p:nvSpPr>
              <p:cNvPr id="361" name="Google Shape;361;p12"/>
              <p:cNvSpPr/>
              <p:nvPr/>
            </p:nvSpPr>
            <p:spPr>
              <a:xfrm>
                <a:off x="9032744" y="2707400"/>
                <a:ext cx="543189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2"/>
              <p:cNvSpPr txBox="1"/>
              <p:nvPr/>
            </p:nvSpPr>
            <p:spPr>
              <a:xfrm>
                <a:off x="8964789" y="2648929"/>
                <a:ext cx="125907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UDP</a:t>
                </a:r>
                <a:r>
                  <a:rPr baseline="-25000"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aseline="-25000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3" name="Google Shape;363;p12"/>
            <p:cNvGrpSpPr/>
            <p:nvPr/>
          </p:nvGrpSpPr>
          <p:grpSpPr>
            <a:xfrm>
              <a:off x="8422070" y="5632673"/>
              <a:ext cx="1259074" cy="369332"/>
              <a:chOff x="8934916" y="2778923"/>
              <a:chExt cx="1259074" cy="369332"/>
            </a:xfrm>
          </p:grpSpPr>
          <p:sp>
            <p:nvSpPr>
              <p:cNvPr id="364" name="Google Shape;364;p12"/>
              <p:cNvSpPr/>
              <p:nvPr/>
            </p:nvSpPr>
            <p:spPr>
              <a:xfrm>
                <a:off x="8964931" y="2842303"/>
                <a:ext cx="1140727" cy="246705"/>
              </a:xfrm>
              <a:prstGeom prst="rect">
                <a:avLst/>
              </a:prstGeom>
              <a:solidFill>
                <a:schemeClr val="lt1"/>
              </a:solidFill>
              <a:ln cap="flat" cmpd="sng" w="25400">
                <a:solidFill>
                  <a:srgbClr val="0070C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2"/>
              <p:cNvSpPr txBox="1"/>
              <p:nvPr/>
            </p:nvSpPr>
            <p:spPr>
              <a:xfrm>
                <a:off x="8934916" y="2778923"/>
                <a:ext cx="12590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SNMP msg</a:t>
                </a:r>
                <a:endParaRPr/>
              </a:p>
            </p:txBody>
          </p:sp>
        </p:grpSp>
      </p:grpSp>
      <p:sp>
        <p:nvSpPr>
          <p:cNvPr id="366" name="Google Shape;366;p12"/>
          <p:cNvSpPr txBox="1"/>
          <p:nvPr/>
        </p:nvSpPr>
        <p:spPr>
          <a:xfrm>
            <a:off x="4379533" y="3932414"/>
            <a:ext cx="3825456" cy="7229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19075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2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demultiplexes message up to application via socket</a:t>
            </a:r>
            <a:endParaRPr/>
          </a:p>
        </p:txBody>
      </p:sp>
      <p:sp>
        <p:nvSpPr>
          <p:cNvPr id="367" name="Google Shape;367;p12"/>
          <p:cNvSpPr/>
          <p:nvPr/>
        </p:nvSpPr>
        <p:spPr>
          <a:xfrm>
            <a:off x="8348341" y="2027305"/>
            <a:ext cx="3416536" cy="3302845"/>
          </a:xfrm>
          <a:prstGeom prst="rect">
            <a:avLst/>
          </a:prstGeom>
          <a:solidFill>
            <a:schemeClr val="lt1">
              <a:alpha val="819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1741367" y="2989161"/>
            <a:ext cx="763166" cy="541031"/>
          </a:xfrm>
          <a:prstGeom prst="ellipse">
            <a:avLst/>
          </a:prstGeom>
          <a:noFill/>
          <a:ln cap="flat" cmpd="sng" w="2540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12"/>
          <p:cNvCxnSpPr/>
          <p:nvPr/>
        </p:nvCxnSpPr>
        <p:spPr>
          <a:xfrm flipH="1">
            <a:off x="7972023" y="4973372"/>
            <a:ext cx="1473513" cy="474391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12"/>
          <p:cNvCxnSpPr/>
          <p:nvPr/>
        </p:nvCxnSpPr>
        <p:spPr>
          <a:xfrm>
            <a:off x="2578811" y="5062556"/>
            <a:ext cx="1582832" cy="302617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p12"/>
          <p:cNvSpPr/>
          <p:nvPr/>
        </p:nvSpPr>
        <p:spPr>
          <a:xfrm>
            <a:off x="4062521" y="4965666"/>
            <a:ext cx="4036903" cy="1028731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 segment </a:t>
            </a:r>
            <a:r>
              <a:rPr lang="en-US"/>
              <a:t>h</a:t>
            </a:r>
            <a:r>
              <a:rPr lang="en-US" sz="4400"/>
              <a:t>eader</a:t>
            </a:r>
            <a:endParaRPr/>
          </a:p>
        </p:txBody>
      </p:sp>
      <p:sp>
        <p:nvSpPr>
          <p:cNvPr id="378" name="Google Shape;378;p13"/>
          <p:cNvSpPr/>
          <p:nvPr/>
        </p:nvSpPr>
        <p:spPr>
          <a:xfrm>
            <a:off x="3902299" y="2017713"/>
            <a:ext cx="3324225" cy="3200400"/>
          </a:xfrm>
          <a:prstGeom prst="rect">
            <a:avLst/>
          </a:prstGeom>
          <a:solidFill>
            <a:srgbClr val="FFFFFF"/>
          </a:solidFill>
          <a:ln cap="flat" cmpd="sng" w="349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9" name="Google Shape;379;p13"/>
          <p:cNvSpPr txBox="1"/>
          <p:nvPr/>
        </p:nvSpPr>
        <p:spPr>
          <a:xfrm>
            <a:off x="3941987" y="2030413"/>
            <a:ext cx="1563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source port #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0" name="Google Shape;380;p13"/>
          <p:cNvSpPr txBox="1"/>
          <p:nvPr/>
        </p:nvSpPr>
        <p:spPr>
          <a:xfrm>
            <a:off x="5727924" y="2030413"/>
            <a:ext cx="132873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dest port #</a:t>
            </a:r>
            <a:endParaRPr/>
          </a:p>
        </p:txBody>
      </p:sp>
      <p:cxnSp>
        <p:nvCxnSpPr>
          <p:cNvPr id="381" name="Google Shape;381;p13"/>
          <p:cNvCxnSpPr/>
          <p:nvPr/>
        </p:nvCxnSpPr>
        <p:spPr>
          <a:xfrm>
            <a:off x="3892774" y="2417763"/>
            <a:ext cx="3328988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13"/>
          <p:cNvCxnSpPr/>
          <p:nvPr/>
        </p:nvCxnSpPr>
        <p:spPr>
          <a:xfrm>
            <a:off x="3883249" y="2817813"/>
            <a:ext cx="3324225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13"/>
          <p:cNvCxnSpPr/>
          <p:nvPr/>
        </p:nvCxnSpPr>
        <p:spPr>
          <a:xfrm rot="10800000">
            <a:off x="5540599" y="2017713"/>
            <a:ext cx="0" cy="3952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4" name="Google Shape;384;p13"/>
          <p:cNvSpPr txBox="1"/>
          <p:nvPr/>
        </p:nvSpPr>
        <p:spPr>
          <a:xfrm>
            <a:off x="5048474" y="1552575"/>
            <a:ext cx="9366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32 bits</a:t>
            </a:r>
            <a:endParaRPr/>
          </a:p>
        </p:txBody>
      </p:sp>
      <p:cxnSp>
        <p:nvCxnSpPr>
          <p:cNvPr id="385" name="Google Shape;385;p13"/>
          <p:cNvCxnSpPr/>
          <p:nvPr/>
        </p:nvCxnSpPr>
        <p:spPr>
          <a:xfrm>
            <a:off x="5997799" y="1784350"/>
            <a:ext cx="1200150" cy="4763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6" name="Google Shape;386;p13"/>
          <p:cNvCxnSpPr/>
          <p:nvPr/>
        </p:nvCxnSpPr>
        <p:spPr>
          <a:xfrm rot="10800000">
            <a:off x="3888012" y="1793875"/>
            <a:ext cx="1128712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87" name="Google Shape;387;p13"/>
          <p:cNvSpPr txBox="1"/>
          <p:nvPr/>
        </p:nvSpPr>
        <p:spPr>
          <a:xfrm>
            <a:off x="4745262" y="3376613"/>
            <a:ext cx="1389062" cy="100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application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data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(payload)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88" name="Google Shape;388;p13"/>
          <p:cNvSpPr txBox="1"/>
          <p:nvPr/>
        </p:nvSpPr>
        <p:spPr>
          <a:xfrm>
            <a:off x="4338862" y="5292725"/>
            <a:ext cx="2524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ahoma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UDP segment format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89" name="Google Shape;389;p13"/>
          <p:cNvCxnSpPr/>
          <p:nvPr/>
        </p:nvCxnSpPr>
        <p:spPr>
          <a:xfrm rot="10800000">
            <a:off x="5540599" y="2427288"/>
            <a:ext cx="0" cy="39528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" name="Google Shape;390;p13"/>
          <p:cNvSpPr txBox="1"/>
          <p:nvPr/>
        </p:nvSpPr>
        <p:spPr>
          <a:xfrm>
            <a:off x="4284887" y="2420938"/>
            <a:ext cx="8143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length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1" name="Google Shape;391;p13"/>
          <p:cNvSpPr txBox="1"/>
          <p:nvPr/>
        </p:nvSpPr>
        <p:spPr>
          <a:xfrm>
            <a:off x="5831112" y="2411413"/>
            <a:ext cx="117633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checksum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92" name="Google Shape;392;p13"/>
          <p:cNvSpPr txBox="1"/>
          <p:nvPr/>
        </p:nvSpPr>
        <p:spPr>
          <a:xfrm>
            <a:off x="7623398" y="3421856"/>
            <a:ext cx="24066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length, in bytes of UDP segment, including header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cxnSp>
        <p:nvCxnSpPr>
          <p:cNvPr id="393" name="Google Shape;393;p13"/>
          <p:cNvCxnSpPr/>
          <p:nvPr/>
        </p:nvCxnSpPr>
        <p:spPr>
          <a:xfrm rot="10800000">
            <a:off x="5142136" y="2597149"/>
            <a:ext cx="3113157" cy="128539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4" name="Google Shape;394;p13"/>
          <p:cNvSpPr/>
          <p:nvPr/>
        </p:nvSpPr>
        <p:spPr>
          <a:xfrm>
            <a:off x="3695142" y="1957213"/>
            <a:ext cx="2097870" cy="534469"/>
          </a:xfrm>
          <a:prstGeom prst="ellipse">
            <a:avLst/>
          </a:prstGeom>
          <a:noFill/>
          <a:ln cap="flat" cmpd="sng" w="3175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3"/>
          <p:cNvSpPr/>
          <p:nvPr/>
        </p:nvSpPr>
        <p:spPr>
          <a:xfrm>
            <a:off x="5331049" y="1955208"/>
            <a:ext cx="2097870" cy="534469"/>
          </a:xfrm>
          <a:prstGeom prst="ellipse">
            <a:avLst/>
          </a:prstGeom>
          <a:noFill/>
          <a:ln cap="flat" cmpd="sng" w="3175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3"/>
          <p:cNvSpPr/>
          <p:nvPr/>
        </p:nvSpPr>
        <p:spPr>
          <a:xfrm>
            <a:off x="3657042" y="2362801"/>
            <a:ext cx="2097870" cy="534469"/>
          </a:xfrm>
          <a:prstGeom prst="ellipse">
            <a:avLst/>
          </a:prstGeom>
          <a:noFill/>
          <a:ln cap="flat" cmpd="sng" w="3175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290176" y="2341229"/>
            <a:ext cx="2097870" cy="534469"/>
          </a:xfrm>
          <a:prstGeom prst="ellipse">
            <a:avLst/>
          </a:prstGeom>
          <a:noFill/>
          <a:ln cap="flat" cmpd="sng" w="3175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4386800" y="3148706"/>
            <a:ext cx="2097870" cy="1560711"/>
          </a:xfrm>
          <a:prstGeom prst="ellipse">
            <a:avLst/>
          </a:prstGeom>
          <a:noFill/>
          <a:ln cap="flat" cmpd="sng" w="31750">
            <a:solidFill>
              <a:srgbClr val="CD000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9" name="Google Shape;399;p13"/>
          <p:cNvCxnSpPr/>
          <p:nvPr/>
        </p:nvCxnSpPr>
        <p:spPr>
          <a:xfrm rot="10800000">
            <a:off x="5915202" y="3972404"/>
            <a:ext cx="3113157" cy="1285397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0" name="Google Shape;400;p13"/>
          <p:cNvSpPr txBox="1"/>
          <p:nvPr/>
        </p:nvSpPr>
        <p:spPr>
          <a:xfrm>
            <a:off x="8032927" y="4969559"/>
            <a:ext cx="240665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r>
              <a:rPr lang="en-US" sz="18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data to/from application layer</a:t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 checksum</a:t>
            </a:r>
            <a:endParaRPr/>
          </a:p>
        </p:txBody>
      </p:sp>
      <p:sp>
        <p:nvSpPr>
          <p:cNvPr id="407" name="Google Shape;407;p14"/>
          <p:cNvSpPr txBox="1"/>
          <p:nvPr/>
        </p:nvSpPr>
        <p:spPr>
          <a:xfrm>
            <a:off x="1270863" y="2652793"/>
            <a:ext cx="10241312" cy="57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Transmitted:            5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6                11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9" name="Google Shape;409;p14"/>
          <p:cNvSpPr txBox="1"/>
          <p:nvPr/>
        </p:nvSpPr>
        <p:spPr>
          <a:xfrm>
            <a:off x="1717730" y="4429929"/>
            <a:ext cx="10241312" cy="573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Received:            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6                11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" name="Google Shape;410;p14"/>
          <p:cNvGrpSpPr/>
          <p:nvPr/>
        </p:nvGrpSpPr>
        <p:grpSpPr>
          <a:xfrm>
            <a:off x="3781587" y="2118101"/>
            <a:ext cx="3789990" cy="374499"/>
            <a:chOff x="3781587" y="2118101"/>
            <a:chExt cx="3789990" cy="374499"/>
          </a:xfrm>
        </p:grpSpPr>
        <p:sp>
          <p:nvSpPr>
            <p:cNvPr id="411" name="Google Shape;411;p14"/>
            <p:cNvSpPr txBox="1"/>
            <p:nvPr/>
          </p:nvSpPr>
          <p:spPr>
            <a:xfrm>
              <a:off x="3781587" y="2123268"/>
              <a:ext cx="121046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r>
                <a:rPr baseline="30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st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number</a:t>
              </a:r>
              <a:endParaRPr/>
            </a:p>
          </p:txBody>
        </p:sp>
        <p:sp>
          <p:nvSpPr>
            <p:cNvPr id="412" name="Google Shape;412;p14"/>
            <p:cNvSpPr txBox="1"/>
            <p:nvPr/>
          </p:nvSpPr>
          <p:spPr>
            <a:xfrm>
              <a:off x="5173851" y="2120685"/>
              <a:ext cx="12602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baseline="30000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nd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number</a:t>
              </a:r>
              <a:endParaRPr/>
            </a:p>
          </p:txBody>
        </p:sp>
        <p:sp>
          <p:nvSpPr>
            <p:cNvPr id="413" name="Google Shape;413;p14"/>
            <p:cNvSpPr txBox="1"/>
            <p:nvPr/>
          </p:nvSpPr>
          <p:spPr>
            <a:xfrm>
              <a:off x="6938070" y="2118101"/>
              <a:ext cx="6335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sum</a:t>
              </a:r>
              <a:endParaRPr/>
            </a:p>
          </p:txBody>
        </p:sp>
      </p:grpSp>
      <p:sp>
        <p:nvSpPr>
          <p:cNvPr id="414" name="Google Shape;414;p14"/>
          <p:cNvSpPr/>
          <p:nvPr/>
        </p:nvSpPr>
        <p:spPr>
          <a:xfrm>
            <a:off x="5269424" y="3316637"/>
            <a:ext cx="1131376" cy="978408"/>
          </a:xfrm>
          <a:prstGeom prst="downArrow">
            <a:avLst>
              <a:gd fmla="val 50000" name="adj1"/>
              <a:gd fmla="val 50000" name="adj2"/>
            </a:avLst>
          </a:prstGeom>
          <a:gradFill>
            <a:gsLst>
              <a:gs pos="0">
                <a:srgbClr val="F5F7FC"/>
              </a:gs>
              <a:gs pos="55000">
                <a:srgbClr val="E47E9F"/>
              </a:gs>
              <a:gs pos="83000">
                <a:srgbClr val="CD0004"/>
              </a:gs>
              <a:gs pos="100000">
                <a:srgbClr val="C00000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5" name="Google Shape;415;p14"/>
          <p:cNvGrpSpPr/>
          <p:nvPr/>
        </p:nvGrpSpPr>
        <p:grpSpPr>
          <a:xfrm>
            <a:off x="4005390" y="4866468"/>
            <a:ext cx="2218236" cy="1079841"/>
            <a:chOff x="4005390" y="4866468"/>
            <a:chExt cx="2218236" cy="1079841"/>
          </a:xfrm>
        </p:grpSpPr>
        <p:sp>
          <p:nvSpPr>
            <p:cNvPr id="416" name="Google Shape;416;p14"/>
            <p:cNvSpPr txBox="1"/>
            <p:nvPr/>
          </p:nvSpPr>
          <p:spPr>
            <a:xfrm>
              <a:off x="4005390" y="5238423"/>
              <a:ext cx="2218236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receiver-computed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checksum</a:t>
              </a: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 rot="5400000">
              <a:off x="5005953" y="4107051"/>
              <a:ext cx="302449" cy="1821283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8" name="Google Shape;418;p14"/>
          <p:cNvGrpSpPr/>
          <p:nvPr/>
        </p:nvGrpSpPr>
        <p:grpSpPr>
          <a:xfrm>
            <a:off x="6880470" y="4879385"/>
            <a:ext cx="2604945" cy="1064343"/>
            <a:chOff x="6880470" y="4879385"/>
            <a:chExt cx="2604945" cy="1064343"/>
          </a:xfrm>
        </p:grpSpPr>
        <p:sp>
          <p:nvSpPr>
            <p:cNvPr id="419" name="Google Shape;419;p14"/>
            <p:cNvSpPr txBox="1"/>
            <p:nvPr/>
          </p:nvSpPr>
          <p:spPr>
            <a:xfrm>
              <a:off x="6880470" y="5235841"/>
              <a:ext cx="260494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sender-computed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checksum (as received)</a:t>
              </a:r>
              <a:endParaRPr/>
            </a:p>
          </p:txBody>
        </p:sp>
        <p:sp>
          <p:nvSpPr>
            <p:cNvPr id="420" name="Google Shape;420;p14"/>
            <p:cNvSpPr/>
            <p:nvPr/>
          </p:nvSpPr>
          <p:spPr>
            <a:xfrm rot="5400000">
              <a:off x="7219627" y="4631412"/>
              <a:ext cx="266054" cy="761999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p14"/>
          <p:cNvGrpSpPr/>
          <p:nvPr/>
        </p:nvGrpSpPr>
        <p:grpSpPr>
          <a:xfrm>
            <a:off x="6121831" y="5201334"/>
            <a:ext cx="821411" cy="1346699"/>
            <a:chOff x="6121831" y="5201334"/>
            <a:chExt cx="821411" cy="1346699"/>
          </a:xfrm>
        </p:grpSpPr>
        <p:pic>
          <p:nvPicPr>
            <p:cNvPr descr="Image result for error" id="422" name="Google Shape;422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21831" y="5782776"/>
              <a:ext cx="821411" cy="7652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3" name="Google Shape;423;p14"/>
            <p:cNvSpPr txBox="1"/>
            <p:nvPr/>
          </p:nvSpPr>
          <p:spPr>
            <a:xfrm>
              <a:off x="6307811" y="5201334"/>
              <a:ext cx="413896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CD0004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  <p:cxnSp>
          <p:nvCxnSpPr>
            <p:cNvPr id="424" name="Google Shape;424;p14"/>
            <p:cNvCxnSpPr/>
            <p:nvPr/>
          </p:nvCxnSpPr>
          <p:spPr>
            <a:xfrm flipH="1">
              <a:off x="6460174" y="5418195"/>
              <a:ext cx="108488" cy="247973"/>
            </a:xfrm>
            <a:prstGeom prst="straightConnector1">
              <a:avLst/>
            </a:prstGeom>
            <a:noFill/>
            <a:ln cap="flat" cmpd="sng" w="31750">
              <a:solidFill>
                <a:srgbClr val="CD000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UDP checksum</a:t>
            </a:r>
            <a:endParaRPr/>
          </a:p>
        </p:txBody>
      </p:sp>
      <p:sp>
        <p:nvSpPr>
          <p:cNvPr id="431" name="Google Shape;431;p15"/>
          <p:cNvSpPr txBox="1"/>
          <p:nvPr/>
        </p:nvSpPr>
        <p:spPr>
          <a:xfrm>
            <a:off x="990599" y="2218943"/>
            <a:ext cx="4662055" cy="4478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sender: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treat contents of UDP segment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(including UDP header fields and IP addresses)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 sequence of 16-bit integers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checksum: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addition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(one’s complement sum)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segment content</a:t>
            </a:r>
            <a:endParaRPr/>
          </a:p>
          <a:p>
            <a:pPr indent="-222250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 value put into UDP checksum field</a:t>
            </a:r>
            <a:endParaRPr/>
          </a:p>
          <a:p>
            <a:pPr indent="-2222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" lvl="0" marL="352425" marR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5767820" y="2132890"/>
            <a:ext cx="5728855" cy="40824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receiver</a:t>
            </a:r>
            <a:r>
              <a:rPr b="0" i="0" lang="en-US" sz="3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compute checksum of received segment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if computed checksum equals checksum field value: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equal - error detected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Equal - no error detected. </a:t>
            </a: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But maybe errors nonetheless?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More later ….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798690" y="1371219"/>
            <a:ext cx="1110062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detect errors (</a:t>
            </a:r>
            <a:r>
              <a:rPr b="0" i="1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i.e.,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flipped bits) in transmitted segment</a:t>
            </a:r>
            <a:endParaRPr/>
          </a:p>
          <a:p>
            <a:pPr indent="-227330" lvl="0" marL="3429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6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checksum: an example</a:t>
            </a:r>
            <a:endParaRPr/>
          </a:p>
        </p:txBody>
      </p:sp>
      <p:sp>
        <p:nvSpPr>
          <p:cNvPr id="440" name="Google Shape;440;p16"/>
          <p:cNvSpPr txBox="1"/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3363" lvl="0" marL="233363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add two 16-bit integers</a:t>
            </a:r>
            <a:endParaRPr/>
          </a:p>
        </p:txBody>
      </p:sp>
      <p:cxnSp>
        <p:nvCxnSpPr>
          <p:cNvPr id="441" name="Google Shape;441;p16"/>
          <p:cNvCxnSpPr/>
          <p:nvPr/>
        </p:nvCxnSpPr>
        <p:spPr>
          <a:xfrm rot="10800000">
            <a:off x="2466391" y="3069774"/>
            <a:ext cx="647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442" name="Google Shape;442;p16"/>
          <p:cNvSpPr txBox="1"/>
          <p:nvPr/>
        </p:nvSpPr>
        <p:spPr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</p:txBody>
      </p:sp>
      <p:sp>
        <p:nvSpPr>
          <p:cNvPr id="443" name="Google Shape;443;p16"/>
          <p:cNvSpPr txBox="1"/>
          <p:nvPr/>
        </p:nvSpPr>
        <p:spPr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</a:t>
            </a:r>
            <a:endParaRPr/>
          </a:p>
        </p:txBody>
      </p:sp>
      <p:sp>
        <p:nvSpPr>
          <p:cNvPr id="444" name="Google Shape;444;p16"/>
          <p:cNvSpPr txBox="1"/>
          <p:nvPr/>
        </p:nvSpPr>
        <p:spPr>
          <a:xfrm>
            <a:off x="798690" y="5071610"/>
            <a:ext cx="10367961" cy="10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0" i="1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Note: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when adding numbers, a carryout from the most significant bit needs to be added to the result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ahoma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45" name="Google Shape;445;p16"/>
          <p:cNvSpPr txBox="1"/>
          <p:nvPr/>
        </p:nvSpPr>
        <p:spPr>
          <a:xfrm>
            <a:off x="850466" y="6260898"/>
            <a:ext cx="98572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446" name="Google Shape;446;p16"/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1 1 1 0 0 1 1 0 0 1 1 0 0 1 1 0</a:t>
            </a:r>
            <a:endParaRPr/>
          </a:p>
        </p:txBody>
      </p:sp>
      <p:sp>
        <p:nvSpPr>
          <p:cNvPr id="447" name="Google Shape;447;p16"/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1 1 0 1 0 1 0 1 0 1 0 1 0 1 0 1</a:t>
            </a:r>
            <a:endParaRPr/>
          </a:p>
        </p:txBody>
      </p:sp>
      <p:sp>
        <p:nvSpPr>
          <p:cNvPr id="448" name="Google Shape;448;p16"/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1 1 0 1 1 1 0 1 1 1 0 1 1 1 0 1 1</a:t>
            </a:r>
            <a:endParaRPr/>
          </a:p>
        </p:txBody>
      </p:sp>
      <p:sp>
        <p:nvSpPr>
          <p:cNvPr id="449" name="Google Shape;449;p16"/>
          <p:cNvSpPr/>
          <p:nvPr/>
        </p:nvSpPr>
        <p:spPr>
          <a:xfrm>
            <a:off x="2516833" y="3264149"/>
            <a:ext cx="304800" cy="30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50" name="Google Shape;450;p16"/>
          <p:cNvSpPr txBox="1"/>
          <p:nvPr/>
        </p:nvSpPr>
        <p:spPr>
          <a:xfrm>
            <a:off x="916633" y="3201536"/>
            <a:ext cx="14577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wraparound</a:t>
            </a:r>
            <a:endParaRPr/>
          </a:p>
        </p:txBody>
      </p:sp>
      <p:cxnSp>
        <p:nvCxnSpPr>
          <p:cNvPr id="451" name="Google Shape;451;p16"/>
          <p:cNvCxnSpPr/>
          <p:nvPr/>
        </p:nvCxnSpPr>
        <p:spPr>
          <a:xfrm rot="10800000">
            <a:off x="2440633" y="3788911"/>
            <a:ext cx="647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452" name="Google Shape;452;p16"/>
          <p:cNvSpPr/>
          <p:nvPr/>
        </p:nvSpPr>
        <p:spPr>
          <a:xfrm>
            <a:off x="2669233" y="3576532"/>
            <a:ext cx="5795540" cy="95077"/>
          </a:xfrm>
          <a:custGeom>
            <a:rect b="b" l="l" r="r" t="t"/>
            <a:pathLst>
              <a:path extrusionOk="0" h="58" w="3788">
                <a:moveTo>
                  <a:pt x="0" y="0"/>
                </a:moveTo>
                <a:lnTo>
                  <a:pt x="0" y="58"/>
                </a:lnTo>
                <a:lnTo>
                  <a:pt x="3788" y="58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 txBox="1"/>
          <p:nvPr/>
        </p:nvSpPr>
        <p:spPr>
          <a:xfrm>
            <a:off x="2475478" y="3863610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1 0 1 1 1 0 1 1 1 0 1 1 1 1 0 0</a:t>
            </a:r>
            <a:endParaRPr/>
          </a:p>
        </p:txBody>
      </p:sp>
      <p:sp>
        <p:nvSpPr>
          <p:cNvPr id="454" name="Google Shape;454;p16"/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0 1 0 0 0 1 0 0 0 1 0 0 0 0 1 1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7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checksum: weak protection!</a:t>
            </a:r>
            <a:endParaRPr/>
          </a:p>
        </p:txBody>
      </p:sp>
      <p:sp>
        <p:nvSpPr>
          <p:cNvPr id="461" name="Google Shape;461;p17"/>
          <p:cNvSpPr txBox="1"/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3363" lvl="0" marL="233363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add two 16-bit integers</a:t>
            </a:r>
            <a:endParaRPr/>
          </a:p>
        </p:txBody>
      </p:sp>
      <p:cxnSp>
        <p:nvCxnSpPr>
          <p:cNvPr id="462" name="Google Shape;462;p17"/>
          <p:cNvCxnSpPr/>
          <p:nvPr/>
        </p:nvCxnSpPr>
        <p:spPr>
          <a:xfrm rot="10800000">
            <a:off x="2466391" y="3069774"/>
            <a:ext cx="647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463" name="Google Shape;463;p17"/>
          <p:cNvSpPr txBox="1"/>
          <p:nvPr/>
        </p:nvSpPr>
        <p:spPr>
          <a:xfrm>
            <a:off x="1777296" y="3862762"/>
            <a:ext cx="6365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sum</a:t>
            </a:r>
            <a:endParaRPr/>
          </a:p>
        </p:txBody>
      </p:sp>
      <p:sp>
        <p:nvSpPr>
          <p:cNvPr id="464" name="Google Shape;464;p17"/>
          <p:cNvSpPr txBox="1"/>
          <p:nvPr/>
        </p:nvSpPr>
        <p:spPr>
          <a:xfrm>
            <a:off x="1192843" y="4300504"/>
            <a:ext cx="122104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checksum</a:t>
            </a:r>
            <a:endParaRPr/>
          </a:p>
        </p:txBody>
      </p:sp>
      <p:sp>
        <p:nvSpPr>
          <p:cNvPr id="465" name="Google Shape;465;p17"/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1 1 1 0 0 1 1 0 0 1 1 0 0 1 1 0</a:t>
            </a:r>
            <a:endParaRPr/>
          </a:p>
        </p:txBody>
      </p:sp>
      <p:sp>
        <p:nvSpPr>
          <p:cNvPr id="466" name="Google Shape;466;p17"/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1 1 0 1 0 1 0 1 0 1 0 1 0 1 0 1</a:t>
            </a:r>
            <a:endParaRPr/>
          </a:p>
        </p:txBody>
      </p:sp>
      <p:sp>
        <p:nvSpPr>
          <p:cNvPr id="467" name="Google Shape;467;p17"/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1 1 0 1 1 1 0 1 1 1 0 1 1 1 0 1 1</a:t>
            </a:r>
            <a:endParaRPr/>
          </a:p>
        </p:txBody>
      </p:sp>
      <p:grpSp>
        <p:nvGrpSpPr>
          <p:cNvPr id="468" name="Google Shape;468;p17"/>
          <p:cNvGrpSpPr/>
          <p:nvPr/>
        </p:nvGrpSpPr>
        <p:grpSpPr>
          <a:xfrm>
            <a:off x="942391" y="3201536"/>
            <a:ext cx="8001000" cy="1123739"/>
            <a:chOff x="942391" y="3201536"/>
            <a:chExt cx="8001000" cy="1123739"/>
          </a:xfrm>
        </p:grpSpPr>
        <p:sp>
          <p:nvSpPr>
            <p:cNvPr id="469" name="Google Shape;469;p17"/>
            <p:cNvSpPr/>
            <p:nvPr/>
          </p:nvSpPr>
          <p:spPr>
            <a:xfrm>
              <a:off x="2542591" y="3264149"/>
              <a:ext cx="304800" cy="304800"/>
            </a:xfrm>
            <a:prstGeom prst="ellipse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0" name="Google Shape;470;p17"/>
            <p:cNvSpPr txBox="1"/>
            <p:nvPr/>
          </p:nvSpPr>
          <p:spPr>
            <a:xfrm>
              <a:off x="942391" y="3201536"/>
              <a:ext cx="145770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wraparound</a:t>
              </a:r>
              <a:endParaRPr/>
            </a:p>
          </p:txBody>
        </p:sp>
        <p:cxnSp>
          <p:nvCxnSpPr>
            <p:cNvPr id="471" name="Google Shape;471;p17"/>
            <p:cNvCxnSpPr/>
            <p:nvPr/>
          </p:nvCxnSpPr>
          <p:spPr>
            <a:xfrm rot="10800000">
              <a:off x="2466391" y="3788911"/>
              <a:ext cx="6477000" cy="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med" w="med" type="none"/>
            </a:ln>
          </p:spPr>
        </p:cxnSp>
        <p:sp>
          <p:nvSpPr>
            <p:cNvPr id="472" name="Google Shape;472;p17"/>
            <p:cNvSpPr/>
            <p:nvPr/>
          </p:nvSpPr>
          <p:spPr>
            <a:xfrm>
              <a:off x="2694991" y="3576532"/>
              <a:ext cx="5795540" cy="95077"/>
            </a:xfrm>
            <a:custGeom>
              <a:rect b="b" l="l" r="r" t="t"/>
              <a:pathLst>
                <a:path extrusionOk="0" h="58" w="3788">
                  <a:moveTo>
                    <a:pt x="0" y="0"/>
                  </a:moveTo>
                  <a:lnTo>
                    <a:pt x="0" y="58"/>
                  </a:lnTo>
                  <a:lnTo>
                    <a:pt x="3788" y="58"/>
                  </a:lnTo>
                </a:path>
              </a:pathLst>
            </a:custGeom>
            <a:noFill/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med" w="med" type="stealth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7"/>
            <p:cNvSpPr txBox="1"/>
            <p:nvPr/>
          </p:nvSpPr>
          <p:spPr>
            <a:xfrm>
              <a:off x="2501236" y="3863610"/>
              <a:ext cx="6268063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  1 0 1 1 1 0 1 1 1 0 1 1 1 1 0 0</a:t>
              </a:r>
              <a:endParaRPr/>
            </a:p>
          </p:txBody>
        </p:sp>
      </p:grpSp>
      <p:sp>
        <p:nvSpPr>
          <p:cNvPr id="474" name="Google Shape;474;p17"/>
          <p:cNvSpPr txBox="1"/>
          <p:nvPr/>
        </p:nvSpPr>
        <p:spPr>
          <a:xfrm>
            <a:off x="2505831" y="4287924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0 1 0 0 0 1 0 0 0 1 0 0 0 0 1 1</a:t>
            </a:r>
            <a:endParaRPr/>
          </a:p>
        </p:txBody>
      </p:sp>
      <p:grpSp>
        <p:nvGrpSpPr>
          <p:cNvPr id="475" name="Google Shape;475;p17"/>
          <p:cNvGrpSpPr/>
          <p:nvPr/>
        </p:nvGrpSpPr>
        <p:grpSpPr>
          <a:xfrm>
            <a:off x="7895417" y="1927511"/>
            <a:ext cx="2249559" cy="712515"/>
            <a:chOff x="9436187" y="4862446"/>
            <a:chExt cx="2249559" cy="712515"/>
          </a:xfrm>
        </p:grpSpPr>
        <p:sp>
          <p:nvSpPr>
            <p:cNvPr id="476" name="Google Shape;476;p17"/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77" name="Google Shape;477;p17"/>
            <p:cNvCxnSpPr/>
            <p:nvPr/>
          </p:nvCxnSpPr>
          <p:spPr>
            <a:xfrm flipH="1" rot="10800000">
              <a:off x="10238282" y="5111429"/>
              <a:ext cx="546739" cy="212682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78" name="Google Shape;478;p17"/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  0 1 </a:t>
              </a:r>
              <a:endParaRPr/>
            </a:p>
          </p:txBody>
        </p:sp>
      </p:grpSp>
      <p:grpSp>
        <p:nvGrpSpPr>
          <p:cNvPr id="479" name="Google Shape;479;p17"/>
          <p:cNvGrpSpPr/>
          <p:nvPr/>
        </p:nvGrpSpPr>
        <p:grpSpPr>
          <a:xfrm>
            <a:off x="7910407" y="2289202"/>
            <a:ext cx="2249559" cy="712515"/>
            <a:chOff x="9436187" y="4862446"/>
            <a:chExt cx="2249559" cy="712515"/>
          </a:xfrm>
        </p:grpSpPr>
        <p:sp>
          <p:nvSpPr>
            <p:cNvPr id="480" name="Google Shape;480;p17"/>
            <p:cNvSpPr/>
            <p:nvPr/>
          </p:nvSpPr>
          <p:spPr>
            <a:xfrm>
              <a:off x="9436187" y="5113295"/>
              <a:ext cx="802095" cy="461666"/>
            </a:xfrm>
            <a:prstGeom prst="ellipse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81" name="Google Shape;481;p17"/>
            <p:cNvCxnSpPr/>
            <p:nvPr/>
          </p:nvCxnSpPr>
          <p:spPr>
            <a:xfrm flipH="1" rot="10800000">
              <a:off x="10238282" y="5111429"/>
              <a:ext cx="546739" cy="212682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482" name="Google Shape;482;p17"/>
            <p:cNvSpPr txBox="1"/>
            <p:nvPr/>
          </p:nvSpPr>
          <p:spPr>
            <a:xfrm>
              <a:off x="10395008" y="4862446"/>
              <a:ext cx="129073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ourier"/>
                <a:buNone/>
              </a:pPr>
              <a:r>
                <a:rPr b="1" i="0" lang="en-US" sz="24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  </a:t>
              </a:r>
              <a:r>
                <a:rPr b="1" lang="en-US" sz="24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1</a:t>
              </a:r>
              <a:r>
                <a:rPr b="1" i="0" lang="en-US" sz="24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1" lang="en-US" sz="2400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0</a:t>
              </a:r>
              <a:r>
                <a:rPr b="1" i="0" lang="en-US" sz="2400" u="none" cap="none" strike="noStrike">
                  <a:solidFill>
                    <a:srgbClr val="000000"/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endParaRPr/>
            </a:p>
          </p:txBody>
        </p:sp>
      </p:grpSp>
      <p:grpSp>
        <p:nvGrpSpPr>
          <p:cNvPr id="483" name="Google Shape;483;p17"/>
          <p:cNvGrpSpPr/>
          <p:nvPr/>
        </p:nvGrpSpPr>
        <p:grpSpPr>
          <a:xfrm>
            <a:off x="8933167" y="3121843"/>
            <a:ext cx="2729496" cy="1754326"/>
            <a:chOff x="8933167" y="3121843"/>
            <a:chExt cx="2729496" cy="1754326"/>
          </a:xfrm>
        </p:grpSpPr>
        <p:sp>
          <p:nvSpPr>
            <p:cNvPr id="484" name="Google Shape;484;p17"/>
            <p:cNvSpPr/>
            <p:nvPr/>
          </p:nvSpPr>
          <p:spPr>
            <a:xfrm>
              <a:off x="8933167" y="3244723"/>
              <a:ext cx="247697" cy="1504855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2857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7"/>
            <p:cNvSpPr txBox="1"/>
            <p:nvPr/>
          </p:nvSpPr>
          <p:spPr>
            <a:xfrm>
              <a:off x="9259241" y="3121843"/>
              <a:ext cx="2403422" cy="17543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Even though numbers have changed (bit flips), </a:t>
              </a:r>
              <a:r>
                <a:rPr i="1"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change in checksum!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8"/>
          <p:cNvSpPr txBox="1"/>
          <p:nvPr>
            <p:ph type="title"/>
          </p:nvPr>
        </p:nvSpPr>
        <p:spPr>
          <a:xfrm>
            <a:off x="662184" y="196879"/>
            <a:ext cx="11100625" cy="1206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Summary: UDP</a:t>
            </a:r>
            <a:endParaRPr/>
          </a:p>
        </p:txBody>
      </p:sp>
      <p:sp>
        <p:nvSpPr>
          <p:cNvPr id="492" name="Google Shape;492;p18"/>
          <p:cNvSpPr txBox="1"/>
          <p:nvPr/>
        </p:nvSpPr>
        <p:spPr>
          <a:xfrm>
            <a:off x="525681" y="1403321"/>
            <a:ext cx="11373633" cy="52479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4635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“no frills” protocol:</a:t>
            </a: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341313" lvl="1" marL="8080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segments may be lost, delivered out of order</a:t>
            </a:r>
            <a:endParaRPr/>
          </a:p>
          <a:p>
            <a:pPr indent="-341313" lvl="1" marL="8080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best effort service: “send and hope for the best”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has its plusses:</a:t>
            </a:r>
            <a:endParaRPr/>
          </a:p>
          <a:p>
            <a:pPr indent="-341313" lvl="1" marL="8080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setup/handshaking needed (no RTT incurred)</a:t>
            </a:r>
            <a:endParaRPr/>
          </a:p>
          <a:p>
            <a:pPr indent="-341313" lvl="1" marL="8080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function when network service is compromised</a:t>
            </a:r>
            <a:endParaRPr/>
          </a:p>
          <a:p>
            <a:pPr indent="-341313" lvl="1" marL="8080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helps with reliability (checksum)</a:t>
            </a:r>
            <a:endParaRPr/>
          </a:p>
          <a:p>
            <a:pPr indent="-339725" lvl="0" marL="46355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build additional functionality on top of UDP in application layer (e.g., HTTP/3)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9"/>
          <p:cNvSpPr txBox="1"/>
          <p:nvPr>
            <p:ph type="title"/>
          </p:nvPr>
        </p:nvSpPr>
        <p:spPr>
          <a:xfrm>
            <a:off x="580529" y="650420"/>
            <a:ext cx="6551791" cy="1116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Transport Layer</a:t>
            </a:r>
            <a:endParaRPr sz="6000"/>
          </a:p>
        </p:txBody>
      </p:sp>
      <p:sp>
        <p:nvSpPr>
          <p:cNvPr id="499" name="Google Shape;499;p19"/>
          <p:cNvSpPr txBox="1"/>
          <p:nvPr>
            <p:ph idx="2" type="body"/>
          </p:nvPr>
        </p:nvSpPr>
        <p:spPr>
          <a:xfrm>
            <a:off x="590430" y="1783836"/>
            <a:ext cx="7372469" cy="41731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4032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Transport-layer services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Multiplexing and demultiplexing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13A3"/>
              </a:buClr>
              <a:buSzPts val="3600"/>
              <a:buChar char="▪"/>
            </a:pPr>
            <a:r>
              <a:rPr lang="en-US" sz="3600"/>
              <a:t>Connectionless transport: UDP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reliable data transfer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Connection-oriented transport: TCP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Principles of congestion control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TCP congestion control </a:t>
            </a:r>
            <a:endParaRPr/>
          </a:p>
          <a:p>
            <a:pPr indent="-285750" lvl="0" marL="403225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FBFBF"/>
              </a:buClr>
              <a:buSzPts val="2800"/>
              <a:buChar char="▪"/>
            </a:pPr>
            <a:r>
              <a:rPr lang="en-US">
                <a:solidFill>
                  <a:srgbClr val="BFBFBF"/>
                </a:solidFill>
              </a:rPr>
              <a:t>Evolution of transport-layer functionality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3A3"/>
              </a:buClr>
              <a:buSzPts val="2400"/>
              <a:buFont typeface="Noto Sans Symbols"/>
              <a:buNone/>
            </a:pPr>
            <a:r>
              <a:t/>
            </a:r>
            <a:endParaRPr sz="2400"/>
          </a:p>
        </p:txBody>
      </p:sp>
      <p:grpSp>
        <p:nvGrpSpPr>
          <p:cNvPr id="500" name="Google Shape;500;p19"/>
          <p:cNvGrpSpPr/>
          <p:nvPr/>
        </p:nvGrpSpPr>
        <p:grpSpPr>
          <a:xfrm>
            <a:off x="7421880" y="792480"/>
            <a:ext cx="4399280" cy="3866277"/>
            <a:chOff x="7421880" y="792480"/>
            <a:chExt cx="4399280" cy="3866277"/>
          </a:xfrm>
        </p:grpSpPr>
        <p:pic>
          <p:nvPicPr>
            <p:cNvPr descr="University of Massachusetts Amherst - Wikipedia" id="501" name="Google Shape;50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886440" y="2125980"/>
              <a:ext cx="848360" cy="8483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19"/>
            <p:cNvSpPr txBox="1"/>
            <p:nvPr/>
          </p:nvSpPr>
          <p:spPr>
            <a:xfrm>
              <a:off x="7421880" y="792480"/>
              <a:ext cx="439928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COMPSCI 453 </a:t>
              </a:r>
              <a:r>
                <a:rPr b="0" i="0" lang="en-US" sz="2800" u="none" cap="none" strike="noStrike">
                  <a:solidFill>
                    <a:srgbClr val="0013A3"/>
                  </a:solidFill>
                  <a:latin typeface="Calibri"/>
                  <a:ea typeface="Calibri"/>
                  <a:cs typeface="Calibri"/>
                  <a:sym typeface="Calibri"/>
                </a:rPr>
                <a:t>Computer Networks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Professor Jim Kurose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College of Information and Computer Sciences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University of Massachusetts </a:t>
              </a:r>
              <a:endParaRPr/>
            </a:p>
          </p:txBody>
        </p:sp>
        <p:grpSp>
          <p:nvGrpSpPr>
            <p:cNvPr id="503" name="Google Shape;503;p19"/>
            <p:cNvGrpSpPr/>
            <p:nvPr/>
          </p:nvGrpSpPr>
          <p:grpSpPr>
            <a:xfrm>
              <a:off x="7884160" y="3304540"/>
              <a:ext cx="3857707" cy="1354217"/>
              <a:chOff x="7904480" y="4206240"/>
              <a:chExt cx="3857707" cy="1354217"/>
            </a:xfrm>
          </p:grpSpPr>
          <p:pic>
            <p:nvPicPr>
              <p:cNvPr descr="Kurose_CVR_REV2.jpg" id="504" name="Google Shape;504;p1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828020" y="4246880"/>
                <a:ext cx="934167" cy="122443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5" name="Google Shape;505;p19"/>
              <p:cNvSpPr txBox="1"/>
              <p:nvPr/>
            </p:nvSpPr>
            <p:spPr>
              <a:xfrm>
                <a:off x="7904480" y="4206240"/>
                <a:ext cx="2885440" cy="13542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Class textbook: 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b="0" i="1" lang="en-US" sz="16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Computer Networking: A Top-Down Approach 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(8</a:t>
                </a:r>
                <a:r>
                  <a:rPr b="0" baseline="3000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</a:t>
                </a:r>
                <a:r>
                  <a:rPr b="0" i="1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ed.)</a:t>
                </a:r>
                <a:endParaRPr b="0" i="1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Calibri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J.F. Kurose, K.W. Ross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Calibri"/>
                  <a:buNone/>
                </a:pPr>
                <a:r>
                  <a:rPr b="0" i="0" lang="en-US" sz="11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Pearson, 2020</a:t>
                </a:r>
                <a:endParaRPr/>
              </a:p>
              <a:p>
                <a:pPr indent="0" lvl="0" marL="0" marR="0" rtl="0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Calibri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http://gaia.cs.umass.edu/kurose_ross</a:t>
                </a:r>
                <a:endParaRPr b="0" i="0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06" name="Google Shape;506;p19"/>
          <p:cNvGrpSpPr/>
          <p:nvPr/>
        </p:nvGrpSpPr>
        <p:grpSpPr>
          <a:xfrm>
            <a:off x="706121" y="6088211"/>
            <a:ext cx="6892924" cy="461665"/>
            <a:chOff x="731521" y="6141551"/>
            <a:chExt cx="6892924" cy="461665"/>
          </a:xfrm>
        </p:grpSpPr>
        <p:sp>
          <p:nvSpPr>
            <p:cNvPr id="507" name="Google Shape;507;p19"/>
            <p:cNvSpPr txBox="1"/>
            <p:nvPr/>
          </p:nvSpPr>
          <p:spPr>
            <a:xfrm>
              <a:off x="731521" y="6141551"/>
              <a:ext cx="689292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Video:     2020, J.F. Kurose, All Rights Reserved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b="0" i="0" lang="en-US" sz="12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Powerpoint:    1996-2020, J.F. Kurose, K.W. Ross, All Rights Reserved</a:t>
              </a:r>
              <a:endParaRPr/>
            </a:p>
          </p:txBody>
        </p:sp>
        <p:grpSp>
          <p:nvGrpSpPr>
            <p:cNvPr id="508" name="Google Shape;508;p19"/>
            <p:cNvGrpSpPr/>
            <p:nvPr/>
          </p:nvGrpSpPr>
          <p:grpSpPr>
            <a:xfrm>
              <a:off x="1252378" y="6209727"/>
              <a:ext cx="473108" cy="346349"/>
              <a:chOff x="1252378" y="6209727"/>
              <a:chExt cx="473108" cy="346349"/>
            </a:xfrm>
          </p:grpSpPr>
          <p:pic>
            <p:nvPicPr>
              <p:cNvPr id="509" name="Google Shape;509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252378" y="6209727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10" name="Google Shape;510;p1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599650" y="6395855"/>
                <a:ext cx="125836" cy="160221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/>
          <p:nvPr/>
        </p:nvSpPr>
        <p:spPr>
          <a:xfrm>
            <a:off x="8384147" y="2228045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0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Internet checksum: an example</a:t>
            </a:r>
            <a:endParaRPr/>
          </a:p>
        </p:txBody>
      </p:sp>
      <p:sp>
        <p:nvSpPr>
          <p:cNvPr id="518" name="Google Shape;518;p20"/>
          <p:cNvSpPr txBox="1"/>
          <p:nvPr/>
        </p:nvSpPr>
        <p:spPr>
          <a:xfrm>
            <a:off x="1215441" y="1452111"/>
            <a:ext cx="7772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3363" lvl="0" marL="233363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add two 16-bit integers</a:t>
            </a:r>
            <a:endParaRPr/>
          </a:p>
        </p:txBody>
      </p:sp>
      <p:cxnSp>
        <p:nvCxnSpPr>
          <p:cNvPr id="519" name="Google Shape;519;p20"/>
          <p:cNvCxnSpPr/>
          <p:nvPr/>
        </p:nvCxnSpPr>
        <p:spPr>
          <a:xfrm rot="10800000">
            <a:off x="2466391" y="3069774"/>
            <a:ext cx="6477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med" w="med" type="none"/>
          </a:ln>
        </p:spPr>
      </p:cxnSp>
      <p:sp>
        <p:nvSpPr>
          <p:cNvPr id="520" name="Google Shape;520;p20"/>
          <p:cNvSpPr txBox="1"/>
          <p:nvPr/>
        </p:nvSpPr>
        <p:spPr>
          <a:xfrm>
            <a:off x="850466" y="6260898"/>
            <a:ext cx="985722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/>
          </a:p>
        </p:txBody>
      </p:sp>
      <p:sp>
        <p:nvSpPr>
          <p:cNvPr id="521" name="Google Shape;521;p20"/>
          <p:cNvSpPr txBox="1"/>
          <p:nvPr/>
        </p:nvSpPr>
        <p:spPr>
          <a:xfrm>
            <a:off x="2863959" y="2205031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1 1 1 0 0 1 1 0 0 1 1 0 0 1 1 0</a:t>
            </a:r>
            <a:endParaRPr/>
          </a:p>
        </p:txBody>
      </p:sp>
      <p:sp>
        <p:nvSpPr>
          <p:cNvPr id="522" name="Google Shape;522;p20"/>
          <p:cNvSpPr txBox="1"/>
          <p:nvPr/>
        </p:nvSpPr>
        <p:spPr>
          <a:xfrm>
            <a:off x="2868710" y="2580910"/>
            <a:ext cx="58993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1 1 0 1 0 1 0 1 0 1 0 1 0 1 0 1</a:t>
            </a:r>
            <a:endParaRPr/>
          </a:p>
        </p:txBody>
      </p:sp>
      <p:sp>
        <p:nvSpPr>
          <p:cNvPr id="523" name="Google Shape;523;p20"/>
          <p:cNvSpPr txBox="1"/>
          <p:nvPr/>
        </p:nvSpPr>
        <p:spPr>
          <a:xfrm>
            <a:off x="2501968" y="3194702"/>
            <a:ext cx="626806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1 1 0 1 1 1 0 1 1 1 0 1 1 1 0 1 1</a:t>
            </a:r>
            <a:endParaRPr/>
          </a:p>
        </p:txBody>
      </p:sp>
      <p:sp>
        <p:nvSpPr>
          <p:cNvPr id="524" name="Google Shape;524;p20"/>
          <p:cNvSpPr/>
          <p:nvPr/>
        </p:nvSpPr>
        <p:spPr>
          <a:xfrm>
            <a:off x="8021392" y="2225899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20"/>
          <p:cNvSpPr/>
          <p:nvPr/>
        </p:nvSpPr>
        <p:spPr>
          <a:xfrm>
            <a:off x="7658637" y="2223753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0"/>
          <p:cNvSpPr/>
          <p:nvPr/>
        </p:nvSpPr>
        <p:spPr>
          <a:xfrm>
            <a:off x="7295882" y="2221607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0"/>
          <p:cNvSpPr/>
          <p:nvPr/>
        </p:nvSpPr>
        <p:spPr>
          <a:xfrm>
            <a:off x="6933127" y="2219461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0"/>
          <p:cNvSpPr/>
          <p:nvPr/>
        </p:nvSpPr>
        <p:spPr>
          <a:xfrm>
            <a:off x="6570372" y="2217315"/>
            <a:ext cx="296214" cy="1378040"/>
          </a:xfrm>
          <a:prstGeom prst="rect">
            <a:avLst/>
          </a:prstGeom>
          <a:solidFill>
            <a:srgbClr val="EB6B94">
              <a:alpha val="57647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1"/>
          <p:cNvSpPr txBox="1"/>
          <p:nvPr>
            <p:ph type="title"/>
          </p:nvPr>
        </p:nvSpPr>
        <p:spPr>
          <a:xfrm>
            <a:off x="798690" y="289325"/>
            <a:ext cx="11100625" cy="148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</a:pPr>
            <a:r>
              <a:rPr lang="en-US" sz="6000"/>
              <a:t>UDP: User Datagram Protocol</a:t>
            </a:r>
            <a:endParaRPr/>
          </a:p>
        </p:txBody>
      </p:sp>
      <p:sp>
        <p:nvSpPr>
          <p:cNvPr id="535" name="Google Shape;535;p21"/>
          <p:cNvSpPr/>
          <p:nvPr/>
        </p:nvSpPr>
        <p:spPr>
          <a:xfrm>
            <a:off x="798690" y="1918952"/>
            <a:ext cx="11100625" cy="4512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5400"/>
              <a:buFont typeface="Noto Sans Symbols"/>
              <a:buChar char="▪"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sender/receiver actions</a:t>
            </a:r>
            <a:endParaRPr/>
          </a:p>
          <a:p>
            <a:pPr indent="-447675" lvl="0" marL="460375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5400"/>
              <a:buFont typeface="Noto Sans Symbols"/>
              <a:buChar char="▪"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 segment format</a:t>
            </a:r>
            <a:endParaRPr/>
          </a:p>
          <a:p>
            <a:pPr indent="-447675" lvl="0" marL="460375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5400"/>
              <a:buFont typeface="Noto Sans Symbols"/>
              <a:buChar char="▪"/>
            </a:pPr>
            <a:r>
              <a:rPr lang="en-US" sz="5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 checksum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