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6858000" cx="12192000"/>
  <p:notesSz cx="6858000" cy="9144000"/>
  <p:embeddedFontLst>
    <p:embeddedFont>
      <p:font typeface="Tahoma"/>
      <p:regular r:id="rId60"/>
      <p:bold r:id="rId61"/>
    </p:embeddedFont>
    <p:embeddedFont>
      <p:font typeface="Noto Sans Symbols"/>
      <p:regular r:id="rId62"/>
      <p:bold r:id="rId63"/>
    </p:embeddedFont>
    <p:embeddedFont>
      <p:font typeface="Gill Sans"/>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616">
          <p15:clr>
            <a:srgbClr val="A4A3A4"/>
          </p15:clr>
        </p15:guide>
        <p15:guide id="2" pos="6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616" orient="horz"/>
        <p:guide pos="64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NotoSansSymbols-regular.fntdata"/><Relationship Id="rId61" Type="http://schemas.openxmlformats.org/officeDocument/2006/relationships/font" Target="fonts/Tahoma-bold.fntdata"/><Relationship Id="rId20" Type="http://schemas.openxmlformats.org/officeDocument/2006/relationships/slide" Target="slides/slide15.xml"/><Relationship Id="rId64" Type="http://schemas.openxmlformats.org/officeDocument/2006/relationships/font" Target="fonts/GillSans-regular.fntdata"/><Relationship Id="rId63" Type="http://schemas.openxmlformats.org/officeDocument/2006/relationships/font" Target="fonts/NotoSansSymbols-bold.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GillSans-bold.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Tahoma-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arrows through reliable data transfer channel is just one way – reliably send from sender to receiver</a:t>
            </a:r>
            <a:endParaRPr/>
          </a:p>
        </p:txBody>
      </p:sp>
      <p:sp>
        <p:nvSpPr>
          <p:cNvPr id="45" name="Google Shape;4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Spend some time talking about how its to the sender and receiver side protocol that IMPLEMENTS reliable data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Communication over unreliable channel is TWO-way: sender and receiver will exchange messages back and forth to IMPLEMENT one-way  reliable data transfer</a:t>
            </a:r>
            <a:endParaRPr/>
          </a:p>
          <a:p>
            <a:pPr indent="0" lvl="0" marL="0" rtl="0" algn="l">
              <a:spcBef>
                <a:spcPts val="0"/>
              </a:spcBef>
              <a:spcAft>
                <a:spcPts val="0"/>
              </a:spcAft>
              <a:buNone/>
            </a:pPr>
            <a:r>
              <a:t/>
            </a:r>
            <a:endParaRPr/>
          </a:p>
        </p:txBody>
      </p:sp>
      <p:sp>
        <p:nvSpPr>
          <p:cNvPr id="114" name="Google Shape;11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we have a sender side and a receiver side. How much work they’ll have to do depends on the  IMPAIRMENTS introduced by channel – if the channel is perfect – no problem!</a:t>
            </a:r>
            <a:endParaRPr/>
          </a:p>
        </p:txBody>
      </p:sp>
      <p:sp>
        <p:nvSpPr>
          <p:cNvPr id="263" name="Google Shape;2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a point of view to keep in mind – it’s easy for US to look at sender and receiver together and see what is happening.  OH – that message sent was lost.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But think about it say from senders POV How does the sender know if its transmitted message over the unreliable channel got though??  ONLY if receiver somehow signals to the sender that it was received.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key point here is that one side does NOT know what is going on at the other side – it’s as if there’s a curtain between them.  Everything they know about the other can ONLY be learned by sending/receiving messages.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Sender process wants to make sure a segment got through.  But it can just somehow magically look through curtain to see if receiver got it.  It will be up to the receiver to let the sender KNOW that it (the receiver) has correctly received the segment.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 will the sender and receiver do that – that’s the PROTOCOL.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Before starting to develop a protocol, let’s look more closely at the interface (the API if you will) </a:t>
            </a:r>
            <a:endParaRPr/>
          </a:p>
        </p:txBody>
      </p:sp>
      <p:sp>
        <p:nvSpPr>
          <p:cNvPr id="351" name="Google Shape;3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SO let’s get started in developing our reliable data transfer protocol, which we’ll call rdt (need a good acronym for protocol – like HTTP, TCP, UDP, IP)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Bullet points 1 and 2</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if we are going to develop a protocol, so we’ll need some way to SPECIFY a protocol.  </a:t>
            </a:r>
            <a:r>
              <a:rPr b="1" i="1" lang="en-US"/>
              <a:t>How</a:t>
            </a:r>
            <a:r>
              <a:rPr lang="en-US"/>
              <a:t> do we do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could write text, but as all know, that’s prone to misinterpretation, and might be incomplete.  You might write a specification, and then think “oh yeah – I forgot about that case”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What we need is more </a:t>
            </a:r>
            <a:r>
              <a:rPr b="1" i="1" lang="en-US"/>
              <a:t>formal</a:t>
            </a:r>
            <a:r>
              <a:rPr lang="en-US"/>
              <a:t> way to specify a protocol.  In fact, with a formal specification there may be ways to PROVE PROPERTIES about a specification.  But that’s an advanced topic we won’t get into here. We’ll start here by adopting a fairly simple protocol specification technique known as finite state machines (FSM)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And as the name might suggest, a central notion of finite state machines is the notion of STATE </a:t>
            </a:r>
            <a:endParaRPr/>
          </a:p>
          <a:p>
            <a:pPr indent="0" lvl="0" marL="0" rtl="0" algn="l">
              <a:spcBef>
                <a:spcPts val="0"/>
              </a:spcBef>
              <a:spcAft>
                <a:spcPts val="0"/>
              </a:spcAft>
              <a:buNone/>
            </a:pPr>
            <a:r>
              <a:rPr lang="en-US"/>
              <a:t>&lt;talk about state&gt;</a:t>
            </a:r>
            <a:endParaRPr/>
          </a:p>
        </p:txBody>
      </p:sp>
      <p:sp>
        <p:nvSpPr>
          <p:cNvPr id="571" name="Google Shape;57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 We’ll start with the simplest case possible - an unreliable channel that is, in fact perfect – no segments are lost, corrupted, dupplicated or reordered.  The sender just sends and it pops out the other side(perhaps after some delay) perfectly.</a:t>
            </a:r>
            <a:endParaRPr/>
          </a:p>
          <a:p>
            <a:pPr indent="0" lvl="0" marL="0" rtl="0" algn="l">
              <a:spcBef>
                <a:spcPts val="0"/>
              </a:spcBef>
              <a:spcAft>
                <a:spcPts val="0"/>
              </a:spcAft>
              <a:buNone/>
            </a:pPr>
            <a:r>
              <a:t/>
            </a:r>
            <a:endParaRPr/>
          </a:p>
        </p:txBody>
      </p:sp>
      <p:sp>
        <p:nvSpPr>
          <p:cNvPr id="596" name="Google Shape;59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1" name="Google Shape;74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1" name="Google Shape;80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2" name="Google Shape;86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3" name="Google Shape;86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4" name="Google Shape;92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5" name="Google Shape;92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8" name="Google Shape;96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9" name="Google Shape;96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4" name="Google Shape;98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5" name="Google Shape;98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7" name="Google Shape;102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8" name="Google Shape;102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6" name="Google Shape;103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2" name="Google Shape;111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4" name="Google Shape;11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5" name="Google Shape;119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7" name="Google Shape;131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8" name="Google Shape;131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5" name="Google Shape;132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6" name="Google Shape;132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6" name="Google Shape;133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1337" name="Google Shape;133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6" name="Google Shape;1386;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see the familiar four state sender from our rdt 2.1 and 2.2 protocols. Top two states when sending packet with zero seq # and bottom two </a:t>
            </a:r>
            <a:endParaRPr/>
          </a:p>
        </p:txBody>
      </p:sp>
      <p:sp>
        <p:nvSpPr>
          <p:cNvPr id="1387" name="Google Shape;1387;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8" name="Google Shape;146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9" name="Google Shape;146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0" name="Google Shape;155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1" name="Google Shape;1551;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6" name="Google Shape;166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if RTT=30 msec, 1KB pkt every 30 msec: 33kB/sec thruput over 1 Gbps link</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network protocol limits use of physical resources</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Let’s develop a formula for utilization</a:t>
            </a:r>
            <a:endParaRPr/>
          </a:p>
          <a:p>
            <a:pPr indent="0" lvl="0" marL="0" marR="0" rtl="0" algn="l">
              <a:lnSpc>
                <a:spcPct val="100000"/>
              </a:lnSpc>
              <a:spcBef>
                <a:spcPts val="0"/>
              </a:spcBef>
              <a:spcAft>
                <a:spcPts val="0"/>
              </a:spcAft>
              <a:buClr>
                <a:schemeClr val="dk1"/>
              </a:buClr>
              <a:buSzPts val="1200"/>
              <a:buFont typeface="Calibri"/>
              <a:buNone/>
            </a:pPr>
            <a:r>
              <a:t/>
            </a:r>
            <a:endParaRPr b="0" i="0" sz="1200" u="none" cap="none" strike="noStrike">
              <a:solidFill>
                <a:srgbClr val="000000"/>
              </a:solidFill>
              <a:latin typeface="Calibri"/>
              <a:ea typeface="Calibri"/>
              <a:cs typeface="Calibri"/>
              <a:sym typeface="Calibri"/>
            </a:endParaRPr>
          </a:p>
          <a:p>
            <a:pPr indent="0" lvl="0" marL="0" rtl="0" algn="l">
              <a:spcBef>
                <a:spcPts val="0"/>
              </a:spcBef>
              <a:spcAft>
                <a:spcPts val="0"/>
              </a:spcAft>
              <a:buNone/>
            </a:pPr>
            <a:r>
              <a:t/>
            </a:r>
            <a:endParaRPr/>
          </a:p>
        </p:txBody>
      </p:sp>
      <p:sp>
        <p:nvSpPr>
          <p:cNvPr id="1667" name="Google Shape;166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9" name="Google Shape;168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0" name="Google Shape;169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1" name="Shape 1721"/>
        <p:cNvGrpSpPr/>
        <p:nvPr/>
      </p:nvGrpSpPr>
      <p:grpSpPr>
        <a:xfrm>
          <a:off x="0" y="0"/>
          <a:ext cx="0" cy="0"/>
          <a:chOff x="0" y="0"/>
          <a:chExt cx="0" cy="0"/>
        </a:xfrm>
      </p:grpSpPr>
      <p:sp>
        <p:nvSpPr>
          <p:cNvPr id="1722" name="Google Shape;172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3" name="Google Shape;172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4" name="Google Shape;172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5" name="Google Shape;177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6" name="Google Shape;177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2" name="Google Shape;186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two generic forms of pipelined protocols: </a:t>
            </a:r>
            <a:r>
              <a:rPr b="0" i="1" lang="en-US" sz="1200" u="none" cap="none" strike="noStrike">
                <a:solidFill>
                  <a:srgbClr val="CC0000"/>
                </a:solidFill>
                <a:latin typeface="Calibri"/>
                <a:ea typeface="Calibri"/>
                <a:cs typeface="Calibri"/>
                <a:sym typeface="Calibri"/>
              </a:rPr>
              <a:t>go-Back-N, selective repeat</a:t>
            </a:r>
            <a:endParaRPr/>
          </a:p>
          <a:p>
            <a:pPr indent="0" lvl="0" marL="0" rtl="0" algn="l">
              <a:spcBef>
                <a:spcPts val="0"/>
              </a:spcBef>
              <a:spcAft>
                <a:spcPts val="0"/>
              </a:spcAft>
              <a:buNone/>
            </a:pPr>
            <a:r>
              <a:t/>
            </a:r>
            <a:endParaRPr/>
          </a:p>
        </p:txBody>
      </p:sp>
      <p:sp>
        <p:nvSpPr>
          <p:cNvPr id="1863" name="Google Shape;186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8" name="Google Shape;192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window size of 14, 8 have been sent but are not yet ackowledgedm 6 sequence numbers are available for us. In woindow, but no calls from above to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you can chack that out in powerpoitn slides or book)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TCP uses cumulative ACK</a:t>
            </a:r>
            <a:endParaRPr/>
          </a:p>
        </p:txBody>
      </p:sp>
      <p:sp>
        <p:nvSpPr>
          <p:cNvPr id="1929" name="Google Shape;192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8" name="Google Shape;193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Note – we’ll skip the Go-Back-N FSM specification (actually it’s  </a:t>
            </a:r>
            <a:endParaRPr/>
          </a:p>
        </p:txBody>
      </p:sp>
      <p:sp>
        <p:nvSpPr>
          <p:cNvPr id="1939" name="Google Shape;193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2" name="Google Shape;197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Let’s skip FSM specification for GBN – check out the book or ppt – and let’s watch GBN sender and receivers  in action.</a:t>
            </a:r>
            <a:endParaRPr/>
          </a:p>
          <a:p>
            <a:pPr indent="0" lvl="0" marL="0" rtl="0" algn="l">
              <a:spcBef>
                <a:spcPts val="0"/>
              </a:spcBef>
              <a:spcAft>
                <a:spcPts val="0"/>
              </a:spcAft>
              <a:buNone/>
            </a:pPr>
            <a:r>
              <a:rPr lang="en-US"/>
              <a:t>Let assume a window size of 4.  at t=0, sender sends packets 0, 1, 2 3, 4, and packet 2 will be lost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the receiver:</a:t>
            </a:r>
            <a:endParaRPr/>
          </a:p>
          <a:p>
            <a:pPr indent="0" lvl="0" marL="0" rtl="0" algn="l">
              <a:spcBef>
                <a:spcPts val="0"/>
              </a:spcBef>
              <a:spcAft>
                <a:spcPts val="0"/>
              </a:spcAft>
              <a:buNone/>
            </a:pPr>
            <a:r>
              <a:rPr lang="en-US"/>
              <a:t>Packet 0 received ACK0 generated</a:t>
            </a:r>
            <a:endParaRPr/>
          </a:p>
          <a:p>
            <a:pPr indent="0" lvl="0" marL="0" rtl="0" algn="l">
              <a:spcBef>
                <a:spcPts val="0"/>
              </a:spcBef>
              <a:spcAft>
                <a:spcPts val="0"/>
              </a:spcAft>
              <a:buNone/>
            </a:pPr>
            <a:r>
              <a:rPr lang="en-US"/>
              <a:t>Packet 1 received ACK1 generated</a:t>
            </a:r>
            <a:endParaRPr/>
          </a:p>
          <a:p>
            <a:pPr indent="0" lvl="0" marL="0" rtl="0" algn="l">
              <a:spcBef>
                <a:spcPts val="0"/>
              </a:spcBef>
              <a:spcAft>
                <a:spcPts val="0"/>
              </a:spcAft>
              <a:buNone/>
            </a:pPr>
            <a:r>
              <a:rPr lang="en-US"/>
              <a:t>Packet 2 is lost, and so when packet 3 is received, ACK 1 is sent – that’s the cumulative ACK, re-Acknowledging the receipt of packet 1. and in this implementation packet 3 is discarded</a:t>
            </a:r>
            <a:endParaRPr/>
          </a:p>
          <a:p>
            <a:pPr indent="0" lvl="0" marL="0" rtl="0" algn="l">
              <a:spcBef>
                <a:spcPts val="0"/>
              </a:spcBef>
              <a:spcAft>
                <a:spcPts val="0"/>
              </a:spcAft>
              <a:buNone/>
            </a:pPr>
            <a:r>
              <a:t/>
            </a:r>
            <a:endParaRPr/>
          </a:p>
        </p:txBody>
      </p:sp>
      <p:sp>
        <p:nvSpPr>
          <p:cNvPr id="1973" name="Google Shape;197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6" name="Shape 2056"/>
        <p:cNvGrpSpPr/>
        <p:nvPr/>
      </p:nvGrpSpPr>
      <p:grpSpPr>
        <a:xfrm>
          <a:off x="0" y="0"/>
          <a:ext cx="0" cy="0"/>
          <a:chOff x="0" y="0"/>
          <a:chExt cx="0" cy="0"/>
        </a:xfrm>
      </p:grpSpPr>
      <p:sp>
        <p:nvSpPr>
          <p:cNvPr id="2057" name="Google Shape;205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8" name="Google Shape;205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An important mechanism of GBN was the use of the cumulative acknowledgements, and as we mentioned, cumulative ACKs are used in TCP</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 alternate ACK mechanism would be for the receiver to indiviually acknowledge specific packets as they are received.  This mechanism is at the heart of the Selective repeat protocol.</a:t>
            </a:r>
            <a:endParaRPr/>
          </a:p>
          <a:p>
            <a:pPr indent="0" lvl="0" marL="0" rtl="0" algn="l">
              <a:spcBef>
                <a:spcPts val="0"/>
              </a:spcBef>
              <a:spcAft>
                <a:spcPts val="0"/>
              </a:spcAft>
              <a:buNone/>
            </a:pPr>
            <a:r>
              <a:t/>
            </a:r>
            <a:endParaRPr/>
          </a:p>
        </p:txBody>
      </p:sp>
      <p:sp>
        <p:nvSpPr>
          <p:cNvPr id="2059" name="Google Shape;2059;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3" name="Shape 2063"/>
        <p:cNvGrpSpPr/>
        <p:nvPr/>
      </p:nvGrpSpPr>
      <p:grpSpPr>
        <a:xfrm>
          <a:off x="0" y="0"/>
          <a:ext cx="0" cy="0"/>
          <a:chOff x="0" y="0"/>
          <a:chExt cx="0" cy="0"/>
        </a:xfrm>
      </p:grpSpPr>
      <p:sp>
        <p:nvSpPr>
          <p:cNvPr id="2064" name="Google Shape;2064;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5" name="Google Shape;2065;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6" name="Google Shape;2066;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2" name="Google Shape;2082;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If the packet is in order, its data will be delivered, as will any buffered data that can now be delived in order</a:t>
            </a:r>
            <a:endParaRPr/>
          </a:p>
        </p:txBody>
      </p:sp>
      <p:sp>
        <p:nvSpPr>
          <p:cNvPr id="2083" name="Google Shape;2083;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7" name="Shape 2097"/>
        <p:cNvGrpSpPr/>
        <p:nvPr/>
      </p:nvGrpSpPr>
      <p:grpSpPr>
        <a:xfrm>
          <a:off x="0" y="0"/>
          <a:ext cx="0" cy="0"/>
          <a:chOff x="0" y="0"/>
          <a:chExt cx="0" cy="0"/>
        </a:xfrm>
      </p:grpSpPr>
      <p:sp>
        <p:nvSpPr>
          <p:cNvPr id="2098" name="Google Shape;2098;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9" name="Google Shape;209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0" name="Google Shape;2100;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8" name="Google Shape;217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9" name="Google Shape;217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1" name="Shape 2261"/>
        <p:cNvGrpSpPr/>
        <p:nvPr/>
      </p:nvGrpSpPr>
      <p:grpSpPr>
        <a:xfrm>
          <a:off x="0" y="0"/>
          <a:ext cx="0" cy="0"/>
          <a:chOff x="0" y="0"/>
          <a:chExt cx="0" cy="0"/>
        </a:xfrm>
      </p:grpSpPr>
      <p:sp>
        <p:nvSpPr>
          <p:cNvPr id="2262" name="Google Shape;226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3" name="Google Shape;2263;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4" name="Google Shape;2264;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3" name="Shape 2353"/>
        <p:cNvGrpSpPr/>
        <p:nvPr/>
      </p:nvGrpSpPr>
      <p:grpSpPr>
        <a:xfrm>
          <a:off x="0" y="0"/>
          <a:ext cx="0" cy="0"/>
          <a:chOff x="0" y="0"/>
          <a:chExt cx="0" cy="0"/>
        </a:xfrm>
      </p:grpSpPr>
      <p:sp>
        <p:nvSpPr>
          <p:cNvPr id="2354" name="Google Shape;235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5" name="Google Shape;235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6" name="Google Shape;2356;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1" name="Shape 2371"/>
        <p:cNvGrpSpPr/>
        <p:nvPr/>
      </p:nvGrpSpPr>
      <p:grpSpPr>
        <a:xfrm>
          <a:off x="0" y="0"/>
          <a:ext cx="0" cy="0"/>
          <a:chOff x="0" y="0"/>
          <a:chExt cx="0" cy="0"/>
        </a:xfrm>
      </p:grpSpPr>
      <p:sp>
        <p:nvSpPr>
          <p:cNvPr id="2372" name="Google Shape;2372;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3" name="Google Shape;237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7" name="Shape 2377"/>
        <p:cNvGrpSpPr/>
        <p:nvPr/>
      </p:nvGrpSpPr>
      <p:grpSpPr>
        <a:xfrm>
          <a:off x="0" y="0"/>
          <a:ext cx="0" cy="0"/>
          <a:chOff x="0" y="0"/>
          <a:chExt cx="0" cy="0"/>
        </a:xfrm>
      </p:grpSpPr>
      <p:sp>
        <p:nvSpPr>
          <p:cNvPr id="2378" name="Google Shape;2378;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9" name="Google Shape;2379;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0" name="Google Shape;2380;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1" name="Shape 2401"/>
        <p:cNvGrpSpPr/>
        <p:nvPr/>
      </p:nvGrpSpPr>
      <p:grpSpPr>
        <a:xfrm>
          <a:off x="0" y="0"/>
          <a:ext cx="0" cy="0"/>
          <a:chOff x="0" y="0"/>
          <a:chExt cx="0" cy="0"/>
        </a:xfrm>
      </p:grpSpPr>
      <p:sp>
        <p:nvSpPr>
          <p:cNvPr id="2402" name="Google Shape;240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3" name="Google Shape;240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4" name="Google Shape;2404;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7" name="Google Shape;244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1" name="Shape 2451"/>
        <p:cNvGrpSpPr/>
        <p:nvPr/>
      </p:nvGrpSpPr>
      <p:grpSpPr>
        <a:xfrm>
          <a:off x="0" y="0"/>
          <a:ext cx="0" cy="0"/>
          <a:chOff x="0" y="0"/>
          <a:chExt cx="0" cy="0"/>
        </a:xfrm>
      </p:grpSpPr>
      <p:sp>
        <p:nvSpPr>
          <p:cNvPr id="2452" name="Google Shape;245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3" name="Google Shape;245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4" name="Google Shape;2454;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0" name="Google Shape;2520;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1" name="Google Shape;2521;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0" name="Shape 2580"/>
        <p:cNvGrpSpPr/>
        <p:nvPr/>
      </p:nvGrpSpPr>
      <p:grpSpPr>
        <a:xfrm>
          <a:off x="0" y="0"/>
          <a:ext cx="0" cy="0"/>
          <a:chOff x="0" y="0"/>
          <a:chExt cx="0" cy="0"/>
        </a:xfrm>
      </p:grpSpPr>
      <p:sp>
        <p:nvSpPr>
          <p:cNvPr id="2581" name="Google Shape;258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2" name="Google Shape;258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3" name="Google Shape;2583;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1" name="Shape 2641"/>
        <p:cNvGrpSpPr/>
        <p:nvPr/>
      </p:nvGrpSpPr>
      <p:grpSpPr>
        <a:xfrm>
          <a:off x="0" y="0"/>
          <a:ext cx="0" cy="0"/>
          <a:chOff x="0" y="0"/>
          <a:chExt cx="0" cy="0"/>
        </a:xfrm>
      </p:grpSpPr>
      <p:sp>
        <p:nvSpPr>
          <p:cNvPr id="2642" name="Google Shape;264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3" name="Google Shape;2643;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4" name="Google Shape;2644;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3" name="Shape 2673"/>
        <p:cNvGrpSpPr/>
        <p:nvPr/>
      </p:nvGrpSpPr>
      <p:grpSpPr>
        <a:xfrm>
          <a:off x="0" y="0"/>
          <a:ext cx="0" cy="0"/>
          <a:chOff x="0" y="0"/>
          <a:chExt cx="0" cy="0"/>
        </a:xfrm>
      </p:grpSpPr>
      <p:sp>
        <p:nvSpPr>
          <p:cNvPr id="2674" name="Google Shape;2674;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5" name="Google Shape;267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6" name="Google Shape;2676;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 name="Shape 13"/>
        <p:cNvGrpSpPr/>
        <p:nvPr/>
      </p:nvGrpSpPr>
      <p:grpSpPr>
        <a:xfrm>
          <a:off x="0" y="0"/>
          <a:ext cx="0" cy="0"/>
          <a:chOff x="0" y="0"/>
          <a:chExt cx="0" cy="0"/>
        </a:xfrm>
      </p:grpSpPr>
      <p:sp>
        <p:nvSpPr>
          <p:cNvPr id="14" name="Google Shape;14;p2"/>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2"/>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rgbClr val="7F7F7F"/>
                </a:solidFill>
                <a:latin typeface="Calibri"/>
                <a:ea typeface="Calibri"/>
                <a:cs typeface="Calibri"/>
                <a:sym typeface="Calibri"/>
              </a:defRPr>
            </a:lvl1pPr>
            <a:lvl2pPr indent="0" lvl="1" marL="0" algn="r">
              <a:spcBef>
                <a:spcPts val="0"/>
              </a:spcBef>
              <a:buNone/>
              <a:defRPr b="0" i="0" sz="1100" u="none" cap="none" strike="noStrike">
                <a:solidFill>
                  <a:srgbClr val="7F7F7F"/>
                </a:solidFill>
                <a:latin typeface="Calibri"/>
                <a:ea typeface="Calibri"/>
                <a:cs typeface="Calibri"/>
                <a:sym typeface="Calibri"/>
              </a:defRPr>
            </a:lvl2pPr>
            <a:lvl3pPr indent="0" lvl="2" marL="0" algn="r">
              <a:spcBef>
                <a:spcPts val="0"/>
              </a:spcBef>
              <a:buNone/>
              <a:defRPr b="0" i="0" sz="1100" u="none" cap="none" strike="noStrike">
                <a:solidFill>
                  <a:srgbClr val="7F7F7F"/>
                </a:solidFill>
                <a:latin typeface="Calibri"/>
                <a:ea typeface="Calibri"/>
                <a:cs typeface="Calibri"/>
                <a:sym typeface="Calibri"/>
              </a:defRPr>
            </a:lvl3pPr>
            <a:lvl4pPr indent="0" lvl="3" marL="0" algn="r">
              <a:spcBef>
                <a:spcPts val="0"/>
              </a:spcBef>
              <a:buNone/>
              <a:defRPr b="0" i="0" sz="1100" u="none" cap="none" strike="noStrike">
                <a:solidFill>
                  <a:srgbClr val="7F7F7F"/>
                </a:solidFill>
                <a:latin typeface="Calibri"/>
                <a:ea typeface="Calibri"/>
                <a:cs typeface="Calibri"/>
                <a:sym typeface="Calibri"/>
              </a:defRPr>
            </a:lvl4pPr>
            <a:lvl5pPr indent="0" lvl="4" marL="0" algn="r">
              <a:spcBef>
                <a:spcPts val="0"/>
              </a:spcBef>
              <a:buNone/>
              <a:defRPr b="0" i="0" sz="1100" u="none" cap="none" strike="noStrike">
                <a:solidFill>
                  <a:srgbClr val="7F7F7F"/>
                </a:solidFill>
                <a:latin typeface="Calibri"/>
                <a:ea typeface="Calibri"/>
                <a:cs typeface="Calibri"/>
                <a:sym typeface="Calibri"/>
              </a:defRPr>
            </a:lvl5pPr>
            <a:lvl6pPr indent="0" lvl="5" marL="0" algn="r">
              <a:spcBef>
                <a:spcPts val="0"/>
              </a:spcBef>
              <a:buNone/>
              <a:defRPr b="0" i="0" sz="1100" u="none" cap="none" strike="noStrike">
                <a:solidFill>
                  <a:srgbClr val="7F7F7F"/>
                </a:solidFill>
                <a:latin typeface="Calibri"/>
                <a:ea typeface="Calibri"/>
                <a:cs typeface="Calibri"/>
                <a:sym typeface="Calibri"/>
              </a:defRPr>
            </a:lvl6pPr>
            <a:lvl7pPr indent="0" lvl="6" marL="0" algn="r">
              <a:spcBef>
                <a:spcPts val="0"/>
              </a:spcBef>
              <a:buNone/>
              <a:defRPr b="0" i="0" sz="1100" u="none" cap="none" strike="noStrike">
                <a:solidFill>
                  <a:srgbClr val="7F7F7F"/>
                </a:solidFill>
                <a:latin typeface="Calibri"/>
                <a:ea typeface="Calibri"/>
                <a:cs typeface="Calibri"/>
                <a:sym typeface="Calibri"/>
              </a:defRPr>
            </a:lvl7pPr>
            <a:lvl8pPr indent="0" lvl="7" marL="0" algn="r">
              <a:spcBef>
                <a:spcPts val="0"/>
              </a:spcBef>
              <a:buNone/>
              <a:defRPr b="0" i="0" sz="1100" u="none" cap="none" strike="noStrike">
                <a:solidFill>
                  <a:srgbClr val="7F7F7F"/>
                </a:solidFill>
                <a:latin typeface="Calibri"/>
                <a:ea typeface="Calibri"/>
                <a:cs typeface="Calibri"/>
                <a:sym typeface="Calibri"/>
              </a:defRPr>
            </a:lvl8pPr>
            <a:lvl9pPr indent="0" lvl="8" mar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00A3"/>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 name="Google Shape;21;p3"/>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2" name="Shape 22"/>
        <p:cNvGrpSpPr/>
        <p:nvPr/>
      </p:nvGrpSpPr>
      <p:grpSpPr>
        <a:xfrm>
          <a:off x="0" y="0"/>
          <a:ext cx="0" cy="0"/>
          <a:chOff x="0" y="0"/>
          <a:chExt cx="0" cy="0"/>
        </a:xfrm>
      </p:grpSpPr>
      <p:sp>
        <p:nvSpPr>
          <p:cNvPr id="23" name="Google Shape;23;p4"/>
          <p:cNvSpPr txBox="1"/>
          <p:nvPr>
            <p:ph idx="1" type="body"/>
          </p:nvPr>
        </p:nvSpPr>
        <p:spPr>
          <a:xfrm>
            <a:off x="838200" y="1724027"/>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5"/>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00A3"/>
              </a:buClr>
              <a:buSzPts val="4400"/>
              <a:buFont typeface="Calibri"/>
              <a:buNone/>
              <a:defRPr sz="4400">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rgbClr val="7F7F7F"/>
                </a:solidFill>
                <a:latin typeface="Calibri"/>
                <a:ea typeface="Calibri"/>
                <a:cs typeface="Calibri"/>
                <a:sym typeface="Calibri"/>
              </a:defRPr>
            </a:lvl1pPr>
            <a:lvl2pPr indent="0" lvl="1" marL="0" algn="r">
              <a:spcBef>
                <a:spcPts val="0"/>
              </a:spcBef>
              <a:buNone/>
              <a:defRPr sz="1100">
                <a:solidFill>
                  <a:srgbClr val="7F7F7F"/>
                </a:solidFill>
                <a:latin typeface="Calibri"/>
                <a:ea typeface="Calibri"/>
                <a:cs typeface="Calibri"/>
                <a:sym typeface="Calibri"/>
              </a:defRPr>
            </a:lvl2pPr>
            <a:lvl3pPr indent="0" lvl="2" marL="0" algn="r">
              <a:spcBef>
                <a:spcPts val="0"/>
              </a:spcBef>
              <a:buNone/>
              <a:defRPr sz="1100">
                <a:solidFill>
                  <a:srgbClr val="7F7F7F"/>
                </a:solidFill>
                <a:latin typeface="Calibri"/>
                <a:ea typeface="Calibri"/>
                <a:cs typeface="Calibri"/>
                <a:sym typeface="Calibri"/>
              </a:defRPr>
            </a:lvl3pPr>
            <a:lvl4pPr indent="0" lvl="3" marL="0" algn="r">
              <a:spcBef>
                <a:spcPts val="0"/>
              </a:spcBef>
              <a:buNone/>
              <a:defRPr sz="1100">
                <a:solidFill>
                  <a:srgbClr val="7F7F7F"/>
                </a:solidFill>
                <a:latin typeface="Calibri"/>
                <a:ea typeface="Calibri"/>
                <a:cs typeface="Calibri"/>
                <a:sym typeface="Calibri"/>
              </a:defRPr>
            </a:lvl4pPr>
            <a:lvl5pPr indent="0" lvl="4" marL="0" algn="r">
              <a:spcBef>
                <a:spcPts val="0"/>
              </a:spcBef>
              <a:buNone/>
              <a:defRPr sz="1100">
                <a:solidFill>
                  <a:srgbClr val="7F7F7F"/>
                </a:solidFill>
                <a:latin typeface="Calibri"/>
                <a:ea typeface="Calibri"/>
                <a:cs typeface="Calibri"/>
                <a:sym typeface="Calibri"/>
              </a:defRPr>
            </a:lvl5pPr>
            <a:lvl6pPr indent="0" lvl="5" marL="0" algn="r">
              <a:spcBef>
                <a:spcPts val="0"/>
              </a:spcBef>
              <a:buNone/>
              <a:defRPr sz="1100">
                <a:solidFill>
                  <a:srgbClr val="7F7F7F"/>
                </a:solidFill>
                <a:latin typeface="Calibri"/>
                <a:ea typeface="Calibri"/>
                <a:cs typeface="Calibri"/>
                <a:sym typeface="Calibri"/>
              </a:defRPr>
            </a:lvl6pPr>
            <a:lvl7pPr indent="0" lvl="6" marL="0" algn="r">
              <a:spcBef>
                <a:spcPts val="0"/>
              </a:spcBef>
              <a:buNone/>
              <a:defRPr sz="1100">
                <a:solidFill>
                  <a:srgbClr val="7F7F7F"/>
                </a:solidFill>
                <a:latin typeface="Calibri"/>
                <a:ea typeface="Calibri"/>
                <a:cs typeface="Calibri"/>
                <a:sym typeface="Calibri"/>
              </a:defRPr>
            </a:lvl7pPr>
            <a:lvl8pPr indent="0" lvl="7" marL="0" algn="r">
              <a:spcBef>
                <a:spcPts val="0"/>
              </a:spcBef>
              <a:buNone/>
              <a:defRPr sz="1100">
                <a:solidFill>
                  <a:srgbClr val="7F7F7F"/>
                </a:solidFill>
                <a:latin typeface="Calibri"/>
                <a:ea typeface="Calibri"/>
                <a:cs typeface="Calibri"/>
                <a:sym typeface="Calibri"/>
              </a:defRPr>
            </a:lvl8pPr>
            <a:lvl9pPr indent="0" lvl="8" marL="0" algn="r">
              <a:spcBef>
                <a:spcPts val="0"/>
              </a:spcBef>
              <a:buNone/>
              <a:defRPr sz="1100">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A3"/>
              </a:buClr>
              <a:buSzPts val="4000"/>
              <a:buFont typeface="Calibri"/>
              <a:buNone/>
              <a:defRPr b="1" i="0" sz="4000" u="none" cap="none" strike="noStrike">
                <a:solidFill>
                  <a:srgbClr val="0000A3"/>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0000A3"/>
              </a:buClr>
              <a:buSzPts val="2800"/>
              <a:buFont typeface="Noto Sans Symbols"/>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rgbClr val="0000A8"/>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7F7F7F"/>
                </a:solidFill>
                <a:latin typeface="Calibri"/>
                <a:ea typeface="Calibri"/>
                <a:cs typeface="Calibri"/>
                <a:sym typeface="Calibri"/>
              </a:defRPr>
            </a:lvl1pPr>
            <a:lvl2pPr indent="0" lvl="1" marL="0" marR="0" rtl="0" algn="r">
              <a:spcBef>
                <a:spcPts val="0"/>
              </a:spcBef>
              <a:buNone/>
              <a:defRPr b="0" i="0" sz="1100" u="none" cap="none" strike="noStrike">
                <a:solidFill>
                  <a:srgbClr val="7F7F7F"/>
                </a:solidFill>
                <a:latin typeface="Calibri"/>
                <a:ea typeface="Calibri"/>
                <a:cs typeface="Calibri"/>
                <a:sym typeface="Calibri"/>
              </a:defRPr>
            </a:lvl2pPr>
            <a:lvl3pPr indent="0" lvl="2" marL="0" marR="0" rtl="0" algn="r">
              <a:spcBef>
                <a:spcPts val="0"/>
              </a:spcBef>
              <a:buNone/>
              <a:defRPr b="0" i="0" sz="1100" u="none" cap="none" strike="noStrike">
                <a:solidFill>
                  <a:srgbClr val="7F7F7F"/>
                </a:solidFill>
                <a:latin typeface="Calibri"/>
                <a:ea typeface="Calibri"/>
                <a:cs typeface="Calibri"/>
                <a:sym typeface="Calibri"/>
              </a:defRPr>
            </a:lvl3pPr>
            <a:lvl4pPr indent="0" lvl="3" marL="0" marR="0" rtl="0" algn="r">
              <a:spcBef>
                <a:spcPts val="0"/>
              </a:spcBef>
              <a:buNone/>
              <a:defRPr b="0" i="0" sz="1100" u="none" cap="none" strike="noStrike">
                <a:solidFill>
                  <a:srgbClr val="7F7F7F"/>
                </a:solidFill>
                <a:latin typeface="Calibri"/>
                <a:ea typeface="Calibri"/>
                <a:cs typeface="Calibri"/>
                <a:sym typeface="Calibri"/>
              </a:defRPr>
            </a:lvl4pPr>
            <a:lvl5pPr indent="0" lvl="4" marL="0" marR="0" rtl="0" algn="r">
              <a:spcBef>
                <a:spcPts val="0"/>
              </a:spcBef>
              <a:buNone/>
              <a:defRPr b="0" i="0" sz="1100" u="none" cap="none" strike="noStrike">
                <a:solidFill>
                  <a:srgbClr val="7F7F7F"/>
                </a:solidFill>
                <a:latin typeface="Calibri"/>
                <a:ea typeface="Calibri"/>
                <a:cs typeface="Calibri"/>
                <a:sym typeface="Calibri"/>
              </a:defRPr>
            </a:lvl5pPr>
            <a:lvl6pPr indent="0" lvl="5" marL="0" marR="0" rtl="0" algn="r">
              <a:spcBef>
                <a:spcPts val="0"/>
              </a:spcBef>
              <a:buNone/>
              <a:defRPr b="0" i="0" sz="1100" u="none" cap="none" strike="noStrike">
                <a:solidFill>
                  <a:srgbClr val="7F7F7F"/>
                </a:solidFill>
                <a:latin typeface="Calibri"/>
                <a:ea typeface="Calibri"/>
                <a:cs typeface="Calibri"/>
                <a:sym typeface="Calibri"/>
              </a:defRPr>
            </a:lvl6pPr>
            <a:lvl7pPr indent="0" lvl="6" marL="0" marR="0" rtl="0" algn="r">
              <a:spcBef>
                <a:spcPts val="0"/>
              </a:spcBef>
              <a:buNone/>
              <a:defRPr b="0" i="0" sz="1100" u="none" cap="none" strike="noStrike">
                <a:solidFill>
                  <a:srgbClr val="7F7F7F"/>
                </a:solidFill>
                <a:latin typeface="Calibri"/>
                <a:ea typeface="Calibri"/>
                <a:cs typeface="Calibri"/>
                <a:sym typeface="Calibri"/>
              </a:defRPr>
            </a:lvl7pPr>
            <a:lvl8pPr indent="0" lvl="7" marL="0" marR="0" rtl="0" algn="r">
              <a:spcBef>
                <a:spcPts val="0"/>
              </a:spcBef>
              <a:buNone/>
              <a:defRPr b="0" i="0" sz="1100" u="none" cap="none" strike="noStrike">
                <a:solidFill>
                  <a:srgbClr val="7F7F7F"/>
                </a:solidFill>
                <a:latin typeface="Calibri"/>
                <a:ea typeface="Calibri"/>
                <a:cs typeface="Calibri"/>
                <a:sym typeface="Calibri"/>
              </a:defRPr>
            </a:lvl8pPr>
            <a:lvl9pPr indent="0" lvl="8" marL="0" marR="0" rtl="0" algn="r">
              <a:spcBef>
                <a:spcPts val="0"/>
              </a:spcBef>
              <a:buNone/>
              <a:defRPr b="0" i="0" sz="1100" u="none" cap="none" strike="noStrike">
                <a:solidFill>
                  <a:srgbClr val="7F7F7F"/>
                </a:solidFill>
                <a:latin typeface="Calibri"/>
                <a:ea typeface="Calibri"/>
                <a:cs typeface="Calibri"/>
                <a:sym typeface="Calibri"/>
              </a:defRPr>
            </a:lvl9pPr>
          </a:lstStyle>
          <a:p>
            <a:pPr indent="0" lvl="0" marL="0" rtl="0" algn="r">
              <a:spcBef>
                <a:spcPts val="0"/>
              </a:spcBef>
              <a:spcAft>
                <a:spcPts val="0"/>
              </a:spcAft>
              <a:buNone/>
            </a:pPr>
            <a:r>
              <a:rPr lang="en-US"/>
              <a:t>Introduction: 1-</a:t>
            </a: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7.jpg"/><Relationship Id="rId5"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0.png"/><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2.png"/><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6"/>
          <p:cNvSpPr txBox="1"/>
          <p:nvPr>
            <p:ph type="title"/>
          </p:nvPr>
        </p:nvSpPr>
        <p:spPr>
          <a:xfrm>
            <a:off x="580529" y="650420"/>
            <a:ext cx="6551791" cy="11167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6000"/>
              <a:buFont typeface="Calibri"/>
              <a:buNone/>
            </a:pPr>
            <a:r>
              <a:rPr lang="en-US" sz="6000"/>
              <a:t>Transport Layer</a:t>
            </a:r>
            <a:endParaRPr sz="6000"/>
          </a:p>
        </p:txBody>
      </p:sp>
      <p:sp>
        <p:nvSpPr>
          <p:cNvPr id="35" name="Google Shape;35;p6"/>
          <p:cNvSpPr txBox="1"/>
          <p:nvPr>
            <p:ph idx="2" type="body"/>
          </p:nvPr>
        </p:nvSpPr>
        <p:spPr>
          <a:xfrm>
            <a:off x="590430" y="1783836"/>
            <a:ext cx="7372469" cy="4173132"/>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2800"/>
              <a:buChar char="▪"/>
            </a:pPr>
            <a:r>
              <a:rPr lang="en-US">
                <a:solidFill>
                  <a:srgbClr val="BFBFBF"/>
                </a:solidFill>
              </a:rPr>
              <a:t>Transport-layer services</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3200"/>
              <a:buChar char="▪"/>
            </a:pPr>
            <a:r>
              <a:rPr lang="en-US" sz="3200"/>
              <a:t>Principles of reliable data transfer </a:t>
            </a:r>
            <a:r>
              <a:rPr lang="en-US">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TCP congestion control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Evolution of transport-layer functionality</a:t>
            </a:r>
            <a:endParaRPr/>
          </a:p>
          <a:p>
            <a:pPr indent="-222250" lvl="0" marL="352425" rtl="0" algn="l">
              <a:lnSpc>
                <a:spcPct val="90000"/>
              </a:lnSpc>
              <a:spcBef>
                <a:spcPts val="1000"/>
              </a:spcBef>
              <a:spcAft>
                <a:spcPts val="0"/>
              </a:spcAft>
              <a:buClr>
                <a:srgbClr val="0013A3"/>
              </a:buClr>
              <a:buSzPts val="2400"/>
              <a:buFont typeface="Noto Sans Symbols"/>
              <a:buNone/>
            </a:pPr>
            <a:r>
              <a:t/>
            </a:r>
            <a:endParaRPr sz="2400"/>
          </a:p>
        </p:txBody>
      </p:sp>
      <p:grpSp>
        <p:nvGrpSpPr>
          <p:cNvPr id="36" name="Google Shape;36;p6"/>
          <p:cNvGrpSpPr/>
          <p:nvPr/>
        </p:nvGrpSpPr>
        <p:grpSpPr>
          <a:xfrm>
            <a:off x="7421880" y="792480"/>
            <a:ext cx="4399280" cy="3866277"/>
            <a:chOff x="7421880" y="792480"/>
            <a:chExt cx="4399280" cy="3866277"/>
          </a:xfrm>
        </p:grpSpPr>
        <p:pic>
          <p:nvPicPr>
            <p:cNvPr descr="University of Massachusetts Amherst - Wikipedia" id="37" name="Google Shape;37;p6"/>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38" name="Google Shape;38;p6"/>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39" name="Google Shape;39;p6"/>
            <p:cNvGrpSpPr/>
            <p:nvPr/>
          </p:nvGrpSpPr>
          <p:grpSpPr>
            <a:xfrm>
              <a:off x="7884160" y="3304540"/>
              <a:ext cx="3857707" cy="1354217"/>
              <a:chOff x="7904480" y="4206240"/>
              <a:chExt cx="3857707" cy="1354217"/>
            </a:xfrm>
          </p:grpSpPr>
          <p:pic>
            <p:nvPicPr>
              <p:cNvPr descr="Kurose_CVR_REV2.jpg" id="40" name="Google Shape;40;p6"/>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41" name="Google Shape;41;p6"/>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1000"/>
                                        <p:tgtEl>
                                          <p:spTgt spid="3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1000"/>
                                        <p:tgtEl>
                                          <p:spTgt spid="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48" name="Google Shape;48;p7"/>
          <p:cNvGrpSpPr/>
          <p:nvPr/>
        </p:nvGrpSpPr>
        <p:grpSpPr>
          <a:xfrm>
            <a:off x="238849" y="1911780"/>
            <a:ext cx="5147343" cy="2073847"/>
            <a:chOff x="737513" y="2398718"/>
            <a:chExt cx="5595549" cy="2073847"/>
          </a:xfrm>
        </p:grpSpPr>
        <p:sp>
          <p:nvSpPr>
            <p:cNvPr id="49" name="Google Shape;49;p7"/>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50" name="Google Shape;50;p7"/>
            <p:cNvGrpSpPr/>
            <p:nvPr/>
          </p:nvGrpSpPr>
          <p:grpSpPr>
            <a:xfrm>
              <a:off x="1442223" y="2551892"/>
              <a:ext cx="1245036" cy="593992"/>
              <a:chOff x="9852456" y="608434"/>
              <a:chExt cx="1245036" cy="593992"/>
            </a:xfrm>
          </p:grpSpPr>
          <p:sp>
            <p:nvSpPr>
              <p:cNvPr id="51" name="Google Shape;51;p7"/>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52" name="Google Shape;52;p7"/>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53" name="Google Shape;53;p7"/>
            <p:cNvGrpSpPr/>
            <p:nvPr/>
          </p:nvGrpSpPr>
          <p:grpSpPr>
            <a:xfrm>
              <a:off x="2038693" y="3003923"/>
              <a:ext cx="577241" cy="307777"/>
              <a:chOff x="9950444" y="999755"/>
              <a:chExt cx="577241" cy="307777"/>
            </a:xfrm>
          </p:grpSpPr>
          <p:sp>
            <p:nvSpPr>
              <p:cNvPr id="54" name="Google Shape;54;p7"/>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5" name="Google Shape;55;p7"/>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56" name="Google Shape;56;p7"/>
            <p:cNvGrpSpPr/>
            <p:nvPr/>
          </p:nvGrpSpPr>
          <p:grpSpPr>
            <a:xfrm>
              <a:off x="1175476" y="2432423"/>
              <a:ext cx="545509" cy="512284"/>
              <a:chOff x="-44" y="1473"/>
              <a:chExt cx="981" cy="1105"/>
            </a:xfrm>
          </p:grpSpPr>
          <p:pic>
            <p:nvPicPr>
              <p:cNvPr descr="desktop_computer_stylized_medium" id="57" name="Google Shape;57;p7"/>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58" name="Google Shape;58;p7"/>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59" name="Google Shape;59;p7"/>
            <p:cNvGrpSpPr/>
            <p:nvPr/>
          </p:nvGrpSpPr>
          <p:grpSpPr>
            <a:xfrm>
              <a:off x="4756576" y="2530702"/>
              <a:ext cx="1245036" cy="593992"/>
              <a:chOff x="9852456" y="608434"/>
              <a:chExt cx="1245036" cy="593992"/>
            </a:xfrm>
          </p:grpSpPr>
          <p:sp>
            <p:nvSpPr>
              <p:cNvPr id="60" name="Google Shape;60;p7"/>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61" name="Google Shape;61;p7"/>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62" name="Google Shape;62;p7"/>
            <p:cNvGrpSpPr/>
            <p:nvPr/>
          </p:nvGrpSpPr>
          <p:grpSpPr>
            <a:xfrm>
              <a:off x="4815705" y="3003923"/>
              <a:ext cx="577241" cy="307777"/>
              <a:chOff x="9678159" y="981583"/>
              <a:chExt cx="577241" cy="307777"/>
            </a:xfrm>
          </p:grpSpPr>
          <p:sp>
            <p:nvSpPr>
              <p:cNvPr id="63" name="Google Shape;63;p7"/>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 name="Google Shape;64;p7"/>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65" name="Google Shape;65;p7"/>
            <p:cNvGrpSpPr/>
            <p:nvPr/>
          </p:nvGrpSpPr>
          <p:grpSpPr>
            <a:xfrm>
              <a:off x="5854223" y="2398718"/>
              <a:ext cx="230514" cy="466725"/>
              <a:chOff x="4140" y="429"/>
              <a:chExt cx="1425" cy="2396"/>
            </a:xfrm>
          </p:grpSpPr>
          <p:sp>
            <p:nvSpPr>
              <p:cNvPr id="66" name="Google Shape;66;p7"/>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7" name="Google Shape;67;p7"/>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8" name="Google Shape;68;p7"/>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9" name="Google Shape;69;p7"/>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0" name="Google Shape;70;p7"/>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1" name="Google Shape;71;p7"/>
              <p:cNvGrpSpPr/>
              <p:nvPr/>
            </p:nvGrpSpPr>
            <p:grpSpPr>
              <a:xfrm>
                <a:off x="4751" y="667"/>
                <a:ext cx="580" cy="146"/>
                <a:chOff x="617" y="2567"/>
                <a:chExt cx="724" cy="140"/>
              </a:xfrm>
            </p:grpSpPr>
            <p:sp>
              <p:nvSpPr>
                <p:cNvPr id="72" name="Google Shape;72;p7"/>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3" name="Google Shape;73;p7"/>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4" name="Google Shape;74;p7"/>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75" name="Google Shape;75;p7"/>
              <p:cNvGrpSpPr/>
              <p:nvPr/>
            </p:nvGrpSpPr>
            <p:grpSpPr>
              <a:xfrm>
                <a:off x="4745" y="996"/>
                <a:ext cx="580" cy="156"/>
                <a:chOff x="612" y="2570"/>
                <a:chExt cx="724" cy="162"/>
              </a:xfrm>
            </p:grpSpPr>
            <p:sp>
              <p:nvSpPr>
                <p:cNvPr id="76" name="Google Shape;76;p7"/>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7" name="Google Shape;77;p7"/>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78" name="Google Shape;78;p7"/>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79" name="Google Shape;79;p7"/>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0" name="Google Shape;80;p7"/>
              <p:cNvGrpSpPr/>
              <p:nvPr/>
            </p:nvGrpSpPr>
            <p:grpSpPr>
              <a:xfrm>
                <a:off x="4733" y="1627"/>
                <a:ext cx="586" cy="151"/>
                <a:chOff x="611" y="2568"/>
                <a:chExt cx="730" cy="139"/>
              </a:xfrm>
            </p:grpSpPr>
            <p:sp>
              <p:nvSpPr>
                <p:cNvPr id="81" name="Google Shape;81;p7"/>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2" name="Google Shape;82;p7"/>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3" name="Google Shape;83;p7"/>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 name="Google Shape;84;p7"/>
              <p:cNvGrpSpPr/>
              <p:nvPr/>
            </p:nvGrpSpPr>
            <p:grpSpPr>
              <a:xfrm>
                <a:off x="4739" y="1325"/>
                <a:ext cx="580" cy="140"/>
                <a:chOff x="614" y="2566"/>
                <a:chExt cx="723" cy="140"/>
              </a:xfrm>
            </p:grpSpPr>
            <p:sp>
              <p:nvSpPr>
                <p:cNvPr id="85" name="Google Shape;85;p7"/>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6" name="Google Shape;86;p7"/>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87" name="Google Shape;87;p7"/>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8" name="Google Shape;88;p7"/>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 name="Google Shape;89;p7"/>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 name="Google Shape;90;p7"/>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 name="Google Shape;91;p7"/>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2" name="Google Shape;92;p7"/>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 name="Google Shape;93;p7"/>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 name="Google Shape;94;p7"/>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 name="Google Shape;95;p7"/>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96" name="Google Shape;96;p7"/>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7" name="Google Shape;97;p7"/>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8" name="Google Shape;98;p7"/>
            <p:cNvGrpSpPr/>
            <p:nvPr/>
          </p:nvGrpSpPr>
          <p:grpSpPr>
            <a:xfrm>
              <a:off x="2669417" y="3423937"/>
              <a:ext cx="2003932" cy="369332"/>
              <a:chOff x="7504363" y="3141846"/>
              <a:chExt cx="2003932" cy="369332"/>
            </a:xfrm>
          </p:grpSpPr>
          <p:grpSp>
            <p:nvGrpSpPr>
              <p:cNvPr id="99" name="Google Shape;99;p7"/>
              <p:cNvGrpSpPr/>
              <p:nvPr/>
            </p:nvGrpSpPr>
            <p:grpSpPr>
              <a:xfrm>
                <a:off x="7504363" y="3183676"/>
                <a:ext cx="2003932" cy="306163"/>
                <a:chOff x="1616358" y="2551230"/>
                <a:chExt cx="2141698" cy="218510"/>
              </a:xfrm>
            </p:grpSpPr>
            <p:sp>
              <p:nvSpPr>
                <p:cNvPr id="100" name="Google Shape;100;p7"/>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1" name="Google Shape;101;p7"/>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2" name="Google Shape;102;p7"/>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3" name="Google Shape;103;p7"/>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04" name="Google Shape;104;p7"/>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105" name="Google Shape;105;p7"/>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06" name="Google Shape;106;p7"/>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107" name="Google Shape;107;p7"/>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08" name="Google Shape;108;p7"/>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09" name="Google Shape;109;p7"/>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10" name="Google Shape;110;p7"/>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abstraction</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117" name="Google Shape;117;p8"/>
          <p:cNvGrpSpPr/>
          <p:nvPr/>
        </p:nvGrpSpPr>
        <p:grpSpPr>
          <a:xfrm>
            <a:off x="6226081" y="1900904"/>
            <a:ext cx="5598584" cy="4095684"/>
            <a:chOff x="6226081" y="2364366"/>
            <a:chExt cx="5598584" cy="4095684"/>
          </a:xfrm>
        </p:grpSpPr>
        <p:grpSp>
          <p:nvGrpSpPr>
            <p:cNvPr id="118" name="Google Shape;118;p8"/>
            <p:cNvGrpSpPr/>
            <p:nvPr/>
          </p:nvGrpSpPr>
          <p:grpSpPr>
            <a:xfrm>
              <a:off x="6944646" y="2545250"/>
              <a:ext cx="1245036" cy="593992"/>
              <a:chOff x="9852456" y="608434"/>
              <a:chExt cx="1245036" cy="593992"/>
            </a:xfrm>
          </p:grpSpPr>
          <p:sp>
            <p:nvSpPr>
              <p:cNvPr id="119" name="Google Shape;119;p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20" name="Google Shape;120;p8"/>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121" name="Google Shape;121;p8"/>
            <p:cNvGrpSpPr/>
            <p:nvPr/>
          </p:nvGrpSpPr>
          <p:grpSpPr>
            <a:xfrm>
              <a:off x="7541116" y="2997281"/>
              <a:ext cx="577241" cy="338554"/>
              <a:chOff x="9950444" y="999755"/>
              <a:chExt cx="577241" cy="338554"/>
            </a:xfrm>
          </p:grpSpPr>
          <p:sp>
            <p:nvSpPr>
              <p:cNvPr id="122" name="Google Shape;122;p8"/>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23" name="Google Shape;123;p8"/>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24" name="Google Shape;124;p8"/>
            <p:cNvGrpSpPr/>
            <p:nvPr/>
          </p:nvGrpSpPr>
          <p:grpSpPr>
            <a:xfrm>
              <a:off x="6677899" y="2425781"/>
              <a:ext cx="545509" cy="512284"/>
              <a:chOff x="-44" y="1473"/>
              <a:chExt cx="981" cy="1105"/>
            </a:xfrm>
          </p:grpSpPr>
          <p:pic>
            <p:nvPicPr>
              <p:cNvPr descr="desktop_computer_stylized_medium" id="125" name="Google Shape;125;p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126" name="Google Shape;126;p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27" name="Google Shape;127;p8"/>
            <p:cNvGrpSpPr/>
            <p:nvPr/>
          </p:nvGrpSpPr>
          <p:grpSpPr>
            <a:xfrm>
              <a:off x="10189724" y="2496350"/>
              <a:ext cx="1245036" cy="593992"/>
              <a:chOff x="9852456" y="608434"/>
              <a:chExt cx="1245036" cy="593992"/>
            </a:xfrm>
          </p:grpSpPr>
          <p:sp>
            <p:nvSpPr>
              <p:cNvPr id="128" name="Google Shape;128;p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29" name="Google Shape;129;p8"/>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130" name="Google Shape;130;p8"/>
            <p:cNvGrpSpPr/>
            <p:nvPr/>
          </p:nvGrpSpPr>
          <p:grpSpPr>
            <a:xfrm>
              <a:off x="10248853" y="2969571"/>
              <a:ext cx="577241" cy="338554"/>
              <a:chOff x="9678159" y="981583"/>
              <a:chExt cx="577241" cy="338554"/>
            </a:xfrm>
          </p:grpSpPr>
          <p:sp>
            <p:nvSpPr>
              <p:cNvPr id="131" name="Google Shape;131;p8"/>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2" name="Google Shape;132;p8"/>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133" name="Google Shape;133;p8"/>
            <p:cNvGrpSpPr/>
            <p:nvPr/>
          </p:nvGrpSpPr>
          <p:grpSpPr>
            <a:xfrm>
              <a:off x="11287371" y="2364366"/>
              <a:ext cx="230514" cy="466725"/>
              <a:chOff x="4140" y="429"/>
              <a:chExt cx="1425" cy="2396"/>
            </a:xfrm>
          </p:grpSpPr>
          <p:sp>
            <p:nvSpPr>
              <p:cNvPr id="134" name="Google Shape;134;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 name="Google Shape;135;p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 name="Google Shape;136;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7" name="Google Shape;137;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8" name="Google Shape;138;p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39" name="Google Shape;139;p8"/>
              <p:cNvGrpSpPr/>
              <p:nvPr/>
            </p:nvGrpSpPr>
            <p:grpSpPr>
              <a:xfrm>
                <a:off x="4751" y="667"/>
                <a:ext cx="580" cy="146"/>
                <a:chOff x="617" y="2567"/>
                <a:chExt cx="724" cy="140"/>
              </a:xfrm>
            </p:grpSpPr>
            <p:sp>
              <p:nvSpPr>
                <p:cNvPr id="140" name="Google Shape;140;p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1" name="Google Shape;141;p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2" name="Google Shape;142;p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3" name="Google Shape;143;p8"/>
              <p:cNvGrpSpPr/>
              <p:nvPr/>
            </p:nvGrpSpPr>
            <p:grpSpPr>
              <a:xfrm>
                <a:off x="4745" y="996"/>
                <a:ext cx="580" cy="156"/>
                <a:chOff x="612" y="2570"/>
                <a:chExt cx="724" cy="162"/>
              </a:xfrm>
            </p:grpSpPr>
            <p:sp>
              <p:nvSpPr>
                <p:cNvPr id="144" name="Google Shape;144;p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 name="Google Shape;145;p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46" name="Google Shape;146;p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7" name="Google Shape;147;p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48" name="Google Shape;148;p8"/>
              <p:cNvGrpSpPr/>
              <p:nvPr/>
            </p:nvGrpSpPr>
            <p:grpSpPr>
              <a:xfrm>
                <a:off x="4733" y="1627"/>
                <a:ext cx="586" cy="151"/>
                <a:chOff x="611" y="2568"/>
                <a:chExt cx="730" cy="139"/>
              </a:xfrm>
            </p:grpSpPr>
            <p:sp>
              <p:nvSpPr>
                <p:cNvPr id="149" name="Google Shape;149;p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0" name="Google Shape;150;p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1" name="Google Shape;151;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52" name="Google Shape;152;p8"/>
              <p:cNvGrpSpPr/>
              <p:nvPr/>
            </p:nvGrpSpPr>
            <p:grpSpPr>
              <a:xfrm>
                <a:off x="4739" y="1325"/>
                <a:ext cx="580" cy="140"/>
                <a:chOff x="614" y="2566"/>
                <a:chExt cx="723" cy="140"/>
              </a:xfrm>
            </p:grpSpPr>
            <p:sp>
              <p:nvSpPr>
                <p:cNvPr id="153" name="Google Shape;153;p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4" name="Google Shape;154;p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155" name="Google Shape;155;p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6" name="Google Shape;156;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7" name="Google Shape;157;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8" name="Google Shape;158;p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59" name="Google Shape;159;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0" name="Google Shape;160;p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1" name="Google Shape;161;p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2" name="Google Shape;162;p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3" name="Google Shape;163;p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64" name="Google Shape;164;p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65" name="Google Shape;165;p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166" name="Google Shape;166;p8"/>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67" name="Google Shape;167;p8"/>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168" name="Google Shape;168;p8"/>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169" name="Google Shape;169;p8"/>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170" name="Google Shape;170;p8"/>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171" name="Google Shape;171;p8"/>
            <p:cNvGrpSpPr/>
            <p:nvPr/>
          </p:nvGrpSpPr>
          <p:grpSpPr>
            <a:xfrm>
              <a:off x="6573835" y="5301907"/>
              <a:ext cx="5250830" cy="481581"/>
              <a:chOff x="6737055" y="3471301"/>
              <a:chExt cx="5250830" cy="481581"/>
            </a:xfrm>
          </p:grpSpPr>
          <p:grpSp>
            <p:nvGrpSpPr>
              <p:cNvPr id="172" name="Google Shape;172;p8"/>
              <p:cNvGrpSpPr/>
              <p:nvPr/>
            </p:nvGrpSpPr>
            <p:grpSpPr>
              <a:xfrm>
                <a:off x="8324240" y="3583550"/>
                <a:ext cx="2044628" cy="369332"/>
                <a:chOff x="7504363" y="3155701"/>
                <a:chExt cx="2044628" cy="369332"/>
              </a:xfrm>
            </p:grpSpPr>
            <p:grpSp>
              <p:nvGrpSpPr>
                <p:cNvPr id="173" name="Google Shape;173;p8"/>
                <p:cNvGrpSpPr/>
                <p:nvPr/>
              </p:nvGrpSpPr>
              <p:grpSpPr>
                <a:xfrm>
                  <a:off x="7504363" y="3183676"/>
                  <a:ext cx="2003932" cy="306163"/>
                  <a:chOff x="1616358" y="2551230"/>
                  <a:chExt cx="2141698" cy="218510"/>
                </a:xfrm>
              </p:grpSpPr>
              <p:sp>
                <p:nvSpPr>
                  <p:cNvPr id="174" name="Google Shape;174;p8"/>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5" name="Google Shape;175;p8"/>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6" name="Google Shape;176;p8"/>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7" name="Google Shape;177;p8"/>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78" name="Google Shape;178;p8"/>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179" name="Google Shape;179;p8"/>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180" name="Google Shape;180;p8"/>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181" name="Google Shape;181;p8"/>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182" name="Google Shape;182;p8"/>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183" name="Google Shape;183;p8"/>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184" name="Google Shape;184;p8"/>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185" name="Google Shape;185;p8"/>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186" name="Google Shape;186;p8"/>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187" name="Google Shape;187;p8"/>
            <p:cNvGrpSpPr/>
            <p:nvPr/>
          </p:nvGrpSpPr>
          <p:grpSpPr>
            <a:xfrm>
              <a:off x="7535361" y="5023850"/>
              <a:ext cx="632009" cy="632009"/>
              <a:chOff x="7408199" y="4955748"/>
              <a:chExt cx="632009" cy="632009"/>
            </a:xfrm>
          </p:grpSpPr>
          <p:cxnSp>
            <p:nvCxnSpPr>
              <p:cNvPr id="188" name="Google Shape;188;p8"/>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89" name="Google Shape;189;p8"/>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190" name="Google Shape;190;p8"/>
            <p:cNvGrpSpPr/>
            <p:nvPr/>
          </p:nvGrpSpPr>
          <p:grpSpPr>
            <a:xfrm rot="-5400000">
              <a:off x="10248530" y="5019008"/>
              <a:ext cx="632009" cy="632009"/>
              <a:chOff x="7408199" y="4948974"/>
              <a:chExt cx="632009" cy="632009"/>
            </a:xfrm>
          </p:grpSpPr>
          <p:cxnSp>
            <p:nvCxnSpPr>
              <p:cNvPr id="191" name="Google Shape;191;p8"/>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192" name="Google Shape;192;p8"/>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193" name="Google Shape;193;p8"/>
          <p:cNvGrpSpPr/>
          <p:nvPr/>
        </p:nvGrpSpPr>
        <p:grpSpPr>
          <a:xfrm>
            <a:off x="238849" y="1911780"/>
            <a:ext cx="5147343" cy="2073847"/>
            <a:chOff x="737513" y="2398718"/>
            <a:chExt cx="5595549" cy="2073847"/>
          </a:xfrm>
        </p:grpSpPr>
        <p:sp>
          <p:nvSpPr>
            <p:cNvPr id="194" name="Google Shape;194;p8"/>
            <p:cNvSpPr/>
            <p:nvPr/>
          </p:nvSpPr>
          <p:spPr>
            <a:xfrm>
              <a:off x="4575391" y="3206649"/>
              <a:ext cx="929535" cy="419742"/>
            </a:xfrm>
            <a:prstGeom prst="bentUpArrow">
              <a:avLst>
                <a:gd fmla="val 7688" name="adj1"/>
                <a:gd fmla="val 18199" name="adj2"/>
                <a:gd fmla="val 2019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95" name="Google Shape;195;p8"/>
            <p:cNvGrpSpPr/>
            <p:nvPr/>
          </p:nvGrpSpPr>
          <p:grpSpPr>
            <a:xfrm>
              <a:off x="1442223" y="2551892"/>
              <a:ext cx="1245036" cy="593992"/>
              <a:chOff x="9852456" y="608434"/>
              <a:chExt cx="1245036" cy="593992"/>
            </a:xfrm>
          </p:grpSpPr>
          <p:sp>
            <p:nvSpPr>
              <p:cNvPr id="196" name="Google Shape;196;p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197" name="Google Shape;197;p8"/>
              <p:cNvSpPr txBox="1"/>
              <p:nvPr/>
            </p:nvSpPr>
            <p:spPr>
              <a:xfrm>
                <a:off x="9935581"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sending process</a:t>
                </a:r>
                <a:endParaRPr/>
              </a:p>
            </p:txBody>
          </p:sp>
        </p:grpSp>
        <p:grpSp>
          <p:nvGrpSpPr>
            <p:cNvPr id="198" name="Google Shape;198;p8"/>
            <p:cNvGrpSpPr/>
            <p:nvPr/>
          </p:nvGrpSpPr>
          <p:grpSpPr>
            <a:xfrm>
              <a:off x="2038693" y="3003923"/>
              <a:ext cx="577241" cy="307777"/>
              <a:chOff x="9950444" y="999755"/>
              <a:chExt cx="577241" cy="307777"/>
            </a:xfrm>
          </p:grpSpPr>
          <p:sp>
            <p:nvSpPr>
              <p:cNvPr id="199" name="Google Shape;199;p8"/>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0" name="Google Shape;200;p8"/>
              <p:cNvSpPr txBox="1"/>
              <p:nvPr/>
            </p:nvSpPr>
            <p:spPr>
              <a:xfrm>
                <a:off x="9950444" y="999755"/>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01" name="Google Shape;201;p8"/>
            <p:cNvGrpSpPr/>
            <p:nvPr/>
          </p:nvGrpSpPr>
          <p:grpSpPr>
            <a:xfrm>
              <a:off x="1175476" y="2432423"/>
              <a:ext cx="545509" cy="512284"/>
              <a:chOff x="-44" y="1473"/>
              <a:chExt cx="981" cy="1105"/>
            </a:xfrm>
          </p:grpSpPr>
          <p:pic>
            <p:nvPicPr>
              <p:cNvPr descr="desktop_computer_stylized_medium" id="202" name="Google Shape;202;p8"/>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03" name="Google Shape;203;p8"/>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04" name="Google Shape;204;p8"/>
            <p:cNvGrpSpPr/>
            <p:nvPr/>
          </p:nvGrpSpPr>
          <p:grpSpPr>
            <a:xfrm>
              <a:off x="4756576" y="2530702"/>
              <a:ext cx="1245036" cy="593992"/>
              <a:chOff x="9852456" y="608434"/>
              <a:chExt cx="1245036" cy="593992"/>
            </a:xfrm>
          </p:grpSpPr>
          <p:sp>
            <p:nvSpPr>
              <p:cNvPr id="205" name="Google Shape;205;p8"/>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06" name="Google Shape;206;p8"/>
              <p:cNvSpPr txBox="1"/>
              <p:nvPr/>
            </p:nvSpPr>
            <p:spPr>
              <a:xfrm>
                <a:off x="9921965" y="670265"/>
                <a:ext cx="1106492" cy="491225"/>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receiving process</a:t>
                </a:r>
                <a:endParaRPr/>
              </a:p>
            </p:txBody>
          </p:sp>
        </p:grpSp>
        <p:grpSp>
          <p:nvGrpSpPr>
            <p:cNvPr id="207" name="Google Shape;207;p8"/>
            <p:cNvGrpSpPr/>
            <p:nvPr/>
          </p:nvGrpSpPr>
          <p:grpSpPr>
            <a:xfrm>
              <a:off x="4815705" y="3003923"/>
              <a:ext cx="577241" cy="307777"/>
              <a:chOff x="9678159" y="981583"/>
              <a:chExt cx="577241" cy="307777"/>
            </a:xfrm>
          </p:grpSpPr>
          <p:sp>
            <p:nvSpPr>
              <p:cNvPr id="208" name="Google Shape;208;p8"/>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9" name="Google Shape;209;p8"/>
              <p:cNvSpPr txBox="1"/>
              <p:nvPr/>
            </p:nvSpPr>
            <p:spPr>
              <a:xfrm>
                <a:off x="9678159" y="981583"/>
                <a:ext cx="57724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10" name="Google Shape;210;p8"/>
            <p:cNvGrpSpPr/>
            <p:nvPr/>
          </p:nvGrpSpPr>
          <p:grpSpPr>
            <a:xfrm>
              <a:off x="5854223" y="2398718"/>
              <a:ext cx="230514" cy="466725"/>
              <a:chOff x="4140" y="429"/>
              <a:chExt cx="1425" cy="2396"/>
            </a:xfrm>
          </p:grpSpPr>
          <p:sp>
            <p:nvSpPr>
              <p:cNvPr id="211" name="Google Shape;211;p8"/>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2" name="Google Shape;212;p8"/>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 name="Google Shape;213;p8"/>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4" name="Google Shape;214;p8"/>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 name="Google Shape;215;p8"/>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6" name="Google Shape;216;p8"/>
              <p:cNvGrpSpPr/>
              <p:nvPr/>
            </p:nvGrpSpPr>
            <p:grpSpPr>
              <a:xfrm>
                <a:off x="4751" y="667"/>
                <a:ext cx="580" cy="146"/>
                <a:chOff x="617" y="2567"/>
                <a:chExt cx="724" cy="140"/>
              </a:xfrm>
            </p:grpSpPr>
            <p:sp>
              <p:nvSpPr>
                <p:cNvPr id="217" name="Google Shape;217;p8"/>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8" name="Google Shape;218;p8"/>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19" name="Google Shape;219;p8"/>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0" name="Google Shape;220;p8"/>
              <p:cNvGrpSpPr/>
              <p:nvPr/>
            </p:nvGrpSpPr>
            <p:grpSpPr>
              <a:xfrm>
                <a:off x="4745" y="996"/>
                <a:ext cx="580" cy="156"/>
                <a:chOff x="612" y="2570"/>
                <a:chExt cx="724" cy="162"/>
              </a:xfrm>
            </p:grpSpPr>
            <p:sp>
              <p:nvSpPr>
                <p:cNvPr id="221" name="Google Shape;221;p8"/>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2" name="Google Shape;222;p8"/>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3" name="Google Shape;223;p8"/>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4" name="Google Shape;224;p8"/>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5" name="Google Shape;225;p8"/>
              <p:cNvGrpSpPr/>
              <p:nvPr/>
            </p:nvGrpSpPr>
            <p:grpSpPr>
              <a:xfrm>
                <a:off x="4733" y="1627"/>
                <a:ext cx="586" cy="151"/>
                <a:chOff x="611" y="2568"/>
                <a:chExt cx="730" cy="139"/>
              </a:xfrm>
            </p:grpSpPr>
            <p:sp>
              <p:nvSpPr>
                <p:cNvPr id="226" name="Google Shape;226;p8"/>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27" name="Google Shape;227;p8"/>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28" name="Google Shape;228;p8"/>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29" name="Google Shape;229;p8"/>
              <p:cNvGrpSpPr/>
              <p:nvPr/>
            </p:nvGrpSpPr>
            <p:grpSpPr>
              <a:xfrm>
                <a:off x="4739" y="1325"/>
                <a:ext cx="580" cy="140"/>
                <a:chOff x="614" y="2566"/>
                <a:chExt cx="723" cy="140"/>
              </a:xfrm>
            </p:grpSpPr>
            <p:sp>
              <p:nvSpPr>
                <p:cNvPr id="230" name="Google Shape;230;p8"/>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1" name="Google Shape;231;p8"/>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32" name="Google Shape;232;p8"/>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3" name="Google Shape;233;p8"/>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4" name="Google Shape;234;p8"/>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5" name="Google Shape;235;p8"/>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6" name="Google Shape;236;p8"/>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7" name="Google Shape;237;p8"/>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8" name="Google Shape;238;p8"/>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39" name="Google Shape;239;p8"/>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0" name="Google Shape;240;p8"/>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241" name="Google Shape;241;p8"/>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2" name="Google Shape;242;p8"/>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43" name="Google Shape;243;p8"/>
            <p:cNvGrpSpPr/>
            <p:nvPr/>
          </p:nvGrpSpPr>
          <p:grpSpPr>
            <a:xfrm>
              <a:off x="2669417" y="3423937"/>
              <a:ext cx="2003932" cy="369332"/>
              <a:chOff x="7504363" y="3141846"/>
              <a:chExt cx="2003932" cy="369332"/>
            </a:xfrm>
          </p:grpSpPr>
          <p:grpSp>
            <p:nvGrpSpPr>
              <p:cNvPr id="244" name="Google Shape;244;p8"/>
              <p:cNvGrpSpPr/>
              <p:nvPr/>
            </p:nvGrpSpPr>
            <p:grpSpPr>
              <a:xfrm>
                <a:off x="7504363" y="3183676"/>
                <a:ext cx="2003932" cy="306163"/>
                <a:chOff x="1616358" y="2551230"/>
                <a:chExt cx="2141698" cy="218510"/>
              </a:xfrm>
            </p:grpSpPr>
            <p:sp>
              <p:nvSpPr>
                <p:cNvPr id="245" name="Google Shape;245;p8"/>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6" name="Google Shape;246;p8"/>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7" name="Google Shape;247;p8"/>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48" name="Google Shape;248;p8"/>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249" name="Google Shape;249;p8"/>
              <p:cNvSpPr txBox="1"/>
              <p:nvPr/>
            </p:nvSpPr>
            <p:spPr>
              <a:xfrm>
                <a:off x="7695752" y="3141846"/>
                <a:ext cx="167885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reliable channel</a:t>
                </a:r>
                <a:endParaRPr/>
              </a:p>
            </p:txBody>
          </p:sp>
        </p:grpSp>
        <p:cxnSp>
          <p:nvCxnSpPr>
            <p:cNvPr id="250" name="Google Shape;250;p8"/>
            <p:cNvCxnSpPr/>
            <p:nvPr/>
          </p:nvCxnSpPr>
          <p:spPr>
            <a:xfrm>
              <a:off x="1082232"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51" name="Google Shape;251;p8"/>
            <p:cNvSpPr/>
            <p:nvPr/>
          </p:nvSpPr>
          <p:spPr>
            <a:xfrm rot="5400000">
              <a:off x="2152182" y="3067004"/>
              <a:ext cx="462111" cy="773811"/>
            </a:xfrm>
            <a:prstGeom prst="bentUpArrow">
              <a:avLst>
                <a:gd fmla="val 7999" name="adj1"/>
                <a:gd fmla="val 16334" name="adj2"/>
                <a:gd fmla="val 21389" name="adj3"/>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cxnSp>
          <p:nvCxnSpPr>
            <p:cNvPr id="252" name="Google Shape;252;p8"/>
            <p:cNvCxnSpPr/>
            <p:nvPr/>
          </p:nvCxnSpPr>
          <p:spPr>
            <a:xfrm>
              <a:off x="4645151" y="3325543"/>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253" name="Google Shape;253;p8"/>
            <p:cNvSpPr txBox="1"/>
            <p:nvPr/>
          </p:nvSpPr>
          <p:spPr>
            <a:xfrm>
              <a:off x="737513" y="3044385"/>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254" name="Google Shape;254;p8"/>
            <p:cNvSpPr txBox="1"/>
            <p:nvPr/>
          </p:nvSpPr>
          <p:spPr>
            <a:xfrm>
              <a:off x="828116" y="3272133"/>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255" name="Google Shape;255;p8"/>
            <p:cNvSpPr txBox="1"/>
            <p:nvPr/>
          </p:nvSpPr>
          <p:spPr>
            <a:xfrm flipH="1">
              <a:off x="1817207" y="4010900"/>
              <a:ext cx="402565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000000"/>
                  </a:solidFill>
                  <a:latin typeface="Calibri"/>
                  <a:ea typeface="Calibri"/>
                  <a:cs typeface="Calibri"/>
                  <a:sym typeface="Calibri"/>
                </a:rPr>
                <a:t>abstraction</a:t>
              </a:r>
              <a:endParaRPr/>
            </a:p>
          </p:txBody>
        </p:sp>
      </p:grpSp>
      <p:sp>
        <p:nvSpPr>
          <p:cNvPr id="256" name="Google Shape;256;p8"/>
          <p:cNvSpPr/>
          <p:nvPr/>
        </p:nvSpPr>
        <p:spPr>
          <a:xfrm>
            <a:off x="295893" y="1816276"/>
            <a:ext cx="5265664" cy="2394608"/>
          </a:xfrm>
          <a:prstGeom prst="rect">
            <a:avLst/>
          </a:prstGeom>
          <a:solidFill>
            <a:schemeClr val="lt1">
              <a:alpha val="8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57" name="Google Shape;257;p8"/>
          <p:cNvSpPr/>
          <p:nvPr/>
        </p:nvSpPr>
        <p:spPr>
          <a:xfrm>
            <a:off x="5448822" y="3106456"/>
            <a:ext cx="638827" cy="1014608"/>
          </a:xfrm>
          <a:prstGeom prst="rightArrow">
            <a:avLst>
              <a:gd fmla="val 50000" name="adj1"/>
              <a:gd fmla="val 50000" name="adj2"/>
            </a:avLst>
          </a:prstGeom>
          <a:gradFill>
            <a:gsLst>
              <a:gs pos="0">
                <a:srgbClr val="F5F7FC"/>
              </a:gs>
              <a:gs pos="56000">
                <a:srgbClr val="C00000"/>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8" name="Google Shape;258;p8"/>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9" name="Google Shape;259;p8"/>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1000"/>
                                        <p:tgtEl>
                                          <p:spTgt spid="117"/>
                                        </p:tgtEl>
                                      </p:cBhvr>
                                    </p:animEffect>
                                  </p:childTnLst>
                                </p:cTn>
                              </p:par>
                            </p:childTnLst>
                          </p:cTn>
                        </p:par>
                        <p:par>
                          <p:cTn fill="hold">
                            <p:stCondLst>
                              <p:cond delay="1500"/>
                            </p:stCondLst>
                            <p:childTnLst>
                              <p:par>
                                <p:cTn fill="hold" nodeType="afterEffect" presetClass="exit" presetID="10" presetSubtype="0">
                                  <p:stCondLst>
                                    <p:cond delay="0"/>
                                  </p:stCondLst>
                                  <p:childTnLst>
                                    <p:animEffect filter="fade" transition="out">
                                      <p:cBhvr>
                                        <p:cTn dur="500"/>
                                        <p:tgtEl>
                                          <p:spTgt spid="257"/>
                                        </p:tgtEl>
                                      </p:cBhvr>
                                    </p:animEffect>
                                    <p:set>
                                      <p:cBhvr>
                                        <p:cTn dur="1" fill="hold">
                                          <p:stCondLst>
                                            <p:cond delay="500"/>
                                          </p:stCondLst>
                                        </p:cTn>
                                        <p:tgtEl>
                                          <p:spTgt spid="2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500"/>
                            </p:stCondLst>
                            <p:childTnLst>
                              <p:par>
                                <p:cTn fill="hold" nodeType="afterEffect" presetClass="entr" presetID="10" presetSubtype="0">
                                  <p:stCondLst>
                                    <p:cond delay="100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266" name="Google Shape;266;p9"/>
          <p:cNvGrpSpPr/>
          <p:nvPr/>
        </p:nvGrpSpPr>
        <p:grpSpPr>
          <a:xfrm>
            <a:off x="6226081" y="1900904"/>
            <a:ext cx="5598584" cy="4095684"/>
            <a:chOff x="6226081" y="2364366"/>
            <a:chExt cx="5598584" cy="4095684"/>
          </a:xfrm>
        </p:grpSpPr>
        <p:grpSp>
          <p:nvGrpSpPr>
            <p:cNvPr id="267" name="Google Shape;267;p9"/>
            <p:cNvGrpSpPr/>
            <p:nvPr/>
          </p:nvGrpSpPr>
          <p:grpSpPr>
            <a:xfrm>
              <a:off x="6944646" y="2545250"/>
              <a:ext cx="1245036" cy="593992"/>
              <a:chOff x="9852456" y="608434"/>
              <a:chExt cx="1245036" cy="593992"/>
            </a:xfrm>
          </p:grpSpPr>
          <p:sp>
            <p:nvSpPr>
              <p:cNvPr id="268" name="Google Shape;268;p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69" name="Google Shape;269;p9"/>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270" name="Google Shape;270;p9"/>
            <p:cNvGrpSpPr/>
            <p:nvPr/>
          </p:nvGrpSpPr>
          <p:grpSpPr>
            <a:xfrm>
              <a:off x="7541116" y="2997281"/>
              <a:ext cx="577241" cy="338554"/>
              <a:chOff x="9950444" y="999755"/>
              <a:chExt cx="577241" cy="338554"/>
            </a:xfrm>
          </p:grpSpPr>
          <p:sp>
            <p:nvSpPr>
              <p:cNvPr id="271" name="Google Shape;271;p9"/>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72" name="Google Shape;272;p9"/>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73" name="Google Shape;273;p9"/>
            <p:cNvGrpSpPr/>
            <p:nvPr/>
          </p:nvGrpSpPr>
          <p:grpSpPr>
            <a:xfrm>
              <a:off x="6677899" y="2425781"/>
              <a:ext cx="545509" cy="512284"/>
              <a:chOff x="-44" y="1473"/>
              <a:chExt cx="981" cy="1105"/>
            </a:xfrm>
          </p:grpSpPr>
          <p:pic>
            <p:nvPicPr>
              <p:cNvPr descr="desktop_computer_stylized_medium" id="274" name="Google Shape;274;p9"/>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275" name="Google Shape;275;p9"/>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76" name="Google Shape;276;p9"/>
            <p:cNvGrpSpPr/>
            <p:nvPr/>
          </p:nvGrpSpPr>
          <p:grpSpPr>
            <a:xfrm>
              <a:off x="10189724" y="2496350"/>
              <a:ext cx="1245036" cy="593992"/>
              <a:chOff x="9852456" y="608434"/>
              <a:chExt cx="1245036" cy="593992"/>
            </a:xfrm>
          </p:grpSpPr>
          <p:sp>
            <p:nvSpPr>
              <p:cNvPr id="277" name="Google Shape;277;p9"/>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278" name="Google Shape;278;p9"/>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279" name="Google Shape;279;p9"/>
            <p:cNvGrpSpPr/>
            <p:nvPr/>
          </p:nvGrpSpPr>
          <p:grpSpPr>
            <a:xfrm>
              <a:off x="10248853" y="2969571"/>
              <a:ext cx="577241" cy="338554"/>
              <a:chOff x="9678159" y="981583"/>
              <a:chExt cx="577241" cy="338554"/>
            </a:xfrm>
          </p:grpSpPr>
          <p:sp>
            <p:nvSpPr>
              <p:cNvPr id="280" name="Google Shape;280;p9"/>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81" name="Google Shape;281;p9"/>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282" name="Google Shape;282;p9"/>
            <p:cNvGrpSpPr/>
            <p:nvPr/>
          </p:nvGrpSpPr>
          <p:grpSpPr>
            <a:xfrm>
              <a:off x="11287371" y="2364366"/>
              <a:ext cx="230514" cy="466725"/>
              <a:chOff x="4140" y="429"/>
              <a:chExt cx="1425" cy="2396"/>
            </a:xfrm>
          </p:grpSpPr>
          <p:sp>
            <p:nvSpPr>
              <p:cNvPr id="283" name="Google Shape;283;p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4" name="Google Shape;284;p9"/>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5" name="Google Shape;285;p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6" name="Google Shape;286;p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87" name="Google Shape;287;p9"/>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88" name="Google Shape;288;p9"/>
              <p:cNvGrpSpPr/>
              <p:nvPr/>
            </p:nvGrpSpPr>
            <p:grpSpPr>
              <a:xfrm>
                <a:off x="4751" y="667"/>
                <a:ext cx="580" cy="146"/>
                <a:chOff x="617" y="2567"/>
                <a:chExt cx="724" cy="140"/>
              </a:xfrm>
            </p:grpSpPr>
            <p:sp>
              <p:nvSpPr>
                <p:cNvPr id="289" name="Google Shape;289;p9"/>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0" name="Google Shape;290;p9"/>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1" name="Google Shape;291;p9"/>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2" name="Google Shape;292;p9"/>
              <p:cNvGrpSpPr/>
              <p:nvPr/>
            </p:nvGrpSpPr>
            <p:grpSpPr>
              <a:xfrm>
                <a:off x="4745" y="996"/>
                <a:ext cx="580" cy="156"/>
                <a:chOff x="612" y="2570"/>
                <a:chExt cx="724" cy="162"/>
              </a:xfrm>
            </p:grpSpPr>
            <p:sp>
              <p:nvSpPr>
                <p:cNvPr id="293" name="Google Shape;293;p9"/>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4" name="Google Shape;294;p9"/>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95" name="Google Shape;295;p9"/>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6" name="Google Shape;296;p9"/>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97" name="Google Shape;297;p9"/>
              <p:cNvGrpSpPr/>
              <p:nvPr/>
            </p:nvGrpSpPr>
            <p:grpSpPr>
              <a:xfrm>
                <a:off x="4733" y="1627"/>
                <a:ext cx="586" cy="151"/>
                <a:chOff x="611" y="2568"/>
                <a:chExt cx="730" cy="139"/>
              </a:xfrm>
            </p:grpSpPr>
            <p:sp>
              <p:nvSpPr>
                <p:cNvPr id="298" name="Google Shape;298;p9"/>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99" name="Google Shape;299;p9"/>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0" name="Google Shape;300;p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01" name="Google Shape;301;p9"/>
              <p:cNvGrpSpPr/>
              <p:nvPr/>
            </p:nvGrpSpPr>
            <p:grpSpPr>
              <a:xfrm>
                <a:off x="4739" y="1325"/>
                <a:ext cx="580" cy="140"/>
                <a:chOff x="614" y="2566"/>
                <a:chExt cx="723" cy="140"/>
              </a:xfrm>
            </p:grpSpPr>
            <p:sp>
              <p:nvSpPr>
                <p:cNvPr id="302" name="Google Shape;302;p9"/>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3" name="Google Shape;303;p9"/>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04" name="Google Shape;304;p9"/>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5" name="Google Shape;305;p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6" name="Google Shape;306;p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7" name="Google Shape;307;p9"/>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8" name="Google Shape;308;p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09" name="Google Shape;309;p9"/>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0" name="Google Shape;310;p9"/>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1" name="Google Shape;311;p9"/>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2" name="Google Shape;312;p9"/>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313" name="Google Shape;313;p9"/>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14" name="Google Shape;314;p9"/>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315" name="Google Shape;315;p9"/>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16" name="Google Shape;316;p9"/>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317" name="Google Shape;317;p9"/>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318" name="Google Shape;318;p9"/>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319" name="Google Shape;319;p9"/>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320" name="Google Shape;320;p9"/>
            <p:cNvGrpSpPr/>
            <p:nvPr/>
          </p:nvGrpSpPr>
          <p:grpSpPr>
            <a:xfrm>
              <a:off x="6573835" y="5301907"/>
              <a:ext cx="5250830" cy="481581"/>
              <a:chOff x="6737055" y="3471301"/>
              <a:chExt cx="5250830" cy="481581"/>
            </a:xfrm>
          </p:grpSpPr>
          <p:grpSp>
            <p:nvGrpSpPr>
              <p:cNvPr id="321" name="Google Shape;321;p9"/>
              <p:cNvGrpSpPr/>
              <p:nvPr/>
            </p:nvGrpSpPr>
            <p:grpSpPr>
              <a:xfrm>
                <a:off x="8324240" y="3583550"/>
                <a:ext cx="2044628" cy="369332"/>
                <a:chOff x="7504363" y="3155701"/>
                <a:chExt cx="2044628" cy="369332"/>
              </a:xfrm>
            </p:grpSpPr>
            <p:grpSp>
              <p:nvGrpSpPr>
                <p:cNvPr id="322" name="Google Shape;322;p9"/>
                <p:cNvGrpSpPr/>
                <p:nvPr/>
              </p:nvGrpSpPr>
              <p:grpSpPr>
                <a:xfrm>
                  <a:off x="7504363" y="3183676"/>
                  <a:ext cx="2003932" cy="306163"/>
                  <a:chOff x="1616358" y="2551230"/>
                  <a:chExt cx="2141698" cy="218510"/>
                </a:xfrm>
              </p:grpSpPr>
              <p:sp>
                <p:nvSpPr>
                  <p:cNvPr id="323" name="Google Shape;323;p9"/>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4" name="Google Shape;324;p9"/>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5" name="Google Shape;325;p9"/>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26" name="Google Shape;326;p9"/>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327" name="Google Shape;327;p9"/>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328" name="Google Shape;328;p9"/>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329" name="Google Shape;329;p9"/>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330" name="Google Shape;330;p9"/>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331" name="Google Shape;331;p9"/>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332" name="Google Shape;332;p9"/>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333" name="Google Shape;333;p9"/>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334" name="Google Shape;334;p9"/>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335" name="Google Shape;335;p9"/>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336" name="Google Shape;336;p9"/>
            <p:cNvGrpSpPr/>
            <p:nvPr/>
          </p:nvGrpSpPr>
          <p:grpSpPr>
            <a:xfrm>
              <a:off x="7535361" y="5023850"/>
              <a:ext cx="632009" cy="632009"/>
              <a:chOff x="7408199" y="4955748"/>
              <a:chExt cx="632009" cy="632009"/>
            </a:xfrm>
          </p:grpSpPr>
          <p:cxnSp>
            <p:nvCxnSpPr>
              <p:cNvPr id="337" name="Google Shape;337;p9"/>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38" name="Google Shape;338;p9"/>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339" name="Google Shape;339;p9"/>
            <p:cNvGrpSpPr/>
            <p:nvPr/>
          </p:nvGrpSpPr>
          <p:grpSpPr>
            <a:xfrm rot="-5400000">
              <a:off x="10248530" y="5019008"/>
              <a:ext cx="632009" cy="632009"/>
              <a:chOff x="7408199" y="4948974"/>
              <a:chExt cx="632009" cy="632009"/>
            </a:xfrm>
          </p:grpSpPr>
          <p:cxnSp>
            <p:nvCxnSpPr>
              <p:cNvPr id="340" name="Google Shape;340;p9"/>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341" name="Google Shape;341;p9"/>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342" name="Google Shape;342;p9"/>
          <p:cNvGrpSpPr/>
          <p:nvPr/>
        </p:nvGrpSpPr>
        <p:grpSpPr>
          <a:xfrm>
            <a:off x="995688" y="3550466"/>
            <a:ext cx="9016751" cy="2246769"/>
            <a:chOff x="995688" y="4013928"/>
            <a:chExt cx="9016751" cy="2246769"/>
          </a:xfrm>
        </p:grpSpPr>
        <p:sp>
          <p:nvSpPr>
            <p:cNvPr id="343" name="Google Shape;343;p9"/>
            <p:cNvSpPr txBox="1"/>
            <p:nvPr/>
          </p:nvSpPr>
          <p:spPr>
            <a:xfrm>
              <a:off x="995688" y="4013928"/>
              <a:ext cx="4815357" cy="22467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Complexity of reliable data transfer protocol  will depend (strongly) on characteristics of unreliable channel (lose, corrupt, reorder data?)</a:t>
              </a:r>
              <a:endParaRPr/>
            </a:p>
          </p:txBody>
        </p:sp>
        <p:cxnSp>
          <p:nvCxnSpPr>
            <p:cNvPr id="344" name="Google Shape;344;p9"/>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345" name="Google Shape;345;p9"/>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346" name="Google Shape;346;p9"/>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7" name="Google Shape;347;p9"/>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Principles of reliable </a:t>
            </a:r>
            <a:r>
              <a:rPr lang="en-US"/>
              <a:t>d</a:t>
            </a:r>
            <a:r>
              <a:rPr lang="en-US" sz="4400"/>
              <a:t>ata </a:t>
            </a:r>
            <a:r>
              <a:rPr lang="en-US"/>
              <a:t>t</a:t>
            </a:r>
            <a:r>
              <a:rPr lang="en-US" sz="4400"/>
              <a:t>ransfer </a:t>
            </a:r>
            <a:endParaRPr/>
          </a:p>
        </p:txBody>
      </p:sp>
      <p:grpSp>
        <p:nvGrpSpPr>
          <p:cNvPr id="354" name="Google Shape;354;p10"/>
          <p:cNvGrpSpPr/>
          <p:nvPr/>
        </p:nvGrpSpPr>
        <p:grpSpPr>
          <a:xfrm>
            <a:off x="6226081" y="1900904"/>
            <a:ext cx="5598584" cy="4095684"/>
            <a:chOff x="6226081" y="2364366"/>
            <a:chExt cx="5598584" cy="4095684"/>
          </a:xfrm>
        </p:grpSpPr>
        <p:grpSp>
          <p:nvGrpSpPr>
            <p:cNvPr id="355" name="Google Shape;355;p10"/>
            <p:cNvGrpSpPr/>
            <p:nvPr/>
          </p:nvGrpSpPr>
          <p:grpSpPr>
            <a:xfrm>
              <a:off x="6944646" y="2545250"/>
              <a:ext cx="1245036" cy="593992"/>
              <a:chOff x="9852456" y="608434"/>
              <a:chExt cx="1245036" cy="593992"/>
            </a:xfrm>
          </p:grpSpPr>
          <p:sp>
            <p:nvSpPr>
              <p:cNvPr id="356" name="Google Shape;356;p10"/>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57" name="Google Shape;357;p10"/>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358" name="Google Shape;358;p10"/>
            <p:cNvGrpSpPr/>
            <p:nvPr/>
          </p:nvGrpSpPr>
          <p:grpSpPr>
            <a:xfrm>
              <a:off x="7541116" y="2997281"/>
              <a:ext cx="577241" cy="338554"/>
              <a:chOff x="9950444" y="999755"/>
              <a:chExt cx="577241" cy="338554"/>
            </a:xfrm>
          </p:grpSpPr>
          <p:sp>
            <p:nvSpPr>
              <p:cNvPr id="359" name="Google Shape;359;p10"/>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0" name="Google Shape;360;p10"/>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61" name="Google Shape;361;p10"/>
            <p:cNvGrpSpPr/>
            <p:nvPr/>
          </p:nvGrpSpPr>
          <p:grpSpPr>
            <a:xfrm>
              <a:off x="6677899" y="2425781"/>
              <a:ext cx="545509" cy="512284"/>
              <a:chOff x="-44" y="1473"/>
              <a:chExt cx="981" cy="1105"/>
            </a:xfrm>
          </p:grpSpPr>
          <p:pic>
            <p:nvPicPr>
              <p:cNvPr descr="desktop_computer_stylized_medium" id="362" name="Google Shape;362;p10"/>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363" name="Google Shape;363;p10"/>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364" name="Google Shape;364;p10"/>
            <p:cNvGrpSpPr/>
            <p:nvPr/>
          </p:nvGrpSpPr>
          <p:grpSpPr>
            <a:xfrm>
              <a:off x="10189724" y="2496350"/>
              <a:ext cx="1245036" cy="593992"/>
              <a:chOff x="9852456" y="608434"/>
              <a:chExt cx="1245036" cy="593992"/>
            </a:xfrm>
          </p:grpSpPr>
          <p:sp>
            <p:nvSpPr>
              <p:cNvPr id="365" name="Google Shape;365;p10"/>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366" name="Google Shape;366;p10"/>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367" name="Google Shape;367;p10"/>
            <p:cNvGrpSpPr/>
            <p:nvPr/>
          </p:nvGrpSpPr>
          <p:grpSpPr>
            <a:xfrm>
              <a:off x="10248853" y="2969571"/>
              <a:ext cx="577241" cy="338554"/>
              <a:chOff x="9678159" y="981583"/>
              <a:chExt cx="577241" cy="338554"/>
            </a:xfrm>
          </p:grpSpPr>
          <p:sp>
            <p:nvSpPr>
              <p:cNvPr id="368" name="Google Shape;368;p10"/>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369" name="Google Shape;369;p10"/>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370" name="Google Shape;370;p10"/>
            <p:cNvGrpSpPr/>
            <p:nvPr/>
          </p:nvGrpSpPr>
          <p:grpSpPr>
            <a:xfrm>
              <a:off x="11287371" y="2364366"/>
              <a:ext cx="230514" cy="466725"/>
              <a:chOff x="4140" y="429"/>
              <a:chExt cx="1425" cy="2396"/>
            </a:xfrm>
          </p:grpSpPr>
          <p:sp>
            <p:nvSpPr>
              <p:cNvPr id="371" name="Google Shape;371;p10"/>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2" name="Google Shape;372;p10"/>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3" name="Google Shape;373;p10"/>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4" name="Google Shape;374;p10"/>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5" name="Google Shape;375;p10"/>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76" name="Google Shape;376;p10"/>
              <p:cNvGrpSpPr/>
              <p:nvPr/>
            </p:nvGrpSpPr>
            <p:grpSpPr>
              <a:xfrm>
                <a:off x="4751" y="667"/>
                <a:ext cx="580" cy="146"/>
                <a:chOff x="617" y="2567"/>
                <a:chExt cx="724" cy="140"/>
              </a:xfrm>
            </p:grpSpPr>
            <p:sp>
              <p:nvSpPr>
                <p:cNvPr id="377" name="Google Shape;377;p10"/>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78" name="Google Shape;378;p10"/>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79" name="Google Shape;379;p10"/>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80" name="Google Shape;380;p10"/>
              <p:cNvGrpSpPr/>
              <p:nvPr/>
            </p:nvGrpSpPr>
            <p:grpSpPr>
              <a:xfrm>
                <a:off x="4745" y="996"/>
                <a:ext cx="580" cy="156"/>
                <a:chOff x="612" y="2570"/>
                <a:chExt cx="724" cy="162"/>
              </a:xfrm>
            </p:grpSpPr>
            <p:sp>
              <p:nvSpPr>
                <p:cNvPr id="381" name="Google Shape;381;p10"/>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2" name="Google Shape;382;p10"/>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83" name="Google Shape;383;p10"/>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4" name="Google Shape;384;p10"/>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85" name="Google Shape;385;p10"/>
              <p:cNvGrpSpPr/>
              <p:nvPr/>
            </p:nvGrpSpPr>
            <p:grpSpPr>
              <a:xfrm>
                <a:off x="4733" y="1627"/>
                <a:ext cx="586" cy="151"/>
                <a:chOff x="611" y="2568"/>
                <a:chExt cx="730" cy="139"/>
              </a:xfrm>
            </p:grpSpPr>
            <p:sp>
              <p:nvSpPr>
                <p:cNvPr id="386" name="Google Shape;386;p10"/>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87" name="Google Shape;387;p10"/>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88" name="Google Shape;388;p10"/>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389" name="Google Shape;389;p10"/>
              <p:cNvGrpSpPr/>
              <p:nvPr/>
            </p:nvGrpSpPr>
            <p:grpSpPr>
              <a:xfrm>
                <a:off x="4739" y="1325"/>
                <a:ext cx="580" cy="140"/>
                <a:chOff x="614" y="2566"/>
                <a:chExt cx="723" cy="140"/>
              </a:xfrm>
            </p:grpSpPr>
            <p:sp>
              <p:nvSpPr>
                <p:cNvPr id="390" name="Google Shape;390;p10"/>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1" name="Google Shape;391;p10"/>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392" name="Google Shape;392;p10"/>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3" name="Google Shape;393;p10"/>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4" name="Google Shape;394;p10"/>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5" name="Google Shape;395;p10"/>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6" name="Google Shape;396;p10"/>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7" name="Google Shape;397;p10"/>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8" name="Google Shape;398;p10"/>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399" name="Google Shape;399;p10"/>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00" name="Google Shape;400;p10"/>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01" name="Google Shape;401;p10"/>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02" name="Google Shape;402;p10"/>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403" name="Google Shape;403;p10"/>
            <p:cNvCxnSpPr/>
            <p:nvPr/>
          </p:nvCxnSpPr>
          <p:spPr>
            <a:xfrm>
              <a:off x="6584655" y="33189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404" name="Google Shape;404;p10"/>
            <p:cNvCxnSpPr/>
            <p:nvPr/>
          </p:nvCxnSpPr>
          <p:spPr>
            <a:xfrm>
              <a:off x="10078299" y="3291191"/>
              <a:ext cx="1687911" cy="0"/>
            </a:xfrm>
            <a:prstGeom prst="straightConnector1">
              <a:avLst/>
            </a:prstGeom>
            <a:noFill/>
            <a:ln cap="flat" cmpd="sng" w="22225">
              <a:solidFill>
                <a:srgbClr val="C00000"/>
              </a:solidFill>
              <a:prstDash val="solid"/>
              <a:miter lim="800000"/>
              <a:headEnd len="sm" w="sm" type="none"/>
              <a:tailEnd len="sm" w="sm" type="none"/>
            </a:ln>
          </p:spPr>
        </p:cxnSp>
        <p:sp>
          <p:nvSpPr>
            <p:cNvPr id="405" name="Google Shape;405;p10"/>
            <p:cNvSpPr txBox="1"/>
            <p:nvPr/>
          </p:nvSpPr>
          <p:spPr>
            <a:xfrm>
              <a:off x="6226081" y="3037743"/>
              <a:ext cx="9942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application</a:t>
              </a:r>
              <a:endParaRPr b="0" i="0" sz="1800" u="none" cap="none" strike="noStrike">
                <a:solidFill>
                  <a:srgbClr val="000000"/>
                </a:solidFill>
                <a:latin typeface="Calibri"/>
                <a:ea typeface="Calibri"/>
                <a:cs typeface="Calibri"/>
                <a:sym typeface="Calibri"/>
              </a:endParaRPr>
            </a:p>
          </p:txBody>
        </p:sp>
        <p:sp>
          <p:nvSpPr>
            <p:cNvPr id="406" name="Google Shape;406;p10"/>
            <p:cNvSpPr txBox="1"/>
            <p:nvPr/>
          </p:nvSpPr>
          <p:spPr>
            <a:xfrm>
              <a:off x="6344394" y="3265491"/>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sp>
          <p:nvSpPr>
            <p:cNvPr id="407" name="Google Shape;407;p10"/>
            <p:cNvSpPr txBox="1"/>
            <p:nvPr/>
          </p:nvSpPr>
          <p:spPr>
            <a:xfrm flipH="1">
              <a:off x="7109034" y="5998385"/>
              <a:ext cx="465717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reliable service </a:t>
              </a:r>
              <a:r>
                <a:rPr b="0" i="1" lang="en-US" sz="2400" u="none" cap="none" strike="noStrike">
                  <a:solidFill>
                    <a:srgbClr val="C00000"/>
                  </a:solidFill>
                  <a:latin typeface="Calibri"/>
                  <a:ea typeface="Calibri"/>
                  <a:cs typeface="Calibri"/>
                  <a:sym typeface="Calibri"/>
                </a:rPr>
                <a:t>implementation</a:t>
              </a:r>
              <a:endParaRPr/>
            </a:p>
          </p:txBody>
        </p:sp>
        <p:grpSp>
          <p:nvGrpSpPr>
            <p:cNvPr id="408" name="Google Shape;408;p10"/>
            <p:cNvGrpSpPr/>
            <p:nvPr/>
          </p:nvGrpSpPr>
          <p:grpSpPr>
            <a:xfrm>
              <a:off x="6573835" y="5301907"/>
              <a:ext cx="5250830" cy="481581"/>
              <a:chOff x="6737055" y="3471301"/>
              <a:chExt cx="5250830" cy="481581"/>
            </a:xfrm>
          </p:grpSpPr>
          <p:grpSp>
            <p:nvGrpSpPr>
              <p:cNvPr id="409" name="Google Shape;409;p10"/>
              <p:cNvGrpSpPr/>
              <p:nvPr/>
            </p:nvGrpSpPr>
            <p:grpSpPr>
              <a:xfrm>
                <a:off x="8324240" y="3583550"/>
                <a:ext cx="2044628" cy="369332"/>
                <a:chOff x="7504363" y="3155701"/>
                <a:chExt cx="2044628" cy="369332"/>
              </a:xfrm>
            </p:grpSpPr>
            <p:grpSp>
              <p:nvGrpSpPr>
                <p:cNvPr id="410" name="Google Shape;410;p10"/>
                <p:cNvGrpSpPr/>
                <p:nvPr/>
              </p:nvGrpSpPr>
              <p:grpSpPr>
                <a:xfrm>
                  <a:off x="7504363" y="3183676"/>
                  <a:ext cx="2003932" cy="306163"/>
                  <a:chOff x="1616358" y="2551230"/>
                  <a:chExt cx="2141698" cy="218510"/>
                </a:xfrm>
              </p:grpSpPr>
              <p:sp>
                <p:nvSpPr>
                  <p:cNvPr id="411" name="Google Shape;411;p10"/>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2" name="Google Shape;412;p10"/>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3" name="Google Shape;413;p10"/>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14" name="Google Shape;414;p10"/>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415" name="Google Shape;415;p10"/>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416" name="Google Shape;416;p10"/>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417" name="Google Shape;417;p10"/>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sp>
          <p:nvSpPr>
            <p:cNvPr id="418" name="Google Shape;418;p10"/>
            <p:cNvSpPr txBox="1"/>
            <p:nvPr/>
          </p:nvSpPr>
          <p:spPr>
            <a:xfrm>
              <a:off x="6413644" y="5279980"/>
              <a:ext cx="79438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network</a:t>
              </a:r>
              <a:endParaRPr b="0" i="0" sz="1800" u="none" cap="none" strike="noStrike">
                <a:solidFill>
                  <a:srgbClr val="000000"/>
                </a:solidFill>
                <a:latin typeface="Calibri"/>
                <a:ea typeface="Calibri"/>
                <a:cs typeface="Calibri"/>
                <a:sym typeface="Calibri"/>
              </a:endParaRPr>
            </a:p>
          </p:txBody>
        </p:sp>
        <p:sp>
          <p:nvSpPr>
            <p:cNvPr id="419" name="Google Shape;419;p10"/>
            <p:cNvSpPr txBox="1"/>
            <p:nvPr/>
          </p:nvSpPr>
          <p:spPr>
            <a:xfrm>
              <a:off x="6358993" y="5023850"/>
              <a:ext cx="868699"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transport</a:t>
              </a:r>
              <a:endParaRPr b="0" i="0" sz="1800" u="none" cap="none" strike="noStrike">
                <a:solidFill>
                  <a:srgbClr val="000000"/>
                </a:solidFill>
                <a:latin typeface="Calibri"/>
                <a:ea typeface="Calibri"/>
                <a:cs typeface="Calibri"/>
                <a:sym typeface="Calibri"/>
              </a:endParaRPr>
            </a:p>
          </p:txBody>
        </p:sp>
        <p:cxnSp>
          <p:nvCxnSpPr>
            <p:cNvPr id="420" name="Google Shape;420;p10"/>
            <p:cNvCxnSpPr/>
            <p:nvPr/>
          </p:nvCxnSpPr>
          <p:spPr>
            <a:xfrm>
              <a:off x="7532988" y="3216212"/>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421" name="Google Shape;421;p10"/>
            <p:cNvCxnSpPr/>
            <p:nvPr/>
          </p:nvCxnSpPr>
          <p:spPr>
            <a:xfrm rot="10800000">
              <a:off x="10867079" y="3152635"/>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422" name="Google Shape;422;p10"/>
            <p:cNvSpPr txBox="1"/>
            <p:nvPr/>
          </p:nvSpPr>
          <p:spPr>
            <a:xfrm>
              <a:off x="6584496" y="3824138"/>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 of</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reliable data transfer protocol</a:t>
              </a:r>
              <a:endParaRPr/>
            </a:p>
          </p:txBody>
        </p:sp>
        <p:sp>
          <p:nvSpPr>
            <p:cNvPr id="423" name="Google Shape;423;p10"/>
            <p:cNvSpPr txBox="1"/>
            <p:nvPr/>
          </p:nvSpPr>
          <p:spPr>
            <a:xfrm>
              <a:off x="9914975" y="3826493"/>
              <a:ext cx="1896984" cy="8402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of reliable data transfer protocol</a:t>
              </a:r>
              <a:endParaRPr/>
            </a:p>
          </p:txBody>
        </p:sp>
        <p:grpSp>
          <p:nvGrpSpPr>
            <p:cNvPr id="424" name="Google Shape;424;p10"/>
            <p:cNvGrpSpPr/>
            <p:nvPr/>
          </p:nvGrpSpPr>
          <p:grpSpPr>
            <a:xfrm>
              <a:off x="7535361" y="5023850"/>
              <a:ext cx="632009" cy="632009"/>
              <a:chOff x="7408199" y="4955748"/>
              <a:chExt cx="632009" cy="632009"/>
            </a:xfrm>
          </p:grpSpPr>
          <p:cxnSp>
            <p:nvCxnSpPr>
              <p:cNvPr id="425" name="Google Shape;425;p10"/>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426" name="Google Shape;426;p10"/>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427" name="Google Shape;427;p10"/>
            <p:cNvGrpSpPr/>
            <p:nvPr/>
          </p:nvGrpSpPr>
          <p:grpSpPr>
            <a:xfrm rot="-5400000">
              <a:off x="10248530" y="5019008"/>
              <a:ext cx="632009" cy="632009"/>
              <a:chOff x="7408199" y="4948974"/>
              <a:chExt cx="632009" cy="632009"/>
            </a:xfrm>
          </p:grpSpPr>
          <p:cxnSp>
            <p:nvCxnSpPr>
              <p:cNvPr id="428" name="Google Shape;428;p10"/>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429" name="Google Shape;429;p10"/>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grpSp>
        <p:nvGrpSpPr>
          <p:cNvPr id="430" name="Google Shape;430;p10"/>
          <p:cNvGrpSpPr/>
          <p:nvPr/>
        </p:nvGrpSpPr>
        <p:grpSpPr>
          <a:xfrm>
            <a:off x="1042183" y="3581463"/>
            <a:ext cx="8970256" cy="2246769"/>
            <a:chOff x="1042183" y="4044925"/>
            <a:chExt cx="8970256" cy="2246769"/>
          </a:xfrm>
        </p:grpSpPr>
        <p:sp>
          <p:nvSpPr>
            <p:cNvPr id="431" name="Google Shape;431;p10"/>
            <p:cNvSpPr txBox="1"/>
            <p:nvPr/>
          </p:nvSpPr>
          <p:spPr>
            <a:xfrm>
              <a:off x="1042183" y="4044925"/>
              <a:ext cx="4815357" cy="22467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Calibri"/>
                  <a:ea typeface="Calibri"/>
                  <a:cs typeface="Calibri"/>
                  <a:sym typeface="Calibri"/>
                </a:rPr>
                <a:t>Sender, receiver do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the “state” of each other, e.g., was a message received?</a:t>
              </a:r>
              <a:endParaRPr/>
            </a:p>
            <a:p>
              <a:pPr indent="-457200" lvl="0" marL="457200"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unless communicated via a message</a:t>
              </a:r>
              <a:endParaRPr/>
            </a:p>
          </p:txBody>
        </p:sp>
        <p:cxnSp>
          <p:nvCxnSpPr>
            <p:cNvPr id="432" name="Google Shape;432;p10"/>
            <p:cNvCxnSpPr/>
            <p:nvPr/>
          </p:nvCxnSpPr>
          <p:spPr>
            <a:xfrm flipH="1">
              <a:off x="5799610" y="4167212"/>
              <a:ext cx="1091351" cy="1001120"/>
            </a:xfrm>
            <a:prstGeom prst="straightConnector1">
              <a:avLst/>
            </a:prstGeom>
            <a:noFill/>
            <a:ln cap="flat" cmpd="sng" w="9525">
              <a:solidFill>
                <a:srgbClr val="FF0000"/>
              </a:solidFill>
              <a:prstDash val="solid"/>
              <a:miter lim="800000"/>
              <a:headEnd len="sm" w="sm" type="none"/>
              <a:tailEnd len="sm" w="sm" type="none"/>
            </a:ln>
          </p:spPr>
        </p:cxnSp>
        <p:cxnSp>
          <p:nvCxnSpPr>
            <p:cNvPr id="433" name="Google Shape;433;p10"/>
            <p:cNvCxnSpPr/>
            <p:nvPr/>
          </p:nvCxnSpPr>
          <p:spPr>
            <a:xfrm flipH="1">
              <a:off x="5800941" y="4291381"/>
              <a:ext cx="4211498" cy="886357"/>
            </a:xfrm>
            <a:prstGeom prst="straightConnector1">
              <a:avLst/>
            </a:prstGeom>
            <a:noFill/>
            <a:ln cap="flat" cmpd="sng" w="9525">
              <a:solidFill>
                <a:srgbClr val="FF0000"/>
              </a:solidFill>
              <a:prstDash val="solid"/>
              <a:miter lim="800000"/>
              <a:headEnd len="sm" w="sm" type="none"/>
              <a:tailEnd len="sm" w="sm" type="none"/>
            </a:ln>
          </p:spPr>
        </p:cxnSp>
      </p:grpSp>
      <p:sp>
        <p:nvSpPr>
          <p:cNvPr id="434" name="Google Shape;434;p10"/>
          <p:cNvSpPr/>
          <p:nvPr/>
        </p:nvSpPr>
        <p:spPr>
          <a:xfrm>
            <a:off x="6586778" y="3177152"/>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5" name="Google Shape;435;p10"/>
          <p:cNvSpPr/>
          <p:nvPr/>
        </p:nvSpPr>
        <p:spPr>
          <a:xfrm>
            <a:off x="9885335" y="3174569"/>
            <a:ext cx="1952787"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A shower curtain&#10;&#10;Description automatically generated" id="436" name="Google Shape;436;p10"/>
          <p:cNvPicPr preferRelativeResize="0"/>
          <p:nvPr/>
        </p:nvPicPr>
        <p:blipFill rotWithShape="1">
          <a:blip r:embed="rId4">
            <a:alphaModFix/>
          </a:blip>
          <a:srcRect b="0" l="0" r="0" t="0"/>
          <a:stretch/>
        </p:blipFill>
        <p:spPr>
          <a:xfrm>
            <a:off x="8292476" y="1291955"/>
            <a:ext cx="1976012" cy="4393769"/>
          </a:xfrm>
          <a:prstGeom prst="rect">
            <a:avLst/>
          </a:prstGeom>
          <a:noFill/>
          <a:ln>
            <a:noFill/>
          </a:ln>
        </p:spPr>
      </p:pic>
      <p:pic>
        <p:nvPicPr>
          <p:cNvPr descr="A shower curtain&#10;&#10;Description automatically generated" id="437" name="Google Shape;437;p10"/>
          <p:cNvPicPr preferRelativeResize="0"/>
          <p:nvPr/>
        </p:nvPicPr>
        <p:blipFill rotWithShape="1">
          <a:blip r:embed="rId4">
            <a:alphaModFix/>
          </a:blip>
          <a:srcRect b="0" l="0" r="0" t="0"/>
          <a:stretch/>
        </p:blipFill>
        <p:spPr>
          <a:xfrm>
            <a:off x="8219289" y="1165171"/>
            <a:ext cx="3972711" cy="45797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500"/>
                                        <p:tgtEl>
                                          <p:spTgt spid="4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protocol (rdt): interfaces</a:t>
            </a:r>
            <a:endParaRPr/>
          </a:p>
        </p:txBody>
      </p:sp>
      <p:grpSp>
        <p:nvGrpSpPr>
          <p:cNvPr id="444" name="Google Shape;444;p11"/>
          <p:cNvGrpSpPr/>
          <p:nvPr/>
        </p:nvGrpSpPr>
        <p:grpSpPr>
          <a:xfrm>
            <a:off x="2579501" y="2165159"/>
            <a:ext cx="7088417" cy="3419122"/>
            <a:chOff x="2293693" y="1943479"/>
            <a:chExt cx="7088417" cy="3419122"/>
          </a:xfrm>
        </p:grpSpPr>
        <p:grpSp>
          <p:nvGrpSpPr>
            <p:cNvPr id="445" name="Google Shape;445;p11"/>
            <p:cNvGrpSpPr/>
            <p:nvPr/>
          </p:nvGrpSpPr>
          <p:grpSpPr>
            <a:xfrm>
              <a:off x="3481010" y="2124363"/>
              <a:ext cx="1245036" cy="593992"/>
              <a:chOff x="9852456" y="608434"/>
              <a:chExt cx="1245036" cy="593992"/>
            </a:xfrm>
          </p:grpSpPr>
          <p:sp>
            <p:nvSpPr>
              <p:cNvPr id="446" name="Google Shape;446;p1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447" name="Google Shape;447;p11"/>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sending process</a:t>
                </a:r>
                <a:endParaRPr/>
              </a:p>
            </p:txBody>
          </p:sp>
        </p:grpSp>
        <p:grpSp>
          <p:nvGrpSpPr>
            <p:cNvPr id="448" name="Google Shape;448;p11"/>
            <p:cNvGrpSpPr/>
            <p:nvPr/>
          </p:nvGrpSpPr>
          <p:grpSpPr>
            <a:xfrm>
              <a:off x="4077480" y="2576394"/>
              <a:ext cx="577241" cy="338554"/>
              <a:chOff x="9950444" y="999755"/>
              <a:chExt cx="577241" cy="338554"/>
            </a:xfrm>
          </p:grpSpPr>
          <p:sp>
            <p:nvSpPr>
              <p:cNvPr id="449" name="Google Shape;449;p11"/>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0" name="Google Shape;450;p11"/>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451" name="Google Shape;451;p11"/>
            <p:cNvGrpSpPr/>
            <p:nvPr/>
          </p:nvGrpSpPr>
          <p:grpSpPr>
            <a:xfrm>
              <a:off x="3214263" y="2004894"/>
              <a:ext cx="545509" cy="512284"/>
              <a:chOff x="-44" y="1473"/>
              <a:chExt cx="981" cy="1105"/>
            </a:xfrm>
          </p:grpSpPr>
          <p:pic>
            <p:nvPicPr>
              <p:cNvPr descr="desktop_computer_stylized_medium" id="452" name="Google Shape;452;p11"/>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453" name="Google Shape;453;p11"/>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454" name="Google Shape;454;p11"/>
            <p:cNvGrpSpPr/>
            <p:nvPr/>
          </p:nvGrpSpPr>
          <p:grpSpPr>
            <a:xfrm>
              <a:off x="6726088" y="2075463"/>
              <a:ext cx="1245036" cy="593992"/>
              <a:chOff x="9852456" y="608434"/>
              <a:chExt cx="1245036" cy="593992"/>
            </a:xfrm>
          </p:grpSpPr>
          <p:sp>
            <p:nvSpPr>
              <p:cNvPr id="455" name="Google Shape;455;p11"/>
              <p:cNvSpPr/>
              <p:nvPr/>
            </p:nvSpPr>
            <p:spPr>
              <a:xfrm>
                <a:off x="9852456" y="608434"/>
                <a:ext cx="1245036" cy="593992"/>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p:txBody>
          </p:sp>
          <p:sp>
            <p:nvSpPr>
              <p:cNvPr id="456" name="Google Shape;456;p11"/>
              <p:cNvSpPr txBox="1"/>
              <p:nvPr/>
            </p:nvSpPr>
            <p:spPr>
              <a:xfrm>
                <a:off x="9935581" y="645213"/>
                <a:ext cx="1106491" cy="541046"/>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receiving process</a:t>
                </a:r>
                <a:endParaRPr/>
              </a:p>
            </p:txBody>
          </p:sp>
        </p:grpSp>
        <p:grpSp>
          <p:nvGrpSpPr>
            <p:cNvPr id="457" name="Google Shape;457;p11"/>
            <p:cNvGrpSpPr/>
            <p:nvPr/>
          </p:nvGrpSpPr>
          <p:grpSpPr>
            <a:xfrm>
              <a:off x="6785217" y="2548684"/>
              <a:ext cx="577241" cy="338554"/>
              <a:chOff x="9678159" y="981583"/>
              <a:chExt cx="577241" cy="338554"/>
            </a:xfrm>
          </p:grpSpPr>
          <p:sp>
            <p:nvSpPr>
              <p:cNvPr id="458" name="Google Shape;458;p11"/>
              <p:cNvSpPr/>
              <p:nvPr/>
            </p:nvSpPr>
            <p:spPr>
              <a:xfrm>
                <a:off x="9744032" y="1048007"/>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59" name="Google Shape;459;p11"/>
              <p:cNvSpPr txBox="1"/>
              <p:nvPr/>
            </p:nvSpPr>
            <p:spPr>
              <a:xfrm>
                <a:off x="9678159" y="981583"/>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460" name="Google Shape;460;p11"/>
            <p:cNvGrpSpPr/>
            <p:nvPr/>
          </p:nvGrpSpPr>
          <p:grpSpPr>
            <a:xfrm>
              <a:off x="7823735" y="1943479"/>
              <a:ext cx="230514" cy="466725"/>
              <a:chOff x="4140" y="429"/>
              <a:chExt cx="1425" cy="2396"/>
            </a:xfrm>
          </p:grpSpPr>
          <p:sp>
            <p:nvSpPr>
              <p:cNvPr id="461" name="Google Shape;461;p11"/>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2" name="Google Shape;462;p11"/>
              <p:cNvSpPr/>
              <p:nvPr/>
            </p:nvSpPr>
            <p:spPr>
              <a:xfrm>
                <a:off x="4203" y="429"/>
                <a:ext cx="1053" cy="2283"/>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3" name="Google Shape;463;p11"/>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4" name="Google Shape;464;p11"/>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5" name="Google Shape;465;p11"/>
              <p:cNvSpPr/>
              <p:nvPr/>
            </p:nvSpPr>
            <p:spPr>
              <a:xfrm>
                <a:off x="4209" y="693"/>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66" name="Google Shape;466;p11"/>
              <p:cNvGrpSpPr/>
              <p:nvPr/>
            </p:nvGrpSpPr>
            <p:grpSpPr>
              <a:xfrm>
                <a:off x="4751" y="667"/>
                <a:ext cx="580" cy="146"/>
                <a:chOff x="617" y="2567"/>
                <a:chExt cx="724" cy="140"/>
              </a:xfrm>
            </p:grpSpPr>
            <p:sp>
              <p:nvSpPr>
                <p:cNvPr id="467" name="Google Shape;467;p11"/>
                <p:cNvSpPr/>
                <p:nvPr/>
              </p:nvSpPr>
              <p:spPr>
                <a:xfrm>
                  <a:off x="617" y="2567"/>
                  <a:ext cx="724"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68" name="Google Shape;468;p11"/>
                <p:cNvSpPr/>
                <p:nvPr/>
              </p:nvSpPr>
              <p:spPr>
                <a:xfrm>
                  <a:off x="633" y="2582"/>
                  <a:ext cx="692"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69" name="Google Shape;469;p11"/>
              <p:cNvSpPr/>
              <p:nvPr/>
            </p:nvSpPr>
            <p:spPr>
              <a:xfrm>
                <a:off x="4222" y="101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70" name="Google Shape;470;p11"/>
              <p:cNvGrpSpPr/>
              <p:nvPr/>
            </p:nvGrpSpPr>
            <p:grpSpPr>
              <a:xfrm>
                <a:off x="4745" y="996"/>
                <a:ext cx="580" cy="156"/>
                <a:chOff x="612" y="2570"/>
                <a:chExt cx="724" cy="162"/>
              </a:xfrm>
            </p:grpSpPr>
            <p:sp>
              <p:nvSpPr>
                <p:cNvPr id="471" name="Google Shape;471;p11"/>
                <p:cNvSpPr/>
                <p:nvPr/>
              </p:nvSpPr>
              <p:spPr>
                <a:xfrm>
                  <a:off x="612" y="2570"/>
                  <a:ext cx="724" cy="162"/>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2" name="Google Shape;472;p11"/>
                <p:cNvSpPr/>
                <p:nvPr/>
              </p:nvSpPr>
              <p:spPr>
                <a:xfrm>
                  <a:off x="628" y="2586"/>
                  <a:ext cx="692" cy="106"/>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73" name="Google Shape;473;p11"/>
              <p:cNvSpPr/>
              <p:nvPr/>
            </p:nvSpPr>
            <p:spPr>
              <a:xfrm>
                <a:off x="4216" y="1357"/>
                <a:ext cx="599"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4" name="Google Shape;474;p11"/>
              <p:cNvSpPr/>
              <p:nvPr/>
            </p:nvSpPr>
            <p:spPr>
              <a:xfrm>
                <a:off x="4228" y="1654"/>
                <a:ext cx="593" cy="49"/>
              </a:xfrm>
              <a:prstGeom prst="rect">
                <a:avLst/>
              </a:prstGeom>
              <a:solidFill>
                <a:srgbClr val="000000"/>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75" name="Google Shape;475;p11"/>
              <p:cNvGrpSpPr/>
              <p:nvPr/>
            </p:nvGrpSpPr>
            <p:grpSpPr>
              <a:xfrm>
                <a:off x="4733" y="1627"/>
                <a:ext cx="586" cy="151"/>
                <a:chOff x="611" y="2568"/>
                <a:chExt cx="730" cy="139"/>
              </a:xfrm>
            </p:grpSpPr>
            <p:sp>
              <p:nvSpPr>
                <p:cNvPr id="476" name="Google Shape;476;p11"/>
                <p:cNvSpPr/>
                <p:nvPr/>
              </p:nvSpPr>
              <p:spPr>
                <a:xfrm>
                  <a:off x="611" y="2568"/>
                  <a:ext cx="730" cy="139"/>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77" name="Google Shape;477;p11"/>
                <p:cNvSpPr/>
                <p:nvPr/>
              </p:nvSpPr>
              <p:spPr>
                <a:xfrm>
                  <a:off x="627" y="2583"/>
                  <a:ext cx="699"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78" name="Google Shape;478;p11"/>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479" name="Google Shape;479;p11"/>
              <p:cNvGrpSpPr/>
              <p:nvPr/>
            </p:nvGrpSpPr>
            <p:grpSpPr>
              <a:xfrm>
                <a:off x="4739" y="1325"/>
                <a:ext cx="580" cy="140"/>
                <a:chOff x="614" y="2566"/>
                <a:chExt cx="723" cy="140"/>
              </a:xfrm>
            </p:grpSpPr>
            <p:sp>
              <p:nvSpPr>
                <p:cNvPr id="480" name="Google Shape;480;p11"/>
                <p:cNvSpPr/>
                <p:nvPr/>
              </p:nvSpPr>
              <p:spPr>
                <a:xfrm>
                  <a:off x="614" y="2566"/>
                  <a:ext cx="723" cy="140"/>
                </a:xfrm>
                <a:prstGeom prst="roundRect">
                  <a:avLst>
                    <a:gd fmla="val 50000" name="adj"/>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1" name="Google Shape;481;p11"/>
                <p:cNvSpPr/>
                <p:nvPr/>
              </p:nvSpPr>
              <p:spPr>
                <a:xfrm>
                  <a:off x="630" y="2582"/>
                  <a:ext cx="691" cy="108"/>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482" name="Google Shape;482;p11"/>
              <p:cNvSpPr/>
              <p:nvPr/>
            </p:nvSpPr>
            <p:spPr>
              <a:xfrm>
                <a:off x="5250" y="429"/>
                <a:ext cx="69" cy="2288"/>
              </a:xfrm>
              <a:prstGeom prst="rect">
                <a:avLst/>
              </a:prstGeom>
              <a:gradFill>
                <a:gsLst>
                  <a:gs pos="0">
                    <a:srgbClr val="333333"/>
                  </a:gs>
                  <a:gs pos="50000">
                    <a:srgbClr val="DDDDDD"/>
                  </a:gs>
                  <a:gs pos="100000">
                    <a:srgbClr val="333333"/>
                  </a:gs>
                </a:gsLst>
                <a:lin ang="0"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3" name="Google Shape;483;p11"/>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4" name="Google Shape;484;p11"/>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5" name="Google Shape;485;p11"/>
              <p:cNvSpPr/>
              <p:nvPr/>
            </p:nvSpPr>
            <p:spPr>
              <a:xfrm>
                <a:off x="5515" y="2609"/>
                <a:ext cx="50" cy="97"/>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6" name="Google Shape;486;p11"/>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7" name="Google Shape;487;p11"/>
              <p:cNvSpPr/>
              <p:nvPr/>
            </p:nvSpPr>
            <p:spPr>
              <a:xfrm>
                <a:off x="4140" y="2679"/>
                <a:ext cx="1198" cy="146"/>
              </a:xfrm>
              <a:prstGeom prst="roundRect">
                <a:avLst>
                  <a:gd fmla="val 50000" name="adj"/>
                </a:avLst>
              </a:prstGeom>
              <a:solidFill>
                <a:srgbClr val="DDDDDD"/>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8" name="Google Shape;488;p11"/>
              <p:cNvSpPr/>
              <p:nvPr/>
            </p:nvSpPr>
            <p:spPr>
              <a:xfrm>
                <a:off x="4203" y="2712"/>
                <a:ext cx="1072" cy="81"/>
              </a:xfrm>
              <a:prstGeom prst="roundRect">
                <a:avLst>
                  <a:gd fmla="val 50000" name="adj"/>
                </a:avLst>
              </a:prstGeom>
              <a:gradFill>
                <a:gsLst>
                  <a:gs pos="0">
                    <a:srgbClr val="000000"/>
                  </a:gs>
                  <a:gs pos="100000">
                    <a:srgbClr val="808080"/>
                  </a:gs>
                </a:gsLst>
                <a:lin ang="0" scaled="0"/>
              </a:gra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89" name="Google Shape;489;p11"/>
              <p:cNvSpPr/>
              <p:nvPr/>
            </p:nvSpPr>
            <p:spPr>
              <a:xfrm>
                <a:off x="4310" y="2382"/>
                <a:ext cx="158" cy="146"/>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0" name="Google Shape;490;p11"/>
              <p:cNvSpPr/>
              <p:nvPr/>
            </p:nvSpPr>
            <p:spPr>
              <a:xfrm>
                <a:off x="4487" y="2382"/>
                <a:ext cx="158" cy="146"/>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491" name="Google Shape;491;p11"/>
              <p:cNvSpPr/>
              <p:nvPr/>
            </p:nvSpPr>
            <p:spPr>
              <a:xfrm>
                <a:off x="4663" y="2382"/>
                <a:ext cx="158" cy="140"/>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492" name="Google Shape;492;p11"/>
              <p:cNvSpPr/>
              <p:nvPr/>
            </p:nvSpPr>
            <p:spPr>
              <a:xfrm>
                <a:off x="5061" y="1837"/>
                <a:ext cx="88" cy="761"/>
              </a:xfrm>
              <a:prstGeom prst="rect">
                <a:avLst/>
              </a:prstGeom>
              <a:solidFill>
                <a:srgbClr val="292929"/>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493" name="Google Shape;493;p11"/>
            <p:cNvCxnSpPr/>
            <p:nvPr/>
          </p:nvCxnSpPr>
          <p:spPr>
            <a:xfrm>
              <a:off x="3121019" y="2898014"/>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494" name="Google Shape;494;p11"/>
            <p:cNvCxnSpPr/>
            <p:nvPr/>
          </p:nvCxnSpPr>
          <p:spPr>
            <a:xfrm>
              <a:off x="6614663" y="2870304"/>
              <a:ext cx="1687911" cy="0"/>
            </a:xfrm>
            <a:prstGeom prst="straightConnector1">
              <a:avLst/>
            </a:prstGeom>
            <a:noFill/>
            <a:ln cap="flat" cmpd="sng" w="22225">
              <a:solidFill>
                <a:srgbClr val="C00000"/>
              </a:solidFill>
              <a:prstDash val="solid"/>
              <a:miter lim="800000"/>
              <a:headEnd len="sm" w="sm" type="none"/>
              <a:tailEnd len="sm" w="sm" type="none"/>
            </a:ln>
          </p:spPr>
        </p:cxnSp>
        <p:grpSp>
          <p:nvGrpSpPr>
            <p:cNvPr id="495" name="Google Shape;495;p11"/>
            <p:cNvGrpSpPr/>
            <p:nvPr/>
          </p:nvGrpSpPr>
          <p:grpSpPr>
            <a:xfrm>
              <a:off x="3110199" y="4881020"/>
              <a:ext cx="5250830" cy="481581"/>
              <a:chOff x="6737055" y="3471301"/>
              <a:chExt cx="5250830" cy="481581"/>
            </a:xfrm>
          </p:grpSpPr>
          <p:grpSp>
            <p:nvGrpSpPr>
              <p:cNvPr id="496" name="Google Shape;496;p11"/>
              <p:cNvGrpSpPr/>
              <p:nvPr/>
            </p:nvGrpSpPr>
            <p:grpSpPr>
              <a:xfrm>
                <a:off x="8324240" y="3583550"/>
                <a:ext cx="2044628" cy="369332"/>
                <a:chOff x="7504363" y="3155701"/>
                <a:chExt cx="2044628" cy="369332"/>
              </a:xfrm>
            </p:grpSpPr>
            <p:grpSp>
              <p:nvGrpSpPr>
                <p:cNvPr id="497" name="Google Shape;497;p11"/>
                <p:cNvGrpSpPr/>
                <p:nvPr/>
              </p:nvGrpSpPr>
              <p:grpSpPr>
                <a:xfrm>
                  <a:off x="7504363" y="3183676"/>
                  <a:ext cx="2003932" cy="306163"/>
                  <a:chOff x="1616358" y="2551230"/>
                  <a:chExt cx="2141698" cy="218510"/>
                </a:xfrm>
              </p:grpSpPr>
              <p:sp>
                <p:nvSpPr>
                  <p:cNvPr id="498" name="Google Shape;498;p11"/>
                  <p:cNvSpPr/>
                  <p:nvPr/>
                </p:nvSpPr>
                <p:spPr>
                  <a:xfrm>
                    <a:off x="1673508" y="2551230"/>
                    <a:ext cx="2027398" cy="218510"/>
                  </a:xfrm>
                  <a:prstGeom prst="rect">
                    <a:avLst/>
                  </a:prstGeom>
                  <a:gradFill>
                    <a:gsLst>
                      <a:gs pos="0">
                        <a:srgbClr val="2E75B5"/>
                      </a:gs>
                      <a:gs pos="52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499" name="Google Shape;499;p11"/>
                  <p:cNvSpPr/>
                  <p:nvPr/>
                </p:nvSpPr>
                <p:spPr>
                  <a:xfrm>
                    <a:off x="1616358" y="2551230"/>
                    <a:ext cx="114300" cy="218510"/>
                  </a:xfrm>
                  <a:prstGeom prst="ellipse">
                    <a:avLst/>
                  </a:prstGeom>
                  <a:solidFill>
                    <a:srgbClr val="7ACCF4"/>
                  </a:soli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0" name="Google Shape;500;p11"/>
                  <p:cNvSpPr/>
                  <p:nvPr/>
                </p:nvSpPr>
                <p:spPr>
                  <a:xfrm>
                    <a:off x="3643756" y="2551230"/>
                    <a:ext cx="114300" cy="218510"/>
                  </a:xfrm>
                  <a:prstGeom prst="ellipse">
                    <a:avLst/>
                  </a:prstGeom>
                  <a:gradFill>
                    <a:gsLst>
                      <a:gs pos="0">
                        <a:srgbClr val="2E75B5"/>
                      </a:gs>
                      <a:gs pos="50000">
                        <a:srgbClr val="7ACCF4"/>
                      </a:gs>
                      <a:gs pos="100000">
                        <a:srgbClr val="2E75B5"/>
                      </a:gs>
                    </a:gsLst>
                    <a:lin ang="16200000" scaled="0"/>
                  </a:gradFill>
                  <a:ln cap="flat" cmpd="sng" w="9525">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01" name="Google Shape;501;p11"/>
                  <p:cNvSpPr/>
                  <p:nvPr/>
                </p:nvSpPr>
                <p:spPr>
                  <a:xfrm>
                    <a:off x="3491356" y="2551230"/>
                    <a:ext cx="209550" cy="218510"/>
                  </a:xfrm>
                  <a:prstGeom prst="rect">
                    <a:avLst/>
                  </a:prstGeom>
                  <a:gradFill>
                    <a:gsLst>
                      <a:gs pos="0">
                        <a:srgbClr val="2E75B5"/>
                      </a:gs>
                      <a:gs pos="52000">
                        <a:srgbClr val="7ACCF4"/>
                      </a:gs>
                      <a:gs pos="100000">
                        <a:srgbClr val="2E75B5"/>
                      </a:gs>
                    </a:gsLst>
                    <a:lin ang="16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502" name="Google Shape;502;p11"/>
                <p:cNvSpPr txBox="1"/>
                <p:nvPr/>
              </p:nvSpPr>
              <p:spPr>
                <a:xfrm>
                  <a:off x="7626477" y="3155701"/>
                  <a:ext cx="192251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unreliable channel</a:t>
                  </a:r>
                  <a:endParaRPr/>
                </a:p>
              </p:txBody>
            </p:sp>
          </p:grpSp>
          <p:cxnSp>
            <p:nvCxnSpPr>
              <p:cNvPr id="503" name="Google Shape;503;p11"/>
              <p:cNvCxnSpPr/>
              <p:nvPr/>
            </p:nvCxnSpPr>
            <p:spPr>
              <a:xfrm>
                <a:off x="6737055" y="3471301"/>
                <a:ext cx="1687911" cy="0"/>
              </a:xfrm>
              <a:prstGeom prst="straightConnector1">
                <a:avLst/>
              </a:prstGeom>
              <a:noFill/>
              <a:ln cap="flat" cmpd="sng" w="22225">
                <a:solidFill>
                  <a:srgbClr val="C00000"/>
                </a:solidFill>
                <a:prstDash val="solid"/>
                <a:miter lim="800000"/>
                <a:headEnd len="sm" w="sm" type="none"/>
                <a:tailEnd len="sm" w="sm" type="none"/>
              </a:ln>
            </p:spPr>
          </p:cxnSp>
          <p:cxnSp>
            <p:nvCxnSpPr>
              <p:cNvPr id="504" name="Google Shape;504;p11"/>
              <p:cNvCxnSpPr/>
              <p:nvPr/>
            </p:nvCxnSpPr>
            <p:spPr>
              <a:xfrm>
                <a:off x="10299974" y="3471301"/>
                <a:ext cx="1687911" cy="0"/>
              </a:xfrm>
              <a:prstGeom prst="straightConnector1">
                <a:avLst/>
              </a:prstGeom>
              <a:noFill/>
              <a:ln cap="flat" cmpd="sng" w="22225">
                <a:solidFill>
                  <a:srgbClr val="C00000"/>
                </a:solidFill>
                <a:prstDash val="solid"/>
                <a:miter lim="800000"/>
                <a:headEnd len="sm" w="sm" type="none"/>
                <a:tailEnd len="sm" w="sm" type="none"/>
              </a:ln>
            </p:spPr>
          </p:cxnSp>
        </p:grpSp>
        <p:cxnSp>
          <p:nvCxnSpPr>
            <p:cNvPr id="505" name="Google Shape;505;p11"/>
            <p:cNvCxnSpPr/>
            <p:nvPr/>
          </p:nvCxnSpPr>
          <p:spPr>
            <a:xfrm>
              <a:off x="4069352" y="2795325"/>
              <a:ext cx="0" cy="403537"/>
            </a:xfrm>
            <a:prstGeom prst="straightConnector1">
              <a:avLst/>
            </a:prstGeom>
            <a:noFill/>
            <a:ln cap="flat" cmpd="sng" w="47625">
              <a:solidFill>
                <a:schemeClr val="accent1"/>
              </a:solidFill>
              <a:prstDash val="solid"/>
              <a:miter lim="800000"/>
              <a:headEnd len="sm" w="sm" type="none"/>
              <a:tailEnd len="med" w="med" type="triangle"/>
            </a:ln>
          </p:spPr>
        </p:cxnSp>
        <p:cxnSp>
          <p:nvCxnSpPr>
            <p:cNvPr id="506" name="Google Shape;506;p11"/>
            <p:cNvCxnSpPr/>
            <p:nvPr/>
          </p:nvCxnSpPr>
          <p:spPr>
            <a:xfrm rot="10800000">
              <a:off x="7403443" y="2731748"/>
              <a:ext cx="0" cy="439404"/>
            </a:xfrm>
            <a:prstGeom prst="straightConnector1">
              <a:avLst/>
            </a:prstGeom>
            <a:noFill/>
            <a:ln cap="flat" cmpd="sng" w="47625">
              <a:solidFill>
                <a:schemeClr val="accent1"/>
              </a:solidFill>
              <a:prstDash val="solid"/>
              <a:miter lim="800000"/>
              <a:headEnd len="sm" w="sm" type="none"/>
              <a:tailEnd len="med" w="med" type="triangle"/>
            </a:ln>
          </p:spPr>
        </p:cxnSp>
        <p:sp>
          <p:nvSpPr>
            <p:cNvPr id="507" name="Google Shape;507;p11"/>
            <p:cNvSpPr txBox="1"/>
            <p:nvPr/>
          </p:nvSpPr>
          <p:spPr>
            <a:xfrm>
              <a:off x="3042206" y="3300756"/>
              <a:ext cx="2001038"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sender-side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a:t>
              </a:r>
              <a:r>
                <a:rPr b="0" i="0" lang="en-US" sz="1800" u="none" cap="none" strike="noStrike">
                  <a:solidFill>
                    <a:srgbClr val="000000"/>
                  </a:solidFill>
                  <a:latin typeface="Calibri"/>
                  <a:ea typeface="Calibri"/>
                  <a:cs typeface="Calibri"/>
                  <a:sym typeface="Calibri"/>
                </a:rPr>
                <a:t> reliable data transfer protocol</a:t>
              </a:r>
              <a:endParaRPr/>
            </a:p>
          </p:txBody>
        </p:sp>
        <p:sp>
          <p:nvSpPr>
            <p:cNvPr id="508" name="Google Shape;508;p11"/>
            <p:cNvSpPr txBox="1"/>
            <p:nvPr/>
          </p:nvSpPr>
          <p:spPr>
            <a:xfrm>
              <a:off x="6413059" y="3328511"/>
              <a:ext cx="2001033" cy="1089529"/>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receiver-side</a:t>
              </a:r>
              <a:endParaRPr/>
            </a:p>
            <a:p>
              <a:pPr indent="0" lvl="0" marL="0" marR="0" rtl="0" algn="ctr">
                <a:lnSpc>
                  <a:spcPct val="90000"/>
                </a:lnSpc>
                <a:spcBef>
                  <a:spcPts val="0"/>
                </a:spcBef>
                <a:spcAft>
                  <a:spcPts val="0"/>
                </a:spcAft>
                <a:buClr>
                  <a:srgbClr val="000000"/>
                </a:buClr>
                <a:buSzPts val="1800"/>
                <a:buFont typeface="Calibri"/>
                <a:buNone/>
              </a:pPr>
              <a:r>
                <a:rPr b="0" i="1" lang="en-US" sz="1800" u="none" cap="none" strike="noStrike">
                  <a:solidFill>
                    <a:srgbClr val="000000"/>
                  </a:solidFill>
                  <a:latin typeface="Calibri"/>
                  <a:ea typeface="Calibri"/>
                  <a:cs typeface="Calibri"/>
                  <a:sym typeface="Calibri"/>
                </a:rPr>
                <a:t>implementation</a:t>
              </a:r>
              <a:r>
                <a:rPr b="0" i="0" lang="en-US" sz="1800" u="none" cap="none" strike="noStrike">
                  <a:solidFill>
                    <a:srgbClr val="000000"/>
                  </a:solidFill>
                  <a:latin typeface="Calibri"/>
                  <a:ea typeface="Calibri"/>
                  <a:cs typeface="Calibri"/>
                  <a:sym typeface="Calibri"/>
                </a:rPr>
                <a:t> of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reliable data transfer protocol</a:t>
              </a:r>
              <a:endParaRPr/>
            </a:p>
          </p:txBody>
        </p:sp>
        <p:grpSp>
          <p:nvGrpSpPr>
            <p:cNvPr id="509" name="Google Shape;509;p11"/>
            <p:cNvGrpSpPr/>
            <p:nvPr/>
          </p:nvGrpSpPr>
          <p:grpSpPr>
            <a:xfrm>
              <a:off x="4071725" y="4602963"/>
              <a:ext cx="632009" cy="632009"/>
              <a:chOff x="7408199" y="4955748"/>
              <a:chExt cx="632009" cy="632009"/>
            </a:xfrm>
          </p:grpSpPr>
          <p:cxnSp>
            <p:nvCxnSpPr>
              <p:cNvPr id="510" name="Google Shape;510;p11"/>
              <p:cNvCxnSpPr/>
              <p:nvPr/>
            </p:nvCxnSpPr>
            <p:spPr>
              <a:xfrm>
                <a:off x="7417790" y="4955748"/>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511" name="Google Shape;511;p11"/>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grpSp>
          <p:nvGrpSpPr>
            <p:cNvPr id="512" name="Google Shape;512;p11"/>
            <p:cNvGrpSpPr/>
            <p:nvPr/>
          </p:nvGrpSpPr>
          <p:grpSpPr>
            <a:xfrm rot="-5400000">
              <a:off x="6784894" y="4598122"/>
              <a:ext cx="632009" cy="632009"/>
              <a:chOff x="7408199" y="4948974"/>
              <a:chExt cx="632009" cy="632009"/>
            </a:xfrm>
          </p:grpSpPr>
          <p:cxnSp>
            <p:nvCxnSpPr>
              <p:cNvPr id="513" name="Google Shape;513;p11"/>
              <p:cNvCxnSpPr/>
              <p:nvPr/>
            </p:nvCxnSpPr>
            <p:spPr>
              <a:xfrm>
                <a:off x="7427960" y="4948974"/>
                <a:ext cx="0" cy="632009"/>
              </a:xfrm>
              <a:prstGeom prst="straightConnector1">
                <a:avLst/>
              </a:prstGeom>
              <a:noFill/>
              <a:ln cap="flat" cmpd="sng" w="47625">
                <a:solidFill>
                  <a:srgbClr val="3C6CDF"/>
                </a:solidFill>
                <a:prstDash val="solid"/>
                <a:miter lim="800000"/>
                <a:headEnd len="med" w="med" type="triangle"/>
                <a:tailEnd len="sm" w="sm" type="none"/>
              </a:ln>
            </p:spPr>
          </p:cxnSp>
          <p:cxnSp>
            <p:nvCxnSpPr>
              <p:cNvPr id="514" name="Google Shape;514;p11"/>
              <p:cNvCxnSpPr/>
              <p:nvPr/>
            </p:nvCxnSpPr>
            <p:spPr>
              <a:xfrm>
                <a:off x="7724203" y="5247906"/>
                <a:ext cx="0" cy="632009"/>
              </a:xfrm>
              <a:prstGeom prst="straightConnector1">
                <a:avLst/>
              </a:prstGeom>
              <a:noFill/>
              <a:ln cap="flat" cmpd="sng" w="47625">
                <a:solidFill>
                  <a:srgbClr val="3C6CDF"/>
                </a:solidFill>
                <a:prstDash val="solid"/>
                <a:miter lim="800000"/>
                <a:headEnd len="med" w="med" type="triangle"/>
                <a:tailEnd len="sm" w="sm" type="none"/>
              </a:ln>
            </p:spPr>
          </p:cxnSp>
        </p:grpSp>
        <p:sp>
          <p:nvSpPr>
            <p:cNvPr id="515" name="Google Shape;515;p11"/>
            <p:cNvSpPr txBox="1"/>
            <p:nvPr/>
          </p:nvSpPr>
          <p:spPr>
            <a:xfrm>
              <a:off x="2293693" y="2546898"/>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rdt_send()</a:t>
              </a:r>
              <a:endParaRPr/>
            </a:p>
          </p:txBody>
        </p:sp>
        <p:sp>
          <p:nvSpPr>
            <p:cNvPr id="516" name="Google Shape;516;p11"/>
            <p:cNvSpPr txBox="1"/>
            <p:nvPr/>
          </p:nvSpPr>
          <p:spPr>
            <a:xfrm>
              <a:off x="2637055" y="452990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udt_send()</a:t>
              </a:r>
              <a:endParaRPr/>
            </a:p>
          </p:txBody>
        </p:sp>
        <p:sp>
          <p:nvSpPr>
            <p:cNvPr id="517" name="Google Shape;517;p11"/>
            <p:cNvSpPr txBox="1"/>
            <p:nvPr/>
          </p:nvSpPr>
          <p:spPr>
            <a:xfrm>
              <a:off x="7460091" y="4522693"/>
              <a:ext cx="168791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rdt_rcv()</a:t>
              </a:r>
              <a:endParaRPr/>
            </a:p>
          </p:txBody>
        </p:sp>
        <p:sp>
          <p:nvSpPr>
            <p:cNvPr id="518" name="Google Shape;518;p11"/>
            <p:cNvSpPr txBox="1"/>
            <p:nvPr/>
          </p:nvSpPr>
          <p:spPr>
            <a:xfrm>
              <a:off x="7446811" y="2872208"/>
              <a:ext cx="193529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Courier"/>
                <a:buNone/>
              </a:pPr>
              <a:r>
                <a:rPr b="0" i="0" lang="en-US" sz="1600" u="none" cap="none" strike="noStrike">
                  <a:solidFill>
                    <a:srgbClr val="000000"/>
                  </a:solidFill>
                  <a:latin typeface="Courier"/>
                  <a:ea typeface="Courier"/>
                  <a:cs typeface="Courier"/>
                  <a:sym typeface="Courier"/>
                </a:rPr>
                <a:t>deliver_data()</a:t>
              </a:r>
              <a:endParaRPr/>
            </a:p>
          </p:txBody>
        </p:sp>
        <p:grpSp>
          <p:nvGrpSpPr>
            <p:cNvPr id="519" name="Google Shape;519;p11"/>
            <p:cNvGrpSpPr/>
            <p:nvPr/>
          </p:nvGrpSpPr>
          <p:grpSpPr>
            <a:xfrm>
              <a:off x="4198761" y="4538107"/>
              <a:ext cx="1129178" cy="338554"/>
              <a:chOff x="4492148" y="4699180"/>
              <a:chExt cx="1129178" cy="338554"/>
            </a:xfrm>
          </p:grpSpPr>
          <p:grpSp>
            <p:nvGrpSpPr>
              <p:cNvPr id="520" name="Google Shape;520;p11"/>
              <p:cNvGrpSpPr/>
              <p:nvPr/>
            </p:nvGrpSpPr>
            <p:grpSpPr>
              <a:xfrm>
                <a:off x="5044085" y="4699180"/>
                <a:ext cx="577241" cy="338554"/>
                <a:chOff x="9950444" y="999755"/>
                <a:chExt cx="577241" cy="338554"/>
              </a:xfrm>
            </p:grpSpPr>
            <p:sp>
              <p:nvSpPr>
                <p:cNvPr id="521" name="Google Shape;521;p11"/>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2" name="Google Shape;522;p11"/>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523" name="Google Shape;523;p11"/>
              <p:cNvGrpSpPr/>
              <p:nvPr/>
            </p:nvGrpSpPr>
            <p:grpSpPr>
              <a:xfrm>
                <a:off x="4492148" y="4738794"/>
                <a:ext cx="684009" cy="276999"/>
                <a:chOff x="9965227" y="1039458"/>
                <a:chExt cx="684009" cy="276999"/>
              </a:xfrm>
            </p:grpSpPr>
            <p:sp>
              <p:nvSpPr>
                <p:cNvPr id="524" name="Google Shape;524;p11"/>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5" name="Google Shape;525;p11"/>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nvGrpSpPr>
            <p:cNvPr id="526" name="Google Shape;526;p11"/>
            <p:cNvGrpSpPr/>
            <p:nvPr/>
          </p:nvGrpSpPr>
          <p:grpSpPr>
            <a:xfrm>
              <a:off x="6194588" y="4534824"/>
              <a:ext cx="1129178" cy="338554"/>
              <a:chOff x="4492148" y="4699180"/>
              <a:chExt cx="1129178" cy="338554"/>
            </a:xfrm>
          </p:grpSpPr>
          <p:grpSp>
            <p:nvGrpSpPr>
              <p:cNvPr id="527" name="Google Shape;527;p11"/>
              <p:cNvGrpSpPr/>
              <p:nvPr/>
            </p:nvGrpSpPr>
            <p:grpSpPr>
              <a:xfrm>
                <a:off x="5044085" y="4699180"/>
                <a:ext cx="577241" cy="338554"/>
                <a:chOff x="9950444" y="999755"/>
                <a:chExt cx="577241" cy="338554"/>
              </a:xfrm>
            </p:grpSpPr>
            <p:sp>
              <p:nvSpPr>
                <p:cNvPr id="528" name="Google Shape;528;p11"/>
                <p:cNvSpPr/>
                <p:nvPr/>
              </p:nvSpPr>
              <p:spPr>
                <a:xfrm>
                  <a:off x="10010633" y="1066693"/>
                  <a:ext cx="429378"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29" name="Google Shape;529;p11"/>
                <p:cNvSpPr txBox="1"/>
                <p:nvPr/>
              </p:nvSpPr>
              <p:spPr>
                <a:xfrm>
                  <a:off x="9950444" y="999755"/>
                  <a:ext cx="57724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data</a:t>
                  </a:r>
                  <a:endParaRPr b="0" i="0" sz="1800" u="none" cap="none" strike="noStrike">
                    <a:solidFill>
                      <a:srgbClr val="FFFFFF"/>
                    </a:solidFill>
                    <a:latin typeface="Calibri"/>
                    <a:ea typeface="Calibri"/>
                    <a:cs typeface="Calibri"/>
                    <a:sym typeface="Calibri"/>
                  </a:endParaRPr>
                </a:p>
              </p:txBody>
            </p:sp>
          </p:grpSp>
          <p:grpSp>
            <p:nvGrpSpPr>
              <p:cNvPr id="530" name="Google Shape;530;p11"/>
              <p:cNvGrpSpPr/>
              <p:nvPr/>
            </p:nvGrpSpPr>
            <p:grpSpPr>
              <a:xfrm>
                <a:off x="4492148" y="4738794"/>
                <a:ext cx="684009" cy="276999"/>
                <a:chOff x="9965227" y="1039458"/>
                <a:chExt cx="684009" cy="276999"/>
              </a:xfrm>
            </p:grpSpPr>
            <p:sp>
              <p:nvSpPr>
                <p:cNvPr id="531" name="Google Shape;531;p11"/>
                <p:cNvSpPr/>
                <p:nvPr/>
              </p:nvSpPr>
              <p:spPr>
                <a:xfrm>
                  <a:off x="10010632" y="1066693"/>
                  <a:ext cx="561043" cy="215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532" name="Google Shape;532;p11"/>
                <p:cNvSpPr txBox="1"/>
                <p:nvPr/>
              </p:nvSpPr>
              <p:spPr>
                <a:xfrm>
                  <a:off x="9965227" y="1039458"/>
                  <a:ext cx="68400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Header</a:t>
                  </a:r>
                  <a:endParaRPr b="0" i="0" sz="1800" u="none" cap="none" strike="noStrike">
                    <a:solidFill>
                      <a:srgbClr val="FFFFFF"/>
                    </a:solidFill>
                    <a:latin typeface="Calibri"/>
                    <a:ea typeface="Calibri"/>
                    <a:cs typeface="Calibri"/>
                    <a:sym typeface="Calibri"/>
                  </a:endParaRPr>
                </a:p>
              </p:txBody>
            </p:sp>
          </p:grpSp>
        </p:grpSp>
      </p:grpSp>
      <p:grpSp>
        <p:nvGrpSpPr>
          <p:cNvPr id="533" name="Google Shape;533;p11"/>
          <p:cNvGrpSpPr/>
          <p:nvPr/>
        </p:nvGrpSpPr>
        <p:grpSpPr>
          <a:xfrm>
            <a:off x="352441" y="1450769"/>
            <a:ext cx="3206750" cy="1430338"/>
            <a:chOff x="240" y="920"/>
            <a:chExt cx="2020" cy="901"/>
          </a:xfrm>
        </p:grpSpPr>
        <p:sp>
          <p:nvSpPr>
            <p:cNvPr id="534" name="Google Shape;534;p11"/>
            <p:cNvSpPr txBox="1"/>
            <p:nvPr/>
          </p:nvSpPr>
          <p:spPr>
            <a:xfrm>
              <a:off x="318" y="920"/>
              <a:ext cx="1895"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from above, (e.g., by app.). Passed data to deliver to receiver upper layer</a:t>
              </a:r>
              <a:endParaRPr b="0" i="0" sz="2400" u="none" cap="none" strike="noStrike">
                <a:solidFill>
                  <a:srgbClr val="000000"/>
                </a:solidFill>
                <a:latin typeface="Calibri"/>
                <a:ea typeface="Calibri"/>
                <a:cs typeface="Calibri"/>
                <a:sym typeface="Calibri"/>
              </a:endParaRPr>
            </a:p>
          </p:txBody>
        </p:sp>
        <p:grpSp>
          <p:nvGrpSpPr>
            <p:cNvPr id="535" name="Google Shape;535;p11"/>
            <p:cNvGrpSpPr/>
            <p:nvPr/>
          </p:nvGrpSpPr>
          <p:grpSpPr>
            <a:xfrm>
              <a:off x="240" y="921"/>
              <a:ext cx="2020" cy="900"/>
              <a:chOff x="240" y="933"/>
              <a:chExt cx="2020" cy="900"/>
            </a:xfrm>
          </p:grpSpPr>
          <p:cxnSp>
            <p:nvCxnSpPr>
              <p:cNvPr id="536" name="Google Shape;536;p11"/>
              <p:cNvCxnSpPr/>
              <p:nvPr/>
            </p:nvCxnSpPr>
            <p:spPr>
              <a:xfrm>
                <a:off x="1787" y="1509"/>
                <a:ext cx="174" cy="324"/>
              </a:xfrm>
              <a:prstGeom prst="straightConnector1">
                <a:avLst/>
              </a:prstGeom>
              <a:noFill/>
              <a:ln cap="flat" cmpd="sng" w="19050">
                <a:solidFill>
                  <a:srgbClr val="C00000"/>
                </a:solidFill>
                <a:prstDash val="solid"/>
                <a:round/>
                <a:headEnd len="med" w="med" type="none"/>
                <a:tailEnd len="med" w="med" type="triangle"/>
              </a:ln>
            </p:spPr>
          </p:cxnSp>
          <p:sp>
            <p:nvSpPr>
              <p:cNvPr id="537" name="Google Shape;537;p11"/>
              <p:cNvSpPr/>
              <p:nvPr/>
            </p:nvSpPr>
            <p:spPr>
              <a:xfrm>
                <a:off x="240" y="933"/>
                <a:ext cx="2020"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538" name="Google Shape;538;p11"/>
          <p:cNvGrpSpPr/>
          <p:nvPr/>
        </p:nvGrpSpPr>
        <p:grpSpPr>
          <a:xfrm>
            <a:off x="665618" y="5097921"/>
            <a:ext cx="3074988" cy="1393825"/>
            <a:chOff x="218" y="3055"/>
            <a:chExt cx="1937" cy="878"/>
          </a:xfrm>
        </p:grpSpPr>
        <p:sp>
          <p:nvSpPr>
            <p:cNvPr id="539" name="Google Shape;539;p11"/>
            <p:cNvSpPr txBox="1"/>
            <p:nvPr/>
          </p:nvSpPr>
          <p:spPr>
            <a:xfrm>
              <a:off x="233" y="3356"/>
              <a:ext cx="1878" cy="5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udt_send():</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a:t>
              </a:r>
              <a:endParaRPr b="0" i="0" sz="1800" u="none" cap="none" strike="noStrike">
                <a:solidFill>
                  <a:srgbClr val="000000"/>
                </a:solidFill>
                <a:latin typeface="Courier"/>
                <a:ea typeface="Courier"/>
                <a:cs typeface="Courier"/>
                <a:sym typeface="Courie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to transfer packet over </a:t>
              </a:r>
              <a:endParaRPr/>
            </a:p>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unreliable channel to receiver</a:t>
              </a:r>
              <a:endParaRPr b="0" i="0" sz="2400" u="none" cap="none" strike="noStrike">
                <a:solidFill>
                  <a:srgbClr val="000000"/>
                </a:solidFill>
                <a:latin typeface="Calibri"/>
                <a:ea typeface="Calibri"/>
                <a:cs typeface="Calibri"/>
                <a:sym typeface="Calibri"/>
              </a:endParaRPr>
            </a:p>
          </p:txBody>
        </p:sp>
        <p:grpSp>
          <p:nvGrpSpPr>
            <p:cNvPr id="540" name="Google Shape;540;p11"/>
            <p:cNvGrpSpPr/>
            <p:nvPr/>
          </p:nvGrpSpPr>
          <p:grpSpPr>
            <a:xfrm>
              <a:off x="218" y="3055"/>
              <a:ext cx="1937" cy="867"/>
              <a:chOff x="218" y="3055"/>
              <a:chExt cx="1937" cy="867"/>
            </a:xfrm>
          </p:grpSpPr>
          <p:cxnSp>
            <p:nvCxnSpPr>
              <p:cNvPr id="541" name="Google Shape;541;p11"/>
              <p:cNvCxnSpPr/>
              <p:nvPr/>
            </p:nvCxnSpPr>
            <p:spPr>
              <a:xfrm flipH="1" rot="10800000">
                <a:off x="1433" y="3055"/>
                <a:ext cx="359" cy="303"/>
              </a:xfrm>
              <a:prstGeom prst="straightConnector1">
                <a:avLst/>
              </a:prstGeom>
              <a:noFill/>
              <a:ln cap="flat" cmpd="sng" w="19050">
                <a:solidFill>
                  <a:srgbClr val="C00000"/>
                </a:solidFill>
                <a:prstDash val="solid"/>
                <a:round/>
                <a:headEnd len="med" w="med" type="none"/>
                <a:tailEnd len="med" w="med" type="triangle"/>
              </a:ln>
            </p:spPr>
          </p:cxnSp>
          <p:sp>
            <p:nvSpPr>
              <p:cNvPr id="542" name="Google Shape;542;p11"/>
              <p:cNvSpPr/>
              <p:nvPr/>
            </p:nvSpPr>
            <p:spPr>
              <a:xfrm>
                <a:off x="218" y="3364"/>
                <a:ext cx="1937" cy="558"/>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543" name="Google Shape;543;p11"/>
          <p:cNvGrpSpPr/>
          <p:nvPr/>
        </p:nvGrpSpPr>
        <p:grpSpPr>
          <a:xfrm>
            <a:off x="8446406" y="5042355"/>
            <a:ext cx="3122613" cy="1520825"/>
            <a:chOff x="3071" y="2986"/>
            <a:chExt cx="1967" cy="958"/>
          </a:xfrm>
        </p:grpSpPr>
        <p:sp>
          <p:nvSpPr>
            <p:cNvPr id="544" name="Google Shape;544;p11"/>
            <p:cNvSpPr txBox="1"/>
            <p:nvPr/>
          </p:nvSpPr>
          <p:spPr>
            <a:xfrm>
              <a:off x="3101" y="3362"/>
              <a:ext cx="1937" cy="5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rdt_rcv():</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when packet arrives on receiver side of channel</a:t>
              </a:r>
              <a:endParaRPr b="0" i="0" sz="2400" u="none" cap="none" strike="noStrike">
                <a:solidFill>
                  <a:srgbClr val="000000"/>
                </a:solidFill>
                <a:latin typeface="Calibri"/>
                <a:ea typeface="Calibri"/>
                <a:cs typeface="Calibri"/>
                <a:sym typeface="Calibri"/>
              </a:endParaRPr>
            </a:p>
          </p:txBody>
        </p:sp>
        <p:grpSp>
          <p:nvGrpSpPr>
            <p:cNvPr id="545" name="Google Shape;545;p11"/>
            <p:cNvGrpSpPr/>
            <p:nvPr/>
          </p:nvGrpSpPr>
          <p:grpSpPr>
            <a:xfrm>
              <a:off x="3071" y="2986"/>
              <a:ext cx="1937" cy="943"/>
              <a:chOff x="3071" y="2986"/>
              <a:chExt cx="1937" cy="943"/>
            </a:xfrm>
          </p:grpSpPr>
          <p:cxnSp>
            <p:nvCxnSpPr>
              <p:cNvPr id="546" name="Google Shape;546;p11"/>
              <p:cNvCxnSpPr/>
              <p:nvPr/>
            </p:nvCxnSpPr>
            <p:spPr>
              <a:xfrm rot="10800000">
                <a:off x="3312" y="2986"/>
                <a:ext cx="398" cy="371"/>
              </a:xfrm>
              <a:prstGeom prst="straightConnector1">
                <a:avLst/>
              </a:prstGeom>
              <a:noFill/>
              <a:ln cap="flat" cmpd="sng" w="19050">
                <a:solidFill>
                  <a:srgbClr val="C00000"/>
                </a:solidFill>
                <a:prstDash val="solid"/>
                <a:round/>
                <a:headEnd len="med" w="med" type="none"/>
                <a:tailEnd len="med" w="med" type="triangle"/>
              </a:ln>
            </p:spPr>
          </p:cxnSp>
          <p:sp>
            <p:nvSpPr>
              <p:cNvPr id="547" name="Google Shape;547;p11"/>
              <p:cNvSpPr/>
              <p:nvPr/>
            </p:nvSpPr>
            <p:spPr>
              <a:xfrm>
                <a:off x="3071" y="3348"/>
                <a:ext cx="1937" cy="581"/>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548" name="Google Shape;548;p11"/>
          <p:cNvGrpSpPr/>
          <p:nvPr/>
        </p:nvGrpSpPr>
        <p:grpSpPr>
          <a:xfrm>
            <a:off x="8824801" y="1555220"/>
            <a:ext cx="3063876" cy="1571625"/>
            <a:chOff x="3138" y="936"/>
            <a:chExt cx="1930" cy="990"/>
          </a:xfrm>
        </p:grpSpPr>
        <p:sp>
          <p:nvSpPr>
            <p:cNvPr id="549" name="Google Shape;549;p11"/>
            <p:cNvSpPr txBox="1"/>
            <p:nvPr/>
          </p:nvSpPr>
          <p:spPr>
            <a:xfrm>
              <a:off x="3168" y="936"/>
              <a:ext cx="1900" cy="4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1800"/>
                <a:buFont typeface="Calibri"/>
                <a:buNone/>
              </a:pPr>
              <a:r>
                <a:rPr b="1" i="0" lang="en-US" sz="1800" u="none" cap="none" strike="noStrike">
                  <a:solidFill>
                    <a:srgbClr val="C00000"/>
                  </a:solidFill>
                  <a:latin typeface="Calibri"/>
                  <a:ea typeface="Calibri"/>
                  <a:cs typeface="Calibri"/>
                  <a:sym typeface="Calibri"/>
                </a:rPr>
                <a:t>deliver_data():</a:t>
              </a:r>
              <a:r>
                <a:rPr b="0" i="0" lang="en-US" sz="1800" u="none" cap="none" strike="noStrike">
                  <a:solidFill>
                    <a:srgbClr val="C00000"/>
                  </a:solidFill>
                  <a:latin typeface="Calibri"/>
                  <a:ea typeface="Calibri"/>
                  <a:cs typeface="Calibri"/>
                  <a:sym typeface="Calibri"/>
                </a:rPr>
                <a:t> </a:t>
              </a:r>
              <a:r>
                <a:rPr b="0" i="0" lang="en-US" sz="1800" u="none" cap="none" strike="noStrike">
                  <a:solidFill>
                    <a:srgbClr val="000000"/>
                  </a:solidFill>
                  <a:latin typeface="Calibri"/>
                  <a:ea typeface="Calibri"/>
                  <a:cs typeface="Calibri"/>
                  <a:sym typeface="Calibri"/>
                </a:rPr>
                <a:t>called by </a:t>
              </a:r>
              <a:r>
                <a:rPr b="0" i="0" lang="en-US" sz="1800" u="none" cap="none" strike="noStrike">
                  <a:solidFill>
                    <a:srgbClr val="000000"/>
                  </a:solidFill>
                  <a:latin typeface="Courier"/>
                  <a:ea typeface="Courier"/>
                  <a:cs typeface="Courier"/>
                  <a:sym typeface="Courier"/>
                </a:rPr>
                <a:t>rdt </a:t>
              </a:r>
              <a:r>
                <a:rPr b="0" i="0" lang="en-US" sz="1800" u="none" cap="none" strike="noStrike">
                  <a:solidFill>
                    <a:srgbClr val="000000"/>
                  </a:solidFill>
                  <a:latin typeface="Calibri"/>
                  <a:ea typeface="Calibri"/>
                  <a:cs typeface="Calibri"/>
                  <a:sym typeface="Calibri"/>
                </a:rPr>
                <a:t>to deliver data to upper layer</a:t>
              </a:r>
              <a:endParaRPr/>
            </a:p>
          </p:txBody>
        </p:sp>
        <p:grpSp>
          <p:nvGrpSpPr>
            <p:cNvPr id="550" name="Google Shape;550;p11"/>
            <p:cNvGrpSpPr/>
            <p:nvPr/>
          </p:nvGrpSpPr>
          <p:grpSpPr>
            <a:xfrm>
              <a:off x="3138" y="942"/>
              <a:ext cx="1899" cy="984"/>
              <a:chOff x="3138" y="942"/>
              <a:chExt cx="1899" cy="984"/>
            </a:xfrm>
          </p:grpSpPr>
          <p:cxnSp>
            <p:nvCxnSpPr>
              <p:cNvPr id="551" name="Google Shape;551;p11"/>
              <p:cNvCxnSpPr/>
              <p:nvPr/>
            </p:nvCxnSpPr>
            <p:spPr>
              <a:xfrm flipH="1">
                <a:off x="3328" y="1334"/>
                <a:ext cx="325" cy="592"/>
              </a:xfrm>
              <a:prstGeom prst="straightConnector1">
                <a:avLst/>
              </a:prstGeom>
              <a:noFill/>
              <a:ln cap="flat" cmpd="sng" w="19050">
                <a:solidFill>
                  <a:srgbClr val="C00000"/>
                </a:solidFill>
                <a:prstDash val="solid"/>
                <a:round/>
                <a:headEnd len="med" w="med" type="none"/>
                <a:tailEnd len="med" w="med" type="triangle"/>
              </a:ln>
            </p:spPr>
          </p:cxnSp>
          <p:sp>
            <p:nvSpPr>
              <p:cNvPr id="552" name="Google Shape;552;p11"/>
              <p:cNvSpPr/>
              <p:nvPr/>
            </p:nvSpPr>
            <p:spPr>
              <a:xfrm>
                <a:off x="3138" y="942"/>
                <a:ext cx="1899" cy="396"/>
              </a:xfrm>
              <a:prstGeom prst="rect">
                <a:avLst/>
              </a:prstGeom>
              <a:noFill/>
              <a:ln cap="flat" cmpd="sng" w="1905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grpSp>
        <p:nvGrpSpPr>
          <p:cNvPr id="553" name="Google Shape;553;p11"/>
          <p:cNvGrpSpPr/>
          <p:nvPr/>
        </p:nvGrpSpPr>
        <p:grpSpPr>
          <a:xfrm>
            <a:off x="4390890" y="5513755"/>
            <a:ext cx="3819165" cy="1064365"/>
            <a:chOff x="2631911" y="5334147"/>
            <a:chExt cx="3819165" cy="1064365"/>
          </a:xfrm>
        </p:grpSpPr>
        <p:sp>
          <p:nvSpPr>
            <p:cNvPr id="554" name="Google Shape;554;p11"/>
            <p:cNvSpPr txBox="1"/>
            <p:nvPr/>
          </p:nvSpPr>
          <p:spPr>
            <a:xfrm>
              <a:off x="2631911" y="5807581"/>
              <a:ext cx="3819165" cy="590931"/>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Bi-directional communication over unreliable channel</a:t>
              </a:r>
              <a:endParaRPr/>
            </a:p>
          </p:txBody>
        </p:sp>
        <p:cxnSp>
          <p:nvCxnSpPr>
            <p:cNvPr id="555" name="Google Shape;555;p11"/>
            <p:cNvCxnSpPr/>
            <p:nvPr/>
          </p:nvCxnSpPr>
          <p:spPr>
            <a:xfrm>
              <a:off x="2905750" y="5334147"/>
              <a:ext cx="1431271" cy="473434"/>
            </a:xfrm>
            <a:prstGeom prst="straightConnector1">
              <a:avLst/>
            </a:prstGeom>
            <a:noFill/>
            <a:ln cap="flat" cmpd="sng" w="9525">
              <a:solidFill>
                <a:srgbClr val="FF0000"/>
              </a:solidFill>
              <a:prstDash val="solid"/>
              <a:miter lim="800000"/>
              <a:headEnd len="sm" w="sm" type="none"/>
              <a:tailEnd len="sm" w="sm" type="none"/>
            </a:ln>
          </p:spPr>
        </p:cxnSp>
        <p:cxnSp>
          <p:nvCxnSpPr>
            <p:cNvPr id="556" name="Google Shape;556;p11"/>
            <p:cNvCxnSpPr/>
            <p:nvPr/>
          </p:nvCxnSpPr>
          <p:spPr>
            <a:xfrm flipH="1">
              <a:off x="4339308" y="5338301"/>
              <a:ext cx="1358761" cy="469280"/>
            </a:xfrm>
            <a:prstGeom prst="straightConnector1">
              <a:avLst/>
            </a:prstGeom>
            <a:noFill/>
            <a:ln cap="flat" cmpd="sng" w="9525">
              <a:solidFill>
                <a:srgbClr val="FF0000"/>
              </a:solidFill>
              <a:prstDash val="solid"/>
              <a:miter lim="800000"/>
              <a:headEnd len="sm" w="sm" type="none"/>
              <a:tailEnd len="sm" w="sm" type="none"/>
            </a:ln>
          </p:spPr>
        </p:cxnSp>
      </p:grpSp>
      <p:grpSp>
        <p:nvGrpSpPr>
          <p:cNvPr id="557" name="Google Shape;557;p11"/>
          <p:cNvGrpSpPr/>
          <p:nvPr/>
        </p:nvGrpSpPr>
        <p:grpSpPr>
          <a:xfrm>
            <a:off x="4175224" y="3108918"/>
            <a:ext cx="3819165" cy="674861"/>
            <a:chOff x="2418275" y="5437546"/>
            <a:chExt cx="3819165" cy="674861"/>
          </a:xfrm>
        </p:grpSpPr>
        <p:sp>
          <p:nvSpPr>
            <p:cNvPr id="558" name="Google Shape;558;p11"/>
            <p:cNvSpPr txBox="1"/>
            <p:nvPr/>
          </p:nvSpPr>
          <p:spPr>
            <a:xfrm>
              <a:off x="2418275" y="5770775"/>
              <a:ext cx="3819165"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a:t>
              </a:r>
              <a:endParaRPr/>
            </a:p>
          </p:txBody>
        </p:sp>
        <p:cxnSp>
          <p:nvCxnSpPr>
            <p:cNvPr id="559" name="Google Shape;559;p11"/>
            <p:cNvCxnSpPr>
              <a:stCxn id="450" idx="2"/>
            </p:cNvCxnSpPr>
            <p:nvPr/>
          </p:nvCxnSpPr>
          <p:spPr>
            <a:xfrm>
              <a:off x="2894960" y="5465256"/>
              <a:ext cx="1454700" cy="401700"/>
            </a:xfrm>
            <a:prstGeom prst="straightConnector1">
              <a:avLst/>
            </a:prstGeom>
            <a:noFill/>
            <a:ln cap="flat" cmpd="sng" w="9525">
              <a:solidFill>
                <a:srgbClr val="FF0000"/>
              </a:solidFill>
              <a:prstDash val="solid"/>
              <a:miter lim="800000"/>
              <a:headEnd len="sm" w="sm" type="none"/>
              <a:tailEnd len="sm" w="sm" type="none"/>
            </a:ln>
          </p:spPr>
        </p:cxnSp>
        <p:cxnSp>
          <p:nvCxnSpPr>
            <p:cNvPr id="560" name="Google Shape;560;p11"/>
            <p:cNvCxnSpPr>
              <a:stCxn id="459" idx="2"/>
            </p:cNvCxnSpPr>
            <p:nvPr/>
          </p:nvCxnSpPr>
          <p:spPr>
            <a:xfrm flipH="1">
              <a:off x="4351997" y="5437546"/>
              <a:ext cx="1250700" cy="429600"/>
            </a:xfrm>
            <a:prstGeom prst="straightConnector1">
              <a:avLst/>
            </a:prstGeom>
            <a:noFill/>
            <a:ln cap="flat" cmpd="sng" w="9525">
              <a:solidFill>
                <a:srgbClr val="FF0000"/>
              </a:solidFill>
              <a:prstDash val="solid"/>
              <a:miter lim="800000"/>
              <a:headEnd len="sm" w="sm" type="none"/>
              <a:tailEnd len="sm" w="sm" type="none"/>
            </a:ln>
          </p:spPr>
        </p:cxnSp>
      </p:grpSp>
      <p:grpSp>
        <p:nvGrpSpPr>
          <p:cNvPr id="561" name="Google Shape;561;p11"/>
          <p:cNvGrpSpPr/>
          <p:nvPr/>
        </p:nvGrpSpPr>
        <p:grpSpPr>
          <a:xfrm>
            <a:off x="5125651" y="4114827"/>
            <a:ext cx="1774588" cy="687847"/>
            <a:chOff x="5125651" y="4114827"/>
            <a:chExt cx="1774588" cy="687847"/>
          </a:xfrm>
        </p:grpSpPr>
        <p:sp>
          <p:nvSpPr>
            <p:cNvPr id="562" name="Google Shape;562;p11"/>
            <p:cNvSpPr txBox="1"/>
            <p:nvPr/>
          </p:nvSpPr>
          <p:spPr>
            <a:xfrm>
              <a:off x="5532497" y="4114827"/>
              <a:ext cx="1135642" cy="34163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packet</a:t>
              </a:r>
              <a:endParaRPr/>
            </a:p>
          </p:txBody>
        </p:sp>
        <p:grpSp>
          <p:nvGrpSpPr>
            <p:cNvPr id="563" name="Google Shape;563;p11"/>
            <p:cNvGrpSpPr/>
            <p:nvPr/>
          </p:nvGrpSpPr>
          <p:grpSpPr>
            <a:xfrm flipH="1" rot="10800000">
              <a:off x="5125651" y="4373167"/>
              <a:ext cx="1774588" cy="429507"/>
              <a:chOff x="8970705" y="3780959"/>
              <a:chExt cx="2707737" cy="429507"/>
            </a:xfrm>
          </p:grpSpPr>
          <p:cxnSp>
            <p:nvCxnSpPr>
              <p:cNvPr id="564" name="Google Shape;564;p11"/>
              <p:cNvCxnSpPr/>
              <p:nvPr/>
            </p:nvCxnSpPr>
            <p:spPr>
              <a:xfrm>
                <a:off x="8970705" y="3808669"/>
                <a:ext cx="1454761" cy="401797"/>
              </a:xfrm>
              <a:prstGeom prst="straightConnector1">
                <a:avLst/>
              </a:prstGeom>
              <a:noFill/>
              <a:ln cap="flat" cmpd="sng" w="9525">
                <a:solidFill>
                  <a:srgbClr val="FF0000"/>
                </a:solidFill>
                <a:prstDash val="solid"/>
                <a:miter lim="800000"/>
                <a:headEnd len="sm" w="sm" type="none"/>
                <a:tailEnd len="sm" w="sm" type="none"/>
              </a:ln>
            </p:spPr>
          </p:cxnSp>
          <p:cxnSp>
            <p:nvCxnSpPr>
              <p:cNvPr id="565" name="Google Shape;565;p11"/>
              <p:cNvCxnSpPr/>
              <p:nvPr/>
            </p:nvCxnSpPr>
            <p:spPr>
              <a:xfrm flipH="1">
                <a:off x="10427754" y="3780959"/>
                <a:ext cx="1250688" cy="429507"/>
              </a:xfrm>
              <a:prstGeom prst="straightConnector1">
                <a:avLst/>
              </a:prstGeom>
              <a:noFill/>
              <a:ln cap="flat" cmpd="sng" w="9525">
                <a:solidFill>
                  <a:srgbClr val="FF0000"/>
                </a:solidFill>
                <a:prstDash val="solid"/>
                <a:miter lim="800000"/>
                <a:headEnd len="sm" w="sm" type="none"/>
                <a:tailEnd len="sm" w="sm" type="none"/>
              </a:ln>
            </p:spPr>
          </p:cxnSp>
        </p:grpSp>
      </p:grpSp>
      <p:sp>
        <p:nvSpPr>
          <p:cNvPr id="566" name="Google Shape;566;p11"/>
          <p:cNvSpPr/>
          <p:nvPr/>
        </p:nvSpPr>
        <p:spPr>
          <a:xfrm>
            <a:off x="3233978" y="34819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7" name="Google Shape;567;p11"/>
          <p:cNvSpPr/>
          <p:nvPr/>
        </p:nvSpPr>
        <p:spPr>
          <a:xfrm>
            <a:off x="6574078" y="3494652"/>
            <a:ext cx="2201622" cy="1239865"/>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500"/>
                                        <p:tgtEl>
                                          <p:spTgt spid="5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38"/>
                                        </p:tgtEl>
                                        <p:attrNameLst>
                                          <p:attrName>style.visibility</p:attrName>
                                        </p:attrNameLst>
                                      </p:cBhvr>
                                      <p:to>
                                        <p:strVal val="visible"/>
                                      </p:to>
                                    </p:set>
                                    <p:anim calcmode="lin" valueType="num">
                                      <p:cBhvr additive="base">
                                        <p:cTn dur="500"/>
                                        <p:tgtEl>
                                          <p:spTgt spid="53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3"/>
                                        </p:tgtEl>
                                        <p:attrNameLst>
                                          <p:attrName>style.visibility</p:attrName>
                                        </p:attrNameLst>
                                      </p:cBhvr>
                                      <p:to>
                                        <p:strVal val="visible"/>
                                      </p:to>
                                    </p:set>
                                    <p:anim calcmode="lin" valueType="num">
                                      <p:cBhvr additive="base">
                                        <p:cTn dur="500"/>
                                        <p:tgtEl>
                                          <p:spTgt spid="54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8"/>
                                        </p:tgtEl>
                                        <p:attrNameLst>
                                          <p:attrName>style.visibility</p:attrName>
                                        </p:attrNameLst>
                                      </p:cBhvr>
                                      <p:to>
                                        <p:strVal val="visible"/>
                                      </p:to>
                                    </p:set>
                                    <p:anim calcmode="lin" valueType="num">
                                      <p:cBhvr additive="base">
                                        <p:cTn dur="500"/>
                                        <p:tgtEl>
                                          <p:spTgt spid="5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500"/>
                                        <p:tgtEl>
                                          <p:spTgt spid="5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1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sz="4400"/>
              <a:t>Reliable data transfer: getting started</a:t>
            </a:r>
            <a:endParaRPr/>
          </a:p>
        </p:txBody>
      </p:sp>
      <p:sp>
        <p:nvSpPr>
          <p:cNvPr id="574" name="Google Shape;574;p12"/>
          <p:cNvSpPr txBox="1"/>
          <p:nvPr/>
        </p:nvSpPr>
        <p:spPr>
          <a:xfrm>
            <a:off x="906239" y="1209675"/>
            <a:ext cx="11056577" cy="3352800"/>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3200"/>
              <a:buFont typeface="Noto Sans Symbols"/>
              <a:buNone/>
            </a:pPr>
            <a:r>
              <a:rPr b="0" i="0" lang="en-US" sz="3200" u="none" cap="none" strike="noStrike">
                <a:solidFill>
                  <a:srgbClr val="C00000"/>
                </a:solidFill>
                <a:latin typeface="Calibri"/>
                <a:ea typeface="Calibri"/>
                <a:cs typeface="Calibri"/>
                <a:sym typeface="Calibri"/>
              </a:rPr>
              <a:t>We will:</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incrementally develop sender, receiver sides of </a:t>
            </a:r>
            <a:r>
              <a:rPr b="0" i="0" lang="en-US" sz="2800" u="sng" cap="none" strike="noStrike">
                <a:solidFill>
                  <a:srgbClr val="CC0000"/>
                </a:solidFill>
                <a:latin typeface="Calibri"/>
                <a:ea typeface="Calibri"/>
                <a:cs typeface="Calibri"/>
                <a:sym typeface="Calibri"/>
              </a:rPr>
              <a:t>r</a:t>
            </a:r>
            <a:r>
              <a:rPr b="0" i="0" lang="en-US" sz="2800" u="none" cap="none" strike="noStrike">
                <a:solidFill>
                  <a:srgbClr val="000000"/>
                </a:solidFill>
                <a:latin typeface="Calibri"/>
                <a:ea typeface="Calibri"/>
                <a:cs typeface="Calibri"/>
                <a:sym typeface="Calibri"/>
              </a:rPr>
              <a:t>eliable </a:t>
            </a:r>
            <a:r>
              <a:rPr b="0" i="0" lang="en-US" sz="2800" u="sng" cap="none" strike="noStrike">
                <a:solidFill>
                  <a:srgbClr val="CC0000"/>
                </a:solidFill>
                <a:latin typeface="Calibri"/>
                <a:ea typeface="Calibri"/>
                <a:cs typeface="Calibri"/>
                <a:sym typeface="Calibri"/>
              </a:rPr>
              <a:t>d</a:t>
            </a:r>
            <a:r>
              <a:rPr b="0" i="0" lang="en-US" sz="2800" u="none" cap="none" strike="noStrike">
                <a:solidFill>
                  <a:srgbClr val="000000"/>
                </a:solidFill>
                <a:latin typeface="Calibri"/>
                <a:ea typeface="Calibri"/>
                <a:cs typeface="Calibri"/>
                <a:sym typeface="Calibri"/>
              </a:rPr>
              <a:t>ata </a:t>
            </a:r>
            <a:r>
              <a:rPr b="0" i="0" lang="en-US" sz="2800" u="sng" cap="none" strike="noStrike">
                <a:solidFill>
                  <a:srgbClr val="CC0000"/>
                </a:solidFill>
                <a:latin typeface="Calibri"/>
                <a:ea typeface="Calibri"/>
                <a:cs typeface="Calibri"/>
                <a:sym typeface="Calibri"/>
              </a:rPr>
              <a:t>t</a:t>
            </a:r>
            <a:r>
              <a:rPr b="0" i="0" lang="en-US" sz="2800" u="none" cap="none" strike="noStrike">
                <a:solidFill>
                  <a:srgbClr val="000000"/>
                </a:solidFill>
                <a:latin typeface="Calibri"/>
                <a:ea typeface="Calibri"/>
                <a:cs typeface="Calibri"/>
                <a:sym typeface="Calibri"/>
              </a:rPr>
              <a:t>ransfer protocol (</a:t>
            </a:r>
            <a:r>
              <a:rPr b="0" i="0" lang="en-US" sz="2800" u="none" cap="none" strike="noStrike">
                <a:solidFill>
                  <a:srgbClr val="000000"/>
                </a:solidFill>
                <a:latin typeface="Courier"/>
                <a:ea typeface="Courier"/>
                <a:cs typeface="Courier"/>
                <a:sym typeface="Courier"/>
              </a:rPr>
              <a:t>rdt</a:t>
            </a:r>
            <a:r>
              <a:rPr b="0" i="0" lang="en-US" sz="2800" u="none" cap="none" strike="noStrike">
                <a:solidFill>
                  <a:srgbClr val="000000"/>
                </a:solidFill>
                <a:latin typeface="Calibri"/>
                <a:ea typeface="Calibri"/>
                <a:cs typeface="Calibri"/>
                <a:sym typeface="Calibri"/>
              </a:rPr>
              <a:t>)</a:t>
            </a:r>
            <a:endParaRPr/>
          </a:p>
          <a:p>
            <a:pPr indent="-284163" lvl="0" marL="284163"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consider only unidirectional data transfer</a:t>
            </a:r>
            <a:endParaRPr/>
          </a:p>
          <a:p>
            <a:pPr indent="-230187" lvl="1" marL="687388" marR="0" rtl="0" algn="l">
              <a:lnSpc>
                <a:spcPct val="85000"/>
              </a:lnSpc>
              <a:spcBef>
                <a:spcPts val="480"/>
              </a:spcBef>
              <a:spcAft>
                <a:spcPts val="0"/>
              </a:spcAft>
              <a:buClr>
                <a:srgbClr val="000099"/>
              </a:buClr>
              <a:buSzPts val="2400"/>
              <a:buFont typeface="Arial"/>
              <a:buChar char="•"/>
            </a:pPr>
            <a:r>
              <a:rPr b="0" i="0" lang="en-US" sz="2400" u="none" cap="none" strike="noStrike">
                <a:solidFill>
                  <a:srgbClr val="000000"/>
                </a:solidFill>
                <a:latin typeface="Calibri"/>
                <a:ea typeface="Calibri"/>
                <a:cs typeface="Calibri"/>
                <a:sym typeface="Calibri"/>
              </a:rPr>
              <a:t>but control info will flow on both directions!</a:t>
            </a:r>
            <a:endParaRPr/>
          </a:p>
        </p:txBody>
      </p:sp>
      <p:sp>
        <p:nvSpPr>
          <p:cNvPr id="575" name="Google Shape;575;p12"/>
          <p:cNvSpPr/>
          <p:nvPr/>
        </p:nvSpPr>
        <p:spPr>
          <a:xfrm>
            <a:off x="4017605" y="4873894"/>
            <a:ext cx="885825"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6" name="Google Shape;576;p12"/>
          <p:cNvSpPr/>
          <p:nvPr/>
        </p:nvSpPr>
        <p:spPr>
          <a:xfrm>
            <a:off x="3927117" y="4899294"/>
            <a:ext cx="94297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7" name="Google Shape;577;p12"/>
          <p:cNvSpPr txBox="1"/>
          <p:nvPr/>
        </p:nvSpPr>
        <p:spPr>
          <a:xfrm>
            <a:off x="4038243" y="5013594"/>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1</a:t>
            </a:r>
            <a:endParaRPr/>
          </a:p>
        </p:txBody>
      </p:sp>
      <p:sp>
        <p:nvSpPr>
          <p:cNvPr id="578" name="Google Shape;578;p12"/>
          <p:cNvSpPr/>
          <p:nvPr/>
        </p:nvSpPr>
        <p:spPr>
          <a:xfrm>
            <a:off x="4870092" y="4851669"/>
            <a:ext cx="3952875" cy="285750"/>
          </a:xfrm>
          <a:custGeom>
            <a:rect b="b" l="l" r="r" t="t"/>
            <a:pathLst>
              <a:path extrusionOk="0" h="180" w="1446">
                <a:moveTo>
                  <a:pt x="0" y="180"/>
                </a:moveTo>
                <a:cubicBezTo>
                  <a:pt x="540" y="30"/>
                  <a:pt x="972" y="0"/>
                  <a:pt x="1446" y="168"/>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79" name="Google Shape;579;p12"/>
          <p:cNvSpPr/>
          <p:nvPr/>
        </p:nvSpPr>
        <p:spPr>
          <a:xfrm>
            <a:off x="8802330" y="4977635"/>
            <a:ext cx="873124" cy="876300"/>
          </a:xfrm>
          <a:prstGeom prst="ellipse">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0" name="Google Shape;580;p12"/>
          <p:cNvSpPr/>
          <p:nvPr/>
        </p:nvSpPr>
        <p:spPr>
          <a:xfrm>
            <a:off x="8737242" y="5004069"/>
            <a:ext cx="885825" cy="8763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1" name="Google Shape;581;p12"/>
          <p:cNvSpPr txBox="1"/>
          <p:nvPr/>
        </p:nvSpPr>
        <p:spPr>
          <a:xfrm>
            <a:off x="8802017" y="5112019"/>
            <a:ext cx="735012"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state</a:t>
            </a:r>
            <a:endParaRPr/>
          </a:p>
          <a:p>
            <a:pPr indent="0" lvl="0" marL="0" marR="0" rtl="0" algn="ctr">
              <a:lnSpc>
                <a:spcPct val="100000"/>
              </a:lnSpc>
              <a:spcBef>
                <a:spcPts val="0"/>
              </a:spcBef>
              <a:spcAft>
                <a:spcPts val="0"/>
              </a:spcAft>
              <a:buClr>
                <a:srgbClr val="000000"/>
              </a:buClr>
              <a:buSzPts val="2000"/>
              <a:buFont typeface="Tahoma"/>
              <a:buNone/>
            </a:pPr>
            <a:r>
              <a:rPr b="0" i="0" lang="en-US" sz="2000" u="none" cap="none" strike="noStrike">
                <a:solidFill>
                  <a:srgbClr val="000000"/>
                </a:solidFill>
                <a:latin typeface="Tahoma"/>
                <a:ea typeface="Tahoma"/>
                <a:cs typeface="Tahoma"/>
                <a:sym typeface="Tahoma"/>
              </a:rPr>
              <a:t>2</a:t>
            </a:r>
            <a:endParaRPr/>
          </a:p>
        </p:txBody>
      </p:sp>
      <p:sp>
        <p:nvSpPr>
          <p:cNvPr id="582" name="Google Shape;582;p12"/>
          <p:cNvSpPr txBox="1"/>
          <p:nvPr/>
        </p:nvSpPr>
        <p:spPr>
          <a:xfrm>
            <a:off x="5100280" y="4216669"/>
            <a:ext cx="31527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 causing state transition</a:t>
            </a:r>
            <a:endParaRPr b="0" i="0" sz="2400" u="none" cap="none" strike="noStrike">
              <a:solidFill>
                <a:srgbClr val="CC0000"/>
              </a:solidFill>
              <a:latin typeface="Tahoma"/>
              <a:ea typeface="Tahoma"/>
              <a:cs typeface="Tahoma"/>
              <a:sym typeface="Tahoma"/>
            </a:endParaRPr>
          </a:p>
        </p:txBody>
      </p:sp>
      <p:sp>
        <p:nvSpPr>
          <p:cNvPr id="583" name="Google Shape;583;p12"/>
          <p:cNvSpPr txBox="1"/>
          <p:nvPr/>
        </p:nvSpPr>
        <p:spPr>
          <a:xfrm>
            <a:off x="5027255" y="4511944"/>
            <a:ext cx="3421062"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 taken on state transition</a:t>
            </a:r>
            <a:endParaRPr b="0" i="0" sz="2400" u="none" cap="none" strike="noStrike">
              <a:solidFill>
                <a:srgbClr val="CC0000"/>
              </a:solidFill>
              <a:latin typeface="Tahoma"/>
              <a:ea typeface="Tahoma"/>
              <a:cs typeface="Tahoma"/>
              <a:sym typeface="Tahoma"/>
            </a:endParaRPr>
          </a:p>
        </p:txBody>
      </p:sp>
      <p:cxnSp>
        <p:nvCxnSpPr>
          <p:cNvPr id="584" name="Google Shape;584;p12"/>
          <p:cNvCxnSpPr/>
          <p:nvPr/>
        </p:nvCxnSpPr>
        <p:spPr>
          <a:xfrm>
            <a:off x="4993917" y="4565919"/>
            <a:ext cx="3381375" cy="0"/>
          </a:xfrm>
          <a:prstGeom prst="straightConnector1">
            <a:avLst/>
          </a:prstGeom>
          <a:noFill/>
          <a:ln cap="flat" cmpd="sng" w="28575">
            <a:solidFill>
              <a:srgbClr val="CC0000"/>
            </a:solidFill>
            <a:prstDash val="solid"/>
            <a:round/>
            <a:headEnd len="med" w="med" type="none"/>
            <a:tailEnd len="med" w="med" type="none"/>
          </a:ln>
        </p:spPr>
      </p:cxnSp>
      <p:sp>
        <p:nvSpPr>
          <p:cNvPr id="585" name="Google Shape;585;p12"/>
          <p:cNvSpPr/>
          <p:nvPr/>
        </p:nvSpPr>
        <p:spPr>
          <a:xfrm>
            <a:off x="1012467" y="4899294"/>
            <a:ext cx="2771775" cy="1238250"/>
          </a:xfrm>
          <a:prstGeom prst="rect">
            <a:avLst/>
          </a:prstGeom>
          <a:noFill/>
          <a:ln>
            <a:noFill/>
          </a:ln>
        </p:spPr>
        <p:txBody>
          <a:bodyPr anchorCtr="0" anchor="t" bIns="45700" lIns="91425" spcFirstLastPara="1" rIns="91425" wrap="square" tIns="45700">
            <a:noAutofit/>
          </a:bodyPr>
          <a:lstStyle/>
          <a:p>
            <a:pPr indent="-342900" lvl="0" marL="342900" marR="0" rtl="0" algn="r">
              <a:lnSpc>
                <a:spcPct val="85000"/>
              </a:lnSpc>
              <a:spcBef>
                <a:spcPts val="0"/>
              </a:spcBef>
              <a:spcAft>
                <a:spcPts val="0"/>
              </a:spcAft>
              <a:buClr>
                <a:srgbClr val="000099"/>
              </a:buClr>
              <a:buSzPts val="1170"/>
              <a:buFont typeface="Noto Sans Symbols"/>
              <a:buNone/>
            </a:pPr>
            <a:r>
              <a:rPr b="0" i="0" lang="en-US" sz="1800" u="none" cap="none" strike="noStrike">
                <a:solidFill>
                  <a:srgbClr val="CC0000"/>
                </a:solidFill>
                <a:latin typeface="Calibri"/>
                <a:ea typeface="Calibri"/>
                <a:cs typeface="Calibri"/>
                <a:sym typeface="Calibri"/>
              </a:rPr>
              <a:t>state:</a:t>
            </a:r>
            <a:r>
              <a:rPr b="0" i="0" lang="en-US" sz="1800" u="none" cap="none" strike="noStrike">
                <a:solidFill>
                  <a:srgbClr val="000000"/>
                </a:solidFill>
                <a:latin typeface="Calibri"/>
                <a:ea typeface="Calibri"/>
                <a:cs typeface="Calibri"/>
                <a:sym typeface="Calibri"/>
              </a:rPr>
              <a:t> when in this “state” next state uniquely determined by next event</a:t>
            </a:r>
            <a:endParaRPr b="0" i="0" sz="1800" u="none" cap="none" strike="noStrike">
              <a:solidFill>
                <a:srgbClr val="000000"/>
              </a:solidFill>
              <a:latin typeface="Calibri"/>
              <a:ea typeface="Calibri"/>
              <a:cs typeface="Calibri"/>
              <a:sym typeface="Calibri"/>
            </a:endParaRPr>
          </a:p>
        </p:txBody>
      </p:sp>
      <p:sp>
        <p:nvSpPr>
          <p:cNvPr id="586" name="Google Shape;586;p12"/>
          <p:cNvSpPr/>
          <p:nvPr/>
        </p:nvSpPr>
        <p:spPr>
          <a:xfrm>
            <a:off x="4270017" y="57755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587" name="Google Shape;587;p12"/>
          <p:cNvSpPr/>
          <p:nvPr/>
        </p:nvSpPr>
        <p:spPr>
          <a:xfrm rot="10800000">
            <a:off x="9413517" y="5813694"/>
            <a:ext cx="95250" cy="581025"/>
          </a:xfrm>
          <a:custGeom>
            <a:rect b="b" l="l" r="r" t="t"/>
            <a:pathLst>
              <a:path extrusionOk="0" h="366" w="60">
                <a:moveTo>
                  <a:pt x="48" y="366"/>
                </a:moveTo>
                <a:cubicBezTo>
                  <a:pt x="0" y="204"/>
                  <a:pt x="60" y="55"/>
                  <a:pt x="60" y="0"/>
                </a:cubicBezTo>
              </a:path>
            </a:pathLst>
          </a:custGeom>
          <a:noFill/>
          <a:ln cap="flat" cmpd="sng" w="28575">
            <a:solidFill>
              <a:srgbClr val="CC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588" name="Google Shape;588;p12"/>
          <p:cNvCxnSpPr/>
          <p:nvPr/>
        </p:nvCxnSpPr>
        <p:spPr>
          <a:xfrm>
            <a:off x="4824055" y="5532730"/>
            <a:ext cx="1541462" cy="738164"/>
          </a:xfrm>
          <a:prstGeom prst="straightConnector1">
            <a:avLst/>
          </a:prstGeom>
          <a:noFill/>
          <a:ln cap="flat" cmpd="sng" w="28575">
            <a:solidFill>
              <a:srgbClr val="CC0000"/>
            </a:solidFill>
            <a:prstDash val="solid"/>
            <a:round/>
            <a:headEnd len="med" w="med" type="none"/>
            <a:tailEnd len="med" w="med" type="triangle"/>
          </a:ln>
        </p:spPr>
      </p:cxnSp>
      <p:sp>
        <p:nvSpPr>
          <p:cNvPr id="589" name="Google Shape;589;p12"/>
          <p:cNvSpPr txBox="1"/>
          <p:nvPr/>
        </p:nvSpPr>
        <p:spPr>
          <a:xfrm>
            <a:off x="5560655" y="5312044"/>
            <a:ext cx="7429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event</a:t>
            </a:r>
            <a:endParaRPr b="0" i="0" sz="2400" u="none" cap="none" strike="noStrike">
              <a:solidFill>
                <a:srgbClr val="CC0000"/>
              </a:solidFill>
              <a:latin typeface="Tahoma"/>
              <a:ea typeface="Tahoma"/>
              <a:cs typeface="Tahoma"/>
              <a:sym typeface="Tahoma"/>
            </a:endParaRPr>
          </a:p>
        </p:txBody>
      </p:sp>
      <p:sp>
        <p:nvSpPr>
          <p:cNvPr id="590" name="Google Shape;590;p12"/>
          <p:cNvSpPr txBox="1"/>
          <p:nvPr/>
        </p:nvSpPr>
        <p:spPr>
          <a:xfrm>
            <a:off x="5520967" y="5616844"/>
            <a:ext cx="890588"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1800"/>
              <a:buFont typeface="Tahoma"/>
              <a:buNone/>
            </a:pPr>
            <a:r>
              <a:rPr b="0" i="0" lang="en-US" sz="1800" u="none" cap="none" strike="noStrike">
                <a:solidFill>
                  <a:srgbClr val="CC0000"/>
                </a:solidFill>
                <a:latin typeface="Tahoma"/>
                <a:ea typeface="Tahoma"/>
                <a:cs typeface="Tahoma"/>
                <a:sym typeface="Tahoma"/>
              </a:rPr>
              <a:t>actions</a:t>
            </a:r>
            <a:endParaRPr b="0" i="0" sz="2400" u="none" cap="none" strike="noStrike">
              <a:solidFill>
                <a:srgbClr val="CC0000"/>
              </a:solidFill>
              <a:latin typeface="Tahoma"/>
              <a:ea typeface="Tahoma"/>
              <a:cs typeface="Tahoma"/>
              <a:sym typeface="Tahoma"/>
            </a:endParaRPr>
          </a:p>
        </p:txBody>
      </p:sp>
      <p:cxnSp>
        <p:nvCxnSpPr>
          <p:cNvPr id="591" name="Google Shape;591;p12"/>
          <p:cNvCxnSpPr/>
          <p:nvPr/>
        </p:nvCxnSpPr>
        <p:spPr>
          <a:xfrm>
            <a:off x="5470167" y="5670819"/>
            <a:ext cx="942975" cy="0"/>
          </a:xfrm>
          <a:prstGeom prst="straightConnector1">
            <a:avLst/>
          </a:prstGeom>
          <a:noFill/>
          <a:ln cap="flat" cmpd="sng" w="28575">
            <a:solidFill>
              <a:srgbClr val="CC0000"/>
            </a:solidFill>
            <a:prstDash val="solid"/>
            <a:round/>
            <a:headEnd len="med" w="med" type="none"/>
            <a:tailEnd len="med" w="med" type="none"/>
          </a:ln>
        </p:spPr>
      </p:cxnSp>
      <p:sp>
        <p:nvSpPr>
          <p:cNvPr id="592" name="Google Shape;592;p12"/>
          <p:cNvSpPr txBox="1"/>
          <p:nvPr/>
        </p:nvSpPr>
        <p:spPr>
          <a:xfrm>
            <a:off x="918939" y="3470275"/>
            <a:ext cx="11056577" cy="542925"/>
          </a:xfrm>
          <a:prstGeom prst="rect">
            <a:avLst/>
          </a:prstGeom>
          <a:noFill/>
          <a:ln>
            <a:noFill/>
          </a:ln>
        </p:spPr>
        <p:txBody>
          <a:bodyPr anchorCtr="0" anchor="t" bIns="45700" lIns="91425" spcFirstLastPara="1" rIns="91425" wrap="square" tIns="45700">
            <a:noAutofit/>
          </a:bodyPr>
          <a:lstStyle/>
          <a:p>
            <a:pPr indent="-284163" lvl="0" marL="284163" marR="0" rtl="0" algn="l">
              <a:lnSpc>
                <a:spcPct val="85000"/>
              </a:lnSpc>
              <a:spcBef>
                <a:spcPts val="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use finite state machines (FSM)  to specify sender, receiver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500"/>
                                        <p:tgtEl>
                                          <p:spTgt spid="575"/>
                                        </p:tgtEl>
                                      </p:cBhvr>
                                    </p:animEffect>
                                  </p:childTnLst>
                                </p:cTn>
                              </p:par>
                              <p:par>
                                <p:cTn fill="hold" nodeType="with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500"/>
                                        <p:tgtEl>
                                          <p:spTgt spid="576"/>
                                        </p:tgtEl>
                                      </p:cBhvr>
                                    </p:animEffect>
                                  </p:childTnLst>
                                </p:cTn>
                              </p:par>
                              <p:par>
                                <p:cTn fill="hold" nodeType="with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500"/>
                                        <p:tgtEl>
                                          <p:spTgt spid="577"/>
                                        </p:tgtEl>
                                      </p:cBhvr>
                                    </p:animEffect>
                                  </p:childTnLst>
                                </p:cTn>
                              </p:par>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par>
                                <p:cTn fill="hold" nodeType="with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par>
                                <p:cTn fill="hold" nodeType="withEffect" presetClass="entr" presetID="10" presetSubtype="0">
                                  <p:stCondLst>
                                    <p:cond delay="0"/>
                                  </p:stCondLst>
                                  <p:childTnLst>
                                    <p:set>
                                      <p:cBhvr>
                                        <p:cTn dur="1" fill="hold">
                                          <p:stCondLst>
                                            <p:cond delay="0"/>
                                          </p:stCondLst>
                                        </p:cTn>
                                        <p:tgtEl>
                                          <p:spTgt spid="580"/>
                                        </p:tgtEl>
                                        <p:attrNameLst>
                                          <p:attrName>style.visibility</p:attrName>
                                        </p:attrNameLst>
                                      </p:cBhvr>
                                      <p:to>
                                        <p:strVal val="visible"/>
                                      </p:to>
                                    </p:set>
                                    <p:animEffect filter="fade" transition="in">
                                      <p:cBhvr>
                                        <p:cTn dur="500"/>
                                        <p:tgtEl>
                                          <p:spTgt spid="580"/>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par>
                                <p:cTn fill="hold" nodeType="with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500"/>
                                        <p:tgtEl>
                                          <p:spTgt spid="582"/>
                                        </p:tgtEl>
                                      </p:cBhvr>
                                    </p:animEffect>
                                  </p:childTnLst>
                                </p:cTn>
                              </p:par>
                              <p:par>
                                <p:cTn fill="hold" nodeType="with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par>
                                <p:cTn fill="hold" nodeType="with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par>
                                <p:cTn fill="hold" nodeType="with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par>
                                <p:cTn fill="hold" nodeType="with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par>
                                <p:cTn fill="hold" nodeType="with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500"/>
                                        <p:tgtEl>
                                          <p:spTgt spid="587"/>
                                        </p:tgtEl>
                                      </p:cBhvr>
                                    </p:animEffect>
                                  </p:childTnLst>
                                </p:cTn>
                              </p:par>
                              <p:par>
                                <p:cTn fill="hold" nodeType="with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par>
                                <p:cTn fill="hold" nodeType="with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par>
                                <p:cTn fill="hold" nodeType="with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par>
                                <p:cTn fill="hold" nodeType="with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500"/>
                                        <p:tgtEl>
                                          <p:spTgt spid="5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rdt1.0: </a:t>
            </a:r>
            <a:r>
              <a:rPr lang="en-US" sz="4400"/>
              <a:t>reliable transfer over a reliable channel</a:t>
            </a:r>
            <a:endParaRPr/>
          </a:p>
        </p:txBody>
      </p:sp>
      <p:sp>
        <p:nvSpPr>
          <p:cNvPr id="599" name="Google Shape;599;p13"/>
          <p:cNvSpPr txBox="1"/>
          <p:nvPr/>
        </p:nvSpPr>
        <p:spPr>
          <a:xfrm>
            <a:off x="798690" y="1370551"/>
            <a:ext cx="7896225" cy="301942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underlying channel perfectly reliable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bit errors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no loss of packets</a:t>
            </a:r>
            <a:endParaRPr/>
          </a:p>
        </p:txBody>
      </p:sp>
      <p:sp>
        <p:nvSpPr>
          <p:cNvPr id="600" name="Google Shape;600;p13"/>
          <p:cNvSpPr/>
          <p:nvPr/>
        </p:nvSpPr>
        <p:spPr>
          <a:xfrm>
            <a:off x="2850759" y="4627024"/>
            <a:ext cx="611187" cy="102711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601" name="Google Shape;601;p13"/>
          <p:cNvSpPr txBox="1"/>
          <p:nvPr/>
        </p:nvSpPr>
        <p:spPr>
          <a:xfrm>
            <a:off x="3251680" y="5048046"/>
            <a:ext cx="2682875" cy="5984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 make_pkt(data)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udt_send(packet)</a:t>
            </a:r>
            <a:endParaRPr b="0" i="0" sz="1600" u="none" cap="none" strike="noStrike">
              <a:solidFill>
                <a:srgbClr val="000000"/>
              </a:solidFill>
              <a:latin typeface="Times New Roman"/>
              <a:ea typeface="Times New Roman"/>
              <a:cs typeface="Times New Roman"/>
              <a:sym typeface="Times New Roman"/>
            </a:endParaRPr>
          </a:p>
        </p:txBody>
      </p:sp>
      <p:grpSp>
        <p:nvGrpSpPr>
          <p:cNvPr id="602" name="Google Shape;602;p13"/>
          <p:cNvGrpSpPr/>
          <p:nvPr/>
        </p:nvGrpSpPr>
        <p:grpSpPr>
          <a:xfrm>
            <a:off x="3261921" y="4671474"/>
            <a:ext cx="2255838" cy="428625"/>
            <a:chOff x="3084121" y="4379374"/>
            <a:chExt cx="2255838" cy="428625"/>
          </a:xfrm>
        </p:grpSpPr>
        <p:sp>
          <p:nvSpPr>
            <p:cNvPr id="603" name="Google Shape;603;p13"/>
            <p:cNvSpPr txBox="1"/>
            <p:nvPr/>
          </p:nvSpPr>
          <p:spPr>
            <a:xfrm>
              <a:off x="3084121" y="4379374"/>
              <a:ext cx="22558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604" name="Google Shape;604;p13"/>
            <p:cNvCxnSpPr/>
            <p:nvPr/>
          </p:nvCxnSpPr>
          <p:spPr>
            <a:xfrm>
              <a:off x="3184134" y="4722274"/>
              <a:ext cx="1296987" cy="0"/>
            </a:xfrm>
            <a:prstGeom prst="straightConnector1">
              <a:avLst/>
            </a:prstGeom>
            <a:noFill/>
            <a:ln cap="flat" cmpd="sng" w="19050">
              <a:solidFill>
                <a:srgbClr val="000000"/>
              </a:solidFill>
              <a:prstDash val="solid"/>
              <a:round/>
              <a:headEnd len="med" w="med" type="none"/>
              <a:tailEnd len="med" w="med" type="none"/>
            </a:ln>
          </p:spPr>
        </p:cxnSp>
      </p:grpSp>
      <p:sp>
        <p:nvSpPr>
          <p:cNvPr id="605" name="Google Shape;605;p13"/>
          <p:cNvSpPr txBox="1"/>
          <p:nvPr/>
        </p:nvSpPr>
        <p:spPr>
          <a:xfrm>
            <a:off x="9581566" y="5063272"/>
            <a:ext cx="2487612"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 (packet,data)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b="0" i="0" sz="1600" u="none" cap="none" strike="noStrike">
              <a:solidFill>
                <a:srgbClr val="000000"/>
              </a:solidFill>
              <a:latin typeface="Times New Roman"/>
              <a:ea typeface="Times New Roman"/>
              <a:cs typeface="Times New Roman"/>
              <a:sym typeface="Times New Roman"/>
            </a:endParaRPr>
          </a:p>
        </p:txBody>
      </p:sp>
      <p:sp>
        <p:nvSpPr>
          <p:cNvPr id="606" name="Google Shape;606;p13"/>
          <p:cNvSpPr/>
          <p:nvPr/>
        </p:nvSpPr>
        <p:spPr>
          <a:xfrm>
            <a:off x="9171991" y="4666397"/>
            <a:ext cx="611187" cy="102711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607" name="Google Shape;607;p13"/>
          <p:cNvGrpSpPr/>
          <p:nvPr/>
        </p:nvGrpSpPr>
        <p:grpSpPr>
          <a:xfrm>
            <a:off x="9597441" y="4742597"/>
            <a:ext cx="1541462" cy="336550"/>
            <a:chOff x="9419641" y="4450497"/>
            <a:chExt cx="1541462" cy="336550"/>
          </a:xfrm>
        </p:grpSpPr>
        <p:cxnSp>
          <p:nvCxnSpPr>
            <p:cNvPr id="608" name="Google Shape;608;p13"/>
            <p:cNvCxnSpPr/>
            <p:nvPr/>
          </p:nvCxnSpPr>
          <p:spPr>
            <a:xfrm>
              <a:off x="9505366" y="4774347"/>
              <a:ext cx="1296987" cy="0"/>
            </a:xfrm>
            <a:prstGeom prst="straightConnector1">
              <a:avLst/>
            </a:prstGeom>
            <a:noFill/>
            <a:ln cap="flat" cmpd="sng" w="19050">
              <a:solidFill>
                <a:srgbClr val="000000"/>
              </a:solidFill>
              <a:prstDash val="solid"/>
              <a:round/>
              <a:headEnd len="med" w="med" type="none"/>
              <a:tailEnd len="med" w="med" type="none"/>
            </a:ln>
          </p:spPr>
        </p:cxnSp>
        <p:sp>
          <p:nvSpPr>
            <p:cNvPr id="609" name="Google Shape;609;p13"/>
            <p:cNvSpPr/>
            <p:nvPr/>
          </p:nvSpPr>
          <p:spPr>
            <a:xfrm>
              <a:off x="9419641" y="4450497"/>
              <a:ext cx="1541462" cy="33655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rdt_rcv(packet)</a:t>
              </a:r>
              <a:endParaRPr/>
            </a:p>
          </p:txBody>
        </p:sp>
      </p:grpSp>
      <p:grpSp>
        <p:nvGrpSpPr>
          <p:cNvPr id="610" name="Google Shape;610;p13"/>
          <p:cNvGrpSpPr/>
          <p:nvPr/>
        </p:nvGrpSpPr>
        <p:grpSpPr>
          <a:xfrm>
            <a:off x="6812375" y="4666397"/>
            <a:ext cx="2496141" cy="1027113"/>
            <a:chOff x="6075775" y="5479197"/>
            <a:chExt cx="2496141" cy="1027113"/>
          </a:xfrm>
        </p:grpSpPr>
        <p:sp>
          <p:nvSpPr>
            <p:cNvPr id="611" name="Google Shape;611;p13"/>
            <p:cNvSpPr/>
            <p:nvPr/>
          </p:nvSpPr>
          <p:spPr>
            <a:xfrm>
              <a:off x="7536866" y="5495072"/>
              <a:ext cx="955675" cy="101123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12" name="Google Shape;612;p13"/>
            <p:cNvSpPr txBox="1"/>
            <p:nvPr/>
          </p:nvSpPr>
          <p:spPr>
            <a:xfrm>
              <a:off x="7473366" y="5580797"/>
              <a:ext cx="1098550" cy="91281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cxnSp>
          <p:nvCxnSpPr>
            <p:cNvPr id="613" name="Google Shape;613;p13"/>
            <p:cNvCxnSpPr/>
            <p:nvPr/>
          </p:nvCxnSpPr>
          <p:spPr>
            <a:xfrm>
              <a:off x="7213016" y="5479197"/>
              <a:ext cx="385762" cy="242888"/>
            </a:xfrm>
            <a:prstGeom prst="straightConnector1">
              <a:avLst/>
            </a:prstGeom>
            <a:noFill/>
            <a:ln cap="flat" cmpd="sng" w="9525">
              <a:solidFill>
                <a:srgbClr val="000000"/>
              </a:solidFill>
              <a:prstDash val="dash"/>
              <a:round/>
              <a:headEnd len="med" w="med" type="none"/>
              <a:tailEnd len="med" w="med" type="triangle"/>
            </a:ln>
          </p:spPr>
        </p:cxnSp>
        <p:sp>
          <p:nvSpPr>
            <p:cNvPr id="614" name="Google Shape;614;p13"/>
            <p:cNvSpPr txBox="1"/>
            <p:nvPr/>
          </p:nvSpPr>
          <p:spPr>
            <a:xfrm>
              <a:off x="6075775" y="5745404"/>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grpSp>
      <p:pic>
        <p:nvPicPr>
          <p:cNvPr descr="Image result for easy button&quot;" id="615" name="Google Shape;615;p13"/>
          <p:cNvPicPr preferRelativeResize="0"/>
          <p:nvPr/>
        </p:nvPicPr>
        <p:blipFill rotWithShape="1">
          <a:blip r:embed="rId3">
            <a:alphaModFix/>
          </a:blip>
          <a:srcRect b="0" l="0" r="0" t="0"/>
          <a:stretch/>
        </p:blipFill>
        <p:spPr>
          <a:xfrm>
            <a:off x="8237940" y="1871323"/>
            <a:ext cx="2139751" cy="2139751"/>
          </a:xfrm>
          <a:prstGeom prst="rect">
            <a:avLst/>
          </a:prstGeom>
          <a:noFill/>
          <a:ln>
            <a:noFill/>
          </a:ln>
        </p:spPr>
      </p:pic>
      <p:sp>
        <p:nvSpPr>
          <p:cNvPr id="616" name="Google Shape;616;p13"/>
          <p:cNvSpPr txBox="1"/>
          <p:nvPr/>
        </p:nvSpPr>
        <p:spPr>
          <a:xfrm>
            <a:off x="798690" y="2794001"/>
            <a:ext cx="7896225" cy="15113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1" lang="en-US" sz="2800" u="none" cap="none" strike="noStrike">
                <a:solidFill>
                  <a:srgbClr val="C00000"/>
                </a:solidFill>
                <a:latin typeface="Calibri"/>
                <a:ea typeface="Calibri"/>
                <a:cs typeface="Calibri"/>
                <a:sym typeface="Calibri"/>
              </a:rPr>
              <a:t>separate</a:t>
            </a:r>
            <a:r>
              <a:rPr b="0" i="0" lang="en-US" sz="2800" u="none" cap="none" strike="noStrike">
                <a:solidFill>
                  <a:srgbClr val="000000"/>
                </a:solidFill>
                <a:latin typeface="Calibri"/>
                <a:ea typeface="Calibri"/>
                <a:cs typeface="Calibri"/>
                <a:sym typeface="Calibri"/>
              </a:rPr>
              <a:t> FSMs for sender, receiver:</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sender sends data into underlying channel</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reads data from underlying channel</a:t>
            </a:r>
            <a:endParaRPr/>
          </a:p>
        </p:txBody>
      </p:sp>
      <p:grpSp>
        <p:nvGrpSpPr>
          <p:cNvPr id="617" name="Google Shape;617;p13"/>
          <p:cNvGrpSpPr/>
          <p:nvPr/>
        </p:nvGrpSpPr>
        <p:grpSpPr>
          <a:xfrm>
            <a:off x="706840" y="4601624"/>
            <a:ext cx="2271310" cy="1027112"/>
            <a:chOff x="262340" y="5579524"/>
            <a:chExt cx="2271310" cy="1027112"/>
          </a:xfrm>
        </p:grpSpPr>
        <p:grpSp>
          <p:nvGrpSpPr>
            <p:cNvPr id="618" name="Google Shape;618;p13"/>
            <p:cNvGrpSpPr/>
            <p:nvPr/>
          </p:nvGrpSpPr>
          <p:grpSpPr>
            <a:xfrm>
              <a:off x="262340" y="5579524"/>
              <a:ext cx="2201069" cy="1027112"/>
              <a:chOff x="795740" y="4614324"/>
              <a:chExt cx="2201069" cy="1027112"/>
            </a:xfrm>
          </p:grpSpPr>
          <p:cxnSp>
            <p:nvCxnSpPr>
              <p:cNvPr id="619" name="Google Shape;619;p13"/>
              <p:cNvCxnSpPr/>
              <p:nvPr/>
            </p:nvCxnSpPr>
            <p:spPr>
              <a:xfrm>
                <a:off x="1717284" y="4614324"/>
                <a:ext cx="385762" cy="242887"/>
              </a:xfrm>
              <a:prstGeom prst="straightConnector1">
                <a:avLst/>
              </a:prstGeom>
              <a:noFill/>
              <a:ln cap="flat" cmpd="sng" w="9525">
                <a:solidFill>
                  <a:srgbClr val="000000"/>
                </a:solidFill>
                <a:prstDash val="dash"/>
                <a:round/>
                <a:headEnd len="med" w="med" type="none"/>
                <a:tailEnd len="med" w="med" type="triangle"/>
              </a:ln>
            </p:spPr>
          </p:cxnSp>
          <p:sp>
            <p:nvSpPr>
              <p:cNvPr id="620" name="Google Shape;620;p13"/>
              <p:cNvSpPr txBox="1"/>
              <p:nvPr/>
            </p:nvSpPr>
            <p:spPr>
              <a:xfrm>
                <a:off x="795740" y="4985781"/>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621" name="Google Shape;621;p13"/>
              <p:cNvSpPr/>
              <p:nvPr/>
            </p:nvSpPr>
            <p:spPr>
              <a:xfrm>
                <a:off x="2041134" y="4630199"/>
                <a:ext cx="955675" cy="1011237"/>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622" name="Google Shape;622;p13"/>
            <p:cNvSpPr txBox="1"/>
            <p:nvPr/>
          </p:nvSpPr>
          <p:spPr>
            <a:xfrm>
              <a:off x="1435100" y="5693824"/>
              <a:ext cx="1098550" cy="91281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629" name="Google Shape;629;p14"/>
          <p:cNvSpPr txBox="1"/>
          <p:nvPr/>
        </p:nvSpPr>
        <p:spPr>
          <a:xfrm>
            <a:off x="673994" y="1482748"/>
            <a:ext cx="11100625" cy="4448175"/>
          </a:xfrm>
          <a:prstGeom prst="rect">
            <a:avLst/>
          </a:prstGeom>
          <a:noFill/>
          <a:ln>
            <a:noFill/>
          </a:ln>
        </p:spPr>
        <p:txBody>
          <a:bodyPr anchorCtr="0" anchor="t" bIns="45700" lIns="91425" spcFirstLastPara="1" rIns="91425" wrap="square" tIns="45700">
            <a:normAutofit/>
          </a:bodyPr>
          <a:lstStyle/>
          <a:p>
            <a:pPr indent="-292100" lvl="0" marL="457200"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28600" lvl="1" marL="800100" marR="0" rtl="0" algn="l">
              <a:lnSpc>
                <a:spcPct val="75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(e.g., Internet checksum) to detect bit errors</a:t>
            </a:r>
            <a:endParaRPr/>
          </a:p>
          <a:p>
            <a:pPr indent="-292100" lvl="0" marL="457200"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630" name="Google Shape;630;p14"/>
          <p:cNvSpPr txBox="1"/>
          <p:nvPr/>
        </p:nvSpPr>
        <p:spPr>
          <a:xfrm>
            <a:off x="1328236" y="3911182"/>
            <a:ext cx="10041531"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3200"/>
              <a:buFont typeface="Calibri"/>
              <a:buNone/>
            </a:pPr>
            <a:r>
              <a:rPr b="0" i="1" lang="en-US" sz="3200" u="none" cap="none" strike="noStrike">
                <a:solidFill>
                  <a:srgbClr val="CC0000"/>
                </a:solidFill>
                <a:latin typeface="Calibri"/>
                <a:ea typeface="Calibri"/>
                <a:cs typeface="Calibri"/>
                <a:sym typeface="Calibri"/>
              </a:rPr>
              <a:t>How do humans recover from “errors” during conversation?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1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channel with bit errors</a:t>
            </a:r>
            <a:endParaRPr sz="4400"/>
          </a:p>
        </p:txBody>
      </p:sp>
      <p:sp>
        <p:nvSpPr>
          <p:cNvPr id="637" name="Google Shape;637;p15"/>
          <p:cNvSpPr txBox="1"/>
          <p:nvPr/>
        </p:nvSpPr>
        <p:spPr>
          <a:xfrm>
            <a:off x="673994" y="1274398"/>
            <a:ext cx="11100625" cy="4448175"/>
          </a:xfrm>
          <a:prstGeom prst="rect">
            <a:avLst/>
          </a:prstGeom>
          <a:noFill/>
          <a:ln>
            <a:noFill/>
          </a:ln>
        </p:spPr>
        <p:txBody>
          <a:bodyPr anchorCtr="0" anchor="t" bIns="45700" lIns="91425" spcFirstLastPara="1" rIns="91425" wrap="square" tIns="45700">
            <a:normAutofit/>
          </a:bodyPr>
          <a:lstStyle/>
          <a:p>
            <a:pPr indent="-295275" lvl="0" marL="409575" marR="0" rtl="0" algn="l">
              <a:lnSpc>
                <a:spcPct val="75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underlying channel may flip bits in packet</a:t>
            </a:r>
            <a:endParaRPr/>
          </a:p>
          <a:p>
            <a:pPr indent="-231775" lvl="1" marL="695325" marR="0" rtl="0" algn="l">
              <a:lnSpc>
                <a:spcPct val="80000"/>
              </a:lnSpc>
              <a:spcBef>
                <a:spcPts val="8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to detect bit errors</a:t>
            </a:r>
            <a:endParaRPr/>
          </a:p>
          <a:p>
            <a:pPr indent="-279400" lvl="0" marL="409575" marR="0" rtl="0" algn="l">
              <a:lnSpc>
                <a:spcPct val="75000"/>
              </a:lnSpc>
              <a:spcBef>
                <a:spcPts val="1000"/>
              </a:spcBef>
              <a:spcAft>
                <a:spcPts val="0"/>
              </a:spcAft>
              <a:buClr>
                <a:srgbClr val="0000A3"/>
              </a:buClr>
              <a:buSzPts val="3200"/>
              <a:buFont typeface="Noto Sans Symbols"/>
              <a:buChar char="▪"/>
            </a:pPr>
            <a:r>
              <a:rPr b="0" i="1" lang="en-US" sz="3200" u="none" cap="none" strike="noStrike">
                <a:solidFill>
                  <a:srgbClr val="000000"/>
                </a:solidFill>
                <a:latin typeface="Calibri"/>
                <a:ea typeface="Calibri"/>
                <a:cs typeface="Calibri"/>
                <a:sym typeface="Calibri"/>
              </a:rPr>
              <a:t>the</a:t>
            </a:r>
            <a:r>
              <a:rPr b="0" i="0" lang="en-US" sz="3200" u="none" cap="none" strike="noStrike">
                <a:solidFill>
                  <a:srgbClr val="000000"/>
                </a:solidFill>
                <a:latin typeface="Calibri"/>
                <a:ea typeface="Calibri"/>
                <a:cs typeface="Calibri"/>
                <a:sym typeface="Calibri"/>
              </a:rPr>
              <a:t> question: how to recover from errors?</a:t>
            </a:r>
            <a:endParaRPr b="0" i="0" sz="2800" u="none" cap="none" strike="noStrike">
              <a:solidFill>
                <a:srgbClr val="000000"/>
              </a:solidFill>
              <a:latin typeface="Calibri"/>
              <a:ea typeface="Calibri"/>
              <a:cs typeface="Calibri"/>
              <a:sym typeface="Calibri"/>
            </a:endParaRPr>
          </a:p>
        </p:txBody>
      </p:sp>
      <p:sp>
        <p:nvSpPr>
          <p:cNvPr id="638" name="Google Shape;638;p15"/>
          <p:cNvSpPr txBox="1"/>
          <p:nvPr/>
        </p:nvSpPr>
        <p:spPr>
          <a:xfrm>
            <a:off x="662419" y="2680738"/>
            <a:ext cx="11004862" cy="2157003"/>
          </a:xfrm>
          <a:prstGeom prst="rect">
            <a:avLst/>
          </a:prstGeom>
          <a:noFill/>
          <a:ln>
            <a:noFill/>
          </a:ln>
        </p:spPr>
        <p:txBody>
          <a:bodyPr anchorCtr="0" anchor="t" bIns="45700" lIns="91425" spcFirstLastPara="1" rIns="91425" wrap="square" tIns="45700">
            <a:normAutofit/>
          </a:bodyPr>
          <a:lstStyle/>
          <a:p>
            <a:pPr indent="-231775" lvl="1" marL="695325" marR="0" rtl="0" algn="l">
              <a:lnSpc>
                <a:spcPct val="90000"/>
              </a:lnSpc>
              <a:spcBef>
                <a:spcPts val="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acknowledgements (ACKs):</a:t>
            </a:r>
            <a:r>
              <a:rPr b="0" i="0" lang="en-US" sz="2800" u="none" cap="none" strike="noStrike">
                <a:solidFill>
                  <a:srgbClr val="000000"/>
                </a:solidFill>
                <a:latin typeface="Calibri"/>
                <a:ea typeface="Calibri"/>
                <a:cs typeface="Calibri"/>
                <a:sym typeface="Calibri"/>
              </a:rPr>
              <a:t> receiver explicitly tells sender that pkt received OK</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CC0000"/>
                </a:solidFill>
                <a:latin typeface="Calibri"/>
                <a:ea typeface="Calibri"/>
                <a:cs typeface="Calibri"/>
                <a:sym typeface="Calibri"/>
              </a:rPr>
              <a:t>negative acknowledgements (NAKs):</a:t>
            </a:r>
            <a:r>
              <a:rPr b="0" i="0" lang="en-US" sz="2800" u="none" cap="none" strike="noStrike">
                <a:solidFill>
                  <a:srgbClr val="000000"/>
                </a:solidFill>
                <a:latin typeface="Calibri"/>
                <a:ea typeface="Calibri"/>
                <a:cs typeface="Calibri"/>
                <a:sym typeface="Calibri"/>
              </a:rPr>
              <a:t> receiver explicitly tells sender that pkt had errors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sender </a:t>
            </a:r>
            <a:r>
              <a:rPr b="0" i="1" lang="en-US" sz="2800" u="none" cap="none" strike="noStrike">
                <a:solidFill>
                  <a:srgbClr val="C00000"/>
                </a:solidFill>
                <a:latin typeface="Calibri"/>
                <a:ea typeface="Calibri"/>
                <a:cs typeface="Calibri"/>
                <a:sym typeface="Calibri"/>
              </a:rPr>
              <a:t>retransmits</a:t>
            </a:r>
            <a:r>
              <a:rPr b="0" i="0" lang="en-US" sz="2800" u="none" cap="none" strike="noStrike">
                <a:solidFill>
                  <a:srgbClr val="000000"/>
                </a:solidFill>
                <a:latin typeface="Calibri"/>
                <a:ea typeface="Calibri"/>
                <a:cs typeface="Calibri"/>
                <a:sym typeface="Calibri"/>
              </a:rPr>
              <a:t> pkt on receipt of NAK</a:t>
            </a:r>
            <a:endParaRPr/>
          </a:p>
        </p:txBody>
      </p:sp>
      <p:grpSp>
        <p:nvGrpSpPr>
          <p:cNvPr id="639" name="Google Shape;639;p15"/>
          <p:cNvGrpSpPr/>
          <p:nvPr/>
        </p:nvGrpSpPr>
        <p:grpSpPr>
          <a:xfrm>
            <a:off x="937549" y="5087784"/>
            <a:ext cx="10729731" cy="1466850"/>
            <a:chOff x="1552" y="2800"/>
            <a:chExt cx="2578" cy="924"/>
          </a:xfrm>
        </p:grpSpPr>
        <p:sp>
          <p:nvSpPr>
            <p:cNvPr id="640" name="Google Shape;640;p15"/>
            <p:cNvSpPr/>
            <p:nvPr/>
          </p:nvSpPr>
          <p:spPr>
            <a:xfrm>
              <a:off x="1552" y="2974"/>
              <a:ext cx="2578" cy="595"/>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641" name="Google Shape;641;p15"/>
            <p:cNvSpPr/>
            <p:nvPr/>
          </p:nvSpPr>
          <p:spPr>
            <a:xfrm>
              <a:off x="2226" y="2864"/>
              <a:ext cx="88"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642" name="Google Shape;642;p15"/>
            <p:cNvSpPr txBox="1"/>
            <p:nvPr/>
          </p:nvSpPr>
          <p:spPr>
            <a:xfrm>
              <a:off x="1724" y="2800"/>
              <a:ext cx="687"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643" name="Google Shape;643;p15"/>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500"/>
                                        <p:tgtEl>
                                          <p:spTgt spid="6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0" st="0"/>
                                            </p:txEl>
                                          </p:spTgt>
                                        </p:tgtEl>
                                        <p:attrNameLst>
                                          <p:attrName>style.visibility</p:attrName>
                                        </p:attrNameLst>
                                      </p:cBhvr>
                                      <p:to>
                                        <p:strVal val="visible"/>
                                      </p:to>
                                    </p:set>
                                    <p:animEffect filter="fade" transition="in">
                                      <p:cBhvr>
                                        <p:cTn dur="500"/>
                                        <p:tgtEl>
                                          <p:spTgt spid="6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 st="1"/>
                                            </p:txEl>
                                          </p:spTgt>
                                        </p:tgtEl>
                                        <p:attrNameLst>
                                          <p:attrName>style.visibility</p:attrName>
                                        </p:attrNameLst>
                                      </p:cBhvr>
                                      <p:to>
                                        <p:strVal val="visible"/>
                                      </p:to>
                                    </p:set>
                                    <p:animEffect filter="fade" transition="in">
                                      <p:cBhvr>
                                        <p:cTn dur="500"/>
                                        <p:tgtEl>
                                          <p:spTgt spid="6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2" st="2"/>
                                            </p:txEl>
                                          </p:spTgt>
                                        </p:tgtEl>
                                        <p:attrNameLst>
                                          <p:attrName>style.visibility</p:attrName>
                                        </p:attrNameLst>
                                      </p:cBhvr>
                                      <p:to>
                                        <p:strVal val="visible"/>
                                      </p:to>
                                    </p:set>
                                    <p:animEffect filter="fade" transition="in">
                                      <p:cBhvr>
                                        <p:cTn dur="500"/>
                                        <p:tgtEl>
                                          <p:spTgt spid="6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9"/>
                                        </p:tgtEl>
                                        <p:attrNameLst>
                                          <p:attrName>style.visibility</p:attrName>
                                        </p:attrNameLst>
                                      </p:cBhvr>
                                      <p:to>
                                        <p:strVal val="visible"/>
                                      </p:to>
                                    </p:set>
                                    <p:animEffect filter="fade" transition="in">
                                      <p:cBhvr>
                                        <p:cTn dur="500"/>
                                        <p:tgtEl>
                                          <p:spTgt spid="6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16"/>
          <p:cNvSpPr/>
          <p:nvPr/>
        </p:nvSpPr>
        <p:spPr>
          <a:xfrm>
            <a:off x="9870220" y="5077299"/>
            <a:ext cx="1669250"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0" name="Google Shape;650;p16"/>
          <p:cNvSpPr/>
          <p:nvPr/>
        </p:nvSpPr>
        <p:spPr>
          <a:xfrm>
            <a:off x="10103160" y="2734197"/>
            <a:ext cx="1333279" cy="311042"/>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51" name="Google Shape;651;p1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specifications</a:t>
            </a:r>
            <a:endParaRPr sz="4400"/>
          </a:p>
        </p:txBody>
      </p:sp>
      <p:sp>
        <p:nvSpPr>
          <p:cNvPr id="652" name="Google Shape;652;p16"/>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53" name="Google Shape;653;p16"/>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654" name="Google Shape;654;p16"/>
          <p:cNvGrpSpPr/>
          <p:nvPr/>
        </p:nvGrpSpPr>
        <p:grpSpPr>
          <a:xfrm>
            <a:off x="5004826" y="2400535"/>
            <a:ext cx="3673475" cy="919271"/>
            <a:chOff x="5004826" y="2400535"/>
            <a:chExt cx="3673475" cy="919271"/>
          </a:xfrm>
        </p:grpSpPr>
        <p:sp>
          <p:nvSpPr>
            <p:cNvPr id="655" name="Google Shape;655;p16"/>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56" name="Google Shape;656;p16"/>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657" name="Google Shape;657;p16"/>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658" name="Google Shape;658;p16"/>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659" name="Google Shape;659;p16"/>
          <p:cNvGrpSpPr/>
          <p:nvPr/>
        </p:nvGrpSpPr>
        <p:grpSpPr>
          <a:xfrm>
            <a:off x="4044388" y="2362543"/>
            <a:ext cx="1074738" cy="962025"/>
            <a:chOff x="1540" y="2116"/>
            <a:chExt cx="677" cy="606"/>
          </a:xfrm>
        </p:grpSpPr>
        <p:sp>
          <p:nvSpPr>
            <p:cNvPr id="660" name="Google Shape;660;p16"/>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1" name="Google Shape;661;p16"/>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662" name="Google Shape;662;p16"/>
          <p:cNvGrpSpPr/>
          <p:nvPr/>
        </p:nvGrpSpPr>
        <p:grpSpPr>
          <a:xfrm>
            <a:off x="8325876" y="2721318"/>
            <a:ext cx="3394075" cy="1036638"/>
            <a:chOff x="8325876" y="2721318"/>
            <a:chExt cx="3394075" cy="1036638"/>
          </a:xfrm>
        </p:grpSpPr>
        <p:grpSp>
          <p:nvGrpSpPr>
            <p:cNvPr id="663" name="Google Shape;663;p16"/>
            <p:cNvGrpSpPr/>
            <p:nvPr/>
          </p:nvGrpSpPr>
          <p:grpSpPr>
            <a:xfrm>
              <a:off x="8325876" y="2721318"/>
              <a:ext cx="3394075" cy="630238"/>
              <a:chOff x="2222" y="2804"/>
              <a:chExt cx="2138" cy="397"/>
            </a:xfrm>
          </p:grpSpPr>
          <p:sp>
            <p:nvSpPr>
              <p:cNvPr id="664" name="Google Shape;664;p16"/>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665" name="Google Shape;665;p16"/>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666" name="Google Shape;666;p16"/>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667" name="Google Shape;667;p16"/>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68" name="Google Shape;668;p16"/>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69" name="Google Shape;669;p16"/>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670" name="Google Shape;670;p16"/>
          <p:cNvGrpSpPr/>
          <p:nvPr/>
        </p:nvGrpSpPr>
        <p:grpSpPr>
          <a:xfrm>
            <a:off x="8049650" y="4591214"/>
            <a:ext cx="4142349" cy="1379872"/>
            <a:chOff x="8049650" y="4591214"/>
            <a:chExt cx="4142349" cy="1379872"/>
          </a:xfrm>
        </p:grpSpPr>
        <p:grpSp>
          <p:nvGrpSpPr>
            <p:cNvPr id="671" name="Google Shape;671;p16"/>
            <p:cNvGrpSpPr/>
            <p:nvPr/>
          </p:nvGrpSpPr>
          <p:grpSpPr>
            <a:xfrm>
              <a:off x="8049650" y="5037504"/>
              <a:ext cx="4142349" cy="933582"/>
              <a:chOff x="8049650" y="5037504"/>
              <a:chExt cx="4142349" cy="933582"/>
            </a:xfrm>
          </p:grpSpPr>
          <p:sp>
            <p:nvSpPr>
              <p:cNvPr id="672" name="Google Shape;672;p16"/>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673" name="Google Shape;673;p16"/>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674" name="Google Shape;674;p16"/>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675" name="Google Shape;675;p16"/>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676" name="Google Shape;676;p16"/>
          <p:cNvGrpSpPr/>
          <p:nvPr/>
        </p:nvGrpSpPr>
        <p:grpSpPr>
          <a:xfrm>
            <a:off x="2756926" y="1340193"/>
            <a:ext cx="3643312" cy="1027113"/>
            <a:chOff x="2756926" y="1340193"/>
            <a:chExt cx="3643312" cy="1027113"/>
          </a:xfrm>
        </p:grpSpPr>
        <p:sp>
          <p:nvSpPr>
            <p:cNvPr id="677" name="Google Shape;677;p16"/>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678" name="Google Shape;678;p16"/>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679" name="Google Shape;679;p16"/>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80" name="Google Shape;680;p16"/>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681" name="Google Shape;681;p16"/>
          <p:cNvGrpSpPr/>
          <p:nvPr/>
        </p:nvGrpSpPr>
        <p:grpSpPr>
          <a:xfrm>
            <a:off x="2270357" y="3283338"/>
            <a:ext cx="3548062" cy="989290"/>
            <a:chOff x="2270357" y="3283338"/>
            <a:chExt cx="3548062" cy="989290"/>
          </a:xfrm>
        </p:grpSpPr>
        <p:sp>
          <p:nvSpPr>
            <p:cNvPr id="682" name="Google Shape;682;p16"/>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683" name="Google Shape;683;p16"/>
            <p:cNvGrpSpPr/>
            <p:nvPr/>
          </p:nvGrpSpPr>
          <p:grpSpPr>
            <a:xfrm>
              <a:off x="2270357" y="3545923"/>
              <a:ext cx="3548062" cy="726705"/>
              <a:chOff x="2270357" y="3545923"/>
              <a:chExt cx="3548062" cy="726705"/>
            </a:xfrm>
          </p:grpSpPr>
          <p:sp>
            <p:nvSpPr>
              <p:cNvPr id="684" name="Google Shape;684;p16"/>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685" name="Google Shape;685;p16"/>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686" name="Google Shape;686;p16"/>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687" name="Google Shape;687;p16"/>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688" name="Google Shape;688;p16"/>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689" name="Google Shape;689;p16"/>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
        <p:nvSpPr>
          <p:cNvPr id="690" name="Google Shape;690;p16"/>
          <p:cNvSpPr/>
          <p:nvPr/>
        </p:nvSpPr>
        <p:spPr>
          <a:xfrm>
            <a:off x="7841292" y="2480153"/>
            <a:ext cx="4246323" cy="400832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4"/>
                                        </p:tgtEl>
                                        <p:attrNameLst>
                                          <p:attrName>style.visibility</p:attrName>
                                        </p:attrNameLst>
                                      </p:cBhvr>
                                      <p:to>
                                        <p:strVal val="visible"/>
                                      </p:to>
                                    </p:set>
                                    <p:animEffect filter="fade" transition="in">
                                      <p:cBhvr>
                                        <p:cTn dur="500"/>
                                        <p:tgtEl>
                                          <p:spTgt spid="654"/>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90"/>
                                        </p:tgtEl>
                                      </p:cBhvr>
                                    </p:animEffect>
                                    <p:set>
                                      <p:cBhvr>
                                        <p:cTn dur="1" fill="hold">
                                          <p:stCondLst>
                                            <p:cond delay="500"/>
                                          </p:stCondLst>
                                        </p:cTn>
                                        <p:tgtEl>
                                          <p:spTgt spid="6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500"/>
                                        <p:tgtEl>
                                          <p:spTgt spid="662"/>
                                        </p:tgtEl>
                                      </p:cBhvr>
                                    </p:animEffect>
                                  </p:childTnLst>
                                </p:cTn>
                              </p:par>
                              <p:par>
                                <p:cTn fill="hold" nodeType="withEffect" presetClass="entr" presetID="10" presetSubtype="0">
                                  <p:stCondLst>
                                    <p:cond delay="0"/>
                                  </p:stCondLst>
                                  <p:childTnLst>
                                    <p:set>
                                      <p:cBhvr>
                                        <p:cTn dur="1" fill="hold">
                                          <p:stCondLst>
                                            <p:cond delay="0"/>
                                          </p:stCondLst>
                                        </p:cTn>
                                        <p:tgtEl>
                                          <p:spTgt spid="650"/>
                                        </p:tgtEl>
                                        <p:attrNameLst>
                                          <p:attrName>style.visibility</p:attrName>
                                        </p:attrNameLst>
                                      </p:cBhvr>
                                      <p:to>
                                        <p:strVal val="visible"/>
                                      </p:to>
                                    </p:set>
                                    <p:animEffect filter="fade" transition="in">
                                      <p:cBhvr>
                                        <p:cTn dur="500"/>
                                        <p:tgtEl>
                                          <p:spTgt spid="6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gtEl>
                                        <p:attrNameLst>
                                          <p:attrName>style.visibility</p:attrName>
                                        </p:attrNameLst>
                                      </p:cBhvr>
                                      <p:to>
                                        <p:strVal val="visible"/>
                                      </p:to>
                                    </p:set>
                                    <p:animEffect filter="fade" transition="in">
                                      <p:cBhvr>
                                        <p:cTn dur="500"/>
                                        <p:tgtEl>
                                          <p:spTgt spid="670"/>
                                        </p:tgtEl>
                                      </p:cBhvr>
                                    </p:animEffect>
                                  </p:childTnLst>
                                </p:cTn>
                              </p:par>
                              <p:par>
                                <p:cTn fill="hold" nodeType="with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5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a:t>
            </a:r>
            <a:endParaRPr sz="4400"/>
          </a:p>
        </p:txBody>
      </p:sp>
      <p:sp>
        <p:nvSpPr>
          <p:cNvPr id="697" name="Google Shape;697;p17"/>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698" name="Google Shape;698;p17"/>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699" name="Google Shape;699;p17"/>
          <p:cNvGrpSpPr/>
          <p:nvPr/>
        </p:nvGrpSpPr>
        <p:grpSpPr>
          <a:xfrm>
            <a:off x="5004826" y="2400535"/>
            <a:ext cx="3673475" cy="919271"/>
            <a:chOff x="5004826" y="2400535"/>
            <a:chExt cx="3673475" cy="919271"/>
          </a:xfrm>
        </p:grpSpPr>
        <p:sp>
          <p:nvSpPr>
            <p:cNvPr id="700" name="Google Shape;700;p17"/>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1" name="Google Shape;701;p17"/>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702" name="Google Shape;702;p17"/>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703" name="Google Shape;703;p17"/>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704" name="Google Shape;704;p17"/>
          <p:cNvGrpSpPr/>
          <p:nvPr/>
        </p:nvGrpSpPr>
        <p:grpSpPr>
          <a:xfrm>
            <a:off x="4044388" y="2362543"/>
            <a:ext cx="1074738" cy="962025"/>
            <a:chOff x="1540" y="2116"/>
            <a:chExt cx="677" cy="606"/>
          </a:xfrm>
        </p:grpSpPr>
        <p:sp>
          <p:nvSpPr>
            <p:cNvPr id="705" name="Google Shape;705;p17"/>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06" name="Google Shape;706;p17"/>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707" name="Google Shape;707;p17"/>
          <p:cNvGrpSpPr/>
          <p:nvPr/>
        </p:nvGrpSpPr>
        <p:grpSpPr>
          <a:xfrm>
            <a:off x="8325876" y="2721318"/>
            <a:ext cx="3394075" cy="1036638"/>
            <a:chOff x="8325876" y="2721318"/>
            <a:chExt cx="3394075" cy="1036638"/>
          </a:xfrm>
        </p:grpSpPr>
        <p:grpSp>
          <p:nvGrpSpPr>
            <p:cNvPr id="708" name="Google Shape;708;p17"/>
            <p:cNvGrpSpPr/>
            <p:nvPr/>
          </p:nvGrpSpPr>
          <p:grpSpPr>
            <a:xfrm>
              <a:off x="8325876" y="2721318"/>
              <a:ext cx="3394075" cy="630238"/>
              <a:chOff x="2222" y="2804"/>
              <a:chExt cx="2138" cy="397"/>
            </a:xfrm>
          </p:grpSpPr>
          <p:sp>
            <p:nvSpPr>
              <p:cNvPr id="709" name="Google Shape;709;p17"/>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710" name="Google Shape;710;p17"/>
              <p:cNvSpPr txBox="1"/>
              <p:nvPr/>
            </p:nvSpPr>
            <p:spPr>
              <a:xfrm>
                <a:off x="2225" y="280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711" name="Google Shape;711;p17"/>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712" name="Google Shape;712;p17"/>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13" name="Google Shape;713;p17"/>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14" name="Google Shape;714;p17"/>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715" name="Google Shape;715;p17"/>
          <p:cNvGrpSpPr/>
          <p:nvPr/>
        </p:nvGrpSpPr>
        <p:grpSpPr>
          <a:xfrm>
            <a:off x="8049650" y="4591214"/>
            <a:ext cx="4142349" cy="1379872"/>
            <a:chOff x="8049650" y="4591214"/>
            <a:chExt cx="4142349" cy="1379872"/>
          </a:xfrm>
        </p:grpSpPr>
        <p:grpSp>
          <p:nvGrpSpPr>
            <p:cNvPr id="716" name="Google Shape;716;p17"/>
            <p:cNvGrpSpPr/>
            <p:nvPr/>
          </p:nvGrpSpPr>
          <p:grpSpPr>
            <a:xfrm>
              <a:off x="8049650" y="5037504"/>
              <a:ext cx="4142349" cy="933582"/>
              <a:chOff x="8049650" y="5037504"/>
              <a:chExt cx="4142349" cy="933582"/>
            </a:xfrm>
          </p:grpSpPr>
          <p:sp>
            <p:nvSpPr>
              <p:cNvPr id="717" name="Google Shape;717;p17"/>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718" name="Google Shape;718;p17"/>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719" name="Google Shape;719;p17"/>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720" name="Google Shape;720;p17"/>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721" name="Google Shape;721;p17"/>
          <p:cNvGrpSpPr/>
          <p:nvPr/>
        </p:nvGrpSpPr>
        <p:grpSpPr>
          <a:xfrm>
            <a:off x="2756926" y="1340193"/>
            <a:ext cx="3643312" cy="1027113"/>
            <a:chOff x="2756926" y="1340193"/>
            <a:chExt cx="3643312" cy="1027113"/>
          </a:xfrm>
        </p:grpSpPr>
        <p:sp>
          <p:nvSpPr>
            <p:cNvPr id="722" name="Google Shape;722;p17"/>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723" name="Google Shape;723;p17"/>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724" name="Google Shape;724;p17"/>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5" name="Google Shape;725;p17"/>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726" name="Google Shape;726;p17"/>
          <p:cNvGrpSpPr/>
          <p:nvPr/>
        </p:nvGrpSpPr>
        <p:grpSpPr>
          <a:xfrm>
            <a:off x="2270357" y="3283338"/>
            <a:ext cx="3548062" cy="989290"/>
            <a:chOff x="2270357" y="3283338"/>
            <a:chExt cx="3548062" cy="989290"/>
          </a:xfrm>
        </p:grpSpPr>
        <p:sp>
          <p:nvSpPr>
            <p:cNvPr id="727" name="Google Shape;727;p17"/>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728" name="Google Shape;728;p17"/>
            <p:cNvGrpSpPr/>
            <p:nvPr/>
          </p:nvGrpSpPr>
          <p:grpSpPr>
            <a:xfrm>
              <a:off x="2270357" y="3545923"/>
              <a:ext cx="3548062" cy="726705"/>
              <a:chOff x="2270357" y="3545923"/>
              <a:chExt cx="3548062" cy="726705"/>
            </a:xfrm>
          </p:grpSpPr>
          <p:sp>
            <p:nvSpPr>
              <p:cNvPr id="729" name="Google Shape;729;p17"/>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730" name="Google Shape;730;p17"/>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731" name="Google Shape;731;p17"/>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732" name="Google Shape;732;p17"/>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733" name="Google Shape;733;p17"/>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734" name="Google Shape;734;p17"/>
          <p:cNvSpPr txBox="1"/>
          <p:nvPr/>
        </p:nvSpPr>
        <p:spPr>
          <a:xfrm>
            <a:off x="965915" y="4680633"/>
            <a:ext cx="6532819"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400"/>
              <a:buFont typeface="Calibri"/>
              <a:buNone/>
            </a:pPr>
            <a:r>
              <a:rPr b="0" i="0" lang="en-US" sz="2400" u="none" cap="none" strike="noStrike">
                <a:solidFill>
                  <a:srgbClr val="C00000"/>
                </a:solidFill>
                <a:latin typeface="Calibri"/>
                <a:ea typeface="Calibri"/>
                <a:cs typeface="Calibri"/>
                <a:sym typeface="Calibri"/>
              </a:rPr>
              <a:t>Note: </a:t>
            </a:r>
            <a:r>
              <a:rPr b="0" i="0" lang="en-US" sz="2400" u="none" cap="none" strike="noStrike">
                <a:solidFill>
                  <a:srgbClr val="000000"/>
                </a:solidFill>
                <a:latin typeface="Calibri"/>
                <a:ea typeface="Calibri"/>
                <a:cs typeface="Calibri"/>
                <a:sym typeface="Calibri"/>
              </a:rPr>
              <a:t>“state” of receiver (did the receiver get my message correctly?) isn’t known to sender unless somehow communicated from receiver to sender</a:t>
            </a:r>
            <a:endParaRPr/>
          </a:p>
          <a:p>
            <a:pPr indent="-228600" lvl="0" marL="342900" marR="0" rtl="0" algn="l">
              <a:lnSpc>
                <a:spcPct val="100000"/>
              </a:lnSpc>
              <a:spcBef>
                <a:spcPts val="0"/>
              </a:spcBef>
              <a:spcAft>
                <a:spcPts val="0"/>
              </a:spcAft>
              <a:buClr>
                <a:srgbClr val="0000A8"/>
              </a:buClr>
              <a:buSzPts val="2400"/>
              <a:buFont typeface="Noto Sans Symbols"/>
              <a:buChar char="▪"/>
            </a:pPr>
            <a:r>
              <a:rPr b="0" i="0" lang="en-US" sz="2400" u="none" cap="none" strike="noStrike">
                <a:solidFill>
                  <a:srgbClr val="000000"/>
                </a:solidFill>
                <a:latin typeface="Calibri"/>
                <a:ea typeface="Calibri"/>
                <a:cs typeface="Calibri"/>
                <a:sym typeface="Calibri"/>
              </a:rPr>
              <a:t>that’s why we need a protocol!</a:t>
            </a:r>
            <a:endParaRPr/>
          </a:p>
        </p:txBody>
      </p:sp>
      <p:sp>
        <p:nvSpPr>
          <p:cNvPr id="735" name="Google Shape;735;p17"/>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pic>
        <p:nvPicPr>
          <p:cNvPr descr="A shower curtain&#10;&#10;Description automatically generated" id="736" name="Google Shape;736;p17"/>
          <p:cNvPicPr preferRelativeResize="0"/>
          <p:nvPr/>
        </p:nvPicPr>
        <p:blipFill rotWithShape="1">
          <a:blip r:embed="rId3">
            <a:alphaModFix/>
          </a:blip>
          <a:srcRect b="0" l="0" r="0" t="0"/>
          <a:stretch/>
        </p:blipFill>
        <p:spPr>
          <a:xfrm>
            <a:off x="7333303" y="2155771"/>
            <a:ext cx="4642797" cy="4579749"/>
          </a:xfrm>
          <a:prstGeom prst="rect">
            <a:avLst/>
          </a:prstGeom>
          <a:noFill/>
          <a:ln>
            <a:noFill/>
          </a:ln>
        </p:spPr>
      </p:pic>
      <p:sp>
        <p:nvSpPr>
          <p:cNvPr id="737" name="Google Shape;737;p17"/>
          <p:cNvSpPr txBox="1"/>
          <p:nvPr/>
        </p:nvSpPr>
        <p:spPr>
          <a:xfrm>
            <a:off x="5459797" y="2400795"/>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isNAK(rcvpkt)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
        <p:nvSpPr>
          <p:cNvPr id="738" name="Google Shape;738;p17"/>
          <p:cNvSpPr txBox="1"/>
          <p:nvPr/>
        </p:nvSpPr>
        <p:spPr>
          <a:xfrm>
            <a:off x="3949171" y="3557373"/>
            <a:ext cx="2085975" cy="3986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highlight>
                  <a:srgbClr val="FFFF00"/>
                </a:highlight>
                <a:latin typeface="Arial"/>
                <a:ea typeface="Arial"/>
                <a:cs typeface="Arial"/>
                <a:sym typeface="Arial"/>
              </a:rPr>
              <a:t>isACK(rcvpkt)</a:t>
            </a:r>
            <a:endParaRPr b="0" i="0" sz="1600" u="none" cap="none" strike="noStrike">
              <a:solidFill>
                <a:srgbClr val="000000"/>
              </a:solidFill>
              <a:highlight>
                <a:srgbClr val="FFFF00"/>
              </a:highlight>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1000"/>
                                        <p:tgtEl>
                                          <p:spTgt spid="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7"/>
                                        </p:tgtEl>
                                        <p:attrNameLst>
                                          <p:attrName>style.visibility</p:attrName>
                                        </p:attrNameLst>
                                      </p:cBhvr>
                                      <p:to>
                                        <p:strVal val="visible"/>
                                      </p:to>
                                    </p:set>
                                    <p:animEffect filter="fade" transition="in">
                                      <p:cBhvr>
                                        <p:cTn dur="500"/>
                                        <p:tgtEl>
                                          <p:spTgt spid="737"/>
                                        </p:tgtEl>
                                      </p:cBhvr>
                                    </p:animEffect>
                                  </p:childTnLst>
                                </p:cTn>
                              </p:par>
                              <p:par>
                                <p:cTn fill="hold" nodeType="withEffect" presetClass="entr" presetID="10" presetSubtype="0">
                                  <p:stCondLst>
                                    <p:cond delay="0"/>
                                  </p:stCondLst>
                                  <p:childTnLst>
                                    <p:set>
                                      <p:cBhvr>
                                        <p:cTn dur="1" fill="hold">
                                          <p:stCondLst>
                                            <p:cond delay="0"/>
                                          </p:stCondLst>
                                        </p:cTn>
                                        <p:tgtEl>
                                          <p:spTgt spid="738"/>
                                        </p:tgtEl>
                                        <p:attrNameLst>
                                          <p:attrName>style.visibility</p:attrName>
                                        </p:attrNameLst>
                                      </p:cBhvr>
                                      <p:to>
                                        <p:strVal val="visible"/>
                                      </p:to>
                                    </p:set>
                                    <p:animEffect filter="fade" transition="in">
                                      <p:cBhvr>
                                        <p:cTn dur="500"/>
                                        <p:tgtEl>
                                          <p:spTgt spid="7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1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operation with no errors</a:t>
            </a:r>
            <a:endParaRPr sz="4400"/>
          </a:p>
        </p:txBody>
      </p:sp>
      <p:sp>
        <p:nvSpPr>
          <p:cNvPr id="745" name="Google Shape;745;p18"/>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46" name="Google Shape;746;p18"/>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747" name="Google Shape;747;p18"/>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748" name="Google Shape;748;p18"/>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749" name="Google Shape;749;p18"/>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0" name="Google Shape;750;p18"/>
          <p:cNvSpPr/>
          <p:nvPr/>
        </p:nvSpPr>
        <p:spPr>
          <a:xfrm>
            <a:off x="2856938"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1" name="Google Shape;751;p18"/>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2" name="Google Shape;752;p18"/>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753" name="Google Shape;753;p18"/>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754" name="Google Shape;754;p18"/>
          <p:cNvGrpSpPr/>
          <p:nvPr/>
        </p:nvGrpSpPr>
        <p:grpSpPr>
          <a:xfrm>
            <a:off x="8325876" y="3094378"/>
            <a:ext cx="1828800" cy="257175"/>
            <a:chOff x="2222" y="3039"/>
            <a:chExt cx="1152" cy="162"/>
          </a:xfrm>
        </p:grpSpPr>
        <p:sp>
          <p:nvSpPr>
            <p:cNvPr id="755" name="Google Shape;755;p18"/>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756" name="Google Shape;756;p18"/>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grpSp>
        <p:nvGrpSpPr>
          <p:cNvPr id="757" name="Google Shape;757;p18"/>
          <p:cNvGrpSpPr/>
          <p:nvPr/>
        </p:nvGrpSpPr>
        <p:grpSpPr>
          <a:xfrm>
            <a:off x="4044388" y="2362543"/>
            <a:ext cx="1074738" cy="962025"/>
            <a:chOff x="1540" y="2116"/>
            <a:chExt cx="677" cy="606"/>
          </a:xfrm>
        </p:grpSpPr>
        <p:sp>
          <p:nvSpPr>
            <p:cNvPr id="758" name="Google Shape;758;p18"/>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59" name="Google Shape;759;p18"/>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760" name="Google Shape;760;p18"/>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61" name="Google Shape;761;p18"/>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62" name="Google Shape;762;p18"/>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763" name="Google Shape;763;p18"/>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64" name="Google Shape;764;p18"/>
          <p:cNvGrpSpPr/>
          <p:nvPr/>
        </p:nvGrpSpPr>
        <p:grpSpPr>
          <a:xfrm>
            <a:off x="2101288" y="2306981"/>
            <a:ext cx="1333500" cy="1004887"/>
            <a:chOff x="220" y="1365"/>
            <a:chExt cx="840" cy="633"/>
          </a:xfrm>
        </p:grpSpPr>
        <p:cxnSp>
          <p:nvCxnSpPr>
            <p:cNvPr id="765" name="Google Shape;765;p18"/>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766" name="Google Shape;766;p18"/>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767" name="Google Shape;767;p18"/>
          <p:cNvGrpSpPr/>
          <p:nvPr/>
        </p:nvGrpSpPr>
        <p:grpSpPr>
          <a:xfrm>
            <a:off x="8086163" y="3637306"/>
            <a:ext cx="1414463" cy="1033462"/>
            <a:chOff x="3990" y="2203"/>
            <a:chExt cx="891" cy="651"/>
          </a:xfrm>
        </p:grpSpPr>
        <p:cxnSp>
          <p:nvCxnSpPr>
            <p:cNvPr id="768" name="Google Shape;768;p18"/>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769" name="Google Shape;769;p18"/>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70" name="Google Shape;770;p18"/>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771" name="Google Shape;771;p18"/>
          <p:cNvCxnSpPr/>
          <p:nvPr/>
        </p:nvCxnSpPr>
        <p:spPr>
          <a:xfrm>
            <a:off x="2763276"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772" name="Google Shape;772;p18"/>
          <p:cNvSpPr/>
          <p:nvPr/>
        </p:nvSpPr>
        <p:spPr>
          <a:xfrm>
            <a:off x="2763276" y="2146642"/>
            <a:ext cx="7148415" cy="2944699"/>
          </a:xfrm>
          <a:custGeom>
            <a:rect b="b" l="l" r="r" t="t"/>
            <a:pathLst>
              <a:path extrusionOk="0" h="9621" w="10673">
                <a:moveTo>
                  <a:pt x="0" y="52"/>
                </a:moveTo>
                <a:lnTo>
                  <a:pt x="2377" y="0"/>
                </a:lnTo>
                <a:lnTo>
                  <a:pt x="8009" y="9621"/>
                </a:lnTo>
                <a:lnTo>
                  <a:pt x="10673" y="962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73" name="Google Shape;773;p18"/>
          <p:cNvGrpSpPr/>
          <p:nvPr/>
        </p:nvGrpSpPr>
        <p:grpSpPr>
          <a:xfrm>
            <a:off x="2099701" y="2306981"/>
            <a:ext cx="1333500" cy="1004887"/>
            <a:chOff x="220" y="1365"/>
            <a:chExt cx="840" cy="633"/>
          </a:xfrm>
        </p:grpSpPr>
        <p:cxnSp>
          <p:nvCxnSpPr>
            <p:cNvPr id="774" name="Google Shape;774;p18"/>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775" name="Google Shape;775;p18"/>
            <p:cNvSpPr/>
            <p:nvPr/>
          </p:nvSpPr>
          <p:spPr>
            <a:xfrm>
              <a:off x="439" y="1392"/>
              <a:ext cx="621" cy="606"/>
            </a:xfrm>
            <a:prstGeom prst="ellipse">
              <a:avLst/>
            </a:prstGeom>
            <a:noFill/>
            <a:ln cap="flat" cmpd="sng" w="381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76" name="Google Shape;776;p18"/>
          <p:cNvSpPr/>
          <p:nvPr/>
        </p:nvSpPr>
        <p:spPr>
          <a:xfrm>
            <a:off x="4084076"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777" name="Google Shape;777;p18"/>
          <p:cNvCxnSpPr/>
          <p:nvPr/>
        </p:nvCxnSpPr>
        <p:spPr>
          <a:xfrm flipH="1">
            <a:off x="8013138"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778" name="Google Shape;778;p18"/>
          <p:cNvSpPr/>
          <p:nvPr/>
        </p:nvSpPr>
        <p:spPr>
          <a:xfrm>
            <a:off x="2122306" y="3871617"/>
            <a:ext cx="7452932" cy="2415225"/>
          </a:xfrm>
          <a:custGeom>
            <a:rect b="b" l="l" r="r" t="t"/>
            <a:pathLst>
              <a:path extrusionOk="0" h="10684" w="11178">
                <a:moveTo>
                  <a:pt x="11178" y="10684"/>
                </a:moveTo>
                <a:lnTo>
                  <a:pt x="8854" y="10684"/>
                </a:lnTo>
                <a:lnTo>
                  <a:pt x="5345"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79" name="Google Shape;779;p18"/>
          <p:cNvGrpSpPr/>
          <p:nvPr/>
        </p:nvGrpSpPr>
        <p:grpSpPr>
          <a:xfrm>
            <a:off x="2099701" y="2306981"/>
            <a:ext cx="1333500" cy="1004887"/>
            <a:chOff x="220" y="1365"/>
            <a:chExt cx="840" cy="633"/>
          </a:xfrm>
        </p:grpSpPr>
        <p:cxnSp>
          <p:nvCxnSpPr>
            <p:cNvPr id="780" name="Google Shape;780;p18"/>
            <p:cNvCxnSpPr/>
            <p:nvPr/>
          </p:nvCxnSpPr>
          <p:spPr>
            <a:xfrm>
              <a:off x="220" y="1365"/>
              <a:ext cx="273" cy="154"/>
            </a:xfrm>
            <a:prstGeom prst="straightConnector1">
              <a:avLst/>
            </a:prstGeom>
            <a:noFill/>
            <a:ln cap="flat" cmpd="sng" w="28575">
              <a:solidFill>
                <a:schemeClr val="dk2"/>
              </a:solidFill>
              <a:prstDash val="dash"/>
              <a:round/>
              <a:headEnd len="med" w="med" type="none"/>
              <a:tailEnd len="med" w="med" type="triangle"/>
            </a:ln>
          </p:spPr>
        </p:cxnSp>
        <p:sp>
          <p:nvSpPr>
            <p:cNvPr id="781" name="Google Shape;781;p18"/>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782" name="Google Shape;782;p18"/>
          <p:cNvSpPr/>
          <p:nvPr/>
        </p:nvSpPr>
        <p:spPr>
          <a:xfrm>
            <a:off x="4080901" y="2367306"/>
            <a:ext cx="985837" cy="962025"/>
          </a:xfrm>
          <a:prstGeom prst="ellipse">
            <a:avLst/>
          </a:prstGeom>
          <a:noFill/>
          <a:ln cap="flat" cmpd="sng" w="381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783" name="Google Shape;783;p18"/>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784" name="Google Shape;784;p18"/>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785" name="Google Shape;785;p18"/>
          <p:cNvGrpSpPr/>
          <p:nvPr/>
        </p:nvGrpSpPr>
        <p:grpSpPr>
          <a:xfrm>
            <a:off x="2271408" y="3285357"/>
            <a:ext cx="3548062" cy="989290"/>
            <a:chOff x="2270357" y="3283338"/>
            <a:chExt cx="3548062" cy="989290"/>
          </a:xfrm>
        </p:grpSpPr>
        <p:sp>
          <p:nvSpPr>
            <p:cNvPr id="786" name="Google Shape;786;p18"/>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787" name="Google Shape;787;p18"/>
            <p:cNvGrpSpPr/>
            <p:nvPr/>
          </p:nvGrpSpPr>
          <p:grpSpPr>
            <a:xfrm>
              <a:off x="2270357" y="3545923"/>
              <a:ext cx="3548062" cy="726705"/>
              <a:chOff x="2270357" y="3545923"/>
              <a:chExt cx="3548062" cy="726705"/>
            </a:xfrm>
          </p:grpSpPr>
          <p:sp>
            <p:nvSpPr>
              <p:cNvPr id="788" name="Google Shape;788;p18"/>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789" name="Google Shape;789;p18"/>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790" name="Google Shape;790;p18"/>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grpSp>
        <p:nvGrpSpPr>
          <p:cNvPr id="791" name="Google Shape;791;p18"/>
          <p:cNvGrpSpPr/>
          <p:nvPr/>
        </p:nvGrpSpPr>
        <p:grpSpPr>
          <a:xfrm>
            <a:off x="8049650" y="5037504"/>
            <a:ext cx="4142349" cy="933582"/>
            <a:chOff x="8049650" y="5037504"/>
            <a:chExt cx="4142349" cy="933582"/>
          </a:xfrm>
        </p:grpSpPr>
        <p:sp>
          <p:nvSpPr>
            <p:cNvPr id="792" name="Google Shape;792;p18"/>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793" name="Google Shape;793;p18"/>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794" name="Google Shape;794;p18"/>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795" name="Google Shape;795;p18"/>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796" name="Google Shape;796;p18"/>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
        <p:nvSpPr>
          <p:cNvPr id="797" name="Google Shape;797;p18"/>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4"/>
                                        </p:tgtEl>
                                        <p:attrNameLst>
                                          <p:attrName>style.visibility</p:attrName>
                                        </p:attrNameLst>
                                      </p:cBhvr>
                                      <p:to>
                                        <p:strVal val="visible"/>
                                      </p:to>
                                    </p:set>
                                    <p:animEffect filter="fade" transition="in">
                                      <p:cBhvr>
                                        <p:cTn dur="500"/>
                                        <p:tgtEl>
                                          <p:spTgt spid="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par>
                                <p:cTn fill="hold" nodeType="with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000"/>
                                        <p:tgtEl>
                                          <p:spTgt spid="7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1000"/>
                                        <p:tgtEl>
                                          <p:spTgt spid="778"/>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corrupted packet scenario</a:t>
            </a:r>
            <a:endParaRPr sz="4400"/>
          </a:p>
        </p:txBody>
      </p:sp>
      <p:sp>
        <p:nvSpPr>
          <p:cNvPr id="804" name="Google Shape;804;p19"/>
          <p:cNvSpPr/>
          <p:nvPr/>
        </p:nvSpPr>
        <p:spPr>
          <a:xfrm>
            <a:off x="2448440"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05" name="Google Shape;805;p19"/>
          <p:cNvSpPr txBox="1"/>
          <p:nvPr/>
        </p:nvSpPr>
        <p:spPr>
          <a:xfrm>
            <a:off x="2346840"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sp>
        <p:nvSpPr>
          <p:cNvPr id="806" name="Google Shape;806;p19"/>
          <p:cNvSpPr txBox="1"/>
          <p:nvPr/>
        </p:nvSpPr>
        <p:spPr>
          <a:xfrm>
            <a:off x="2756415"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807" name="Google Shape;807;p19"/>
          <p:cNvCxnSpPr/>
          <p:nvPr/>
        </p:nvCxnSpPr>
        <p:spPr>
          <a:xfrm>
            <a:off x="2861190"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808" name="Google Shape;808;p19"/>
          <p:cNvSpPr/>
          <p:nvPr/>
        </p:nvSpPr>
        <p:spPr>
          <a:xfrm flipH="1" rot="10800000">
            <a:off x="2808802"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09" name="Google Shape;809;p19"/>
          <p:cNvSpPr/>
          <p:nvPr/>
        </p:nvSpPr>
        <p:spPr>
          <a:xfrm>
            <a:off x="2856427" y="328011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0" name="Google Shape;810;p19"/>
          <p:cNvSpPr/>
          <p:nvPr/>
        </p:nvSpPr>
        <p:spPr>
          <a:xfrm>
            <a:off x="5004315"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1" name="Google Shape;811;p19"/>
          <p:cNvSpPr txBox="1"/>
          <p:nvPr/>
        </p:nvSpPr>
        <p:spPr>
          <a:xfrm>
            <a:off x="5313877"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812" name="Google Shape;812;p19"/>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cxnSp>
        <p:nvCxnSpPr>
          <p:cNvPr id="813" name="Google Shape;813;p19"/>
          <p:cNvCxnSpPr/>
          <p:nvPr/>
        </p:nvCxnSpPr>
        <p:spPr>
          <a:xfrm>
            <a:off x="5407540" y="2740368"/>
            <a:ext cx="990600" cy="0"/>
          </a:xfrm>
          <a:prstGeom prst="straightConnector1">
            <a:avLst/>
          </a:prstGeom>
          <a:noFill/>
          <a:ln cap="flat" cmpd="sng" w="28575">
            <a:solidFill>
              <a:srgbClr val="000000"/>
            </a:solidFill>
            <a:prstDash val="solid"/>
            <a:round/>
            <a:headEnd len="med" w="med" type="none"/>
            <a:tailEnd len="med" w="med" type="none"/>
          </a:ln>
        </p:spPr>
      </p:cxnSp>
      <p:grpSp>
        <p:nvGrpSpPr>
          <p:cNvPr id="814" name="Google Shape;814;p19"/>
          <p:cNvGrpSpPr/>
          <p:nvPr/>
        </p:nvGrpSpPr>
        <p:grpSpPr>
          <a:xfrm>
            <a:off x="4043877" y="2362543"/>
            <a:ext cx="1074738" cy="962025"/>
            <a:chOff x="1540" y="2116"/>
            <a:chExt cx="677" cy="606"/>
          </a:xfrm>
        </p:grpSpPr>
        <p:sp>
          <p:nvSpPr>
            <p:cNvPr id="815" name="Google Shape;815;p19"/>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16" name="Google Shape;816;p19"/>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sp>
        <p:nvSpPr>
          <p:cNvPr id="817" name="Google Shape;817;p19"/>
          <p:cNvSpPr/>
          <p:nvPr/>
        </p:nvSpPr>
        <p:spPr>
          <a:xfrm>
            <a:off x="8423790"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18" name="Google Shape;818;p19"/>
          <p:cNvSpPr/>
          <p:nvPr/>
        </p:nvSpPr>
        <p:spPr>
          <a:xfrm>
            <a:off x="8515865"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19" name="Google Shape;819;p19"/>
          <p:cNvSpPr txBox="1"/>
          <p:nvPr/>
        </p:nvSpPr>
        <p:spPr>
          <a:xfrm>
            <a:off x="8428552"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sp>
        <p:nvSpPr>
          <p:cNvPr id="820" name="Google Shape;820;p19"/>
          <p:cNvSpPr/>
          <p:nvPr/>
        </p:nvSpPr>
        <p:spPr>
          <a:xfrm flipH="1" rot="10800000">
            <a:off x="8436490"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21" name="Google Shape;821;p19"/>
          <p:cNvGrpSpPr/>
          <p:nvPr/>
        </p:nvGrpSpPr>
        <p:grpSpPr>
          <a:xfrm>
            <a:off x="2100777" y="2306981"/>
            <a:ext cx="1333500" cy="1004887"/>
            <a:chOff x="220" y="1365"/>
            <a:chExt cx="840" cy="633"/>
          </a:xfrm>
        </p:grpSpPr>
        <p:cxnSp>
          <p:nvCxnSpPr>
            <p:cNvPr id="822" name="Google Shape;822;p19"/>
            <p:cNvCxnSpPr/>
            <p:nvPr/>
          </p:nvCxnSpPr>
          <p:spPr>
            <a:xfrm>
              <a:off x="220" y="1365"/>
              <a:ext cx="273" cy="154"/>
            </a:xfrm>
            <a:prstGeom prst="straightConnector1">
              <a:avLst/>
            </a:prstGeom>
            <a:noFill/>
            <a:ln cap="flat" cmpd="sng" w="28575">
              <a:solidFill>
                <a:srgbClr val="FF0000"/>
              </a:solidFill>
              <a:prstDash val="dash"/>
              <a:round/>
              <a:headEnd len="med" w="med" type="none"/>
              <a:tailEnd len="med" w="med" type="triangle"/>
            </a:ln>
          </p:spPr>
        </p:cxnSp>
        <p:sp>
          <p:nvSpPr>
            <p:cNvPr id="823" name="Google Shape;823;p19"/>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grpSp>
        <p:nvGrpSpPr>
          <p:cNvPr id="824" name="Google Shape;824;p19"/>
          <p:cNvGrpSpPr/>
          <p:nvPr/>
        </p:nvGrpSpPr>
        <p:grpSpPr>
          <a:xfrm>
            <a:off x="8085652" y="3637306"/>
            <a:ext cx="1414463" cy="1033462"/>
            <a:chOff x="3990" y="2203"/>
            <a:chExt cx="891" cy="651"/>
          </a:xfrm>
        </p:grpSpPr>
        <p:cxnSp>
          <p:nvCxnSpPr>
            <p:cNvPr id="825" name="Google Shape;825;p19"/>
            <p:cNvCxnSpPr/>
            <p:nvPr/>
          </p:nvCxnSpPr>
          <p:spPr>
            <a:xfrm>
              <a:off x="3990" y="2203"/>
              <a:ext cx="273" cy="154"/>
            </a:xfrm>
            <a:prstGeom prst="straightConnector1">
              <a:avLst/>
            </a:prstGeom>
            <a:noFill/>
            <a:ln cap="flat" cmpd="sng" w="28575">
              <a:solidFill>
                <a:srgbClr val="FF0000"/>
              </a:solidFill>
              <a:prstDash val="dash"/>
              <a:round/>
              <a:headEnd len="med" w="med" type="none"/>
              <a:tailEnd len="med" w="med" type="triangle"/>
            </a:ln>
          </p:spPr>
        </p:cxnSp>
        <p:sp>
          <p:nvSpPr>
            <p:cNvPr id="826" name="Google Shape;826;p19"/>
            <p:cNvSpPr/>
            <p:nvPr/>
          </p:nvSpPr>
          <p:spPr>
            <a:xfrm>
              <a:off x="4260" y="2248"/>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827" name="Google Shape;827;p19"/>
          <p:cNvSpPr txBox="1"/>
          <p:nvPr/>
        </p:nvSpPr>
        <p:spPr>
          <a:xfrm>
            <a:off x="2781815"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828" name="Google Shape;828;p19"/>
          <p:cNvCxnSpPr/>
          <p:nvPr/>
        </p:nvCxnSpPr>
        <p:spPr>
          <a:xfrm>
            <a:off x="2762765" y="1429093"/>
            <a:ext cx="12700" cy="747713"/>
          </a:xfrm>
          <a:prstGeom prst="straightConnector1">
            <a:avLst/>
          </a:prstGeom>
          <a:noFill/>
          <a:ln cap="flat" cmpd="sng" w="76200">
            <a:solidFill>
              <a:srgbClr val="FF0000"/>
            </a:solidFill>
            <a:prstDash val="solid"/>
            <a:round/>
            <a:headEnd len="med" w="med" type="none"/>
            <a:tailEnd len="med" w="med" type="none"/>
          </a:ln>
        </p:spPr>
      </p:cxnSp>
      <p:sp>
        <p:nvSpPr>
          <p:cNvPr id="829" name="Google Shape;829;p19"/>
          <p:cNvSpPr/>
          <p:nvPr/>
        </p:nvSpPr>
        <p:spPr>
          <a:xfrm>
            <a:off x="2762765" y="2146643"/>
            <a:ext cx="6940550" cy="654050"/>
          </a:xfrm>
          <a:custGeom>
            <a:rect b="b" l="l" r="r" t="t"/>
            <a:pathLst>
              <a:path extrusionOk="0" h="412" w="4372">
                <a:moveTo>
                  <a:pt x="0" y="10"/>
                </a:moveTo>
                <a:lnTo>
                  <a:pt x="1003" y="0"/>
                </a:lnTo>
                <a:lnTo>
                  <a:pt x="3508" y="412"/>
                </a:lnTo>
                <a:lnTo>
                  <a:pt x="4372" y="412"/>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30" name="Google Shape;830;p19"/>
          <p:cNvGrpSpPr/>
          <p:nvPr/>
        </p:nvGrpSpPr>
        <p:grpSpPr>
          <a:xfrm>
            <a:off x="2099190" y="2306981"/>
            <a:ext cx="1333500" cy="1004887"/>
            <a:chOff x="220" y="1365"/>
            <a:chExt cx="840" cy="633"/>
          </a:xfrm>
        </p:grpSpPr>
        <p:cxnSp>
          <p:nvCxnSpPr>
            <p:cNvPr id="831" name="Google Shape;831;p19"/>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832" name="Google Shape;832;p19"/>
            <p:cNvSpPr/>
            <p:nvPr/>
          </p:nvSpPr>
          <p:spPr>
            <a:xfrm>
              <a:off x="439" y="1392"/>
              <a:ext cx="621" cy="606"/>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833" name="Google Shape;833;p19"/>
          <p:cNvSpPr/>
          <p:nvPr/>
        </p:nvSpPr>
        <p:spPr>
          <a:xfrm>
            <a:off x="4083565" y="2362543"/>
            <a:ext cx="985837" cy="962025"/>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34" name="Google Shape;834;p19"/>
          <p:cNvCxnSpPr/>
          <p:nvPr/>
        </p:nvCxnSpPr>
        <p:spPr>
          <a:xfrm flipH="1">
            <a:off x="8012627" y="5042243"/>
            <a:ext cx="12700" cy="1193800"/>
          </a:xfrm>
          <a:prstGeom prst="straightConnector1">
            <a:avLst/>
          </a:prstGeom>
          <a:noFill/>
          <a:ln cap="flat" cmpd="sng" w="76200">
            <a:solidFill>
              <a:srgbClr val="FF0000"/>
            </a:solidFill>
            <a:prstDash val="solid"/>
            <a:round/>
            <a:headEnd len="med" w="med" type="none"/>
            <a:tailEnd len="med" w="med" type="none"/>
          </a:ln>
        </p:spPr>
      </p:cxnSp>
      <p:sp>
        <p:nvSpPr>
          <p:cNvPr id="835" name="Google Shape;835;p19"/>
          <p:cNvSpPr/>
          <p:nvPr/>
        </p:nvSpPr>
        <p:spPr>
          <a:xfrm>
            <a:off x="2353297" y="3858893"/>
            <a:ext cx="7272844" cy="2363522"/>
          </a:xfrm>
          <a:custGeom>
            <a:rect b="b" l="l" r="r" t="t"/>
            <a:pathLst>
              <a:path extrusionOk="0" h="10762" w="10845">
                <a:moveTo>
                  <a:pt x="10845" y="10762"/>
                </a:moveTo>
                <a:lnTo>
                  <a:pt x="8419" y="10762"/>
                </a:lnTo>
                <a:lnTo>
                  <a:pt x="4911"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36" name="Google Shape;836;p19"/>
          <p:cNvGrpSpPr/>
          <p:nvPr/>
        </p:nvGrpSpPr>
        <p:grpSpPr>
          <a:xfrm>
            <a:off x="2099190" y="2306981"/>
            <a:ext cx="1333500" cy="1004887"/>
            <a:chOff x="220" y="1365"/>
            <a:chExt cx="840" cy="633"/>
          </a:xfrm>
        </p:grpSpPr>
        <p:cxnSp>
          <p:nvCxnSpPr>
            <p:cNvPr id="837" name="Google Shape;837;p19"/>
            <p:cNvCxnSpPr/>
            <p:nvPr/>
          </p:nvCxnSpPr>
          <p:spPr>
            <a:xfrm>
              <a:off x="220" y="1365"/>
              <a:ext cx="273" cy="154"/>
            </a:xfrm>
            <a:prstGeom prst="straightConnector1">
              <a:avLst/>
            </a:prstGeom>
            <a:noFill/>
            <a:ln cap="flat" cmpd="sng" w="28575">
              <a:solidFill>
                <a:srgbClr val="000000"/>
              </a:solidFill>
              <a:prstDash val="dash"/>
              <a:round/>
              <a:headEnd len="med" w="med" type="none"/>
              <a:tailEnd len="med" w="med" type="triangle"/>
            </a:ln>
          </p:spPr>
        </p:cxnSp>
        <p:sp>
          <p:nvSpPr>
            <p:cNvPr id="838" name="Google Shape;838;p19"/>
            <p:cNvSpPr/>
            <p:nvPr/>
          </p:nvSpPr>
          <p:spPr>
            <a:xfrm>
              <a:off x="439" y="1392"/>
              <a:ext cx="621" cy="606"/>
            </a:xfrm>
            <a:prstGeom prst="ellipse">
              <a:avLst/>
            </a:prstGeom>
            <a:noFill/>
            <a:ln cap="flat" cmpd="sng" w="38100">
              <a:solidFill>
                <a:srgbClr val="FF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grpSp>
      <p:sp>
        <p:nvSpPr>
          <p:cNvPr id="839" name="Google Shape;839;p19"/>
          <p:cNvSpPr/>
          <p:nvPr/>
        </p:nvSpPr>
        <p:spPr>
          <a:xfrm>
            <a:off x="4080390" y="2367306"/>
            <a:ext cx="985837" cy="962025"/>
          </a:xfrm>
          <a:prstGeom prst="ellipse">
            <a:avLst/>
          </a:prstGeom>
          <a:noFill/>
          <a:ln cap="flat" cmpd="sng" w="38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cxnSp>
        <p:nvCxnSpPr>
          <p:cNvPr id="840" name="Google Shape;840;p19"/>
          <p:cNvCxnSpPr/>
          <p:nvPr/>
        </p:nvCxnSpPr>
        <p:spPr>
          <a:xfrm>
            <a:off x="8304727" y="2634006"/>
            <a:ext cx="0" cy="817562"/>
          </a:xfrm>
          <a:prstGeom prst="straightConnector1">
            <a:avLst/>
          </a:prstGeom>
          <a:noFill/>
          <a:ln cap="flat" cmpd="sng" w="76200">
            <a:solidFill>
              <a:srgbClr val="FF0000"/>
            </a:solidFill>
            <a:prstDash val="solid"/>
            <a:round/>
            <a:headEnd len="med" w="med" type="none"/>
            <a:tailEnd len="med" w="med" type="none"/>
          </a:ln>
        </p:spPr>
      </p:cxnSp>
      <p:sp>
        <p:nvSpPr>
          <p:cNvPr id="841" name="Google Shape;841;p19"/>
          <p:cNvSpPr/>
          <p:nvPr/>
        </p:nvSpPr>
        <p:spPr>
          <a:xfrm>
            <a:off x="5409127" y="2356193"/>
            <a:ext cx="4378325" cy="1025525"/>
          </a:xfrm>
          <a:custGeom>
            <a:rect b="b" l="l" r="r" t="t"/>
            <a:pathLst>
              <a:path extrusionOk="0" h="646" w="2758">
                <a:moveTo>
                  <a:pt x="2758" y="646"/>
                </a:moveTo>
                <a:lnTo>
                  <a:pt x="1763" y="629"/>
                </a:lnTo>
                <a:lnTo>
                  <a:pt x="1039" y="0"/>
                </a:lnTo>
                <a:lnTo>
                  <a:pt x="0" y="0"/>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842" name="Google Shape;842;p19"/>
          <p:cNvCxnSpPr/>
          <p:nvPr/>
        </p:nvCxnSpPr>
        <p:spPr>
          <a:xfrm>
            <a:off x="5299590" y="2230781"/>
            <a:ext cx="0" cy="846137"/>
          </a:xfrm>
          <a:prstGeom prst="straightConnector1">
            <a:avLst/>
          </a:prstGeom>
          <a:noFill/>
          <a:ln cap="flat" cmpd="sng" w="76200">
            <a:solidFill>
              <a:srgbClr val="FF0000"/>
            </a:solidFill>
            <a:prstDash val="solid"/>
            <a:round/>
            <a:headEnd len="med" w="med" type="none"/>
            <a:tailEnd len="med" w="med" type="none"/>
          </a:ln>
        </p:spPr>
      </p:cxnSp>
      <p:sp>
        <p:nvSpPr>
          <p:cNvPr id="843" name="Google Shape;843;p19"/>
          <p:cNvSpPr/>
          <p:nvPr/>
        </p:nvSpPr>
        <p:spPr>
          <a:xfrm>
            <a:off x="5394840" y="3091206"/>
            <a:ext cx="5464750" cy="1966367"/>
          </a:xfrm>
          <a:custGeom>
            <a:rect b="b" l="l" r="r" t="t"/>
            <a:pathLst>
              <a:path extrusionOk="0" h="9871" w="9930">
                <a:moveTo>
                  <a:pt x="0" y="0"/>
                </a:moveTo>
                <a:lnTo>
                  <a:pt x="2923" y="0"/>
                </a:lnTo>
                <a:lnTo>
                  <a:pt x="4713" y="9870"/>
                </a:lnTo>
                <a:lnTo>
                  <a:pt x="9930" y="9871"/>
                </a:lnTo>
              </a:path>
            </a:pathLst>
          </a:custGeom>
          <a:noFill/>
          <a:ln cap="flat" cmpd="sng" w="38100">
            <a:solidFill>
              <a:srgbClr val="FF0000"/>
            </a:solidFill>
            <a:prstDash val="solid"/>
            <a:round/>
            <a:headEnd len="sm" w="sm" type="none"/>
            <a:tailEnd len="med" w="med" type="triangl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844" name="Google Shape;844;p19"/>
          <p:cNvGrpSpPr/>
          <p:nvPr/>
        </p:nvGrpSpPr>
        <p:grpSpPr>
          <a:xfrm>
            <a:off x="8325876" y="3094378"/>
            <a:ext cx="1828800" cy="257175"/>
            <a:chOff x="2222" y="3039"/>
            <a:chExt cx="1152" cy="162"/>
          </a:xfrm>
        </p:grpSpPr>
        <p:sp>
          <p:nvSpPr>
            <p:cNvPr id="845" name="Google Shape;845;p19"/>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cxnSp>
          <p:nvCxnSpPr>
            <p:cNvPr id="846" name="Google Shape;846;p19"/>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847" name="Google Shape;847;p19"/>
          <p:cNvSpPr txBox="1"/>
          <p:nvPr/>
        </p:nvSpPr>
        <p:spPr>
          <a:xfrm>
            <a:off x="8327563" y="2720534"/>
            <a:ext cx="3389313" cy="3127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grpSp>
        <p:nvGrpSpPr>
          <p:cNvPr id="848" name="Google Shape;848;p19"/>
          <p:cNvGrpSpPr/>
          <p:nvPr/>
        </p:nvGrpSpPr>
        <p:grpSpPr>
          <a:xfrm>
            <a:off x="8049650" y="5037504"/>
            <a:ext cx="4142349" cy="933582"/>
            <a:chOff x="8049650" y="5037504"/>
            <a:chExt cx="4142349" cy="933582"/>
          </a:xfrm>
        </p:grpSpPr>
        <p:sp>
          <p:nvSpPr>
            <p:cNvPr id="849" name="Google Shape;849;p19"/>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850" name="Google Shape;850;p19"/>
            <p:cNvSpPr txBox="1"/>
            <p:nvPr/>
          </p:nvSpPr>
          <p:spPr>
            <a:xfrm>
              <a:off x="8049650" y="5037504"/>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851" name="Google Shape;851;p19"/>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grpSp>
        <p:nvGrpSpPr>
          <p:cNvPr id="852" name="Google Shape;852;p19"/>
          <p:cNvGrpSpPr/>
          <p:nvPr/>
        </p:nvGrpSpPr>
        <p:grpSpPr>
          <a:xfrm>
            <a:off x="2271408" y="3285357"/>
            <a:ext cx="3548062" cy="989290"/>
            <a:chOff x="2270357" y="3283338"/>
            <a:chExt cx="3548062" cy="989290"/>
          </a:xfrm>
        </p:grpSpPr>
        <p:sp>
          <p:nvSpPr>
            <p:cNvPr id="853" name="Google Shape;853;p19"/>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854" name="Google Shape;854;p19"/>
            <p:cNvGrpSpPr/>
            <p:nvPr/>
          </p:nvGrpSpPr>
          <p:grpSpPr>
            <a:xfrm>
              <a:off x="2270357" y="3545923"/>
              <a:ext cx="3548062" cy="726705"/>
              <a:chOff x="2270357" y="3545923"/>
              <a:chExt cx="3548062" cy="726705"/>
            </a:xfrm>
          </p:grpSpPr>
          <p:sp>
            <p:nvSpPr>
              <p:cNvPr id="855" name="Google Shape;855;p19"/>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856" name="Google Shape;856;p19"/>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857" name="Google Shape;857;p19"/>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858" name="Google Shape;858;p19"/>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859" name="Google Shape;859;p19"/>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500"/>
                                        <p:tgtEl>
                                          <p:spTgt spid="8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10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9"/>
                                        </p:tgtEl>
                                        <p:attrNameLst>
                                          <p:attrName>style.visibility</p:attrName>
                                        </p:attrNameLst>
                                      </p:cBhvr>
                                      <p:to>
                                        <p:strVal val="visible"/>
                                      </p:to>
                                    </p:set>
                                    <p:animEffect filter="fade" transition="in">
                                      <p:cBhvr>
                                        <p:cTn dur="1000"/>
                                        <p:tgtEl>
                                          <p:spTgt spid="829"/>
                                        </p:tgtEl>
                                      </p:cBhvr>
                                    </p:animEffec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1000"/>
                                        <p:tgtEl>
                                          <p:spTgt spid="8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1000"/>
                                        <p:tgtEl>
                                          <p:spTgt spid="8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2"/>
                                        </p:tgtEl>
                                        <p:attrNameLst>
                                          <p:attrName>style.visibility</p:attrName>
                                        </p:attrNameLst>
                                      </p:cBhvr>
                                      <p:to>
                                        <p:strVal val="visible"/>
                                      </p:to>
                                    </p:set>
                                    <p:animEffect filter="fade" transition="in">
                                      <p:cBhvr>
                                        <p:cTn dur="1000"/>
                                        <p:tgtEl>
                                          <p:spTgt spid="8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3"/>
                                        </p:tgtEl>
                                        <p:attrNameLst>
                                          <p:attrName>style.visibility</p:attrName>
                                        </p:attrNameLst>
                                      </p:cBhvr>
                                      <p:to>
                                        <p:strVal val="visible"/>
                                      </p:to>
                                    </p:set>
                                    <p:animEffect filter="fade" transition="in">
                                      <p:cBhvr>
                                        <p:cTn dur="2000"/>
                                        <p:tgtEl>
                                          <p:spTgt spid="8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1000"/>
                                        <p:tgtEl>
                                          <p:spTgt spid="8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1000"/>
                                        <p:tgtEl>
                                          <p:spTgt spid="835"/>
                                        </p:tgtEl>
                                      </p:cBhvr>
                                    </p:animEffect>
                                  </p:childTnLst>
                                </p:cTn>
                              </p:par>
                            </p:childTnLst>
                          </p:cTn>
                        </p:par>
                        <p:par>
                          <p:cTn fill="hold">
                            <p:stCondLst>
                              <p:cond delay="1000"/>
                            </p:stCondLst>
                            <p:childTnLst>
                              <p:par>
                                <p:cTn fill="hold" nodeType="after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2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has a fatal flaw!</a:t>
            </a:r>
            <a:endParaRPr sz="4400"/>
          </a:p>
        </p:txBody>
      </p:sp>
      <p:sp>
        <p:nvSpPr>
          <p:cNvPr id="866" name="Google Shape;866;p20"/>
          <p:cNvSpPr txBox="1"/>
          <p:nvPr/>
        </p:nvSpPr>
        <p:spPr>
          <a:xfrm>
            <a:off x="691480" y="1384568"/>
            <a:ext cx="5825230"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8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what happens if ACK/NAK corrupted</a:t>
            </a:r>
            <a:r>
              <a:rPr b="0" i="0" lang="en-US" sz="2800" u="none" cap="none" strike="noStrike">
                <a:solidFill>
                  <a:srgbClr val="CC0000"/>
                </a:solidFill>
                <a:latin typeface="Calibri"/>
                <a:ea typeface="Calibri"/>
                <a:cs typeface="Calibri"/>
                <a:sym typeface="Calibri"/>
              </a:rPr>
              <a:t>?</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doesn’t know what happened at receiver!</a:t>
            </a:r>
            <a:endParaRPr/>
          </a:p>
          <a:p>
            <a:pPr indent="-217487"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can’t just retransmit: possible duplicate</a:t>
            </a:r>
            <a:endParaRPr b="0" i="0" sz="3200" u="none" cap="none" strike="noStrike">
              <a:solidFill>
                <a:srgbClr val="000000"/>
              </a:solidFill>
              <a:latin typeface="Calibri"/>
              <a:ea typeface="Calibri"/>
              <a:cs typeface="Calibri"/>
              <a:sym typeface="Calibri"/>
            </a:endParaRPr>
          </a:p>
          <a:p>
            <a:pPr indent="-222250" lvl="0" marL="352425" marR="0" rtl="0" algn="l">
              <a:lnSpc>
                <a:spcPct val="80000"/>
              </a:lnSpc>
              <a:spcBef>
                <a:spcPts val="144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222250" lvl="0" marL="352425" marR="0" rtl="0" algn="l">
              <a:lnSpc>
                <a:spcPct val="7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867" name="Google Shape;867;p20"/>
          <p:cNvSpPr txBox="1"/>
          <p:nvPr/>
        </p:nvSpPr>
        <p:spPr>
          <a:xfrm>
            <a:off x="6207334" y="1371689"/>
            <a:ext cx="5293186" cy="3063891"/>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3500"/>
              <a:buFont typeface="Noto Sans Symbols"/>
              <a:buNone/>
            </a:pPr>
            <a:r>
              <a:rPr b="0" i="0" lang="en-US" sz="3500" u="none" cap="none" strike="noStrike">
                <a:solidFill>
                  <a:srgbClr val="CC0000"/>
                </a:solidFill>
                <a:latin typeface="Calibri"/>
                <a:ea typeface="Calibri"/>
                <a:cs typeface="Calibri"/>
                <a:sym typeface="Calibri"/>
              </a:rPr>
              <a:t>handling duplicates</a:t>
            </a:r>
            <a:r>
              <a:rPr b="0" i="0" lang="en-US" sz="3500" u="none" cap="none" strike="noStrike">
                <a:solidFill>
                  <a:srgbClr val="FF0000"/>
                </a:solidFill>
                <a:latin typeface="Calibri"/>
                <a:ea typeface="Calibri"/>
                <a:cs typeface="Calibri"/>
                <a:sym typeface="Calibri"/>
              </a:rPr>
              <a:t>: </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retransmits current pkt if ACK/NAK corrupted</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adds </a:t>
            </a:r>
            <a:r>
              <a:rPr b="0" i="1" lang="en-US" sz="2800" u="none" cap="none" strike="noStrike">
                <a:solidFill>
                  <a:srgbClr val="000099"/>
                </a:solidFill>
                <a:latin typeface="Calibri"/>
                <a:ea typeface="Calibri"/>
                <a:cs typeface="Calibri"/>
                <a:sym typeface="Calibri"/>
              </a:rPr>
              <a:t>sequence number</a:t>
            </a:r>
            <a:r>
              <a:rPr b="0" i="0" lang="en-US" sz="2800" u="none" cap="none" strike="noStrike">
                <a:solidFill>
                  <a:srgbClr val="000000"/>
                </a:solidFill>
                <a:latin typeface="Calibri"/>
                <a:ea typeface="Calibri"/>
                <a:cs typeface="Calibri"/>
                <a:sym typeface="Calibri"/>
              </a:rPr>
              <a:t> to each pkt</a:t>
            </a:r>
            <a:endParaRPr/>
          </a:p>
          <a:p>
            <a:pPr indent="-217487" lvl="0" marL="46037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receiver discards (doesn’t deliver up) duplicate pkt</a:t>
            </a:r>
            <a:endParaRPr b="0" i="0" sz="2800" u="none" cap="none" strike="noStrike">
              <a:solidFill>
                <a:srgbClr val="000000"/>
              </a:solidFill>
              <a:latin typeface="Calibri"/>
              <a:ea typeface="Calibri"/>
              <a:cs typeface="Calibri"/>
              <a:sym typeface="Calibri"/>
            </a:endParaRPr>
          </a:p>
        </p:txBody>
      </p:sp>
      <p:grpSp>
        <p:nvGrpSpPr>
          <p:cNvPr id="868" name="Google Shape;868;p20"/>
          <p:cNvGrpSpPr/>
          <p:nvPr/>
        </p:nvGrpSpPr>
        <p:grpSpPr>
          <a:xfrm>
            <a:off x="3103667" y="4578498"/>
            <a:ext cx="5984666" cy="1603375"/>
            <a:chOff x="1552" y="2800"/>
            <a:chExt cx="2578" cy="1010"/>
          </a:xfrm>
        </p:grpSpPr>
        <p:sp>
          <p:nvSpPr>
            <p:cNvPr id="869" name="Google Shape;869;p20"/>
            <p:cNvSpPr/>
            <p:nvPr/>
          </p:nvSpPr>
          <p:spPr>
            <a:xfrm>
              <a:off x="1552" y="2974"/>
              <a:ext cx="2578" cy="836"/>
            </a:xfrm>
            <a:prstGeom prst="rect">
              <a:avLst/>
            </a:prstGeom>
            <a:noFill/>
            <a:ln cap="flat" cmpd="sng" w="19050">
              <a:solidFill>
                <a:srgbClr val="CC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70" name="Google Shape;870;p20"/>
            <p:cNvSpPr/>
            <p:nvPr/>
          </p:nvSpPr>
          <p:spPr>
            <a:xfrm>
              <a:off x="2226" y="2864"/>
              <a:ext cx="596" cy="22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871" name="Google Shape;871;p20"/>
            <p:cNvSpPr txBox="1"/>
            <p:nvPr/>
          </p:nvSpPr>
          <p:spPr>
            <a:xfrm>
              <a:off x="1724" y="2800"/>
              <a:ext cx="10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3200"/>
                <a:buFont typeface="Calibri"/>
                <a:buNone/>
              </a:pPr>
              <a:r>
                <a:rPr b="0" i="0" lang="en-US" sz="3200" u="none" cap="none" strike="noStrike">
                  <a:solidFill>
                    <a:srgbClr val="CC0000"/>
                  </a:solidFill>
                  <a:latin typeface="Calibri"/>
                  <a:ea typeface="Calibri"/>
                  <a:cs typeface="Calibri"/>
                  <a:sym typeface="Calibri"/>
                </a:rPr>
                <a:t>stop and wait</a:t>
              </a:r>
              <a:endParaRPr/>
            </a:p>
          </p:txBody>
        </p:sp>
        <p:sp>
          <p:nvSpPr>
            <p:cNvPr id="872" name="Google Shape;872;p20"/>
            <p:cNvSpPr txBox="1"/>
            <p:nvPr/>
          </p:nvSpPr>
          <p:spPr>
            <a:xfrm>
              <a:off x="1678" y="3136"/>
              <a:ext cx="2452" cy="588"/>
            </a:xfrm>
            <a:prstGeom prst="rect">
              <a:avLst/>
            </a:prstGeom>
            <a:no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sender sends one packet,  then waits for receiver  response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6"/>
                                        </p:tgtEl>
                                        <p:attrNameLst>
                                          <p:attrName>style.visibility</p:attrName>
                                        </p:attrNameLst>
                                      </p:cBhvr>
                                      <p:to>
                                        <p:strVal val="visible"/>
                                      </p:to>
                                    </p:set>
                                    <p:animEffect filter="fade" transition="in">
                                      <p:cBhvr>
                                        <p:cTn dur="500"/>
                                        <p:tgtEl>
                                          <p:spTgt spid="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500"/>
                                        <p:tgtEl>
                                          <p:spTgt spid="8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500"/>
                                        <p:tgtEl>
                                          <p:spTgt spid="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2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sender, handling garbled ACK/NAKs</a:t>
            </a:r>
            <a:endParaRPr sz="4400"/>
          </a:p>
        </p:txBody>
      </p:sp>
      <p:sp>
        <p:nvSpPr>
          <p:cNvPr id="879" name="Google Shape;879;p21"/>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0" name="Google Shape;880;p21"/>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881" name="Google Shape;881;p21"/>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882" name="Google Shape;882;p21"/>
          <p:cNvGrpSpPr/>
          <p:nvPr/>
        </p:nvGrpSpPr>
        <p:grpSpPr>
          <a:xfrm>
            <a:off x="6492339" y="2383039"/>
            <a:ext cx="1089025" cy="865188"/>
            <a:chOff x="2848" y="1499"/>
            <a:chExt cx="660" cy="510"/>
          </a:xfrm>
        </p:grpSpPr>
        <p:sp>
          <p:nvSpPr>
            <p:cNvPr id="883" name="Google Shape;883;p21"/>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884" name="Google Shape;884;p21"/>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885" name="Google Shape;885;p21"/>
          <p:cNvGrpSpPr/>
          <p:nvPr/>
        </p:nvGrpSpPr>
        <p:grpSpPr>
          <a:xfrm>
            <a:off x="4914364" y="1394027"/>
            <a:ext cx="3694113" cy="1087437"/>
            <a:chOff x="4914364" y="1394027"/>
            <a:chExt cx="3694113" cy="1087437"/>
          </a:xfrm>
        </p:grpSpPr>
        <p:sp>
          <p:nvSpPr>
            <p:cNvPr id="886" name="Google Shape;886;p21"/>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887" name="Google Shape;887;p21"/>
            <p:cNvGrpSpPr/>
            <p:nvPr/>
          </p:nvGrpSpPr>
          <p:grpSpPr>
            <a:xfrm>
              <a:off x="4928652" y="1394027"/>
              <a:ext cx="2852737" cy="1087437"/>
              <a:chOff x="4928652" y="1394027"/>
              <a:chExt cx="2852737" cy="1087437"/>
            </a:xfrm>
          </p:grpSpPr>
          <p:sp>
            <p:nvSpPr>
              <p:cNvPr id="888" name="Google Shape;888;p21"/>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889" name="Google Shape;889;p21"/>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890" name="Google Shape;890;p21"/>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891" name="Google Shape;891;p21"/>
          <p:cNvGrpSpPr/>
          <p:nvPr/>
        </p:nvGrpSpPr>
        <p:grpSpPr>
          <a:xfrm>
            <a:off x="7265819" y="1999849"/>
            <a:ext cx="3627361" cy="1207103"/>
            <a:chOff x="7265819" y="1999849"/>
            <a:chExt cx="3627361" cy="1207103"/>
          </a:xfrm>
        </p:grpSpPr>
        <p:sp>
          <p:nvSpPr>
            <p:cNvPr id="892" name="Google Shape;892;p21"/>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3" name="Google Shape;893;p21"/>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894" name="Google Shape;894;p21"/>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895" name="Google Shape;895;p21"/>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896" name="Google Shape;896;p21"/>
          <p:cNvGrpSpPr/>
          <p:nvPr/>
        </p:nvGrpSpPr>
        <p:grpSpPr>
          <a:xfrm>
            <a:off x="5155664" y="4908752"/>
            <a:ext cx="3763963" cy="984250"/>
            <a:chOff x="5155664" y="4908752"/>
            <a:chExt cx="3763963" cy="984250"/>
          </a:xfrm>
        </p:grpSpPr>
        <p:sp>
          <p:nvSpPr>
            <p:cNvPr id="897" name="Google Shape;897;p21"/>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898" name="Google Shape;898;p21"/>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899" name="Google Shape;899;p21"/>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900" name="Google Shape;900;p21"/>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901" name="Google Shape;901;p21"/>
          <p:cNvGrpSpPr/>
          <p:nvPr/>
        </p:nvGrpSpPr>
        <p:grpSpPr>
          <a:xfrm>
            <a:off x="1859796" y="4436442"/>
            <a:ext cx="3008971" cy="1404172"/>
            <a:chOff x="1859796" y="4436442"/>
            <a:chExt cx="3008971" cy="1404172"/>
          </a:xfrm>
        </p:grpSpPr>
        <p:sp>
          <p:nvSpPr>
            <p:cNvPr id="902" name="Google Shape;902;p21"/>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03" name="Google Shape;903;p21"/>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904" name="Google Shape;904;p21"/>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905" name="Google Shape;905;p21"/>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906" name="Google Shape;906;p21"/>
          <p:cNvGrpSpPr/>
          <p:nvPr/>
        </p:nvGrpSpPr>
        <p:grpSpPr>
          <a:xfrm>
            <a:off x="6643152" y="4329314"/>
            <a:ext cx="1117600" cy="823913"/>
            <a:chOff x="4156" y="2812"/>
            <a:chExt cx="704" cy="519"/>
          </a:xfrm>
        </p:grpSpPr>
        <p:sp>
          <p:nvSpPr>
            <p:cNvPr id="907" name="Google Shape;907;p21"/>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08" name="Google Shape;908;p21"/>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909" name="Google Shape;909;p21"/>
          <p:cNvGrpSpPr/>
          <p:nvPr/>
        </p:nvGrpSpPr>
        <p:grpSpPr>
          <a:xfrm>
            <a:off x="4453989" y="4275339"/>
            <a:ext cx="1046163" cy="823913"/>
            <a:chOff x="4916" y="3266"/>
            <a:chExt cx="659" cy="519"/>
          </a:xfrm>
        </p:grpSpPr>
        <p:sp>
          <p:nvSpPr>
            <p:cNvPr id="910" name="Google Shape;910;p21"/>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11" name="Google Shape;911;p21"/>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912" name="Google Shape;912;p21"/>
          <p:cNvGrpSpPr/>
          <p:nvPr/>
        </p:nvGrpSpPr>
        <p:grpSpPr>
          <a:xfrm>
            <a:off x="7340063" y="2989465"/>
            <a:ext cx="3184985" cy="1470025"/>
            <a:chOff x="7340063" y="2989464"/>
            <a:chExt cx="3184985" cy="1470025"/>
          </a:xfrm>
        </p:grpSpPr>
        <p:sp>
          <p:nvSpPr>
            <p:cNvPr id="913" name="Google Shape;913;p21"/>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4" name="Google Shape;914;p21"/>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915" name="Google Shape;915;p21"/>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916" name="Google Shape;916;p21"/>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917" name="Google Shape;917;p21"/>
          <p:cNvGrpSpPr/>
          <p:nvPr/>
        </p:nvGrpSpPr>
        <p:grpSpPr>
          <a:xfrm>
            <a:off x="768495" y="3049789"/>
            <a:ext cx="3918857" cy="1284288"/>
            <a:chOff x="768495" y="3049789"/>
            <a:chExt cx="3918857" cy="1284288"/>
          </a:xfrm>
        </p:grpSpPr>
        <p:sp>
          <p:nvSpPr>
            <p:cNvPr id="918" name="Google Shape;918;p21"/>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19" name="Google Shape;919;p21"/>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920" name="Google Shape;920;p21"/>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921" name="Google Shape;921;p21"/>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5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7"/>
                                        </p:tgtEl>
                                        <p:attrNameLst>
                                          <p:attrName>style.visibility</p:attrName>
                                        </p:attrNameLst>
                                      </p:cBhvr>
                                      <p:to>
                                        <p:strVal val="visible"/>
                                      </p:to>
                                    </p:set>
                                    <p:animEffect filter="fade" transition="in">
                                      <p:cBhvr>
                                        <p:cTn dur="500"/>
                                        <p:tgtEl>
                                          <p:spTgt spid="9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500"/>
                                        <p:tgtEl>
                                          <p:spTgt spid="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1"/>
                                        </p:tgtEl>
                                        <p:attrNameLst>
                                          <p:attrName>style.visibility</p:attrName>
                                        </p:attrNameLst>
                                      </p:cBhvr>
                                      <p:to>
                                        <p:strVal val="visible"/>
                                      </p:to>
                                    </p:set>
                                    <p:animEffect filter="fade" transition="in">
                                      <p:cBhvr>
                                        <p:cTn dur="500"/>
                                        <p:tgtEl>
                                          <p:spTgt spid="9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2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receiver, handling garbled ACK/NAKs</a:t>
            </a:r>
            <a:endParaRPr sz="4400"/>
          </a:p>
        </p:txBody>
      </p:sp>
      <p:grpSp>
        <p:nvGrpSpPr>
          <p:cNvPr id="928" name="Google Shape;928;p22"/>
          <p:cNvGrpSpPr/>
          <p:nvPr/>
        </p:nvGrpSpPr>
        <p:grpSpPr>
          <a:xfrm>
            <a:off x="4764244" y="3345999"/>
            <a:ext cx="817563" cy="795338"/>
            <a:chOff x="963" y="1131"/>
            <a:chExt cx="515" cy="501"/>
          </a:xfrm>
        </p:grpSpPr>
        <p:sp>
          <p:nvSpPr>
            <p:cNvPr id="929" name="Google Shape;929;p22"/>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0" name="Google Shape;930;p22"/>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931" name="Google Shape;931;p22"/>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932" name="Google Shape;932;p22"/>
          <p:cNvGrpSpPr/>
          <p:nvPr/>
        </p:nvGrpSpPr>
        <p:grpSpPr>
          <a:xfrm>
            <a:off x="4688044" y="4161974"/>
            <a:ext cx="3862388" cy="2187575"/>
            <a:chOff x="4688044" y="4161974"/>
            <a:chExt cx="3862388" cy="2187575"/>
          </a:xfrm>
        </p:grpSpPr>
        <p:sp>
          <p:nvSpPr>
            <p:cNvPr id="933" name="Google Shape;933;p22"/>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34" name="Google Shape;934;p22"/>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935" name="Google Shape;935;p22"/>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936" name="Google Shape;936;p22"/>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937" name="Google Shape;937;p22"/>
          <p:cNvGrpSpPr/>
          <p:nvPr/>
        </p:nvGrpSpPr>
        <p:grpSpPr>
          <a:xfrm>
            <a:off x="6462869" y="3380924"/>
            <a:ext cx="825500" cy="796925"/>
            <a:chOff x="4398" y="3133"/>
            <a:chExt cx="520" cy="502"/>
          </a:xfrm>
        </p:grpSpPr>
        <p:sp>
          <p:nvSpPr>
            <p:cNvPr id="938" name="Google Shape;938;p22"/>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39" name="Google Shape;939;p22"/>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940" name="Google Shape;940;p22"/>
          <p:cNvGrpSpPr/>
          <p:nvPr/>
        </p:nvGrpSpPr>
        <p:grpSpPr>
          <a:xfrm>
            <a:off x="4849969" y="1277487"/>
            <a:ext cx="3981450" cy="2101850"/>
            <a:chOff x="4849969" y="1277487"/>
            <a:chExt cx="3981450" cy="2101850"/>
          </a:xfrm>
        </p:grpSpPr>
        <p:sp>
          <p:nvSpPr>
            <p:cNvPr id="941" name="Google Shape;941;p22"/>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942" name="Google Shape;942;p22"/>
            <p:cNvGrpSpPr/>
            <p:nvPr/>
          </p:nvGrpSpPr>
          <p:grpSpPr>
            <a:xfrm>
              <a:off x="4849969" y="1277487"/>
              <a:ext cx="3981450" cy="1231900"/>
              <a:chOff x="4849969" y="1277487"/>
              <a:chExt cx="3981450" cy="1231900"/>
            </a:xfrm>
          </p:grpSpPr>
          <p:sp>
            <p:nvSpPr>
              <p:cNvPr id="943" name="Google Shape;943;p22"/>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944" name="Google Shape;944;p22"/>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945" name="Google Shape;945;p22"/>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946" name="Google Shape;946;p22"/>
          <p:cNvGrpSpPr/>
          <p:nvPr/>
        </p:nvGrpSpPr>
        <p:grpSpPr>
          <a:xfrm>
            <a:off x="7028916" y="2655437"/>
            <a:ext cx="3840853" cy="1309628"/>
            <a:chOff x="7028916" y="2655437"/>
            <a:chExt cx="3840853" cy="1309628"/>
          </a:xfrm>
        </p:grpSpPr>
        <p:sp>
          <p:nvSpPr>
            <p:cNvPr id="947" name="Google Shape;947;p22"/>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948" name="Google Shape;948;p22"/>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49" name="Google Shape;949;p22"/>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950" name="Google Shape;950;p22"/>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951" name="Google Shape;951;p22"/>
          <p:cNvGrpSpPr/>
          <p:nvPr/>
        </p:nvGrpSpPr>
        <p:grpSpPr>
          <a:xfrm>
            <a:off x="7078824" y="3592896"/>
            <a:ext cx="3662358" cy="1234241"/>
            <a:chOff x="7078824" y="3592896"/>
            <a:chExt cx="3662358" cy="1234241"/>
          </a:xfrm>
        </p:grpSpPr>
        <p:sp>
          <p:nvSpPr>
            <p:cNvPr id="952" name="Google Shape;952;p22"/>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953" name="Google Shape;953;p22"/>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954" name="Google Shape;954;p22"/>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55" name="Google Shape;955;p22"/>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956" name="Google Shape;956;p22"/>
          <p:cNvGrpSpPr/>
          <p:nvPr/>
        </p:nvGrpSpPr>
        <p:grpSpPr>
          <a:xfrm>
            <a:off x="1919444" y="3529396"/>
            <a:ext cx="2989258" cy="1254878"/>
            <a:chOff x="1919444" y="3529396"/>
            <a:chExt cx="2989258" cy="1254878"/>
          </a:xfrm>
        </p:grpSpPr>
        <p:sp>
          <p:nvSpPr>
            <p:cNvPr id="957" name="Google Shape;957;p22"/>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958" name="Google Shape;958;p22"/>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959" name="Google Shape;959;p22"/>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960" name="Google Shape;960;p22"/>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961" name="Google Shape;961;p22"/>
          <p:cNvGrpSpPr/>
          <p:nvPr/>
        </p:nvGrpSpPr>
        <p:grpSpPr>
          <a:xfrm>
            <a:off x="1867057" y="2591937"/>
            <a:ext cx="3087687" cy="1385828"/>
            <a:chOff x="1867057" y="2591937"/>
            <a:chExt cx="3087687" cy="1385828"/>
          </a:xfrm>
        </p:grpSpPr>
        <p:sp>
          <p:nvSpPr>
            <p:cNvPr id="962" name="Google Shape;962;p22"/>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963" name="Google Shape;963;p22"/>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964" name="Google Shape;964;p22"/>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965" name="Google Shape;965;p22"/>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500"/>
                                        <p:tgtEl>
                                          <p:spTgt spid="9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500"/>
                                        <p:tgtEl>
                                          <p:spTgt spid="9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6"/>
                                        </p:tgtEl>
                                        <p:attrNameLst>
                                          <p:attrName>style.visibility</p:attrName>
                                        </p:attrNameLst>
                                      </p:cBhvr>
                                      <p:to>
                                        <p:strVal val="visible"/>
                                      </p:to>
                                    </p:set>
                                    <p:animEffect filter="fade" transition="in">
                                      <p:cBhvr>
                                        <p:cTn dur="500"/>
                                        <p:tgtEl>
                                          <p:spTgt spid="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500"/>
                                        <p:tgtEl>
                                          <p:spTgt spid="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6"/>
                                        </p:tgtEl>
                                        <p:attrNameLst>
                                          <p:attrName>style.visibility</p:attrName>
                                        </p:attrNameLst>
                                      </p:cBhvr>
                                      <p:to>
                                        <p:strVal val="visible"/>
                                      </p:to>
                                    </p:set>
                                    <p:animEffect filter="fade" transition="in">
                                      <p:cBhvr>
                                        <p:cTn dur="500"/>
                                        <p:tgtEl>
                                          <p:spTgt spid="9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1"/>
                                        </p:tgtEl>
                                        <p:attrNameLst>
                                          <p:attrName>style.visibility</p:attrName>
                                        </p:attrNameLst>
                                      </p:cBhvr>
                                      <p:to>
                                        <p:strVal val="visible"/>
                                      </p:to>
                                    </p:set>
                                    <p:animEffect filter="fade" transition="in">
                                      <p:cBhvr>
                                        <p:cTn dur="500"/>
                                        <p:tgtEl>
                                          <p:spTgt spid="9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2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rdt2.1: discussion</a:t>
            </a:r>
            <a:endParaRPr sz="4400"/>
          </a:p>
        </p:txBody>
      </p:sp>
      <p:sp>
        <p:nvSpPr>
          <p:cNvPr id="972" name="Google Shape;972;p23"/>
          <p:cNvSpPr txBox="1"/>
          <p:nvPr/>
        </p:nvSpPr>
        <p:spPr>
          <a:xfrm>
            <a:off x="798690" y="1355502"/>
            <a:ext cx="5297310"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sender: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seq # added to pkt</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two seq. #s (0,1) will suffice.  Why?</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ACK/NAK corrupted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twice as many states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must “remember” whether “expected” pkt should have seq # of 0 or 1 </a:t>
            </a:r>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973" name="Google Shape;973;p23"/>
          <p:cNvSpPr txBox="1"/>
          <p:nvPr/>
        </p:nvSpPr>
        <p:spPr>
          <a:xfrm>
            <a:off x="6543540" y="1355502"/>
            <a:ext cx="4849769" cy="4648200"/>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receiver:</a:t>
            </a:r>
            <a:endParaRPr b="0" i="0" sz="3200" u="none" cap="none" strike="noStrike">
              <a:solidFill>
                <a:srgbClr val="CC0000"/>
              </a:solidFill>
              <a:latin typeface="Calibri"/>
              <a:ea typeface="Calibri"/>
              <a:cs typeface="Calibri"/>
              <a:sym typeface="Calibri"/>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must check if received packet is duplicate</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state indicates whether 0 or 1 is expected pkt seq #</a:t>
            </a:r>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note: receiver can </a:t>
            </a:r>
            <a:r>
              <a:rPr b="0" i="1" lang="en-US" sz="2800" u="none" cap="none" strike="noStrike">
                <a:solidFill>
                  <a:srgbClr val="000000"/>
                </a:solidFill>
                <a:latin typeface="Calibri"/>
                <a:ea typeface="Calibri"/>
                <a:cs typeface="Calibri"/>
                <a:sym typeface="Calibri"/>
              </a:rPr>
              <a:t>not</a:t>
            </a:r>
            <a:r>
              <a:rPr b="0" i="0" lang="en-US" sz="2800" u="none" cap="none" strike="noStrike">
                <a:solidFill>
                  <a:srgbClr val="000000"/>
                </a:solidFill>
                <a:latin typeface="Calibri"/>
                <a:ea typeface="Calibri"/>
                <a:cs typeface="Calibri"/>
                <a:sym typeface="Calibri"/>
              </a:rPr>
              <a:t> know if its last ACK/NAK received OK at sender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500"/>
                                        <p:tgtEl>
                                          <p:spTgt spid="9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2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a NAK-free protocol</a:t>
            </a:r>
            <a:endParaRPr sz="4400"/>
          </a:p>
        </p:txBody>
      </p:sp>
      <p:sp>
        <p:nvSpPr>
          <p:cNvPr id="980" name="Google Shape;980;p24"/>
          <p:cNvSpPr txBox="1"/>
          <p:nvPr/>
        </p:nvSpPr>
        <p:spPr>
          <a:xfrm>
            <a:off x="606648" y="1714500"/>
            <a:ext cx="10978703" cy="3385534"/>
          </a:xfrm>
          <a:prstGeom prst="rect">
            <a:avLst/>
          </a:prstGeom>
          <a:noFill/>
          <a:ln>
            <a:noFill/>
          </a:ln>
        </p:spPr>
        <p:txBody>
          <a:bodyPr anchorCtr="0" anchor="t" bIns="45700" lIns="91425" spcFirstLastPara="1" rIns="91425" wrap="square" tIns="45700">
            <a:normAutofit/>
          </a:bodyPr>
          <a:lstStyle/>
          <a:p>
            <a:pPr indent="-280988" lvl="0" marL="4603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same functionality as rdt2.1, using ACKs only</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instead of NAK, receiver sends ACK for last pkt received OK</a:t>
            </a:r>
            <a:endParaRPr/>
          </a:p>
          <a:p>
            <a:pPr indent="-219075" lvl="1" marL="808038"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a:t>
            </a:r>
            <a:r>
              <a:rPr b="0" i="1" lang="en-US" sz="2800" u="none" cap="none" strike="noStrike">
                <a:solidFill>
                  <a:srgbClr val="000000"/>
                </a:solidFill>
                <a:latin typeface="Calibri"/>
                <a:ea typeface="Calibri"/>
                <a:cs typeface="Calibri"/>
                <a:sym typeface="Calibri"/>
              </a:rPr>
              <a:t>explicitly</a:t>
            </a:r>
            <a:r>
              <a:rPr b="0" i="0" lang="en-US" sz="2800" u="none" cap="none" strike="noStrike">
                <a:solidFill>
                  <a:srgbClr val="000000"/>
                </a:solidFill>
                <a:latin typeface="Calibri"/>
                <a:ea typeface="Calibri"/>
                <a:cs typeface="Calibri"/>
                <a:sym typeface="Calibri"/>
              </a:rPr>
              <a:t> include seq # of pkt being ACKed </a:t>
            </a:r>
            <a:endParaRPr/>
          </a:p>
          <a:p>
            <a:pPr indent="-280988" lvl="0" marL="46037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duplicate ACK at sender results in same action as NAK: </a:t>
            </a:r>
            <a:r>
              <a:rPr b="0" i="1" lang="en-US" sz="3200" u="none" cap="none" strike="noStrike">
                <a:solidFill>
                  <a:srgbClr val="000000"/>
                </a:solidFill>
                <a:latin typeface="Calibri"/>
                <a:ea typeface="Calibri"/>
                <a:cs typeface="Calibri"/>
                <a:sym typeface="Calibri"/>
              </a:rPr>
              <a:t>retransmit current pkt</a:t>
            </a:r>
            <a:endParaRPr b="0" i="0" sz="3200" u="none" cap="none" strike="noStrike">
              <a:solidFill>
                <a:srgbClr val="000000"/>
              </a:solidFill>
              <a:latin typeface="Calibri"/>
              <a:ea typeface="Calibri"/>
              <a:cs typeface="Calibri"/>
              <a:sym typeface="Calibri"/>
            </a:endParaRPr>
          </a:p>
        </p:txBody>
      </p:sp>
      <p:sp>
        <p:nvSpPr>
          <p:cNvPr id="981" name="Google Shape;981;p24"/>
          <p:cNvSpPr txBox="1"/>
          <p:nvPr/>
        </p:nvSpPr>
        <p:spPr>
          <a:xfrm>
            <a:off x="798690" y="4623515"/>
            <a:ext cx="90637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As we will see, TCP uses this approach to be NAK-free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2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rdt2.2: sender, receiver fragments</a:t>
            </a:r>
            <a:endParaRPr sz="4400"/>
          </a:p>
        </p:txBody>
      </p:sp>
      <p:grpSp>
        <p:nvGrpSpPr>
          <p:cNvPr id="988" name="Google Shape;988;p25"/>
          <p:cNvGrpSpPr/>
          <p:nvPr/>
        </p:nvGrpSpPr>
        <p:grpSpPr>
          <a:xfrm>
            <a:off x="3740933" y="1183947"/>
            <a:ext cx="6508750" cy="2841625"/>
            <a:chOff x="1529" y="780"/>
            <a:chExt cx="4100" cy="1790"/>
          </a:xfrm>
        </p:grpSpPr>
        <p:grpSp>
          <p:nvGrpSpPr>
            <p:cNvPr id="989" name="Google Shape;989;p25"/>
            <p:cNvGrpSpPr/>
            <p:nvPr/>
          </p:nvGrpSpPr>
          <p:grpSpPr>
            <a:xfrm>
              <a:off x="1651" y="1399"/>
              <a:ext cx="669" cy="528"/>
              <a:chOff x="1441" y="2062"/>
              <a:chExt cx="669" cy="528"/>
            </a:xfrm>
          </p:grpSpPr>
          <p:sp>
            <p:nvSpPr>
              <p:cNvPr id="990" name="Google Shape;990;p25"/>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991" name="Google Shape;991;p25"/>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grpSp>
        <p:sp>
          <p:nvSpPr>
            <p:cNvPr id="992" name="Google Shape;992;p25"/>
            <p:cNvSpPr txBox="1"/>
            <p:nvPr/>
          </p:nvSpPr>
          <p:spPr>
            <a:xfrm>
              <a:off x="1863" y="957"/>
              <a:ext cx="2345"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993" name="Google Shape;993;p25"/>
            <p:cNvSpPr txBox="1"/>
            <p:nvPr/>
          </p:nvSpPr>
          <p:spPr>
            <a:xfrm>
              <a:off x="1871" y="780"/>
              <a:ext cx="1086" cy="1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994" name="Google Shape;994;p25"/>
            <p:cNvCxnSpPr/>
            <p:nvPr/>
          </p:nvCxnSpPr>
          <p:spPr>
            <a:xfrm>
              <a:off x="1910" y="992"/>
              <a:ext cx="2238" cy="0"/>
            </a:xfrm>
            <a:prstGeom prst="straightConnector1">
              <a:avLst/>
            </a:prstGeom>
            <a:noFill/>
            <a:ln cap="flat" cmpd="sng" w="28575">
              <a:solidFill>
                <a:srgbClr val="000000"/>
              </a:solidFill>
              <a:prstDash val="solid"/>
              <a:round/>
              <a:headEnd len="med" w="med" type="none"/>
              <a:tailEnd len="med" w="med" type="none"/>
            </a:ln>
          </p:spPr>
        </p:cxnSp>
        <p:cxnSp>
          <p:nvCxnSpPr>
            <p:cNvPr id="995" name="Google Shape;995;p25"/>
            <p:cNvCxnSpPr/>
            <p:nvPr/>
          </p:nvCxnSpPr>
          <p:spPr>
            <a:xfrm>
              <a:off x="1529" y="1313"/>
              <a:ext cx="264" cy="145"/>
            </a:xfrm>
            <a:prstGeom prst="straightConnector1">
              <a:avLst/>
            </a:prstGeom>
            <a:noFill/>
            <a:ln cap="flat" cmpd="sng" w="19050">
              <a:solidFill>
                <a:srgbClr val="000000"/>
              </a:solidFill>
              <a:prstDash val="dash"/>
              <a:round/>
              <a:headEnd len="med" w="med" type="none"/>
              <a:tailEnd len="med" w="med" type="triangle"/>
            </a:ln>
          </p:spPr>
        </p:cxnSp>
        <p:sp>
          <p:nvSpPr>
            <p:cNvPr id="996" name="Google Shape;996;p25"/>
            <p:cNvSpPr/>
            <p:nvPr/>
          </p:nvSpPr>
          <p:spPr>
            <a:xfrm flipH="1" rot="10800000">
              <a:off x="2096" y="1272"/>
              <a:ext cx="1195" cy="13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97" name="Google Shape;997;p25"/>
            <p:cNvSpPr/>
            <p:nvPr/>
          </p:nvSpPr>
          <p:spPr>
            <a:xfrm rot="-1357180">
              <a:off x="3655" y="1225"/>
              <a:ext cx="285" cy="542"/>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998" name="Google Shape;998;p25"/>
            <p:cNvSpPr txBox="1"/>
            <p:nvPr/>
          </p:nvSpPr>
          <p:spPr>
            <a:xfrm>
              <a:off x="3978" y="1670"/>
              <a:ext cx="1338" cy="2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999" name="Google Shape;999;p25"/>
            <p:cNvSpPr txBox="1"/>
            <p:nvPr/>
          </p:nvSpPr>
          <p:spPr>
            <a:xfrm>
              <a:off x="3917" y="1174"/>
              <a:ext cx="171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isACK(rcvpkt,1)</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1000" name="Google Shape;1000;p25"/>
            <p:cNvCxnSpPr/>
            <p:nvPr/>
          </p:nvCxnSpPr>
          <p:spPr>
            <a:xfrm flipH="1" rot="10800000">
              <a:off x="4043" y="1666"/>
              <a:ext cx="895" cy="1"/>
            </a:xfrm>
            <a:prstGeom prst="straightConnector1">
              <a:avLst/>
            </a:prstGeom>
            <a:noFill/>
            <a:ln cap="flat" cmpd="sng" w="28575">
              <a:solidFill>
                <a:srgbClr val="000000"/>
              </a:solidFill>
              <a:prstDash val="solid"/>
              <a:round/>
              <a:headEnd len="med" w="med" type="none"/>
              <a:tailEnd len="med" w="med" type="none"/>
            </a:ln>
          </p:spPr>
        </p:cxnSp>
        <p:sp>
          <p:nvSpPr>
            <p:cNvPr id="1001" name="Google Shape;1001;p25"/>
            <p:cNvSpPr/>
            <p:nvPr/>
          </p:nvSpPr>
          <p:spPr>
            <a:xfrm>
              <a:off x="3747" y="1792"/>
              <a:ext cx="128" cy="774"/>
            </a:xfrm>
            <a:custGeom>
              <a:rect b="b" l="l" r="r" t="t"/>
              <a:pathLst>
                <a:path extrusionOk="0" h="774" w="128">
                  <a:moveTo>
                    <a:pt x="67" y="774"/>
                  </a:moveTo>
                  <a:cubicBezTo>
                    <a:pt x="128" y="425"/>
                    <a:pt x="81" y="0"/>
                    <a:pt x="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02" name="Google Shape;1002;p25"/>
            <p:cNvSpPr txBox="1"/>
            <p:nvPr/>
          </p:nvSpPr>
          <p:spPr>
            <a:xfrm>
              <a:off x="3838" y="2051"/>
              <a:ext cx="1520"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a:t>
              </a:r>
              <a:r>
                <a:rPr b="1" i="0" lang="en-US" sz="1600" u="none" cap="none" strike="noStrike">
                  <a:solidFill>
                    <a:srgbClr val="FF0000"/>
                  </a:solidFill>
                  <a:latin typeface="Arial"/>
                  <a:ea typeface="Arial"/>
                  <a:cs typeface="Arial"/>
                  <a:sym typeface="Arial"/>
                </a:rPr>
                <a:t>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003" name="Google Shape;1003;p25"/>
            <p:cNvCxnSpPr/>
            <p:nvPr/>
          </p:nvCxnSpPr>
          <p:spPr>
            <a:xfrm>
              <a:off x="3894" y="2570"/>
              <a:ext cx="1174" cy="0"/>
            </a:xfrm>
            <a:prstGeom prst="straightConnector1">
              <a:avLst/>
            </a:prstGeom>
            <a:noFill/>
            <a:ln cap="flat" cmpd="sng" w="28575">
              <a:solidFill>
                <a:srgbClr val="000000"/>
              </a:solidFill>
              <a:prstDash val="solid"/>
              <a:round/>
              <a:headEnd len="med" w="med" type="none"/>
              <a:tailEnd len="med" w="med" type="none"/>
            </a:ln>
          </p:spPr>
        </p:cxnSp>
        <p:grpSp>
          <p:nvGrpSpPr>
            <p:cNvPr id="1004" name="Google Shape;1004;p25"/>
            <p:cNvGrpSpPr/>
            <p:nvPr/>
          </p:nvGrpSpPr>
          <p:grpSpPr>
            <a:xfrm>
              <a:off x="3135" y="1365"/>
              <a:ext cx="669" cy="528"/>
              <a:chOff x="1441" y="2062"/>
              <a:chExt cx="669" cy="528"/>
            </a:xfrm>
          </p:grpSpPr>
          <p:sp>
            <p:nvSpPr>
              <p:cNvPr id="1005" name="Google Shape;1005;p25"/>
              <p:cNvSpPr/>
              <p:nvPr/>
            </p:nvSpPr>
            <p:spPr>
              <a:xfrm>
                <a:off x="1483" y="2062"/>
                <a:ext cx="578" cy="528"/>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006" name="Google Shape;1006;p25"/>
              <p:cNvSpPr txBox="1"/>
              <p:nvPr/>
            </p:nvSpPr>
            <p:spPr>
              <a:xfrm>
                <a:off x="1441" y="2110"/>
                <a:ext cx="66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a:t>
                </a:r>
                <a:endParaRPr b="0" i="0" sz="1400" u="none" cap="none" strike="noStrike">
                  <a:solidFill>
                    <a:srgbClr val="000000"/>
                  </a:solidFill>
                  <a:latin typeface="Times New Roman"/>
                  <a:ea typeface="Times New Roman"/>
                  <a:cs typeface="Times New Roman"/>
                  <a:sym typeface="Times New Roman"/>
                </a:endParaRPr>
              </a:p>
            </p:txBody>
          </p:sp>
        </p:grpSp>
        <p:sp>
          <p:nvSpPr>
            <p:cNvPr id="1007" name="Google Shape;1007;p25"/>
            <p:cNvSpPr txBox="1"/>
            <p:nvPr/>
          </p:nvSpPr>
          <p:spPr>
            <a:xfrm>
              <a:off x="2363" y="1810"/>
              <a:ext cx="935"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sender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cxnSp>
        <p:nvCxnSpPr>
          <p:cNvPr id="1008" name="Google Shape;1008;p25"/>
          <p:cNvCxnSpPr/>
          <p:nvPr/>
        </p:nvCxnSpPr>
        <p:spPr>
          <a:xfrm>
            <a:off x="1978808" y="2549197"/>
            <a:ext cx="7883525" cy="2757488"/>
          </a:xfrm>
          <a:prstGeom prst="straightConnector1">
            <a:avLst/>
          </a:prstGeom>
          <a:noFill/>
          <a:ln cap="flat" cmpd="sng" w="9525">
            <a:solidFill>
              <a:srgbClr val="000000"/>
            </a:solidFill>
            <a:prstDash val="dot"/>
            <a:round/>
            <a:headEnd len="med" w="med" type="none"/>
            <a:tailEnd len="med" w="med" type="none"/>
          </a:ln>
        </p:spPr>
      </p:cxnSp>
      <p:grpSp>
        <p:nvGrpSpPr>
          <p:cNvPr id="1009" name="Google Shape;1009;p25"/>
          <p:cNvGrpSpPr/>
          <p:nvPr/>
        </p:nvGrpSpPr>
        <p:grpSpPr>
          <a:xfrm>
            <a:off x="1313645" y="3769985"/>
            <a:ext cx="7234238" cy="2535237"/>
            <a:chOff x="0" y="2409"/>
            <a:chExt cx="4557" cy="1597"/>
          </a:xfrm>
        </p:grpSpPr>
        <p:sp>
          <p:nvSpPr>
            <p:cNvPr id="1010" name="Google Shape;1010;p25"/>
            <p:cNvSpPr txBox="1"/>
            <p:nvPr/>
          </p:nvSpPr>
          <p:spPr>
            <a:xfrm>
              <a:off x="1849" y="3217"/>
              <a:ext cx="2482" cy="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&amp;&amp; has_seq1(rcvpkt) </a:t>
              </a:r>
              <a:endParaRPr b="0" i="0" sz="1600" u="none" cap="none" strike="noStrike">
                <a:solidFill>
                  <a:srgbClr val="000000"/>
                </a:solidFill>
                <a:latin typeface="Times New Roman"/>
                <a:ea typeface="Times New Roman"/>
                <a:cs typeface="Times New Roman"/>
                <a:sym typeface="Times New Roman"/>
              </a:endParaRPr>
            </a:p>
          </p:txBody>
        </p:sp>
        <p:sp>
          <p:nvSpPr>
            <p:cNvPr id="1011" name="Google Shape;1011;p25"/>
            <p:cNvSpPr txBox="1"/>
            <p:nvPr/>
          </p:nvSpPr>
          <p:spPr>
            <a:xfrm>
              <a:off x="1829" y="3568"/>
              <a:ext cx="2630" cy="4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sndpkt = make_pkt(ACK1, chksum)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1012" name="Google Shape;1012;p25"/>
            <p:cNvGrpSpPr/>
            <p:nvPr/>
          </p:nvGrpSpPr>
          <p:grpSpPr>
            <a:xfrm>
              <a:off x="0" y="2409"/>
              <a:ext cx="3510" cy="1168"/>
              <a:chOff x="0" y="2409"/>
              <a:chExt cx="3510" cy="1168"/>
            </a:xfrm>
          </p:grpSpPr>
          <p:grpSp>
            <p:nvGrpSpPr>
              <p:cNvPr id="1013" name="Google Shape;1013;p25"/>
              <p:cNvGrpSpPr/>
              <p:nvPr/>
            </p:nvGrpSpPr>
            <p:grpSpPr>
              <a:xfrm>
                <a:off x="1529" y="2687"/>
                <a:ext cx="534" cy="501"/>
                <a:chOff x="3570" y="3063"/>
                <a:chExt cx="534" cy="501"/>
              </a:xfrm>
            </p:grpSpPr>
            <p:sp>
              <p:nvSpPr>
                <p:cNvPr id="1014" name="Google Shape;1014;p25"/>
                <p:cNvSpPr/>
                <p:nvPr/>
              </p:nvSpPr>
              <p:spPr>
                <a:xfrm>
                  <a:off x="3570" y="3063"/>
                  <a:ext cx="534"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015" name="Google Shape;1015;p25"/>
                <p:cNvSpPr txBox="1"/>
                <p:nvPr/>
              </p:nvSpPr>
              <p:spPr>
                <a:xfrm>
                  <a:off x="3597" y="3085"/>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sp>
            <p:nvSpPr>
              <p:cNvPr id="1016" name="Google Shape;1016;p25"/>
              <p:cNvSpPr/>
              <p:nvPr/>
            </p:nvSpPr>
            <p:spPr>
              <a:xfrm>
                <a:off x="1925" y="2618"/>
                <a:ext cx="520" cy="117"/>
              </a:xfrm>
              <a:custGeom>
                <a:rect b="b" l="l" r="r" t="t"/>
                <a:pathLst>
                  <a:path extrusionOk="0" h="117" w="520">
                    <a:moveTo>
                      <a:pt x="0" y="117"/>
                    </a:moveTo>
                    <a:cubicBezTo>
                      <a:pt x="136" y="17"/>
                      <a:pt x="276" y="0"/>
                      <a:pt x="520"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17" name="Google Shape;1017;p25"/>
              <p:cNvSpPr/>
              <p:nvPr/>
            </p:nvSpPr>
            <p:spPr>
              <a:xfrm>
                <a:off x="1996" y="3125"/>
                <a:ext cx="1514" cy="130"/>
              </a:xfrm>
              <a:custGeom>
                <a:rect b="b" l="l" r="r" t="t"/>
                <a:pathLst>
                  <a:path extrusionOk="0" h="130" w="1514">
                    <a:moveTo>
                      <a:pt x="0" y="0"/>
                    </a:moveTo>
                    <a:cubicBezTo>
                      <a:pt x="266" y="130"/>
                      <a:pt x="1322" y="113"/>
                      <a:pt x="1514" y="17"/>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018" name="Google Shape;1018;p25"/>
              <p:cNvCxnSpPr/>
              <p:nvPr/>
            </p:nvCxnSpPr>
            <p:spPr>
              <a:xfrm>
                <a:off x="1919" y="3577"/>
                <a:ext cx="1206" cy="0"/>
              </a:xfrm>
              <a:prstGeom prst="straightConnector1">
                <a:avLst/>
              </a:prstGeom>
              <a:noFill/>
              <a:ln cap="flat" cmpd="sng" w="28575">
                <a:solidFill>
                  <a:srgbClr val="000000"/>
                </a:solidFill>
                <a:prstDash val="solid"/>
                <a:round/>
                <a:headEnd len="med" w="med" type="none"/>
                <a:tailEnd len="med" w="med" type="none"/>
              </a:ln>
            </p:spPr>
          </p:cxnSp>
          <p:sp>
            <p:nvSpPr>
              <p:cNvPr id="1019" name="Google Shape;1019;p25"/>
              <p:cNvSpPr/>
              <p:nvPr/>
            </p:nvSpPr>
            <p:spPr>
              <a:xfrm flipH="1">
                <a:off x="1237" y="2468"/>
                <a:ext cx="309" cy="856"/>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020" name="Google Shape;1020;p25"/>
              <p:cNvCxnSpPr/>
              <p:nvPr/>
            </p:nvCxnSpPr>
            <p:spPr>
              <a:xfrm>
                <a:off x="57" y="2936"/>
                <a:ext cx="1212" cy="0"/>
              </a:xfrm>
              <a:prstGeom prst="straightConnector1">
                <a:avLst/>
              </a:prstGeom>
              <a:noFill/>
              <a:ln cap="flat" cmpd="sng" w="28575">
                <a:solidFill>
                  <a:srgbClr val="000000"/>
                </a:solidFill>
                <a:prstDash val="solid"/>
                <a:round/>
                <a:headEnd len="med" w="med" type="none"/>
                <a:tailEnd len="med" w="med" type="none"/>
              </a:ln>
            </p:spPr>
          </p:cxnSp>
          <p:sp>
            <p:nvSpPr>
              <p:cNvPr id="1021" name="Google Shape;1021;p25"/>
              <p:cNvSpPr txBox="1"/>
              <p:nvPr/>
            </p:nvSpPr>
            <p:spPr>
              <a:xfrm>
                <a:off x="6" y="2409"/>
                <a:ext cx="1487" cy="40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1" i="0" lang="en-US" sz="1600" u="none" cap="none" strike="noStrike">
                    <a:solidFill>
                      <a:srgbClr val="FF0000"/>
                    </a:solidFill>
                    <a:latin typeface="Arial"/>
                    <a:ea typeface="Arial"/>
                    <a:cs typeface="Arial"/>
                    <a:sym typeface="Arial"/>
                  </a:rPr>
                  <a:t>has_seq1(rcvpkt))</a:t>
                </a:r>
                <a:endParaRPr b="1" i="0" sz="1600" u="none" cap="none" strike="noStrike">
                  <a:solidFill>
                    <a:srgbClr val="FF0000"/>
                  </a:solidFill>
                  <a:latin typeface="Times New Roman"/>
                  <a:ea typeface="Times New Roman"/>
                  <a:cs typeface="Times New Roman"/>
                  <a:sym typeface="Times New Roman"/>
                </a:endParaRPr>
              </a:p>
            </p:txBody>
          </p:sp>
          <p:sp>
            <p:nvSpPr>
              <p:cNvPr id="1022" name="Google Shape;1022;p25"/>
              <p:cNvSpPr txBox="1"/>
              <p:nvPr/>
            </p:nvSpPr>
            <p:spPr>
              <a:xfrm>
                <a:off x="0" y="2954"/>
                <a:ext cx="1284" cy="2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1600"/>
                  <a:buFont typeface="Arial"/>
                  <a:buNone/>
                </a:pPr>
                <a:r>
                  <a:rPr b="1" i="0" lang="en-US" sz="1600" u="none" cap="none" strike="noStrike">
                    <a:solidFill>
                      <a:srgbClr val="FF0000"/>
                    </a:solidFill>
                    <a:latin typeface="Arial"/>
                    <a:ea typeface="Arial"/>
                    <a:cs typeface="Arial"/>
                    <a:sym typeface="Arial"/>
                  </a:rPr>
                  <a:t>udt_send(sndpkt)</a:t>
                </a:r>
                <a:endParaRPr b="1" i="0" sz="1600" u="none" cap="none" strike="noStrike">
                  <a:solidFill>
                    <a:srgbClr val="FF0000"/>
                  </a:solidFill>
                  <a:latin typeface="Times New Roman"/>
                  <a:ea typeface="Times New Roman"/>
                  <a:cs typeface="Times New Roman"/>
                  <a:sym typeface="Times New Roman"/>
                </a:endParaRPr>
              </a:p>
            </p:txBody>
          </p:sp>
          <p:sp>
            <p:nvSpPr>
              <p:cNvPr id="1023" name="Google Shape;1023;p25"/>
              <p:cNvSpPr txBox="1"/>
              <p:nvPr/>
            </p:nvSpPr>
            <p:spPr>
              <a:xfrm>
                <a:off x="2166" y="2709"/>
                <a:ext cx="102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receiver FSM</a:t>
                </a:r>
                <a:endParaRPr/>
              </a:p>
              <a:p>
                <a:pPr indent="0" lvl="0" marL="0" marR="0" rtl="0" algn="ctr">
                  <a:lnSpc>
                    <a:spcPct val="100000"/>
                  </a:lnSpc>
                  <a:spcBef>
                    <a:spcPts val="0"/>
                  </a:spcBef>
                  <a:spcAft>
                    <a:spcPts val="0"/>
                  </a:spcAft>
                  <a:buClr>
                    <a:srgbClr val="000099"/>
                  </a:buClr>
                  <a:buSzPts val="2000"/>
                  <a:buFont typeface="Tahoma"/>
                  <a:buNone/>
                </a:pPr>
                <a:r>
                  <a:rPr b="0" i="0" lang="en-US" sz="2000" u="none" cap="none" strike="noStrike">
                    <a:solidFill>
                      <a:srgbClr val="000099"/>
                    </a:solidFill>
                    <a:latin typeface="Tahoma"/>
                    <a:ea typeface="Tahoma"/>
                    <a:cs typeface="Tahoma"/>
                    <a:sym typeface="Tahoma"/>
                  </a:rPr>
                  <a:t>fragment</a:t>
                </a:r>
                <a:endParaRPr/>
              </a:p>
            </p:txBody>
          </p:sp>
        </p:grpSp>
        <p:sp>
          <p:nvSpPr>
            <p:cNvPr id="1024" name="Google Shape;1024;p25"/>
            <p:cNvSpPr txBox="1"/>
            <p:nvPr/>
          </p:nvSpPr>
          <p:spPr>
            <a:xfrm>
              <a:off x="4318" y="2585"/>
              <a:ext cx="23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2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1031" name="Google Shape;1031;p26"/>
          <p:cNvSpPr txBox="1"/>
          <p:nvPr/>
        </p:nvSpPr>
        <p:spPr>
          <a:xfrm>
            <a:off x="700825" y="1291107"/>
            <a:ext cx="5300730"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New channel assumption:</a:t>
            </a:r>
            <a:r>
              <a:rPr b="0" i="0" lang="en-US" sz="3200" u="none" cap="none" strike="noStrike">
                <a:solidFill>
                  <a:srgbClr val="000000"/>
                </a:solidFill>
                <a:latin typeface="Calibri"/>
                <a:ea typeface="Calibri"/>
                <a:cs typeface="Calibri"/>
                <a:sym typeface="Calibri"/>
              </a:rPr>
              <a:t> underlying channel can also lose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 #, ACKs, retransmissions will be of help … but not enough</a:t>
            </a:r>
            <a:endParaRPr/>
          </a:p>
        </p:txBody>
      </p:sp>
      <p:sp>
        <p:nvSpPr>
          <p:cNvPr id="1032" name="Google Shape;1032;p26"/>
          <p:cNvSpPr txBox="1"/>
          <p:nvPr/>
        </p:nvSpPr>
        <p:spPr>
          <a:xfrm>
            <a:off x="6375042" y="1355502"/>
            <a:ext cx="5300731"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0" lang="en-US" sz="3200" u="sng" cap="none" strike="noStrike">
                <a:solidFill>
                  <a:srgbClr val="CC0000"/>
                </a:solidFill>
                <a:latin typeface="Calibri"/>
                <a:ea typeface="Calibri"/>
                <a:cs typeface="Calibri"/>
                <a:sym typeface="Calibri"/>
              </a:rPr>
              <a:t>Approach:</a:t>
            </a:r>
            <a:r>
              <a:rPr b="0" i="0" lang="en-US" sz="3200" u="none" cap="none" strike="noStrike">
                <a:solidFill>
                  <a:srgbClr val="000000"/>
                </a:solidFill>
                <a:latin typeface="Calibri"/>
                <a:ea typeface="Calibri"/>
                <a:cs typeface="Calibri"/>
                <a:sym typeface="Calibri"/>
              </a:rPr>
              <a:t> sender waits “reasonable” amount of time for ACK </a:t>
            </a:r>
            <a:endParaRPr/>
          </a:p>
          <a:p>
            <a:pPr indent="-280988" lvl="0" marL="460375" marR="0" rtl="0" algn="l">
              <a:lnSpc>
                <a:spcPct val="8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retransmits if no ACK received in this time</a:t>
            </a:r>
            <a:endParaRPr/>
          </a:p>
          <a:p>
            <a:pPr indent="-346075" lvl="0" marL="460375" marR="0" rtl="0" algn="l">
              <a:lnSpc>
                <a:spcPct val="7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if pkt (or ACK) just delayed (not lost):</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retransmission will be  duplicate, but seq. #s already handles this</a:t>
            </a:r>
            <a:endParaRPr b="0" i="0" sz="2000" u="none" cap="none" strike="noStrike">
              <a:solidFill>
                <a:srgbClr val="00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receiver must specify seq # of pkt being ACKed</a:t>
            </a:r>
            <a:endParaRPr b="0" i="0" sz="2000" u="none" cap="none" strike="noStrike">
              <a:solidFill>
                <a:srgbClr val="000000"/>
              </a:solidFill>
              <a:latin typeface="Calibri"/>
              <a:ea typeface="Calibri"/>
              <a:cs typeface="Calibri"/>
              <a:sym typeface="Calibri"/>
            </a:endParaRPr>
          </a:p>
          <a:p>
            <a:pPr indent="-279400" lvl="0" marL="409575" marR="0" rtl="0" algn="l">
              <a:lnSpc>
                <a:spcPct val="7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requires countdown timer</a:t>
            </a:r>
            <a:endParaRPr/>
          </a:p>
        </p:txBody>
      </p:sp>
      <p:sp>
        <p:nvSpPr>
          <p:cNvPr id="1033" name="Google Shape;1033;p26"/>
          <p:cNvSpPr txBox="1"/>
          <p:nvPr/>
        </p:nvSpPr>
        <p:spPr>
          <a:xfrm>
            <a:off x="914399" y="4661472"/>
            <a:ext cx="3940935" cy="138499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How do humans handle lost sender-to-receiver words in conversation?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27"/>
          <p:cNvSpPr/>
          <p:nvPr/>
        </p:nvSpPr>
        <p:spPr>
          <a:xfrm>
            <a:off x="2418382" y="4342649"/>
            <a:ext cx="76965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0" name="Google Shape;1040;p27"/>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1" name="Google Shape;1041;p27"/>
          <p:cNvSpPr/>
          <p:nvPr/>
        </p:nvSpPr>
        <p:spPr>
          <a:xfrm>
            <a:off x="8369605" y="2404148"/>
            <a:ext cx="73251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2" name="Google Shape;1042;p27"/>
          <p:cNvSpPr/>
          <p:nvPr/>
        </p:nvSpPr>
        <p:spPr>
          <a:xfrm>
            <a:off x="8358054" y="287058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3" name="Google Shape;1043;p27"/>
          <p:cNvSpPr/>
          <p:nvPr/>
        </p:nvSpPr>
        <p:spPr>
          <a:xfrm>
            <a:off x="2418337" y="4809347"/>
            <a:ext cx="909161"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4" name="Google Shape;1044;p27"/>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5" name="Google Shape;1045;p27"/>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6" name="Google Shape;1046;p27"/>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047" name="Google Shape;1047;p2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1048" name="Google Shape;1048;p27"/>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1049" name="Google Shape;1049;p27"/>
          <p:cNvGrpSpPr/>
          <p:nvPr/>
        </p:nvGrpSpPr>
        <p:grpSpPr>
          <a:xfrm>
            <a:off x="7099636" y="2184072"/>
            <a:ext cx="889000" cy="865187"/>
            <a:chOff x="445" y="1273"/>
            <a:chExt cx="560" cy="545"/>
          </a:xfrm>
        </p:grpSpPr>
        <p:sp>
          <p:nvSpPr>
            <p:cNvPr id="1050" name="Google Shape;1050;p27"/>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051" name="Google Shape;1051;p27"/>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1052" name="Google Shape;1052;p27"/>
          <p:cNvGrpSpPr/>
          <p:nvPr/>
        </p:nvGrpSpPr>
        <p:grpSpPr>
          <a:xfrm>
            <a:off x="4758073" y="1183947"/>
            <a:ext cx="3860800" cy="1144587"/>
            <a:chOff x="4758073" y="1183947"/>
            <a:chExt cx="3860800" cy="1144587"/>
          </a:xfrm>
        </p:grpSpPr>
        <p:sp>
          <p:nvSpPr>
            <p:cNvPr id="1053" name="Google Shape;1053;p27"/>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054" name="Google Shape;1054;p27"/>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1055" name="Google Shape;1055;p27"/>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1056" name="Google Shape;1056;p27"/>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057" name="Google Shape;1057;p27"/>
          <p:cNvGrpSpPr/>
          <p:nvPr/>
        </p:nvGrpSpPr>
        <p:grpSpPr>
          <a:xfrm>
            <a:off x="7191711" y="4098597"/>
            <a:ext cx="1189037" cy="850900"/>
            <a:chOff x="4090" y="3230"/>
            <a:chExt cx="749" cy="536"/>
          </a:xfrm>
        </p:grpSpPr>
        <p:sp>
          <p:nvSpPr>
            <p:cNvPr id="1058" name="Google Shape;1058;p27"/>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059" name="Google Shape;1059;p27"/>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060" name="Google Shape;1060;p27"/>
          <p:cNvGrpSpPr/>
          <p:nvPr/>
        </p:nvGrpSpPr>
        <p:grpSpPr>
          <a:xfrm>
            <a:off x="5054936" y="4832022"/>
            <a:ext cx="3444875" cy="1038225"/>
            <a:chOff x="5054936" y="4832022"/>
            <a:chExt cx="3444875" cy="1038225"/>
          </a:xfrm>
        </p:grpSpPr>
        <p:sp>
          <p:nvSpPr>
            <p:cNvPr id="1061" name="Google Shape;1061;p27"/>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62" name="Google Shape;1062;p27"/>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063" name="Google Shape;1063;p27"/>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1064" name="Google Shape;1064;p27"/>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1065" name="Google Shape;1065;p27"/>
          <p:cNvGrpSpPr/>
          <p:nvPr/>
        </p:nvGrpSpPr>
        <p:grpSpPr>
          <a:xfrm>
            <a:off x="7858461" y="2912734"/>
            <a:ext cx="2309812" cy="1184275"/>
            <a:chOff x="7858461" y="2912734"/>
            <a:chExt cx="2309812" cy="1184275"/>
          </a:xfrm>
        </p:grpSpPr>
        <p:sp>
          <p:nvSpPr>
            <p:cNvPr id="1066" name="Google Shape;1066;p27"/>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67" name="Google Shape;1067;p27"/>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068" name="Google Shape;1068;p27"/>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1069" name="Google Shape;1069;p27"/>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1070" name="Google Shape;1070;p27"/>
          <p:cNvGrpSpPr/>
          <p:nvPr/>
        </p:nvGrpSpPr>
        <p:grpSpPr>
          <a:xfrm>
            <a:off x="2638761" y="2944484"/>
            <a:ext cx="1943100" cy="1254125"/>
            <a:chOff x="2638761" y="2944484"/>
            <a:chExt cx="1943100" cy="1254125"/>
          </a:xfrm>
        </p:grpSpPr>
        <p:sp>
          <p:nvSpPr>
            <p:cNvPr id="1071" name="Google Shape;1071;p27"/>
            <p:cNvSpPr/>
            <p:nvPr/>
          </p:nvSpPr>
          <p:spPr>
            <a:xfrm flipH="1" rot="5400000">
              <a:off x="3879392" y="3496140"/>
              <a:ext cx="1254125" cy="150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72" name="Google Shape;1072;p27"/>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073" name="Google Shape;1073;p27"/>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1074" name="Google Shape;1074;p27"/>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1075" name="Google Shape;1075;p27"/>
          <p:cNvGrpSpPr/>
          <p:nvPr/>
        </p:nvGrpSpPr>
        <p:grpSpPr>
          <a:xfrm>
            <a:off x="7977523" y="2372984"/>
            <a:ext cx="2447925" cy="741363"/>
            <a:chOff x="7977523" y="2372984"/>
            <a:chExt cx="2447925" cy="741363"/>
          </a:xfrm>
        </p:grpSpPr>
        <p:sp>
          <p:nvSpPr>
            <p:cNvPr id="1076" name="Google Shape;1076;p27"/>
            <p:cNvSpPr/>
            <p:nvPr/>
          </p:nvSpPr>
          <p:spPr>
            <a:xfrm>
              <a:off x="7977523" y="2431722"/>
              <a:ext cx="461963" cy="682625"/>
            </a:xfrm>
            <a:custGeom>
              <a:rect b="b" l="l" r="r" t="t"/>
              <a:pathLst>
                <a:path extrusionOk="0" h="430" w="291">
                  <a:moveTo>
                    <a:pt x="0" y="120"/>
                  </a:moveTo>
                  <a:cubicBezTo>
                    <a:pt x="291" y="0"/>
                    <a:pt x="259" y="430"/>
                    <a:pt x="15" y="2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77" name="Google Shape;1077;p27"/>
            <p:cNvSpPr txBox="1"/>
            <p:nvPr/>
          </p:nvSpPr>
          <p:spPr>
            <a:xfrm>
              <a:off x="8309311" y="2609522"/>
              <a:ext cx="21161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078" name="Google Shape;1078;p27"/>
            <p:cNvSpPr txBox="1"/>
            <p:nvPr/>
          </p:nvSpPr>
          <p:spPr>
            <a:xfrm>
              <a:off x="8331536" y="2372984"/>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1079" name="Google Shape;1079;p27"/>
            <p:cNvCxnSpPr/>
            <p:nvPr/>
          </p:nvCxnSpPr>
          <p:spPr>
            <a:xfrm>
              <a:off x="8420436" y="2626984"/>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1080" name="Google Shape;1080;p27"/>
          <p:cNvGrpSpPr/>
          <p:nvPr/>
        </p:nvGrpSpPr>
        <p:grpSpPr>
          <a:xfrm>
            <a:off x="4157998" y="2228522"/>
            <a:ext cx="1189038" cy="850900"/>
            <a:chOff x="4090" y="3230"/>
            <a:chExt cx="749" cy="536"/>
          </a:xfrm>
        </p:grpSpPr>
        <p:sp>
          <p:nvSpPr>
            <p:cNvPr id="1081" name="Google Shape;1081;p27"/>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082" name="Google Shape;1082;p27"/>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083" name="Google Shape;1083;p27"/>
          <p:cNvGrpSpPr/>
          <p:nvPr/>
        </p:nvGrpSpPr>
        <p:grpSpPr>
          <a:xfrm>
            <a:off x="4369136" y="4082722"/>
            <a:ext cx="889000" cy="865187"/>
            <a:chOff x="445" y="1273"/>
            <a:chExt cx="560" cy="545"/>
          </a:xfrm>
        </p:grpSpPr>
        <p:sp>
          <p:nvSpPr>
            <p:cNvPr id="1084" name="Google Shape;1084;p27"/>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085" name="Google Shape;1085;p27"/>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grpSp>
        <p:nvGrpSpPr>
          <p:cNvPr id="1086" name="Google Shape;1086;p27"/>
          <p:cNvGrpSpPr/>
          <p:nvPr/>
        </p:nvGrpSpPr>
        <p:grpSpPr>
          <a:xfrm>
            <a:off x="8164848" y="4466897"/>
            <a:ext cx="1760538" cy="890587"/>
            <a:chOff x="8164848" y="4466897"/>
            <a:chExt cx="1760538" cy="890587"/>
          </a:xfrm>
        </p:grpSpPr>
        <p:sp>
          <p:nvSpPr>
            <p:cNvPr id="1087" name="Google Shape;1087;p27"/>
            <p:cNvSpPr/>
            <p:nvPr/>
          </p:nvSpPr>
          <p:spPr>
            <a:xfrm>
              <a:off x="8164848" y="44668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88" name="Google Shape;1088;p27"/>
            <p:cNvSpPr txBox="1"/>
            <p:nvPr/>
          </p:nvSpPr>
          <p:spPr>
            <a:xfrm>
              <a:off x="8963361" y="4946322"/>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1089" name="Google Shape;1089;p27"/>
            <p:cNvSpPr txBox="1"/>
            <p:nvPr/>
          </p:nvSpPr>
          <p:spPr>
            <a:xfrm>
              <a:off x="8496636" y="4697084"/>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1090" name="Google Shape;1090;p27"/>
            <p:cNvCxnSpPr/>
            <p:nvPr/>
          </p:nvCxnSpPr>
          <p:spPr>
            <a:xfrm>
              <a:off x="8583948" y="4982834"/>
              <a:ext cx="1101725" cy="0"/>
            </a:xfrm>
            <a:prstGeom prst="straightConnector1">
              <a:avLst/>
            </a:prstGeom>
            <a:noFill/>
            <a:ln cap="flat" cmpd="sng" w="28575">
              <a:solidFill>
                <a:srgbClr val="000000"/>
              </a:solidFill>
              <a:prstDash val="solid"/>
              <a:round/>
              <a:headEnd len="med" w="med" type="none"/>
              <a:tailEnd len="med" w="med" type="none"/>
            </a:ln>
          </p:spPr>
        </p:cxnSp>
      </p:grpSp>
      <p:grpSp>
        <p:nvGrpSpPr>
          <p:cNvPr id="1091" name="Google Shape;1091;p27"/>
          <p:cNvGrpSpPr/>
          <p:nvPr/>
        </p:nvGrpSpPr>
        <p:grpSpPr>
          <a:xfrm>
            <a:off x="7807661" y="1290309"/>
            <a:ext cx="2117725" cy="1144588"/>
            <a:chOff x="7807661" y="1290309"/>
            <a:chExt cx="2117725" cy="1144588"/>
          </a:xfrm>
        </p:grpSpPr>
        <p:sp>
          <p:nvSpPr>
            <p:cNvPr id="1092" name="Google Shape;1092;p27"/>
            <p:cNvSpPr/>
            <p:nvPr/>
          </p:nvSpPr>
          <p:spPr>
            <a:xfrm>
              <a:off x="7807661" y="1768147"/>
              <a:ext cx="871537" cy="666750"/>
            </a:xfrm>
            <a:custGeom>
              <a:rect b="b" l="l" r="r" t="t"/>
              <a:pathLst>
                <a:path extrusionOk="0" h="420" w="549">
                  <a:moveTo>
                    <a:pt x="0" y="306"/>
                  </a:moveTo>
                  <a:cubicBezTo>
                    <a:pt x="78" y="0"/>
                    <a:pt x="549" y="315"/>
                    <a:pt x="87" y="42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093" name="Google Shape;1093;p27"/>
            <p:cNvSpPr txBox="1"/>
            <p:nvPr/>
          </p:nvSpPr>
          <p:spPr>
            <a:xfrm>
              <a:off x="8220411" y="1290309"/>
              <a:ext cx="17049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isACK(rcvpkt,1) )</a:t>
              </a:r>
              <a:endParaRPr b="0" i="0" sz="1400" u="none" cap="none" strike="noStrike">
                <a:solidFill>
                  <a:srgbClr val="000000"/>
                </a:solidFill>
                <a:latin typeface="Times New Roman"/>
                <a:ea typeface="Times New Roman"/>
                <a:cs typeface="Times New Roman"/>
                <a:sym typeface="Times New Roman"/>
              </a:endParaRPr>
            </a:p>
          </p:txBody>
        </p:sp>
        <p:cxnSp>
          <p:nvCxnSpPr>
            <p:cNvPr id="1094" name="Google Shape;1094;p27"/>
            <p:cNvCxnSpPr/>
            <p:nvPr/>
          </p:nvCxnSpPr>
          <p:spPr>
            <a:xfrm>
              <a:off x="8429961" y="1991984"/>
              <a:ext cx="1350962" cy="0"/>
            </a:xfrm>
            <a:prstGeom prst="straightConnector1">
              <a:avLst/>
            </a:prstGeom>
            <a:noFill/>
            <a:ln cap="flat" cmpd="sng" w="28575">
              <a:solidFill>
                <a:srgbClr val="000000"/>
              </a:solidFill>
              <a:prstDash val="solid"/>
              <a:round/>
              <a:headEnd len="med" w="med" type="none"/>
              <a:tailEnd len="med" w="med" type="none"/>
            </a:ln>
          </p:spPr>
        </p:cxnSp>
        <p:sp>
          <p:nvSpPr>
            <p:cNvPr id="1095" name="Google Shape;1095;p27"/>
            <p:cNvSpPr txBox="1"/>
            <p:nvPr/>
          </p:nvSpPr>
          <p:spPr>
            <a:xfrm>
              <a:off x="8866523" y="1941184"/>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1096" name="Google Shape;1096;p27"/>
          <p:cNvGrpSpPr/>
          <p:nvPr/>
        </p:nvGrpSpPr>
        <p:grpSpPr>
          <a:xfrm>
            <a:off x="2775286" y="1876097"/>
            <a:ext cx="1549400" cy="890587"/>
            <a:chOff x="2775286" y="1876097"/>
            <a:chExt cx="1549400" cy="890587"/>
          </a:xfrm>
        </p:grpSpPr>
        <p:sp>
          <p:nvSpPr>
            <p:cNvPr id="1097" name="Google Shape;1097;p27"/>
            <p:cNvSpPr txBox="1"/>
            <p:nvPr/>
          </p:nvSpPr>
          <p:spPr>
            <a:xfrm>
              <a:off x="2775286" y="1968172"/>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1098" name="Google Shape;1098;p27"/>
            <p:cNvCxnSpPr/>
            <p:nvPr/>
          </p:nvCxnSpPr>
          <p:spPr>
            <a:xfrm>
              <a:off x="2862598" y="2253922"/>
              <a:ext cx="1101725" cy="0"/>
            </a:xfrm>
            <a:prstGeom prst="straightConnector1">
              <a:avLst/>
            </a:prstGeom>
            <a:noFill/>
            <a:ln cap="flat" cmpd="sng" w="28575">
              <a:solidFill>
                <a:srgbClr val="000000"/>
              </a:solidFill>
              <a:prstDash val="solid"/>
              <a:round/>
              <a:headEnd len="med" w="med" type="none"/>
              <a:tailEnd len="med" w="med" type="none"/>
            </a:ln>
          </p:spPr>
        </p:cxnSp>
        <p:sp>
          <p:nvSpPr>
            <p:cNvPr id="1099" name="Google Shape;1099;p27"/>
            <p:cNvSpPr/>
            <p:nvPr/>
          </p:nvSpPr>
          <p:spPr>
            <a:xfrm rot="10800000">
              <a:off x="3745248" y="18760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00" name="Google Shape;1100;p27"/>
            <p:cNvSpPr txBox="1"/>
            <p:nvPr/>
          </p:nvSpPr>
          <p:spPr>
            <a:xfrm>
              <a:off x="3215023" y="22174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1101" name="Google Shape;1101;p27"/>
          <p:cNvGrpSpPr/>
          <p:nvPr/>
        </p:nvGrpSpPr>
        <p:grpSpPr>
          <a:xfrm>
            <a:off x="2367298" y="4307189"/>
            <a:ext cx="2293938" cy="1917070"/>
            <a:chOff x="2367298" y="4307189"/>
            <a:chExt cx="2293938" cy="1917070"/>
          </a:xfrm>
        </p:grpSpPr>
        <p:sp>
          <p:nvSpPr>
            <p:cNvPr id="1102" name="Google Shape;1102;p27"/>
            <p:cNvSpPr txBox="1"/>
            <p:nvPr/>
          </p:nvSpPr>
          <p:spPr>
            <a:xfrm>
              <a:off x="3029286" y="5155872"/>
              <a:ext cx="162242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isACK(rcvpkt,0) )</a:t>
              </a:r>
              <a:endParaRPr b="0" i="0" sz="1400" u="none" cap="none" strike="noStrike">
                <a:solidFill>
                  <a:srgbClr val="000000"/>
                </a:solidFill>
                <a:latin typeface="Times New Roman"/>
                <a:ea typeface="Times New Roman"/>
                <a:cs typeface="Times New Roman"/>
                <a:sym typeface="Times New Roman"/>
              </a:endParaRPr>
            </a:p>
          </p:txBody>
        </p:sp>
        <p:cxnSp>
          <p:nvCxnSpPr>
            <p:cNvPr id="1103" name="Google Shape;1103;p27"/>
            <p:cNvCxnSpPr/>
            <p:nvPr/>
          </p:nvCxnSpPr>
          <p:spPr>
            <a:xfrm>
              <a:off x="3132473" y="5881359"/>
              <a:ext cx="1254125" cy="0"/>
            </a:xfrm>
            <a:prstGeom prst="straightConnector1">
              <a:avLst/>
            </a:prstGeom>
            <a:noFill/>
            <a:ln cap="flat" cmpd="sng" w="28575">
              <a:solidFill>
                <a:srgbClr val="000000"/>
              </a:solidFill>
              <a:prstDash val="solid"/>
              <a:round/>
              <a:headEnd len="med" w="med" type="none"/>
              <a:tailEnd len="med" w="med" type="none"/>
            </a:ln>
          </p:spPr>
        </p:cxnSp>
        <p:sp>
          <p:nvSpPr>
            <p:cNvPr id="1104" name="Google Shape;1104;p27"/>
            <p:cNvSpPr/>
            <p:nvPr/>
          </p:nvSpPr>
          <p:spPr>
            <a:xfrm>
              <a:off x="3969086" y="4795509"/>
              <a:ext cx="692150" cy="631825"/>
            </a:xfrm>
            <a:custGeom>
              <a:rect b="b" l="l" r="r" t="t"/>
              <a:pathLst>
                <a:path extrusionOk="0" h="398" w="436">
                  <a:moveTo>
                    <a:pt x="436" y="101"/>
                  </a:moveTo>
                  <a:cubicBezTo>
                    <a:pt x="367" y="398"/>
                    <a:pt x="0" y="31"/>
                    <a:pt x="30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05" name="Google Shape;1105;p27"/>
            <p:cNvSpPr/>
            <p:nvPr/>
          </p:nvSpPr>
          <p:spPr>
            <a:xfrm>
              <a:off x="3769061" y="4506584"/>
              <a:ext cx="571500" cy="420688"/>
            </a:xfrm>
            <a:custGeom>
              <a:rect b="b" l="l" r="r" t="t"/>
              <a:pathLst>
                <a:path extrusionOk="0" h="662" w="900">
                  <a:moveTo>
                    <a:pt x="900" y="360"/>
                  </a:moveTo>
                  <a:cubicBezTo>
                    <a:pt x="171" y="662"/>
                    <a:pt x="0" y="0"/>
                    <a:pt x="825" y="1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106" name="Google Shape;1106;p27"/>
            <p:cNvSpPr txBox="1"/>
            <p:nvPr/>
          </p:nvSpPr>
          <p:spPr>
            <a:xfrm>
              <a:off x="2367298" y="4554209"/>
              <a:ext cx="18240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107" name="Google Shape;1107;p27"/>
            <p:cNvSpPr txBox="1"/>
            <p:nvPr/>
          </p:nvSpPr>
          <p:spPr>
            <a:xfrm>
              <a:off x="2381586" y="4307189"/>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1108" name="Google Shape;1108;p27"/>
            <p:cNvCxnSpPr/>
            <p:nvPr/>
          </p:nvCxnSpPr>
          <p:spPr>
            <a:xfrm>
              <a:off x="2484773" y="4582784"/>
              <a:ext cx="990600" cy="0"/>
            </a:xfrm>
            <a:prstGeom prst="straightConnector1">
              <a:avLst/>
            </a:prstGeom>
            <a:noFill/>
            <a:ln cap="flat" cmpd="sng" w="28575">
              <a:solidFill>
                <a:srgbClr val="000000"/>
              </a:solidFill>
              <a:prstDash val="solid"/>
              <a:round/>
              <a:headEnd len="med" w="med" type="none"/>
              <a:tailEnd len="med" w="med" type="none"/>
            </a:ln>
          </p:spPr>
        </p:cxnSp>
        <p:sp>
          <p:nvSpPr>
            <p:cNvPr id="1109" name="Google Shape;1109;p27"/>
            <p:cNvSpPr txBox="1"/>
            <p:nvPr/>
          </p:nvSpPr>
          <p:spPr>
            <a:xfrm>
              <a:off x="3618248" y="58877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500"/>
                                        <p:tgtEl>
                                          <p:spTgt spid="1052"/>
                                        </p:tgtEl>
                                      </p:cBhvr>
                                    </p:animEffect>
                                  </p:childTnLst>
                                </p:cTn>
                              </p:par>
                              <p:par>
                                <p:cTn fill="hold" nodeType="with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500"/>
                                        <p:tgtEl>
                                          <p:spTgt spid="10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5"/>
                                        </p:tgtEl>
                                        <p:attrNameLst>
                                          <p:attrName>style.visibility</p:attrName>
                                        </p:attrNameLst>
                                      </p:cBhvr>
                                      <p:to>
                                        <p:strVal val="visible"/>
                                      </p:to>
                                    </p:set>
                                    <p:animEffect filter="fade" transition="in">
                                      <p:cBhvr>
                                        <p:cTn dur="500"/>
                                        <p:tgtEl>
                                          <p:spTgt spid="1065"/>
                                        </p:tgtEl>
                                      </p:cBhvr>
                                    </p:animEffect>
                                  </p:childTnLst>
                                </p:cTn>
                              </p:par>
                              <p:par>
                                <p:cTn fill="hold" nodeType="with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500"/>
                                        <p:tgtEl>
                                          <p:spTgt spid="10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gtEl>
                                        <p:attrNameLst>
                                          <p:attrName>style.visibility</p:attrName>
                                        </p:attrNameLst>
                                      </p:cBhvr>
                                      <p:to>
                                        <p:strVal val="visible"/>
                                      </p:to>
                                    </p:set>
                                    <p:animEffect filter="fade" transition="in">
                                      <p:cBhvr>
                                        <p:cTn dur="500"/>
                                        <p:tgtEl>
                                          <p:spTgt spid="1060"/>
                                        </p:tgtEl>
                                      </p:cBhvr>
                                    </p:animEffect>
                                  </p:childTnLst>
                                </p:cTn>
                              </p:par>
                              <p:par>
                                <p:cTn fill="hold" nodeType="with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500"/>
                                        <p:tgtEl>
                                          <p:spTgt spid="10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500"/>
                                        <p:tgtEl>
                                          <p:spTgt spid="1070"/>
                                        </p:tgtEl>
                                      </p:cBhvr>
                                    </p:animEffect>
                                  </p:childTnLst>
                                </p:cTn>
                              </p:par>
                              <p:par>
                                <p:cTn fill="hold" nodeType="with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500"/>
                                        <p:tgtEl>
                                          <p:spTgt spid="10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1"/>
                                        </p:tgtEl>
                                        <p:attrNameLst>
                                          <p:attrName>style.visibility</p:attrName>
                                        </p:attrNameLst>
                                      </p:cBhvr>
                                      <p:to>
                                        <p:strVal val="visible"/>
                                      </p:to>
                                    </p:set>
                                    <p:animEffect filter="fade" transition="in">
                                      <p:cBhvr>
                                        <p:cTn dur="500"/>
                                        <p:tgtEl>
                                          <p:spTgt spid="1091"/>
                                        </p:tgtEl>
                                      </p:cBhvr>
                                    </p:animEffect>
                                  </p:childTnLst>
                                </p:cTn>
                              </p:par>
                              <p:par>
                                <p:cTn fill="hold" nodeType="with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500"/>
                                        <p:tgtEl>
                                          <p:spTgt spid="1075"/>
                                        </p:tgtEl>
                                      </p:cBhvr>
                                    </p:animEffect>
                                  </p:childTnLst>
                                </p:cTn>
                              </p:par>
                              <p:par>
                                <p:cTn fill="hold" nodeType="with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500"/>
                                        <p:tgtEl>
                                          <p:spTgt spid="1041"/>
                                        </p:tgtEl>
                                      </p:cBhvr>
                                    </p:animEffect>
                                  </p:childTnLst>
                                </p:cTn>
                              </p:par>
                              <p:par>
                                <p:cTn fill="hold" nodeType="with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500"/>
                                        <p:tgtEl>
                                          <p:spTgt spid="10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6"/>
                                        </p:tgtEl>
                                        <p:attrNameLst>
                                          <p:attrName>style.visibility</p:attrName>
                                        </p:attrNameLst>
                                      </p:cBhvr>
                                      <p:to>
                                        <p:strVal val="visible"/>
                                      </p:to>
                                    </p:set>
                                    <p:animEffect filter="fade" transition="in">
                                      <p:cBhvr>
                                        <p:cTn dur="500"/>
                                        <p:tgtEl>
                                          <p:spTgt spid="10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500"/>
                                        <p:tgtEl>
                                          <p:spTgt spid="1101"/>
                                        </p:tgtEl>
                                      </p:cBhvr>
                                    </p:animEffect>
                                  </p:childTnLst>
                                </p:cTn>
                              </p:par>
                              <p:par>
                                <p:cTn fill="hold" nodeType="with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500"/>
                                        <p:tgtEl>
                                          <p:spTgt spid="1039"/>
                                        </p:tgtEl>
                                      </p:cBhvr>
                                    </p:animEffect>
                                  </p:childTnLst>
                                </p:cTn>
                              </p:par>
                              <p:par>
                                <p:cTn fill="hold" nodeType="with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500"/>
                                        <p:tgtEl>
                                          <p:spTgt spid="10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gtEl>
                                        <p:attrNameLst>
                                          <p:attrName>style.visibility</p:attrName>
                                        </p:attrNameLst>
                                      </p:cBhvr>
                                      <p:to>
                                        <p:strVal val="visible"/>
                                      </p:to>
                                    </p:set>
                                    <p:animEffect filter="fade" transition="in">
                                      <p:cBhvr>
                                        <p:cTn dur="500"/>
                                        <p:tgtEl>
                                          <p:spTgt spid="10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2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1116" name="Google Shape;1116;p28"/>
          <p:cNvSpPr txBox="1"/>
          <p:nvPr/>
        </p:nvSpPr>
        <p:spPr>
          <a:xfrm>
            <a:off x="1363148" y="15124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117" name="Google Shape;1117;p28"/>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118" name="Google Shape;1118;p28"/>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119" name="Google Shape;1119;p28"/>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120" name="Google Shape;1120;p28"/>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121" name="Google Shape;1121;p28"/>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122" name="Google Shape;1122;p28"/>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123" name="Google Shape;1123;p28"/>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124" name="Google Shape;1124;p28"/>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125" name="Google Shape;1125;p28"/>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126" name="Google Shape;1126;p28"/>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1127" name="Google Shape;1127;p28"/>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128" name="Google Shape;1128;p28"/>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129" name="Google Shape;1129;p28"/>
          <p:cNvGrpSpPr/>
          <p:nvPr/>
        </p:nvGrpSpPr>
        <p:grpSpPr>
          <a:xfrm>
            <a:off x="2341048" y="2022075"/>
            <a:ext cx="1471613" cy="512762"/>
            <a:chOff x="850" y="1159"/>
            <a:chExt cx="927" cy="323"/>
          </a:xfrm>
        </p:grpSpPr>
        <p:cxnSp>
          <p:nvCxnSpPr>
            <p:cNvPr id="1130" name="Google Shape;1130;p2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131" name="Google Shape;1131;p28"/>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132" name="Google Shape;1132;p28"/>
          <p:cNvGrpSpPr/>
          <p:nvPr/>
        </p:nvGrpSpPr>
        <p:grpSpPr>
          <a:xfrm>
            <a:off x="2334698" y="3758800"/>
            <a:ext cx="1471613" cy="487362"/>
            <a:chOff x="846" y="2253"/>
            <a:chExt cx="927" cy="307"/>
          </a:xfrm>
        </p:grpSpPr>
        <p:cxnSp>
          <p:nvCxnSpPr>
            <p:cNvPr id="1133" name="Google Shape;1133;p28"/>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1134" name="Google Shape;1134;p28"/>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135" name="Google Shape;1135;p28"/>
          <p:cNvGrpSpPr/>
          <p:nvPr/>
        </p:nvGrpSpPr>
        <p:grpSpPr>
          <a:xfrm>
            <a:off x="2348986" y="2896787"/>
            <a:ext cx="1471612" cy="504825"/>
            <a:chOff x="855" y="1710"/>
            <a:chExt cx="927" cy="318"/>
          </a:xfrm>
        </p:grpSpPr>
        <p:cxnSp>
          <p:nvCxnSpPr>
            <p:cNvPr id="1136" name="Google Shape;1136;p2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137" name="Google Shape;1137;p28"/>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138" name="Google Shape;1138;p28"/>
          <p:cNvGrpSpPr/>
          <p:nvPr/>
        </p:nvGrpSpPr>
        <p:grpSpPr>
          <a:xfrm>
            <a:off x="2334698" y="3361925"/>
            <a:ext cx="1471613" cy="471487"/>
            <a:chOff x="846" y="2003"/>
            <a:chExt cx="927" cy="297"/>
          </a:xfrm>
        </p:grpSpPr>
        <p:cxnSp>
          <p:nvCxnSpPr>
            <p:cNvPr id="1139" name="Google Shape;1139;p28"/>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1140" name="Google Shape;1140;p28"/>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1141" name="Google Shape;1141;p28"/>
          <p:cNvGrpSpPr/>
          <p:nvPr/>
        </p:nvGrpSpPr>
        <p:grpSpPr>
          <a:xfrm>
            <a:off x="2326761" y="2522137"/>
            <a:ext cx="1471612" cy="455613"/>
            <a:chOff x="841" y="1474"/>
            <a:chExt cx="927" cy="287"/>
          </a:xfrm>
        </p:grpSpPr>
        <p:cxnSp>
          <p:nvCxnSpPr>
            <p:cNvPr id="1142" name="Google Shape;1142;p28"/>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143" name="Google Shape;1143;p28"/>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144" name="Google Shape;1144;p28"/>
          <p:cNvGrpSpPr/>
          <p:nvPr/>
        </p:nvGrpSpPr>
        <p:grpSpPr>
          <a:xfrm>
            <a:off x="2320411" y="4214412"/>
            <a:ext cx="1471612" cy="461963"/>
            <a:chOff x="837" y="2540"/>
            <a:chExt cx="927" cy="291"/>
          </a:xfrm>
        </p:grpSpPr>
        <p:cxnSp>
          <p:nvCxnSpPr>
            <p:cNvPr id="1145" name="Google Shape;1145;p28"/>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146" name="Google Shape;1146;p28"/>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1147" name="Google Shape;1147;p28"/>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1148" name="Google Shape;1148;p28"/>
          <p:cNvSpPr txBox="1"/>
          <p:nvPr/>
        </p:nvSpPr>
        <p:spPr>
          <a:xfrm>
            <a:off x="7079959" y="14616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149" name="Google Shape;1149;p28"/>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150" name="Google Shape;1150;p28"/>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151" name="Google Shape;1151;p28"/>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152" name="Google Shape;1152;p28"/>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153" name="Google Shape;1153;p28"/>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154" name="Google Shape;1154;p28"/>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155" name="Google Shape;1155;p28"/>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156" name="Google Shape;1156;p28"/>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157" name="Google Shape;1157;p28"/>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158" name="Google Shape;1158;p28"/>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1159" name="Google Shape;1159;p28"/>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160" name="Google Shape;1160;p28"/>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161" name="Google Shape;1161;p28"/>
          <p:cNvGrpSpPr/>
          <p:nvPr/>
        </p:nvGrpSpPr>
        <p:grpSpPr>
          <a:xfrm>
            <a:off x="8057859" y="1971275"/>
            <a:ext cx="1471612" cy="512762"/>
            <a:chOff x="850" y="1159"/>
            <a:chExt cx="927" cy="323"/>
          </a:xfrm>
        </p:grpSpPr>
        <p:cxnSp>
          <p:nvCxnSpPr>
            <p:cNvPr id="1162" name="Google Shape;1162;p28"/>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163" name="Google Shape;1163;p28"/>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164" name="Google Shape;1164;p28"/>
          <p:cNvGrpSpPr/>
          <p:nvPr/>
        </p:nvGrpSpPr>
        <p:grpSpPr>
          <a:xfrm>
            <a:off x="8051509" y="4985937"/>
            <a:ext cx="1471612" cy="487363"/>
            <a:chOff x="846" y="2253"/>
            <a:chExt cx="927" cy="307"/>
          </a:xfrm>
        </p:grpSpPr>
        <p:cxnSp>
          <p:nvCxnSpPr>
            <p:cNvPr id="1165" name="Google Shape;1165;p28"/>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1166" name="Google Shape;1166;p28"/>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167" name="Google Shape;1167;p28"/>
          <p:cNvGrpSpPr/>
          <p:nvPr/>
        </p:nvGrpSpPr>
        <p:grpSpPr>
          <a:xfrm>
            <a:off x="8051509" y="4589062"/>
            <a:ext cx="1471612" cy="471488"/>
            <a:chOff x="846" y="2003"/>
            <a:chExt cx="927" cy="297"/>
          </a:xfrm>
        </p:grpSpPr>
        <p:cxnSp>
          <p:nvCxnSpPr>
            <p:cNvPr id="1168" name="Google Shape;1168;p28"/>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1169" name="Google Shape;1169;p28"/>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1170" name="Google Shape;1170;p28"/>
          <p:cNvGrpSpPr/>
          <p:nvPr/>
        </p:nvGrpSpPr>
        <p:grpSpPr>
          <a:xfrm>
            <a:off x="8043571" y="2471337"/>
            <a:ext cx="1471613" cy="455613"/>
            <a:chOff x="841" y="1474"/>
            <a:chExt cx="927" cy="287"/>
          </a:xfrm>
        </p:grpSpPr>
        <p:cxnSp>
          <p:nvCxnSpPr>
            <p:cNvPr id="1171" name="Google Shape;1171;p28"/>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172" name="Google Shape;1172;p28"/>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173" name="Google Shape;1173;p28"/>
          <p:cNvGrpSpPr/>
          <p:nvPr/>
        </p:nvGrpSpPr>
        <p:grpSpPr>
          <a:xfrm>
            <a:off x="8037221" y="5436787"/>
            <a:ext cx="1471613" cy="466725"/>
            <a:chOff x="837" y="2537"/>
            <a:chExt cx="927" cy="294"/>
          </a:xfrm>
        </p:grpSpPr>
        <p:cxnSp>
          <p:nvCxnSpPr>
            <p:cNvPr id="1174" name="Google Shape;1174;p28"/>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175" name="Google Shape;1175;p28"/>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1176" name="Google Shape;1176;p28"/>
          <p:cNvSpPr txBox="1"/>
          <p:nvPr/>
        </p:nvSpPr>
        <p:spPr>
          <a:xfrm>
            <a:off x="8130884" y="6154337"/>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1177" name="Google Shape;1177;p28"/>
          <p:cNvGrpSpPr/>
          <p:nvPr/>
        </p:nvGrpSpPr>
        <p:grpSpPr>
          <a:xfrm>
            <a:off x="8065796" y="2845987"/>
            <a:ext cx="1157288" cy="738188"/>
            <a:chOff x="3726" y="1687"/>
            <a:chExt cx="729" cy="465"/>
          </a:xfrm>
        </p:grpSpPr>
        <p:cxnSp>
          <p:nvCxnSpPr>
            <p:cNvPr id="1178" name="Google Shape;1178;p28"/>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1179" name="Google Shape;1179;p28"/>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1180" name="Google Shape;1180;p28"/>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1181" name="Google Shape;1181;p28"/>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1182" name="Google Shape;1182;p28"/>
          <p:cNvGrpSpPr/>
          <p:nvPr/>
        </p:nvGrpSpPr>
        <p:grpSpPr>
          <a:xfrm>
            <a:off x="7946734" y="3149200"/>
            <a:ext cx="122237" cy="1033462"/>
            <a:chOff x="3651" y="1878"/>
            <a:chExt cx="78" cy="963"/>
          </a:xfrm>
        </p:grpSpPr>
        <p:cxnSp>
          <p:nvCxnSpPr>
            <p:cNvPr id="1183" name="Google Shape;1183;p28"/>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1184" name="Google Shape;1184;p28"/>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1185" name="Google Shape;1185;p28"/>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1186" name="Google Shape;1186;p28"/>
          <p:cNvGrpSpPr/>
          <p:nvPr/>
        </p:nvGrpSpPr>
        <p:grpSpPr>
          <a:xfrm>
            <a:off x="8075321" y="4138212"/>
            <a:ext cx="1471613" cy="504825"/>
            <a:chOff x="855" y="1710"/>
            <a:chExt cx="927" cy="318"/>
          </a:xfrm>
        </p:grpSpPr>
        <p:cxnSp>
          <p:nvCxnSpPr>
            <p:cNvPr id="1187" name="Google Shape;1187;p28"/>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188" name="Google Shape;1188;p28"/>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189" name="Google Shape;1189;p28"/>
          <p:cNvGrpSpPr/>
          <p:nvPr/>
        </p:nvGrpSpPr>
        <p:grpSpPr>
          <a:xfrm>
            <a:off x="6643396" y="3761975"/>
            <a:ext cx="1377950" cy="731837"/>
            <a:chOff x="2802" y="2348"/>
            <a:chExt cx="868" cy="461"/>
          </a:xfrm>
        </p:grpSpPr>
        <p:pic>
          <p:nvPicPr>
            <p:cNvPr descr="alarm_clock_ringing" id="1190" name="Google Shape;1190;p28"/>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1191" name="Google Shape;1191;p28"/>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9"/>
                                        </p:tgtEl>
                                        <p:attrNameLst>
                                          <p:attrName>style.visibility</p:attrName>
                                        </p:attrNameLst>
                                      </p:cBhvr>
                                      <p:to>
                                        <p:strVal val="visible"/>
                                      </p:to>
                                    </p:set>
                                    <p:animEffect filter="fade" transition="in">
                                      <p:cBhvr>
                                        <p:cTn dur="500"/>
                                        <p:tgtEl>
                                          <p:spTgt spid="112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28">
                                            <p:txEl>
                                              <p:pRg end="0" st="0"/>
                                            </p:txEl>
                                          </p:spTgt>
                                        </p:tgtEl>
                                        <p:attrNameLst>
                                          <p:attrName>style.visibility</p:attrName>
                                        </p:attrNameLst>
                                      </p:cBhvr>
                                      <p:to>
                                        <p:strVal val="visible"/>
                                      </p:to>
                                    </p:set>
                                    <p:animEffect filter="fade" transition="in">
                                      <p:cBhvr>
                                        <p:cTn dur="500"/>
                                        <p:tgtEl>
                                          <p:spTgt spid="11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0"/>
                                        </p:tgtEl>
                                        <p:attrNameLst>
                                          <p:attrName>style.visibility</p:attrName>
                                        </p:attrNameLst>
                                      </p:cBhvr>
                                      <p:to>
                                        <p:strVal val="visible"/>
                                      </p:to>
                                    </p:set>
                                    <p:animEffect filter="fade" transition="in">
                                      <p:cBhvr>
                                        <p:cTn dur="500"/>
                                        <p:tgtEl>
                                          <p:spTgt spid="112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41"/>
                                        </p:tgtEl>
                                        <p:attrNameLst>
                                          <p:attrName>style.visibility</p:attrName>
                                        </p:attrNameLst>
                                      </p:cBhvr>
                                      <p:to>
                                        <p:strVal val="visible"/>
                                      </p:to>
                                    </p:set>
                                    <p:animEffect filter="fade" transition="in">
                                      <p:cBhvr>
                                        <p:cTn dur="500"/>
                                        <p:tgtEl>
                                          <p:spTgt spid="11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23"/>
                                        </p:tgtEl>
                                        <p:attrNameLst>
                                          <p:attrName>style.visibility</p:attrName>
                                        </p:attrNameLst>
                                      </p:cBhvr>
                                      <p:to>
                                        <p:strVal val="visible"/>
                                      </p:to>
                                    </p:set>
                                    <p:animEffect filter="fade" transition="in">
                                      <p:cBhvr>
                                        <p:cTn dur="500"/>
                                        <p:tgtEl>
                                          <p:spTgt spid="1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5"/>
                                        </p:tgtEl>
                                        <p:attrNameLst>
                                          <p:attrName>style.visibility</p:attrName>
                                        </p:attrNameLst>
                                      </p:cBhvr>
                                      <p:to>
                                        <p:strVal val="visible"/>
                                      </p:to>
                                    </p:set>
                                    <p:animEffect filter="fade" transition="in">
                                      <p:cBhvr>
                                        <p:cTn dur="500"/>
                                        <p:tgtEl>
                                          <p:spTgt spid="11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35"/>
                                        </p:tgtEl>
                                        <p:attrNameLst>
                                          <p:attrName>style.visibility</p:attrName>
                                        </p:attrNameLst>
                                      </p:cBhvr>
                                      <p:to>
                                        <p:strVal val="visible"/>
                                      </p:to>
                                    </p:set>
                                    <p:animEffect filter="fade" transition="in">
                                      <p:cBhvr>
                                        <p:cTn dur="500"/>
                                        <p:tgtEl>
                                          <p:spTgt spid="11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18">
                                            <p:txEl>
                                              <p:pRg end="0" st="0"/>
                                            </p:txEl>
                                          </p:spTgt>
                                        </p:tgtEl>
                                        <p:attrNameLst>
                                          <p:attrName>style.visibility</p:attrName>
                                        </p:attrNameLst>
                                      </p:cBhvr>
                                      <p:to>
                                        <p:strVal val="visible"/>
                                      </p:to>
                                    </p:set>
                                    <p:animEffect filter="fade" transition="in">
                                      <p:cBhvr>
                                        <p:cTn dur="500"/>
                                        <p:tgtEl>
                                          <p:spTgt spid="1118">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21"/>
                                        </p:tgtEl>
                                        <p:attrNameLst>
                                          <p:attrName>style.visibility</p:attrName>
                                        </p:attrNameLst>
                                      </p:cBhvr>
                                      <p:to>
                                        <p:strVal val="visible"/>
                                      </p:to>
                                    </p:set>
                                    <p:animEffect filter="fade" transition="in">
                                      <p:cBhvr>
                                        <p:cTn dur="500"/>
                                        <p:tgtEl>
                                          <p:spTgt spid="11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38"/>
                                        </p:tgtEl>
                                        <p:attrNameLst>
                                          <p:attrName>style.visibility</p:attrName>
                                        </p:attrNameLst>
                                      </p:cBhvr>
                                      <p:to>
                                        <p:strVal val="visible"/>
                                      </p:to>
                                    </p:set>
                                    <p:animEffect filter="fade" transition="in">
                                      <p:cBhvr>
                                        <p:cTn dur="500"/>
                                        <p:tgtEl>
                                          <p:spTgt spid="113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26"/>
                                        </p:tgtEl>
                                        <p:attrNameLst>
                                          <p:attrName>style.visibility</p:attrName>
                                        </p:attrNameLst>
                                      </p:cBhvr>
                                      <p:to>
                                        <p:strVal val="visible"/>
                                      </p:to>
                                    </p:set>
                                    <p:animEffect filter="fade" transition="in">
                                      <p:cBhvr>
                                        <p:cTn dur="500"/>
                                        <p:tgtEl>
                                          <p:spTgt spid="112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24"/>
                                        </p:tgtEl>
                                        <p:attrNameLst>
                                          <p:attrName>style.visibility</p:attrName>
                                        </p:attrNameLst>
                                      </p:cBhvr>
                                      <p:to>
                                        <p:strVal val="visible"/>
                                      </p:to>
                                    </p:set>
                                    <p:animEffect filter="fade" transition="in">
                                      <p:cBhvr>
                                        <p:cTn dur="500"/>
                                        <p:tgtEl>
                                          <p:spTgt spid="112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32"/>
                                        </p:tgtEl>
                                        <p:attrNameLst>
                                          <p:attrName>style.visibility</p:attrName>
                                        </p:attrNameLst>
                                      </p:cBhvr>
                                      <p:to>
                                        <p:strVal val="visible"/>
                                      </p:to>
                                    </p:set>
                                    <p:animEffect filter="fade" transition="in">
                                      <p:cBhvr>
                                        <p:cTn dur="500"/>
                                        <p:tgtEl>
                                          <p:spTgt spid="113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19"/>
                                        </p:tgtEl>
                                        <p:attrNameLst>
                                          <p:attrName>style.visibility</p:attrName>
                                        </p:attrNameLst>
                                      </p:cBhvr>
                                      <p:to>
                                        <p:strVal val="visible"/>
                                      </p:to>
                                    </p:set>
                                    <p:animEffect filter="fade" transition="in">
                                      <p:cBhvr>
                                        <p:cTn dur="500"/>
                                        <p:tgtEl>
                                          <p:spTgt spid="111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22">
                                            <p:txEl>
                                              <p:pRg end="0" st="0"/>
                                            </p:txEl>
                                          </p:spTgt>
                                        </p:tgtEl>
                                        <p:attrNameLst>
                                          <p:attrName>style.visibility</p:attrName>
                                        </p:attrNameLst>
                                      </p:cBhvr>
                                      <p:to>
                                        <p:strVal val="visible"/>
                                      </p:to>
                                    </p:set>
                                    <p:animEffect filter="fade" transition="in">
                                      <p:cBhvr>
                                        <p:cTn dur="500"/>
                                        <p:tgtEl>
                                          <p:spTgt spid="1122">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144"/>
                                        </p:tgtEl>
                                        <p:attrNameLst>
                                          <p:attrName>style.visibility</p:attrName>
                                        </p:attrNameLst>
                                      </p:cBhvr>
                                      <p:to>
                                        <p:strVal val="visible"/>
                                      </p:to>
                                    </p:set>
                                    <p:animEffect filter="fade" transition="in">
                                      <p:cBhvr>
                                        <p:cTn dur="500"/>
                                        <p:tgtEl>
                                          <p:spTgt spid="1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500"/>
                                        <p:tgtEl>
                                          <p:spTgt spid="116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60">
                                            <p:txEl>
                                              <p:pRg end="0" st="0"/>
                                            </p:txEl>
                                          </p:spTgt>
                                        </p:tgtEl>
                                        <p:attrNameLst>
                                          <p:attrName>style.visibility</p:attrName>
                                        </p:attrNameLst>
                                      </p:cBhvr>
                                      <p:to>
                                        <p:strVal val="visible"/>
                                      </p:to>
                                    </p:set>
                                    <p:animEffect filter="fade" transition="in">
                                      <p:cBhvr>
                                        <p:cTn dur="500"/>
                                        <p:tgtEl>
                                          <p:spTgt spid="1160">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500"/>
                                        <p:tgtEl>
                                          <p:spTgt spid="115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500"/>
                                        <p:tgtEl>
                                          <p:spTgt spid="11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55"/>
                                        </p:tgtEl>
                                        <p:attrNameLst>
                                          <p:attrName>style.visibility</p:attrName>
                                        </p:attrNameLst>
                                      </p:cBhvr>
                                      <p:to>
                                        <p:strVal val="visible"/>
                                      </p:to>
                                    </p:set>
                                    <p:animEffect filter="fade" transition="in">
                                      <p:cBhvr>
                                        <p:cTn dur="500"/>
                                        <p:tgtEl>
                                          <p:spTgt spid="1155"/>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57"/>
                                        </p:tgtEl>
                                        <p:attrNameLst>
                                          <p:attrName>style.visibility</p:attrName>
                                        </p:attrNameLst>
                                      </p:cBhvr>
                                      <p:to>
                                        <p:strVal val="visible"/>
                                      </p:to>
                                    </p:set>
                                    <p:animEffect filter="fade" transition="in">
                                      <p:cBhvr>
                                        <p:cTn dur="500"/>
                                        <p:tgtEl>
                                          <p:spTgt spid="115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77"/>
                                        </p:tgtEl>
                                        <p:attrNameLst>
                                          <p:attrName>style.visibility</p:attrName>
                                        </p:attrNameLst>
                                      </p:cBhvr>
                                      <p:to>
                                        <p:strVal val="visible"/>
                                      </p:to>
                                    </p:set>
                                    <p:animEffect filter="fade" transition="in">
                                      <p:cBhvr>
                                        <p:cTn dur="500"/>
                                        <p:tgtEl>
                                          <p:spTgt spid="1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1000"/>
                                        <p:tgtEl>
                                          <p:spTgt spid="11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89"/>
                                        </p:tgtEl>
                                        <p:attrNameLst>
                                          <p:attrName>style.visibility</p:attrName>
                                        </p:attrNameLst>
                                      </p:cBhvr>
                                      <p:to>
                                        <p:strVal val="visible"/>
                                      </p:to>
                                    </p:set>
                                    <p:animEffect filter="fade" transition="in">
                                      <p:cBhvr>
                                        <p:cTn dur="500"/>
                                        <p:tgtEl>
                                          <p:spTgt spid="1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500"/>
                                        <p:tgtEl>
                                          <p:spTgt spid="118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50">
                                            <p:txEl>
                                              <p:pRg end="0" st="0"/>
                                            </p:txEl>
                                          </p:spTgt>
                                        </p:tgtEl>
                                        <p:attrNameLst>
                                          <p:attrName>style.visibility</p:attrName>
                                        </p:attrNameLst>
                                      </p:cBhvr>
                                      <p:to>
                                        <p:strVal val="visible"/>
                                      </p:to>
                                    </p:set>
                                    <p:animEffect filter="fade" transition="in">
                                      <p:cBhvr>
                                        <p:cTn dur="500"/>
                                        <p:tgtEl>
                                          <p:spTgt spid="1150">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500"/>
                                        <p:tgtEl>
                                          <p:spTgt spid="115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167"/>
                                        </p:tgtEl>
                                        <p:attrNameLst>
                                          <p:attrName>style.visibility</p:attrName>
                                        </p:attrNameLst>
                                      </p:cBhvr>
                                      <p:to>
                                        <p:strVal val="visible"/>
                                      </p:to>
                                    </p:set>
                                    <p:animEffect filter="fade" transition="in">
                                      <p:cBhvr>
                                        <p:cTn dur="500"/>
                                        <p:tgtEl>
                                          <p:spTgt spid="116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500"/>
                                        <p:tgtEl>
                                          <p:spTgt spid="115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156"/>
                                        </p:tgtEl>
                                        <p:attrNameLst>
                                          <p:attrName>style.visibility</p:attrName>
                                        </p:attrNameLst>
                                      </p:cBhvr>
                                      <p:to>
                                        <p:strVal val="visible"/>
                                      </p:to>
                                    </p:set>
                                    <p:animEffect filter="fade" transition="in">
                                      <p:cBhvr>
                                        <p:cTn dur="500"/>
                                        <p:tgtEl>
                                          <p:spTgt spid="115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500"/>
                                        <p:tgtEl>
                                          <p:spTgt spid="1164"/>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51"/>
                                        </p:tgtEl>
                                        <p:attrNameLst>
                                          <p:attrName>style.visibility</p:attrName>
                                        </p:attrNameLst>
                                      </p:cBhvr>
                                      <p:to>
                                        <p:strVal val="visible"/>
                                      </p:to>
                                    </p:set>
                                    <p:animEffect filter="fade" transition="in">
                                      <p:cBhvr>
                                        <p:cTn dur="500"/>
                                        <p:tgtEl>
                                          <p:spTgt spid="1151"/>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54">
                                            <p:txEl>
                                              <p:pRg end="0" st="0"/>
                                            </p:txEl>
                                          </p:spTgt>
                                        </p:tgtEl>
                                        <p:attrNameLst>
                                          <p:attrName>style.visibility</p:attrName>
                                        </p:attrNameLst>
                                      </p:cBhvr>
                                      <p:to>
                                        <p:strVal val="visible"/>
                                      </p:to>
                                    </p:set>
                                    <p:animEffect filter="fade" transition="in">
                                      <p:cBhvr>
                                        <p:cTn dur="500"/>
                                        <p:tgtEl>
                                          <p:spTgt spid="1154">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173"/>
                                        </p:tgtEl>
                                        <p:attrNameLst>
                                          <p:attrName>style.visibility</p:attrName>
                                        </p:attrNameLst>
                                      </p:cBhvr>
                                      <p:to>
                                        <p:strVal val="visible"/>
                                      </p:to>
                                    </p:set>
                                    <p:animEffect filter="fade" transition="in">
                                      <p:cBhvr>
                                        <p:cTn dur="500"/>
                                        <p:tgtEl>
                                          <p:spTgt spid="1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6" name="Shape 1196"/>
        <p:cNvGrpSpPr/>
        <p:nvPr/>
      </p:nvGrpSpPr>
      <p:grpSpPr>
        <a:xfrm>
          <a:off x="0" y="0"/>
          <a:ext cx="0" cy="0"/>
          <a:chOff x="0" y="0"/>
          <a:chExt cx="0" cy="0"/>
        </a:xfrm>
      </p:grpSpPr>
      <p:sp>
        <p:nvSpPr>
          <p:cNvPr id="1197" name="Google Shape;1197;p2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1198" name="Google Shape;1198;p29"/>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199" name="Google Shape;1199;p29"/>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200" name="Google Shape;1200;p29"/>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1201" name="Google Shape;1201;p29"/>
          <p:cNvGrpSpPr/>
          <p:nvPr/>
        </p:nvGrpSpPr>
        <p:grpSpPr>
          <a:xfrm>
            <a:off x="2340033" y="2889213"/>
            <a:ext cx="1471612" cy="504825"/>
            <a:chOff x="855" y="1710"/>
            <a:chExt cx="927" cy="318"/>
          </a:xfrm>
        </p:grpSpPr>
        <p:cxnSp>
          <p:nvCxnSpPr>
            <p:cNvPr id="1202" name="Google Shape;1202;p29"/>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03" name="Google Shape;1203;p29"/>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1204" name="Google Shape;1204;p29"/>
          <p:cNvSpPr txBox="1"/>
          <p:nvPr/>
        </p:nvSpPr>
        <p:spPr>
          <a:xfrm>
            <a:off x="1352608" y="1508088"/>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205" name="Google Shape;1205;p29"/>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206" name="Google Shape;1206;p29"/>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207" name="Google Shape;1207;p29"/>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208" name="Google Shape;1208;p29"/>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209" name="Google Shape;1209;p29"/>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210" name="Google Shape;1210;p29"/>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211" name="Google Shape;1211;p29"/>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212" name="Google Shape;1212;p29"/>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213" name="Google Shape;1213;p29"/>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214" name="Google Shape;1214;p29"/>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1215" name="Google Shape;1215;p29"/>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216" name="Google Shape;1216;p29"/>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217" name="Google Shape;1217;p29"/>
          <p:cNvGrpSpPr/>
          <p:nvPr/>
        </p:nvGrpSpPr>
        <p:grpSpPr>
          <a:xfrm>
            <a:off x="2330508" y="2017676"/>
            <a:ext cx="1471612" cy="512762"/>
            <a:chOff x="850" y="1159"/>
            <a:chExt cx="927" cy="323"/>
          </a:xfrm>
        </p:grpSpPr>
        <p:cxnSp>
          <p:nvCxnSpPr>
            <p:cNvPr id="1218" name="Google Shape;1218;p29"/>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19" name="Google Shape;1219;p29"/>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220" name="Google Shape;1220;p29"/>
          <p:cNvGrpSpPr/>
          <p:nvPr/>
        </p:nvGrpSpPr>
        <p:grpSpPr>
          <a:xfrm>
            <a:off x="2324158" y="5032338"/>
            <a:ext cx="1471612" cy="487363"/>
            <a:chOff x="846" y="2253"/>
            <a:chExt cx="927" cy="307"/>
          </a:xfrm>
        </p:grpSpPr>
        <p:cxnSp>
          <p:nvCxnSpPr>
            <p:cNvPr id="1221" name="Google Shape;1221;p29"/>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22" name="Google Shape;1222;p29"/>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223" name="Google Shape;1223;p29"/>
          <p:cNvGrpSpPr/>
          <p:nvPr/>
        </p:nvGrpSpPr>
        <p:grpSpPr>
          <a:xfrm>
            <a:off x="2324158" y="4635463"/>
            <a:ext cx="1471612" cy="471488"/>
            <a:chOff x="846" y="2003"/>
            <a:chExt cx="927" cy="297"/>
          </a:xfrm>
        </p:grpSpPr>
        <p:cxnSp>
          <p:nvCxnSpPr>
            <p:cNvPr id="1224" name="Google Shape;1224;p29"/>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1225" name="Google Shape;1225;p29"/>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1226" name="Google Shape;1226;p29"/>
          <p:cNvGrpSpPr/>
          <p:nvPr/>
        </p:nvGrpSpPr>
        <p:grpSpPr>
          <a:xfrm>
            <a:off x="2316220" y="2517738"/>
            <a:ext cx="1471613" cy="455613"/>
            <a:chOff x="841" y="1474"/>
            <a:chExt cx="927" cy="287"/>
          </a:xfrm>
        </p:grpSpPr>
        <p:cxnSp>
          <p:nvCxnSpPr>
            <p:cNvPr id="1227" name="Google Shape;1227;p29"/>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228" name="Google Shape;1228;p29"/>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229" name="Google Shape;1229;p29"/>
          <p:cNvGrpSpPr/>
          <p:nvPr/>
        </p:nvGrpSpPr>
        <p:grpSpPr>
          <a:xfrm>
            <a:off x="2309870" y="5487951"/>
            <a:ext cx="1471613" cy="461962"/>
            <a:chOff x="837" y="2540"/>
            <a:chExt cx="927" cy="291"/>
          </a:xfrm>
        </p:grpSpPr>
        <p:cxnSp>
          <p:nvCxnSpPr>
            <p:cNvPr id="1230" name="Google Shape;1230;p29"/>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231" name="Google Shape;1231;p29"/>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1232" name="Google Shape;1232;p29"/>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1233" name="Google Shape;1233;p29"/>
          <p:cNvGrpSpPr/>
          <p:nvPr/>
        </p:nvGrpSpPr>
        <p:grpSpPr>
          <a:xfrm>
            <a:off x="2595620" y="3289263"/>
            <a:ext cx="1212850" cy="719138"/>
            <a:chOff x="1324" y="1931"/>
            <a:chExt cx="764" cy="453"/>
          </a:xfrm>
        </p:grpSpPr>
        <p:cxnSp>
          <p:nvCxnSpPr>
            <p:cNvPr id="1234" name="Google Shape;1234;p29"/>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1235" name="Google Shape;1235;p29"/>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1236" name="Google Shape;1236;p29"/>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1237" name="Google Shape;1237;p29"/>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1238" name="Google Shape;1238;p29"/>
          <p:cNvGrpSpPr/>
          <p:nvPr/>
        </p:nvGrpSpPr>
        <p:grpSpPr>
          <a:xfrm>
            <a:off x="2219383" y="3195601"/>
            <a:ext cx="122237" cy="1033462"/>
            <a:chOff x="3651" y="1878"/>
            <a:chExt cx="78" cy="963"/>
          </a:xfrm>
        </p:grpSpPr>
        <p:cxnSp>
          <p:nvCxnSpPr>
            <p:cNvPr id="1239" name="Google Shape;1239;p29"/>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1240" name="Google Shape;1240;p29"/>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1241" name="Google Shape;1241;p29"/>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1242" name="Google Shape;1242;p29"/>
          <p:cNvGrpSpPr/>
          <p:nvPr/>
        </p:nvGrpSpPr>
        <p:grpSpPr>
          <a:xfrm>
            <a:off x="2347970" y="4184613"/>
            <a:ext cx="1471613" cy="504825"/>
            <a:chOff x="855" y="1710"/>
            <a:chExt cx="927" cy="318"/>
          </a:xfrm>
        </p:grpSpPr>
        <p:cxnSp>
          <p:nvCxnSpPr>
            <p:cNvPr id="1243" name="Google Shape;1243;p29"/>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44" name="Google Shape;1244;p29"/>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245" name="Google Shape;1245;p29"/>
          <p:cNvGrpSpPr/>
          <p:nvPr/>
        </p:nvGrpSpPr>
        <p:grpSpPr>
          <a:xfrm>
            <a:off x="916045" y="3808376"/>
            <a:ext cx="1377950" cy="731837"/>
            <a:chOff x="2802" y="2348"/>
            <a:chExt cx="868" cy="461"/>
          </a:xfrm>
        </p:grpSpPr>
        <p:pic>
          <p:nvPicPr>
            <p:cNvPr descr="alarm_clock_ringing" id="1246" name="Google Shape;1246;p29"/>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1247" name="Google Shape;1247;p29"/>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1248" name="Google Shape;1248;p29"/>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249" name="Google Shape;1249;p29"/>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250" name="Google Shape;1250;p29"/>
          <p:cNvSpPr txBox="1"/>
          <p:nvPr/>
        </p:nvSpPr>
        <p:spPr>
          <a:xfrm>
            <a:off x="9477933" y="412142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1251" name="Google Shape;1251;p29"/>
          <p:cNvGrpSpPr/>
          <p:nvPr/>
        </p:nvGrpSpPr>
        <p:grpSpPr>
          <a:xfrm>
            <a:off x="8023963" y="2417726"/>
            <a:ext cx="1471612" cy="504825"/>
            <a:chOff x="855" y="1710"/>
            <a:chExt cx="927" cy="318"/>
          </a:xfrm>
        </p:grpSpPr>
        <p:cxnSp>
          <p:nvCxnSpPr>
            <p:cNvPr id="1252" name="Google Shape;1252;p29"/>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53" name="Google Shape;1253;p29"/>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1254" name="Google Shape;1254;p29"/>
          <p:cNvSpPr txBox="1"/>
          <p:nvPr/>
        </p:nvSpPr>
        <p:spPr>
          <a:xfrm>
            <a:off x="7036538" y="1036601"/>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255" name="Google Shape;1255;p29"/>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256" name="Google Shape;1256;p29"/>
          <p:cNvSpPr txBox="1"/>
          <p:nvPr/>
        </p:nvSpPr>
        <p:spPr>
          <a:xfrm>
            <a:off x="9470175" y="381155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257" name="Google Shape;1257;p29"/>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258" name="Google Shape;1258;p29"/>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259" name="Google Shape;1259;p29"/>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260" name="Google Shape;1260;p29"/>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261" name="Google Shape;1261;p29"/>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262" name="Google Shape;1262;p29"/>
          <p:cNvGrpSpPr/>
          <p:nvPr/>
        </p:nvGrpSpPr>
        <p:grpSpPr>
          <a:xfrm>
            <a:off x="8014438" y="1546188"/>
            <a:ext cx="1471612" cy="512763"/>
            <a:chOff x="850" y="1159"/>
            <a:chExt cx="927" cy="323"/>
          </a:xfrm>
        </p:grpSpPr>
        <p:cxnSp>
          <p:nvCxnSpPr>
            <p:cNvPr id="1263" name="Google Shape;1263;p29"/>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64" name="Google Shape;1264;p29"/>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265" name="Google Shape;1265;p29"/>
          <p:cNvGrpSpPr/>
          <p:nvPr/>
        </p:nvGrpSpPr>
        <p:grpSpPr>
          <a:xfrm>
            <a:off x="8000150" y="2046251"/>
            <a:ext cx="1471613" cy="455612"/>
            <a:chOff x="841" y="1474"/>
            <a:chExt cx="927" cy="287"/>
          </a:xfrm>
        </p:grpSpPr>
        <p:cxnSp>
          <p:nvCxnSpPr>
            <p:cNvPr id="1266" name="Google Shape;1266;p29"/>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267" name="Google Shape;1267;p29"/>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1268" name="Google Shape;1268;p29"/>
          <p:cNvSpPr txBox="1"/>
          <p:nvPr/>
        </p:nvSpPr>
        <p:spPr>
          <a:xfrm>
            <a:off x="6965100" y="5988612"/>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1269" name="Google Shape;1269;p29"/>
          <p:cNvGrpSpPr/>
          <p:nvPr/>
        </p:nvGrpSpPr>
        <p:grpSpPr>
          <a:xfrm>
            <a:off x="7903313" y="2724113"/>
            <a:ext cx="122237" cy="1033463"/>
            <a:chOff x="3651" y="1878"/>
            <a:chExt cx="78" cy="963"/>
          </a:xfrm>
        </p:grpSpPr>
        <p:cxnSp>
          <p:nvCxnSpPr>
            <p:cNvPr id="1270" name="Google Shape;1270;p29"/>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1271" name="Google Shape;1271;p29"/>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1272" name="Google Shape;1272;p29"/>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1273" name="Google Shape;1273;p29"/>
          <p:cNvGrpSpPr/>
          <p:nvPr/>
        </p:nvGrpSpPr>
        <p:grpSpPr>
          <a:xfrm>
            <a:off x="8031900" y="3713126"/>
            <a:ext cx="1471613" cy="504825"/>
            <a:chOff x="855" y="1710"/>
            <a:chExt cx="927" cy="318"/>
          </a:xfrm>
        </p:grpSpPr>
        <p:cxnSp>
          <p:nvCxnSpPr>
            <p:cNvPr id="1274" name="Google Shape;1274;p29"/>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75" name="Google Shape;1275;p29"/>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276" name="Google Shape;1276;p29"/>
          <p:cNvGrpSpPr/>
          <p:nvPr/>
        </p:nvGrpSpPr>
        <p:grpSpPr>
          <a:xfrm>
            <a:off x="6599975" y="3336888"/>
            <a:ext cx="1377950" cy="731838"/>
            <a:chOff x="2802" y="2348"/>
            <a:chExt cx="868" cy="461"/>
          </a:xfrm>
        </p:grpSpPr>
        <p:pic>
          <p:nvPicPr>
            <p:cNvPr descr="alarm_clock_ringing" id="1277" name="Google Shape;1277;p29"/>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1278" name="Google Shape;1278;p29"/>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1279" name="Google Shape;1279;p29"/>
          <p:cNvGrpSpPr/>
          <p:nvPr/>
        </p:nvGrpSpPr>
        <p:grpSpPr>
          <a:xfrm>
            <a:off x="8420838" y="2976526"/>
            <a:ext cx="1071562" cy="752475"/>
            <a:chOff x="4081" y="1705"/>
            <a:chExt cx="703" cy="453"/>
          </a:xfrm>
        </p:grpSpPr>
        <p:cxnSp>
          <p:nvCxnSpPr>
            <p:cNvPr id="1280" name="Google Shape;1280;p29"/>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sp>
          <p:nvSpPr>
            <p:cNvPr id="1281" name="Google Shape;1281;p29"/>
            <p:cNvSpPr txBox="1"/>
            <p:nvPr/>
          </p:nvSpPr>
          <p:spPr>
            <a:xfrm>
              <a:off x="4081" y="1794"/>
              <a:ext cx="435" cy="20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cxnSp>
          <p:nvCxnSpPr>
            <p:cNvPr id="1282" name="Google Shape;1282;p29"/>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grpSp>
      <p:cxnSp>
        <p:nvCxnSpPr>
          <p:cNvPr id="1283" name="Google Shape;1283;p29"/>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1284" name="Google Shape;1284;p29"/>
          <p:cNvGrpSpPr/>
          <p:nvPr/>
        </p:nvGrpSpPr>
        <p:grpSpPr>
          <a:xfrm>
            <a:off x="6872845" y="4369420"/>
            <a:ext cx="3792537" cy="703263"/>
            <a:chOff x="7022272" y="4739456"/>
            <a:chExt cx="3792537" cy="703263"/>
          </a:xfrm>
        </p:grpSpPr>
        <p:grpSp>
          <p:nvGrpSpPr>
            <p:cNvPr id="1285" name="Google Shape;1285;p29"/>
            <p:cNvGrpSpPr/>
            <p:nvPr/>
          </p:nvGrpSpPr>
          <p:grpSpPr>
            <a:xfrm>
              <a:off x="8162097" y="4917256"/>
              <a:ext cx="1471613" cy="414338"/>
              <a:chOff x="2229" y="3431"/>
              <a:chExt cx="927" cy="261"/>
            </a:xfrm>
          </p:grpSpPr>
          <p:cxnSp>
            <p:nvCxnSpPr>
              <p:cNvPr id="1286" name="Google Shape;1286;p29"/>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1287" name="Google Shape;1287;p29"/>
              <p:cNvSpPr txBox="1"/>
              <p:nvPr/>
            </p:nvSpPr>
            <p:spPr>
              <a:xfrm>
                <a:off x="2283" y="34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1288" name="Google Shape;1288;p29"/>
            <p:cNvSpPr txBox="1"/>
            <p:nvPr/>
          </p:nvSpPr>
          <p:spPr>
            <a:xfrm>
              <a:off x="9617834" y="473945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289" name="Google Shape;1289;p29"/>
            <p:cNvSpPr txBox="1"/>
            <p:nvPr/>
          </p:nvSpPr>
          <p:spPr>
            <a:xfrm>
              <a:off x="7022272" y="5076006"/>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1290" name="Google Shape;1290;p29"/>
          <p:cNvGrpSpPr/>
          <p:nvPr/>
        </p:nvGrpSpPr>
        <p:grpSpPr>
          <a:xfrm>
            <a:off x="6818870" y="4153520"/>
            <a:ext cx="3833812" cy="1047750"/>
            <a:chOff x="6968297" y="4523556"/>
            <a:chExt cx="3833812" cy="1047750"/>
          </a:xfrm>
        </p:grpSpPr>
        <p:grpSp>
          <p:nvGrpSpPr>
            <p:cNvPr id="1291" name="Google Shape;1291;p29"/>
            <p:cNvGrpSpPr/>
            <p:nvPr/>
          </p:nvGrpSpPr>
          <p:grpSpPr>
            <a:xfrm>
              <a:off x="6968297" y="4523556"/>
              <a:ext cx="1174750" cy="595313"/>
              <a:chOff x="2839" y="3285"/>
              <a:chExt cx="740" cy="375"/>
            </a:xfrm>
          </p:grpSpPr>
          <p:sp>
            <p:nvSpPr>
              <p:cNvPr id="1292" name="Google Shape;1292;p29"/>
              <p:cNvSpPr txBox="1"/>
              <p:nvPr/>
            </p:nvSpPr>
            <p:spPr>
              <a:xfrm>
                <a:off x="2839" y="3429"/>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293" name="Google Shape;1293;p29"/>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1294" name="Google Shape;1294;p29"/>
            <p:cNvGrpSpPr/>
            <p:nvPr/>
          </p:nvGrpSpPr>
          <p:grpSpPr>
            <a:xfrm>
              <a:off x="8073197" y="4623569"/>
              <a:ext cx="1547813" cy="569913"/>
              <a:chOff x="850" y="1159"/>
              <a:chExt cx="927" cy="323"/>
            </a:xfrm>
          </p:grpSpPr>
          <p:cxnSp>
            <p:nvCxnSpPr>
              <p:cNvPr id="1295" name="Google Shape;1295;p29"/>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296" name="Google Shape;1296;p29"/>
              <p:cNvSpPr txBox="1"/>
              <p:nvPr/>
            </p:nvSpPr>
            <p:spPr>
              <a:xfrm>
                <a:off x="1109" y="1159"/>
                <a:ext cx="340" cy="1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297" name="Google Shape;1297;p29"/>
            <p:cNvGrpSpPr/>
            <p:nvPr/>
          </p:nvGrpSpPr>
          <p:grpSpPr>
            <a:xfrm>
              <a:off x="9605134" y="5009331"/>
              <a:ext cx="1196975" cy="561975"/>
              <a:chOff x="4776" y="2967"/>
              <a:chExt cx="754" cy="354"/>
            </a:xfrm>
          </p:grpSpPr>
          <p:sp>
            <p:nvSpPr>
              <p:cNvPr id="1298" name="Google Shape;1298;p29"/>
              <p:cNvSpPr txBox="1"/>
              <p:nvPr/>
            </p:nvSpPr>
            <p:spPr>
              <a:xfrm>
                <a:off x="4780" y="2967"/>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299" name="Google Shape;1299;p29"/>
              <p:cNvSpPr txBox="1"/>
              <p:nvPr/>
            </p:nvSpPr>
            <p:spPr>
              <a:xfrm>
                <a:off x="4776" y="3090"/>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1300" name="Google Shape;1300;p29"/>
          <p:cNvGrpSpPr/>
          <p:nvPr/>
        </p:nvGrpSpPr>
        <p:grpSpPr>
          <a:xfrm>
            <a:off x="7960282" y="4790108"/>
            <a:ext cx="1471613" cy="490538"/>
            <a:chOff x="3792" y="2738"/>
            <a:chExt cx="927" cy="309"/>
          </a:xfrm>
        </p:grpSpPr>
        <p:cxnSp>
          <p:nvCxnSpPr>
            <p:cNvPr id="1301" name="Google Shape;1301;p29"/>
            <p:cNvCxnSpPr/>
            <p:nvPr/>
          </p:nvCxnSpPr>
          <p:spPr>
            <a:xfrm flipH="1">
              <a:off x="3792" y="2822"/>
              <a:ext cx="927" cy="225"/>
            </a:xfrm>
            <a:prstGeom prst="straightConnector1">
              <a:avLst/>
            </a:prstGeom>
            <a:noFill/>
            <a:ln cap="flat" cmpd="sng" w="28575">
              <a:solidFill>
                <a:srgbClr val="008000"/>
              </a:solidFill>
              <a:prstDash val="solid"/>
              <a:round/>
              <a:headEnd len="med" w="med" type="none"/>
              <a:tailEnd len="med" w="med" type="triangle"/>
            </a:ln>
          </p:spPr>
        </p:cxnSp>
        <p:sp>
          <p:nvSpPr>
            <p:cNvPr id="1302" name="Google Shape;1302;p29"/>
            <p:cNvSpPr txBox="1"/>
            <p:nvPr/>
          </p:nvSpPr>
          <p:spPr>
            <a:xfrm>
              <a:off x="4089" y="2738"/>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303" name="Google Shape;1303;p29"/>
          <p:cNvGrpSpPr/>
          <p:nvPr/>
        </p:nvGrpSpPr>
        <p:grpSpPr>
          <a:xfrm>
            <a:off x="7960282" y="5352083"/>
            <a:ext cx="2692401" cy="554038"/>
            <a:chOff x="8109709" y="5722119"/>
            <a:chExt cx="2692401" cy="554038"/>
          </a:xfrm>
        </p:grpSpPr>
        <p:grpSp>
          <p:nvGrpSpPr>
            <p:cNvPr id="1304" name="Google Shape;1304;p29"/>
            <p:cNvGrpSpPr/>
            <p:nvPr/>
          </p:nvGrpSpPr>
          <p:grpSpPr>
            <a:xfrm>
              <a:off x="8109709" y="5722119"/>
              <a:ext cx="1471613" cy="461963"/>
              <a:chOff x="837" y="2540"/>
              <a:chExt cx="927" cy="291"/>
            </a:xfrm>
          </p:grpSpPr>
          <p:cxnSp>
            <p:nvCxnSpPr>
              <p:cNvPr id="1305" name="Google Shape;1305;p29"/>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306" name="Google Shape;1306;p29"/>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1307" name="Google Shape;1307;p29"/>
            <p:cNvSpPr txBox="1"/>
            <p:nvPr/>
          </p:nvSpPr>
          <p:spPr>
            <a:xfrm>
              <a:off x="9605135" y="5909444"/>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nvGrpSpPr>
          <p:cNvPr id="1308" name="Google Shape;1308;p29"/>
          <p:cNvGrpSpPr/>
          <p:nvPr/>
        </p:nvGrpSpPr>
        <p:grpSpPr>
          <a:xfrm>
            <a:off x="6756957" y="4926633"/>
            <a:ext cx="4227513" cy="758825"/>
            <a:chOff x="6906384" y="5296669"/>
            <a:chExt cx="4227513" cy="758825"/>
          </a:xfrm>
        </p:grpSpPr>
        <p:sp>
          <p:nvSpPr>
            <p:cNvPr id="1309" name="Google Shape;1309;p29"/>
            <p:cNvSpPr txBox="1"/>
            <p:nvPr/>
          </p:nvSpPr>
          <p:spPr>
            <a:xfrm>
              <a:off x="6906384" y="5296669"/>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grpSp>
          <p:nvGrpSpPr>
            <p:cNvPr id="1310" name="Google Shape;1310;p29"/>
            <p:cNvGrpSpPr/>
            <p:nvPr/>
          </p:nvGrpSpPr>
          <p:grpSpPr>
            <a:xfrm>
              <a:off x="8114472" y="5380806"/>
              <a:ext cx="1471613" cy="392113"/>
              <a:chOff x="3849" y="2883"/>
              <a:chExt cx="927" cy="247"/>
            </a:xfrm>
          </p:grpSpPr>
          <p:cxnSp>
            <p:nvCxnSpPr>
              <p:cNvPr id="1311" name="Google Shape;1311;p29"/>
              <p:cNvCxnSpPr/>
              <p:nvPr/>
            </p:nvCxnSpPr>
            <p:spPr>
              <a:xfrm>
                <a:off x="3849" y="2905"/>
                <a:ext cx="927" cy="225"/>
              </a:xfrm>
              <a:prstGeom prst="straightConnector1">
                <a:avLst/>
              </a:prstGeom>
              <a:noFill/>
              <a:ln cap="flat" cmpd="sng" w="28575">
                <a:solidFill>
                  <a:srgbClr val="000099"/>
                </a:solidFill>
                <a:prstDash val="solid"/>
                <a:round/>
                <a:headEnd len="med" w="med" type="none"/>
                <a:tailEnd len="med" w="med" type="triangle"/>
              </a:ln>
            </p:spPr>
          </p:cxnSp>
          <p:sp>
            <p:nvSpPr>
              <p:cNvPr id="1312" name="Google Shape;1312;p29"/>
              <p:cNvSpPr txBox="1"/>
              <p:nvPr/>
            </p:nvSpPr>
            <p:spPr>
              <a:xfrm>
                <a:off x="4334" y="288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sp>
          <p:nvSpPr>
            <p:cNvPr id="1313" name="Google Shape;1313;p29"/>
            <p:cNvSpPr txBox="1"/>
            <p:nvPr/>
          </p:nvSpPr>
          <p:spPr>
            <a:xfrm>
              <a:off x="9601960" y="5495106"/>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314" name="Google Shape;1314;p29"/>
            <p:cNvSpPr txBox="1"/>
            <p:nvPr/>
          </p:nvSpPr>
          <p:spPr>
            <a:xfrm>
              <a:off x="9565447" y="57506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7"/>
                                        </p:tgtEl>
                                        <p:attrNameLst>
                                          <p:attrName>style.visibility</p:attrName>
                                        </p:attrNameLst>
                                      </p:cBhvr>
                                      <p:to>
                                        <p:strVal val="visible"/>
                                      </p:to>
                                    </p:set>
                                    <p:animEffect filter="fade" transition="in">
                                      <p:cBhvr>
                                        <p:cTn dur="500"/>
                                        <p:tgtEl>
                                          <p:spTgt spid="12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16">
                                            <p:txEl>
                                              <p:pRg end="0" st="0"/>
                                            </p:txEl>
                                          </p:spTgt>
                                        </p:tgtEl>
                                        <p:attrNameLst>
                                          <p:attrName>style.visibility</p:attrName>
                                        </p:attrNameLst>
                                      </p:cBhvr>
                                      <p:to>
                                        <p:strVal val="visible"/>
                                      </p:to>
                                    </p:set>
                                    <p:animEffect filter="fade" transition="in">
                                      <p:cBhvr>
                                        <p:cTn dur="500"/>
                                        <p:tgtEl>
                                          <p:spTgt spid="121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08"/>
                                        </p:tgtEl>
                                        <p:attrNameLst>
                                          <p:attrName>style.visibility</p:attrName>
                                        </p:attrNameLst>
                                      </p:cBhvr>
                                      <p:to>
                                        <p:strVal val="visible"/>
                                      </p:to>
                                    </p:set>
                                    <p:animEffect filter="fade" transition="in">
                                      <p:cBhvr>
                                        <p:cTn dur="500"/>
                                        <p:tgtEl>
                                          <p:spTgt spid="120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26"/>
                                        </p:tgtEl>
                                        <p:attrNameLst>
                                          <p:attrName>style.visibility</p:attrName>
                                        </p:attrNameLst>
                                      </p:cBhvr>
                                      <p:to>
                                        <p:strVal val="visible"/>
                                      </p:to>
                                    </p:set>
                                    <p:animEffect filter="fade" transition="in">
                                      <p:cBhvr>
                                        <p:cTn dur="500"/>
                                        <p:tgtEl>
                                          <p:spTgt spid="122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11"/>
                                        </p:tgtEl>
                                        <p:attrNameLst>
                                          <p:attrName>style.visibility</p:attrName>
                                        </p:attrNameLst>
                                      </p:cBhvr>
                                      <p:to>
                                        <p:strVal val="visible"/>
                                      </p:to>
                                    </p:set>
                                    <p:animEffect filter="fade" transition="in">
                                      <p:cBhvr>
                                        <p:cTn dur="500"/>
                                        <p:tgtEl>
                                          <p:spTgt spid="121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13"/>
                                        </p:tgtEl>
                                        <p:attrNameLst>
                                          <p:attrName>style.visibility</p:attrName>
                                        </p:attrNameLst>
                                      </p:cBhvr>
                                      <p:to>
                                        <p:strVal val="visible"/>
                                      </p:to>
                                    </p:set>
                                    <p:animEffect filter="fade" transition="in">
                                      <p:cBhvr>
                                        <p:cTn dur="500"/>
                                        <p:tgtEl>
                                          <p:spTgt spid="121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01"/>
                                        </p:tgtEl>
                                        <p:attrNameLst>
                                          <p:attrName>style.visibility</p:attrName>
                                        </p:attrNameLst>
                                      </p:cBhvr>
                                      <p:to>
                                        <p:strVal val="visible"/>
                                      </p:to>
                                    </p:set>
                                    <p:animEffect filter="fade" transition="in">
                                      <p:cBhvr>
                                        <p:cTn dur="500"/>
                                        <p:tgtEl>
                                          <p:spTgt spid="120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198">
                                            <p:txEl>
                                              <p:pRg end="0" st="0"/>
                                            </p:txEl>
                                          </p:spTgt>
                                        </p:tgtEl>
                                        <p:attrNameLst>
                                          <p:attrName>style.visibility</p:attrName>
                                        </p:attrNameLst>
                                      </p:cBhvr>
                                      <p:to>
                                        <p:strVal val="visible"/>
                                      </p:to>
                                    </p:set>
                                    <p:animEffect filter="fade" transition="in">
                                      <p:cBhvr>
                                        <p:cTn dur="500"/>
                                        <p:tgtEl>
                                          <p:spTgt spid="1198">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199"/>
                                        </p:tgtEl>
                                        <p:attrNameLst>
                                          <p:attrName>style.visibility</p:attrName>
                                        </p:attrNameLst>
                                      </p:cBhvr>
                                      <p:to>
                                        <p:strVal val="visible"/>
                                      </p:to>
                                    </p:set>
                                    <p:animEffect filter="fade" transition="in">
                                      <p:cBhvr>
                                        <p:cTn dur="500"/>
                                        <p:tgtEl>
                                          <p:spTgt spid="119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233"/>
                                        </p:tgtEl>
                                        <p:attrNameLst>
                                          <p:attrName>style.visibility</p:attrName>
                                        </p:attrNameLst>
                                      </p:cBhvr>
                                      <p:to>
                                        <p:strVal val="visible"/>
                                      </p:to>
                                    </p:set>
                                    <p:animEffect filter="fade" transition="in">
                                      <p:cBhvr>
                                        <p:cTn dur="500"/>
                                        <p:tgtEl>
                                          <p:spTgt spid="1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8"/>
                                        </p:tgtEl>
                                        <p:attrNameLst>
                                          <p:attrName>style.visibility</p:attrName>
                                        </p:attrNameLst>
                                      </p:cBhvr>
                                      <p:to>
                                        <p:strVal val="visible"/>
                                      </p:to>
                                    </p:set>
                                    <p:animEffect filter="fade" transition="in">
                                      <p:cBhvr>
                                        <p:cTn dur="1000"/>
                                        <p:tgtEl>
                                          <p:spTgt spid="12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500"/>
                                        <p:tgtEl>
                                          <p:spTgt spid="1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500"/>
                                        <p:tgtEl>
                                          <p:spTgt spid="12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06">
                                            <p:txEl>
                                              <p:pRg end="0" st="0"/>
                                            </p:txEl>
                                          </p:spTgt>
                                        </p:tgtEl>
                                        <p:attrNameLst>
                                          <p:attrName>style.visibility</p:attrName>
                                        </p:attrNameLst>
                                      </p:cBhvr>
                                      <p:to>
                                        <p:strVal val="visible"/>
                                      </p:to>
                                    </p:set>
                                    <p:animEffect filter="fade" transition="in">
                                      <p:cBhvr>
                                        <p:cTn dur="500"/>
                                        <p:tgtEl>
                                          <p:spTgt spid="120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00"/>
                                        </p:tgtEl>
                                        <p:attrNameLst>
                                          <p:attrName>style.visibility</p:attrName>
                                        </p:attrNameLst>
                                      </p:cBhvr>
                                      <p:to>
                                        <p:strVal val="visible"/>
                                      </p:to>
                                    </p:set>
                                    <p:animEffect filter="fade" transition="in">
                                      <p:cBhvr>
                                        <p:cTn dur="500"/>
                                        <p:tgtEl>
                                          <p:spTgt spid="12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09"/>
                                        </p:tgtEl>
                                        <p:attrNameLst>
                                          <p:attrName>style.visibility</p:attrName>
                                        </p:attrNameLst>
                                      </p:cBhvr>
                                      <p:to>
                                        <p:strVal val="visible"/>
                                      </p:to>
                                    </p:set>
                                    <p:animEffect filter="fade" transition="in">
                                      <p:cBhvr>
                                        <p:cTn dur="500"/>
                                        <p:tgtEl>
                                          <p:spTgt spid="120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23"/>
                                        </p:tgtEl>
                                        <p:attrNameLst>
                                          <p:attrName>style.visibility</p:attrName>
                                        </p:attrNameLst>
                                      </p:cBhvr>
                                      <p:to>
                                        <p:strVal val="visible"/>
                                      </p:to>
                                    </p:set>
                                    <p:animEffect filter="fade" transition="in">
                                      <p:cBhvr>
                                        <p:cTn dur="500"/>
                                        <p:tgtEl>
                                          <p:spTgt spid="12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14"/>
                                        </p:tgtEl>
                                        <p:attrNameLst>
                                          <p:attrName>style.visibility</p:attrName>
                                        </p:attrNameLst>
                                      </p:cBhvr>
                                      <p:to>
                                        <p:strVal val="visible"/>
                                      </p:to>
                                    </p:set>
                                    <p:animEffect filter="fade" transition="in">
                                      <p:cBhvr>
                                        <p:cTn dur="500"/>
                                        <p:tgtEl>
                                          <p:spTgt spid="121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12"/>
                                        </p:tgtEl>
                                        <p:attrNameLst>
                                          <p:attrName>style.visibility</p:attrName>
                                        </p:attrNameLst>
                                      </p:cBhvr>
                                      <p:to>
                                        <p:strVal val="visible"/>
                                      </p:to>
                                    </p:set>
                                    <p:animEffect filter="fade" transition="in">
                                      <p:cBhvr>
                                        <p:cTn dur="500"/>
                                        <p:tgtEl>
                                          <p:spTgt spid="121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500"/>
                                        <p:tgtEl>
                                          <p:spTgt spid="122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207"/>
                                        </p:tgtEl>
                                        <p:attrNameLst>
                                          <p:attrName>style.visibility</p:attrName>
                                        </p:attrNameLst>
                                      </p:cBhvr>
                                      <p:to>
                                        <p:strVal val="visible"/>
                                      </p:to>
                                    </p:set>
                                    <p:animEffect filter="fade" transition="in">
                                      <p:cBhvr>
                                        <p:cTn dur="500"/>
                                        <p:tgtEl>
                                          <p:spTgt spid="120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210">
                                            <p:txEl>
                                              <p:pRg end="0" st="0"/>
                                            </p:txEl>
                                          </p:spTgt>
                                        </p:tgtEl>
                                        <p:attrNameLst>
                                          <p:attrName>style.visibility</p:attrName>
                                        </p:attrNameLst>
                                      </p:cBhvr>
                                      <p:to>
                                        <p:strVal val="visible"/>
                                      </p:to>
                                    </p:set>
                                    <p:animEffect filter="fade" transition="in">
                                      <p:cBhvr>
                                        <p:cTn dur="500"/>
                                        <p:tgtEl>
                                          <p:spTgt spid="1210">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229"/>
                                        </p:tgtEl>
                                        <p:attrNameLst>
                                          <p:attrName>style.visibility</p:attrName>
                                        </p:attrNameLst>
                                      </p:cBhvr>
                                      <p:to>
                                        <p:strVal val="visible"/>
                                      </p:to>
                                    </p:set>
                                    <p:animEffect filter="fade" transition="in">
                                      <p:cBhvr>
                                        <p:cTn dur="500"/>
                                        <p:tgtEl>
                                          <p:spTgt spid="12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2"/>
                                        </p:tgtEl>
                                        <p:attrNameLst>
                                          <p:attrName>style.visibility</p:attrName>
                                        </p:attrNameLst>
                                      </p:cBhvr>
                                      <p:to>
                                        <p:strVal val="visible"/>
                                      </p:to>
                                    </p:set>
                                    <p:animEffect filter="fade" transition="in">
                                      <p:cBhvr>
                                        <p:cTn dur="500"/>
                                        <p:tgtEl>
                                          <p:spTgt spid="126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61">
                                            <p:txEl>
                                              <p:pRg end="0" st="0"/>
                                            </p:txEl>
                                          </p:spTgt>
                                        </p:tgtEl>
                                        <p:attrNameLst>
                                          <p:attrName>style.visibility</p:attrName>
                                        </p:attrNameLst>
                                      </p:cBhvr>
                                      <p:to>
                                        <p:strVal val="visible"/>
                                      </p:to>
                                    </p:set>
                                    <p:animEffect filter="fade" transition="in">
                                      <p:cBhvr>
                                        <p:cTn dur="500"/>
                                        <p:tgtEl>
                                          <p:spTgt spid="1261">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7"/>
                                        </p:tgtEl>
                                        <p:attrNameLst>
                                          <p:attrName>style.visibility</p:attrName>
                                        </p:attrNameLst>
                                      </p:cBhvr>
                                      <p:to>
                                        <p:strVal val="visible"/>
                                      </p:to>
                                    </p:set>
                                    <p:animEffect filter="fade" transition="in">
                                      <p:cBhvr>
                                        <p:cTn dur="500"/>
                                        <p:tgtEl>
                                          <p:spTgt spid="125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265"/>
                                        </p:tgtEl>
                                        <p:attrNameLst>
                                          <p:attrName>style.visibility</p:attrName>
                                        </p:attrNameLst>
                                      </p:cBhvr>
                                      <p:to>
                                        <p:strVal val="visible"/>
                                      </p:to>
                                    </p:set>
                                    <p:animEffect filter="fade" transition="in">
                                      <p:cBhvr>
                                        <p:cTn dur="500"/>
                                        <p:tgtEl>
                                          <p:spTgt spid="126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258"/>
                                        </p:tgtEl>
                                        <p:attrNameLst>
                                          <p:attrName>style.visibility</p:attrName>
                                        </p:attrNameLst>
                                      </p:cBhvr>
                                      <p:to>
                                        <p:strVal val="visible"/>
                                      </p:to>
                                    </p:set>
                                    <p:animEffect filter="fade" transition="in">
                                      <p:cBhvr>
                                        <p:cTn dur="500"/>
                                        <p:tgtEl>
                                          <p:spTgt spid="1258"/>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259"/>
                                        </p:tgtEl>
                                        <p:attrNameLst>
                                          <p:attrName>style.visibility</p:attrName>
                                        </p:attrNameLst>
                                      </p:cBhvr>
                                      <p:to>
                                        <p:strVal val="visible"/>
                                      </p:to>
                                    </p:set>
                                    <p:animEffect filter="fade" transition="in">
                                      <p:cBhvr>
                                        <p:cTn dur="500"/>
                                        <p:tgtEl>
                                          <p:spTgt spid="125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251"/>
                                        </p:tgtEl>
                                        <p:attrNameLst>
                                          <p:attrName>style.visibility</p:attrName>
                                        </p:attrNameLst>
                                      </p:cBhvr>
                                      <p:to>
                                        <p:strVal val="visible"/>
                                      </p:to>
                                    </p:set>
                                    <p:animEffect filter="fade" transition="in">
                                      <p:cBhvr>
                                        <p:cTn dur="500"/>
                                        <p:tgtEl>
                                          <p:spTgt spid="1251"/>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248">
                                            <p:txEl>
                                              <p:pRg end="0" st="0"/>
                                            </p:txEl>
                                          </p:spTgt>
                                        </p:tgtEl>
                                        <p:attrNameLst>
                                          <p:attrName>style.visibility</p:attrName>
                                        </p:attrNameLst>
                                      </p:cBhvr>
                                      <p:to>
                                        <p:strVal val="visible"/>
                                      </p:to>
                                    </p:set>
                                    <p:animEffect filter="fade" transition="in">
                                      <p:cBhvr>
                                        <p:cTn dur="500"/>
                                        <p:tgtEl>
                                          <p:spTgt spid="1248">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249"/>
                                        </p:tgtEl>
                                        <p:attrNameLst>
                                          <p:attrName>style.visibility</p:attrName>
                                        </p:attrNameLst>
                                      </p:cBhvr>
                                      <p:to>
                                        <p:strVal val="visible"/>
                                      </p:to>
                                    </p:set>
                                    <p:animEffect filter="fade" transition="in">
                                      <p:cBhvr>
                                        <p:cTn dur="500"/>
                                        <p:tgtEl>
                                          <p:spTgt spid="1249"/>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269"/>
                                        </p:tgtEl>
                                        <p:attrNameLst>
                                          <p:attrName>style.visibility</p:attrName>
                                        </p:attrNameLst>
                                      </p:cBhvr>
                                      <p:to>
                                        <p:strVal val="visible"/>
                                      </p:to>
                                    </p:set>
                                    <p:animEffect filter="fade" transition="in">
                                      <p:cBhvr>
                                        <p:cTn dur="1000"/>
                                        <p:tgtEl>
                                          <p:spTgt spid="1269"/>
                                        </p:tgtEl>
                                      </p:cBhvr>
                                    </p:animEffect>
                                  </p:childTnLst>
                                </p:cTn>
                              </p:par>
                              <p:par>
                                <p:cTn fill="hold" nodeType="withEffect" presetClass="entr" presetID="10" presetSubtype="0">
                                  <p:stCondLst>
                                    <p:cond delay="0"/>
                                  </p:stCondLst>
                                  <p:childTnLst>
                                    <p:set>
                                      <p:cBhvr>
                                        <p:cTn dur="1" fill="hold">
                                          <p:stCondLst>
                                            <p:cond delay="0"/>
                                          </p:stCondLst>
                                        </p:cTn>
                                        <p:tgtEl>
                                          <p:spTgt spid="1279"/>
                                        </p:tgtEl>
                                        <p:attrNameLst>
                                          <p:attrName>style.visibility</p:attrName>
                                        </p:attrNameLst>
                                      </p:cBhvr>
                                      <p:to>
                                        <p:strVal val="visible"/>
                                      </p:to>
                                    </p:set>
                                    <p:animEffect filter="fade" transition="in">
                                      <p:cBhvr>
                                        <p:cTn dur="500"/>
                                        <p:tgtEl>
                                          <p:spTgt spid="1279"/>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276"/>
                                        </p:tgtEl>
                                        <p:attrNameLst>
                                          <p:attrName>style.visibility</p:attrName>
                                        </p:attrNameLst>
                                      </p:cBhvr>
                                      <p:to>
                                        <p:strVal val="visible"/>
                                      </p:to>
                                    </p:set>
                                    <p:animEffect filter="fade" transition="in">
                                      <p:cBhvr>
                                        <p:cTn dur="500"/>
                                        <p:tgtEl>
                                          <p:spTgt spid="1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3"/>
                                        </p:tgtEl>
                                        <p:attrNameLst>
                                          <p:attrName>style.visibility</p:attrName>
                                        </p:attrNameLst>
                                      </p:cBhvr>
                                      <p:to>
                                        <p:strVal val="visible"/>
                                      </p:to>
                                    </p:set>
                                    <p:animEffect filter="fade" transition="in">
                                      <p:cBhvr>
                                        <p:cTn dur="500"/>
                                        <p:tgtEl>
                                          <p:spTgt spid="1273"/>
                                        </p:tgtEl>
                                      </p:cBhvr>
                                    </p:animEffect>
                                  </p:childTnLst>
                                </p:cTn>
                              </p:par>
                              <p:par>
                                <p:cTn fill="hold" nodeType="withEffect" presetClass="entr" presetID="10" presetSubtype="0">
                                  <p:stCondLst>
                                    <p:cond delay="0"/>
                                  </p:stCondLst>
                                  <p:childTnLst>
                                    <p:set>
                                      <p:cBhvr>
                                        <p:cTn dur="1" fill="hold">
                                          <p:stCondLst>
                                            <p:cond delay="0"/>
                                          </p:stCondLst>
                                        </p:cTn>
                                        <p:tgtEl>
                                          <p:spTgt spid="1283"/>
                                        </p:tgtEl>
                                        <p:attrNameLst>
                                          <p:attrName>style.visibility</p:attrName>
                                        </p:attrNameLst>
                                      </p:cBhvr>
                                      <p:to>
                                        <p:strVal val="visible"/>
                                      </p:to>
                                    </p:set>
                                    <p:animEffect filter="fade" transition="in">
                                      <p:cBhvr>
                                        <p:cTn dur="500"/>
                                        <p:tgtEl>
                                          <p:spTgt spid="128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56">
                                            <p:txEl>
                                              <p:pRg end="0" st="0"/>
                                            </p:txEl>
                                          </p:spTgt>
                                        </p:tgtEl>
                                        <p:attrNameLst>
                                          <p:attrName>style.visibility</p:attrName>
                                        </p:attrNameLst>
                                      </p:cBhvr>
                                      <p:to>
                                        <p:strVal val="visible"/>
                                      </p:to>
                                    </p:set>
                                    <p:animEffect filter="fade" transition="in">
                                      <p:cBhvr>
                                        <p:cTn dur="500"/>
                                        <p:tgtEl>
                                          <p:spTgt spid="125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50"/>
                                        </p:tgtEl>
                                        <p:attrNameLst>
                                          <p:attrName>style.visibility</p:attrName>
                                        </p:attrNameLst>
                                      </p:cBhvr>
                                      <p:to>
                                        <p:strVal val="visible"/>
                                      </p:to>
                                    </p:set>
                                    <p:animEffect filter="fade" transition="in">
                                      <p:cBhvr>
                                        <p:cTn dur="500"/>
                                        <p:tgtEl>
                                          <p:spTgt spid="1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4"/>
                                        </p:tgtEl>
                                        <p:attrNameLst>
                                          <p:attrName>style.visibility</p:attrName>
                                        </p:attrNameLst>
                                      </p:cBhvr>
                                      <p:to>
                                        <p:strVal val="visible"/>
                                      </p:to>
                                    </p:set>
                                    <p:animEffect filter="fade" transition="in">
                                      <p:cBhvr>
                                        <p:cTn dur="500"/>
                                        <p:tgtEl>
                                          <p:spTgt spid="1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0"/>
                                        </p:tgtEl>
                                        <p:attrNameLst>
                                          <p:attrName>style.visibility</p:attrName>
                                        </p:attrNameLst>
                                      </p:cBhvr>
                                      <p:to>
                                        <p:strVal val="visible"/>
                                      </p:to>
                                    </p:set>
                                    <p:animEffect filter="fade" transition="in">
                                      <p:cBhvr>
                                        <p:cTn dur="500"/>
                                        <p:tgtEl>
                                          <p:spTgt spid="1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0"/>
                                        </p:tgtEl>
                                        <p:attrNameLst>
                                          <p:attrName>style.visibility</p:attrName>
                                        </p:attrNameLst>
                                      </p:cBhvr>
                                      <p:to>
                                        <p:strVal val="visible"/>
                                      </p:to>
                                    </p:set>
                                    <p:animEffect filter="fade" transition="in">
                                      <p:cBhvr>
                                        <p:cTn dur="500"/>
                                        <p:tgtEl>
                                          <p:spTgt spid="1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gtEl>
                                        <p:attrNameLst>
                                          <p:attrName>style.visibility</p:attrName>
                                        </p:attrNameLst>
                                      </p:cBhvr>
                                      <p:to>
                                        <p:strVal val="visible"/>
                                      </p:to>
                                    </p:set>
                                    <p:animEffect filter="fade" transition="in">
                                      <p:cBhvr>
                                        <p:cTn dur="500"/>
                                        <p:tgtEl>
                                          <p:spTgt spid="1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3"/>
                                        </p:tgtEl>
                                        <p:attrNameLst>
                                          <p:attrName>style.visibility</p:attrName>
                                        </p:attrNameLst>
                                      </p:cBhvr>
                                      <p:to>
                                        <p:strVal val="visible"/>
                                      </p:to>
                                    </p:set>
                                    <p:animEffect filter="fade" transition="in">
                                      <p:cBhvr>
                                        <p:cTn dur="500"/>
                                        <p:tgtEl>
                                          <p:spTgt spid="13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3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1321" name="Google Shape;1321;p30"/>
          <p:cNvSpPr txBox="1"/>
          <p:nvPr/>
        </p:nvSpPr>
        <p:spPr>
          <a:xfrm>
            <a:off x="700825" y="1291107"/>
            <a:ext cx="10533232" cy="4648200"/>
          </a:xfrm>
          <a:prstGeom prst="rect">
            <a:avLst/>
          </a:prstGeom>
          <a:noFill/>
          <a:ln>
            <a:noFill/>
          </a:ln>
        </p:spPr>
        <p:txBody>
          <a:bodyPr anchorCtr="0" anchor="t" bIns="45700" lIns="91425" spcFirstLastPara="1" rIns="91425" wrap="square" tIns="45700">
            <a:normAutofit/>
          </a:bodyPr>
          <a:lstStyle/>
          <a:p>
            <a:pPr indent="-12700" lvl="0" marL="1143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New channel assumption:</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underlying channel can also </a:t>
            </a:r>
            <a:r>
              <a:rPr b="0" i="1" lang="en-US" sz="3200" u="none" cap="none" strike="noStrike">
                <a:solidFill>
                  <a:srgbClr val="000000"/>
                </a:solidFill>
                <a:latin typeface="Calibri"/>
                <a:ea typeface="Calibri"/>
                <a:cs typeface="Calibri"/>
                <a:sym typeface="Calibri"/>
              </a:rPr>
              <a:t>lose</a:t>
            </a:r>
            <a:r>
              <a:rPr b="0" i="0" lang="en-US" sz="3200" u="none" cap="none" strike="noStrike">
                <a:solidFill>
                  <a:srgbClr val="000000"/>
                </a:solidFill>
                <a:latin typeface="Calibri"/>
                <a:ea typeface="Calibri"/>
                <a:cs typeface="Calibri"/>
                <a:sym typeface="Calibri"/>
              </a:rPr>
              <a:t> packets (data, ACKs)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checksum, sequence #s, ACKs, retransmissions will be of help … but not quite enough</a:t>
            </a:r>
            <a:endParaRPr/>
          </a:p>
        </p:txBody>
      </p:sp>
      <p:sp>
        <p:nvSpPr>
          <p:cNvPr id="1322" name="Google Shape;1322;p30"/>
          <p:cNvSpPr txBox="1"/>
          <p:nvPr/>
        </p:nvSpPr>
        <p:spPr>
          <a:xfrm>
            <a:off x="1351723" y="4023238"/>
            <a:ext cx="9435547" cy="1323439"/>
          </a:xfrm>
          <a:prstGeom prst="rect">
            <a:avLst/>
          </a:prstGeom>
          <a:noFill/>
          <a:ln>
            <a:noFill/>
          </a:ln>
        </p:spPr>
        <p:txBody>
          <a:bodyPr anchorCtr="0" anchor="t" bIns="45700" lIns="91425" spcFirstLastPara="1" rIns="91425" wrap="square" tIns="45700">
            <a:spAutoFit/>
          </a:bodyPr>
          <a:lstStyle/>
          <a:p>
            <a:pPr indent="-568325" lvl="0" marL="581025" marR="0" rtl="0" algn="ctr">
              <a:lnSpc>
                <a:spcPct val="100000"/>
              </a:lnSpc>
              <a:spcBef>
                <a:spcPts val="0"/>
              </a:spcBef>
              <a:spcAft>
                <a:spcPts val="0"/>
              </a:spcAft>
              <a:buClr>
                <a:srgbClr val="C00000"/>
              </a:buClr>
              <a:buSzPts val="4000"/>
              <a:buFont typeface="Calibri"/>
              <a:buNone/>
            </a:pPr>
            <a:r>
              <a:rPr b="0" i="1" lang="en-US" sz="4000" u="none" cap="none" strike="noStrike">
                <a:solidFill>
                  <a:srgbClr val="C00000"/>
                </a:solidFill>
                <a:latin typeface="Calibri"/>
                <a:ea typeface="Calibri"/>
                <a:cs typeface="Calibri"/>
                <a:sym typeface="Calibri"/>
              </a:rPr>
              <a:t>Q: </a:t>
            </a:r>
            <a:r>
              <a:rPr b="0" i="0" lang="en-US" sz="4000" u="none" cap="none" strike="noStrike">
                <a:solidFill>
                  <a:srgbClr val="000000"/>
                </a:solidFill>
                <a:latin typeface="Calibri"/>
                <a:ea typeface="Calibri"/>
                <a:cs typeface="Calibri"/>
                <a:sym typeface="Calibri"/>
              </a:rPr>
              <a:t>How do </a:t>
            </a:r>
            <a:r>
              <a:rPr b="0" i="1" lang="en-US" sz="4000" u="none" cap="none" strike="noStrike">
                <a:solidFill>
                  <a:srgbClr val="000000"/>
                </a:solidFill>
                <a:latin typeface="Calibri"/>
                <a:ea typeface="Calibri"/>
                <a:cs typeface="Calibri"/>
                <a:sym typeface="Calibri"/>
              </a:rPr>
              <a:t>humans</a:t>
            </a:r>
            <a:r>
              <a:rPr b="0" i="0" lang="en-US" sz="4000" u="none" cap="none" strike="noStrike">
                <a:solidFill>
                  <a:srgbClr val="000000"/>
                </a:solidFill>
                <a:latin typeface="Calibri"/>
                <a:ea typeface="Calibri"/>
                <a:cs typeface="Calibri"/>
                <a:sym typeface="Calibri"/>
              </a:rPr>
              <a:t> handle lost sender-to-receiver words in conversation?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2"/>
                                        </p:tgtEl>
                                        <p:attrNameLst>
                                          <p:attrName>style.visibility</p:attrName>
                                        </p:attrNameLst>
                                      </p:cBhvr>
                                      <p:to>
                                        <p:strVal val="visible"/>
                                      </p:to>
                                    </p:set>
                                    <p:animEffect filter="fade" transition="in">
                                      <p:cBhvr>
                                        <p:cTn dur="500"/>
                                        <p:tgtEl>
                                          <p:spTgt spid="1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3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rdt3.0: channels with errors </a:t>
            </a:r>
            <a:r>
              <a:rPr i="1" lang="en-US"/>
              <a:t>and</a:t>
            </a:r>
            <a:r>
              <a:rPr lang="en-US"/>
              <a:t> loss</a:t>
            </a:r>
            <a:endParaRPr sz="4000"/>
          </a:p>
        </p:txBody>
      </p:sp>
      <p:sp>
        <p:nvSpPr>
          <p:cNvPr id="1329" name="Google Shape;1329;p31"/>
          <p:cNvSpPr txBox="1"/>
          <p:nvPr/>
        </p:nvSpPr>
        <p:spPr>
          <a:xfrm>
            <a:off x="751114" y="1355502"/>
            <a:ext cx="10924659" cy="5074708"/>
          </a:xfrm>
          <a:prstGeom prst="rect">
            <a:avLst/>
          </a:prstGeom>
          <a:noFill/>
          <a:ln>
            <a:noFill/>
          </a:ln>
        </p:spPr>
        <p:txBody>
          <a:bodyPr anchorCtr="0" anchor="t" bIns="45700" lIns="91425" spcFirstLastPara="1" rIns="91425" wrap="square" tIns="45700">
            <a:normAutofit/>
          </a:bodyPr>
          <a:lstStyle/>
          <a:p>
            <a:pPr indent="0" lvl="0" marL="12700" marR="0" rtl="0" algn="l">
              <a:lnSpc>
                <a:spcPct val="90000"/>
              </a:lnSpc>
              <a:spcBef>
                <a:spcPts val="0"/>
              </a:spcBef>
              <a:spcAft>
                <a:spcPts val="0"/>
              </a:spcAft>
              <a:buClr>
                <a:srgbClr val="0000A3"/>
              </a:buClr>
              <a:buSzPts val="3200"/>
              <a:buFont typeface="Noto Sans Symbols"/>
              <a:buNone/>
            </a:pPr>
            <a:r>
              <a:rPr b="0" i="1" lang="en-US" sz="3200" u="none" cap="none" strike="noStrike">
                <a:solidFill>
                  <a:srgbClr val="CC0000"/>
                </a:solidFill>
                <a:latin typeface="Calibri"/>
                <a:ea typeface="Calibri"/>
                <a:cs typeface="Calibri"/>
                <a:sym typeface="Calibri"/>
              </a:rPr>
              <a:t>Approach:</a:t>
            </a:r>
            <a:r>
              <a:rPr b="0" i="1" lang="en-US" sz="3200" u="none" cap="none" strike="noStrike">
                <a:solidFill>
                  <a:srgbClr val="000000"/>
                </a:solidFill>
                <a:latin typeface="Calibri"/>
                <a:ea typeface="Calibri"/>
                <a:cs typeface="Calibri"/>
                <a:sym typeface="Calibri"/>
              </a:rPr>
              <a:t> </a:t>
            </a:r>
            <a:r>
              <a:rPr b="0" i="0" lang="en-US" sz="3200" u="none" cap="none" strike="noStrike">
                <a:solidFill>
                  <a:srgbClr val="000000"/>
                </a:solidFill>
                <a:latin typeface="Calibri"/>
                <a:ea typeface="Calibri"/>
                <a:cs typeface="Calibri"/>
                <a:sym typeface="Calibri"/>
              </a:rPr>
              <a:t>sender waits “reasonable” amount of time for ACK </a:t>
            </a:r>
            <a:endParaRPr/>
          </a:p>
          <a:p>
            <a:pPr indent="-341313" lvl="0" marL="406400" marR="0" rtl="0" algn="l">
              <a:lnSpc>
                <a:spcPct val="8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retransmits if no ACK received in this time</a:t>
            </a:r>
            <a:endParaRPr/>
          </a:p>
          <a:p>
            <a:pPr indent="-341313" lvl="0" marL="406400" marR="0" rtl="0" algn="l">
              <a:lnSpc>
                <a:spcPct val="70000"/>
              </a:lnSpc>
              <a:spcBef>
                <a:spcPts val="12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if pkt (or ACK) just delayed (not lost):</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retransmission will be  duplicate, but seq #s already handles this!</a:t>
            </a:r>
            <a:endParaRPr/>
          </a:p>
          <a:p>
            <a:pPr indent="-374650" lvl="2" marL="747713" marR="0" rtl="0" algn="l">
              <a:lnSpc>
                <a:spcPct val="90000"/>
              </a:lnSpc>
              <a:spcBef>
                <a:spcPts val="12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receiver must specify seq # of packet being ACKed</a:t>
            </a:r>
            <a:endParaRPr b="0" i="0" sz="2800" u="none" cap="none" strike="noStrike">
              <a:solidFill>
                <a:srgbClr val="000000"/>
              </a:solidFill>
              <a:latin typeface="Calibri"/>
              <a:ea typeface="Calibri"/>
              <a:cs typeface="Calibri"/>
              <a:sym typeface="Calibri"/>
            </a:endParaRPr>
          </a:p>
        </p:txBody>
      </p:sp>
      <p:grpSp>
        <p:nvGrpSpPr>
          <p:cNvPr id="1330" name="Google Shape;1330;p31"/>
          <p:cNvGrpSpPr/>
          <p:nvPr/>
        </p:nvGrpSpPr>
        <p:grpSpPr>
          <a:xfrm>
            <a:off x="3852654" y="4876800"/>
            <a:ext cx="3484723" cy="1905000"/>
            <a:chOff x="3667124" y="4359729"/>
            <a:chExt cx="3484723" cy="1905000"/>
          </a:xfrm>
        </p:grpSpPr>
        <p:pic>
          <p:nvPicPr>
            <p:cNvPr descr="Image result for red alarm clock" id="1331" name="Google Shape;1331;p31"/>
            <p:cNvPicPr preferRelativeResize="0"/>
            <p:nvPr/>
          </p:nvPicPr>
          <p:blipFill rotWithShape="1">
            <a:blip r:embed="rId3">
              <a:alphaModFix/>
            </a:blip>
            <a:srcRect b="0" l="0" r="0" t="0"/>
            <a:stretch/>
          </p:blipFill>
          <p:spPr>
            <a:xfrm>
              <a:off x="3667124" y="4359729"/>
              <a:ext cx="3381375" cy="1905000"/>
            </a:xfrm>
            <a:prstGeom prst="rect">
              <a:avLst/>
            </a:prstGeom>
            <a:noFill/>
            <a:ln>
              <a:noFill/>
            </a:ln>
          </p:spPr>
        </p:pic>
        <p:sp>
          <p:nvSpPr>
            <p:cNvPr id="1332" name="Google Shape;1332;p31"/>
            <p:cNvSpPr txBox="1"/>
            <p:nvPr/>
          </p:nvSpPr>
          <p:spPr>
            <a:xfrm>
              <a:off x="5932303" y="4757575"/>
              <a:ext cx="1219544" cy="370396"/>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C00000"/>
                </a:buClr>
                <a:buSzPts val="2400"/>
                <a:buFont typeface="Tahoma"/>
                <a:buNone/>
              </a:pPr>
              <a:r>
                <a:rPr b="0" i="1" lang="en-US" sz="2400" u="none" cap="none" strike="noStrike">
                  <a:solidFill>
                    <a:srgbClr val="C00000"/>
                  </a:solidFill>
                  <a:latin typeface="Tahoma"/>
                  <a:ea typeface="Tahoma"/>
                  <a:cs typeface="Tahoma"/>
                  <a:sym typeface="Tahoma"/>
                </a:rPr>
                <a:t>timeout</a:t>
              </a:r>
              <a:endParaRPr/>
            </a:p>
          </p:txBody>
        </p:sp>
      </p:grpSp>
      <p:sp>
        <p:nvSpPr>
          <p:cNvPr id="1333" name="Google Shape;1333;p31"/>
          <p:cNvSpPr txBox="1"/>
          <p:nvPr/>
        </p:nvSpPr>
        <p:spPr>
          <a:xfrm>
            <a:off x="808619" y="4059181"/>
            <a:ext cx="10924659" cy="1016402"/>
          </a:xfrm>
          <a:prstGeom prst="rect">
            <a:avLst/>
          </a:prstGeom>
          <a:noFill/>
          <a:ln>
            <a:noFill/>
          </a:ln>
        </p:spPr>
        <p:txBody>
          <a:bodyPr anchorCtr="0" anchor="t" bIns="45700" lIns="91425" spcFirstLastPara="1" rIns="91425" wrap="square" tIns="45700">
            <a:normAutofit lnSpcReduction="10000"/>
          </a:bodyPr>
          <a:lstStyle/>
          <a:p>
            <a:pPr indent="-341313" lvl="0" marL="406400" marR="0" rtl="0" algn="l">
              <a:lnSpc>
                <a:spcPct val="10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use countdown timer to interrupt after “reasonable” amount of time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333">
                                            <p:txEl>
                                              <p:pRg end="0" st="0"/>
                                            </p:txEl>
                                          </p:spTgt>
                                        </p:tgtEl>
                                        <p:attrNameLst>
                                          <p:attrName>style.visibility</p:attrName>
                                        </p:attrNameLst>
                                      </p:cBhvr>
                                      <p:to>
                                        <p:strVal val="visible"/>
                                      </p:to>
                                    </p:set>
                                    <p:animEffect filter="fade" transition="in">
                                      <p:cBhvr>
                                        <p:cTn dur="500"/>
                                        <p:tgtEl>
                                          <p:spTgt spid="133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30"/>
                                        </p:tgtEl>
                                        <p:attrNameLst>
                                          <p:attrName>style.visibility</p:attrName>
                                        </p:attrNameLst>
                                      </p:cBhvr>
                                      <p:to>
                                        <p:strVal val="visible"/>
                                      </p:to>
                                    </p:set>
                                    <p:animEffect filter="fade" transition="in">
                                      <p:cBhvr>
                                        <p:cTn dur="500"/>
                                        <p:tgtEl>
                                          <p:spTgt spid="1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32"/>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0" name="Google Shape;1340;p32"/>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1" name="Google Shape;1341;p32"/>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2" name="Google Shape;1342;p32"/>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43" name="Google Shape;1343;p3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1344" name="Google Shape;1344;p32"/>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1345" name="Google Shape;1345;p32"/>
          <p:cNvGrpSpPr/>
          <p:nvPr/>
        </p:nvGrpSpPr>
        <p:grpSpPr>
          <a:xfrm>
            <a:off x="7099636" y="2184072"/>
            <a:ext cx="889000" cy="865187"/>
            <a:chOff x="445" y="1273"/>
            <a:chExt cx="560" cy="545"/>
          </a:xfrm>
        </p:grpSpPr>
        <p:sp>
          <p:nvSpPr>
            <p:cNvPr id="1346" name="Google Shape;1346;p32"/>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347" name="Google Shape;1347;p32"/>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1348" name="Google Shape;1348;p32"/>
          <p:cNvGrpSpPr/>
          <p:nvPr/>
        </p:nvGrpSpPr>
        <p:grpSpPr>
          <a:xfrm>
            <a:off x="4758073" y="1183947"/>
            <a:ext cx="3860800" cy="1144587"/>
            <a:chOff x="4758073" y="1183947"/>
            <a:chExt cx="3860800" cy="1144587"/>
          </a:xfrm>
        </p:grpSpPr>
        <p:sp>
          <p:nvSpPr>
            <p:cNvPr id="1349" name="Google Shape;1349;p32"/>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350" name="Google Shape;1350;p32"/>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1351" name="Google Shape;1351;p32"/>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1352" name="Google Shape;1352;p32"/>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353" name="Google Shape;1353;p32"/>
          <p:cNvGrpSpPr/>
          <p:nvPr/>
        </p:nvGrpSpPr>
        <p:grpSpPr>
          <a:xfrm>
            <a:off x="7191711" y="4098597"/>
            <a:ext cx="1189037" cy="850900"/>
            <a:chOff x="4090" y="3230"/>
            <a:chExt cx="749" cy="536"/>
          </a:xfrm>
        </p:grpSpPr>
        <p:sp>
          <p:nvSpPr>
            <p:cNvPr id="1354" name="Google Shape;1354;p32"/>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355" name="Google Shape;1355;p32"/>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356" name="Google Shape;1356;p32"/>
          <p:cNvGrpSpPr/>
          <p:nvPr/>
        </p:nvGrpSpPr>
        <p:grpSpPr>
          <a:xfrm>
            <a:off x="5054936" y="4832022"/>
            <a:ext cx="3444875" cy="1038225"/>
            <a:chOff x="5054936" y="4832022"/>
            <a:chExt cx="3444875" cy="1038225"/>
          </a:xfrm>
        </p:grpSpPr>
        <p:sp>
          <p:nvSpPr>
            <p:cNvPr id="1357" name="Google Shape;1357;p32"/>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58" name="Google Shape;1358;p32"/>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359" name="Google Shape;1359;p32"/>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1360" name="Google Shape;1360;p32"/>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1361" name="Google Shape;1361;p32"/>
          <p:cNvGrpSpPr/>
          <p:nvPr/>
        </p:nvGrpSpPr>
        <p:grpSpPr>
          <a:xfrm>
            <a:off x="7858461" y="2912734"/>
            <a:ext cx="2309812" cy="1184275"/>
            <a:chOff x="7858461" y="2912734"/>
            <a:chExt cx="2309812" cy="1184275"/>
          </a:xfrm>
        </p:grpSpPr>
        <p:sp>
          <p:nvSpPr>
            <p:cNvPr id="1362" name="Google Shape;1362;p32"/>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3" name="Google Shape;1363;p32"/>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364" name="Google Shape;1364;p32"/>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1365" name="Google Shape;1365;p32"/>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1366" name="Google Shape;1366;p32"/>
          <p:cNvGrpSpPr/>
          <p:nvPr/>
        </p:nvGrpSpPr>
        <p:grpSpPr>
          <a:xfrm>
            <a:off x="2638761" y="2958772"/>
            <a:ext cx="1933239" cy="1239836"/>
            <a:chOff x="2638761" y="2958772"/>
            <a:chExt cx="1933239" cy="1239836"/>
          </a:xfrm>
        </p:grpSpPr>
        <p:sp>
          <p:nvSpPr>
            <p:cNvPr id="1367" name="Google Shape;1367;p32"/>
            <p:cNvSpPr/>
            <p:nvPr/>
          </p:nvSpPr>
          <p:spPr>
            <a:xfrm flipH="1" rot="5400000">
              <a:off x="3932569" y="3559178"/>
              <a:ext cx="1137909" cy="1409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368" name="Google Shape;1368;p32"/>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369" name="Google Shape;1369;p32"/>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1370" name="Google Shape;1370;p32"/>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1371" name="Google Shape;1371;p32"/>
          <p:cNvGrpSpPr/>
          <p:nvPr/>
        </p:nvGrpSpPr>
        <p:grpSpPr>
          <a:xfrm>
            <a:off x="4157998" y="2228522"/>
            <a:ext cx="1189038" cy="850900"/>
            <a:chOff x="4090" y="3230"/>
            <a:chExt cx="749" cy="536"/>
          </a:xfrm>
        </p:grpSpPr>
        <p:sp>
          <p:nvSpPr>
            <p:cNvPr id="1372" name="Google Shape;1372;p32"/>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373" name="Google Shape;1373;p32"/>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374" name="Google Shape;1374;p32"/>
          <p:cNvGrpSpPr/>
          <p:nvPr/>
        </p:nvGrpSpPr>
        <p:grpSpPr>
          <a:xfrm>
            <a:off x="4369136" y="4082722"/>
            <a:ext cx="889000" cy="865187"/>
            <a:chOff x="445" y="1273"/>
            <a:chExt cx="560" cy="545"/>
          </a:xfrm>
        </p:grpSpPr>
        <p:sp>
          <p:nvSpPr>
            <p:cNvPr id="1375" name="Google Shape;1375;p32"/>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376" name="Google Shape;1376;p32"/>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sp>
        <p:nvSpPr>
          <p:cNvPr id="1377" name="Google Shape;1377;p32"/>
          <p:cNvSpPr/>
          <p:nvPr/>
        </p:nvSpPr>
        <p:spPr>
          <a:xfrm>
            <a:off x="3771900" y="1861459"/>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78" name="Google Shape;1378;p32"/>
          <p:cNvSpPr/>
          <p:nvPr/>
        </p:nvSpPr>
        <p:spPr>
          <a:xfrm>
            <a:off x="3858986" y="3777345"/>
            <a:ext cx="4800600" cy="1534886"/>
          </a:xfrm>
          <a:prstGeom prst="ellipse">
            <a:avLst/>
          </a:prstGeom>
          <a:noFill/>
          <a:ln cap="flat" cmpd="sng" w="41275">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79" name="Google Shape;1379;p32"/>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0" name="Google Shape;1380;p32"/>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1" name="Google Shape;1381;p32"/>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2" name="Google Shape;1382;p32"/>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83" name="Google Shape;1383;p32"/>
          <p:cNvSpPr/>
          <p:nvPr/>
        </p:nvSpPr>
        <p:spPr>
          <a:xfrm>
            <a:off x="4251325" y="2212996"/>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7"/>
                                        </p:tgtEl>
                                        <p:attrNameLst>
                                          <p:attrName>style.visibility</p:attrName>
                                        </p:attrNameLst>
                                      </p:cBhvr>
                                      <p:to>
                                        <p:strVal val="visible"/>
                                      </p:to>
                                    </p:set>
                                    <p:animEffect filter="fade" transition="in">
                                      <p:cBhvr>
                                        <p:cTn dur="500"/>
                                        <p:tgtEl>
                                          <p:spTgt spid="1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77"/>
                                        </p:tgtEl>
                                      </p:cBhvr>
                                    </p:animEffect>
                                    <p:set>
                                      <p:cBhvr>
                                        <p:cTn dur="1" fill="hold">
                                          <p:stCondLst>
                                            <p:cond delay="500"/>
                                          </p:stCondLst>
                                        </p:cTn>
                                        <p:tgtEl>
                                          <p:spTgt spid="137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78"/>
                                        </p:tgtEl>
                                        <p:attrNameLst>
                                          <p:attrName>style.visibility</p:attrName>
                                        </p:attrNameLst>
                                      </p:cBhvr>
                                      <p:to>
                                        <p:strVal val="visible"/>
                                      </p:to>
                                    </p:set>
                                    <p:animEffect filter="fade" transition="in">
                                      <p:cBhvr>
                                        <p:cTn dur="500"/>
                                        <p:tgtEl>
                                          <p:spTgt spid="1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9"/>
                                        </p:tgtEl>
                                        <p:attrNameLst>
                                          <p:attrName>style.visibility</p:attrName>
                                        </p:attrNameLst>
                                      </p:cBhvr>
                                      <p:to>
                                        <p:strVal val="visible"/>
                                      </p:to>
                                    </p:set>
                                    <p:animEffect filter="fade" transition="in">
                                      <p:cBhvr>
                                        <p:cTn dur="500"/>
                                        <p:tgtEl>
                                          <p:spTgt spid="1379"/>
                                        </p:tgtEl>
                                      </p:cBhvr>
                                    </p:animEffect>
                                  </p:childTnLst>
                                </p:cTn>
                              </p:par>
                              <p:par>
                                <p:cTn fill="hold" nodeType="withEffect" presetClass="exit" presetID="10" presetSubtype="0">
                                  <p:stCondLst>
                                    <p:cond delay="0"/>
                                  </p:stCondLst>
                                  <p:childTnLst>
                                    <p:animEffect filter="fade" transition="out">
                                      <p:cBhvr>
                                        <p:cTn dur="500"/>
                                        <p:tgtEl>
                                          <p:spTgt spid="1378"/>
                                        </p:tgtEl>
                                      </p:cBhvr>
                                    </p:animEffect>
                                    <p:set>
                                      <p:cBhvr>
                                        <p:cTn dur="1" fill="hold">
                                          <p:stCondLst>
                                            <p:cond delay="500"/>
                                          </p:stCondLst>
                                        </p:cTn>
                                        <p:tgtEl>
                                          <p:spTgt spid="13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500"/>
                                        <p:tgtEl>
                                          <p:spTgt spid="1348"/>
                                        </p:tgtEl>
                                      </p:cBhvr>
                                    </p:animEffect>
                                  </p:childTnLst>
                                </p:cTn>
                              </p:par>
                              <p:par>
                                <p:cTn fill="hold" nodeType="withEffect" presetClass="exit" presetID="10" presetSubtype="0">
                                  <p:stCondLst>
                                    <p:cond delay="0"/>
                                  </p:stCondLst>
                                  <p:childTnLst>
                                    <p:animEffect filter="fade" transition="out">
                                      <p:cBhvr>
                                        <p:cTn dur="500"/>
                                        <p:tgtEl>
                                          <p:spTgt spid="1379"/>
                                        </p:tgtEl>
                                      </p:cBhvr>
                                    </p:animEffect>
                                    <p:set>
                                      <p:cBhvr>
                                        <p:cTn dur="1" fill="hold">
                                          <p:stCondLst>
                                            <p:cond delay="500"/>
                                          </p:stCondLst>
                                        </p:cTn>
                                        <p:tgtEl>
                                          <p:spTgt spid="137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42"/>
                                        </p:tgtEl>
                                        <p:attrNameLst>
                                          <p:attrName>style.visibility</p:attrName>
                                        </p:attrNameLst>
                                      </p:cBhvr>
                                      <p:to>
                                        <p:strVal val="visible"/>
                                      </p:to>
                                    </p:set>
                                    <p:animEffect filter="fade" transition="in">
                                      <p:cBhvr>
                                        <p:cTn dur="500"/>
                                        <p:tgtEl>
                                          <p:spTgt spid="13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80"/>
                                        </p:tgtEl>
                                        <p:attrNameLst>
                                          <p:attrName>style.visibility</p:attrName>
                                        </p:attrNameLst>
                                      </p:cBhvr>
                                      <p:to>
                                        <p:strVal val="visible"/>
                                      </p:to>
                                    </p:set>
                                    <p:animEffect filter="fade" transition="in">
                                      <p:cBhvr>
                                        <p:cTn dur="500"/>
                                        <p:tgtEl>
                                          <p:spTgt spid="1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1"/>
                                        </p:tgtEl>
                                        <p:attrNameLst>
                                          <p:attrName>style.visibility</p:attrName>
                                        </p:attrNameLst>
                                      </p:cBhvr>
                                      <p:to>
                                        <p:strVal val="visible"/>
                                      </p:to>
                                    </p:set>
                                    <p:animEffect filter="fade" transition="in">
                                      <p:cBhvr>
                                        <p:cTn dur="500"/>
                                        <p:tgtEl>
                                          <p:spTgt spid="1361"/>
                                        </p:tgtEl>
                                      </p:cBhvr>
                                    </p:animEffect>
                                  </p:childTnLst>
                                </p:cTn>
                              </p:par>
                              <p:par>
                                <p:cTn fill="hold" nodeType="withEffect" presetClass="exit" presetID="10" presetSubtype="0">
                                  <p:stCondLst>
                                    <p:cond delay="0"/>
                                  </p:stCondLst>
                                  <p:childTnLst>
                                    <p:animEffect filter="fade" transition="out">
                                      <p:cBhvr>
                                        <p:cTn dur="500"/>
                                        <p:tgtEl>
                                          <p:spTgt spid="1380"/>
                                        </p:tgtEl>
                                      </p:cBhvr>
                                    </p:animEffect>
                                    <p:set>
                                      <p:cBhvr>
                                        <p:cTn dur="1" fill="hold">
                                          <p:stCondLst>
                                            <p:cond delay="500"/>
                                          </p:stCondLst>
                                        </p:cTn>
                                        <p:tgtEl>
                                          <p:spTgt spid="138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41"/>
                                        </p:tgtEl>
                                        <p:attrNameLst>
                                          <p:attrName>style.visibility</p:attrName>
                                        </p:attrNameLst>
                                      </p:cBhvr>
                                      <p:to>
                                        <p:strVal val="visible"/>
                                      </p:to>
                                    </p:set>
                                    <p:animEffect filter="fade" transition="in">
                                      <p:cBhvr>
                                        <p:cTn dur="500"/>
                                        <p:tgtEl>
                                          <p:spTgt spid="134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81"/>
                                        </p:tgtEl>
                                        <p:attrNameLst>
                                          <p:attrName>style.visibility</p:attrName>
                                        </p:attrNameLst>
                                      </p:cBhvr>
                                      <p:to>
                                        <p:strVal val="visible"/>
                                      </p:to>
                                    </p:set>
                                    <p:animEffect filter="fade" transition="in">
                                      <p:cBhvr>
                                        <p:cTn dur="500"/>
                                        <p:tgtEl>
                                          <p:spTgt spid="1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6"/>
                                        </p:tgtEl>
                                        <p:attrNameLst>
                                          <p:attrName>style.visibility</p:attrName>
                                        </p:attrNameLst>
                                      </p:cBhvr>
                                      <p:to>
                                        <p:strVal val="visible"/>
                                      </p:to>
                                    </p:set>
                                    <p:animEffect filter="fade" transition="in">
                                      <p:cBhvr>
                                        <p:cTn dur="500"/>
                                        <p:tgtEl>
                                          <p:spTgt spid="1356"/>
                                        </p:tgtEl>
                                      </p:cBhvr>
                                    </p:animEffect>
                                  </p:childTnLst>
                                </p:cTn>
                              </p:par>
                              <p:par>
                                <p:cTn fill="hold" nodeType="withEffect" presetClass="exit" presetID="10" presetSubtype="0">
                                  <p:stCondLst>
                                    <p:cond delay="0"/>
                                  </p:stCondLst>
                                  <p:childTnLst>
                                    <p:animEffect filter="fade" transition="out">
                                      <p:cBhvr>
                                        <p:cTn dur="500"/>
                                        <p:tgtEl>
                                          <p:spTgt spid="1381"/>
                                        </p:tgtEl>
                                      </p:cBhvr>
                                    </p:animEffect>
                                    <p:set>
                                      <p:cBhvr>
                                        <p:cTn dur="1" fill="hold">
                                          <p:stCondLst>
                                            <p:cond delay="500"/>
                                          </p:stCondLst>
                                        </p:cTn>
                                        <p:tgtEl>
                                          <p:spTgt spid="138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40"/>
                                        </p:tgtEl>
                                        <p:attrNameLst>
                                          <p:attrName>style.visibility</p:attrName>
                                        </p:attrNameLst>
                                      </p:cBhvr>
                                      <p:to>
                                        <p:strVal val="visible"/>
                                      </p:to>
                                    </p:set>
                                    <p:animEffect filter="fade" transition="in">
                                      <p:cBhvr>
                                        <p:cTn dur="500"/>
                                        <p:tgtEl>
                                          <p:spTgt spid="13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82"/>
                                        </p:tgtEl>
                                        <p:attrNameLst>
                                          <p:attrName>style.visibility</p:attrName>
                                        </p:attrNameLst>
                                      </p:cBhvr>
                                      <p:to>
                                        <p:strVal val="visible"/>
                                      </p:to>
                                    </p:set>
                                    <p:animEffect filter="fade" transition="in">
                                      <p:cBhvr>
                                        <p:cTn dur="500"/>
                                        <p:tgtEl>
                                          <p:spTgt spid="1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6"/>
                                        </p:tgtEl>
                                        <p:attrNameLst>
                                          <p:attrName>style.visibility</p:attrName>
                                        </p:attrNameLst>
                                      </p:cBhvr>
                                      <p:to>
                                        <p:strVal val="visible"/>
                                      </p:to>
                                    </p:set>
                                    <p:animEffect filter="fade" transition="in">
                                      <p:cBhvr>
                                        <p:cTn dur="500"/>
                                        <p:tgtEl>
                                          <p:spTgt spid="1366"/>
                                        </p:tgtEl>
                                      </p:cBhvr>
                                    </p:animEffect>
                                  </p:childTnLst>
                                </p:cTn>
                              </p:par>
                              <p:par>
                                <p:cTn fill="hold" nodeType="withEffect" presetClass="entr" presetID="10" presetSubtype="0">
                                  <p:stCondLst>
                                    <p:cond delay="0"/>
                                  </p:stCondLst>
                                  <p:childTnLst>
                                    <p:set>
                                      <p:cBhvr>
                                        <p:cTn dur="1" fill="hold">
                                          <p:stCondLst>
                                            <p:cond delay="0"/>
                                          </p:stCondLst>
                                        </p:cTn>
                                        <p:tgtEl>
                                          <p:spTgt spid="1339"/>
                                        </p:tgtEl>
                                        <p:attrNameLst>
                                          <p:attrName>style.visibility</p:attrName>
                                        </p:attrNameLst>
                                      </p:cBhvr>
                                      <p:to>
                                        <p:strVal val="visible"/>
                                      </p:to>
                                    </p:set>
                                    <p:animEffect filter="fade" transition="in">
                                      <p:cBhvr>
                                        <p:cTn dur="500"/>
                                        <p:tgtEl>
                                          <p:spTgt spid="1339"/>
                                        </p:tgtEl>
                                      </p:cBhvr>
                                    </p:animEffect>
                                  </p:childTnLst>
                                </p:cTn>
                              </p:par>
                              <p:par>
                                <p:cTn fill="hold" nodeType="withEffect" presetClass="exit" presetID="10" presetSubtype="0">
                                  <p:stCondLst>
                                    <p:cond delay="0"/>
                                  </p:stCondLst>
                                  <p:childTnLst>
                                    <p:animEffect filter="fade" transition="out">
                                      <p:cBhvr>
                                        <p:cTn dur="500"/>
                                        <p:tgtEl>
                                          <p:spTgt spid="1382"/>
                                        </p:tgtEl>
                                      </p:cBhvr>
                                    </p:animEffect>
                                    <p:set>
                                      <p:cBhvr>
                                        <p:cTn dur="1" fill="hold">
                                          <p:stCondLst>
                                            <p:cond delay="500"/>
                                          </p:stCondLst>
                                        </p:cTn>
                                        <p:tgtEl>
                                          <p:spTgt spid="138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383"/>
                                        </p:tgtEl>
                                        <p:attrNameLst>
                                          <p:attrName>style.visibility</p:attrName>
                                        </p:attrNameLst>
                                      </p:cBhvr>
                                      <p:to>
                                        <p:strVal val="visible"/>
                                      </p:to>
                                    </p:set>
                                    <p:animEffect filter="fade" transition="in">
                                      <p:cBhvr>
                                        <p:cTn dur="500"/>
                                        <p:tgtEl>
                                          <p:spTgt spid="13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33"/>
          <p:cNvSpPr/>
          <p:nvPr/>
        </p:nvSpPr>
        <p:spPr>
          <a:xfrm>
            <a:off x="2666162" y="373585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0" name="Google Shape;1390;p33"/>
          <p:cNvSpPr/>
          <p:nvPr/>
        </p:nvSpPr>
        <p:spPr>
          <a:xfrm>
            <a:off x="5108911" y="5798809"/>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1" name="Google Shape;1391;p33"/>
          <p:cNvSpPr/>
          <p:nvPr/>
        </p:nvSpPr>
        <p:spPr>
          <a:xfrm>
            <a:off x="8105934" y="3949220"/>
            <a:ext cx="944562"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2" name="Google Shape;1392;p33"/>
          <p:cNvSpPr/>
          <p:nvPr/>
        </p:nvSpPr>
        <p:spPr>
          <a:xfrm>
            <a:off x="4772033" y="1955144"/>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393" name="Google Shape;1393;p3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sender</a:t>
            </a:r>
            <a:endParaRPr sz="4400"/>
          </a:p>
        </p:txBody>
      </p:sp>
      <p:cxnSp>
        <p:nvCxnSpPr>
          <p:cNvPr id="1394" name="Google Shape;1394;p33"/>
          <p:cNvCxnSpPr/>
          <p:nvPr/>
        </p:nvCxnSpPr>
        <p:spPr>
          <a:xfrm>
            <a:off x="4488198" y="1637972"/>
            <a:ext cx="157163" cy="576262"/>
          </a:xfrm>
          <a:prstGeom prst="straightConnector1">
            <a:avLst/>
          </a:prstGeom>
          <a:noFill/>
          <a:ln cap="flat" cmpd="sng" w="28575">
            <a:solidFill>
              <a:srgbClr val="000000"/>
            </a:solidFill>
            <a:prstDash val="dash"/>
            <a:round/>
            <a:headEnd len="med" w="med" type="none"/>
            <a:tailEnd len="med" w="med" type="triangle"/>
          </a:ln>
        </p:spPr>
      </p:cxnSp>
      <p:grpSp>
        <p:nvGrpSpPr>
          <p:cNvPr id="1395" name="Google Shape;1395;p33"/>
          <p:cNvGrpSpPr/>
          <p:nvPr/>
        </p:nvGrpSpPr>
        <p:grpSpPr>
          <a:xfrm>
            <a:off x="7099636" y="2184072"/>
            <a:ext cx="889000" cy="865187"/>
            <a:chOff x="445" y="1273"/>
            <a:chExt cx="560" cy="545"/>
          </a:xfrm>
        </p:grpSpPr>
        <p:sp>
          <p:nvSpPr>
            <p:cNvPr id="1396" name="Google Shape;1396;p3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397" name="Google Shape;1397;p3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ACK0</a:t>
              </a:r>
              <a:endParaRPr b="0" i="0" sz="1400" u="none" cap="none" strike="noStrike">
                <a:solidFill>
                  <a:srgbClr val="000000"/>
                </a:solidFill>
                <a:latin typeface="Times New Roman"/>
                <a:ea typeface="Times New Roman"/>
                <a:cs typeface="Times New Roman"/>
                <a:sym typeface="Times New Roman"/>
              </a:endParaRPr>
            </a:p>
          </p:txBody>
        </p:sp>
      </p:grpSp>
      <p:grpSp>
        <p:nvGrpSpPr>
          <p:cNvPr id="1398" name="Google Shape;1398;p33"/>
          <p:cNvGrpSpPr/>
          <p:nvPr/>
        </p:nvGrpSpPr>
        <p:grpSpPr>
          <a:xfrm>
            <a:off x="4758073" y="1183947"/>
            <a:ext cx="3860800" cy="1144587"/>
            <a:chOff x="4758073" y="1183947"/>
            <a:chExt cx="3860800" cy="1144587"/>
          </a:xfrm>
        </p:grpSpPr>
        <p:sp>
          <p:nvSpPr>
            <p:cNvPr id="1399" name="Google Shape;1399;p33"/>
            <p:cNvSpPr txBox="1"/>
            <p:nvPr/>
          </p:nvSpPr>
          <p:spPr>
            <a:xfrm>
              <a:off x="4758073" y="1477634"/>
              <a:ext cx="3860800" cy="5619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400" name="Google Shape;1400;p33"/>
            <p:cNvSpPr txBox="1"/>
            <p:nvPr/>
          </p:nvSpPr>
          <p:spPr>
            <a:xfrm>
              <a:off x="4799348" y="1183947"/>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1401" name="Google Shape;1401;p33"/>
            <p:cNvCxnSpPr/>
            <p:nvPr/>
          </p:nvCxnSpPr>
          <p:spPr>
            <a:xfrm>
              <a:off x="4900948" y="1522084"/>
              <a:ext cx="990600" cy="0"/>
            </a:xfrm>
            <a:prstGeom prst="straightConnector1">
              <a:avLst/>
            </a:prstGeom>
            <a:noFill/>
            <a:ln cap="flat" cmpd="sng" w="28575">
              <a:solidFill>
                <a:srgbClr val="000000"/>
              </a:solidFill>
              <a:prstDash val="solid"/>
              <a:round/>
              <a:headEnd len="med" w="med" type="none"/>
              <a:tailEnd len="med" w="med" type="none"/>
            </a:ln>
          </p:spPr>
        </p:cxnSp>
        <p:sp>
          <p:nvSpPr>
            <p:cNvPr id="1402" name="Google Shape;1402;p33"/>
            <p:cNvSpPr/>
            <p:nvPr/>
          </p:nvSpPr>
          <p:spPr>
            <a:xfrm flipH="1" rot="10800000">
              <a:off x="5123198" y="2165022"/>
              <a:ext cx="2090738" cy="16351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1403" name="Google Shape;1403;p33"/>
          <p:cNvGrpSpPr/>
          <p:nvPr/>
        </p:nvGrpSpPr>
        <p:grpSpPr>
          <a:xfrm>
            <a:off x="7191711" y="4098597"/>
            <a:ext cx="1189037" cy="850900"/>
            <a:chOff x="4090" y="3230"/>
            <a:chExt cx="749" cy="536"/>
          </a:xfrm>
        </p:grpSpPr>
        <p:sp>
          <p:nvSpPr>
            <p:cNvPr id="1404" name="Google Shape;1404;p3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405" name="Google Shape;1405;p3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406" name="Google Shape;1406;p33"/>
          <p:cNvGrpSpPr/>
          <p:nvPr/>
        </p:nvGrpSpPr>
        <p:grpSpPr>
          <a:xfrm>
            <a:off x="5054936" y="4832022"/>
            <a:ext cx="3444875" cy="1038225"/>
            <a:chOff x="5054936" y="4832022"/>
            <a:chExt cx="3444875" cy="1038225"/>
          </a:xfrm>
        </p:grpSpPr>
        <p:sp>
          <p:nvSpPr>
            <p:cNvPr id="1407" name="Google Shape;1407;p33"/>
            <p:cNvSpPr/>
            <p:nvPr/>
          </p:nvSpPr>
          <p:spPr>
            <a:xfrm>
              <a:off x="5108911" y="4832022"/>
              <a:ext cx="2312987" cy="27463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08" name="Google Shape;1408;p33"/>
            <p:cNvSpPr txBox="1"/>
            <p:nvPr/>
          </p:nvSpPr>
          <p:spPr>
            <a:xfrm>
              <a:off x="5054936" y="5317797"/>
              <a:ext cx="3444875" cy="552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409" name="Google Shape;1409;p33"/>
            <p:cNvSpPr txBox="1"/>
            <p:nvPr/>
          </p:nvSpPr>
          <p:spPr>
            <a:xfrm>
              <a:off x="5054936" y="5035222"/>
              <a:ext cx="17240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endParaRPr b="0" i="0" sz="1400" u="none" cap="none" strike="noStrike">
                <a:solidFill>
                  <a:srgbClr val="000000"/>
                </a:solidFill>
                <a:latin typeface="Times New Roman"/>
                <a:ea typeface="Times New Roman"/>
                <a:cs typeface="Times New Roman"/>
                <a:sym typeface="Times New Roman"/>
              </a:endParaRPr>
            </a:p>
          </p:txBody>
        </p:sp>
        <p:cxnSp>
          <p:nvCxnSpPr>
            <p:cNvPr id="1410" name="Google Shape;1410;p33"/>
            <p:cNvCxnSpPr/>
            <p:nvPr/>
          </p:nvCxnSpPr>
          <p:spPr>
            <a:xfrm>
              <a:off x="5173998" y="5346372"/>
              <a:ext cx="2598738" cy="0"/>
            </a:xfrm>
            <a:prstGeom prst="straightConnector1">
              <a:avLst/>
            </a:prstGeom>
            <a:noFill/>
            <a:ln cap="flat" cmpd="sng" w="28575">
              <a:solidFill>
                <a:srgbClr val="000000"/>
              </a:solidFill>
              <a:prstDash val="solid"/>
              <a:round/>
              <a:headEnd len="med" w="med" type="none"/>
              <a:tailEnd len="med" w="med" type="none"/>
            </a:ln>
          </p:spPr>
        </p:cxnSp>
      </p:grpSp>
      <p:grpSp>
        <p:nvGrpSpPr>
          <p:cNvPr id="1411" name="Google Shape;1411;p33"/>
          <p:cNvGrpSpPr/>
          <p:nvPr/>
        </p:nvGrpSpPr>
        <p:grpSpPr>
          <a:xfrm>
            <a:off x="7858461" y="2912734"/>
            <a:ext cx="2309812" cy="1184275"/>
            <a:chOff x="7858461" y="2912734"/>
            <a:chExt cx="2309812" cy="1184275"/>
          </a:xfrm>
        </p:grpSpPr>
        <p:sp>
          <p:nvSpPr>
            <p:cNvPr id="1412" name="Google Shape;1412;p33"/>
            <p:cNvSpPr/>
            <p:nvPr/>
          </p:nvSpPr>
          <p:spPr>
            <a:xfrm rot="-5400000">
              <a:off x="7349667" y="3421528"/>
              <a:ext cx="1184275" cy="166687"/>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13" name="Google Shape;1413;p33"/>
            <p:cNvSpPr txBox="1"/>
            <p:nvPr/>
          </p:nvSpPr>
          <p:spPr>
            <a:xfrm>
              <a:off x="8018798" y="3200072"/>
              <a:ext cx="21494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isACK(rcvpkt,0)</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414" name="Google Shape;1414;p33"/>
            <p:cNvCxnSpPr/>
            <p:nvPr/>
          </p:nvCxnSpPr>
          <p:spPr>
            <a:xfrm>
              <a:off x="8134686" y="3911272"/>
              <a:ext cx="1419225" cy="0"/>
            </a:xfrm>
            <a:prstGeom prst="straightConnector1">
              <a:avLst/>
            </a:prstGeom>
            <a:noFill/>
            <a:ln cap="flat" cmpd="sng" w="28575">
              <a:solidFill>
                <a:srgbClr val="000000"/>
              </a:solidFill>
              <a:prstDash val="solid"/>
              <a:round/>
              <a:headEnd len="med" w="med" type="none"/>
              <a:tailEnd len="med" w="med" type="none"/>
            </a:ln>
          </p:spPr>
        </p:cxnSp>
        <p:sp>
          <p:nvSpPr>
            <p:cNvPr id="1415" name="Google Shape;1415;p33"/>
            <p:cNvSpPr txBox="1"/>
            <p:nvPr/>
          </p:nvSpPr>
          <p:spPr>
            <a:xfrm>
              <a:off x="8039436" y="3892222"/>
              <a:ext cx="1514475" cy="179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1416" name="Google Shape;1416;p33"/>
          <p:cNvGrpSpPr/>
          <p:nvPr/>
        </p:nvGrpSpPr>
        <p:grpSpPr>
          <a:xfrm>
            <a:off x="2638761" y="2958772"/>
            <a:ext cx="1945938" cy="1239836"/>
            <a:chOff x="2638761" y="2958772"/>
            <a:chExt cx="1945938" cy="1239836"/>
          </a:xfrm>
        </p:grpSpPr>
        <p:sp>
          <p:nvSpPr>
            <p:cNvPr id="1417" name="Google Shape;1417;p33"/>
            <p:cNvSpPr/>
            <p:nvPr/>
          </p:nvSpPr>
          <p:spPr>
            <a:xfrm flipH="1" rot="5400000">
              <a:off x="3932568" y="3546478"/>
              <a:ext cx="1150609" cy="15365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18" name="Google Shape;1418;p33"/>
            <p:cNvSpPr txBox="1"/>
            <p:nvPr/>
          </p:nvSpPr>
          <p:spPr>
            <a:xfrm>
              <a:off x="2646698" y="2958772"/>
              <a:ext cx="1912938"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&amp;&amp; isACK(rcvpkt,1)</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419" name="Google Shape;1419;p33"/>
            <p:cNvCxnSpPr/>
            <p:nvPr/>
          </p:nvCxnSpPr>
          <p:spPr>
            <a:xfrm>
              <a:off x="2773698" y="3698547"/>
              <a:ext cx="1517650" cy="0"/>
            </a:xfrm>
            <a:prstGeom prst="straightConnector1">
              <a:avLst/>
            </a:prstGeom>
            <a:noFill/>
            <a:ln cap="flat" cmpd="sng" w="28575">
              <a:solidFill>
                <a:srgbClr val="000000"/>
              </a:solidFill>
              <a:prstDash val="solid"/>
              <a:round/>
              <a:headEnd len="med" w="med" type="none"/>
              <a:tailEnd len="med" w="med" type="none"/>
            </a:ln>
          </p:spPr>
        </p:cxnSp>
        <p:sp>
          <p:nvSpPr>
            <p:cNvPr id="1420" name="Google Shape;1420;p33"/>
            <p:cNvSpPr txBox="1"/>
            <p:nvPr/>
          </p:nvSpPr>
          <p:spPr>
            <a:xfrm>
              <a:off x="2638761" y="3671559"/>
              <a:ext cx="1514475"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stop_timer</a:t>
              </a:r>
              <a:endParaRPr b="0" i="0" sz="1400" u="none" cap="none" strike="noStrike">
                <a:solidFill>
                  <a:srgbClr val="000000"/>
                </a:solidFill>
                <a:latin typeface="Times New Roman"/>
                <a:ea typeface="Times New Roman"/>
                <a:cs typeface="Times New Roman"/>
                <a:sym typeface="Times New Roman"/>
              </a:endParaRPr>
            </a:p>
          </p:txBody>
        </p:sp>
      </p:grpSp>
      <p:grpSp>
        <p:nvGrpSpPr>
          <p:cNvPr id="1421" name="Google Shape;1421;p33"/>
          <p:cNvGrpSpPr/>
          <p:nvPr/>
        </p:nvGrpSpPr>
        <p:grpSpPr>
          <a:xfrm>
            <a:off x="7977523" y="2372984"/>
            <a:ext cx="2447925" cy="741363"/>
            <a:chOff x="7977523" y="2372984"/>
            <a:chExt cx="2447925" cy="741363"/>
          </a:xfrm>
        </p:grpSpPr>
        <p:sp>
          <p:nvSpPr>
            <p:cNvPr id="1422" name="Google Shape;1422;p33"/>
            <p:cNvSpPr/>
            <p:nvPr/>
          </p:nvSpPr>
          <p:spPr>
            <a:xfrm>
              <a:off x="8369605" y="2404148"/>
              <a:ext cx="73251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23" name="Google Shape;1423;p33"/>
            <p:cNvSpPr/>
            <p:nvPr/>
          </p:nvSpPr>
          <p:spPr>
            <a:xfrm>
              <a:off x="8358054" y="2870582"/>
              <a:ext cx="1037420"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1424" name="Google Shape;1424;p33"/>
            <p:cNvGrpSpPr/>
            <p:nvPr/>
          </p:nvGrpSpPr>
          <p:grpSpPr>
            <a:xfrm>
              <a:off x="7977523" y="2372984"/>
              <a:ext cx="2447925" cy="741363"/>
              <a:chOff x="7977523" y="2372984"/>
              <a:chExt cx="2447925" cy="741363"/>
            </a:xfrm>
          </p:grpSpPr>
          <p:sp>
            <p:nvSpPr>
              <p:cNvPr id="1425" name="Google Shape;1425;p33"/>
              <p:cNvSpPr/>
              <p:nvPr/>
            </p:nvSpPr>
            <p:spPr>
              <a:xfrm>
                <a:off x="7977523" y="2431722"/>
                <a:ext cx="461963" cy="682625"/>
              </a:xfrm>
              <a:custGeom>
                <a:rect b="b" l="l" r="r" t="t"/>
                <a:pathLst>
                  <a:path extrusionOk="0" h="430" w="291">
                    <a:moveTo>
                      <a:pt x="0" y="120"/>
                    </a:moveTo>
                    <a:cubicBezTo>
                      <a:pt x="291" y="0"/>
                      <a:pt x="259" y="430"/>
                      <a:pt x="15" y="2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26" name="Google Shape;1426;p33"/>
              <p:cNvSpPr txBox="1"/>
              <p:nvPr/>
            </p:nvSpPr>
            <p:spPr>
              <a:xfrm>
                <a:off x="8309311" y="2609522"/>
                <a:ext cx="21161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427" name="Google Shape;1427;p33"/>
              <p:cNvSpPr txBox="1"/>
              <p:nvPr/>
            </p:nvSpPr>
            <p:spPr>
              <a:xfrm>
                <a:off x="8331536" y="2372984"/>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1428" name="Google Shape;1428;p33"/>
              <p:cNvCxnSpPr/>
              <p:nvPr/>
            </p:nvCxnSpPr>
            <p:spPr>
              <a:xfrm>
                <a:off x="8420436" y="2626984"/>
                <a:ext cx="990600"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1429" name="Google Shape;1429;p33"/>
          <p:cNvGrpSpPr/>
          <p:nvPr/>
        </p:nvGrpSpPr>
        <p:grpSpPr>
          <a:xfrm>
            <a:off x="4157998" y="2228522"/>
            <a:ext cx="1189038" cy="850900"/>
            <a:chOff x="4090" y="3230"/>
            <a:chExt cx="749" cy="536"/>
          </a:xfrm>
        </p:grpSpPr>
        <p:sp>
          <p:nvSpPr>
            <p:cNvPr id="1430" name="Google Shape;1430;p33"/>
            <p:cNvSpPr/>
            <p:nvPr/>
          </p:nvSpPr>
          <p:spPr>
            <a:xfrm>
              <a:off x="4159" y="3230"/>
              <a:ext cx="595" cy="53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431" name="Google Shape;1431;p33"/>
            <p:cNvSpPr txBox="1"/>
            <p:nvPr/>
          </p:nvSpPr>
          <p:spPr>
            <a:xfrm>
              <a:off x="4090" y="3270"/>
              <a:ext cx="74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call 0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1432" name="Google Shape;1432;p33"/>
          <p:cNvGrpSpPr/>
          <p:nvPr/>
        </p:nvGrpSpPr>
        <p:grpSpPr>
          <a:xfrm>
            <a:off x="4369136" y="4082722"/>
            <a:ext cx="889000" cy="865187"/>
            <a:chOff x="445" y="1273"/>
            <a:chExt cx="560" cy="545"/>
          </a:xfrm>
        </p:grpSpPr>
        <p:sp>
          <p:nvSpPr>
            <p:cNvPr id="1433" name="Google Shape;1433;p33"/>
            <p:cNvSpPr/>
            <p:nvPr/>
          </p:nvSpPr>
          <p:spPr>
            <a:xfrm>
              <a:off x="445" y="1273"/>
              <a:ext cx="560" cy="54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1434" name="Google Shape;1434;p33"/>
            <p:cNvSpPr txBox="1"/>
            <p:nvPr/>
          </p:nvSpPr>
          <p:spPr>
            <a:xfrm>
              <a:off x="499" y="1309"/>
              <a:ext cx="450" cy="28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ACK1</a:t>
              </a:r>
              <a:endParaRPr b="0" i="0" sz="1400" u="none" cap="none" strike="noStrike">
                <a:solidFill>
                  <a:srgbClr val="000000"/>
                </a:solidFill>
                <a:latin typeface="Times New Roman"/>
                <a:ea typeface="Times New Roman"/>
                <a:cs typeface="Times New Roman"/>
                <a:sym typeface="Times New Roman"/>
              </a:endParaRPr>
            </a:p>
          </p:txBody>
        </p:sp>
      </p:grpSp>
      <p:grpSp>
        <p:nvGrpSpPr>
          <p:cNvPr id="1435" name="Google Shape;1435;p33"/>
          <p:cNvGrpSpPr/>
          <p:nvPr/>
        </p:nvGrpSpPr>
        <p:grpSpPr>
          <a:xfrm>
            <a:off x="8164848" y="4466897"/>
            <a:ext cx="1760538" cy="890587"/>
            <a:chOff x="8164848" y="4466897"/>
            <a:chExt cx="1760538" cy="890587"/>
          </a:xfrm>
        </p:grpSpPr>
        <p:sp>
          <p:nvSpPr>
            <p:cNvPr id="1436" name="Google Shape;1436;p33"/>
            <p:cNvSpPr/>
            <p:nvPr/>
          </p:nvSpPr>
          <p:spPr>
            <a:xfrm>
              <a:off x="8164848" y="44668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37" name="Google Shape;1437;p33"/>
            <p:cNvSpPr txBox="1"/>
            <p:nvPr/>
          </p:nvSpPr>
          <p:spPr>
            <a:xfrm>
              <a:off x="8963361" y="4946322"/>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1438" name="Google Shape;1438;p33"/>
            <p:cNvSpPr txBox="1"/>
            <p:nvPr/>
          </p:nvSpPr>
          <p:spPr>
            <a:xfrm>
              <a:off x="8496636" y="4697084"/>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1439" name="Google Shape;1439;p33"/>
            <p:cNvCxnSpPr/>
            <p:nvPr/>
          </p:nvCxnSpPr>
          <p:spPr>
            <a:xfrm>
              <a:off x="8583948" y="4982834"/>
              <a:ext cx="1101725" cy="0"/>
            </a:xfrm>
            <a:prstGeom prst="straightConnector1">
              <a:avLst/>
            </a:prstGeom>
            <a:noFill/>
            <a:ln cap="flat" cmpd="sng" w="28575">
              <a:solidFill>
                <a:srgbClr val="000000"/>
              </a:solidFill>
              <a:prstDash val="solid"/>
              <a:round/>
              <a:headEnd len="med" w="med" type="none"/>
              <a:tailEnd len="med" w="med" type="none"/>
            </a:ln>
          </p:spPr>
        </p:cxnSp>
      </p:grpSp>
      <p:grpSp>
        <p:nvGrpSpPr>
          <p:cNvPr id="1440" name="Google Shape;1440;p33"/>
          <p:cNvGrpSpPr/>
          <p:nvPr/>
        </p:nvGrpSpPr>
        <p:grpSpPr>
          <a:xfrm>
            <a:off x="7807661" y="1290309"/>
            <a:ext cx="2117725" cy="1144588"/>
            <a:chOff x="7807661" y="1290309"/>
            <a:chExt cx="2117725" cy="1144588"/>
          </a:xfrm>
        </p:grpSpPr>
        <p:sp>
          <p:nvSpPr>
            <p:cNvPr id="1441" name="Google Shape;1441;p33"/>
            <p:cNvSpPr/>
            <p:nvPr/>
          </p:nvSpPr>
          <p:spPr>
            <a:xfrm>
              <a:off x="7807661" y="1768147"/>
              <a:ext cx="871537" cy="666750"/>
            </a:xfrm>
            <a:custGeom>
              <a:rect b="b" l="l" r="r" t="t"/>
              <a:pathLst>
                <a:path extrusionOk="0" h="420" w="549">
                  <a:moveTo>
                    <a:pt x="0" y="306"/>
                  </a:moveTo>
                  <a:cubicBezTo>
                    <a:pt x="78" y="0"/>
                    <a:pt x="549" y="315"/>
                    <a:pt x="87" y="42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2" name="Google Shape;1442;p33"/>
            <p:cNvSpPr txBox="1"/>
            <p:nvPr/>
          </p:nvSpPr>
          <p:spPr>
            <a:xfrm>
              <a:off x="8220411" y="1290309"/>
              <a:ext cx="170497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isACK(rcvpkt,1) )</a:t>
              </a:r>
              <a:endParaRPr b="0" i="0" sz="1400" u="none" cap="none" strike="noStrike">
                <a:solidFill>
                  <a:srgbClr val="000000"/>
                </a:solidFill>
                <a:latin typeface="Times New Roman"/>
                <a:ea typeface="Times New Roman"/>
                <a:cs typeface="Times New Roman"/>
                <a:sym typeface="Times New Roman"/>
              </a:endParaRPr>
            </a:p>
          </p:txBody>
        </p:sp>
        <p:cxnSp>
          <p:nvCxnSpPr>
            <p:cNvPr id="1443" name="Google Shape;1443;p33"/>
            <p:cNvCxnSpPr/>
            <p:nvPr/>
          </p:nvCxnSpPr>
          <p:spPr>
            <a:xfrm>
              <a:off x="8429961" y="1991984"/>
              <a:ext cx="1350962" cy="0"/>
            </a:xfrm>
            <a:prstGeom prst="straightConnector1">
              <a:avLst/>
            </a:prstGeom>
            <a:noFill/>
            <a:ln cap="flat" cmpd="sng" w="28575">
              <a:solidFill>
                <a:srgbClr val="000000"/>
              </a:solidFill>
              <a:prstDash val="solid"/>
              <a:round/>
              <a:headEnd len="med" w="med" type="none"/>
              <a:tailEnd len="med" w="med" type="none"/>
            </a:ln>
          </p:spPr>
        </p:cxnSp>
        <p:sp>
          <p:nvSpPr>
            <p:cNvPr id="1444" name="Google Shape;1444;p33"/>
            <p:cNvSpPr txBox="1"/>
            <p:nvPr/>
          </p:nvSpPr>
          <p:spPr>
            <a:xfrm>
              <a:off x="8866523" y="1941184"/>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1445" name="Google Shape;1445;p33"/>
          <p:cNvGrpSpPr/>
          <p:nvPr/>
        </p:nvGrpSpPr>
        <p:grpSpPr>
          <a:xfrm>
            <a:off x="2775286" y="1876097"/>
            <a:ext cx="1549400" cy="890587"/>
            <a:chOff x="2775286" y="1876097"/>
            <a:chExt cx="1549400" cy="890587"/>
          </a:xfrm>
        </p:grpSpPr>
        <p:sp>
          <p:nvSpPr>
            <p:cNvPr id="1446" name="Google Shape;1446;p33"/>
            <p:cNvSpPr txBox="1"/>
            <p:nvPr/>
          </p:nvSpPr>
          <p:spPr>
            <a:xfrm>
              <a:off x="2775286" y="1968172"/>
              <a:ext cx="14287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b="0" i="0" sz="1400" u="none" cap="none" strike="noStrike">
                <a:solidFill>
                  <a:srgbClr val="000000"/>
                </a:solidFill>
                <a:latin typeface="Times New Roman"/>
                <a:ea typeface="Times New Roman"/>
                <a:cs typeface="Times New Roman"/>
                <a:sym typeface="Times New Roman"/>
              </a:endParaRPr>
            </a:p>
          </p:txBody>
        </p:sp>
        <p:cxnSp>
          <p:nvCxnSpPr>
            <p:cNvPr id="1447" name="Google Shape;1447;p33"/>
            <p:cNvCxnSpPr/>
            <p:nvPr/>
          </p:nvCxnSpPr>
          <p:spPr>
            <a:xfrm>
              <a:off x="2862598" y="2253922"/>
              <a:ext cx="1101725" cy="0"/>
            </a:xfrm>
            <a:prstGeom prst="straightConnector1">
              <a:avLst/>
            </a:prstGeom>
            <a:noFill/>
            <a:ln cap="flat" cmpd="sng" w="28575">
              <a:solidFill>
                <a:srgbClr val="000000"/>
              </a:solidFill>
              <a:prstDash val="solid"/>
              <a:round/>
              <a:headEnd len="med" w="med" type="none"/>
              <a:tailEnd len="med" w="med" type="none"/>
            </a:ln>
          </p:spPr>
        </p:cxnSp>
        <p:sp>
          <p:nvSpPr>
            <p:cNvPr id="1448" name="Google Shape;1448;p33"/>
            <p:cNvSpPr/>
            <p:nvPr/>
          </p:nvSpPr>
          <p:spPr>
            <a:xfrm rot="10800000">
              <a:off x="3745248" y="1876097"/>
              <a:ext cx="579438" cy="890587"/>
            </a:xfrm>
            <a:custGeom>
              <a:rect b="b" l="l" r="r" t="t"/>
              <a:pathLst>
                <a:path extrusionOk="0" h="483" w="322">
                  <a:moveTo>
                    <a:pt x="31" y="120"/>
                  </a:moveTo>
                  <a:cubicBezTo>
                    <a:pt x="322" y="0"/>
                    <a:pt x="64" y="483"/>
                    <a:pt x="0" y="18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49" name="Google Shape;1449;p33"/>
            <p:cNvSpPr txBox="1"/>
            <p:nvPr/>
          </p:nvSpPr>
          <p:spPr>
            <a:xfrm>
              <a:off x="3215023" y="22174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1450" name="Google Shape;1450;p33"/>
          <p:cNvGrpSpPr/>
          <p:nvPr/>
        </p:nvGrpSpPr>
        <p:grpSpPr>
          <a:xfrm>
            <a:off x="2367298" y="4307189"/>
            <a:ext cx="1973263" cy="725996"/>
            <a:chOff x="2367298" y="4307189"/>
            <a:chExt cx="1973263" cy="725996"/>
          </a:xfrm>
        </p:grpSpPr>
        <p:sp>
          <p:nvSpPr>
            <p:cNvPr id="1451" name="Google Shape;1451;p33"/>
            <p:cNvSpPr/>
            <p:nvPr/>
          </p:nvSpPr>
          <p:spPr>
            <a:xfrm>
              <a:off x="2418382" y="4342649"/>
              <a:ext cx="769654" cy="223838"/>
            </a:xfrm>
            <a:prstGeom prst="rect">
              <a:avLst/>
            </a:prstGeom>
            <a:solidFill>
              <a:srgbClr val="FFB3D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52" name="Google Shape;1452;p33"/>
            <p:cNvSpPr/>
            <p:nvPr/>
          </p:nvSpPr>
          <p:spPr>
            <a:xfrm>
              <a:off x="2418337" y="4809347"/>
              <a:ext cx="909161" cy="223838"/>
            </a:xfrm>
            <a:prstGeom prst="rect">
              <a:avLst/>
            </a:prstGeom>
            <a:solidFill>
              <a:srgbClr val="FFFF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53" name="Google Shape;1453;p33"/>
            <p:cNvSpPr/>
            <p:nvPr/>
          </p:nvSpPr>
          <p:spPr>
            <a:xfrm>
              <a:off x="3769061" y="4506584"/>
              <a:ext cx="571500" cy="420688"/>
            </a:xfrm>
            <a:custGeom>
              <a:rect b="b" l="l" r="r" t="t"/>
              <a:pathLst>
                <a:path extrusionOk="0" h="662" w="900">
                  <a:moveTo>
                    <a:pt x="900" y="360"/>
                  </a:moveTo>
                  <a:cubicBezTo>
                    <a:pt x="171" y="662"/>
                    <a:pt x="0" y="0"/>
                    <a:pt x="825" y="1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54" name="Google Shape;1454;p33"/>
            <p:cNvSpPr txBox="1"/>
            <p:nvPr/>
          </p:nvSpPr>
          <p:spPr>
            <a:xfrm>
              <a:off x="2367298" y="4554209"/>
              <a:ext cx="1824038"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Times New Roman"/>
                <a:ea typeface="Times New Roman"/>
                <a:cs typeface="Times New Roman"/>
                <a:sym typeface="Times New Roman"/>
              </a:endParaRPr>
            </a:p>
          </p:txBody>
        </p:sp>
        <p:sp>
          <p:nvSpPr>
            <p:cNvPr id="1455" name="Google Shape;1455;p33"/>
            <p:cNvSpPr txBox="1"/>
            <p:nvPr/>
          </p:nvSpPr>
          <p:spPr>
            <a:xfrm>
              <a:off x="2381586" y="4307189"/>
              <a:ext cx="1114425"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p:txBody>
        </p:sp>
        <p:cxnSp>
          <p:nvCxnSpPr>
            <p:cNvPr id="1456" name="Google Shape;1456;p33"/>
            <p:cNvCxnSpPr/>
            <p:nvPr/>
          </p:nvCxnSpPr>
          <p:spPr>
            <a:xfrm>
              <a:off x="2484773" y="4582784"/>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1457" name="Google Shape;1457;p33"/>
          <p:cNvGrpSpPr/>
          <p:nvPr/>
        </p:nvGrpSpPr>
        <p:grpSpPr>
          <a:xfrm>
            <a:off x="3029286" y="4795509"/>
            <a:ext cx="1631950" cy="1428750"/>
            <a:chOff x="3029286" y="4795509"/>
            <a:chExt cx="1631950" cy="1428750"/>
          </a:xfrm>
        </p:grpSpPr>
        <p:sp>
          <p:nvSpPr>
            <p:cNvPr id="1458" name="Google Shape;1458;p33"/>
            <p:cNvSpPr txBox="1"/>
            <p:nvPr/>
          </p:nvSpPr>
          <p:spPr>
            <a:xfrm>
              <a:off x="3029286" y="5155872"/>
              <a:ext cx="1622425"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isACK(rcvpkt,0) )</a:t>
              </a:r>
              <a:endParaRPr b="0" i="0" sz="1400" u="none" cap="none" strike="noStrike">
                <a:solidFill>
                  <a:srgbClr val="000000"/>
                </a:solidFill>
                <a:latin typeface="Times New Roman"/>
                <a:ea typeface="Times New Roman"/>
                <a:cs typeface="Times New Roman"/>
                <a:sym typeface="Times New Roman"/>
              </a:endParaRPr>
            </a:p>
          </p:txBody>
        </p:sp>
        <p:cxnSp>
          <p:nvCxnSpPr>
            <p:cNvPr id="1459" name="Google Shape;1459;p33"/>
            <p:cNvCxnSpPr/>
            <p:nvPr/>
          </p:nvCxnSpPr>
          <p:spPr>
            <a:xfrm>
              <a:off x="3132473" y="5881359"/>
              <a:ext cx="1254125" cy="0"/>
            </a:xfrm>
            <a:prstGeom prst="straightConnector1">
              <a:avLst/>
            </a:prstGeom>
            <a:noFill/>
            <a:ln cap="flat" cmpd="sng" w="28575">
              <a:solidFill>
                <a:srgbClr val="000000"/>
              </a:solidFill>
              <a:prstDash val="solid"/>
              <a:round/>
              <a:headEnd len="med" w="med" type="none"/>
              <a:tailEnd len="med" w="med" type="none"/>
            </a:ln>
          </p:spPr>
        </p:cxnSp>
        <p:sp>
          <p:nvSpPr>
            <p:cNvPr id="1460" name="Google Shape;1460;p33"/>
            <p:cNvSpPr/>
            <p:nvPr/>
          </p:nvSpPr>
          <p:spPr>
            <a:xfrm>
              <a:off x="3969086" y="4795509"/>
              <a:ext cx="692150" cy="631825"/>
            </a:xfrm>
            <a:custGeom>
              <a:rect b="b" l="l" r="r" t="t"/>
              <a:pathLst>
                <a:path extrusionOk="0" h="398" w="436">
                  <a:moveTo>
                    <a:pt x="436" y="101"/>
                  </a:moveTo>
                  <a:cubicBezTo>
                    <a:pt x="367" y="398"/>
                    <a:pt x="0" y="31"/>
                    <a:pt x="300"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461" name="Google Shape;1461;p33"/>
            <p:cNvSpPr txBox="1"/>
            <p:nvPr/>
          </p:nvSpPr>
          <p:spPr>
            <a:xfrm>
              <a:off x="3618248" y="588770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sp>
        <p:nvSpPr>
          <p:cNvPr id="1462" name="Google Shape;1462;p33"/>
          <p:cNvSpPr/>
          <p:nvPr/>
        </p:nvSpPr>
        <p:spPr>
          <a:xfrm>
            <a:off x="7086600" y="2184400"/>
            <a:ext cx="914400" cy="867848"/>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63" name="Google Shape;1463;p33"/>
          <p:cNvSpPr/>
          <p:nvPr/>
        </p:nvSpPr>
        <p:spPr>
          <a:xfrm>
            <a:off x="7302500" y="4102100"/>
            <a:ext cx="936658" cy="8509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64" name="Google Shape;1464;p33"/>
          <p:cNvSpPr/>
          <p:nvPr/>
        </p:nvSpPr>
        <p:spPr>
          <a:xfrm>
            <a:off x="4356100" y="4070372"/>
            <a:ext cx="914400" cy="876300"/>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465" name="Google Shape;1465;p33"/>
          <p:cNvSpPr/>
          <p:nvPr/>
        </p:nvSpPr>
        <p:spPr>
          <a:xfrm>
            <a:off x="4254500" y="2216171"/>
            <a:ext cx="952500" cy="871123"/>
          </a:xfrm>
          <a:prstGeom prst="ellipse">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62"/>
                                        </p:tgtEl>
                                        <p:attrNameLst>
                                          <p:attrName>style.visibility</p:attrName>
                                        </p:attrNameLst>
                                      </p:cBhvr>
                                      <p:to>
                                        <p:strVal val="visible"/>
                                      </p:to>
                                    </p:set>
                                    <p:animEffect filter="fade" transition="in">
                                      <p:cBhvr>
                                        <p:cTn dur="500"/>
                                        <p:tgtEl>
                                          <p:spTgt spid="146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21"/>
                                        </p:tgtEl>
                                        <p:attrNameLst>
                                          <p:attrName>style.visibility</p:attrName>
                                        </p:attrNameLst>
                                      </p:cBhvr>
                                      <p:to>
                                        <p:strVal val="visible"/>
                                      </p:to>
                                    </p:set>
                                    <p:animEffect filter="fade" transition="in">
                                      <p:cBhvr>
                                        <p:cTn dur="500"/>
                                        <p:tgtEl>
                                          <p:spTgt spid="14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0"/>
                                        </p:tgtEl>
                                        <p:attrNameLst>
                                          <p:attrName>style.visibility</p:attrName>
                                        </p:attrNameLst>
                                      </p:cBhvr>
                                      <p:to>
                                        <p:strVal val="visible"/>
                                      </p:to>
                                    </p:set>
                                    <p:animEffect filter="fade" transition="in">
                                      <p:cBhvr>
                                        <p:cTn dur="500"/>
                                        <p:tgtEl>
                                          <p:spTgt spid="1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62"/>
                                        </p:tgtEl>
                                      </p:cBhvr>
                                    </p:animEffect>
                                    <p:set>
                                      <p:cBhvr>
                                        <p:cTn dur="1" fill="hold">
                                          <p:stCondLst>
                                            <p:cond delay="500"/>
                                          </p:stCondLst>
                                        </p:cTn>
                                        <p:tgtEl>
                                          <p:spTgt spid="146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63"/>
                                        </p:tgtEl>
                                        <p:attrNameLst>
                                          <p:attrName>style.visibility</p:attrName>
                                        </p:attrNameLst>
                                      </p:cBhvr>
                                      <p:to>
                                        <p:strVal val="visible"/>
                                      </p:to>
                                    </p:set>
                                    <p:animEffect filter="fade" transition="in">
                                      <p:cBhvr>
                                        <p:cTn dur="500"/>
                                        <p:tgtEl>
                                          <p:spTgt spid="14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35"/>
                                        </p:tgtEl>
                                        <p:attrNameLst>
                                          <p:attrName>style.visibility</p:attrName>
                                        </p:attrNameLst>
                                      </p:cBhvr>
                                      <p:to>
                                        <p:strVal val="visible"/>
                                      </p:to>
                                    </p:set>
                                    <p:animEffect filter="fade" transition="in">
                                      <p:cBhvr>
                                        <p:cTn dur="500"/>
                                        <p:tgtEl>
                                          <p:spTgt spid="1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63"/>
                                        </p:tgtEl>
                                      </p:cBhvr>
                                    </p:animEffect>
                                    <p:set>
                                      <p:cBhvr>
                                        <p:cTn dur="1" fill="hold">
                                          <p:stCondLst>
                                            <p:cond delay="500"/>
                                          </p:stCondLst>
                                        </p:cTn>
                                        <p:tgtEl>
                                          <p:spTgt spid="146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64"/>
                                        </p:tgtEl>
                                        <p:attrNameLst>
                                          <p:attrName>style.visibility</p:attrName>
                                        </p:attrNameLst>
                                      </p:cBhvr>
                                      <p:to>
                                        <p:strVal val="visible"/>
                                      </p:to>
                                    </p:set>
                                    <p:animEffect filter="fade" transition="in">
                                      <p:cBhvr>
                                        <p:cTn dur="500"/>
                                        <p:tgtEl>
                                          <p:spTgt spid="1464"/>
                                        </p:tgtEl>
                                      </p:cBhvr>
                                    </p:animEffect>
                                  </p:childTnLst>
                                </p:cTn>
                              </p:par>
                              <p:par>
                                <p:cTn fill="hold" nodeType="withEffect" presetClass="entr" presetID="10" presetSubtype="0">
                                  <p:stCondLst>
                                    <p:cond delay="0"/>
                                  </p:stCondLst>
                                  <p:childTnLst>
                                    <p:set>
                                      <p:cBhvr>
                                        <p:cTn dur="1" fill="hold">
                                          <p:stCondLst>
                                            <p:cond delay="0"/>
                                          </p:stCondLst>
                                        </p:cTn>
                                        <p:tgtEl>
                                          <p:spTgt spid="1450"/>
                                        </p:tgtEl>
                                        <p:attrNameLst>
                                          <p:attrName>style.visibility</p:attrName>
                                        </p:attrNameLst>
                                      </p:cBhvr>
                                      <p:to>
                                        <p:strVal val="visible"/>
                                      </p:to>
                                    </p:set>
                                    <p:animEffect filter="fade" transition="in">
                                      <p:cBhvr>
                                        <p:cTn dur="500"/>
                                        <p:tgtEl>
                                          <p:spTgt spid="1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500"/>
                                        <p:tgtEl>
                                          <p:spTgt spid="1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64"/>
                                        </p:tgtEl>
                                      </p:cBhvr>
                                    </p:animEffect>
                                    <p:set>
                                      <p:cBhvr>
                                        <p:cTn dur="1" fill="hold">
                                          <p:stCondLst>
                                            <p:cond delay="500"/>
                                          </p:stCondLst>
                                        </p:cTn>
                                        <p:tgtEl>
                                          <p:spTgt spid="146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465"/>
                                        </p:tgtEl>
                                        <p:attrNameLst>
                                          <p:attrName>style.visibility</p:attrName>
                                        </p:attrNameLst>
                                      </p:cBhvr>
                                      <p:to>
                                        <p:strVal val="visible"/>
                                      </p:to>
                                    </p:set>
                                    <p:animEffect filter="fade" transition="in">
                                      <p:cBhvr>
                                        <p:cTn dur="500"/>
                                        <p:tgtEl>
                                          <p:spTgt spid="1465"/>
                                        </p:tgtEl>
                                      </p:cBhvr>
                                    </p:animEffect>
                                  </p:childTnLst>
                                </p:cTn>
                              </p:par>
                              <p:par>
                                <p:cTn fill="hold" nodeType="withEffect" presetClass="entr" presetID="10" presetSubtype="0">
                                  <p:stCondLst>
                                    <p:cond delay="0"/>
                                  </p:stCondLst>
                                  <p:childTnLst>
                                    <p:set>
                                      <p:cBhvr>
                                        <p:cTn dur="1" fill="hold">
                                          <p:stCondLst>
                                            <p:cond delay="0"/>
                                          </p:stCondLst>
                                        </p:cTn>
                                        <p:tgtEl>
                                          <p:spTgt spid="1445"/>
                                        </p:tgtEl>
                                        <p:attrNameLst>
                                          <p:attrName>style.visibility</p:attrName>
                                        </p:attrNameLst>
                                      </p:cBhvr>
                                      <p:to>
                                        <p:strVal val="visible"/>
                                      </p:to>
                                    </p:set>
                                    <p:animEffect filter="fade" transition="in">
                                      <p:cBhvr>
                                        <p:cTn dur="500"/>
                                        <p:tgtEl>
                                          <p:spTgt spid="14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0" name="Shape 1470"/>
        <p:cNvGrpSpPr/>
        <p:nvPr/>
      </p:nvGrpSpPr>
      <p:grpSpPr>
        <a:xfrm>
          <a:off x="0" y="0"/>
          <a:ext cx="0" cy="0"/>
          <a:chOff x="0" y="0"/>
          <a:chExt cx="0" cy="0"/>
        </a:xfrm>
      </p:grpSpPr>
      <p:sp>
        <p:nvSpPr>
          <p:cNvPr id="1471" name="Google Shape;1471;p3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1472" name="Google Shape;1472;p34"/>
          <p:cNvSpPr txBox="1"/>
          <p:nvPr/>
        </p:nvSpPr>
        <p:spPr>
          <a:xfrm>
            <a:off x="1363148" y="15124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473" name="Google Shape;1473;p34"/>
          <p:cNvSpPr txBox="1"/>
          <p:nvPr/>
        </p:nvSpPr>
        <p:spPr>
          <a:xfrm>
            <a:off x="3803136" y="1507725"/>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474" name="Google Shape;1474;p34"/>
          <p:cNvSpPr txBox="1"/>
          <p:nvPr/>
        </p:nvSpPr>
        <p:spPr>
          <a:xfrm>
            <a:off x="3806311" y="31317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475" name="Google Shape;1475;p34"/>
          <p:cNvSpPr txBox="1"/>
          <p:nvPr/>
        </p:nvSpPr>
        <p:spPr>
          <a:xfrm>
            <a:off x="3812661" y="39874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476" name="Google Shape;1476;p34"/>
          <p:cNvSpPr txBox="1"/>
          <p:nvPr/>
        </p:nvSpPr>
        <p:spPr>
          <a:xfrm>
            <a:off x="3809486" y="24459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477" name="Google Shape;1477;p34"/>
          <p:cNvSpPr txBox="1"/>
          <p:nvPr/>
        </p:nvSpPr>
        <p:spPr>
          <a:xfrm>
            <a:off x="3806311" y="33571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478" name="Google Shape;1478;p34"/>
          <p:cNvSpPr txBox="1"/>
          <p:nvPr/>
        </p:nvSpPr>
        <p:spPr>
          <a:xfrm>
            <a:off x="3806311" y="4182662"/>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479" name="Google Shape;1479;p34"/>
          <p:cNvSpPr txBox="1"/>
          <p:nvPr/>
        </p:nvSpPr>
        <p:spPr>
          <a:xfrm>
            <a:off x="1291711" y="26951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480" name="Google Shape;1480;p34"/>
          <p:cNvSpPr txBox="1"/>
          <p:nvPr/>
        </p:nvSpPr>
        <p:spPr>
          <a:xfrm>
            <a:off x="1136136" y="3788962"/>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481" name="Google Shape;1481;p34"/>
          <p:cNvSpPr txBox="1"/>
          <p:nvPr/>
        </p:nvSpPr>
        <p:spPr>
          <a:xfrm>
            <a:off x="1136136" y="29142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482" name="Google Shape;1482;p34"/>
          <p:cNvSpPr txBox="1"/>
          <p:nvPr/>
        </p:nvSpPr>
        <p:spPr>
          <a:xfrm>
            <a:off x="1280598" y="3549250"/>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1483" name="Google Shape;1483;p34"/>
          <p:cNvSpPr txBox="1"/>
          <p:nvPr/>
        </p:nvSpPr>
        <p:spPr>
          <a:xfrm>
            <a:off x="1125023" y="19522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484" name="Google Shape;1484;p34"/>
          <p:cNvSpPr txBox="1"/>
          <p:nvPr/>
        </p:nvSpPr>
        <p:spPr>
          <a:xfrm>
            <a:off x="3801548" y="22348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485" name="Google Shape;1485;p34"/>
          <p:cNvGrpSpPr/>
          <p:nvPr/>
        </p:nvGrpSpPr>
        <p:grpSpPr>
          <a:xfrm>
            <a:off x="2341048" y="2022075"/>
            <a:ext cx="1471613" cy="512762"/>
            <a:chOff x="850" y="1159"/>
            <a:chExt cx="927" cy="323"/>
          </a:xfrm>
        </p:grpSpPr>
        <p:cxnSp>
          <p:nvCxnSpPr>
            <p:cNvPr id="1486" name="Google Shape;1486;p34"/>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487" name="Google Shape;1487;p34"/>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488" name="Google Shape;1488;p34"/>
          <p:cNvGrpSpPr/>
          <p:nvPr/>
        </p:nvGrpSpPr>
        <p:grpSpPr>
          <a:xfrm>
            <a:off x="2334698" y="3758800"/>
            <a:ext cx="1471613" cy="487362"/>
            <a:chOff x="846" y="2253"/>
            <a:chExt cx="927" cy="307"/>
          </a:xfrm>
        </p:grpSpPr>
        <p:cxnSp>
          <p:nvCxnSpPr>
            <p:cNvPr id="1489" name="Google Shape;1489;p34"/>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1490" name="Google Shape;1490;p34"/>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491" name="Google Shape;1491;p34"/>
          <p:cNvGrpSpPr/>
          <p:nvPr/>
        </p:nvGrpSpPr>
        <p:grpSpPr>
          <a:xfrm>
            <a:off x="2348986" y="2896787"/>
            <a:ext cx="1471612" cy="504825"/>
            <a:chOff x="855" y="1710"/>
            <a:chExt cx="927" cy="318"/>
          </a:xfrm>
        </p:grpSpPr>
        <p:cxnSp>
          <p:nvCxnSpPr>
            <p:cNvPr id="1492" name="Google Shape;1492;p34"/>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493" name="Google Shape;1493;p34"/>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494" name="Google Shape;1494;p34"/>
          <p:cNvGrpSpPr/>
          <p:nvPr/>
        </p:nvGrpSpPr>
        <p:grpSpPr>
          <a:xfrm>
            <a:off x="2334698" y="3361925"/>
            <a:ext cx="1471613" cy="471487"/>
            <a:chOff x="846" y="2003"/>
            <a:chExt cx="927" cy="297"/>
          </a:xfrm>
        </p:grpSpPr>
        <p:cxnSp>
          <p:nvCxnSpPr>
            <p:cNvPr id="1495" name="Google Shape;1495;p34"/>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1496" name="Google Shape;1496;p34"/>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1497" name="Google Shape;1497;p34"/>
          <p:cNvGrpSpPr/>
          <p:nvPr/>
        </p:nvGrpSpPr>
        <p:grpSpPr>
          <a:xfrm>
            <a:off x="2326761" y="2522137"/>
            <a:ext cx="1471612" cy="455613"/>
            <a:chOff x="841" y="1474"/>
            <a:chExt cx="927" cy="287"/>
          </a:xfrm>
        </p:grpSpPr>
        <p:cxnSp>
          <p:nvCxnSpPr>
            <p:cNvPr id="1498" name="Google Shape;1498;p34"/>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499" name="Google Shape;1499;p34"/>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500" name="Google Shape;1500;p34"/>
          <p:cNvGrpSpPr/>
          <p:nvPr/>
        </p:nvGrpSpPr>
        <p:grpSpPr>
          <a:xfrm>
            <a:off x="2320411" y="4214412"/>
            <a:ext cx="1471612" cy="461963"/>
            <a:chOff x="837" y="2540"/>
            <a:chExt cx="927" cy="291"/>
          </a:xfrm>
        </p:grpSpPr>
        <p:cxnSp>
          <p:nvCxnSpPr>
            <p:cNvPr id="1501" name="Google Shape;1501;p34"/>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502" name="Google Shape;1502;p34"/>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1503" name="Google Shape;1503;p34"/>
          <p:cNvSpPr txBox="1"/>
          <p:nvPr/>
        </p:nvSpPr>
        <p:spPr>
          <a:xfrm>
            <a:off x="2628386" y="5293912"/>
            <a:ext cx="12525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(a) no loss</a:t>
            </a:r>
            <a:endParaRPr/>
          </a:p>
        </p:txBody>
      </p:sp>
      <p:sp>
        <p:nvSpPr>
          <p:cNvPr id="1504" name="Google Shape;1504;p34"/>
          <p:cNvSpPr txBox="1"/>
          <p:nvPr/>
        </p:nvSpPr>
        <p:spPr>
          <a:xfrm>
            <a:off x="7079959" y="1461687"/>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505" name="Google Shape;1505;p34"/>
          <p:cNvSpPr txBox="1"/>
          <p:nvPr/>
        </p:nvSpPr>
        <p:spPr>
          <a:xfrm>
            <a:off x="9519946" y="1456925"/>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506" name="Google Shape;1506;p34"/>
          <p:cNvSpPr txBox="1"/>
          <p:nvPr/>
        </p:nvSpPr>
        <p:spPr>
          <a:xfrm>
            <a:off x="9521534" y="4373162"/>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507" name="Google Shape;1507;p34"/>
          <p:cNvSpPr txBox="1"/>
          <p:nvPr/>
        </p:nvSpPr>
        <p:spPr>
          <a:xfrm>
            <a:off x="9529471" y="5214537"/>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508" name="Google Shape;1508;p34"/>
          <p:cNvSpPr txBox="1"/>
          <p:nvPr/>
        </p:nvSpPr>
        <p:spPr>
          <a:xfrm>
            <a:off x="9526296" y="2395137"/>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509" name="Google Shape;1509;p34"/>
          <p:cNvSpPr txBox="1"/>
          <p:nvPr/>
        </p:nvSpPr>
        <p:spPr>
          <a:xfrm>
            <a:off x="9523121" y="45843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510" name="Google Shape;1510;p34"/>
          <p:cNvSpPr txBox="1"/>
          <p:nvPr/>
        </p:nvSpPr>
        <p:spPr>
          <a:xfrm>
            <a:off x="9523121" y="5409800"/>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511" name="Google Shape;1511;p34"/>
          <p:cNvSpPr txBox="1"/>
          <p:nvPr/>
        </p:nvSpPr>
        <p:spPr>
          <a:xfrm>
            <a:off x="7008521" y="2644375"/>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512" name="Google Shape;1512;p34"/>
          <p:cNvSpPr txBox="1"/>
          <p:nvPr/>
        </p:nvSpPr>
        <p:spPr>
          <a:xfrm>
            <a:off x="6852946" y="501610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513" name="Google Shape;1513;p34"/>
          <p:cNvSpPr txBox="1"/>
          <p:nvPr/>
        </p:nvSpPr>
        <p:spPr>
          <a:xfrm>
            <a:off x="6852946" y="2863450"/>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514" name="Google Shape;1514;p34"/>
          <p:cNvSpPr txBox="1"/>
          <p:nvPr/>
        </p:nvSpPr>
        <p:spPr>
          <a:xfrm>
            <a:off x="6997409" y="4776387"/>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1515" name="Google Shape;1515;p34"/>
          <p:cNvSpPr txBox="1"/>
          <p:nvPr/>
        </p:nvSpPr>
        <p:spPr>
          <a:xfrm>
            <a:off x="6841834" y="1901425"/>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516" name="Google Shape;1516;p34"/>
          <p:cNvSpPr txBox="1"/>
          <p:nvPr/>
        </p:nvSpPr>
        <p:spPr>
          <a:xfrm>
            <a:off x="9518359" y="2184000"/>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517" name="Google Shape;1517;p34"/>
          <p:cNvGrpSpPr/>
          <p:nvPr/>
        </p:nvGrpSpPr>
        <p:grpSpPr>
          <a:xfrm>
            <a:off x="8057859" y="1971275"/>
            <a:ext cx="1471612" cy="512762"/>
            <a:chOff x="850" y="1159"/>
            <a:chExt cx="927" cy="323"/>
          </a:xfrm>
        </p:grpSpPr>
        <p:cxnSp>
          <p:nvCxnSpPr>
            <p:cNvPr id="1518" name="Google Shape;1518;p34"/>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519" name="Google Shape;1519;p34"/>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520" name="Google Shape;1520;p34"/>
          <p:cNvGrpSpPr/>
          <p:nvPr/>
        </p:nvGrpSpPr>
        <p:grpSpPr>
          <a:xfrm>
            <a:off x="8051509" y="4985937"/>
            <a:ext cx="1471612" cy="487363"/>
            <a:chOff x="846" y="2253"/>
            <a:chExt cx="927" cy="307"/>
          </a:xfrm>
        </p:grpSpPr>
        <p:cxnSp>
          <p:nvCxnSpPr>
            <p:cNvPr id="1521" name="Google Shape;1521;p34"/>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1522" name="Google Shape;1522;p34"/>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523" name="Google Shape;1523;p34"/>
          <p:cNvGrpSpPr/>
          <p:nvPr/>
        </p:nvGrpSpPr>
        <p:grpSpPr>
          <a:xfrm>
            <a:off x="8051509" y="4589062"/>
            <a:ext cx="1471612" cy="471488"/>
            <a:chOff x="846" y="2003"/>
            <a:chExt cx="927" cy="297"/>
          </a:xfrm>
        </p:grpSpPr>
        <p:cxnSp>
          <p:nvCxnSpPr>
            <p:cNvPr id="1524" name="Google Shape;1524;p34"/>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1525" name="Google Shape;1525;p34"/>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1526" name="Google Shape;1526;p34"/>
          <p:cNvGrpSpPr/>
          <p:nvPr/>
        </p:nvGrpSpPr>
        <p:grpSpPr>
          <a:xfrm>
            <a:off x="8043571" y="2471337"/>
            <a:ext cx="1471613" cy="455613"/>
            <a:chOff x="841" y="1474"/>
            <a:chExt cx="927" cy="287"/>
          </a:xfrm>
        </p:grpSpPr>
        <p:cxnSp>
          <p:nvCxnSpPr>
            <p:cNvPr id="1527" name="Google Shape;1527;p34"/>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528" name="Google Shape;1528;p34"/>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529" name="Google Shape;1529;p34"/>
          <p:cNvGrpSpPr/>
          <p:nvPr/>
        </p:nvGrpSpPr>
        <p:grpSpPr>
          <a:xfrm>
            <a:off x="8037221" y="5436787"/>
            <a:ext cx="1471613" cy="466725"/>
            <a:chOff x="837" y="2537"/>
            <a:chExt cx="927" cy="294"/>
          </a:xfrm>
        </p:grpSpPr>
        <p:cxnSp>
          <p:nvCxnSpPr>
            <p:cNvPr id="1530" name="Google Shape;1530;p34"/>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531" name="Google Shape;1531;p34"/>
            <p:cNvSpPr txBox="1"/>
            <p:nvPr/>
          </p:nvSpPr>
          <p:spPr>
            <a:xfrm>
              <a:off x="1091" y="2537"/>
              <a:ext cx="37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Tahoma"/>
                <a:buNone/>
              </a:pPr>
              <a:r>
                <a:rPr b="0" i="0" lang="en-US" sz="1600" u="none" cap="none" strike="noStrike">
                  <a:solidFill>
                    <a:srgbClr val="008000"/>
                  </a:solidFill>
                  <a:latin typeface="Tahoma"/>
                  <a:ea typeface="Tahoma"/>
                  <a:cs typeface="Tahoma"/>
                  <a:sym typeface="Tahoma"/>
                </a:rPr>
                <a:t>ack0</a:t>
              </a:r>
              <a:endParaRPr/>
            </a:p>
          </p:txBody>
        </p:sp>
      </p:grpSp>
      <p:sp>
        <p:nvSpPr>
          <p:cNvPr id="1532" name="Google Shape;1532;p34"/>
          <p:cNvSpPr txBox="1"/>
          <p:nvPr/>
        </p:nvSpPr>
        <p:spPr>
          <a:xfrm>
            <a:off x="8130884" y="6207345"/>
            <a:ext cx="1671637"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(b) packet loss</a:t>
            </a:r>
            <a:endParaRPr/>
          </a:p>
        </p:txBody>
      </p:sp>
      <p:grpSp>
        <p:nvGrpSpPr>
          <p:cNvPr id="1533" name="Google Shape;1533;p34"/>
          <p:cNvGrpSpPr/>
          <p:nvPr/>
        </p:nvGrpSpPr>
        <p:grpSpPr>
          <a:xfrm>
            <a:off x="8065796" y="2845987"/>
            <a:ext cx="1157288" cy="738188"/>
            <a:chOff x="3726" y="1687"/>
            <a:chExt cx="729" cy="465"/>
          </a:xfrm>
        </p:grpSpPr>
        <p:cxnSp>
          <p:nvCxnSpPr>
            <p:cNvPr id="1534" name="Google Shape;1534;p34"/>
            <p:cNvCxnSpPr/>
            <p:nvPr/>
          </p:nvCxnSpPr>
          <p:spPr>
            <a:xfrm>
              <a:off x="3726" y="1780"/>
              <a:ext cx="548" cy="148"/>
            </a:xfrm>
            <a:prstGeom prst="straightConnector1">
              <a:avLst/>
            </a:prstGeom>
            <a:noFill/>
            <a:ln cap="flat" cmpd="sng" w="28575">
              <a:solidFill>
                <a:srgbClr val="000099"/>
              </a:solidFill>
              <a:prstDash val="solid"/>
              <a:round/>
              <a:headEnd len="med" w="med" type="none"/>
              <a:tailEnd len="med" w="med" type="triangle"/>
            </a:ln>
          </p:spPr>
        </p:cxnSp>
        <p:sp>
          <p:nvSpPr>
            <p:cNvPr id="1535" name="Google Shape;1535;p34"/>
            <p:cNvSpPr txBox="1"/>
            <p:nvPr/>
          </p:nvSpPr>
          <p:spPr>
            <a:xfrm>
              <a:off x="3965" y="1687"/>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sp>
          <p:nvSpPr>
            <p:cNvPr id="1536" name="Google Shape;1536;p34"/>
            <p:cNvSpPr txBox="1"/>
            <p:nvPr/>
          </p:nvSpPr>
          <p:spPr>
            <a:xfrm>
              <a:off x="4185" y="1808"/>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1537" name="Google Shape;1537;p34"/>
            <p:cNvSpPr txBox="1"/>
            <p:nvPr/>
          </p:nvSpPr>
          <p:spPr>
            <a:xfrm>
              <a:off x="4126" y="1940"/>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1538" name="Google Shape;1538;p34"/>
          <p:cNvGrpSpPr/>
          <p:nvPr/>
        </p:nvGrpSpPr>
        <p:grpSpPr>
          <a:xfrm>
            <a:off x="7946734" y="3149200"/>
            <a:ext cx="122237" cy="1033462"/>
            <a:chOff x="3651" y="1878"/>
            <a:chExt cx="78" cy="963"/>
          </a:xfrm>
        </p:grpSpPr>
        <p:cxnSp>
          <p:nvCxnSpPr>
            <p:cNvPr id="1539" name="Google Shape;1539;p34"/>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1540" name="Google Shape;1540;p34"/>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1541" name="Google Shape;1541;p34"/>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1542" name="Google Shape;1542;p34"/>
          <p:cNvGrpSpPr/>
          <p:nvPr/>
        </p:nvGrpSpPr>
        <p:grpSpPr>
          <a:xfrm>
            <a:off x="8075321" y="4138212"/>
            <a:ext cx="1471613" cy="504825"/>
            <a:chOff x="855" y="1710"/>
            <a:chExt cx="927" cy="318"/>
          </a:xfrm>
        </p:grpSpPr>
        <p:cxnSp>
          <p:nvCxnSpPr>
            <p:cNvPr id="1543" name="Google Shape;1543;p34"/>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544" name="Google Shape;1544;p34"/>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545" name="Google Shape;1545;p34"/>
          <p:cNvGrpSpPr/>
          <p:nvPr/>
        </p:nvGrpSpPr>
        <p:grpSpPr>
          <a:xfrm>
            <a:off x="6643396" y="3761975"/>
            <a:ext cx="1377950" cy="731837"/>
            <a:chOff x="2802" y="2348"/>
            <a:chExt cx="868" cy="461"/>
          </a:xfrm>
        </p:grpSpPr>
        <p:pic>
          <p:nvPicPr>
            <p:cNvPr descr="alarm_clock_ringing" id="1546" name="Google Shape;1546;p34"/>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1547" name="Google Shape;1547;p34"/>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5"/>
                                        </p:tgtEl>
                                        <p:attrNameLst>
                                          <p:attrName>style.visibility</p:attrName>
                                        </p:attrNameLst>
                                      </p:cBhvr>
                                      <p:to>
                                        <p:strVal val="visible"/>
                                      </p:to>
                                    </p:set>
                                    <p:animEffect filter="fade" transition="in">
                                      <p:cBhvr>
                                        <p:cTn dur="500"/>
                                        <p:tgtEl>
                                          <p:spTgt spid="14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84">
                                            <p:txEl>
                                              <p:pRg end="0" st="0"/>
                                            </p:txEl>
                                          </p:spTgt>
                                        </p:tgtEl>
                                        <p:attrNameLst>
                                          <p:attrName>style.visibility</p:attrName>
                                        </p:attrNameLst>
                                      </p:cBhvr>
                                      <p:to>
                                        <p:strVal val="visible"/>
                                      </p:to>
                                    </p:set>
                                    <p:animEffect filter="fade" transition="in">
                                      <p:cBhvr>
                                        <p:cTn dur="500"/>
                                        <p:tgtEl>
                                          <p:spTgt spid="14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6"/>
                                        </p:tgtEl>
                                        <p:attrNameLst>
                                          <p:attrName>style.visibility</p:attrName>
                                        </p:attrNameLst>
                                      </p:cBhvr>
                                      <p:to>
                                        <p:strVal val="visible"/>
                                      </p:to>
                                    </p:set>
                                    <p:animEffect filter="fade" transition="in">
                                      <p:cBhvr>
                                        <p:cTn dur="500"/>
                                        <p:tgtEl>
                                          <p:spTgt spid="147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97"/>
                                        </p:tgtEl>
                                        <p:attrNameLst>
                                          <p:attrName>style.visibility</p:attrName>
                                        </p:attrNameLst>
                                      </p:cBhvr>
                                      <p:to>
                                        <p:strVal val="visible"/>
                                      </p:to>
                                    </p:set>
                                    <p:animEffect filter="fade" transition="in">
                                      <p:cBhvr>
                                        <p:cTn dur="500"/>
                                        <p:tgtEl>
                                          <p:spTgt spid="14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79"/>
                                        </p:tgtEl>
                                        <p:attrNameLst>
                                          <p:attrName>style.visibility</p:attrName>
                                        </p:attrNameLst>
                                      </p:cBhvr>
                                      <p:to>
                                        <p:strVal val="visible"/>
                                      </p:to>
                                    </p:set>
                                    <p:animEffect filter="fade" transition="in">
                                      <p:cBhvr>
                                        <p:cTn dur="500"/>
                                        <p:tgtEl>
                                          <p:spTgt spid="1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1"/>
                                        </p:tgtEl>
                                        <p:attrNameLst>
                                          <p:attrName>style.visibility</p:attrName>
                                        </p:attrNameLst>
                                      </p:cBhvr>
                                      <p:to>
                                        <p:strVal val="visible"/>
                                      </p:to>
                                    </p:set>
                                    <p:animEffect filter="fade" transition="in">
                                      <p:cBhvr>
                                        <p:cTn dur="500"/>
                                        <p:tgtEl>
                                          <p:spTgt spid="148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91"/>
                                        </p:tgtEl>
                                        <p:attrNameLst>
                                          <p:attrName>style.visibility</p:attrName>
                                        </p:attrNameLst>
                                      </p:cBhvr>
                                      <p:to>
                                        <p:strVal val="visible"/>
                                      </p:to>
                                    </p:set>
                                    <p:animEffect filter="fade" transition="in">
                                      <p:cBhvr>
                                        <p:cTn dur="500"/>
                                        <p:tgtEl>
                                          <p:spTgt spid="14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74">
                                            <p:txEl>
                                              <p:pRg end="0" st="0"/>
                                            </p:txEl>
                                          </p:spTgt>
                                        </p:tgtEl>
                                        <p:attrNameLst>
                                          <p:attrName>style.visibility</p:attrName>
                                        </p:attrNameLst>
                                      </p:cBhvr>
                                      <p:to>
                                        <p:strVal val="visible"/>
                                      </p:to>
                                    </p:set>
                                    <p:animEffect filter="fade" transition="in">
                                      <p:cBhvr>
                                        <p:cTn dur="500"/>
                                        <p:tgtEl>
                                          <p:spTgt spid="1474">
                                            <p:txEl>
                                              <p:pRg end="0" st="0"/>
                                            </p:txEl>
                                          </p:spTgt>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477"/>
                                        </p:tgtEl>
                                        <p:attrNameLst>
                                          <p:attrName>style.visibility</p:attrName>
                                        </p:attrNameLst>
                                      </p:cBhvr>
                                      <p:to>
                                        <p:strVal val="visible"/>
                                      </p:to>
                                    </p:set>
                                    <p:animEffect filter="fade" transition="in">
                                      <p:cBhvr>
                                        <p:cTn dur="500"/>
                                        <p:tgtEl>
                                          <p:spTgt spid="147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494"/>
                                        </p:tgtEl>
                                        <p:attrNameLst>
                                          <p:attrName>style.visibility</p:attrName>
                                        </p:attrNameLst>
                                      </p:cBhvr>
                                      <p:to>
                                        <p:strVal val="visible"/>
                                      </p:to>
                                    </p:set>
                                    <p:animEffect filter="fade" transition="in">
                                      <p:cBhvr>
                                        <p:cTn dur="500"/>
                                        <p:tgtEl>
                                          <p:spTgt spid="149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482"/>
                                        </p:tgtEl>
                                        <p:attrNameLst>
                                          <p:attrName>style.visibility</p:attrName>
                                        </p:attrNameLst>
                                      </p:cBhvr>
                                      <p:to>
                                        <p:strVal val="visible"/>
                                      </p:to>
                                    </p:set>
                                    <p:animEffect filter="fade" transition="in">
                                      <p:cBhvr>
                                        <p:cTn dur="500"/>
                                        <p:tgtEl>
                                          <p:spTgt spid="148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480"/>
                                        </p:tgtEl>
                                        <p:attrNameLst>
                                          <p:attrName>style.visibility</p:attrName>
                                        </p:attrNameLst>
                                      </p:cBhvr>
                                      <p:to>
                                        <p:strVal val="visible"/>
                                      </p:to>
                                    </p:set>
                                    <p:animEffect filter="fade" transition="in">
                                      <p:cBhvr>
                                        <p:cTn dur="500"/>
                                        <p:tgtEl>
                                          <p:spTgt spid="148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488"/>
                                        </p:tgtEl>
                                        <p:attrNameLst>
                                          <p:attrName>style.visibility</p:attrName>
                                        </p:attrNameLst>
                                      </p:cBhvr>
                                      <p:to>
                                        <p:strVal val="visible"/>
                                      </p:to>
                                    </p:set>
                                    <p:animEffect filter="fade" transition="in">
                                      <p:cBhvr>
                                        <p:cTn dur="500"/>
                                        <p:tgtEl>
                                          <p:spTgt spid="148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475"/>
                                        </p:tgtEl>
                                        <p:attrNameLst>
                                          <p:attrName>style.visibility</p:attrName>
                                        </p:attrNameLst>
                                      </p:cBhvr>
                                      <p:to>
                                        <p:strVal val="visible"/>
                                      </p:to>
                                    </p:set>
                                    <p:animEffect filter="fade" transition="in">
                                      <p:cBhvr>
                                        <p:cTn dur="500"/>
                                        <p:tgtEl>
                                          <p:spTgt spid="147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478">
                                            <p:txEl>
                                              <p:pRg end="0" st="0"/>
                                            </p:txEl>
                                          </p:spTgt>
                                        </p:tgtEl>
                                        <p:attrNameLst>
                                          <p:attrName>style.visibility</p:attrName>
                                        </p:attrNameLst>
                                      </p:cBhvr>
                                      <p:to>
                                        <p:strVal val="visible"/>
                                      </p:to>
                                    </p:set>
                                    <p:animEffect filter="fade" transition="in">
                                      <p:cBhvr>
                                        <p:cTn dur="500"/>
                                        <p:tgtEl>
                                          <p:spTgt spid="1478">
                                            <p:txEl>
                                              <p:pRg end="0" st="0"/>
                                            </p:txEl>
                                          </p:spTgt>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500"/>
                                        </p:tgtEl>
                                        <p:attrNameLst>
                                          <p:attrName>style.visibility</p:attrName>
                                        </p:attrNameLst>
                                      </p:cBhvr>
                                      <p:to>
                                        <p:strVal val="visible"/>
                                      </p:to>
                                    </p:set>
                                    <p:animEffect filter="fade" transition="in">
                                      <p:cBhvr>
                                        <p:cTn dur="500"/>
                                        <p:tgtEl>
                                          <p:spTgt spid="1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7"/>
                                        </p:tgtEl>
                                        <p:attrNameLst>
                                          <p:attrName>style.visibility</p:attrName>
                                        </p:attrNameLst>
                                      </p:cBhvr>
                                      <p:to>
                                        <p:strVal val="visible"/>
                                      </p:to>
                                    </p:set>
                                    <p:animEffect filter="fade" transition="in">
                                      <p:cBhvr>
                                        <p:cTn dur="500"/>
                                        <p:tgtEl>
                                          <p:spTgt spid="151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16">
                                            <p:txEl>
                                              <p:pRg end="0" st="0"/>
                                            </p:txEl>
                                          </p:spTgt>
                                        </p:tgtEl>
                                        <p:attrNameLst>
                                          <p:attrName>style.visibility</p:attrName>
                                        </p:attrNameLst>
                                      </p:cBhvr>
                                      <p:to>
                                        <p:strVal val="visible"/>
                                      </p:to>
                                    </p:set>
                                    <p:animEffect filter="fade" transition="in">
                                      <p:cBhvr>
                                        <p:cTn dur="500"/>
                                        <p:tgtEl>
                                          <p:spTgt spid="151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08"/>
                                        </p:tgtEl>
                                        <p:attrNameLst>
                                          <p:attrName>style.visibility</p:attrName>
                                        </p:attrNameLst>
                                      </p:cBhvr>
                                      <p:to>
                                        <p:strVal val="visible"/>
                                      </p:to>
                                    </p:set>
                                    <p:animEffect filter="fade" transition="in">
                                      <p:cBhvr>
                                        <p:cTn dur="500"/>
                                        <p:tgtEl>
                                          <p:spTgt spid="1508"/>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26"/>
                                        </p:tgtEl>
                                        <p:attrNameLst>
                                          <p:attrName>style.visibility</p:attrName>
                                        </p:attrNameLst>
                                      </p:cBhvr>
                                      <p:to>
                                        <p:strVal val="visible"/>
                                      </p:to>
                                    </p:set>
                                    <p:animEffect filter="fade" transition="in">
                                      <p:cBhvr>
                                        <p:cTn dur="500"/>
                                        <p:tgtEl>
                                          <p:spTgt spid="152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11"/>
                                        </p:tgtEl>
                                        <p:attrNameLst>
                                          <p:attrName>style.visibility</p:attrName>
                                        </p:attrNameLst>
                                      </p:cBhvr>
                                      <p:to>
                                        <p:strVal val="visible"/>
                                      </p:to>
                                    </p:set>
                                    <p:animEffect filter="fade" transition="in">
                                      <p:cBhvr>
                                        <p:cTn dur="500"/>
                                        <p:tgtEl>
                                          <p:spTgt spid="1511"/>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513"/>
                                        </p:tgtEl>
                                        <p:attrNameLst>
                                          <p:attrName>style.visibility</p:attrName>
                                        </p:attrNameLst>
                                      </p:cBhvr>
                                      <p:to>
                                        <p:strVal val="visible"/>
                                      </p:to>
                                    </p:set>
                                    <p:animEffect filter="fade" transition="in">
                                      <p:cBhvr>
                                        <p:cTn dur="500"/>
                                        <p:tgtEl>
                                          <p:spTgt spid="151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33"/>
                                        </p:tgtEl>
                                        <p:attrNameLst>
                                          <p:attrName>style.visibility</p:attrName>
                                        </p:attrNameLst>
                                      </p:cBhvr>
                                      <p:to>
                                        <p:strVal val="visible"/>
                                      </p:to>
                                    </p:set>
                                    <p:animEffect filter="fade" transition="in">
                                      <p:cBhvr>
                                        <p:cTn dur="500"/>
                                        <p:tgtEl>
                                          <p:spTgt spid="15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8"/>
                                        </p:tgtEl>
                                        <p:attrNameLst>
                                          <p:attrName>style.visibility</p:attrName>
                                        </p:attrNameLst>
                                      </p:cBhvr>
                                      <p:to>
                                        <p:strVal val="visible"/>
                                      </p:to>
                                    </p:set>
                                    <p:animEffect filter="fade" transition="in">
                                      <p:cBhvr>
                                        <p:cTn dur="1000"/>
                                        <p:tgtEl>
                                          <p:spTgt spid="153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45"/>
                                        </p:tgtEl>
                                        <p:attrNameLst>
                                          <p:attrName>style.visibility</p:attrName>
                                        </p:attrNameLst>
                                      </p:cBhvr>
                                      <p:to>
                                        <p:strVal val="visible"/>
                                      </p:to>
                                    </p:set>
                                    <p:animEffect filter="fade" transition="in">
                                      <p:cBhvr>
                                        <p:cTn dur="500"/>
                                        <p:tgtEl>
                                          <p:spTgt spid="15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2"/>
                                        </p:tgtEl>
                                        <p:attrNameLst>
                                          <p:attrName>style.visibility</p:attrName>
                                        </p:attrNameLst>
                                      </p:cBhvr>
                                      <p:to>
                                        <p:strVal val="visible"/>
                                      </p:to>
                                    </p:set>
                                    <p:animEffect filter="fade" transition="in">
                                      <p:cBhvr>
                                        <p:cTn dur="500"/>
                                        <p:tgtEl>
                                          <p:spTgt spid="15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06">
                                            <p:txEl>
                                              <p:pRg end="0" st="0"/>
                                            </p:txEl>
                                          </p:spTgt>
                                        </p:tgtEl>
                                        <p:attrNameLst>
                                          <p:attrName>style.visibility</p:attrName>
                                        </p:attrNameLst>
                                      </p:cBhvr>
                                      <p:to>
                                        <p:strVal val="visible"/>
                                      </p:to>
                                    </p:set>
                                    <p:animEffect filter="fade" transition="in">
                                      <p:cBhvr>
                                        <p:cTn dur="500"/>
                                        <p:tgtEl>
                                          <p:spTgt spid="150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09"/>
                                        </p:tgtEl>
                                        <p:attrNameLst>
                                          <p:attrName>style.visibility</p:attrName>
                                        </p:attrNameLst>
                                      </p:cBhvr>
                                      <p:to>
                                        <p:strVal val="visible"/>
                                      </p:to>
                                    </p:set>
                                    <p:animEffect filter="fade" transition="in">
                                      <p:cBhvr>
                                        <p:cTn dur="500"/>
                                        <p:tgtEl>
                                          <p:spTgt spid="150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23"/>
                                        </p:tgtEl>
                                        <p:attrNameLst>
                                          <p:attrName>style.visibility</p:attrName>
                                        </p:attrNameLst>
                                      </p:cBhvr>
                                      <p:to>
                                        <p:strVal val="visible"/>
                                      </p:to>
                                    </p:set>
                                    <p:animEffect filter="fade" transition="in">
                                      <p:cBhvr>
                                        <p:cTn dur="500"/>
                                        <p:tgtEl>
                                          <p:spTgt spid="152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14"/>
                                        </p:tgtEl>
                                        <p:attrNameLst>
                                          <p:attrName>style.visibility</p:attrName>
                                        </p:attrNameLst>
                                      </p:cBhvr>
                                      <p:to>
                                        <p:strVal val="visible"/>
                                      </p:to>
                                    </p:set>
                                    <p:animEffect filter="fade" transition="in">
                                      <p:cBhvr>
                                        <p:cTn dur="500"/>
                                        <p:tgtEl>
                                          <p:spTgt spid="151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512"/>
                                        </p:tgtEl>
                                        <p:attrNameLst>
                                          <p:attrName>style.visibility</p:attrName>
                                        </p:attrNameLst>
                                      </p:cBhvr>
                                      <p:to>
                                        <p:strVal val="visible"/>
                                      </p:to>
                                    </p:set>
                                    <p:animEffect filter="fade" transition="in">
                                      <p:cBhvr>
                                        <p:cTn dur="500"/>
                                        <p:tgtEl>
                                          <p:spTgt spid="151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20"/>
                                        </p:tgtEl>
                                        <p:attrNameLst>
                                          <p:attrName>style.visibility</p:attrName>
                                        </p:attrNameLst>
                                      </p:cBhvr>
                                      <p:to>
                                        <p:strVal val="visible"/>
                                      </p:to>
                                    </p:set>
                                    <p:animEffect filter="fade" transition="in">
                                      <p:cBhvr>
                                        <p:cTn dur="500"/>
                                        <p:tgtEl>
                                          <p:spTgt spid="1520"/>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507"/>
                                        </p:tgtEl>
                                        <p:attrNameLst>
                                          <p:attrName>style.visibility</p:attrName>
                                        </p:attrNameLst>
                                      </p:cBhvr>
                                      <p:to>
                                        <p:strVal val="visible"/>
                                      </p:to>
                                    </p:set>
                                    <p:animEffect filter="fade" transition="in">
                                      <p:cBhvr>
                                        <p:cTn dur="500"/>
                                        <p:tgtEl>
                                          <p:spTgt spid="150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510">
                                            <p:txEl>
                                              <p:pRg end="0" st="0"/>
                                            </p:txEl>
                                          </p:spTgt>
                                        </p:tgtEl>
                                        <p:attrNameLst>
                                          <p:attrName>style.visibility</p:attrName>
                                        </p:attrNameLst>
                                      </p:cBhvr>
                                      <p:to>
                                        <p:strVal val="visible"/>
                                      </p:to>
                                    </p:set>
                                    <p:animEffect filter="fade" transition="in">
                                      <p:cBhvr>
                                        <p:cTn dur="500"/>
                                        <p:tgtEl>
                                          <p:spTgt spid="1510">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529"/>
                                        </p:tgtEl>
                                        <p:attrNameLst>
                                          <p:attrName>style.visibility</p:attrName>
                                        </p:attrNameLst>
                                      </p:cBhvr>
                                      <p:to>
                                        <p:strVal val="visible"/>
                                      </p:to>
                                    </p:set>
                                    <p:animEffect filter="fade" transition="in">
                                      <p:cBhvr>
                                        <p:cTn dur="500"/>
                                        <p:tgtEl>
                                          <p:spTgt spid="15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3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in action</a:t>
            </a:r>
            <a:endParaRPr sz="4400"/>
          </a:p>
        </p:txBody>
      </p:sp>
      <p:sp>
        <p:nvSpPr>
          <p:cNvPr id="1554" name="Google Shape;1554;p35"/>
          <p:cNvSpPr txBox="1"/>
          <p:nvPr/>
        </p:nvSpPr>
        <p:spPr>
          <a:xfrm>
            <a:off x="3808470" y="3116226"/>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555" name="Google Shape;1555;p35"/>
          <p:cNvSpPr txBox="1"/>
          <p:nvPr/>
        </p:nvSpPr>
        <p:spPr>
          <a:xfrm>
            <a:off x="3808470" y="33416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556" name="Google Shape;1556;p35"/>
          <p:cNvSpPr txBox="1"/>
          <p:nvPr/>
        </p:nvSpPr>
        <p:spPr>
          <a:xfrm>
            <a:off x="3789420" y="4532276"/>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1557" name="Google Shape;1557;p35"/>
          <p:cNvGrpSpPr/>
          <p:nvPr/>
        </p:nvGrpSpPr>
        <p:grpSpPr>
          <a:xfrm>
            <a:off x="2340033" y="2889213"/>
            <a:ext cx="1471612" cy="504825"/>
            <a:chOff x="855" y="1710"/>
            <a:chExt cx="927" cy="318"/>
          </a:xfrm>
        </p:grpSpPr>
        <p:cxnSp>
          <p:nvCxnSpPr>
            <p:cNvPr id="1558" name="Google Shape;1558;p3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559" name="Google Shape;1559;p3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1560" name="Google Shape;1560;p35"/>
          <p:cNvSpPr txBox="1"/>
          <p:nvPr/>
        </p:nvSpPr>
        <p:spPr>
          <a:xfrm>
            <a:off x="1352608" y="1508088"/>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561" name="Google Shape;1561;p35"/>
          <p:cNvSpPr txBox="1"/>
          <p:nvPr/>
        </p:nvSpPr>
        <p:spPr>
          <a:xfrm>
            <a:off x="3792595" y="1503326"/>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562" name="Google Shape;1562;p35"/>
          <p:cNvSpPr txBox="1"/>
          <p:nvPr/>
        </p:nvSpPr>
        <p:spPr>
          <a:xfrm>
            <a:off x="3805295" y="426398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563" name="Google Shape;1563;p35"/>
          <p:cNvSpPr txBox="1"/>
          <p:nvPr/>
        </p:nvSpPr>
        <p:spPr>
          <a:xfrm>
            <a:off x="3802120" y="52609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564" name="Google Shape;1564;p35"/>
          <p:cNvSpPr txBox="1"/>
          <p:nvPr/>
        </p:nvSpPr>
        <p:spPr>
          <a:xfrm>
            <a:off x="3798945" y="2441538"/>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565" name="Google Shape;1565;p35"/>
          <p:cNvSpPr txBox="1"/>
          <p:nvPr/>
        </p:nvSpPr>
        <p:spPr>
          <a:xfrm>
            <a:off x="3817995" y="46862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566" name="Google Shape;1566;p35"/>
          <p:cNvSpPr txBox="1"/>
          <p:nvPr/>
        </p:nvSpPr>
        <p:spPr>
          <a:xfrm>
            <a:off x="3795770" y="545620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567" name="Google Shape;1567;p35"/>
          <p:cNvSpPr txBox="1"/>
          <p:nvPr/>
        </p:nvSpPr>
        <p:spPr>
          <a:xfrm>
            <a:off x="1281170" y="2690776"/>
            <a:ext cx="10223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568" name="Google Shape;1568;p35"/>
          <p:cNvSpPr txBox="1"/>
          <p:nvPr/>
        </p:nvSpPr>
        <p:spPr>
          <a:xfrm>
            <a:off x="1125595" y="506250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569" name="Google Shape;1569;p35"/>
          <p:cNvSpPr txBox="1"/>
          <p:nvPr/>
        </p:nvSpPr>
        <p:spPr>
          <a:xfrm>
            <a:off x="1125595" y="2909851"/>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570" name="Google Shape;1570;p35"/>
          <p:cNvSpPr txBox="1"/>
          <p:nvPr/>
        </p:nvSpPr>
        <p:spPr>
          <a:xfrm>
            <a:off x="1270058" y="48227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sp>
        <p:nvSpPr>
          <p:cNvPr id="1571" name="Google Shape;1571;p35"/>
          <p:cNvSpPr txBox="1"/>
          <p:nvPr/>
        </p:nvSpPr>
        <p:spPr>
          <a:xfrm>
            <a:off x="1114483" y="1947826"/>
            <a:ext cx="11747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572" name="Google Shape;1572;p35"/>
          <p:cNvSpPr txBox="1"/>
          <p:nvPr/>
        </p:nvSpPr>
        <p:spPr>
          <a:xfrm>
            <a:off x="3791008" y="22304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573" name="Google Shape;1573;p35"/>
          <p:cNvGrpSpPr/>
          <p:nvPr/>
        </p:nvGrpSpPr>
        <p:grpSpPr>
          <a:xfrm>
            <a:off x="2330508" y="2017676"/>
            <a:ext cx="1471612" cy="512762"/>
            <a:chOff x="850" y="1159"/>
            <a:chExt cx="927" cy="323"/>
          </a:xfrm>
        </p:grpSpPr>
        <p:cxnSp>
          <p:nvCxnSpPr>
            <p:cNvPr id="1574" name="Google Shape;1574;p3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575" name="Google Shape;1575;p35"/>
            <p:cNvSpPr txBox="1"/>
            <p:nvPr/>
          </p:nvSpPr>
          <p:spPr>
            <a:xfrm>
              <a:off x="1100" y="1159"/>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576" name="Google Shape;1576;p35"/>
          <p:cNvGrpSpPr/>
          <p:nvPr/>
        </p:nvGrpSpPr>
        <p:grpSpPr>
          <a:xfrm>
            <a:off x="2324158" y="5032338"/>
            <a:ext cx="1471612" cy="487363"/>
            <a:chOff x="846" y="2253"/>
            <a:chExt cx="927" cy="307"/>
          </a:xfrm>
        </p:grpSpPr>
        <p:cxnSp>
          <p:nvCxnSpPr>
            <p:cNvPr id="1577" name="Google Shape;1577;p35"/>
            <p:cNvCxnSpPr/>
            <p:nvPr/>
          </p:nvCxnSpPr>
          <p:spPr>
            <a:xfrm>
              <a:off x="846" y="2335"/>
              <a:ext cx="927" cy="225"/>
            </a:xfrm>
            <a:prstGeom prst="straightConnector1">
              <a:avLst/>
            </a:prstGeom>
            <a:noFill/>
            <a:ln cap="flat" cmpd="sng" w="28575">
              <a:solidFill>
                <a:srgbClr val="000099"/>
              </a:solidFill>
              <a:prstDash val="solid"/>
              <a:round/>
              <a:headEnd len="med" w="med" type="none"/>
              <a:tailEnd len="med" w="med" type="triangle"/>
            </a:ln>
          </p:spPr>
        </p:cxnSp>
        <p:sp>
          <p:nvSpPr>
            <p:cNvPr id="1578" name="Google Shape;1578;p35"/>
            <p:cNvSpPr txBox="1"/>
            <p:nvPr/>
          </p:nvSpPr>
          <p:spPr>
            <a:xfrm>
              <a:off x="1097" y="2253"/>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579" name="Google Shape;1579;p35"/>
          <p:cNvGrpSpPr/>
          <p:nvPr/>
        </p:nvGrpSpPr>
        <p:grpSpPr>
          <a:xfrm>
            <a:off x="2324158" y="4635463"/>
            <a:ext cx="1471612" cy="471488"/>
            <a:chOff x="846" y="2003"/>
            <a:chExt cx="927" cy="297"/>
          </a:xfrm>
        </p:grpSpPr>
        <p:cxnSp>
          <p:nvCxnSpPr>
            <p:cNvPr id="1580" name="Google Shape;1580;p35"/>
            <p:cNvCxnSpPr/>
            <p:nvPr/>
          </p:nvCxnSpPr>
          <p:spPr>
            <a:xfrm flipH="1">
              <a:off x="846" y="2075"/>
              <a:ext cx="927" cy="225"/>
            </a:xfrm>
            <a:prstGeom prst="straightConnector1">
              <a:avLst/>
            </a:prstGeom>
            <a:noFill/>
            <a:ln cap="flat" cmpd="sng" w="28575">
              <a:solidFill>
                <a:srgbClr val="008000"/>
              </a:solidFill>
              <a:prstDash val="solid"/>
              <a:round/>
              <a:headEnd len="med" w="med" type="none"/>
              <a:tailEnd len="med" w="med" type="triangle"/>
            </a:ln>
          </p:spPr>
        </p:cxnSp>
        <p:sp>
          <p:nvSpPr>
            <p:cNvPr id="1581" name="Google Shape;1581;p35"/>
            <p:cNvSpPr txBox="1"/>
            <p:nvPr/>
          </p:nvSpPr>
          <p:spPr>
            <a:xfrm>
              <a:off x="1092" y="2003"/>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grpSp>
        <p:nvGrpSpPr>
          <p:cNvPr id="1582" name="Google Shape;1582;p35"/>
          <p:cNvGrpSpPr/>
          <p:nvPr/>
        </p:nvGrpSpPr>
        <p:grpSpPr>
          <a:xfrm>
            <a:off x="2316220" y="2517738"/>
            <a:ext cx="1471613" cy="455613"/>
            <a:chOff x="841" y="1474"/>
            <a:chExt cx="927" cy="287"/>
          </a:xfrm>
        </p:grpSpPr>
        <p:cxnSp>
          <p:nvCxnSpPr>
            <p:cNvPr id="1583" name="Google Shape;1583;p3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584" name="Google Shape;1584;p35"/>
            <p:cNvSpPr txBox="1"/>
            <p:nvPr/>
          </p:nvSpPr>
          <p:spPr>
            <a:xfrm>
              <a:off x="1089" y="1474"/>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585" name="Google Shape;1585;p35"/>
          <p:cNvGrpSpPr/>
          <p:nvPr/>
        </p:nvGrpSpPr>
        <p:grpSpPr>
          <a:xfrm>
            <a:off x="2309870" y="5487951"/>
            <a:ext cx="1471613" cy="461962"/>
            <a:chOff x="837" y="2540"/>
            <a:chExt cx="927" cy="291"/>
          </a:xfrm>
        </p:grpSpPr>
        <p:cxnSp>
          <p:nvCxnSpPr>
            <p:cNvPr id="1586" name="Google Shape;1586;p35"/>
            <p:cNvCxnSpPr/>
            <p:nvPr/>
          </p:nvCxnSpPr>
          <p:spPr>
            <a:xfrm flipH="1">
              <a:off x="837" y="260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587" name="Google Shape;1587;p35"/>
            <p:cNvSpPr txBox="1"/>
            <p:nvPr/>
          </p:nvSpPr>
          <p:spPr>
            <a:xfrm>
              <a:off x="1086" y="2540"/>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1588" name="Google Shape;1588;p35"/>
          <p:cNvSpPr txBox="1"/>
          <p:nvPr/>
        </p:nvSpPr>
        <p:spPr>
          <a:xfrm>
            <a:off x="2108258" y="6200738"/>
            <a:ext cx="13938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(c) ACK loss</a:t>
            </a:r>
            <a:endParaRPr/>
          </a:p>
        </p:txBody>
      </p:sp>
      <p:grpSp>
        <p:nvGrpSpPr>
          <p:cNvPr id="1589" name="Google Shape;1589;p35"/>
          <p:cNvGrpSpPr/>
          <p:nvPr/>
        </p:nvGrpSpPr>
        <p:grpSpPr>
          <a:xfrm>
            <a:off x="2595620" y="3289263"/>
            <a:ext cx="1212850" cy="719138"/>
            <a:chOff x="1324" y="1931"/>
            <a:chExt cx="764" cy="453"/>
          </a:xfrm>
        </p:grpSpPr>
        <p:cxnSp>
          <p:nvCxnSpPr>
            <p:cNvPr id="1590" name="Google Shape;1590;p35"/>
            <p:cNvCxnSpPr/>
            <p:nvPr/>
          </p:nvCxnSpPr>
          <p:spPr>
            <a:xfrm flipH="1">
              <a:off x="1514" y="2031"/>
              <a:ext cx="574" cy="132"/>
            </a:xfrm>
            <a:prstGeom prst="straightConnector1">
              <a:avLst/>
            </a:prstGeom>
            <a:noFill/>
            <a:ln cap="flat" cmpd="sng" w="28575">
              <a:solidFill>
                <a:srgbClr val="008000"/>
              </a:solidFill>
              <a:prstDash val="solid"/>
              <a:round/>
              <a:headEnd len="med" w="med" type="none"/>
              <a:tailEnd len="med" w="med" type="triangle"/>
            </a:ln>
          </p:spPr>
        </p:cxnSp>
        <p:sp>
          <p:nvSpPr>
            <p:cNvPr id="1591" name="Google Shape;1591;p35"/>
            <p:cNvSpPr txBox="1"/>
            <p:nvPr/>
          </p:nvSpPr>
          <p:spPr>
            <a:xfrm>
              <a:off x="1456" y="1931"/>
              <a:ext cx="386"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sp>
          <p:nvSpPr>
            <p:cNvPr id="1592" name="Google Shape;1592;p35"/>
            <p:cNvSpPr txBox="1"/>
            <p:nvPr/>
          </p:nvSpPr>
          <p:spPr>
            <a:xfrm>
              <a:off x="1383" y="2040"/>
              <a:ext cx="215"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1593" name="Google Shape;1593;p35"/>
            <p:cNvSpPr txBox="1"/>
            <p:nvPr/>
          </p:nvSpPr>
          <p:spPr>
            <a:xfrm>
              <a:off x="1324" y="2172"/>
              <a:ext cx="329"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grpSp>
        <p:nvGrpSpPr>
          <p:cNvPr id="1594" name="Google Shape;1594;p35"/>
          <p:cNvGrpSpPr/>
          <p:nvPr/>
        </p:nvGrpSpPr>
        <p:grpSpPr>
          <a:xfrm>
            <a:off x="2219383" y="3195601"/>
            <a:ext cx="122237" cy="1033462"/>
            <a:chOff x="3651" y="1878"/>
            <a:chExt cx="78" cy="963"/>
          </a:xfrm>
        </p:grpSpPr>
        <p:cxnSp>
          <p:nvCxnSpPr>
            <p:cNvPr id="1595" name="Google Shape;1595;p35"/>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1596" name="Google Shape;1596;p35"/>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1597" name="Google Shape;1597;p35"/>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1598" name="Google Shape;1598;p35"/>
          <p:cNvGrpSpPr/>
          <p:nvPr/>
        </p:nvGrpSpPr>
        <p:grpSpPr>
          <a:xfrm>
            <a:off x="2347970" y="4184613"/>
            <a:ext cx="1471613" cy="504825"/>
            <a:chOff x="855" y="1710"/>
            <a:chExt cx="927" cy="318"/>
          </a:xfrm>
        </p:grpSpPr>
        <p:cxnSp>
          <p:nvCxnSpPr>
            <p:cNvPr id="1599" name="Google Shape;1599;p3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600" name="Google Shape;1600;p35"/>
            <p:cNvSpPr txBox="1"/>
            <p:nvPr/>
          </p:nvSpPr>
          <p:spPr>
            <a:xfrm>
              <a:off x="1094" y="1710"/>
              <a:ext cx="358" cy="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601" name="Google Shape;1601;p35"/>
          <p:cNvGrpSpPr/>
          <p:nvPr/>
        </p:nvGrpSpPr>
        <p:grpSpPr>
          <a:xfrm>
            <a:off x="916045" y="3808376"/>
            <a:ext cx="1377950" cy="731837"/>
            <a:chOff x="2802" y="2348"/>
            <a:chExt cx="868" cy="461"/>
          </a:xfrm>
        </p:grpSpPr>
        <p:pic>
          <p:nvPicPr>
            <p:cNvPr descr="alarm_clock_ringing" id="1602" name="Google Shape;1602;p35"/>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1603" name="Google Shape;1603;p35"/>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sp>
        <p:nvSpPr>
          <p:cNvPr id="1604" name="Google Shape;1604;p35"/>
          <p:cNvSpPr txBox="1"/>
          <p:nvPr/>
        </p:nvSpPr>
        <p:spPr>
          <a:xfrm>
            <a:off x="9492400" y="2644738"/>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605" name="Google Shape;1605;p35"/>
          <p:cNvSpPr txBox="1"/>
          <p:nvPr/>
        </p:nvSpPr>
        <p:spPr>
          <a:xfrm>
            <a:off x="9492400" y="2870163"/>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sp>
        <p:nvSpPr>
          <p:cNvPr id="1606" name="Google Shape;1606;p35"/>
          <p:cNvSpPr txBox="1"/>
          <p:nvPr/>
        </p:nvSpPr>
        <p:spPr>
          <a:xfrm>
            <a:off x="9432963" y="4166394"/>
            <a:ext cx="1568450"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(detect duplicate)</a:t>
            </a:r>
            <a:endParaRPr/>
          </a:p>
        </p:txBody>
      </p:sp>
      <p:grpSp>
        <p:nvGrpSpPr>
          <p:cNvPr id="1607" name="Google Shape;1607;p35"/>
          <p:cNvGrpSpPr/>
          <p:nvPr/>
        </p:nvGrpSpPr>
        <p:grpSpPr>
          <a:xfrm>
            <a:off x="8023963" y="2517742"/>
            <a:ext cx="1471612" cy="404813"/>
            <a:chOff x="855" y="1773"/>
            <a:chExt cx="927" cy="255"/>
          </a:xfrm>
        </p:grpSpPr>
        <p:cxnSp>
          <p:nvCxnSpPr>
            <p:cNvPr id="1608" name="Google Shape;1608;p3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609" name="Google Shape;1609;p35"/>
            <p:cNvSpPr txBox="1"/>
            <p:nvPr/>
          </p:nvSpPr>
          <p:spPr>
            <a:xfrm>
              <a:off x="1094" y="1773"/>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sp>
        <p:nvSpPr>
          <p:cNvPr id="1610" name="Google Shape;1610;p35"/>
          <p:cNvSpPr txBox="1"/>
          <p:nvPr/>
        </p:nvSpPr>
        <p:spPr>
          <a:xfrm>
            <a:off x="7036538" y="1036601"/>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611" name="Google Shape;1611;p35"/>
          <p:cNvSpPr txBox="1"/>
          <p:nvPr/>
        </p:nvSpPr>
        <p:spPr>
          <a:xfrm>
            <a:off x="9476525" y="1031838"/>
            <a:ext cx="1071563"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sp>
        <p:nvSpPr>
          <p:cNvPr id="1612" name="Google Shape;1612;p35"/>
          <p:cNvSpPr txBox="1"/>
          <p:nvPr/>
        </p:nvSpPr>
        <p:spPr>
          <a:xfrm>
            <a:off x="9500155" y="3886501"/>
            <a:ext cx="100012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pkt1</a:t>
            </a:r>
            <a:endParaRPr/>
          </a:p>
        </p:txBody>
      </p:sp>
      <p:sp>
        <p:nvSpPr>
          <p:cNvPr id="1613" name="Google Shape;1613;p35"/>
          <p:cNvSpPr txBox="1"/>
          <p:nvPr/>
        </p:nvSpPr>
        <p:spPr>
          <a:xfrm>
            <a:off x="9482875" y="1970051"/>
            <a:ext cx="1196975"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sp>
        <p:nvSpPr>
          <p:cNvPr id="1614" name="Google Shape;1614;p35"/>
          <p:cNvSpPr txBox="1"/>
          <p:nvPr/>
        </p:nvSpPr>
        <p:spPr>
          <a:xfrm>
            <a:off x="6965100" y="2219288"/>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a:t>
            </a:r>
            <a:endParaRPr/>
          </a:p>
        </p:txBody>
      </p:sp>
      <p:sp>
        <p:nvSpPr>
          <p:cNvPr id="1615" name="Google Shape;1615;p35"/>
          <p:cNvSpPr txBox="1"/>
          <p:nvPr/>
        </p:nvSpPr>
        <p:spPr>
          <a:xfrm>
            <a:off x="6809525" y="2438363"/>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p:txBody>
      </p:sp>
      <p:sp>
        <p:nvSpPr>
          <p:cNvPr id="1616" name="Google Shape;1616;p35"/>
          <p:cNvSpPr txBox="1"/>
          <p:nvPr/>
        </p:nvSpPr>
        <p:spPr>
          <a:xfrm>
            <a:off x="6798413" y="1476338"/>
            <a:ext cx="11747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617" name="Google Shape;1617;p35"/>
          <p:cNvSpPr txBox="1"/>
          <p:nvPr/>
        </p:nvSpPr>
        <p:spPr>
          <a:xfrm>
            <a:off x="9474938" y="1758913"/>
            <a:ext cx="100012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grpSp>
        <p:nvGrpSpPr>
          <p:cNvPr id="1618" name="Google Shape;1618;p35"/>
          <p:cNvGrpSpPr/>
          <p:nvPr/>
        </p:nvGrpSpPr>
        <p:grpSpPr>
          <a:xfrm>
            <a:off x="8014438" y="1658899"/>
            <a:ext cx="1471612" cy="400050"/>
            <a:chOff x="850" y="1230"/>
            <a:chExt cx="927" cy="252"/>
          </a:xfrm>
        </p:grpSpPr>
        <p:cxnSp>
          <p:nvCxnSpPr>
            <p:cNvPr id="1619" name="Google Shape;1619;p3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620" name="Google Shape;1620;p35"/>
            <p:cNvSpPr txBox="1"/>
            <p:nvPr/>
          </p:nvSpPr>
          <p:spPr>
            <a:xfrm>
              <a:off x="1082" y="1230"/>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621" name="Google Shape;1621;p35"/>
          <p:cNvGrpSpPr/>
          <p:nvPr/>
        </p:nvGrpSpPr>
        <p:grpSpPr>
          <a:xfrm>
            <a:off x="8000150" y="2131982"/>
            <a:ext cx="1471613" cy="369888"/>
            <a:chOff x="841" y="1528"/>
            <a:chExt cx="927" cy="233"/>
          </a:xfrm>
        </p:grpSpPr>
        <p:cxnSp>
          <p:nvCxnSpPr>
            <p:cNvPr id="1622" name="Google Shape;1622;p35"/>
            <p:cNvCxnSpPr/>
            <p:nvPr/>
          </p:nvCxnSpPr>
          <p:spPr>
            <a:xfrm flipH="1">
              <a:off x="841" y="1536"/>
              <a:ext cx="927" cy="225"/>
            </a:xfrm>
            <a:prstGeom prst="straightConnector1">
              <a:avLst/>
            </a:prstGeom>
            <a:noFill/>
            <a:ln cap="flat" cmpd="sng" w="28575">
              <a:solidFill>
                <a:srgbClr val="008000"/>
              </a:solidFill>
              <a:prstDash val="solid"/>
              <a:round/>
              <a:headEnd len="med" w="med" type="none"/>
              <a:tailEnd len="med" w="med" type="triangle"/>
            </a:ln>
          </p:spPr>
        </p:cxnSp>
        <p:sp>
          <p:nvSpPr>
            <p:cNvPr id="1623" name="Google Shape;1623;p35"/>
            <p:cNvSpPr txBox="1"/>
            <p:nvPr/>
          </p:nvSpPr>
          <p:spPr>
            <a:xfrm>
              <a:off x="1089" y="1528"/>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sp>
        <p:nvSpPr>
          <p:cNvPr id="1624" name="Google Shape;1624;p35"/>
          <p:cNvSpPr txBox="1"/>
          <p:nvPr/>
        </p:nvSpPr>
        <p:spPr>
          <a:xfrm>
            <a:off x="6965100" y="6200644"/>
            <a:ext cx="386715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(d) premature timeout/ delayed ACK</a:t>
            </a:r>
            <a:endParaRPr/>
          </a:p>
        </p:txBody>
      </p:sp>
      <p:grpSp>
        <p:nvGrpSpPr>
          <p:cNvPr id="1625" name="Google Shape;1625;p35"/>
          <p:cNvGrpSpPr/>
          <p:nvPr/>
        </p:nvGrpSpPr>
        <p:grpSpPr>
          <a:xfrm>
            <a:off x="7903313" y="2724113"/>
            <a:ext cx="122237" cy="1033463"/>
            <a:chOff x="3651" y="1878"/>
            <a:chExt cx="78" cy="963"/>
          </a:xfrm>
        </p:grpSpPr>
        <p:cxnSp>
          <p:nvCxnSpPr>
            <p:cNvPr id="1626" name="Google Shape;1626;p35"/>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1627" name="Google Shape;1627;p35"/>
            <p:cNvCxnSpPr/>
            <p:nvPr/>
          </p:nvCxnSpPr>
          <p:spPr>
            <a:xfrm rot="10800000">
              <a:off x="3651" y="1878"/>
              <a:ext cx="75" cy="0"/>
            </a:xfrm>
            <a:prstGeom prst="straightConnector1">
              <a:avLst/>
            </a:prstGeom>
            <a:noFill/>
            <a:ln cap="flat" cmpd="sng" w="28575">
              <a:solidFill>
                <a:srgbClr val="000000"/>
              </a:solidFill>
              <a:prstDash val="solid"/>
              <a:round/>
              <a:headEnd len="med" w="med" type="none"/>
              <a:tailEnd len="med" w="med" type="none"/>
            </a:ln>
          </p:spPr>
        </p:cxnSp>
        <p:cxnSp>
          <p:nvCxnSpPr>
            <p:cNvPr id="1628" name="Google Shape;1628;p35"/>
            <p:cNvCxnSpPr/>
            <p:nvPr/>
          </p:nvCxnSpPr>
          <p:spPr>
            <a:xfrm rot="10800000">
              <a:off x="3651" y="2841"/>
              <a:ext cx="75" cy="0"/>
            </a:xfrm>
            <a:prstGeom prst="straightConnector1">
              <a:avLst/>
            </a:prstGeom>
            <a:noFill/>
            <a:ln cap="flat" cmpd="sng" w="28575">
              <a:solidFill>
                <a:srgbClr val="000000"/>
              </a:solidFill>
              <a:prstDash val="solid"/>
              <a:round/>
              <a:headEnd len="med" w="med" type="none"/>
              <a:tailEnd len="med" w="med" type="none"/>
            </a:ln>
          </p:spPr>
        </p:cxnSp>
      </p:grpSp>
      <p:grpSp>
        <p:nvGrpSpPr>
          <p:cNvPr id="1629" name="Google Shape;1629;p35"/>
          <p:cNvGrpSpPr/>
          <p:nvPr/>
        </p:nvGrpSpPr>
        <p:grpSpPr>
          <a:xfrm>
            <a:off x="8031900" y="3854417"/>
            <a:ext cx="1471613" cy="363538"/>
            <a:chOff x="855" y="1799"/>
            <a:chExt cx="927" cy="229"/>
          </a:xfrm>
        </p:grpSpPr>
        <p:cxnSp>
          <p:nvCxnSpPr>
            <p:cNvPr id="1630" name="Google Shape;1630;p3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631" name="Google Shape;1631;p35"/>
            <p:cNvSpPr txBox="1"/>
            <p:nvPr/>
          </p:nvSpPr>
          <p:spPr>
            <a:xfrm>
              <a:off x="1121"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632" name="Google Shape;1632;p35"/>
          <p:cNvGrpSpPr/>
          <p:nvPr/>
        </p:nvGrpSpPr>
        <p:grpSpPr>
          <a:xfrm>
            <a:off x="6599975" y="3336888"/>
            <a:ext cx="1377950" cy="731838"/>
            <a:chOff x="2802" y="2348"/>
            <a:chExt cx="868" cy="461"/>
          </a:xfrm>
        </p:grpSpPr>
        <p:pic>
          <p:nvPicPr>
            <p:cNvPr descr="alarm_clock_ringing" id="1633" name="Google Shape;1633;p35"/>
            <p:cNvPicPr preferRelativeResize="0"/>
            <p:nvPr/>
          </p:nvPicPr>
          <p:blipFill rotWithShape="1">
            <a:blip r:embed="rId3">
              <a:alphaModFix/>
            </a:blip>
            <a:srcRect b="0" l="0" r="0" t="0"/>
            <a:stretch/>
          </p:blipFill>
          <p:spPr>
            <a:xfrm>
              <a:off x="2846" y="2348"/>
              <a:ext cx="275" cy="303"/>
            </a:xfrm>
            <a:prstGeom prst="rect">
              <a:avLst/>
            </a:prstGeom>
            <a:noFill/>
            <a:ln>
              <a:noFill/>
            </a:ln>
          </p:spPr>
        </p:pic>
        <p:sp>
          <p:nvSpPr>
            <p:cNvPr id="1634" name="Google Shape;1634;p35"/>
            <p:cNvSpPr txBox="1"/>
            <p:nvPr/>
          </p:nvSpPr>
          <p:spPr>
            <a:xfrm>
              <a:off x="2802" y="2491"/>
              <a:ext cx="868" cy="318"/>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timeout</a:t>
              </a:r>
              <a:endParaRPr/>
            </a:p>
            <a:p>
              <a:pPr indent="0" lvl="0" marL="0" marR="0" rtl="0" algn="r">
                <a:lnSpc>
                  <a:spcPct val="75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resend pkt1</a:t>
              </a:r>
              <a:endParaRPr/>
            </a:p>
          </p:txBody>
        </p:sp>
      </p:grpSp>
      <p:grpSp>
        <p:nvGrpSpPr>
          <p:cNvPr id="1635" name="Google Shape;1635;p35"/>
          <p:cNvGrpSpPr/>
          <p:nvPr/>
        </p:nvGrpSpPr>
        <p:grpSpPr>
          <a:xfrm>
            <a:off x="8580889" y="2976526"/>
            <a:ext cx="911514" cy="752475"/>
            <a:chOff x="4186" y="1705"/>
            <a:chExt cx="598" cy="453"/>
          </a:xfrm>
        </p:grpSpPr>
        <p:cxnSp>
          <p:nvCxnSpPr>
            <p:cNvPr id="1636" name="Google Shape;1636;p35"/>
            <p:cNvCxnSpPr/>
            <p:nvPr/>
          </p:nvCxnSpPr>
          <p:spPr>
            <a:xfrm flipH="1">
              <a:off x="4343" y="1705"/>
              <a:ext cx="441" cy="329"/>
            </a:xfrm>
            <a:prstGeom prst="straightConnector1">
              <a:avLst/>
            </a:prstGeom>
            <a:noFill/>
            <a:ln cap="flat" cmpd="sng" w="28575">
              <a:solidFill>
                <a:srgbClr val="008000"/>
              </a:solidFill>
              <a:prstDash val="solid"/>
              <a:round/>
              <a:headEnd len="med" w="med" type="none"/>
              <a:tailEnd len="med" w="med" type="none"/>
            </a:ln>
          </p:spPr>
        </p:cxnSp>
        <p:cxnSp>
          <p:nvCxnSpPr>
            <p:cNvPr id="1637" name="Google Shape;1637;p35"/>
            <p:cNvCxnSpPr/>
            <p:nvPr/>
          </p:nvCxnSpPr>
          <p:spPr>
            <a:xfrm flipH="1">
              <a:off x="4186" y="2047"/>
              <a:ext cx="146" cy="111"/>
            </a:xfrm>
            <a:prstGeom prst="straightConnector1">
              <a:avLst/>
            </a:prstGeom>
            <a:noFill/>
            <a:ln cap="flat" cmpd="sng" w="28575">
              <a:solidFill>
                <a:srgbClr val="008000"/>
              </a:solidFill>
              <a:prstDash val="dot"/>
              <a:round/>
              <a:headEnd len="med" w="med" type="none"/>
              <a:tailEnd len="med" w="med" type="none"/>
            </a:ln>
          </p:spPr>
        </p:cxnSp>
        <p:sp>
          <p:nvSpPr>
            <p:cNvPr id="1638" name="Google Shape;1638;p35"/>
            <p:cNvSpPr txBox="1"/>
            <p:nvPr/>
          </p:nvSpPr>
          <p:spPr>
            <a:xfrm>
              <a:off x="4223" y="1846"/>
              <a:ext cx="460" cy="204"/>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cxnSp>
        <p:nvCxnSpPr>
          <p:cNvPr id="1639" name="Google Shape;1639;p35"/>
          <p:cNvCxnSpPr/>
          <p:nvPr/>
        </p:nvCxnSpPr>
        <p:spPr>
          <a:xfrm flipH="1">
            <a:off x="7922363" y="3521038"/>
            <a:ext cx="909637" cy="739775"/>
          </a:xfrm>
          <a:prstGeom prst="straightConnector1">
            <a:avLst/>
          </a:prstGeom>
          <a:noFill/>
          <a:ln cap="flat" cmpd="sng" w="28575">
            <a:solidFill>
              <a:srgbClr val="008000"/>
            </a:solidFill>
            <a:prstDash val="solid"/>
            <a:round/>
            <a:headEnd len="med" w="med" type="none"/>
            <a:tailEnd len="med" w="med" type="triangle"/>
          </a:ln>
        </p:spPr>
      </p:cxnSp>
      <p:grpSp>
        <p:nvGrpSpPr>
          <p:cNvPr id="1640" name="Google Shape;1640;p35"/>
          <p:cNvGrpSpPr/>
          <p:nvPr/>
        </p:nvGrpSpPr>
        <p:grpSpPr>
          <a:xfrm>
            <a:off x="8012670" y="4309460"/>
            <a:ext cx="2667702" cy="714018"/>
            <a:chOff x="8162097" y="4679496"/>
            <a:chExt cx="2667702" cy="714018"/>
          </a:xfrm>
        </p:grpSpPr>
        <p:grpSp>
          <p:nvGrpSpPr>
            <p:cNvPr id="1641" name="Google Shape;1641;p35"/>
            <p:cNvGrpSpPr/>
            <p:nvPr/>
          </p:nvGrpSpPr>
          <p:grpSpPr>
            <a:xfrm>
              <a:off x="8162097" y="4974413"/>
              <a:ext cx="1471613" cy="419101"/>
              <a:chOff x="2229" y="3467"/>
              <a:chExt cx="927" cy="264"/>
            </a:xfrm>
          </p:grpSpPr>
          <p:cxnSp>
            <p:nvCxnSpPr>
              <p:cNvPr id="1642" name="Google Shape;1642;p35"/>
              <p:cNvCxnSpPr/>
              <p:nvPr/>
            </p:nvCxnSpPr>
            <p:spPr>
              <a:xfrm flipH="1">
                <a:off x="2229" y="3467"/>
                <a:ext cx="927" cy="225"/>
              </a:xfrm>
              <a:prstGeom prst="straightConnector1">
                <a:avLst/>
              </a:prstGeom>
              <a:noFill/>
              <a:ln cap="flat" cmpd="sng" w="28575">
                <a:solidFill>
                  <a:srgbClr val="008000"/>
                </a:solidFill>
                <a:prstDash val="solid"/>
                <a:round/>
                <a:headEnd len="med" w="med" type="none"/>
                <a:tailEnd len="med" w="med" type="triangle"/>
              </a:ln>
            </p:spPr>
          </p:cxnSp>
          <p:sp>
            <p:nvSpPr>
              <p:cNvPr id="1643" name="Google Shape;1643;p35"/>
              <p:cNvSpPr txBox="1"/>
              <p:nvPr/>
            </p:nvSpPr>
            <p:spPr>
              <a:xfrm>
                <a:off x="2336" y="3519"/>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ack1</a:t>
                </a:r>
                <a:endParaRPr/>
              </a:p>
            </p:txBody>
          </p:sp>
        </p:grpSp>
        <p:sp>
          <p:nvSpPr>
            <p:cNvPr id="1644" name="Google Shape;1644;p35"/>
            <p:cNvSpPr txBox="1"/>
            <p:nvPr/>
          </p:nvSpPr>
          <p:spPr>
            <a:xfrm>
              <a:off x="9632824" y="4679496"/>
              <a:ext cx="1196975"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ack1</a:t>
              </a:r>
              <a:endParaRPr/>
            </a:p>
          </p:txBody>
        </p:sp>
      </p:grpSp>
      <p:grpSp>
        <p:nvGrpSpPr>
          <p:cNvPr id="1645" name="Google Shape;1645;p35"/>
          <p:cNvGrpSpPr/>
          <p:nvPr/>
        </p:nvGrpSpPr>
        <p:grpSpPr>
          <a:xfrm>
            <a:off x="6804583" y="4153524"/>
            <a:ext cx="3833816" cy="1104906"/>
            <a:chOff x="6954010" y="4523560"/>
            <a:chExt cx="3833816" cy="1104906"/>
          </a:xfrm>
        </p:grpSpPr>
        <p:grpSp>
          <p:nvGrpSpPr>
            <p:cNvPr id="1646" name="Google Shape;1646;p35"/>
            <p:cNvGrpSpPr/>
            <p:nvPr/>
          </p:nvGrpSpPr>
          <p:grpSpPr>
            <a:xfrm>
              <a:off x="6954010" y="4523560"/>
              <a:ext cx="1174750" cy="609601"/>
              <a:chOff x="2830" y="3285"/>
              <a:chExt cx="740" cy="384"/>
            </a:xfrm>
          </p:grpSpPr>
          <p:sp>
            <p:nvSpPr>
              <p:cNvPr id="1647" name="Google Shape;1647;p35"/>
              <p:cNvSpPr txBox="1"/>
              <p:nvPr/>
            </p:nvSpPr>
            <p:spPr>
              <a:xfrm>
                <a:off x="2830" y="3438"/>
                <a:ext cx="74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p:txBody>
          </p:sp>
          <p:sp>
            <p:nvSpPr>
              <p:cNvPr id="1648" name="Google Shape;1648;p35"/>
              <p:cNvSpPr txBox="1"/>
              <p:nvPr/>
            </p:nvSpPr>
            <p:spPr>
              <a:xfrm>
                <a:off x="2916" y="3285"/>
                <a:ext cx="64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grpSp>
          <p:nvGrpSpPr>
            <p:cNvPr id="1649" name="Google Shape;1649;p35"/>
            <p:cNvGrpSpPr/>
            <p:nvPr/>
          </p:nvGrpSpPr>
          <p:grpSpPr>
            <a:xfrm>
              <a:off x="8073197" y="4747083"/>
              <a:ext cx="1547813" cy="446403"/>
              <a:chOff x="850" y="1229"/>
              <a:chExt cx="927" cy="253"/>
            </a:xfrm>
          </p:grpSpPr>
          <p:cxnSp>
            <p:nvCxnSpPr>
              <p:cNvPr id="1650" name="Google Shape;1650;p35"/>
              <p:cNvCxnSpPr/>
              <p:nvPr/>
            </p:nvCxnSpPr>
            <p:spPr>
              <a:xfrm>
                <a:off x="850" y="1257"/>
                <a:ext cx="927" cy="225"/>
              </a:xfrm>
              <a:prstGeom prst="straightConnector1">
                <a:avLst/>
              </a:prstGeom>
              <a:noFill/>
              <a:ln cap="flat" cmpd="sng" w="28575">
                <a:solidFill>
                  <a:srgbClr val="000099"/>
                </a:solidFill>
                <a:prstDash val="solid"/>
                <a:round/>
                <a:headEnd len="med" w="med" type="none"/>
                <a:tailEnd len="med" w="med" type="triangle"/>
              </a:ln>
            </p:spPr>
          </p:cxnSp>
          <p:sp>
            <p:nvSpPr>
              <p:cNvPr id="1651" name="Google Shape;1651;p35"/>
              <p:cNvSpPr txBox="1"/>
              <p:nvPr/>
            </p:nvSpPr>
            <p:spPr>
              <a:xfrm>
                <a:off x="1014" y="1229"/>
                <a:ext cx="340" cy="19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pkt0</a:t>
                </a:r>
                <a:endParaRPr/>
              </a:p>
            </p:txBody>
          </p:sp>
        </p:grpSp>
        <p:grpSp>
          <p:nvGrpSpPr>
            <p:cNvPr id="1652" name="Google Shape;1652;p35"/>
            <p:cNvGrpSpPr/>
            <p:nvPr/>
          </p:nvGrpSpPr>
          <p:grpSpPr>
            <a:xfrm>
              <a:off x="9582913" y="5037915"/>
              <a:ext cx="1204913" cy="590551"/>
              <a:chOff x="4762" y="2985"/>
              <a:chExt cx="759" cy="372"/>
            </a:xfrm>
          </p:grpSpPr>
          <p:sp>
            <p:nvSpPr>
              <p:cNvPr id="1653" name="Google Shape;1653;p35"/>
              <p:cNvSpPr txBox="1"/>
              <p:nvPr/>
            </p:nvSpPr>
            <p:spPr>
              <a:xfrm>
                <a:off x="4762" y="2985"/>
                <a:ext cx="630"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pkt0</a:t>
                </a:r>
                <a:endParaRPr/>
              </a:p>
            </p:txBody>
          </p:sp>
          <p:sp>
            <p:nvSpPr>
              <p:cNvPr id="1654" name="Google Shape;1654;p35"/>
              <p:cNvSpPr txBox="1"/>
              <p:nvPr/>
            </p:nvSpPr>
            <p:spPr>
              <a:xfrm>
                <a:off x="4767" y="3126"/>
                <a:ext cx="754" cy="2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ack0</a:t>
                </a:r>
                <a:endParaRPr/>
              </a:p>
            </p:txBody>
          </p:sp>
        </p:grpSp>
      </p:grpSp>
      <p:grpSp>
        <p:nvGrpSpPr>
          <p:cNvPr id="1655" name="Google Shape;1655;p35"/>
          <p:cNvGrpSpPr/>
          <p:nvPr/>
        </p:nvGrpSpPr>
        <p:grpSpPr>
          <a:xfrm>
            <a:off x="8034892" y="4967903"/>
            <a:ext cx="1457325" cy="488950"/>
            <a:chOff x="3839" y="2850"/>
            <a:chExt cx="918" cy="308"/>
          </a:xfrm>
        </p:grpSpPr>
        <p:cxnSp>
          <p:nvCxnSpPr>
            <p:cNvPr id="1656" name="Google Shape;1656;p35"/>
            <p:cNvCxnSpPr/>
            <p:nvPr/>
          </p:nvCxnSpPr>
          <p:spPr>
            <a:xfrm flipH="1">
              <a:off x="3839" y="2850"/>
              <a:ext cx="918" cy="308"/>
            </a:xfrm>
            <a:prstGeom prst="straightConnector1">
              <a:avLst/>
            </a:prstGeom>
            <a:noFill/>
            <a:ln cap="flat" cmpd="sng" w="28575">
              <a:solidFill>
                <a:srgbClr val="008000"/>
              </a:solidFill>
              <a:prstDash val="solid"/>
              <a:round/>
              <a:headEnd len="med" w="med" type="none"/>
              <a:tailEnd len="med" w="med" type="triangle"/>
            </a:ln>
          </p:spPr>
        </p:cxnSp>
        <p:sp>
          <p:nvSpPr>
            <p:cNvPr id="1657" name="Google Shape;1657;p35"/>
            <p:cNvSpPr txBox="1"/>
            <p:nvPr/>
          </p:nvSpPr>
          <p:spPr>
            <a:xfrm>
              <a:off x="4104" y="2873"/>
              <a:ext cx="386"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1600"/>
                <a:buFont typeface="Arial"/>
                <a:buNone/>
              </a:pPr>
              <a:r>
                <a:rPr b="0" i="0" lang="en-US" sz="1600" u="none" cap="none" strike="noStrike">
                  <a:solidFill>
                    <a:srgbClr val="008000"/>
                  </a:solidFill>
                  <a:latin typeface="Arial"/>
                  <a:ea typeface="Arial"/>
                  <a:cs typeface="Arial"/>
                  <a:sym typeface="Arial"/>
                </a:rPr>
                <a:t>ack0</a:t>
              </a:r>
              <a:endParaRPr/>
            </a:p>
          </p:txBody>
        </p:sp>
      </p:grpSp>
      <p:grpSp>
        <p:nvGrpSpPr>
          <p:cNvPr id="1658" name="Google Shape;1658;p35"/>
          <p:cNvGrpSpPr/>
          <p:nvPr/>
        </p:nvGrpSpPr>
        <p:grpSpPr>
          <a:xfrm>
            <a:off x="8026461" y="5469606"/>
            <a:ext cx="1471612" cy="363538"/>
            <a:chOff x="855" y="1799"/>
            <a:chExt cx="927" cy="229"/>
          </a:xfrm>
        </p:grpSpPr>
        <p:cxnSp>
          <p:nvCxnSpPr>
            <p:cNvPr id="1659" name="Google Shape;1659;p35"/>
            <p:cNvCxnSpPr/>
            <p:nvPr/>
          </p:nvCxnSpPr>
          <p:spPr>
            <a:xfrm>
              <a:off x="855" y="1803"/>
              <a:ext cx="927" cy="225"/>
            </a:xfrm>
            <a:prstGeom prst="straightConnector1">
              <a:avLst/>
            </a:prstGeom>
            <a:noFill/>
            <a:ln cap="flat" cmpd="sng" w="28575">
              <a:solidFill>
                <a:srgbClr val="000099"/>
              </a:solidFill>
              <a:prstDash val="solid"/>
              <a:round/>
              <a:headEnd len="med" w="med" type="none"/>
              <a:tailEnd len="med" w="med" type="triangle"/>
            </a:ln>
          </p:spPr>
        </p:cxnSp>
        <p:sp>
          <p:nvSpPr>
            <p:cNvPr id="1660" name="Google Shape;1660;p35"/>
            <p:cNvSpPr txBox="1"/>
            <p:nvPr/>
          </p:nvSpPr>
          <p:spPr>
            <a:xfrm>
              <a:off x="1129" y="1799"/>
              <a:ext cx="358" cy="2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Arial"/>
                <a:buNone/>
              </a:pPr>
              <a:r>
                <a:rPr b="0" i="0" lang="en-US" sz="1600" u="none" cap="none" strike="noStrike">
                  <a:solidFill>
                    <a:srgbClr val="000099"/>
                  </a:solidFill>
                  <a:latin typeface="Arial"/>
                  <a:ea typeface="Arial"/>
                  <a:cs typeface="Arial"/>
                  <a:sym typeface="Arial"/>
                </a:rPr>
                <a:t>pkt1</a:t>
              </a:r>
              <a:endParaRPr/>
            </a:p>
          </p:txBody>
        </p:sp>
      </p:grpSp>
      <p:grpSp>
        <p:nvGrpSpPr>
          <p:cNvPr id="1661" name="Google Shape;1661;p35"/>
          <p:cNvGrpSpPr/>
          <p:nvPr/>
        </p:nvGrpSpPr>
        <p:grpSpPr>
          <a:xfrm>
            <a:off x="6993934" y="4806637"/>
            <a:ext cx="1022350" cy="553607"/>
            <a:chOff x="6289259" y="5452590"/>
            <a:chExt cx="1022350" cy="553607"/>
          </a:xfrm>
        </p:grpSpPr>
        <p:sp>
          <p:nvSpPr>
            <p:cNvPr id="1662" name="Google Shape;1662;p35"/>
            <p:cNvSpPr txBox="1"/>
            <p:nvPr/>
          </p:nvSpPr>
          <p:spPr>
            <a:xfrm>
              <a:off x="6339123" y="5698420"/>
              <a:ext cx="81945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a:t>
              </a:r>
              <a:endParaRPr/>
            </a:p>
          </p:txBody>
        </p:sp>
        <p:sp>
          <p:nvSpPr>
            <p:cNvPr id="1663" name="Google Shape;1663;p35"/>
            <p:cNvSpPr txBox="1"/>
            <p:nvPr/>
          </p:nvSpPr>
          <p:spPr>
            <a:xfrm>
              <a:off x="6289259" y="5452590"/>
              <a:ext cx="1022350" cy="3667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3"/>
                                        </p:tgtEl>
                                        <p:attrNameLst>
                                          <p:attrName>style.visibility</p:attrName>
                                        </p:attrNameLst>
                                      </p:cBhvr>
                                      <p:to>
                                        <p:strVal val="visible"/>
                                      </p:to>
                                    </p:set>
                                    <p:animEffect filter="fade" transition="in">
                                      <p:cBhvr>
                                        <p:cTn dur="500"/>
                                        <p:tgtEl>
                                          <p:spTgt spid="157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72">
                                            <p:txEl>
                                              <p:pRg end="0" st="0"/>
                                            </p:txEl>
                                          </p:spTgt>
                                        </p:tgtEl>
                                        <p:attrNameLst>
                                          <p:attrName>style.visibility</p:attrName>
                                        </p:attrNameLst>
                                      </p:cBhvr>
                                      <p:to>
                                        <p:strVal val="visible"/>
                                      </p:to>
                                    </p:set>
                                    <p:animEffect filter="fade" transition="in">
                                      <p:cBhvr>
                                        <p:cTn dur="500"/>
                                        <p:tgtEl>
                                          <p:spTgt spid="1572">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64"/>
                                        </p:tgtEl>
                                        <p:attrNameLst>
                                          <p:attrName>style.visibility</p:attrName>
                                        </p:attrNameLst>
                                      </p:cBhvr>
                                      <p:to>
                                        <p:strVal val="visible"/>
                                      </p:to>
                                    </p:set>
                                    <p:animEffect filter="fade" transition="in">
                                      <p:cBhvr>
                                        <p:cTn dur="500"/>
                                        <p:tgtEl>
                                          <p:spTgt spid="1564"/>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82"/>
                                        </p:tgtEl>
                                        <p:attrNameLst>
                                          <p:attrName>style.visibility</p:attrName>
                                        </p:attrNameLst>
                                      </p:cBhvr>
                                      <p:to>
                                        <p:strVal val="visible"/>
                                      </p:to>
                                    </p:set>
                                    <p:animEffect filter="fade" transition="in">
                                      <p:cBhvr>
                                        <p:cTn dur="500"/>
                                        <p:tgtEl>
                                          <p:spTgt spid="158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67"/>
                                        </p:tgtEl>
                                        <p:attrNameLst>
                                          <p:attrName>style.visibility</p:attrName>
                                        </p:attrNameLst>
                                      </p:cBhvr>
                                      <p:to>
                                        <p:strVal val="visible"/>
                                      </p:to>
                                    </p:set>
                                    <p:animEffect filter="fade" transition="in">
                                      <p:cBhvr>
                                        <p:cTn dur="500"/>
                                        <p:tgtEl>
                                          <p:spTgt spid="1567"/>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569"/>
                                        </p:tgtEl>
                                        <p:attrNameLst>
                                          <p:attrName>style.visibility</p:attrName>
                                        </p:attrNameLst>
                                      </p:cBhvr>
                                      <p:to>
                                        <p:strVal val="visible"/>
                                      </p:to>
                                    </p:set>
                                    <p:animEffect filter="fade" transition="in">
                                      <p:cBhvr>
                                        <p:cTn dur="500"/>
                                        <p:tgtEl>
                                          <p:spTgt spid="156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57"/>
                                        </p:tgtEl>
                                        <p:attrNameLst>
                                          <p:attrName>style.visibility</p:attrName>
                                        </p:attrNameLst>
                                      </p:cBhvr>
                                      <p:to>
                                        <p:strVal val="visible"/>
                                      </p:to>
                                    </p:set>
                                    <p:animEffect filter="fade" transition="in">
                                      <p:cBhvr>
                                        <p:cTn dur="500"/>
                                        <p:tgtEl>
                                          <p:spTgt spid="155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554">
                                            <p:txEl>
                                              <p:pRg end="0" st="0"/>
                                            </p:txEl>
                                          </p:spTgt>
                                        </p:tgtEl>
                                        <p:attrNameLst>
                                          <p:attrName>style.visibility</p:attrName>
                                        </p:attrNameLst>
                                      </p:cBhvr>
                                      <p:to>
                                        <p:strVal val="visible"/>
                                      </p:to>
                                    </p:set>
                                    <p:animEffect filter="fade" transition="in">
                                      <p:cBhvr>
                                        <p:cTn dur="500"/>
                                        <p:tgtEl>
                                          <p:spTgt spid="1554">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555"/>
                                        </p:tgtEl>
                                        <p:attrNameLst>
                                          <p:attrName>style.visibility</p:attrName>
                                        </p:attrNameLst>
                                      </p:cBhvr>
                                      <p:to>
                                        <p:strVal val="visible"/>
                                      </p:to>
                                    </p:set>
                                    <p:animEffect filter="fade" transition="in">
                                      <p:cBhvr>
                                        <p:cTn dur="500"/>
                                        <p:tgtEl>
                                          <p:spTgt spid="155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589"/>
                                        </p:tgtEl>
                                        <p:attrNameLst>
                                          <p:attrName>style.visibility</p:attrName>
                                        </p:attrNameLst>
                                      </p:cBhvr>
                                      <p:to>
                                        <p:strVal val="visible"/>
                                      </p:to>
                                    </p:set>
                                    <p:animEffect filter="fade" transition="in">
                                      <p:cBhvr>
                                        <p:cTn dur="500"/>
                                        <p:tgtEl>
                                          <p:spTgt spid="1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4"/>
                                        </p:tgtEl>
                                        <p:attrNameLst>
                                          <p:attrName>style.visibility</p:attrName>
                                        </p:attrNameLst>
                                      </p:cBhvr>
                                      <p:to>
                                        <p:strVal val="visible"/>
                                      </p:to>
                                    </p:set>
                                    <p:animEffect filter="fade" transition="in">
                                      <p:cBhvr>
                                        <p:cTn dur="1000"/>
                                        <p:tgtEl>
                                          <p:spTgt spid="15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01"/>
                                        </p:tgtEl>
                                        <p:attrNameLst>
                                          <p:attrName>style.visibility</p:attrName>
                                        </p:attrNameLst>
                                      </p:cBhvr>
                                      <p:to>
                                        <p:strVal val="visible"/>
                                      </p:to>
                                    </p:set>
                                    <p:animEffect filter="fade" transition="in">
                                      <p:cBhvr>
                                        <p:cTn dur="500"/>
                                        <p:tgtEl>
                                          <p:spTgt spid="1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8"/>
                                        </p:tgtEl>
                                        <p:attrNameLst>
                                          <p:attrName>style.visibility</p:attrName>
                                        </p:attrNameLst>
                                      </p:cBhvr>
                                      <p:to>
                                        <p:strVal val="visible"/>
                                      </p:to>
                                    </p:set>
                                    <p:animEffect filter="fade" transition="in">
                                      <p:cBhvr>
                                        <p:cTn dur="500"/>
                                        <p:tgtEl>
                                          <p:spTgt spid="15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62">
                                            <p:txEl>
                                              <p:pRg end="0" st="0"/>
                                            </p:txEl>
                                          </p:spTgt>
                                        </p:tgtEl>
                                        <p:attrNameLst>
                                          <p:attrName>style.visibility</p:attrName>
                                        </p:attrNameLst>
                                      </p:cBhvr>
                                      <p:to>
                                        <p:strVal val="visible"/>
                                      </p:to>
                                    </p:set>
                                    <p:animEffect filter="fade" transition="in">
                                      <p:cBhvr>
                                        <p:cTn dur="500"/>
                                        <p:tgtEl>
                                          <p:spTgt spid="156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6"/>
                                        </p:tgtEl>
                                        <p:attrNameLst>
                                          <p:attrName>style.visibility</p:attrName>
                                        </p:attrNameLst>
                                      </p:cBhvr>
                                      <p:to>
                                        <p:strVal val="visible"/>
                                      </p:to>
                                    </p:set>
                                    <p:animEffect filter="fade" transition="in">
                                      <p:cBhvr>
                                        <p:cTn dur="500"/>
                                        <p:tgtEl>
                                          <p:spTgt spid="15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65"/>
                                        </p:tgtEl>
                                        <p:attrNameLst>
                                          <p:attrName>style.visibility</p:attrName>
                                        </p:attrNameLst>
                                      </p:cBhvr>
                                      <p:to>
                                        <p:strVal val="visible"/>
                                      </p:to>
                                    </p:set>
                                    <p:animEffect filter="fade" transition="in">
                                      <p:cBhvr>
                                        <p:cTn dur="500"/>
                                        <p:tgtEl>
                                          <p:spTgt spid="156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579"/>
                                        </p:tgtEl>
                                        <p:attrNameLst>
                                          <p:attrName>style.visibility</p:attrName>
                                        </p:attrNameLst>
                                      </p:cBhvr>
                                      <p:to>
                                        <p:strVal val="visible"/>
                                      </p:to>
                                    </p:set>
                                    <p:animEffect filter="fade" transition="in">
                                      <p:cBhvr>
                                        <p:cTn dur="500"/>
                                        <p:tgtEl>
                                          <p:spTgt spid="15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570"/>
                                        </p:tgtEl>
                                        <p:attrNameLst>
                                          <p:attrName>style.visibility</p:attrName>
                                        </p:attrNameLst>
                                      </p:cBhvr>
                                      <p:to>
                                        <p:strVal val="visible"/>
                                      </p:to>
                                    </p:set>
                                    <p:animEffect filter="fade" transition="in">
                                      <p:cBhvr>
                                        <p:cTn dur="500"/>
                                        <p:tgtEl>
                                          <p:spTgt spid="1570"/>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568"/>
                                        </p:tgtEl>
                                        <p:attrNameLst>
                                          <p:attrName>style.visibility</p:attrName>
                                        </p:attrNameLst>
                                      </p:cBhvr>
                                      <p:to>
                                        <p:strVal val="visible"/>
                                      </p:to>
                                    </p:set>
                                    <p:animEffect filter="fade" transition="in">
                                      <p:cBhvr>
                                        <p:cTn dur="500"/>
                                        <p:tgtEl>
                                          <p:spTgt spid="1568"/>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576"/>
                                        </p:tgtEl>
                                        <p:attrNameLst>
                                          <p:attrName>style.visibility</p:attrName>
                                        </p:attrNameLst>
                                      </p:cBhvr>
                                      <p:to>
                                        <p:strVal val="visible"/>
                                      </p:to>
                                    </p:set>
                                    <p:animEffect filter="fade" transition="in">
                                      <p:cBhvr>
                                        <p:cTn dur="500"/>
                                        <p:tgtEl>
                                          <p:spTgt spid="1576"/>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563"/>
                                        </p:tgtEl>
                                        <p:attrNameLst>
                                          <p:attrName>style.visibility</p:attrName>
                                        </p:attrNameLst>
                                      </p:cBhvr>
                                      <p:to>
                                        <p:strVal val="visible"/>
                                      </p:to>
                                    </p:set>
                                    <p:animEffect filter="fade" transition="in">
                                      <p:cBhvr>
                                        <p:cTn dur="500"/>
                                        <p:tgtEl>
                                          <p:spTgt spid="156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566">
                                            <p:txEl>
                                              <p:pRg end="0" st="0"/>
                                            </p:txEl>
                                          </p:spTgt>
                                        </p:tgtEl>
                                        <p:attrNameLst>
                                          <p:attrName>style.visibility</p:attrName>
                                        </p:attrNameLst>
                                      </p:cBhvr>
                                      <p:to>
                                        <p:strVal val="visible"/>
                                      </p:to>
                                    </p:set>
                                    <p:animEffect filter="fade" transition="in">
                                      <p:cBhvr>
                                        <p:cTn dur="500"/>
                                        <p:tgtEl>
                                          <p:spTgt spid="1566">
                                            <p:txEl>
                                              <p:pRg end="0" st="0"/>
                                            </p:txEl>
                                          </p:spTgt>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585"/>
                                        </p:tgtEl>
                                        <p:attrNameLst>
                                          <p:attrName>style.visibility</p:attrName>
                                        </p:attrNameLst>
                                      </p:cBhvr>
                                      <p:to>
                                        <p:strVal val="visible"/>
                                      </p:to>
                                    </p:set>
                                    <p:animEffect filter="fade" transition="in">
                                      <p:cBhvr>
                                        <p:cTn dur="500"/>
                                        <p:tgtEl>
                                          <p:spTgt spid="15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500"/>
                                        <p:tgtEl>
                                          <p:spTgt spid="16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17">
                                            <p:txEl>
                                              <p:pRg end="0" st="0"/>
                                            </p:txEl>
                                          </p:spTgt>
                                        </p:tgtEl>
                                        <p:attrNameLst>
                                          <p:attrName>style.visibility</p:attrName>
                                        </p:attrNameLst>
                                      </p:cBhvr>
                                      <p:to>
                                        <p:strVal val="visible"/>
                                      </p:to>
                                    </p:set>
                                    <p:animEffect filter="fade" transition="in">
                                      <p:cBhvr>
                                        <p:cTn dur="500"/>
                                        <p:tgtEl>
                                          <p:spTgt spid="1617">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13"/>
                                        </p:tgtEl>
                                        <p:attrNameLst>
                                          <p:attrName>style.visibility</p:attrName>
                                        </p:attrNameLst>
                                      </p:cBhvr>
                                      <p:to>
                                        <p:strVal val="visible"/>
                                      </p:to>
                                    </p:set>
                                    <p:animEffect filter="fade" transition="in">
                                      <p:cBhvr>
                                        <p:cTn dur="500"/>
                                        <p:tgtEl>
                                          <p:spTgt spid="161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500"/>
                                        <p:tgtEl>
                                          <p:spTgt spid="16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500"/>
                                        <p:tgtEl>
                                          <p:spTgt spid="1614"/>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500"/>
                                        <p:tgtEl>
                                          <p:spTgt spid="161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607"/>
                                        </p:tgtEl>
                                        <p:attrNameLst>
                                          <p:attrName>style.visibility</p:attrName>
                                        </p:attrNameLst>
                                      </p:cBhvr>
                                      <p:to>
                                        <p:strVal val="visible"/>
                                      </p:to>
                                    </p:set>
                                    <p:animEffect filter="fade" transition="in">
                                      <p:cBhvr>
                                        <p:cTn dur="500"/>
                                        <p:tgtEl>
                                          <p:spTgt spid="1607"/>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1604">
                                            <p:txEl>
                                              <p:pRg end="0" st="0"/>
                                            </p:txEl>
                                          </p:spTgt>
                                        </p:tgtEl>
                                        <p:attrNameLst>
                                          <p:attrName>style.visibility</p:attrName>
                                        </p:attrNameLst>
                                      </p:cBhvr>
                                      <p:to>
                                        <p:strVal val="visible"/>
                                      </p:to>
                                    </p:set>
                                    <p:animEffect filter="fade" transition="in">
                                      <p:cBhvr>
                                        <p:cTn dur="500"/>
                                        <p:tgtEl>
                                          <p:spTgt spid="1604">
                                            <p:txEl>
                                              <p:pRg end="0" st="0"/>
                                            </p:txEl>
                                          </p:spTgt>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605"/>
                                        </p:tgtEl>
                                        <p:attrNameLst>
                                          <p:attrName>style.visibility</p:attrName>
                                        </p:attrNameLst>
                                      </p:cBhvr>
                                      <p:to>
                                        <p:strVal val="visible"/>
                                      </p:to>
                                    </p:set>
                                    <p:animEffect filter="fade" transition="in">
                                      <p:cBhvr>
                                        <p:cTn dur="500"/>
                                        <p:tgtEl>
                                          <p:spTgt spid="1605"/>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1625"/>
                                        </p:tgtEl>
                                        <p:attrNameLst>
                                          <p:attrName>style.visibility</p:attrName>
                                        </p:attrNameLst>
                                      </p:cBhvr>
                                      <p:to>
                                        <p:strVal val="visible"/>
                                      </p:to>
                                    </p:set>
                                    <p:animEffect filter="fade" transition="in">
                                      <p:cBhvr>
                                        <p:cTn dur="1000"/>
                                        <p:tgtEl>
                                          <p:spTgt spid="1625"/>
                                        </p:tgtEl>
                                      </p:cBhvr>
                                    </p:animEffect>
                                  </p:childTnLst>
                                </p:cTn>
                              </p:par>
                              <p:par>
                                <p:cTn fill="hold" nodeType="withEffect" presetClass="entr" presetID="10" presetSubtype="0">
                                  <p:stCondLst>
                                    <p:cond delay="0"/>
                                  </p:stCondLst>
                                  <p:childTnLst>
                                    <p:set>
                                      <p:cBhvr>
                                        <p:cTn dur="1" fill="hold">
                                          <p:stCondLst>
                                            <p:cond delay="0"/>
                                          </p:stCondLst>
                                        </p:cTn>
                                        <p:tgtEl>
                                          <p:spTgt spid="1635"/>
                                        </p:tgtEl>
                                        <p:attrNameLst>
                                          <p:attrName>style.visibility</p:attrName>
                                        </p:attrNameLst>
                                      </p:cBhvr>
                                      <p:to>
                                        <p:strVal val="visible"/>
                                      </p:to>
                                    </p:set>
                                    <p:animEffect filter="fade" transition="in">
                                      <p:cBhvr>
                                        <p:cTn dur="500"/>
                                        <p:tgtEl>
                                          <p:spTgt spid="1635"/>
                                        </p:tgtEl>
                                      </p:cBhvr>
                                    </p:animEffect>
                                  </p:childTnLst>
                                </p:cTn>
                              </p:par>
                            </p:childTnLst>
                          </p:cTn>
                        </p:par>
                        <p:par>
                          <p:cTn fill="hold">
                            <p:stCondLst>
                              <p:cond delay="5500"/>
                            </p:stCondLst>
                            <p:childTnLst>
                              <p:par>
                                <p:cTn fill="hold" nodeType="afterEffect" presetClass="entr" presetID="10" presetSubtype="0">
                                  <p:stCondLst>
                                    <p:cond delay="0"/>
                                  </p:stCondLst>
                                  <p:childTnLst>
                                    <p:set>
                                      <p:cBhvr>
                                        <p:cTn dur="1" fill="hold">
                                          <p:stCondLst>
                                            <p:cond delay="0"/>
                                          </p:stCondLst>
                                        </p:cTn>
                                        <p:tgtEl>
                                          <p:spTgt spid="1632"/>
                                        </p:tgtEl>
                                        <p:attrNameLst>
                                          <p:attrName>style.visibility</p:attrName>
                                        </p:attrNameLst>
                                      </p:cBhvr>
                                      <p:to>
                                        <p:strVal val="visible"/>
                                      </p:to>
                                    </p:set>
                                    <p:animEffect filter="fade" transition="in">
                                      <p:cBhvr>
                                        <p:cTn dur="500"/>
                                        <p:tgtEl>
                                          <p:spTgt spid="16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9"/>
                                        </p:tgtEl>
                                        <p:attrNameLst>
                                          <p:attrName>style.visibility</p:attrName>
                                        </p:attrNameLst>
                                      </p:cBhvr>
                                      <p:to>
                                        <p:strVal val="visible"/>
                                      </p:to>
                                    </p:set>
                                    <p:animEffect filter="fade" transition="in">
                                      <p:cBhvr>
                                        <p:cTn dur="500"/>
                                        <p:tgtEl>
                                          <p:spTgt spid="1629"/>
                                        </p:tgtEl>
                                      </p:cBhvr>
                                    </p:animEffect>
                                  </p:childTnLst>
                                </p:cTn>
                              </p:par>
                              <p:par>
                                <p:cTn fill="hold" nodeType="withEffect" presetClass="entr" presetID="10" presetSubtype="0">
                                  <p:stCondLst>
                                    <p:cond delay="0"/>
                                  </p:stCondLst>
                                  <p:childTnLst>
                                    <p:set>
                                      <p:cBhvr>
                                        <p:cTn dur="1" fill="hold">
                                          <p:stCondLst>
                                            <p:cond delay="0"/>
                                          </p:stCondLst>
                                        </p:cTn>
                                        <p:tgtEl>
                                          <p:spTgt spid="1639"/>
                                        </p:tgtEl>
                                        <p:attrNameLst>
                                          <p:attrName>style.visibility</p:attrName>
                                        </p:attrNameLst>
                                      </p:cBhvr>
                                      <p:to>
                                        <p:strVal val="visible"/>
                                      </p:to>
                                    </p:set>
                                    <p:animEffect filter="fade" transition="in">
                                      <p:cBhvr>
                                        <p:cTn dur="500"/>
                                        <p:tgtEl>
                                          <p:spTgt spid="163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12">
                                            <p:txEl>
                                              <p:pRg end="0" st="0"/>
                                            </p:txEl>
                                          </p:spTgt>
                                        </p:tgtEl>
                                        <p:attrNameLst>
                                          <p:attrName>style.visibility</p:attrName>
                                        </p:attrNameLst>
                                      </p:cBhvr>
                                      <p:to>
                                        <p:strVal val="visible"/>
                                      </p:to>
                                    </p:set>
                                    <p:animEffect filter="fade" transition="in">
                                      <p:cBhvr>
                                        <p:cTn dur="500"/>
                                        <p:tgtEl>
                                          <p:spTgt spid="161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06"/>
                                        </p:tgtEl>
                                        <p:attrNameLst>
                                          <p:attrName>style.visibility</p:attrName>
                                        </p:attrNameLst>
                                      </p:cBhvr>
                                      <p:to>
                                        <p:strVal val="visible"/>
                                      </p:to>
                                    </p:set>
                                    <p:animEffect filter="fade" transition="in">
                                      <p:cBhvr>
                                        <p:cTn dur="500"/>
                                        <p:tgtEl>
                                          <p:spTgt spid="16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0"/>
                                        </p:tgtEl>
                                        <p:attrNameLst>
                                          <p:attrName>style.visibility</p:attrName>
                                        </p:attrNameLst>
                                      </p:cBhvr>
                                      <p:to>
                                        <p:strVal val="visible"/>
                                      </p:to>
                                    </p:set>
                                    <p:animEffect filter="fade" transition="in">
                                      <p:cBhvr>
                                        <p:cTn dur="500"/>
                                        <p:tgtEl>
                                          <p:spTgt spid="16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5"/>
                                        </p:tgtEl>
                                        <p:attrNameLst>
                                          <p:attrName>style.visibility</p:attrName>
                                        </p:attrNameLst>
                                      </p:cBhvr>
                                      <p:to>
                                        <p:strVal val="visible"/>
                                      </p:to>
                                    </p:set>
                                    <p:animEffect filter="fade" transition="in">
                                      <p:cBhvr>
                                        <p:cTn dur="500"/>
                                        <p:tgtEl>
                                          <p:spTgt spid="1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5"/>
                                        </p:tgtEl>
                                        <p:attrNameLst>
                                          <p:attrName>style.visibility</p:attrName>
                                        </p:attrNameLst>
                                      </p:cBhvr>
                                      <p:to>
                                        <p:strVal val="visible"/>
                                      </p:to>
                                    </p:set>
                                    <p:animEffect filter="fade" transition="in">
                                      <p:cBhvr>
                                        <p:cTn dur="500"/>
                                        <p:tgtEl>
                                          <p:spTgt spid="16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58"/>
                                        </p:tgtEl>
                                        <p:attrNameLst>
                                          <p:attrName>style.visibility</p:attrName>
                                        </p:attrNameLst>
                                      </p:cBhvr>
                                      <p:to>
                                        <p:strVal val="visible"/>
                                      </p:to>
                                    </p:set>
                                    <p:animEffect filter="fade" transition="in">
                                      <p:cBhvr>
                                        <p:cTn dur="500"/>
                                        <p:tgtEl>
                                          <p:spTgt spid="16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1"/>
                                        </p:tgtEl>
                                        <p:attrNameLst>
                                          <p:attrName>style.visibility</p:attrName>
                                        </p:attrNameLst>
                                      </p:cBhvr>
                                      <p:to>
                                        <p:strVal val="visible"/>
                                      </p:to>
                                    </p:set>
                                    <p:animEffect filter="fade" transition="in">
                                      <p:cBhvr>
                                        <p:cTn dur="500"/>
                                        <p:tgtEl>
                                          <p:spTgt spid="16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8" name="Shape 1668"/>
        <p:cNvGrpSpPr/>
        <p:nvPr/>
      </p:nvGrpSpPr>
      <p:grpSpPr>
        <a:xfrm>
          <a:off x="0" y="0"/>
          <a:ext cx="0" cy="0"/>
          <a:chOff x="0" y="0"/>
          <a:chExt cx="0" cy="0"/>
        </a:xfrm>
      </p:grpSpPr>
      <p:sp>
        <p:nvSpPr>
          <p:cNvPr id="1669" name="Google Shape;1669;p3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Performance of rdt3.0 </a:t>
            </a:r>
            <a:r>
              <a:rPr lang="en-US" sz="3200"/>
              <a:t>(stop-and-wait)</a:t>
            </a:r>
            <a:endParaRPr sz="4400"/>
          </a:p>
        </p:txBody>
      </p:sp>
      <p:sp>
        <p:nvSpPr>
          <p:cNvPr id="1670" name="Google Shape;1670;p36"/>
          <p:cNvSpPr txBox="1"/>
          <p:nvPr/>
        </p:nvSpPr>
        <p:spPr>
          <a:xfrm>
            <a:off x="870314" y="2451713"/>
            <a:ext cx="10532792" cy="1044522"/>
          </a:xfrm>
          <a:prstGeom prst="rect">
            <a:avLst/>
          </a:prstGeom>
          <a:noFill/>
          <a:ln>
            <a:noFill/>
          </a:ln>
        </p:spPr>
        <p:txBody>
          <a:bodyPr anchorCtr="0" anchor="t" bIns="45700" lIns="91425" spcFirstLastPara="1" rIns="91425" wrap="square" tIns="45700">
            <a:normAutofit/>
          </a:bodyPr>
          <a:lstStyle/>
          <a:p>
            <a:pPr indent="-279400" lvl="0" marL="40957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example: 1 Gbps link, 15 ms prop. delay, 8000 bit packet</a:t>
            </a:r>
            <a:endParaRPr b="0" i="0" sz="2800" u="none" cap="none" strike="noStrike">
              <a:solidFill>
                <a:srgbClr val="000000"/>
              </a:solidFill>
              <a:latin typeface="Calibri"/>
              <a:ea typeface="Calibri"/>
              <a:cs typeface="Calibri"/>
              <a:sym typeface="Calibri"/>
            </a:endParaRPr>
          </a:p>
        </p:txBody>
      </p:sp>
      <p:sp>
        <p:nvSpPr>
          <p:cNvPr id="1671" name="Google Shape;1671;p36"/>
          <p:cNvSpPr/>
          <p:nvPr/>
        </p:nvSpPr>
        <p:spPr>
          <a:xfrm>
            <a:off x="536827" y="1472895"/>
            <a:ext cx="10752586" cy="476250"/>
          </a:xfrm>
          <a:prstGeom prst="rect">
            <a:avLst/>
          </a:prstGeom>
          <a:noFill/>
          <a:ln>
            <a:noFill/>
          </a:ln>
        </p:spPr>
        <p:txBody>
          <a:bodyPr anchorCtr="0" anchor="t" bIns="45700" lIns="91425" spcFirstLastPara="1" rIns="91425" wrap="square" tIns="45700">
            <a:noAutofit/>
          </a:bodyPr>
          <a:lstStyle/>
          <a:p>
            <a:pPr indent="-231775" lvl="1" marL="688975" marR="0" rtl="0" algn="l">
              <a:lnSpc>
                <a:spcPct val="85000"/>
              </a:lnSpc>
              <a:spcBef>
                <a:spcPts val="0"/>
              </a:spcBef>
              <a:spcAft>
                <a:spcPts val="0"/>
              </a:spcAft>
              <a:buClr>
                <a:srgbClr val="000099"/>
              </a:buClr>
              <a:buSzPts val="3200"/>
              <a:buFont typeface="Noto Sans Symbols"/>
              <a:buChar char="▪"/>
            </a:pPr>
            <a:r>
              <a:rPr b="0" i="1" lang="en-US" sz="3200" u="none" cap="none" strike="noStrike">
                <a:solidFill>
                  <a:srgbClr val="000000"/>
                </a:solidFill>
                <a:latin typeface="Calibri"/>
                <a:ea typeface="Calibri"/>
                <a:cs typeface="Calibri"/>
                <a:sym typeface="Calibri"/>
              </a:rPr>
              <a:t>U </a:t>
            </a:r>
            <a:r>
              <a:rPr b="0" baseline="-25000" i="1" lang="en-US" sz="3200" u="none" cap="none" strike="noStrike">
                <a:solidFill>
                  <a:srgbClr val="000000"/>
                </a:solidFill>
                <a:latin typeface="Calibri"/>
                <a:ea typeface="Calibri"/>
                <a:cs typeface="Calibri"/>
                <a:sym typeface="Calibri"/>
              </a:rPr>
              <a:t>sender</a:t>
            </a:r>
            <a:r>
              <a:rPr b="0" i="0" lang="en-US" sz="3200" u="none" cap="none" strike="noStrike">
                <a:solidFill>
                  <a:srgbClr val="000000"/>
                </a:solidFill>
                <a:latin typeface="Calibri"/>
                <a:ea typeface="Calibri"/>
                <a:cs typeface="Calibri"/>
                <a:sym typeface="Calibri"/>
              </a:rPr>
              <a:t>: </a:t>
            </a:r>
            <a:r>
              <a:rPr b="0" i="1" lang="en-US" sz="3200" u="none" cap="none" strike="noStrike">
                <a:solidFill>
                  <a:srgbClr val="CC0000"/>
                </a:solidFill>
                <a:latin typeface="Calibri"/>
                <a:ea typeface="Calibri"/>
                <a:cs typeface="Calibri"/>
                <a:sym typeface="Calibri"/>
              </a:rPr>
              <a:t>utilization</a:t>
            </a:r>
            <a:r>
              <a:rPr b="0" i="0" lang="en-US" sz="3200" u="none" cap="none" strike="noStrike">
                <a:solidFill>
                  <a:srgbClr val="000000"/>
                </a:solidFill>
                <a:latin typeface="Calibri"/>
                <a:ea typeface="Calibri"/>
                <a:cs typeface="Calibri"/>
                <a:sym typeface="Calibri"/>
              </a:rPr>
              <a:t> – fraction of time sender busy sending</a:t>
            </a:r>
            <a:endParaRPr/>
          </a:p>
        </p:txBody>
      </p:sp>
      <p:grpSp>
        <p:nvGrpSpPr>
          <p:cNvPr id="1672" name="Google Shape;1672;p36"/>
          <p:cNvGrpSpPr/>
          <p:nvPr/>
        </p:nvGrpSpPr>
        <p:grpSpPr>
          <a:xfrm>
            <a:off x="1782678" y="3526869"/>
            <a:ext cx="5724525" cy="812800"/>
            <a:chOff x="137" y="1675"/>
            <a:chExt cx="3606" cy="512"/>
          </a:xfrm>
        </p:grpSpPr>
        <p:sp>
          <p:nvSpPr>
            <p:cNvPr id="1673" name="Google Shape;1673;p36"/>
            <p:cNvSpPr txBox="1"/>
            <p:nvPr/>
          </p:nvSpPr>
          <p:spPr>
            <a:xfrm>
              <a:off x="137" y="1795"/>
              <a:ext cx="647"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D</a:t>
              </a:r>
              <a:r>
                <a:rPr b="0" baseline="-25000" i="1" lang="en-US" sz="2400" u="none" cap="none" strike="noStrike">
                  <a:solidFill>
                    <a:srgbClr val="000000"/>
                  </a:solidFill>
                  <a:latin typeface="Calibri"/>
                  <a:ea typeface="Calibri"/>
                  <a:cs typeface="Calibri"/>
                  <a:sym typeface="Calibri"/>
                </a:rPr>
                <a:t>trans</a:t>
              </a:r>
              <a:r>
                <a:rPr b="0" i="1" lang="en-US" sz="2400" u="none" cap="none" strike="noStrike">
                  <a:solidFill>
                    <a:srgbClr val="000000"/>
                  </a:solidFill>
                  <a:latin typeface="Calibri"/>
                  <a:ea typeface="Calibri"/>
                  <a:cs typeface="Calibri"/>
                  <a:sym typeface="Calibri"/>
                </a:rPr>
                <a:t> =</a:t>
              </a:r>
              <a:endParaRPr/>
            </a:p>
          </p:txBody>
        </p:sp>
        <p:grpSp>
          <p:nvGrpSpPr>
            <p:cNvPr id="1674" name="Google Shape;1674;p36"/>
            <p:cNvGrpSpPr/>
            <p:nvPr/>
          </p:nvGrpSpPr>
          <p:grpSpPr>
            <a:xfrm>
              <a:off x="827" y="1677"/>
              <a:ext cx="235" cy="499"/>
              <a:chOff x="155" y="2937"/>
              <a:chExt cx="235" cy="499"/>
            </a:xfrm>
          </p:grpSpPr>
          <p:sp>
            <p:nvSpPr>
              <p:cNvPr id="1675" name="Google Shape;1675;p36"/>
              <p:cNvSpPr txBox="1"/>
              <p:nvPr/>
            </p:nvSpPr>
            <p:spPr>
              <a:xfrm>
                <a:off x="176" y="2937"/>
                <a:ext cx="19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L</a:t>
                </a:r>
                <a:endParaRPr/>
              </a:p>
            </p:txBody>
          </p:sp>
          <p:sp>
            <p:nvSpPr>
              <p:cNvPr id="1676" name="Google Shape;1676;p36"/>
              <p:cNvSpPr txBox="1"/>
              <p:nvPr/>
            </p:nvSpPr>
            <p:spPr>
              <a:xfrm>
                <a:off x="155" y="3145"/>
                <a:ext cx="221"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R</a:t>
                </a:r>
                <a:endParaRPr/>
              </a:p>
            </p:txBody>
          </p:sp>
          <p:cxnSp>
            <p:nvCxnSpPr>
              <p:cNvPr id="1677" name="Google Shape;1677;p36"/>
              <p:cNvCxnSpPr/>
              <p:nvPr/>
            </p:nvCxnSpPr>
            <p:spPr>
              <a:xfrm>
                <a:off x="204" y="3192"/>
                <a:ext cx="186" cy="0"/>
              </a:xfrm>
              <a:prstGeom prst="straightConnector1">
                <a:avLst/>
              </a:prstGeom>
              <a:noFill/>
              <a:ln cap="flat" cmpd="sng" w="19050">
                <a:solidFill>
                  <a:schemeClr val="dk1"/>
                </a:solidFill>
                <a:prstDash val="solid"/>
                <a:round/>
                <a:headEnd len="med" w="med" type="none"/>
                <a:tailEnd len="med" w="med" type="none"/>
              </a:ln>
            </p:spPr>
          </p:cxnSp>
        </p:grpSp>
        <p:grpSp>
          <p:nvGrpSpPr>
            <p:cNvPr id="1678" name="Google Shape;1678;p36"/>
            <p:cNvGrpSpPr/>
            <p:nvPr/>
          </p:nvGrpSpPr>
          <p:grpSpPr>
            <a:xfrm>
              <a:off x="1233" y="1675"/>
              <a:ext cx="1225" cy="512"/>
              <a:chOff x="1401" y="1693"/>
              <a:chExt cx="1225" cy="512"/>
            </a:xfrm>
          </p:grpSpPr>
          <p:sp>
            <p:nvSpPr>
              <p:cNvPr id="1679" name="Google Shape;1679;p36"/>
              <p:cNvSpPr txBox="1"/>
              <p:nvPr/>
            </p:nvSpPr>
            <p:spPr>
              <a:xfrm>
                <a:off x="2085" y="1748"/>
                <a:ext cx="153" cy="2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 </a:t>
                </a:r>
                <a:endParaRPr b="0" i="0" sz="2400" u="none" cap="none" strike="noStrike">
                  <a:solidFill>
                    <a:srgbClr val="000000"/>
                  </a:solidFill>
                  <a:latin typeface="Calibri"/>
                  <a:ea typeface="Calibri"/>
                  <a:cs typeface="Calibri"/>
                  <a:sym typeface="Calibri"/>
                </a:endParaRPr>
              </a:p>
            </p:txBody>
          </p:sp>
          <p:sp>
            <p:nvSpPr>
              <p:cNvPr id="1680" name="Google Shape;1680;p36"/>
              <p:cNvSpPr txBox="1"/>
              <p:nvPr/>
            </p:nvSpPr>
            <p:spPr>
              <a:xfrm>
                <a:off x="1563" y="1693"/>
                <a:ext cx="836"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8000 bits</a:t>
                </a:r>
                <a:endParaRPr/>
              </a:p>
            </p:txBody>
          </p:sp>
          <p:sp>
            <p:nvSpPr>
              <p:cNvPr id="1681" name="Google Shape;1681;p36"/>
              <p:cNvSpPr txBox="1"/>
              <p:nvPr/>
            </p:nvSpPr>
            <p:spPr>
              <a:xfrm>
                <a:off x="1401" y="1917"/>
                <a:ext cx="1225"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10</a:t>
                </a:r>
                <a:r>
                  <a:rPr b="0" baseline="30000" i="1" lang="en-US" sz="2400" u="none" cap="none" strike="noStrike">
                    <a:solidFill>
                      <a:srgbClr val="000000"/>
                    </a:solidFill>
                    <a:latin typeface="Calibri"/>
                    <a:ea typeface="Calibri"/>
                    <a:cs typeface="Calibri"/>
                    <a:sym typeface="Calibri"/>
                  </a:rPr>
                  <a:t>9 </a:t>
                </a:r>
                <a:r>
                  <a:rPr b="0" i="1" lang="en-US" sz="2400" u="none" cap="none" strike="noStrike">
                    <a:solidFill>
                      <a:srgbClr val="000000"/>
                    </a:solidFill>
                    <a:latin typeface="Calibri"/>
                    <a:ea typeface="Calibri"/>
                    <a:cs typeface="Calibri"/>
                    <a:sym typeface="Calibri"/>
                  </a:rPr>
                  <a:t>bits/sec</a:t>
                </a:r>
                <a:endParaRPr/>
              </a:p>
            </p:txBody>
          </p:sp>
          <p:cxnSp>
            <p:nvCxnSpPr>
              <p:cNvPr id="1682" name="Google Shape;1682;p36"/>
              <p:cNvCxnSpPr/>
              <p:nvPr/>
            </p:nvCxnSpPr>
            <p:spPr>
              <a:xfrm>
                <a:off x="1604" y="1950"/>
                <a:ext cx="970" cy="0"/>
              </a:xfrm>
              <a:prstGeom prst="straightConnector1">
                <a:avLst/>
              </a:prstGeom>
              <a:noFill/>
              <a:ln cap="flat" cmpd="sng" w="19050">
                <a:solidFill>
                  <a:schemeClr val="dk1"/>
                </a:solidFill>
                <a:prstDash val="solid"/>
                <a:round/>
                <a:headEnd len="med" w="med" type="none"/>
                <a:tailEnd len="med" w="med" type="none"/>
              </a:ln>
            </p:spPr>
          </p:cxnSp>
        </p:grpSp>
        <p:sp>
          <p:nvSpPr>
            <p:cNvPr id="1683" name="Google Shape;1683;p36"/>
            <p:cNvSpPr txBox="1"/>
            <p:nvPr/>
          </p:nvSpPr>
          <p:spPr>
            <a:xfrm>
              <a:off x="1093"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1684" name="Google Shape;1684;p36"/>
            <p:cNvSpPr txBox="1"/>
            <p:nvPr/>
          </p:nvSpPr>
          <p:spPr>
            <a:xfrm>
              <a:off x="2509" y="1789"/>
              <a:ext cx="213"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a:p>
          </p:txBody>
        </p:sp>
        <p:sp>
          <p:nvSpPr>
            <p:cNvPr id="1685" name="Google Shape;1685;p36"/>
            <p:cNvSpPr txBox="1"/>
            <p:nvPr/>
          </p:nvSpPr>
          <p:spPr>
            <a:xfrm>
              <a:off x="2715" y="1777"/>
              <a:ext cx="1028" cy="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1" lang="en-US" sz="2400" u="none" cap="none" strike="noStrike">
                  <a:solidFill>
                    <a:srgbClr val="000000"/>
                  </a:solidFill>
                  <a:latin typeface="Calibri"/>
                  <a:ea typeface="Calibri"/>
                  <a:cs typeface="Calibri"/>
                  <a:sym typeface="Calibri"/>
                </a:rPr>
                <a:t>8 microsecs</a:t>
              </a:r>
              <a:endParaRPr/>
            </a:p>
          </p:txBody>
        </p:sp>
      </p:grpSp>
      <p:sp>
        <p:nvSpPr>
          <p:cNvPr id="1686" name="Google Shape;1686;p36"/>
          <p:cNvSpPr txBox="1"/>
          <p:nvPr/>
        </p:nvSpPr>
        <p:spPr>
          <a:xfrm>
            <a:off x="829076" y="3163511"/>
            <a:ext cx="9723349" cy="1044522"/>
          </a:xfrm>
          <a:prstGeom prst="rect">
            <a:avLst/>
          </a:prstGeom>
          <a:noFill/>
          <a:ln>
            <a:noFill/>
          </a:ln>
        </p:spPr>
        <p:txBody>
          <a:bodyPr anchorCtr="0" anchor="t" bIns="45700" lIns="91425" spcFirstLastPara="1" rIns="91425" wrap="square" tIns="45700">
            <a:normAutofit/>
          </a:bodyPr>
          <a:lstStyle/>
          <a:p>
            <a:pPr indent="-457200" lvl="1" marL="930275" marR="0" rtl="0" algn="l">
              <a:lnSpc>
                <a:spcPct val="90000"/>
              </a:lnSpc>
              <a:spcBef>
                <a:spcPts val="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time to transmit packet into channel: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0">
                                            <p:txEl>
                                              <p:pRg end="0" st="0"/>
                                            </p:txEl>
                                          </p:spTgt>
                                        </p:tgtEl>
                                        <p:attrNameLst>
                                          <p:attrName>style.visibility</p:attrName>
                                        </p:attrNameLst>
                                      </p:cBhvr>
                                      <p:to>
                                        <p:strVal val="visible"/>
                                      </p:to>
                                    </p:set>
                                    <p:animEffect filter="fade" transition="in">
                                      <p:cBhvr>
                                        <p:cTn dur="500"/>
                                        <p:tgtEl>
                                          <p:spTgt spid="16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2"/>
                                        </p:tgtEl>
                                        <p:attrNameLst>
                                          <p:attrName>style.visibility</p:attrName>
                                        </p:attrNameLst>
                                      </p:cBhvr>
                                      <p:to>
                                        <p:strVal val="visible"/>
                                      </p:to>
                                    </p:set>
                                    <p:animEffect filter="fade" transition="in">
                                      <p:cBhvr>
                                        <p:cTn dur="500"/>
                                        <p:tgtEl>
                                          <p:spTgt spid="1672"/>
                                        </p:tgtEl>
                                      </p:cBhvr>
                                    </p:animEffect>
                                  </p:childTnLst>
                                </p:cTn>
                              </p:par>
                              <p:par>
                                <p:cTn fill="hold" nodeType="withEffect" presetClass="entr" presetID="10" presetSubtype="0">
                                  <p:stCondLst>
                                    <p:cond delay="0"/>
                                  </p:stCondLst>
                                  <p:childTnLst>
                                    <p:set>
                                      <p:cBhvr>
                                        <p:cTn dur="1" fill="hold">
                                          <p:stCondLst>
                                            <p:cond delay="0"/>
                                          </p:stCondLst>
                                        </p:cTn>
                                        <p:tgtEl>
                                          <p:spTgt spid="1686">
                                            <p:txEl>
                                              <p:pRg end="0" st="0"/>
                                            </p:txEl>
                                          </p:spTgt>
                                        </p:tgtEl>
                                        <p:attrNameLst>
                                          <p:attrName>style.visibility</p:attrName>
                                        </p:attrNameLst>
                                      </p:cBhvr>
                                      <p:to>
                                        <p:strVal val="visible"/>
                                      </p:to>
                                    </p:set>
                                    <p:animEffect filter="fade" transition="in">
                                      <p:cBhvr>
                                        <p:cTn dur="500"/>
                                        <p:tgtEl>
                                          <p:spTgt spid="168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3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grpSp>
        <p:nvGrpSpPr>
          <p:cNvPr id="1693" name="Google Shape;1693;p37"/>
          <p:cNvGrpSpPr/>
          <p:nvPr/>
        </p:nvGrpSpPr>
        <p:grpSpPr>
          <a:xfrm>
            <a:off x="3188111" y="1436688"/>
            <a:ext cx="8729662" cy="3249612"/>
            <a:chOff x="1660525" y="1638643"/>
            <a:chExt cx="8729662" cy="3249612"/>
          </a:xfrm>
        </p:grpSpPr>
        <p:cxnSp>
          <p:nvCxnSpPr>
            <p:cNvPr id="1694" name="Google Shape;1694;p37"/>
            <p:cNvCxnSpPr/>
            <p:nvPr/>
          </p:nvCxnSpPr>
          <p:spPr>
            <a:xfrm>
              <a:off x="4984750" y="2194268"/>
              <a:ext cx="2227262" cy="922337"/>
            </a:xfrm>
            <a:prstGeom prst="straightConnector1">
              <a:avLst/>
            </a:prstGeom>
            <a:noFill/>
            <a:ln cap="flat" cmpd="sng" w="9525">
              <a:solidFill>
                <a:srgbClr val="000000"/>
              </a:solidFill>
              <a:prstDash val="solid"/>
              <a:round/>
              <a:headEnd len="med" w="med" type="none"/>
              <a:tailEnd len="med" w="med" type="none"/>
            </a:ln>
          </p:spPr>
        </p:cxnSp>
        <p:sp>
          <p:nvSpPr>
            <p:cNvPr id="1695" name="Google Shape;1695;p37"/>
            <p:cNvSpPr txBox="1"/>
            <p:nvPr/>
          </p:nvSpPr>
          <p:spPr>
            <a:xfrm>
              <a:off x="1660525" y="1989480"/>
              <a:ext cx="3232150" cy="352425"/>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a:p>
          </p:txBody>
        </p:sp>
        <p:cxnSp>
          <p:nvCxnSpPr>
            <p:cNvPr id="1696" name="Google Shape;1696;p37"/>
            <p:cNvCxnSpPr/>
            <p:nvPr/>
          </p:nvCxnSpPr>
          <p:spPr>
            <a:xfrm>
              <a:off x="4973637" y="1975193"/>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1697" name="Google Shape;1697;p37"/>
            <p:cNvCxnSpPr/>
            <p:nvPr/>
          </p:nvCxnSpPr>
          <p:spPr>
            <a:xfrm>
              <a:off x="7200900" y="1987893"/>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1698" name="Google Shape;1698;p37"/>
            <p:cNvSpPr txBox="1"/>
            <p:nvPr/>
          </p:nvSpPr>
          <p:spPr>
            <a:xfrm>
              <a:off x="4445000" y="1638643"/>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1699" name="Google Shape;1699;p37"/>
            <p:cNvSpPr txBox="1"/>
            <p:nvPr/>
          </p:nvSpPr>
          <p:spPr>
            <a:xfrm>
              <a:off x="6623050" y="1638643"/>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1700" name="Google Shape;1700;p37"/>
            <p:cNvCxnSpPr/>
            <p:nvPr/>
          </p:nvCxnSpPr>
          <p:spPr>
            <a:xfrm>
              <a:off x="4997450" y="2189505"/>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1701" name="Google Shape;1701;p37"/>
            <p:cNvCxnSpPr/>
            <p:nvPr/>
          </p:nvCxnSpPr>
          <p:spPr>
            <a:xfrm>
              <a:off x="5002212" y="4300880"/>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1702" name="Google Shape;1702;p37"/>
            <p:cNvCxnSpPr/>
            <p:nvPr/>
          </p:nvCxnSpPr>
          <p:spPr>
            <a:xfrm flipH="1" rot="10800000">
              <a:off x="5002212" y="3357905"/>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1703" name="Google Shape;1703;p37"/>
            <p:cNvSpPr/>
            <p:nvPr/>
          </p:nvSpPr>
          <p:spPr>
            <a:xfrm>
              <a:off x="4979987" y="2187918"/>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704" name="Google Shape;1704;p37"/>
            <p:cNvCxnSpPr/>
            <p:nvPr/>
          </p:nvCxnSpPr>
          <p:spPr>
            <a:xfrm rot="10800000">
              <a:off x="4835525" y="21879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1705" name="Google Shape;1705;p37"/>
            <p:cNvCxnSpPr/>
            <p:nvPr/>
          </p:nvCxnSpPr>
          <p:spPr>
            <a:xfrm rot="10800000">
              <a:off x="4835525" y="2429218"/>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1706" name="Google Shape;1706;p37"/>
            <p:cNvCxnSpPr/>
            <p:nvPr/>
          </p:nvCxnSpPr>
          <p:spPr>
            <a:xfrm rot="10800000">
              <a:off x="4846637" y="4288180"/>
              <a:ext cx="133350" cy="0"/>
            </a:xfrm>
            <a:prstGeom prst="straightConnector1">
              <a:avLst/>
            </a:prstGeom>
            <a:noFill/>
            <a:ln cap="flat" cmpd="sng" w="9525">
              <a:solidFill>
                <a:srgbClr val="000000"/>
              </a:solidFill>
              <a:prstDash val="solid"/>
              <a:round/>
              <a:headEnd len="med" w="med" type="none"/>
              <a:tailEnd len="med" w="med" type="none"/>
            </a:ln>
          </p:spPr>
        </p:cxnSp>
        <p:sp>
          <p:nvSpPr>
            <p:cNvPr id="1707" name="Google Shape;1707;p37"/>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708" name="Google Shape;1708;p37"/>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1709" name="Google Shape;1709;p37"/>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cxnSp>
          <p:nvCxnSpPr>
            <p:cNvPr id="1710" name="Google Shape;1710;p37"/>
            <p:cNvCxnSpPr/>
            <p:nvPr/>
          </p:nvCxnSpPr>
          <p:spPr>
            <a:xfrm rot="10800000">
              <a:off x="7188200" y="3102318"/>
              <a:ext cx="133350" cy="0"/>
            </a:xfrm>
            <a:prstGeom prst="straightConnector1">
              <a:avLst/>
            </a:prstGeom>
            <a:noFill/>
            <a:ln cap="flat" cmpd="sng" w="9525">
              <a:solidFill>
                <a:srgbClr val="000000"/>
              </a:solidFill>
              <a:prstDash val="solid"/>
              <a:round/>
              <a:headEnd len="med" w="med" type="none"/>
              <a:tailEnd len="med" w="med" type="none"/>
            </a:ln>
          </p:spPr>
        </p:cxnSp>
        <p:sp>
          <p:nvSpPr>
            <p:cNvPr id="1711" name="Google Shape;1711;p37"/>
            <p:cNvSpPr txBox="1"/>
            <p:nvPr/>
          </p:nvSpPr>
          <p:spPr>
            <a:xfrm>
              <a:off x="7269162" y="2926105"/>
              <a:ext cx="2425700" cy="3524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1712" name="Google Shape;1712;p37"/>
            <p:cNvCxnSpPr/>
            <p:nvPr/>
          </p:nvCxnSpPr>
          <p:spPr>
            <a:xfrm>
              <a:off x="7212012" y="3351555"/>
              <a:ext cx="127000" cy="0"/>
            </a:xfrm>
            <a:prstGeom prst="straightConnector1">
              <a:avLst/>
            </a:prstGeom>
            <a:noFill/>
            <a:ln cap="flat" cmpd="sng" w="9525">
              <a:solidFill>
                <a:srgbClr val="000000"/>
              </a:solidFill>
              <a:prstDash val="solid"/>
              <a:round/>
              <a:headEnd len="med" w="med" type="none"/>
              <a:tailEnd len="med" w="med" type="none"/>
            </a:ln>
          </p:spPr>
        </p:cxnSp>
        <p:sp>
          <p:nvSpPr>
            <p:cNvPr id="1713" name="Google Shape;1713;p37"/>
            <p:cNvSpPr txBox="1"/>
            <p:nvPr/>
          </p:nvSpPr>
          <p:spPr>
            <a:xfrm>
              <a:off x="7275512" y="3178518"/>
              <a:ext cx="3114675" cy="5699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1714" name="Google Shape;1714;p37"/>
            <p:cNvSpPr txBox="1"/>
            <p:nvPr/>
          </p:nvSpPr>
          <p:spPr>
            <a:xfrm>
              <a:off x="2252662" y="3961155"/>
              <a:ext cx="2686050" cy="635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a:t>
              </a:r>
              <a:r>
                <a:rPr b="0" i="0" lang="en-US" sz="1600" u="none" cap="none" strike="noStrike">
                  <a:solidFill>
                    <a:srgbClr val="CC0000"/>
                  </a:solidFill>
                  <a:latin typeface="Arial"/>
                  <a:ea typeface="Arial"/>
                  <a:cs typeface="Arial"/>
                  <a:sym typeface="Arial"/>
                </a:rPr>
                <a:t>t = RTT + L / R</a:t>
              </a:r>
              <a:endParaRPr b="0" i="0" sz="1600" u="none" cap="none" strike="noStrike">
                <a:solidFill>
                  <a:srgbClr val="CC0000"/>
                </a:solidFill>
                <a:latin typeface="Times New Roman"/>
                <a:ea typeface="Times New Roman"/>
                <a:cs typeface="Times New Roman"/>
                <a:sym typeface="Times New Roman"/>
              </a:endParaRPr>
            </a:p>
          </p:txBody>
        </p:sp>
        <p:sp>
          <p:nvSpPr>
            <p:cNvPr id="1715" name="Google Shape;1715;p37"/>
            <p:cNvSpPr/>
            <p:nvPr/>
          </p:nvSpPr>
          <p:spPr>
            <a:xfrm>
              <a:off x="4997450" y="4296118"/>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716" name="Google Shape;1716;p37"/>
            <p:cNvGrpSpPr/>
            <p:nvPr/>
          </p:nvGrpSpPr>
          <p:grpSpPr>
            <a:xfrm>
              <a:off x="4991100" y="4288180"/>
              <a:ext cx="1281112" cy="534988"/>
              <a:chOff x="12315" y="13225"/>
              <a:chExt cx="2775" cy="913"/>
            </a:xfrm>
          </p:grpSpPr>
          <p:cxnSp>
            <p:nvCxnSpPr>
              <p:cNvPr id="1717" name="Google Shape;1717;p37"/>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1718" name="Google Shape;1718;p37"/>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1719" name="Google Shape;1719;p37"/>
            <p:cNvCxnSpPr/>
            <p:nvPr/>
          </p:nvCxnSpPr>
          <p:spPr>
            <a:xfrm>
              <a:off x="4991100" y="4529480"/>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1720" name="Google Shape;1720;p37"/>
            <p:cNvCxnSpPr/>
            <p:nvPr/>
          </p:nvCxnSpPr>
          <p:spPr>
            <a:xfrm>
              <a:off x="5314950" y="4653305"/>
              <a:ext cx="541337" cy="234950"/>
            </a:xfrm>
            <a:prstGeom prst="straightConnector1">
              <a:avLst/>
            </a:prstGeom>
            <a:noFill/>
            <a:ln cap="flat" cmpd="sng" w="9525">
              <a:solidFill>
                <a:srgbClr val="000000"/>
              </a:solidFill>
              <a:prstDash val="dot"/>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3"/>
                                        </p:tgtEl>
                                        <p:attrNameLst>
                                          <p:attrName>style.visibility</p:attrName>
                                        </p:attrNameLst>
                                      </p:cBhvr>
                                      <p:to>
                                        <p:strVal val="visible"/>
                                      </p:to>
                                    </p:set>
                                    <p:animEffect filter="fade" transition="in">
                                      <p:cBhvr>
                                        <p:cTn dur="2000"/>
                                        <p:tgtEl>
                                          <p:spTgt spid="16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5" name="Shape 1725"/>
        <p:cNvGrpSpPr/>
        <p:nvPr/>
      </p:nvGrpSpPr>
      <p:grpSpPr>
        <a:xfrm>
          <a:off x="0" y="0"/>
          <a:ext cx="0" cy="0"/>
          <a:chOff x="0" y="0"/>
          <a:chExt cx="0" cy="0"/>
        </a:xfrm>
      </p:grpSpPr>
      <p:sp>
        <p:nvSpPr>
          <p:cNvPr id="1726" name="Google Shape;1726;p3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stop-and-wait operation</a:t>
            </a:r>
            <a:endParaRPr sz="4400"/>
          </a:p>
        </p:txBody>
      </p:sp>
      <p:cxnSp>
        <p:nvCxnSpPr>
          <p:cNvPr id="1727" name="Google Shape;1727;p38"/>
          <p:cNvCxnSpPr/>
          <p:nvPr/>
        </p:nvCxnSpPr>
        <p:spPr>
          <a:xfrm>
            <a:off x="6523093" y="1992313"/>
            <a:ext cx="2227262" cy="922337"/>
          </a:xfrm>
          <a:prstGeom prst="straightConnector1">
            <a:avLst/>
          </a:prstGeom>
          <a:noFill/>
          <a:ln cap="flat" cmpd="sng" w="9525">
            <a:solidFill>
              <a:srgbClr val="000000"/>
            </a:solidFill>
            <a:prstDash val="solid"/>
            <a:round/>
            <a:headEnd len="med" w="med" type="none"/>
            <a:tailEnd len="med" w="med" type="none"/>
          </a:ln>
        </p:spPr>
      </p:cxnSp>
      <p:cxnSp>
        <p:nvCxnSpPr>
          <p:cNvPr id="1728" name="Google Shape;1728;p38"/>
          <p:cNvCxnSpPr/>
          <p:nvPr/>
        </p:nvCxnSpPr>
        <p:spPr>
          <a:xfrm>
            <a:off x="6511980" y="1773238"/>
            <a:ext cx="23813" cy="2913062"/>
          </a:xfrm>
          <a:prstGeom prst="straightConnector1">
            <a:avLst/>
          </a:prstGeom>
          <a:noFill/>
          <a:ln cap="flat" cmpd="sng" w="9525">
            <a:solidFill>
              <a:srgbClr val="000000"/>
            </a:solidFill>
            <a:prstDash val="solid"/>
            <a:round/>
            <a:headEnd len="med" w="med" type="none"/>
            <a:tailEnd len="med" w="med" type="triangle"/>
          </a:ln>
        </p:spPr>
      </p:cxnSp>
      <p:cxnSp>
        <p:nvCxnSpPr>
          <p:cNvPr id="1729" name="Google Shape;1729;p38"/>
          <p:cNvCxnSpPr/>
          <p:nvPr/>
        </p:nvCxnSpPr>
        <p:spPr>
          <a:xfrm>
            <a:off x="8739243" y="1785938"/>
            <a:ext cx="22225" cy="2890837"/>
          </a:xfrm>
          <a:prstGeom prst="straightConnector1">
            <a:avLst/>
          </a:prstGeom>
          <a:noFill/>
          <a:ln cap="flat" cmpd="sng" w="9525">
            <a:solidFill>
              <a:srgbClr val="000000"/>
            </a:solidFill>
            <a:prstDash val="solid"/>
            <a:round/>
            <a:headEnd len="med" w="med" type="none"/>
            <a:tailEnd len="med" w="med" type="triangle"/>
          </a:ln>
        </p:spPr>
      </p:cxnSp>
      <p:sp>
        <p:nvSpPr>
          <p:cNvPr id="1730" name="Google Shape;1730;p38"/>
          <p:cNvSpPr txBox="1"/>
          <p:nvPr/>
        </p:nvSpPr>
        <p:spPr>
          <a:xfrm>
            <a:off x="5983343" y="1436688"/>
            <a:ext cx="885825"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1731" name="Google Shape;1731;p38"/>
          <p:cNvSpPr txBox="1"/>
          <p:nvPr/>
        </p:nvSpPr>
        <p:spPr>
          <a:xfrm>
            <a:off x="8161393" y="1436688"/>
            <a:ext cx="946150" cy="350837"/>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1732" name="Google Shape;1732;p38"/>
          <p:cNvCxnSpPr/>
          <p:nvPr/>
        </p:nvCxnSpPr>
        <p:spPr>
          <a:xfrm>
            <a:off x="6535793" y="1987550"/>
            <a:ext cx="2190750" cy="3175"/>
          </a:xfrm>
          <a:prstGeom prst="straightConnector1">
            <a:avLst/>
          </a:prstGeom>
          <a:noFill/>
          <a:ln cap="flat" cmpd="sng" w="9525">
            <a:solidFill>
              <a:srgbClr val="000000"/>
            </a:solidFill>
            <a:prstDash val="dash"/>
            <a:round/>
            <a:headEnd len="med" w="med" type="none"/>
            <a:tailEnd len="med" w="med" type="none"/>
          </a:ln>
        </p:spPr>
      </p:cxnSp>
      <p:cxnSp>
        <p:nvCxnSpPr>
          <p:cNvPr id="1733" name="Google Shape;1733;p38"/>
          <p:cNvCxnSpPr/>
          <p:nvPr/>
        </p:nvCxnSpPr>
        <p:spPr>
          <a:xfrm>
            <a:off x="6540555" y="4098925"/>
            <a:ext cx="2192338" cy="0"/>
          </a:xfrm>
          <a:prstGeom prst="straightConnector1">
            <a:avLst/>
          </a:prstGeom>
          <a:noFill/>
          <a:ln cap="flat" cmpd="sng" w="9525">
            <a:solidFill>
              <a:srgbClr val="000000"/>
            </a:solidFill>
            <a:prstDash val="dash"/>
            <a:round/>
            <a:headEnd len="med" w="med" type="none"/>
            <a:tailEnd len="med" w="med" type="none"/>
          </a:ln>
        </p:spPr>
      </p:cxnSp>
      <p:cxnSp>
        <p:nvCxnSpPr>
          <p:cNvPr id="1734" name="Google Shape;1734;p38"/>
          <p:cNvCxnSpPr/>
          <p:nvPr/>
        </p:nvCxnSpPr>
        <p:spPr>
          <a:xfrm flipH="1" rot="10800000">
            <a:off x="6540555" y="3155950"/>
            <a:ext cx="2209800" cy="922338"/>
          </a:xfrm>
          <a:prstGeom prst="straightConnector1">
            <a:avLst/>
          </a:prstGeom>
          <a:noFill/>
          <a:ln cap="flat" cmpd="sng" w="9525">
            <a:solidFill>
              <a:srgbClr val="000000"/>
            </a:solidFill>
            <a:prstDash val="solid"/>
            <a:round/>
            <a:headEnd len="med" w="med" type="none"/>
            <a:tailEnd len="med" w="med" type="none"/>
          </a:ln>
        </p:spPr>
      </p:cxnSp>
      <p:sp>
        <p:nvSpPr>
          <p:cNvPr id="1735" name="Google Shape;1735;p38"/>
          <p:cNvSpPr/>
          <p:nvPr/>
        </p:nvSpPr>
        <p:spPr>
          <a:xfrm>
            <a:off x="6518330" y="1985963"/>
            <a:ext cx="2232025" cy="11557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736" name="Google Shape;1736;p38"/>
          <p:cNvCxnSpPr/>
          <p:nvPr/>
        </p:nvCxnSpPr>
        <p:spPr>
          <a:xfrm rot="10800000">
            <a:off x="6373868" y="19859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1737" name="Google Shape;1737;p38"/>
          <p:cNvCxnSpPr/>
          <p:nvPr/>
        </p:nvCxnSpPr>
        <p:spPr>
          <a:xfrm rot="10800000">
            <a:off x="6373868" y="2227263"/>
            <a:ext cx="131762" cy="0"/>
          </a:xfrm>
          <a:prstGeom prst="straightConnector1">
            <a:avLst/>
          </a:prstGeom>
          <a:noFill/>
          <a:ln cap="flat" cmpd="sng" w="9525">
            <a:solidFill>
              <a:srgbClr val="000000"/>
            </a:solidFill>
            <a:prstDash val="solid"/>
            <a:round/>
            <a:headEnd len="med" w="med" type="none"/>
            <a:tailEnd len="med" w="med" type="none"/>
          </a:ln>
        </p:spPr>
      </p:cxnSp>
      <p:cxnSp>
        <p:nvCxnSpPr>
          <p:cNvPr id="1738" name="Google Shape;1738;p38"/>
          <p:cNvCxnSpPr/>
          <p:nvPr/>
        </p:nvCxnSpPr>
        <p:spPr>
          <a:xfrm rot="10800000">
            <a:off x="6384980" y="4086225"/>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1739" name="Google Shape;1739;p38"/>
          <p:cNvCxnSpPr/>
          <p:nvPr/>
        </p:nvCxnSpPr>
        <p:spPr>
          <a:xfrm rot="10800000">
            <a:off x="8726543" y="2900363"/>
            <a:ext cx="133350" cy="0"/>
          </a:xfrm>
          <a:prstGeom prst="straightConnector1">
            <a:avLst/>
          </a:prstGeom>
          <a:noFill/>
          <a:ln cap="flat" cmpd="sng" w="9525">
            <a:solidFill>
              <a:srgbClr val="000000"/>
            </a:solidFill>
            <a:prstDash val="solid"/>
            <a:round/>
            <a:headEnd len="med" w="med" type="none"/>
            <a:tailEnd len="med" w="med" type="none"/>
          </a:ln>
        </p:spPr>
      </p:cxnSp>
      <p:cxnSp>
        <p:nvCxnSpPr>
          <p:cNvPr id="1740" name="Google Shape;1740;p38"/>
          <p:cNvCxnSpPr/>
          <p:nvPr/>
        </p:nvCxnSpPr>
        <p:spPr>
          <a:xfrm>
            <a:off x="8750355" y="3149600"/>
            <a:ext cx="127000" cy="0"/>
          </a:xfrm>
          <a:prstGeom prst="straightConnector1">
            <a:avLst/>
          </a:prstGeom>
          <a:noFill/>
          <a:ln cap="flat" cmpd="sng" w="9525">
            <a:solidFill>
              <a:srgbClr val="000000"/>
            </a:solidFill>
            <a:prstDash val="solid"/>
            <a:round/>
            <a:headEnd len="med" w="med" type="none"/>
            <a:tailEnd len="med" w="med" type="none"/>
          </a:ln>
        </p:spPr>
      </p:cxnSp>
      <p:sp>
        <p:nvSpPr>
          <p:cNvPr id="1741" name="Google Shape;1741;p38"/>
          <p:cNvSpPr/>
          <p:nvPr/>
        </p:nvSpPr>
        <p:spPr>
          <a:xfrm>
            <a:off x="6535793" y="4094163"/>
            <a:ext cx="1419225" cy="577850"/>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742" name="Google Shape;1742;p38"/>
          <p:cNvGrpSpPr/>
          <p:nvPr/>
        </p:nvGrpSpPr>
        <p:grpSpPr>
          <a:xfrm>
            <a:off x="6529443" y="4086225"/>
            <a:ext cx="1281112" cy="534988"/>
            <a:chOff x="12315" y="13225"/>
            <a:chExt cx="2775" cy="913"/>
          </a:xfrm>
        </p:grpSpPr>
        <p:cxnSp>
          <p:nvCxnSpPr>
            <p:cNvPr id="1743" name="Google Shape;1743;p38"/>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1744" name="Google Shape;1744;p38"/>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1745" name="Google Shape;1745;p38"/>
          <p:cNvCxnSpPr/>
          <p:nvPr/>
        </p:nvCxnSpPr>
        <p:spPr>
          <a:xfrm>
            <a:off x="6529443" y="4327525"/>
            <a:ext cx="317500" cy="123825"/>
          </a:xfrm>
          <a:prstGeom prst="straightConnector1">
            <a:avLst/>
          </a:prstGeom>
          <a:noFill/>
          <a:ln cap="flat" cmpd="sng" w="9525">
            <a:solidFill>
              <a:srgbClr val="000000"/>
            </a:solidFill>
            <a:prstDash val="solid"/>
            <a:round/>
            <a:headEnd len="med" w="med" type="none"/>
            <a:tailEnd len="med" w="med" type="none"/>
          </a:ln>
        </p:spPr>
      </p:cxnSp>
      <p:cxnSp>
        <p:nvCxnSpPr>
          <p:cNvPr id="1746" name="Google Shape;1746;p38"/>
          <p:cNvCxnSpPr/>
          <p:nvPr/>
        </p:nvCxnSpPr>
        <p:spPr>
          <a:xfrm>
            <a:off x="6853293" y="4451350"/>
            <a:ext cx="541337" cy="234950"/>
          </a:xfrm>
          <a:prstGeom prst="straightConnector1">
            <a:avLst/>
          </a:prstGeom>
          <a:noFill/>
          <a:ln cap="flat" cmpd="sng" w="9525">
            <a:solidFill>
              <a:srgbClr val="000000"/>
            </a:solidFill>
            <a:prstDash val="dot"/>
            <a:round/>
            <a:headEnd len="med" w="med" type="none"/>
            <a:tailEnd len="med" w="med" type="none"/>
          </a:ln>
        </p:spPr>
      </p:cxnSp>
      <p:grpSp>
        <p:nvGrpSpPr>
          <p:cNvPr id="1747" name="Google Shape;1747;p38"/>
          <p:cNvGrpSpPr/>
          <p:nvPr/>
        </p:nvGrpSpPr>
        <p:grpSpPr>
          <a:xfrm>
            <a:off x="2244612" y="2022637"/>
            <a:ext cx="1278602" cy="597475"/>
            <a:chOff x="749300" y="3009900"/>
            <a:chExt cx="1278602" cy="597475"/>
          </a:xfrm>
        </p:grpSpPr>
        <p:sp>
          <p:nvSpPr>
            <p:cNvPr id="1748" name="Google Shape;1748;p38"/>
            <p:cNvSpPr txBox="1"/>
            <p:nvPr/>
          </p:nvSpPr>
          <p:spPr>
            <a:xfrm>
              <a:off x="749300" y="3022600"/>
              <a:ext cx="1111202"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U</a:t>
              </a:r>
              <a:r>
                <a:rPr b="0" baseline="-25000" i="0" lang="en-US" sz="2800" u="none" cap="none" strike="noStrike">
                  <a:solidFill>
                    <a:srgbClr val="000000"/>
                  </a:solidFill>
                  <a:latin typeface="Calibri"/>
                  <a:ea typeface="Calibri"/>
                  <a:cs typeface="Calibri"/>
                  <a:sym typeface="Calibri"/>
                </a:rPr>
                <a:t>sender</a:t>
              </a:r>
              <a:endParaRPr b="0" baseline="-25000" i="0" sz="2800" u="none" cap="none" strike="noStrike">
                <a:solidFill>
                  <a:srgbClr val="000000"/>
                </a:solidFill>
                <a:latin typeface="Calibri"/>
                <a:ea typeface="Calibri"/>
                <a:cs typeface="Calibri"/>
                <a:sym typeface="Calibri"/>
              </a:endParaRPr>
            </a:p>
          </p:txBody>
        </p:sp>
        <p:sp>
          <p:nvSpPr>
            <p:cNvPr id="1749" name="Google Shape;1749;p38"/>
            <p:cNvSpPr txBox="1"/>
            <p:nvPr/>
          </p:nvSpPr>
          <p:spPr>
            <a:xfrm>
              <a:off x="1663700" y="300990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sp>
        <p:nvSpPr>
          <p:cNvPr id="1750" name="Google Shape;1750;p38"/>
          <p:cNvSpPr txBox="1"/>
          <p:nvPr/>
        </p:nvSpPr>
        <p:spPr>
          <a:xfrm>
            <a:off x="4022612" y="1768637"/>
            <a:ext cx="83388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L / R</a:t>
            </a:r>
            <a:endParaRPr/>
          </a:p>
        </p:txBody>
      </p:sp>
      <p:sp>
        <p:nvSpPr>
          <p:cNvPr id="1751" name="Google Shape;1751;p38"/>
          <p:cNvSpPr txBox="1"/>
          <p:nvPr/>
        </p:nvSpPr>
        <p:spPr>
          <a:xfrm>
            <a:off x="3565412" y="2314737"/>
            <a:ext cx="73109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RTT</a:t>
            </a:r>
            <a:endParaRPr/>
          </a:p>
        </p:txBody>
      </p:sp>
      <p:cxnSp>
        <p:nvCxnSpPr>
          <p:cNvPr id="1752" name="Google Shape;1752;p38"/>
          <p:cNvCxnSpPr/>
          <p:nvPr/>
        </p:nvCxnSpPr>
        <p:spPr>
          <a:xfrm>
            <a:off x="3654312" y="2314737"/>
            <a:ext cx="1549400" cy="0"/>
          </a:xfrm>
          <a:prstGeom prst="straightConnector1">
            <a:avLst/>
          </a:prstGeom>
          <a:noFill/>
          <a:ln cap="flat" cmpd="sng" w="22225">
            <a:solidFill>
              <a:schemeClr val="dk1"/>
            </a:solidFill>
            <a:prstDash val="solid"/>
            <a:miter lim="800000"/>
            <a:headEnd len="sm" w="sm" type="none"/>
            <a:tailEnd len="sm" w="sm" type="none"/>
          </a:ln>
        </p:spPr>
      </p:cxnSp>
      <p:grpSp>
        <p:nvGrpSpPr>
          <p:cNvPr id="1753" name="Google Shape;1753;p38"/>
          <p:cNvGrpSpPr/>
          <p:nvPr/>
        </p:nvGrpSpPr>
        <p:grpSpPr>
          <a:xfrm>
            <a:off x="5721405" y="2234921"/>
            <a:ext cx="847725" cy="1860804"/>
            <a:chOff x="4183062" y="2436876"/>
            <a:chExt cx="847725" cy="1860804"/>
          </a:xfrm>
        </p:grpSpPr>
        <p:sp>
          <p:nvSpPr>
            <p:cNvPr id="1754" name="Google Shape;1754;p38"/>
            <p:cNvSpPr txBox="1"/>
            <p:nvPr/>
          </p:nvSpPr>
          <p:spPr>
            <a:xfrm>
              <a:off x="4183062" y="3161055"/>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RTT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1755" name="Google Shape;1755;p38"/>
            <p:cNvCxnSpPr/>
            <p:nvPr/>
          </p:nvCxnSpPr>
          <p:spPr>
            <a:xfrm>
              <a:off x="4870450" y="3469030"/>
              <a:ext cx="11112" cy="811213"/>
            </a:xfrm>
            <a:prstGeom prst="straightConnector1">
              <a:avLst/>
            </a:prstGeom>
            <a:noFill/>
            <a:ln cap="flat" cmpd="sng" w="9525">
              <a:solidFill>
                <a:srgbClr val="000000"/>
              </a:solidFill>
              <a:prstDash val="solid"/>
              <a:round/>
              <a:headEnd len="med" w="med" type="none"/>
              <a:tailEnd len="med" w="med" type="triangle"/>
            </a:ln>
          </p:spPr>
        </p:cxnSp>
        <p:cxnSp>
          <p:nvCxnSpPr>
            <p:cNvPr id="1756" name="Google Shape;1756;p38"/>
            <p:cNvCxnSpPr/>
            <p:nvPr/>
          </p:nvCxnSpPr>
          <p:spPr>
            <a:xfrm flipH="1" rot="10800000">
              <a:off x="4875212" y="2451443"/>
              <a:ext cx="3175" cy="768350"/>
            </a:xfrm>
            <a:prstGeom prst="straightConnector1">
              <a:avLst/>
            </a:prstGeom>
            <a:noFill/>
            <a:ln cap="flat" cmpd="sng" w="9525">
              <a:solidFill>
                <a:srgbClr val="000000"/>
              </a:solidFill>
              <a:prstDash val="solid"/>
              <a:round/>
              <a:headEnd len="med" w="med" type="none"/>
              <a:tailEnd len="med" w="med" type="triangle"/>
            </a:ln>
          </p:spPr>
        </p:cxnSp>
        <p:sp>
          <p:nvSpPr>
            <p:cNvPr id="1757" name="Google Shape;1757;p38"/>
            <p:cNvSpPr/>
            <p:nvPr/>
          </p:nvSpPr>
          <p:spPr>
            <a:xfrm>
              <a:off x="4421124" y="2436876"/>
              <a:ext cx="77724" cy="1860804"/>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grpSp>
        <p:nvGrpSpPr>
          <p:cNvPr id="1758" name="Google Shape;1758;p38"/>
          <p:cNvGrpSpPr/>
          <p:nvPr/>
        </p:nvGrpSpPr>
        <p:grpSpPr>
          <a:xfrm>
            <a:off x="5737741" y="1941782"/>
            <a:ext cx="847725" cy="336550"/>
            <a:chOff x="4199398" y="2143737"/>
            <a:chExt cx="847725" cy="336550"/>
          </a:xfrm>
        </p:grpSpPr>
        <p:sp>
          <p:nvSpPr>
            <p:cNvPr id="1759" name="Google Shape;1759;p38"/>
            <p:cNvSpPr txBox="1"/>
            <p:nvPr/>
          </p:nvSpPr>
          <p:spPr>
            <a:xfrm>
              <a:off x="4199398" y="2143737"/>
              <a:ext cx="847725" cy="3365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L/R</a:t>
              </a:r>
              <a:endParaRPr b="0" i="0" sz="2400" u="none" cap="none" strike="noStrike">
                <a:solidFill>
                  <a:srgbClr val="000000"/>
                </a:solidFill>
                <a:latin typeface="Times New Roman"/>
                <a:ea typeface="Times New Roman"/>
                <a:cs typeface="Times New Roman"/>
                <a:sym typeface="Times New Roman"/>
              </a:endParaRPr>
            </a:p>
          </p:txBody>
        </p:sp>
        <p:sp>
          <p:nvSpPr>
            <p:cNvPr id="1760" name="Google Shape;1760;p38"/>
            <p:cNvSpPr/>
            <p:nvPr/>
          </p:nvSpPr>
          <p:spPr>
            <a:xfrm>
              <a:off x="4418854" y="2180844"/>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
        <p:nvSpPr>
          <p:cNvPr id="1761" name="Google Shape;1761;p38"/>
          <p:cNvSpPr txBox="1"/>
          <p:nvPr/>
        </p:nvSpPr>
        <p:spPr>
          <a:xfrm>
            <a:off x="4175012" y="2314737"/>
            <a:ext cx="109517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 L / R</a:t>
            </a:r>
            <a:endParaRPr/>
          </a:p>
        </p:txBody>
      </p:sp>
      <p:grpSp>
        <p:nvGrpSpPr>
          <p:cNvPr id="1762" name="Google Shape;1762;p38"/>
          <p:cNvGrpSpPr/>
          <p:nvPr/>
        </p:nvGrpSpPr>
        <p:grpSpPr>
          <a:xfrm>
            <a:off x="3156251" y="2947504"/>
            <a:ext cx="1781653" cy="1463020"/>
            <a:chOff x="1660939" y="3934767"/>
            <a:chExt cx="1781653" cy="1463020"/>
          </a:xfrm>
        </p:grpSpPr>
        <p:sp>
          <p:nvSpPr>
            <p:cNvPr id="1763" name="Google Shape;1763;p38"/>
            <p:cNvSpPr txBox="1"/>
            <p:nvPr/>
          </p:nvSpPr>
          <p:spPr>
            <a:xfrm>
              <a:off x="1673639" y="4856490"/>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sp>
          <p:nvSpPr>
            <p:cNvPr id="1764" name="Google Shape;1764;p38"/>
            <p:cNvSpPr txBox="1"/>
            <p:nvPr/>
          </p:nvSpPr>
          <p:spPr>
            <a:xfrm>
              <a:off x="2070100" y="4874567"/>
              <a:ext cx="13724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0.00027</a:t>
              </a:r>
              <a:endParaRPr/>
            </a:p>
          </p:txBody>
        </p:sp>
        <p:grpSp>
          <p:nvGrpSpPr>
            <p:cNvPr id="1765" name="Google Shape;1765;p38"/>
            <p:cNvGrpSpPr/>
            <p:nvPr/>
          </p:nvGrpSpPr>
          <p:grpSpPr>
            <a:xfrm>
              <a:off x="1660939" y="3934767"/>
              <a:ext cx="1473628" cy="868065"/>
              <a:chOff x="1660939" y="3795067"/>
              <a:chExt cx="1473628" cy="868065"/>
            </a:xfrm>
          </p:grpSpPr>
          <p:sp>
            <p:nvSpPr>
              <p:cNvPr id="1766" name="Google Shape;1766;p38"/>
              <p:cNvSpPr txBox="1"/>
              <p:nvPr/>
            </p:nvSpPr>
            <p:spPr>
              <a:xfrm>
                <a:off x="1660939" y="3952557"/>
                <a:ext cx="3642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a:p>
            </p:txBody>
          </p:sp>
          <p:grpSp>
            <p:nvGrpSpPr>
              <p:cNvPr id="1767" name="Google Shape;1767;p38"/>
              <p:cNvGrpSpPr/>
              <p:nvPr/>
            </p:nvGrpSpPr>
            <p:grpSpPr>
              <a:xfrm>
                <a:off x="2095500" y="3795067"/>
                <a:ext cx="1039067" cy="868065"/>
                <a:chOff x="2032000" y="3795067"/>
                <a:chExt cx="1039067" cy="868065"/>
              </a:xfrm>
            </p:grpSpPr>
            <p:sp>
              <p:nvSpPr>
                <p:cNvPr id="1768" name="Google Shape;1768;p38"/>
                <p:cNvSpPr txBox="1"/>
                <p:nvPr/>
              </p:nvSpPr>
              <p:spPr>
                <a:xfrm>
                  <a:off x="2146300" y="3795067"/>
                  <a:ext cx="7280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.008</a:t>
                  </a:r>
                  <a:endParaRPr/>
                </a:p>
              </p:txBody>
            </p:sp>
            <p:sp>
              <p:nvSpPr>
                <p:cNvPr id="1769" name="Google Shape;1769;p38"/>
                <p:cNvSpPr txBox="1"/>
                <p:nvPr/>
              </p:nvSpPr>
              <p:spPr>
                <a:xfrm>
                  <a:off x="2032000" y="4201467"/>
                  <a:ext cx="103906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30.008</a:t>
                  </a:r>
                  <a:endParaRPr/>
                </a:p>
              </p:txBody>
            </p:sp>
            <p:cxnSp>
              <p:nvCxnSpPr>
                <p:cNvPr id="1770" name="Google Shape;1770;p38"/>
                <p:cNvCxnSpPr/>
                <p:nvPr/>
              </p:nvCxnSpPr>
              <p:spPr>
                <a:xfrm>
                  <a:off x="2120900" y="4239567"/>
                  <a:ext cx="825500" cy="0"/>
                </a:xfrm>
                <a:prstGeom prst="straightConnector1">
                  <a:avLst/>
                </a:prstGeom>
                <a:noFill/>
                <a:ln cap="flat" cmpd="sng" w="19050">
                  <a:solidFill>
                    <a:schemeClr val="dk1"/>
                  </a:solidFill>
                  <a:prstDash val="solid"/>
                  <a:miter lim="800000"/>
                  <a:headEnd len="sm" w="sm" type="none"/>
                  <a:tailEnd len="sm" w="sm" type="none"/>
                </a:ln>
              </p:spPr>
            </p:cxnSp>
          </p:grpSp>
        </p:grpSp>
      </p:grpSp>
      <p:sp>
        <p:nvSpPr>
          <p:cNvPr id="1771" name="Google Shape;1771;p38"/>
          <p:cNvSpPr/>
          <p:nvPr/>
        </p:nvSpPr>
        <p:spPr>
          <a:xfrm>
            <a:off x="5728597" y="1978889"/>
            <a:ext cx="85344" cy="246888"/>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72" name="Google Shape;1772;p38"/>
          <p:cNvSpPr txBox="1"/>
          <p:nvPr/>
        </p:nvSpPr>
        <p:spPr>
          <a:xfrm>
            <a:off x="1219200" y="5055243"/>
            <a:ext cx="10194664" cy="1231106"/>
          </a:xfrm>
          <a:prstGeom prst="rect">
            <a:avLst/>
          </a:prstGeom>
          <a:noFill/>
          <a:ln>
            <a:noFill/>
          </a:ln>
        </p:spPr>
        <p:txBody>
          <a:bodyPr anchorCtr="0" anchor="t" bIns="45700" lIns="91425" spcFirstLastPara="1" rIns="91425" wrap="square" tIns="45700">
            <a:spAutoFit/>
          </a:bodyPr>
          <a:lstStyle/>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rdt 3.0 protocol performance stinks!</a:t>
            </a:r>
            <a:endParaRPr/>
          </a:p>
          <a:p>
            <a:pPr indent="-287338" lvl="0" marL="287338" marR="0" rtl="0" algn="l">
              <a:lnSpc>
                <a:spcPct val="100000"/>
              </a:lnSpc>
              <a:spcBef>
                <a:spcPts val="0"/>
              </a:spcBef>
              <a:spcAft>
                <a:spcPts val="0"/>
              </a:spcAft>
              <a:buClr>
                <a:srgbClr val="0013A3"/>
              </a:buClr>
              <a:buSzPts val="2800"/>
              <a:buFont typeface="Noto Sans Symbols"/>
              <a:buChar char="▪"/>
            </a:pPr>
            <a:r>
              <a:rPr b="0" i="0" lang="en-US" sz="2800" u="none" cap="none" strike="noStrike">
                <a:solidFill>
                  <a:srgbClr val="000000"/>
                </a:solidFill>
                <a:latin typeface="Calibri"/>
                <a:ea typeface="Calibri"/>
                <a:cs typeface="Calibri"/>
                <a:sym typeface="Calibri"/>
              </a:rPr>
              <a:t>Protocol limits performance of underlying infrastructure (channel)</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7"/>
                                        </p:tgtEl>
                                        <p:attrNameLst>
                                          <p:attrName>style.visibility</p:attrName>
                                        </p:attrNameLst>
                                      </p:cBhvr>
                                      <p:to>
                                        <p:strVal val="visible"/>
                                      </p:to>
                                    </p:set>
                                    <p:animEffect filter="fade" transition="in">
                                      <p:cBhvr>
                                        <p:cTn dur="500"/>
                                        <p:tgtEl>
                                          <p:spTgt spid="17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1"/>
                                        </p:tgtEl>
                                        <p:attrNameLst>
                                          <p:attrName>style.visibility</p:attrName>
                                        </p:attrNameLst>
                                      </p:cBhvr>
                                      <p:to>
                                        <p:strVal val="visible"/>
                                      </p:to>
                                    </p:set>
                                    <p:animEffect filter="fade" transition="in">
                                      <p:cBhvr>
                                        <p:cTn dur="500"/>
                                        <p:tgtEl>
                                          <p:spTgt spid="1751"/>
                                        </p:tgtEl>
                                      </p:cBhvr>
                                    </p:animEffect>
                                  </p:childTnLst>
                                </p:cTn>
                              </p:par>
                              <p:par>
                                <p:cTn fill="hold" nodeType="withEffect" presetClass="entr" presetID="10" presetSubtype="0">
                                  <p:stCondLst>
                                    <p:cond delay="0"/>
                                  </p:stCondLst>
                                  <p:childTnLst>
                                    <p:set>
                                      <p:cBhvr>
                                        <p:cTn dur="1" fill="hold">
                                          <p:stCondLst>
                                            <p:cond delay="0"/>
                                          </p:stCondLst>
                                        </p:cTn>
                                        <p:tgtEl>
                                          <p:spTgt spid="1753"/>
                                        </p:tgtEl>
                                        <p:attrNameLst>
                                          <p:attrName>style.visibility</p:attrName>
                                        </p:attrNameLst>
                                      </p:cBhvr>
                                      <p:to>
                                        <p:strVal val="visible"/>
                                      </p:to>
                                    </p:set>
                                    <p:animEffect filter="fade" transition="in">
                                      <p:cBhvr>
                                        <p:cTn dur="500"/>
                                        <p:tgtEl>
                                          <p:spTgt spid="17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8"/>
                                        </p:tgtEl>
                                        <p:attrNameLst>
                                          <p:attrName>style.visibility</p:attrName>
                                        </p:attrNameLst>
                                      </p:cBhvr>
                                      <p:to>
                                        <p:strVal val="visible"/>
                                      </p:to>
                                    </p:set>
                                    <p:animEffect filter="fade" transition="in">
                                      <p:cBhvr>
                                        <p:cTn dur="500"/>
                                        <p:tgtEl>
                                          <p:spTgt spid="1758"/>
                                        </p:tgtEl>
                                      </p:cBhvr>
                                    </p:animEffect>
                                  </p:childTnLst>
                                </p:cTn>
                              </p:par>
                              <p:par>
                                <p:cTn fill="hold" nodeType="withEffect" presetClass="entr" presetID="10" presetSubtype="0">
                                  <p:stCondLst>
                                    <p:cond delay="0"/>
                                  </p:stCondLst>
                                  <p:childTnLst>
                                    <p:set>
                                      <p:cBhvr>
                                        <p:cTn dur="1" fill="hold">
                                          <p:stCondLst>
                                            <p:cond delay="0"/>
                                          </p:stCondLst>
                                        </p:cTn>
                                        <p:tgtEl>
                                          <p:spTgt spid="1761"/>
                                        </p:tgtEl>
                                        <p:attrNameLst>
                                          <p:attrName>style.visibility</p:attrName>
                                        </p:attrNameLst>
                                      </p:cBhvr>
                                      <p:to>
                                        <p:strVal val="visible"/>
                                      </p:to>
                                    </p:set>
                                    <p:animEffect filter="fade" transition="in">
                                      <p:cBhvr>
                                        <p:cTn dur="500"/>
                                        <p:tgtEl>
                                          <p:spTgt spid="1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gtEl>
                                        <p:attrNameLst>
                                          <p:attrName>style.visibility</p:attrName>
                                        </p:attrNameLst>
                                      </p:cBhvr>
                                      <p:to>
                                        <p:strVal val="visible"/>
                                      </p:to>
                                    </p:set>
                                    <p:animEffect filter="fade" transition="in">
                                      <p:cBhvr>
                                        <p:cTn dur="500"/>
                                        <p:tgtEl>
                                          <p:spTgt spid="1750"/>
                                        </p:tgtEl>
                                      </p:cBhvr>
                                    </p:animEffect>
                                  </p:childTnLst>
                                </p:cTn>
                              </p:par>
                              <p:par>
                                <p:cTn fill="hold" nodeType="withEffect" presetClass="entr" presetID="10" presetSubtype="0">
                                  <p:stCondLst>
                                    <p:cond delay="0"/>
                                  </p:stCondLst>
                                  <p:childTnLst>
                                    <p:set>
                                      <p:cBhvr>
                                        <p:cTn dur="1" fill="hold">
                                          <p:stCondLst>
                                            <p:cond delay="0"/>
                                          </p:stCondLst>
                                        </p:cTn>
                                        <p:tgtEl>
                                          <p:spTgt spid="1771"/>
                                        </p:tgtEl>
                                        <p:attrNameLst>
                                          <p:attrName>style.visibility</p:attrName>
                                        </p:attrNameLst>
                                      </p:cBhvr>
                                      <p:to>
                                        <p:strVal val="visible"/>
                                      </p:to>
                                    </p:set>
                                    <p:animEffect filter="fade" transition="in">
                                      <p:cBhvr>
                                        <p:cTn dur="500"/>
                                        <p:tgtEl>
                                          <p:spTgt spid="177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52"/>
                                        </p:tgtEl>
                                        <p:attrNameLst>
                                          <p:attrName>style.visibility</p:attrName>
                                        </p:attrNameLst>
                                      </p:cBhvr>
                                      <p:to>
                                        <p:strVal val="visible"/>
                                      </p:to>
                                    </p:set>
                                    <p:animEffect filter="fade" transition="in">
                                      <p:cBhvr>
                                        <p:cTn dur="500"/>
                                        <p:tgtEl>
                                          <p:spTgt spid="17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2"/>
                                        </p:tgtEl>
                                        <p:attrNameLst>
                                          <p:attrName>style.visibility</p:attrName>
                                        </p:attrNameLst>
                                      </p:cBhvr>
                                      <p:to>
                                        <p:strVal val="visible"/>
                                      </p:to>
                                    </p:set>
                                    <p:animEffect filter="fade" transition="in">
                                      <p:cBhvr>
                                        <p:cTn dur="500"/>
                                        <p:tgtEl>
                                          <p:spTgt spid="17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2"/>
                                        </p:tgtEl>
                                        <p:attrNameLst>
                                          <p:attrName>style.visibility</p:attrName>
                                        </p:attrNameLst>
                                      </p:cBhvr>
                                      <p:to>
                                        <p:strVal val="visible"/>
                                      </p:to>
                                    </p:set>
                                    <p:animEffect filter="fade" transition="in">
                                      <p:cBhvr>
                                        <p:cTn dur="500"/>
                                        <p:tgtEl>
                                          <p:spTgt spid="17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3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rdt3.0: pipelined protocols operation</a:t>
            </a:r>
            <a:endParaRPr sz="4400"/>
          </a:p>
        </p:txBody>
      </p:sp>
      <p:sp>
        <p:nvSpPr>
          <p:cNvPr id="1779" name="Google Shape;1779;p39"/>
          <p:cNvSpPr txBox="1"/>
          <p:nvPr/>
        </p:nvSpPr>
        <p:spPr>
          <a:xfrm>
            <a:off x="722556" y="1312877"/>
            <a:ext cx="10988826" cy="2033185"/>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pipelining:</a:t>
            </a:r>
            <a:r>
              <a:rPr b="0" i="0" lang="en-US" sz="2800" u="none" cap="none" strike="noStrike">
                <a:solidFill>
                  <a:srgbClr val="000000"/>
                </a:solidFill>
                <a:latin typeface="Calibri"/>
                <a:ea typeface="Calibri"/>
                <a:cs typeface="Calibri"/>
                <a:sym typeface="Calibri"/>
              </a:rPr>
              <a:t> sender allows multiple, “in-flight”, yet-to-be-acknowledged packets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range of sequence numbers must be increased</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buffering at sender and/or receiver</a:t>
            </a:r>
            <a:endParaRPr/>
          </a:p>
        </p:txBody>
      </p:sp>
      <p:grpSp>
        <p:nvGrpSpPr>
          <p:cNvPr id="1780" name="Google Shape;1780;p39"/>
          <p:cNvGrpSpPr/>
          <p:nvPr/>
        </p:nvGrpSpPr>
        <p:grpSpPr>
          <a:xfrm>
            <a:off x="2916237" y="2993267"/>
            <a:ext cx="6359525" cy="2370138"/>
            <a:chOff x="1673403" y="3019025"/>
            <a:chExt cx="6359525" cy="2370138"/>
          </a:xfrm>
        </p:grpSpPr>
        <p:pic>
          <p:nvPicPr>
            <p:cNvPr descr="rdt_pipelined1" id="1781" name="Google Shape;1781;p39"/>
            <p:cNvPicPr preferRelativeResize="0"/>
            <p:nvPr/>
          </p:nvPicPr>
          <p:blipFill rotWithShape="1">
            <a:blip r:embed="rId3">
              <a:alphaModFix/>
            </a:blip>
            <a:srcRect b="0" l="0" r="0" t="0"/>
            <a:stretch/>
          </p:blipFill>
          <p:spPr>
            <a:xfrm>
              <a:off x="1927403" y="3019025"/>
              <a:ext cx="6105525" cy="2370138"/>
            </a:xfrm>
            <a:prstGeom prst="rect">
              <a:avLst/>
            </a:prstGeom>
            <a:noFill/>
            <a:ln>
              <a:noFill/>
            </a:ln>
          </p:spPr>
        </p:pic>
        <p:grpSp>
          <p:nvGrpSpPr>
            <p:cNvPr id="1782" name="Google Shape;1782;p39"/>
            <p:cNvGrpSpPr/>
            <p:nvPr/>
          </p:nvGrpSpPr>
          <p:grpSpPr>
            <a:xfrm>
              <a:off x="1673403" y="3696888"/>
              <a:ext cx="469900" cy="465137"/>
              <a:chOff x="881" y="2283"/>
              <a:chExt cx="296" cy="293"/>
            </a:xfrm>
          </p:grpSpPr>
          <p:sp>
            <p:nvSpPr>
              <p:cNvPr id="1783" name="Google Shape;1783;p39"/>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784" name="Google Shape;1784;p39"/>
              <p:cNvGrpSpPr/>
              <p:nvPr/>
            </p:nvGrpSpPr>
            <p:grpSpPr>
              <a:xfrm flipH="1">
                <a:off x="881" y="2283"/>
                <a:ext cx="296" cy="293"/>
                <a:chOff x="2839" y="3501"/>
                <a:chExt cx="755" cy="803"/>
              </a:xfrm>
            </p:grpSpPr>
            <p:pic>
              <p:nvPicPr>
                <p:cNvPr descr="desktop_computer_stylized_medium" id="1785" name="Google Shape;1785;p39"/>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1786" name="Google Shape;1786;p3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sp>
          <p:nvSpPr>
            <p:cNvPr id="1787" name="Google Shape;1787;p39"/>
            <p:cNvSpPr/>
            <p:nvPr/>
          </p:nvSpPr>
          <p:spPr>
            <a:xfrm>
              <a:off x="7613828" y="3709588"/>
              <a:ext cx="185737" cy="431800"/>
            </a:xfrm>
            <a:custGeom>
              <a:rect b="b" l="l" r="r" t="t"/>
              <a:pathLst>
                <a:path extrusionOk="0" h="272" w="117">
                  <a:moveTo>
                    <a:pt x="6" y="6"/>
                  </a:moveTo>
                  <a:lnTo>
                    <a:pt x="3" y="77"/>
                  </a:lnTo>
                  <a:lnTo>
                    <a:pt x="59" y="120"/>
                  </a:lnTo>
                  <a:lnTo>
                    <a:pt x="0" y="146"/>
                  </a:lnTo>
                  <a:lnTo>
                    <a:pt x="3" y="270"/>
                  </a:lnTo>
                  <a:lnTo>
                    <a:pt x="117" y="272"/>
                  </a:lnTo>
                  <a:lnTo>
                    <a:pt x="114" y="0"/>
                  </a:lnTo>
                  <a:lnTo>
                    <a:pt x="6" y="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788" name="Google Shape;1788;p39"/>
            <p:cNvGrpSpPr/>
            <p:nvPr/>
          </p:nvGrpSpPr>
          <p:grpSpPr>
            <a:xfrm>
              <a:off x="4784903" y="3714350"/>
              <a:ext cx="469900" cy="465138"/>
              <a:chOff x="881" y="2283"/>
              <a:chExt cx="296" cy="293"/>
            </a:xfrm>
          </p:grpSpPr>
          <p:sp>
            <p:nvSpPr>
              <p:cNvPr id="1789" name="Google Shape;1789;p39"/>
              <p:cNvSpPr/>
              <p:nvPr/>
            </p:nvSpPr>
            <p:spPr>
              <a:xfrm>
                <a:off x="1026" y="2283"/>
                <a:ext cx="122" cy="2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790" name="Google Shape;1790;p39"/>
              <p:cNvGrpSpPr/>
              <p:nvPr/>
            </p:nvGrpSpPr>
            <p:grpSpPr>
              <a:xfrm flipH="1">
                <a:off x="881" y="2283"/>
                <a:ext cx="296" cy="293"/>
                <a:chOff x="2839" y="3501"/>
                <a:chExt cx="755" cy="803"/>
              </a:xfrm>
            </p:grpSpPr>
            <p:pic>
              <p:nvPicPr>
                <p:cNvPr descr="desktop_computer_stylized_medium" id="1791" name="Google Shape;1791;p39"/>
                <p:cNvPicPr preferRelativeResize="0"/>
                <p:nvPr/>
              </p:nvPicPr>
              <p:blipFill rotWithShape="1">
                <a:blip r:embed="rId4">
                  <a:alphaModFix/>
                </a:blip>
                <a:srcRect b="0" l="0" r="0" t="0"/>
                <a:stretch/>
              </p:blipFill>
              <p:spPr>
                <a:xfrm>
                  <a:off x="2839" y="3501"/>
                  <a:ext cx="755" cy="803"/>
                </a:xfrm>
                <a:prstGeom prst="rect">
                  <a:avLst/>
                </a:prstGeom>
                <a:noFill/>
                <a:ln>
                  <a:noFill/>
                </a:ln>
              </p:spPr>
            </p:pic>
            <p:sp>
              <p:nvSpPr>
                <p:cNvPr id="1792" name="Google Shape;1792;p39"/>
                <p:cNvSpPr/>
                <p:nvPr/>
              </p:nvSpPr>
              <p:spPr>
                <a:xfrm>
                  <a:off x="2916" y="3578"/>
                  <a:ext cx="356" cy="368"/>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chemeClr val="lt1"/>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grpSp>
          <p:nvGrpSpPr>
            <p:cNvPr id="1793" name="Google Shape;1793;p39"/>
            <p:cNvGrpSpPr/>
            <p:nvPr/>
          </p:nvGrpSpPr>
          <p:grpSpPr>
            <a:xfrm>
              <a:off x="4493546" y="3633388"/>
              <a:ext cx="223838" cy="501650"/>
              <a:chOff x="4140" y="429"/>
              <a:chExt cx="1425" cy="2396"/>
            </a:xfrm>
          </p:grpSpPr>
          <p:sp>
            <p:nvSpPr>
              <p:cNvPr id="1794" name="Google Shape;1794;p3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5" name="Google Shape;1795;p39"/>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796" name="Google Shape;1796;p3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7" name="Google Shape;1797;p3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8" name="Google Shape;1798;p39"/>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799" name="Google Shape;1799;p39"/>
              <p:cNvGrpSpPr/>
              <p:nvPr/>
            </p:nvGrpSpPr>
            <p:grpSpPr>
              <a:xfrm>
                <a:off x="4747" y="671"/>
                <a:ext cx="586" cy="144"/>
                <a:chOff x="611" y="2571"/>
                <a:chExt cx="731" cy="138"/>
              </a:xfrm>
            </p:grpSpPr>
            <p:sp>
              <p:nvSpPr>
                <p:cNvPr id="1800" name="Google Shape;1800;p39"/>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01" name="Google Shape;1801;p39"/>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02" name="Google Shape;1802;p39"/>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803" name="Google Shape;1803;p39"/>
              <p:cNvGrpSpPr/>
              <p:nvPr/>
            </p:nvGrpSpPr>
            <p:grpSpPr>
              <a:xfrm>
                <a:off x="4746" y="998"/>
                <a:ext cx="586" cy="129"/>
                <a:chOff x="613" y="2572"/>
                <a:chExt cx="731" cy="134"/>
              </a:xfrm>
            </p:grpSpPr>
            <p:sp>
              <p:nvSpPr>
                <p:cNvPr id="1804" name="Google Shape;1804;p39"/>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05" name="Google Shape;1805;p39"/>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06" name="Google Shape;1806;p39"/>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07" name="Google Shape;1807;p39"/>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808" name="Google Shape;1808;p39"/>
              <p:cNvGrpSpPr/>
              <p:nvPr/>
            </p:nvGrpSpPr>
            <p:grpSpPr>
              <a:xfrm>
                <a:off x="4737" y="1627"/>
                <a:ext cx="576" cy="152"/>
                <a:chOff x="616" y="2568"/>
                <a:chExt cx="718" cy="140"/>
              </a:xfrm>
            </p:grpSpPr>
            <p:sp>
              <p:nvSpPr>
                <p:cNvPr id="1809" name="Google Shape;1809;p39"/>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10" name="Google Shape;1810;p39"/>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11" name="Google Shape;1811;p3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12" name="Google Shape;1812;p39"/>
              <p:cNvGrpSpPr/>
              <p:nvPr/>
            </p:nvGrpSpPr>
            <p:grpSpPr>
              <a:xfrm>
                <a:off x="4737" y="1324"/>
                <a:ext cx="586" cy="144"/>
                <a:chOff x="611" y="2565"/>
                <a:chExt cx="730" cy="144"/>
              </a:xfrm>
            </p:grpSpPr>
            <p:sp>
              <p:nvSpPr>
                <p:cNvPr id="1813" name="Google Shape;1813;p39"/>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14" name="Google Shape;1814;p39"/>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15" name="Google Shape;1815;p39"/>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16" name="Google Shape;1816;p3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17" name="Google Shape;1817;p3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18" name="Google Shape;1818;p39"/>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19" name="Google Shape;1819;p3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0" name="Google Shape;1820;p39"/>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21" name="Google Shape;1821;p39"/>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22" name="Google Shape;1822;p39"/>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23" name="Google Shape;1823;p39"/>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824" name="Google Shape;1824;p39"/>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25" name="Google Shape;1825;p39"/>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nvGrpSpPr>
            <p:cNvPr id="1826" name="Google Shape;1826;p39"/>
            <p:cNvGrpSpPr/>
            <p:nvPr/>
          </p:nvGrpSpPr>
          <p:grpSpPr>
            <a:xfrm>
              <a:off x="7659865" y="3576238"/>
              <a:ext cx="223838" cy="501650"/>
              <a:chOff x="4140" y="429"/>
              <a:chExt cx="1425" cy="2396"/>
            </a:xfrm>
          </p:grpSpPr>
          <p:sp>
            <p:nvSpPr>
              <p:cNvPr id="1827" name="Google Shape;1827;p39"/>
              <p:cNvSpPr/>
              <p:nvPr/>
            </p:nvSpPr>
            <p:spPr>
              <a:xfrm>
                <a:off x="5268" y="433"/>
                <a:ext cx="283" cy="2286"/>
              </a:xfrm>
              <a:custGeom>
                <a:rect b="b" l="l" r="r" t="t"/>
                <a:pathLst>
                  <a:path extrusionOk="0" h="2742" w="354">
                    <a:moveTo>
                      <a:pt x="63" y="0"/>
                    </a:moveTo>
                    <a:lnTo>
                      <a:pt x="354" y="339"/>
                    </a:lnTo>
                    <a:lnTo>
                      <a:pt x="346" y="2624"/>
                    </a:lnTo>
                    <a:lnTo>
                      <a:pt x="0" y="2742"/>
                    </a:lnTo>
                    <a:lnTo>
                      <a:pt x="63" y="0"/>
                    </a:lnTo>
                    <a:close/>
                  </a:path>
                </a:pathLst>
              </a:custGeom>
              <a:gradFill>
                <a:gsLst>
                  <a:gs pos="0">
                    <a:srgbClr val="DDDDDD"/>
                  </a:gs>
                  <a:gs pos="100000">
                    <a:srgbClr val="333333"/>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8" name="Google Shape;1828;p39"/>
              <p:cNvSpPr/>
              <p:nvPr/>
            </p:nvSpPr>
            <p:spPr>
              <a:xfrm>
                <a:off x="4211" y="429"/>
                <a:ext cx="1041" cy="2282"/>
              </a:xfrm>
              <a:prstGeom prst="rect">
                <a:avLst/>
              </a:prstGeom>
              <a:gradFill>
                <a:gsLst>
                  <a:gs pos="0">
                    <a:srgbClr val="292929"/>
                  </a:gs>
                  <a:gs pos="100000">
                    <a:srgbClr val="808080"/>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29" name="Google Shape;1829;p39"/>
              <p:cNvSpPr/>
              <p:nvPr/>
            </p:nvSpPr>
            <p:spPr>
              <a:xfrm>
                <a:off x="5321" y="570"/>
                <a:ext cx="169" cy="2115"/>
              </a:xfrm>
              <a:custGeom>
                <a:rect b="b" l="l" r="r" t="t"/>
                <a:pathLst>
                  <a:path extrusionOk="0" h="2537" w="211">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30" name="Google Shape;1830;p39"/>
              <p:cNvSpPr/>
              <p:nvPr/>
            </p:nvSpPr>
            <p:spPr>
              <a:xfrm>
                <a:off x="5284" y="1640"/>
                <a:ext cx="263" cy="189"/>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31" name="Google Shape;1831;p39"/>
              <p:cNvSpPr/>
              <p:nvPr/>
            </p:nvSpPr>
            <p:spPr>
              <a:xfrm>
                <a:off x="4211" y="694"/>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832" name="Google Shape;1832;p39"/>
              <p:cNvGrpSpPr/>
              <p:nvPr/>
            </p:nvGrpSpPr>
            <p:grpSpPr>
              <a:xfrm>
                <a:off x="4747" y="671"/>
                <a:ext cx="586" cy="144"/>
                <a:chOff x="611" y="2571"/>
                <a:chExt cx="731" cy="138"/>
              </a:xfrm>
            </p:grpSpPr>
            <p:sp>
              <p:nvSpPr>
                <p:cNvPr id="1833" name="Google Shape;1833;p39"/>
                <p:cNvSpPr/>
                <p:nvPr/>
              </p:nvSpPr>
              <p:spPr>
                <a:xfrm>
                  <a:off x="611" y="2571"/>
                  <a:ext cx="731" cy="13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34" name="Google Shape;1834;p39"/>
                <p:cNvSpPr/>
                <p:nvPr/>
              </p:nvSpPr>
              <p:spPr>
                <a:xfrm>
                  <a:off x="623" y="2586"/>
                  <a:ext cx="706" cy="109"/>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35" name="Google Shape;1835;p39"/>
              <p:cNvSpPr/>
              <p:nvPr/>
            </p:nvSpPr>
            <p:spPr>
              <a:xfrm>
                <a:off x="4221" y="1020"/>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836" name="Google Shape;1836;p39"/>
              <p:cNvGrpSpPr/>
              <p:nvPr/>
            </p:nvGrpSpPr>
            <p:grpSpPr>
              <a:xfrm>
                <a:off x="4746" y="998"/>
                <a:ext cx="586" cy="129"/>
                <a:chOff x="613" y="2572"/>
                <a:chExt cx="731" cy="134"/>
              </a:xfrm>
            </p:grpSpPr>
            <p:sp>
              <p:nvSpPr>
                <p:cNvPr id="1837" name="Google Shape;1837;p39"/>
                <p:cNvSpPr/>
                <p:nvPr/>
              </p:nvSpPr>
              <p:spPr>
                <a:xfrm>
                  <a:off x="613" y="2572"/>
                  <a:ext cx="731" cy="13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38" name="Google Shape;1838;p39"/>
                <p:cNvSpPr/>
                <p:nvPr/>
              </p:nvSpPr>
              <p:spPr>
                <a:xfrm>
                  <a:off x="626" y="2588"/>
                  <a:ext cx="706" cy="10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39" name="Google Shape;1839;p39"/>
              <p:cNvSpPr/>
              <p:nvPr/>
            </p:nvSpPr>
            <p:spPr>
              <a:xfrm>
                <a:off x="4221" y="1362"/>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40" name="Google Shape;1840;p39"/>
              <p:cNvSpPr/>
              <p:nvPr/>
            </p:nvSpPr>
            <p:spPr>
              <a:xfrm>
                <a:off x="4231" y="1657"/>
                <a:ext cx="596" cy="45"/>
              </a:xfrm>
              <a:prstGeom prst="rect">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1841" name="Google Shape;1841;p39"/>
              <p:cNvGrpSpPr/>
              <p:nvPr/>
            </p:nvGrpSpPr>
            <p:grpSpPr>
              <a:xfrm>
                <a:off x="4737" y="1627"/>
                <a:ext cx="576" cy="152"/>
                <a:chOff x="616" y="2568"/>
                <a:chExt cx="718" cy="140"/>
              </a:xfrm>
            </p:grpSpPr>
            <p:sp>
              <p:nvSpPr>
                <p:cNvPr id="1842" name="Google Shape;1842;p39"/>
                <p:cNvSpPr/>
                <p:nvPr/>
              </p:nvSpPr>
              <p:spPr>
                <a:xfrm>
                  <a:off x="616" y="2568"/>
                  <a:ext cx="718" cy="140"/>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43" name="Google Shape;1843;p39"/>
                <p:cNvSpPr/>
                <p:nvPr/>
              </p:nvSpPr>
              <p:spPr>
                <a:xfrm>
                  <a:off x="628" y="2582"/>
                  <a:ext cx="692" cy="112"/>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44" name="Google Shape;1844;p39"/>
              <p:cNvSpPr/>
              <p:nvPr/>
            </p:nvSpPr>
            <p:spPr>
              <a:xfrm>
                <a:off x="5288" y="1354"/>
                <a:ext cx="263" cy="188"/>
              </a:xfrm>
              <a:custGeom>
                <a:rect b="b" l="l" r="r" t="t"/>
                <a:pathLst>
                  <a:path extrusionOk="0" h="226" w="328">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45" name="Google Shape;1845;p39"/>
              <p:cNvGrpSpPr/>
              <p:nvPr/>
            </p:nvGrpSpPr>
            <p:grpSpPr>
              <a:xfrm>
                <a:off x="4737" y="1324"/>
                <a:ext cx="586" cy="144"/>
                <a:chOff x="611" y="2565"/>
                <a:chExt cx="730" cy="144"/>
              </a:xfrm>
            </p:grpSpPr>
            <p:sp>
              <p:nvSpPr>
                <p:cNvPr id="1846" name="Google Shape;1846;p39"/>
                <p:cNvSpPr/>
                <p:nvPr/>
              </p:nvSpPr>
              <p:spPr>
                <a:xfrm>
                  <a:off x="611" y="2565"/>
                  <a:ext cx="730" cy="144"/>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47" name="Google Shape;1847;p39"/>
                <p:cNvSpPr/>
                <p:nvPr/>
              </p:nvSpPr>
              <p:spPr>
                <a:xfrm>
                  <a:off x="623" y="2580"/>
                  <a:ext cx="705" cy="114"/>
                </a:xfrm>
                <a:prstGeom prst="roundRect">
                  <a:avLst>
                    <a:gd fmla="val 50000" name="adj"/>
                  </a:avLst>
                </a:prstGeom>
                <a:gradFill>
                  <a:gsLst>
                    <a:gs pos="0">
                      <a:srgbClr val="0000FF"/>
                    </a:gs>
                    <a:gs pos="50000">
                      <a:srgbClr val="99CCFF"/>
                    </a:gs>
                    <a:gs pos="100000">
                      <a:srgbClr val="0000FF"/>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sp>
            <p:nvSpPr>
              <p:cNvPr id="1848" name="Google Shape;1848;p39"/>
              <p:cNvSpPr/>
              <p:nvPr/>
            </p:nvSpPr>
            <p:spPr>
              <a:xfrm>
                <a:off x="5252" y="429"/>
                <a:ext cx="71" cy="2290"/>
              </a:xfrm>
              <a:prstGeom prst="rect">
                <a:avLst/>
              </a:prstGeom>
              <a:gradFill>
                <a:gsLst>
                  <a:gs pos="0">
                    <a:srgbClr val="333333"/>
                  </a:gs>
                  <a:gs pos="50000">
                    <a:srgbClr val="DDDDDD"/>
                  </a:gs>
                  <a:gs pos="100000">
                    <a:srgbClr val="333333"/>
                  </a:gs>
                </a:gsLst>
                <a:lin ang="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49" name="Google Shape;1849;p39"/>
              <p:cNvSpPr/>
              <p:nvPr/>
            </p:nvSpPr>
            <p:spPr>
              <a:xfrm>
                <a:off x="5312" y="1007"/>
                <a:ext cx="237" cy="213"/>
              </a:xfrm>
              <a:custGeom>
                <a:rect b="b" l="l" r="r" t="t"/>
                <a:pathLst>
                  <a:path extrusionOk="0" h="256" w="29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50" name="Google Shape;1850;p39"/>
              <p:cNvSpPr/>
              <p:nvPr/>
            </p:nvSpPr>
            <p:spPr>
              <a:xfrm>
                <a:off x="5315" y="680"/>
                <a:ext cx="244" cy="240"/>
              </a:xfrm>
              <a:custGeom>
                <a:rect b="b" l="l" r="r" t="t"/>
                <a:pathLst>
                  <a:path extrusionOk="0" h="288" w="304">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51" name="Google Shape;1851;p39"/>
              <p:cNvSpPr/>
              <p:nvPr/>
            </p:nvSpPr>
            <p:spPr>
              <a:xfrm>
                <a:off x="5514" y="2613"/>
                <a:ext cx="51" cy="91"/>
              </a:xfrm>
              <a:prstGeom prst="ellipse">
                <a:avLst/>
              </a:prstGeom>
              <a:solidFill>
                <a:srgbClr val="3333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52" name="Google Shape;1852;p39"/>
              <p:cNvSpPr/>
              <p:nvPr/>
            </p:nvSpPr>
            <p:spPr>
              <a:xfrm>
                <a:off x="5302" y="2614"/>
                <a:ext cx="245" cy="200"/>
              </a:xfrm>
              <a:custGeom>
                <a:rect b="b" l="l" r="r" t="t"/>
                <a:pathLst>
                  <a:path extrusionOk="0" h="240" w="306">
                    <a:moveTo>
                      <a:pt x="0" y="106"/>
                    </a:moveTo>
                    <a:lnTo>
                      <a:pt x="2" y="240"/>
                    </a:lnTo>
                    <a:lnTo>
                      <a:pt x="306" y="110"/>
                    </a:lnTo>
                    <a:lnTo>
                      <a:pt x="300" y="0"/>
                    </a:lnTo>
                    <a:lnTo>
                      <a:pt x="0" y="106"/>
                    </a:lnTo>
                    <a:close/>
                  </a:path>
                </a:pathLst>
              </a:custGeom>
              <a:solidFill>
                <a:srgbClr val="33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53" name="Google Shape;1853;p39"/>
              <p:cNvSpPr/>
              <p:nvPr/>
            </p:nvSpPr>
            <p:spPr>
              <a:xfrm>
                <a:off x="4140" y="2681"/>
                <a:ext cx="1203" cy="144"/>
              </a:xfrm>
              <a:prstGeom prst="roundRect">
                <a:avLst>
                  <a:gd fmla="val 50000" name="adj"/>
                </a:avLst>
              </a:prstGeom>
              <a:solidFill>
                <a:srgbClr val="DDDDDD"/>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54" name="Google Shape;1854;p39"/>
              <p:cNvSpPr/>
              <p:nvPr/>
            </p:nvSpPr>
            <p:spPr>
              <a:xfrm>
                <a:off x="4211" y="2711"/>
                <a:ext cx="1061" cy="83"/>
              </a:xfrm>
              <a:prstGeom prst="roundRect">
                <a:avLst>
                  <a:gd fmla="val 50000" name="adj"/>
                </a:avLst>
              </a:prstGeom>
              <a:gradFill>
                <a:gsLst>
                  <a:gs pos="0">
                    <a:schemeClr val="dk2"/>
                  </a:gs>
                  <a:gs pos="100000">
                    <a:schemeClr val="lt2"/>
                  </a:gs>
                </a:gsLst>
                <a:lin ang="0" scaled="0"/>
              </a:gra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55" name="Google Shape;1855;p39"/>
              <p:cNvSpPr/>
              <p:nvPr/>
            </p:nvSpPr>
            <p:spPr>
              <a:xfrm>
                <a:off x="4312" y="2385"/>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56" name="Google Shape;1856;p39"/>
              <p:cNvSpPr/>
              <p:nvPr/>
            </p:nvSpPr>
            <p:spPr>
              <a:xfrm>
                <a:off x="4484" y="2385"/>
                <a:ext cx="162" cy="144"/>
              </a:xfrm>
              <a:prstGeom prst="ellipse">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0000"/>
                  </a:solidFill>
                  <a:latin typeface="Arial"/>
                  <a:ea typeface="Arial"/>
                  <a:cs typeface="Arial"/>
                  <a:sym typeface="Arial"/>
                </a:endParaRPr>
              </a:p>
            </p:txBody>
          </p:sp>
          <p:sp>
            <p:nvSpPr>
              <p:cNvPr id="1857" name="Google Shape;1857;p39"/>
              <p:cNvSpPr/>
              <p:nvPr/>
            </p:nvSpPr>
            <p:spPr>
              <a:xfrm>
                <a:off x="4666" y="2378"/>
                <a:ext cx="152" cy="144"/>
              </a:xfrm>
              <a:prstGeom prst="ellipse">
                <a:avLst/>
              </a:prstGeom>
              <a:solidFill>
                <a:srgbClr val="33CC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1858" name="Google Shape;1858;p39"/>
              <p:cNvSpPr/>
              <p:nvPr/>
            </p:nvSpPr>
            <p:spPr>
              <a:xfrm>
                <a:off x="5060" y="1832"/>
                <a:ext cx="91" cy="766"/>
              </a:xfrm>
              <a:prstGeom prst="rect">
                <a:avLst/>
              </a:prstGeom>
              <a:solidFill>
                <a:srgbClr val="292929"/>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grpSp>
      <p:sp>
        <p:nvSpPr>
          <p:cNvPr id="1859" name="Google Shape;1859;p39"/>
          <p:cNvSpPr/>
          <p:nvPr/>
        </p:nvSpPr>
        <p:spPr>
          <a:xfrm>
            <a:off x="6069496" y="2941983"/>
            <a:ext cx="3750365" cy="2491408"/>
          </a:xfrm>
          <a:custGeom>
            <a:rect b="b" l="l" r="r" t="t"/>
            <a:pathLst>
              <a:path extrusionOk="0" h="2491408" w="3750365">
                <a:moveTo>
                  <a:pt x="331304" y="0"/>
                </a:moveTo>
                <a:lnTo>
                  <a:pt x="0" y="861391"/>
                </a:lnTo>
                <a:lnTo>
                  <a:pt x="13252" y="1378226"/>
                </a:lnTo>
                <a:lnTo>
                  <a:pt x="26504" y="2491408"/>
                </a:lnTo>
                <a:lnTo>
                  <a:pt x="3750365" y="2451652"/>
                </a:lnTo>
                <a:lnTo>
                  <a:pt x="3723861" y="79513"/>
                </a:lnTo>
                <a:lnTo>
                  <a:pt x="33130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59"/>
                                        </p:tgtEl>
                                      </p:cBhvr>
                                    </p:animEffect>
                                    <p:set>
                                      <p:cBhvr>
                                        <p:cTn dur="1" fill="hold">
                                          <p:stCondLst>
                                            <p:cond delay="500"/>
                                          </p:stCondLst>
                                        </p:cTn>
                                        <p:tgtEl>
                                          <p:spTgt spid="18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40"/>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Pipelining: increased utilization</a:t>
            </a:r>
            <a:endParaRPr sz="4400"/>
          </a:p>
        </p:txBody>
      </p:sp>
      <p:grpSp>
        <p:nvGrpSpPr>
          <p:cNvPr id="1866" name="Google Shape;1866;p40"/>
          <p:cNvGrpSpPr/>
          <p:nvPr/>
        </p:nvGrpSpPr>
        <p:grpSpPr>
          <a:xfrm>
            <a:off x="1436915" y="1417186"/>
            <a:ext cx="9144000" cy="3759200"/>
            <a:chOff x="1436915" y="1417186"/>
            <a:chExt cx="9144000" cy="3759200"/>
          </a:xfrm>
        </p:grpSpPr>
        <p:grpSp>
          <p:nvGrpSpPr>
            <p:cNvPr id="1867" name="Google Shape;1867;p40"/>
            <p:cNvGrpSpPr/>
            <p:nvPr/>
          </p:nvGrpSpPr>
          <p:grpSpPr>
            <a:xfrm>
              <a:off x="1436915" y="1744211"/>
              <a:ext cx="5265738" cy="3432175"/>
              <a:chOff x="1436915" y="1744211"/>
              <a:chExt cx="5265738" cy="3432175"/>
            </a:xfrm>
          </p:grpSpPr>
          <p:sp>
            <p:nvSpPr>
              <p:cNvPr id="1868" name="Google Shape;1868;p40"/>
              <p:cNvSpPr txBox="1"/>
              <p:nvPr/>
            </p:nvSpPr>
            <p:spPr>
              <a:xfrm>
                <a:off x="1436915" y="1760086"/>
                <a:ext cx="3086100" cy="354013"/>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transmitted, t = 0</a:t>
                </a:r>
                <a:endParaRPr b="0" i="0" sz="1600" u="none" cap="none" strike="noStrike">
                  <a:solidFill>
                    <a:srgbClr val="000000"/>
                  </a:solidFill>
                  <a:latin typeface="Times New Roman"/>
                  <a:ea typeface="Times New Roman"/>
                  <a:cs typeface="Times New Roman"/>
                  <a:sym typeface="Times New Roman"/>
                </a:endParaRPr>
              </a:p>
            </p:txBody>
          </p:sp>
          <p:cxnSp>
            <p:nvCxnSpPr>
              <p:cNvPr id="1869" name="Google Shape;1869;p40"/>
              <p:cNvCxnSpPr/>
              <p:nvPr/>
            </p:nvCxnSpPr>
            <p:spPr>
              <a:xfrm>
                <a:off x="4599215" y="1744211"/>
                <a:ext cx="20638" cy="3284538"/>
              </a:xfrm>
              <a:prstGeom prst="straightConnector1">
                <a:avLst/>
              </a:prstGeom>
              <a:noFill/>
              <a:ln cap="flat" cmpd="sng" w="9525">
                <a:solidFill>
                  <a:srgbClr val="000000"/>
                </a:solidFill>
                <a:prstDash val="solid"/>
                <a:round/>
                <a:headEnd len="med" w="med" type="none"/>
                <a:tailEnd len="med" w="med" type="triangle"/>
              </a:ln>
            </p:spPr>
          </p:cxnSp>
          <p:cxnSp>
            <p:nvCxnSpPr>
              <p:cNvPr id="1870" name="Google Shape;1870;p40"/>
              <p:cNvCxnSpPr/>
              <p:nvPr/>
            </p:nvCxnSpPr>
            <p:spPr>
              <a:xfrm>
                <a:off x="6680428" y="1756911"/>
                <a:ext cx="22225" cy="3351213"/>
              </a:xfrm>
              <a:prstGeom prst="straightConnector1">
                <a:avLst/>
              </a:prstGeom>
              <a:noFill/>
              <a:ln cap="flat" cmpd="sng" w="9525">
                <a:solidFill>
                  <a:srgbClr val="000000"/>
                </a:solidFill>
                <a:prstDash val="solid"/>
                <a:round/>
                <a:headEnd len="med" w="med" type="none"/>
                <a:tailEnd len="med" w="med" type="triangle"/>
              </a:ln>
            </p:spPr>
          </p:cxnSp>
          <p:grpSp>
            <p:nvGrpSpPr>
              <p:cNvPr id="1871" name="Google Shape;1871;p40"/>
              <p:cNvGrpSpPr/>
              <p:nvPr/>
            </p:nvGrpSpPr>
            <p:grpSpPr>
              <a:xfrm>
                <a:off x="4480153" y="4081011"/>
                <a:ext cx="1466850" cy="608013"/>
                <a:chOff x="12502" y="21425"/>
                <a:chExt cx="3400" cy="1025"/>
              </a:xfrm>
            </p:grpSpPr>
            <p:cxnSp>
              <p:nvCxnSpPr>
                <p:cNvPr id="1872" name="Google Shape;1872;p40"/>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1873" name="Google Shape;1873;p40"/>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874" name="Google Shape;1874;p40"/>
                <p:cNvGrpSpPr/>
                <p:nvPr/>
              </p:nvGrpSpPr>
              <p:grpSpPr>
                <a:xfrm>
                  <a:off x="12815" y="21425"/>
                  <a:ext cx="2776" cy="913"/>
                  <a:chOff x="12315" y="13225"/>
                  <a:chExt cx="2775" cy="913"/>
                </a:xfrm>
              </p:grpSpPr>
              <p:cxnSp>
                <p:nvCxnSpPr>
                  <p:cNvPr id="1875" name="Google Shape;1875;p40"/>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1876" name="Google Shape;1876;p40"/>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1877" name="Google Shape;1877;p40"/>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1878" name="Google Shape;1878;p40"/>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1879" name="Google Shape;1879;p40"/>
              <p:cNvGrpSpPr/>
              <p:nvPr/>
            </p:nvGrpSpPr>
            <p:grpSpPr>
              <a:xfrm>
                <a:off x="4469040" y="4319136"/>
                <a:ext cx="1466850" cy="606425"/>
                <a:chOff x="12502" y="21425"/>
                <a:chExt cx="3400" cy="1025"/>
              </a:xfrm>
            </p:grpSpPr>
            <p:cxnSp>
              <p:nvCxnSpPr>
                <p:cNvPr id="1880" name="Google Shape;1880;p40"/>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1881" name="Google Shape;1881;p40"/>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882" name="Google Shape;1882;p40"/>
                <p:cNvGrpSpPr/>
                <p:nvPr/>
              </p:nvGrpSpPr>
              <p:grpSpPr>
                <a:xfrm>
                  <a:off x="12815" y="21425"/>
                  <a:ext cx="2776" cy="913"/>
                  <a:chOff x="12315" y="13225"/>
                  <a:chExt cx="2775" cy="913"/>
                </a:xfrm>
              </p:grpSpPr>
              <p:cxnSp>
                <p:nvCxnSpPr>
                  <p:cNvPr id="1883" name="Google Shape;1883;p40"/>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1884" name="Google Shape;1884;p40"/>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1885" name="Google Shape;1885;p40"/>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1886" name="Google Shape;1886;p40"/>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grpSp>
            <p:nvGrpSpPr>
              <p:cNvPr id="1887" name="Google Shape;1887;p40"/>
              <p:cNvGrpSpPr/>
              <p:nvPr/>
            </p:nvGrpSpPr>
            <p:grpSpPr>
              <a:xfrm>
                <a:off x="4480153" y="4569961"/>
                <a:ext cx="1466850" cy="606425"/>
                <a:chOff x="12502" y="21425"/>
                <a:chExt cx="3400" cy="1025"/>
              </a:xfrm>
            </p:grpSpPr>
            <p:cxnSp>
              <p:nvCxnSpPr>
                <p:cNvPr id="1888" name="Google Shape;1888;p40"/>
                <p:cNvCxnSpPr/>
                <p:nvPr/>
              </p:nvCxnSpPr>
              <p:spPr>
                <a:xfrm flipH="1">
                  <a:off x="12502" y="21425"/>
                  <a:ext cx="288" cy="2"/>
                </a:xfrm>
                <a:prstGeom prst="straightConnector1">
                  <a:avLst/>
                </a:prstGeom>
                <a:noFill/>
                <a:ln cap="flat" cmpd="sng" w="9525">
                  <a:solidFill>
                    <a:srgbClr val="000000"/>
                  </a:solidFill>
                  <a:prstDash val="solid"/>
                  <a:round/>
                  <a:headEnd len="med" w="med" type="none"/>
                  <a:tailEnd len="med" w="med" type="none"/>
                </a:ln>
              </p:spPr>
            </p:cxnSp>
            <p:sp>
              <p:nvSpPr>
                <p:cNvPr id="1889" name="Google Shape;1889;p40"/>
                <p:cNvSpPr/>
                <p:nvPr/>
              </p:nvSpPr>
              <p:spPr>
                <a:xfrm>
                  <a:off x="12827" y="21438"/>
                  <a:ext cx="3075" cy="987"/>
                </a:xfrm>
                <a:custGeom>
                  <a:rect b="b" l="l" r="r" t="t"/>
                  <a:pathLst>
                    <a:path extrusionOk="0" h="592" w="1845">
                      <a:moveTo>
                        <a:pt x="0" y="0"/>
                      </a:moveTo>
                      <a:lnTo>
                        <a:pt x="1845" y="592"/>
                      </a:lnTo>
                      <a:lnTo>
                        <a:pt x="1095" y="592"/>
                      </a:lnTo>
                      <a:lnTo>
                        <a:pt x="0" y="247"/>
                      </a:lnTo>
                      <a:lnTo>
                        <a:pt x="0" y="0"/>
                      </a:lnTo>
                      <a:close/>
                    </a:path>
                  </a:pathLst>
                </a:custGeom>
                <a:gradFill>
                  <a:gsLst>
                    <a:gs pos="0">
                      <a:srgbClr val="00CCFF"/>
                    </a:gs>
                    <a:gs pos="100000">
                      <a:srgbClr val="FFFFFF"/>
                    </a:gs>
                  </a:gsLst>
                  <a:lin ang="0" scaled="0"/>
                </a:gra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1890" name="Google Shape;1890;p40"/>
                <p:cNvGrpSpPr/>
                <p:nvPr/>
              </p:nvGrpSpPr>
              <p:grpSpPr>
                <a:xfrm>
                  <a:off x="12815" y="21425"/>
                  <a:ext cx="2776" cy="913"/>
                  <a:chOff x="12315" y="13225"/>
                  <a:chExt cx="2775" cy="913"/>
                </a:xfrm>
              </p:grpSpPr>
              <p:cxnSp>
                <p:nvCxnSpPr>
                  <p:cNvPr id="1891" name="Google Shape;1891;p40"/>
                  <p:cNvCxnSpPr/>
                  <p:nvPr/>
                </p:nvCxnSpPr>
                <p:spPr>
                  <a:xfrm>
                    <a:off x="12315" y="13225"/>
                    <a:ext cx="1587" cy="513"/>
                  </a:xfrm>
                  <a:prstGeom prst="straightConnector1">
                    <a:avLst/>
                  </a:prstGeom>
                  <a:noFill/>
                  <a:ln cap="flat" cmpd="sng" w="9525">
                    <a:solidFill>
                      <a:srgbClr val="000000"/>
                    </a:solidFill>
                    <a:prstDash val="solid"/>
                    <a:round/>
                    <a:headEnd len="med" w="med" type="none"/>
                    <a:tailEnd len="med" w="med" type="none"/>
                  </a:ln>
                </p:spPr>
              </p:cxnSp>
              <p:cxnSp>
                <p:nvCxnSpPr>
                  <p:cNvPr id="1892" name="Google Shape;1892;p40"/>
                  <p:cNvCxnSpPr/>
                  <p:nvPr/>
                </p:nvCxnSpPr>
                <p:spPr>
                  <a:xfrm>
                    <a:off x="13915" y="13737"/>
                    <a:ext cx="1175" cy="401"/>
                  </a:xfrm>
                  <a:prstGeom prst="straightConnector1">
                    <a:avLst/>
                  </a:prstGeom>
                  <a:noFill/>
                  <a:ln cap="flat" cmpd="sng" w="9525">
                    <a:solidFill>
                      <a:srgbClr val="000000"/>
                    </a:solidFill>
                    <a:prstDash val="dot"/>
                    <a:round/>
                    <a:headEnd len="med" w="med" type="none"/>
                    <a:tailEnd len="med" w="med" type="none"/>
                  </a:ln>
                </p:spPr>
              </p:cxnSp>
            </p:grpSp>
            <p:cxnSp>
              <p:nvCxnSpPr>
                <p:cNvPr id="1893" name="Google Shape;1893;p40"/>
                <p:cNvCxnSpPr/>
                <p:nvPr/>
              </p:nvCxnSpPr>
              <p:spPr>
                <a:xfrm>
                  <a:off x="12815" y="21837"/>
                  <a:ext cx="687" cy="213"/>
                </a:xfrm>
                <a:prstGeom prst="straightConnector1">
                  <a:avLst/>
                </a:prstGeom>
                <a:noFill/>
                <a:ln cap="flat" cmpd="sng" w="9525">
                  <a:solidFill>
                    <a:srgbClr val="000000"/>
                  </a:solidFill>
                  <a:prstDash val="solid"/>
                  <a:round/>
                  <a:headEnd len="med" w="med" type="none"/>
                  <a:tailEnd len="med" w="med" type="none"/>
                </a:ln>
              </p:spPr>
            </p:cxnSp>
            <p:cxnSp>
              <p:nvCxnSpPr>
                <p:cNvPr id="1894" name="Google Shape;1894;p40"/>
                <p:cNvCxnSpPr/>
                <p:nvPr/>
              </p:nvCxnSpPr>
              <p:spPr>
                <a:xfrm>
                  <a:off x="13515" y="22048"/>
                  <a:ext cx="1175" cy="402"/>
                </a:xfrm>
                <a:prstGeom prst="straightConnector1">
                  <a:avLst/>
                </a:prstGeom>
                <a:noFill/>
                <a:ln cap="flat" cmpd="sng" w="9525">
                  <a:solidFill>
                    <a:srgbClr val="000000"/>
                  </a:solidFill>
                  <a:prstDash val="dot"/>
                  <a:round/>
                  <a:headEnd len="med" w="med" type="none"/>
                  <a:tailEnd len="med" w="med" type="none"/>
                </a:ln>
              </p:spPr>
            </p:cxnSp>
          </p:grpSp>
          <p:cxnSp>
            <p:nvCxnSpPr>
              <p:cNvPr id="1895" name="Google Shape;1895;p40"/>
              <p:cNvCxnSpPr/>
              <p:nvPr/>
            </p:nvCxnSpPr>
            <p:spPr>
              <a:xfrm flipH="1" rot="10800000">
                <a:off x="4630965" y="3646036"/>
                <a:ext cx="2065338" cy="931863"/>
              </a:xfrm>
              <a:prstGeom prst="straightConnector1">
                <a:avLst/>
              </a:prstGeom>
              <a:noFill/>
              <a:ln cap="flat" cmpd="sng" w="9525">
                <a:solidFill>
                  <a:srgbClr val="000000"/>
                </a:solidFill>
                <a:prstDash val="solid"/>
                <a:round/>
                <a:headEnd len="med" w="med" type="none"/>
                <a:tailEnd len="med" w="med" type="none"/>
              </a:ln>
            </p:spPr>
          </p:cxnSp>
        </p:grpSp>
        <p:grpSp>
          <p:nvGrpSpPr>
            <p:cNvPr id="1896" name="Google Shape;1896;p40"/>
            <p:cNvGrpSpPr/>
            <p:nvPr/>
          </p:nvGrpSpPr>
          <p:grpSpPr>
            <a:xfrm>
              <a:off x="1782990" y="1417186"/>
              <a:ext cx="8797925" cy="2974975"/>
              <a:chOff x="1782990" y="1417186"/>
              <a:chExt cx="8797925" cy="2974975"/>
            </a:xfrm>
          </p:grpSpPr>
          <p:cxnSp>
            <p:nvCxnSpPr>
              <p:cNvPr id="1897" name="Google Shape;1897;p40"/>
              <p:cNvCxnSpPr/>
              <p:nvPr/>
            </p:nvCxnSpPr>
            <p:spPr>
              <a:xfrm>
                <a:off x="4608740" y="1966461"/>
                <a:ext cx="2082800" cy="931863"/>
              </a:xfrm>
              <a:prstGeom prst="straightConnector1">
                <a:avLst/>
              </a:prstGeom>
              <a:noFill/>
              <a:ln cap="flat" cmpd="sng" w="9525">
                <a:solidFill>
                  <a:srgbClr val="000000"/>
                </a:solidFill>
                <a:prstDash val="solid"/>
                <a:round/>
                <a:headEnd len="med" w="med" type="none"/>
                <a:tailEnd len="med" w="med" type="none"/>
              </a:ln>
            </p:spPr>
          </p:cxnSp>
          <p:sp>
            <p:nvSpPr>
              <p:cNvPr id="1898" name="Google Shape;1898;p40"/>
              <p:cNvSpPr txBox="1"/>
              <p:nvPr/>
            </p:nvSpPr>
            <p:spPr>
              <a:xfrm>
                <a:off x="4138840" y="1417186"/>
                <a:ext cx="1042988"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sender</a:t>
                </a:r>
                <a:endParaRPr b="0" i="0" sz="1600" u="none" cap="none" strike="noStrike">
                  <a:solidFill>
                    <a:srgbClr val="000000"/>
                  </a:solidFill>
                  <a:latin typeface="Times New Roman"/>
                  <a:ea typeface="Times New Roman"/>
                  <a:cs typeface="Times New Roman"/>
                  <a:sym typeface="Times New Roman"/>
                </a:endParaRPr>
              </a:p>
            </p:txBody>
          </p:sp>
          <p:sp>
            <p:nvSpPr>
              <p:cNvPr id="1899" name="Google Shape;1899;p40"/>
              <p:cNvSpPr txBox="1"/>
              <p:nvPr/>
            </p:nvSpPr>
            <p:spPr>
              <a:xfrm>
                <a:off x="6167665" y="1417186"/>
                <a:ext cx="1108075" cy="355600"/>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receiver</a:t>
                </a:r>
                <a:endParaRPr b="0" i="0" sz="1600" u="none" cap="none" strike="noStrike">
                  <a:solidFill>
                    <a:srgbClr val="000000"/>
                  </a:solidFill>
                  <a:latin typeface="Times New Roman"/>
                  <a:ea typeface="Times New Roman"/>
                  <a:cs typeface="Times New Roman"/>
                  <a:sym typeface="Times New Roman"/>
                </a:endParaRPr>
              </a:p>
            </p:txBody>
          </p:sp>
          <p:cxnSp>
            <p:nvCxnSpPr>
              <p:cNvPr id="1900" name="Google Shape;1900;p40"/>
              <p:cNvCxnSpPr/>
              <p:nvPr/>
            </p:nvCxnSpPr>
            <p:spPr>
              <a:xfrm>
                <a:off x="4619853" y="1961699"/>
                <a:ext cx="2049462" cy="3175"/>
              </a:xfrm>
              <a:prstGeom prst="straightConnector1">
                <a:avLst/>
              </a:prstGeom>
              <a:noFill/>
              <a:ln cap="flat" cmpd="sng" w="9525">
                <a:solidFill>
                  <a:srgbClr val="000000"/>
                </a:solidFill>
                <a:prstDash val="dash"/>
                <a:round/>
                <a:headEnd len="med" w="med" type="none"/>
                <a:tailEnd len="med" w="med" type="none"/>
              </a:ln>
            </p:spPr>
          </p:cxnSp>
          <p:cxnSp>
            <p:nvCxnSpPr>
              <p:cNvPr id="1901" name="Google Shape;1901;p40"/>
              <p:cNvCxnSpPr/>
              <p:nvPr/>
            </p:nvCxnSpPr>
            <p:spPr>
              <a:xfrm>
                <a:off x="4626203" y="4093711"/>
                <a:ext cx="2049462" cy="0"/>
              </a:xfrm>
              <a:prstGeom prst="straightConnector1">
                <a:avLst/>
              </a:prstGeom>
              <a:noFill/>
              <a:ln cap="flat" cmpd="sng" w="9525">
                <a:solidFill>
                  <a:srgbClr val="000000"/>
                </a:solidFill>
                <a:prstDash val="dash"/>
                <a:round/>
                <a:headEnd len="med" w="med" type="none"/>
                <a:tailEnd len="med" w="med" type="none"/>
              </a:ln>
            </p:spPr>
          </p:cxnSp>
          <p:sp>
            <p:nvSpPr>
              <p:cNvPr id="1902" name="Google Shape;1902;p40"/>
              <p:cNvSpPr/>
              <p:nvPr/>
            </p:nvSpPr>
            <p:spPr>
              <a:xfrm>
                <a:off x="4603978" y="1958524"/>
                <a:ext cx="2087562" cy="1169987"/>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903" name="Google Shape;1903;p40"/>
              <p:cNvCxnSpPr/>
              <p:nvPr/>
            </p:nvCxnSpPr>
            <p:spPr>
              <a:xfrm flipH="1">
                <a:off x="4469040" y="1958524"/>
                <a:ext cx="123825" cy="3175"/>
              </a:xfrm>
              <a:prstGeom prst="straightConnector1">
                <a:avLst/>
              </a:prstGeom>
              <a:noFill/>
              <a:ln cap="flat" cmpd="sng" w="9525">
                <a:solidFill>
                  <a:srgbClr val="000000"/>
                </a:solidFill>
                <a:prstDash val="solid"/>
                <a:round/>
                <a:headEnd len="med" w="med" type="none"/>
                <a:tailEnd len="med" w="med" type="none"/>
              </a:ln>
            </p:spPr>
          </p:cxnSp>
          <p:cxnSp>
            <p:nvCxnSpPr>
              <p:cNvPr id="1904" name="Google Shape;1904;p40"/>
              <p:cNvCxnSpPr/>
              <p:nvPr/>
            </p:nvCxnSpPr>
            <p:spPr>
              <a:xfrm rot="10800000">
                <a:off x="4469040" y="2202999"/>
                <a:ext cx="123825" cy="0"/>
              </a:xfrm>
              <a:prstGeom prst="straightConnector1">
                <a:avLst/>
              </a:prstGeom>
              <a:noFill/>
              <a:ln cap="flat" cmpd="sng" w="9525">
                <a:solidFill>
                  <a:srgbClr val="000000"/>
                </a:solidFill>
                <a:prstDash val="solid"/>
                <a:round/>
                <a:headEnd len="med" w="med" type="none"/>
                <a:tailEnd len="med" w="med" type="none"/>
              </a:ln>
            </p:spPr>
          </p:cxnSp>
          <p:sp>
            <p:nvSpPr>
              <p:cNvPr id="1905" name="Google Shape;1905;p40"/>
              <p:cNvSpPr txBox="1"/>
              <p:nvPr/>
            </p:nvSpPr>
            <p:spPr>
              <a:xfrm>
                <a:off x="3687990" y="2942774"/>
                <a:ext cx="965200" cy="339725"/>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RTT </a:t>
                </a:r>
                <a:endParaRPr b="0" i="0" sz="1600" u="none" cap="none" strike="noStrike">
                  <a:solidFill>
                    <a:srgbClr val="000000"/>
                  </a:solidFill>
                  <a:latin typeface="Times New Roman"/>
                  <a:ea typeface="Times New Roman"/>
                  <a:cs typeface="Times New Roman"/>
                  <a:sym typeface="Times New Roman"/>
                </a:endParaRPr>
              </a:p>
            </p:txBody>
          </p:sp>
          <p:cxnSp>
            <p:nvCxnSpPr>
              <p:cNvPr id="1906" name="Google Shape;1906;p40"/>
              <p:cNvCxnSpPr/>
              <p:nvPr/>
            </p:nvCxnSpPr>
            <p:spPr>
              <a:xfrm>
                <a:off x="4502378" y="3253924"/>
                <a:ext cx="9525" cy="820737"/>
              </a:xfrm>
              <a:prstGeom prst="straightConnector1">
                <a:avLst/>
              </a:prstGeom>
              <a:noFill/>
              <a:ln cap="flat" cmpd="sng" w="9525">
                <a:solidFill>
                  <a:srgbClr val="000000"/>
                </a:solidFill>
                <a:prstDash val="solid"/>
                <a:round/>
                <a:headEnd len="med" w="med" type="none"/>
                <a:tailEnd len="med" w="med" type="triangle"/>
              </a:ln>
            </p:spPr>
          </p:cxnSp>
          <p:cxnSp>
            <p:nvCxnSpPr>
              <p:cNvPr id="1907" name="Google Shape;1907;p40"/>
              <p:cNvCxnSpPr/>
              <p:nvPr/>
            </p:nvCxnSpPr>
            <p:spPr>
              <a:xfrm flipH="1" rot="10800000">
                <a:off x="4507140" y="2225224"/>
                <a:ext cx="1588" cy="776287"/>
              </a:xfrm>
              <a:prstGeom prst="straightConnector1">
                <a:avLst/>
              </a:prstGeom>
              <a:noFill/>
              <a:ln cap="flat" cmpd="sng" w="9525">
                <a:solidFill>
                  <a:srgbClr val="000000"/>
                </a:solidFill>
                <a:prstDash val="solid"/>
                <a:round/>
                <a:headEnd len="med" w="med" type="none"/>
                <a:tailEnd len="med" w="med" type="triangle"/>
              </a:ln>
            </p:spPr>
          </p:cxnSp>
          <p:sp>
            <p:nvSpPr>
              <p:cNvPr id="1908" name="Google Shape;1908;p40"/>
              <p:cNvSpPr txBox="1"/>
              <p:nvPr/>
            </p:nvSpPr>
            <p:spPr>
              <a:xfrm>
                <a:off x="1782990" y="2041074"/>
                <a:ext cx="2740025" cy="3540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transmitted, t = L / R</a:t>
                </a:r>
                <a:endParaRPr b="0" i="0" sz="1600" u="none" cap="none" strike="noStrike">
                  <a:solidFill>
                    <a:srgbClr val="000000"/>
                  </a:solidFill>
                  <a:latin typeface="Times New Roman"/>
                  <a:ea typeface="Times New Roman"/>
                  <a:cs typeface="Times New Roman"/>
                  <a:sym typeface="Times New Roman"/>
                </a:endParaRPr>
              </a:p>
            </p:txBody>
          </p:sp>
          <p:cxnSp>
            <p:nvCxnSpPr>
              <p:cNvPr id="1909" name="Google Shape;1909;p40"/>
              <p:cNvCxnSpPr/>
              <p:nvPr/>
            </p:nvCxnSpPr>
            <p:spPr>
              <a:xfrm rot="10800000">
                <a:off x="6669315" y="2884036"/>
                <a:ext cx="125413" cy="0"/>
              </a:xfrm>
              <a:prstGeom prst="straightConnector1">
                <a:avLst/>
              </a:prstGeom>
              <a:noFill/>
              <a:ln cap="flat" cmpd="sng" w="9525">
                <a:solidFill>
                  <a:srgbClr val="000000"/>
                </a:solidFill>
                <a:prstDash val="solid"/>
                <a:round/>
                <a:headEnd len="med" w="med" type="none"/>
                <a:tailEnd len="med" w="med" type="none"/>
              </a:ln>
            </p:spPr>
          </p:cxnSp>
          <p:sp>
            <p:nvSpPr>
              <p:cNvPr id="1910" name="Google Shape;1910;p40"/>
              <p:cNvSpPr txBox="1"/>
              <p:nvPr/>
            </p:nvSpPr>
            <p:spPr>
              <a:xfrm>
                <a:off x="6745515" y="2706236"/>
                <a:ext cx="264160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first packet bit arrives</a:t>
                </a:r>
                <a:endParaRPr b="0" i="0" sz="1600" u="none" cap="none" strike="noStrike">
                  <a:solidFill>
                    <a:srgbClr val="000000"/>
                  </a:solidFill>
                  <a:latin typeface="Times New Roman"/>
                  <a:ea typeface="Times New Roman"/>
                  <a:cs typeface="Times New Roman"/>
                  <a:sym typeface="Times New Roman"/>
                </a:endParaRPr>
              </a:p>
            </p:txBody>
          </p:sp>
          <p:cxnSp>
            <p:nvCxnSpPr>
              <p:cNvPr id="1911" name="Google Shape;1911;p40"/>
              <p:cNvCxnSpPr/>
              <p:nvPr/>
            </p:nvCxnSpPr>
            <p:spPr>
              <a:xfrm>
                <a:off x="6691540" y="3134861"/>
                <a:ext cx="119063" cy="0"/>
              </a:xfrm>
              <a:prstGeom prst="straightConnector1">
                <a:avLst/>
              </a:prstGeom>
              <a:noFill/>
              <a:ln cap="flat" cmpd="sng" w="9525">
                <a:solidFill>
                  <a:srgbClr val="000000"/>
                </a:solidFill>
                <a:prstDash val="solid"/>
                <a:round/>
                <a:headEnd len="med" w="med" type="none"/>
                <a:tailEnd len="med" w="med" type="none"/>
              </a:ln>
            </p:spPr>
          </p:cxnSp>
          <p:sp>
            <p:nvSpPr>
              <p:cNvPr id="1912" name="Google Shape;1912;p40"/>
              <p:cNvSpPr txBox="1"/>
              <p:nvPr/>
            </p:nvSpPr>
            <p:spPr>
              <a:xfrm>
                <a:off x="6750278" y="2958649"/>
                <a:ext cx="3581400"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packet bit arrives, send ACK</a:t>
                </a:r>
                <a:endParaRPr b="0" i="0" sz="1600" u="none" cap="none" strike="noStrike">
                  <a:solidFill>
                    <a:srgbClr val="000000"/>
                  </a:solidFill>
                  <a:latin typeface="Times New Roman"/>
                  <a:ea typeface="Times New Roman"/>
                  <a:cs typeface="Times New Roman"/>
                  <a:sym typeface="Times New Roman"/>
                </a:endParaRPr>
              </a:p>
            </p:txBody>
          </p:sp>
          <p:sp>
            <p:nvSpPr>
              <p:cNvPr id="1913" name="Google Shape;1913;p40"/>
              <p:cNvSpPr txBox="1"/>
              <p:nvPr/>
            </p:nvSpPr>
            <p:spPr>
              <a:xfrm>
                <a:off x="1930628" y="3750811"/>
                <a:ext cx="2635250" cy="64135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ACK arrives, send next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packet, t = RTT + L / R</a:t>
                </a:r>
                <a:endParaRPr b="0" i="0" sz="1600" u="none" cap="none" strike="noStrike">
                  <a:solidFill>
                    <a:srgbClr val="000000"/>
                  </a:solidFill>
                  <a:latin typeface="Times New Roman"/>
                  <a:ea typeface="Times New Roman"/>
                  <a:cs typeface="Times New Roman"/>
                  <a:sym typeface="Times New Roman"/>
                </a:endParaRPr>
              </a:p>
            </p:txBody>
          </p:sp>
          <p:sp>
            <p:nvSpPr>
              <p:cNvPr id="1914" name="Google Shape;1914;p40"/>
              <p:cNvSpPr/>
              <p:nvPr/>
            </p:nvSpPr>
            <p:spPr>
              <a:xfrm>
                <a:off x="4608740" y="2210936"/>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1915" name="Google Shape;1915;p40"/>
              <p:cNvSpPr/>
              <p:nvPr/>
            </p:nvSpPr>
            <p:spPr>
              <a:xfrm>
                <a:off x="4608740" y="2461761"/>
                <a:ext cx="2087563" cy="1168400"/>
              </a:xfrm>
              <a:custGeom>
                <a:rect b="b" l="l" r="r" t="t"/>
                <a:pathLst>
                  <a:path extrusionOk="0" h="1185" w="2902">
                    <a:moveTo>
                      <a:pt x="0" y="0"/>
                    </a:moveTo>
                    <a:lnTo>
                      <a:pt x="2895" y="937"/>
                    </a:lnTo>
                    <a:lnTo>
                      <a:pt x="2902" y="1185"/>
                    </a:lnTo>
                    <a:lnTo>
                      <a:pt x="0" y="247"/>
                    </a:lnTo>
                    <a:lnTo>
                      <a:pt x="0" y="0"/>
                    </a:lnTo>
                    <a:close/>
                  </a:path>
                </a:pathLst>
              </a:custGeom>
              <a:solidFill>
                <a:srgbClr val="00CCFF"/>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cxnSp>
            <p:nvCxnSpPr>
              <p:cNvPr id="1916" name="Google Shape;1916;p40"/>
              <p:cNvCxnSpPr/>
              <p:nvPr/>
            </p:nvCxnSpPr>
            <p:spPr>
              <a:xfrm flipH="1" rot="10800000">
                <a:off x="4626203" y="3142799"/>
                <a:ext cx="2065337" cy="931862"/>
              </a:xfrm>
              <a:prstGeom prst="straightConnector1">
                <a:avLst/>
              </a:prstGeom>
              <a:noFill/>
              <a:ln cap="flat" cmpd="sng" w="9525">
                <a:solidFill>
                  <a:srgbClr val="000000"/>
                </a:solidFill>
                <a:prstDash val="solid"/>
                <a:round/>
                <a:headEnd len="med" w="med" type="none"/>
                <a:tailEnd len="med" w="med" type="none"/>
              </a:ln>
            </p:spPr>
          </p:cxnSp>
          <p:cxnSp>
            <p:nvCxnSpPr>
              <p:cNvPr id="1917" name="Google Shape;1917;p40"/>
              <p:cNvCxnSpPr/>
              <p:nvPr/>
            </p:nvCxnSpPr>
            <p:spPr>
              <a:xfrm flipH="1" rot="10800000">
                <a:off x="4626203" y="3393624"/>
                <a:ext cx="2065337" cy="931862"/>
              </a:xfrm>
              <a:prstGeom prst="straightConnector1">
                <a:avLst/>
              </a:prstGeom>
              <a:noFill/>
              <a:ln cap="flat" cmpd="sng" w="9525">
                <a:solidFill>
                  <a:srgbClr val="000000"/>
                </a:solidFill>
                <a:prstDash val="solid"/>
                <a:round/>
                <a:headEnd len="med" w="med" type="none"/>
                <a:tailEnd len="med" w="med" type="none"/>
              </a:ln>
            </p:spPr>
          </p:cxnSp>
          <p:sp>
            <p:nvSpPr>
              <p:cNvPr id="1918" name="Google Shape;1918;p40"/>
              <p:cNvSpPr txBox="1"/>
              <p:nvPr/>
            </p:nvSpPr>
            <p:spPr>
              <a:xfrm>
                <a:off x="6747103" y="3212649"/>
                <a:ext cx="3833812"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2</a:t>
                </a:r>
                <a:r>
                  <a:rPr b="0" baseline="30000" i="0" lang="en-US" sz="1600" u="none" cap="none" strike="noStrike">
                    <a:solidFill>
                      <a:srgbClr val="000000"/>
                    </a:solidFill>
                    <a:latin typeface="Arial"/>
                    <a:ea typeface="Arial"/>
                    <a:cs typeface="Arial"/>
                    <a:sym typeface="Arial"/>
                  </a:rPr>
                  <a:t>nd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cxnSp>
            <p:nvCxnSpPr>
              <p:cNvPr id="1919" name="Google Shape;1919;p40"/>
              <p:cNvCxnSpPr/>
              <p:nvPr/>
            </p:nvCxnSpPr>
            <p:spPr>
              <a:xfrm>
                <a:off x="6691540" y="3371399"/>
                <a:ext cx="112713" cy="0"/>
              </a:xfrm>
              <a:prstGeom prst="straightConnector1">
                <a:avLst/>
              </a:prstGeom>
              <a:noFill/>
              <a:ln cap="flat" cmpd="sng" w="9525">
                <a:solidFill>
                  <a:srgbClr val="000000"/>
                </a:solidFill>
                <a:prstDash val="solid"/>
                <a:round/>
                <a:headEnd len="med" w="med" type="none"/>
                <a:tailEnd len="med" w="med" type="none"/>
              </a:ln>
            </p:spPr>
          </p:cxnSp>
          <p:cxnSp>
            <p:nvCxnSpPr>
              <p:cNvPr id="1920" name="Google Shape;1920;p40"/>
              <p:cNvCxnSpPr/>
              <p:nvPr/>
            </p:nvCxnSpPr>
            <p:spPr>
              <a:xfrm>
                <a:off x="6702653" y="3623811"/>
                <a:ext cx="112712" cy="0"/>
              </a:xfrm>
              <a:prstGeom prst="straightConnector1">
                <a:avLst/>
              </a:prstGeom>
              <a:noFill/>
              <a:ln cap="flat" cmpd="sng" w="9525">
                <a:solidFill>
                  <a:srgbClr val="000000"/>
                </a:solidFill>
                <a:prstDash val="solid"/>
                <a:round/>
                <a:headEnd len="med" w="med" type="none"/>
                <a:tailEnd len="med" w="med" type="none"/>
              </a:ln>
            </p:spPr>
          </p:cxnSp>
          <p:sp>
            <p:nvSpPr>
              <p:cNvPr id="1921" name="Google Shape;1921;p40"/>
              <p:cNvSpPr txBox="1"/>
              <p:nvPr/>
            </p:nvSpPr>
            <p:spPr>
              <a:xfrm>
                <a:off x="6742340" y="3446011"/>
                <a:ext cx="3838575" cy="384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last bit of 3</a:t>
                </a:r>
                <a:r>
                  <a:rPr b="0" baseline="30000" i="0" lang="en-US" sz="1600" u="none" cap="none" strike="noStrike">
                    <a:solidFill>
                      <a:srgbClr val="000000"/>
                    </a:solidFill>
                    <a:latin typeface="Arial"/>
                    <a:ea typeface="Arial"/>
                    <a:cs typeface="Arial"/>
                    <a:sym typeface="Arial"/>
                  </a:rPr>
                  <a:t>rd</a:t>
                </a:r>
                <a:r>
                  <a:rPr b="0" i="0" lang="en-US" sz="1600" u="none" cap="none" strike="noStrike">
                    <a:solidFill>
                      <a:srgbClr val="000000"/>
                    </a:solidFill>
                    <a:latin typeface="Arial"/>
                    <a:ea typeface="Arial"/>
                    <a:cs typeface="Arial"/>
                    <a:sym typeface="Arial"/>
                  </a:rPr>
                  <a:t> packet arrives, send ACK</a:t>
                </a:r>
                <a:endParaRPr b="0" i="0" sz="1600" u="none" cap="none" strike="noStrike">
                  <a:solidFill>
                    <a:srgbClr val="000000"/>
                  </a:solidFill>
                  <a:latin typeface="Times New Roman"/>
                  <a:ea typeface="Times New Roman"/>
                  <a:cs typeface="Times New Roman"/>
                  <a:sym typeface="Times New Roman"/>
                </a:endParaRPr>
              </a:p>
            </p:txBody>
          </p:sp>
        </p:grpSp>
      </p:grpSp>
      <p:grpSp>
        <p:nvGrpSpPr>
          <p:cNvPr id="1922" name="Google Shape;1922;p40"/>
          <p:cNvGrpSpPr/>
          <p:nvPr/>
        </p:nvGrpSpPr>
        <p:grpSpPr>
          <a:xfrm>
            <a:off x="6955065" y="4341361"/>
            <a:ext cx="3460750" cy="1145039"/>
            <a:chOff x="6955065" y="4341361"/>
            <a:chExt cx="3460750" cy="1145039"/>
          </a:xfrm>
        </p:grpSpPr>
        <p:sp>
          <p:nvSpPr>
            <p:cNvPr id="1923" name="Google Shape;1923;p40"/>
            <p:cNvSpPr txBox="1"/>
            <p:nvPr/>
          </p:nvSpPr>
          <p:spPr>
            <a:xfrm>
              <a:off x="6955065" y="4341361"/>
              <a:ext cx="3460750"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3-packet pipelining increases</a:t>
              </a:r>
              <a:endParaRPr/>
            </a:p>
            <a:p>
              <a:pPr indent="0" lvl="0" marL="0" marR="0" rtl="0" algn="ctr">
                <a:lnSpc>
                  <a:spcPct val="100000"/>
                </a:lnSpc>
                <a:spcBef>
                  <a:spcPts val="0"/>
                </a:spcBef>
                <a:spcAft>
                  <a:spcPts val="0"/>
                </a:spcAft>
                <a:buClr>
                  <a:srgbClr val="CC0000"/>
                </a:buClr>
                <a:buSzPts val="2000"/>
                <a:buFont typeface="Arial"/>
                <a:buNone/>
              </a:pPr>
              <a:r>
                <a:rPr b="0" i="0" lang="en-US" sz="2000" u="none" cap="none" strike="noStrike">
                  <a:solidFill>
                    <a:srgbClr val="CC0000"/>
                  </a:solidFill>
                  <a:latin typeface="Arial"/>
                  <a:ea typeface="Arial"/>
                  <a:cs typeface="Arial"/>
                  <a:sym typeface="Arial"/>
                </a:rPr>
                <a:t> utilization by a factor of 3!</a:t>
              </a:r>
              <a:endParaRPr/>
            </a:p>
          </p:txBody>
        </p:sp>
        <p:cxnSp>
          <p:nvCxnSpPr>
            <p:cNvPr id="1924" name="Google Shape;1924;p40"/>
            <p:cNvCxnSpPr/>
            <p:nvPr/>
          </p:nvCxnSpPr>
          <p:spPr>
            <a:xfrm>
              <a:off x="7948840" y="5009699"/>
              <a:ext cx="1360" cy="476701"/>
            </a:xfrm>
            <a:prstGeom prst="straightConnector1">
              <a:avLst/>
            </a:prstGeom>
            <a:noFill/>
            <a:ln cap="flat" cmpd="sng" w="9525">
              <a:solidFill>
                <a:srgbClr val="CC0000"/>
              </a:solidFill>
              <a:prstDash val="solid"/>
              <a:round/>
              <a:headEnd len="med" w="med" type="none"/>
              <a:tailEnd len="med" w="med" type="triangle"/>
            </a:ln>
          </p:spPr>
        </p:cxnSp>
      </p:grpSp>
      <p:pic>
        <p:nvPicPr>
          <p:cNvPr id="1925" name="Google Shape;1925;p40"/>
          <p:cNvPicPr preferRelativeResize="0"/>
          <p:nvPr/>
        </p:nvPicPr>
        <p:blipFill rotWithShape="1">
          <a:blip r:embed="rId3">
            <a:alphaModFix/>
          </a:blip>
          <a:srcRect b="0" l="0" r="0" t="0"/>
          <a:stretch/>
        </p:blipFill>
        <p:spPr>
          <a:xfrm>
            <a:off x="2992665" y="5276399"/>
            <a:ext cx="6748463" cy="933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gtEl>
                                        <p:attrNameLst>
                                          <p:attrName>style.visibility</p:attrName>
                                        </p:attrNameLst>
                                      </p:cBhvr>
                                      <p:to>
                                        <p:strVal val="visible"/>
                                      </p:to>
                                    </p:set>
                                    <p:animEffect filter="fade" transition="in">
                                      <p:cBhvr>
                                        <p:cTn dur="2000"/>
                                        <p:tgtEl>
                                          <p:spTgt spid="18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2"/>
                                        </p:tgtEl>
                                        <p:attrNameLst>
                                          <p:attrName>style.visibility</p:attrName>
                                        </p:attrNameLst>
                                      </p:cBhvr>
                                      <p:to>
                                        <p:strVal val="visible"/>
                                      </p:to>
                                    </p:set>
                                    <p:animEffect filter="fade" transition="in">
                                      <p:cBhvr>
                                        <p:cTn dur="500"/>
                                        <p:tgtEl>
                                          <p:spTgt spid="19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0" name="Shape 1930"/>
        <p:cNvGrpSpPr/>
        <p:nvPr/>
      </p:nvGrpSpPr>
      <p:grpSpPr>
        <a:xfrm>
          <a:off x="0" y="0"/>
          <a:ext cx="0" cy="0"/>
          <a:chOff x="0" y="0"/>
          <a:chExt cx="0" cy="0"/>
        </a:xfrm>
      </p:grpSpPr>
      <p:sp>
        <p:nvSpPr>
          <p:cNvPr id="1931" name="Google Shape;1931;p41"/>
          <p:cNvSpPr/>
          <p:nvPr/>
        </p:nvSpPr>
        <p:spPr>
          <a:xfrm>
            <a:off x="2766060" y="3200400"/>
            <a:ext cx="2480310" cy="67437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32" name="Google Shape;1932;p41"/>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a:t>
            </a:r>
            <a:endParaRPr sz="4400"/>
          </a:p>
        </p:txBody>
      </p:sp>
      <p:sp>
        <p:nvSpPr>
          <p:cNvPr id="1933" name="Google Shape;1933;p41"/>
          <p:cNvSpPr txBox="1"/>
          <p:nvPr/>
        </p:nvSpPr>
        <p:spPr>
          <a:xfrm>
            <a:off x="938540" y="1295239"/>
            <a:ext cx="11077752" cy="1396094"/>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sender: “window” of up to N, consecutive transmitted but unACKed pkts </a:t>
            </a:r>
            <a:endParaRPr/>
          </a:p>
          <a:p>
            <a:pPr indent="-342900" lvl="1" marL="815975" marR="0" rtl="0" algn="l">
              <a:lnSpc>
                <a:spcPct val="90000"/>
              </a:lnSpc>
              <a:spcBef>
                <a:spcPts val="1000"/>
              </a:spcBef>
              <a:spcAft>
                <a:spcPts val="0"/>
              </a:spcAft>
              <a:buClr>
                <a:srgbClr val="0000A3"/>
              </a:buClr>
              <a:buSzPts val="2400"/>
              <a:buFont typeface="Arial"/>
              <a:buChar char="•"/>
            </a:pPr>
            <a:r>
              <a:rPr b="0" i="0" lang="en-US" sz="2400" u="none" cap="none" strike="noStrike">
                <a:solidFill>
                  <a:srgbClr val="000000"/>
                </a:solidFill>
                <a:latin typeface="Calibri"/>
                <a:ea typeface="Calibri"/>
                <a:cs typeface="Calibri"/>
                <a:sym typeface="Calibri"/>
              </a:rPr>
              <a:t>k-bit seq # in pkt header</a:t>
            </a:r>
            <a:endParaRPr/>
          </a:p>
          <a:p>
            <a:pPr indent="-69850" lvl="1" marL="695325" marR="0" rtl="0" algn="l">
              <a:lnSpc>
                <a:spcPct val="90000"/>
              </a:lnSpc>
              <a:spcBef>
                <a:spcPts val="1000"/>
              </a:spcBef>
              <a:spcAft>
                <a:spcPts val="0"/>
              </a:spcAft>
              <a:buClr>
                <a:srgbClr val="0000A3"/>
              </a:buClr>
              <a:buSzPts val="2400"/>
              <a:buFont typeface="Noto Sans Symbols"/>
              <a:buNone/>
            </a:pPr>
            <a:r>
              <a:t/>
            </a:r>
            <a:endParaRPr b="0" i="0" sz="24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pic>
        <p:nvPicPr>
          <p:cNvPr descr="gbn_seqnum" id="1934" name="Google Shape;1934;p41"/>
          <p:cNvPicPr preferRelativeResize="0"/>
          <p:nvPr/>
        </p:nvPicPr>
        <p:blipFill rotWithShape="1">
          <a:blip r:embed="rId3">
            <a:alphaModFix amt="83000"/>
          </a:blip>
          <a:srcRect b="0" l="0" r="0" t="0"/>
          <a:stretch/>
        </p:blipFill>
        <p:spPr>
          <a:xfrm>
            <a:off x="1743751" y="2576024"/>
            <a:ext cx="9167471" cy="1845354"/>
          </a:xfrm>
          <a:prstGeom prst="rect">
            <a:avLst/>
          </a:prstGeom>
          <a:noFill/>
          <a:ln>
            <a:noFill/>
          </a:ln>
        </p:spPr>
      </p:pic>
      <p:sp>
        <p:nvSpPr>
          <p:cNvPr id="1935" name="Google Shape;1935;p41"/>
          <p:cNvSpPr/>
          <p:nvPr/>
        </p:nvSpPr>
        <p:spPr>
          <a:xfrm>
            <a:off x="1057835" y="4782281"/>
            <a:ext cx="11309804" cy="1985049"/>
          </a:xfrm>
          <a:prstGeom prst="rect">
            <a:avLst/>
          </a:prstGeom>
          <a:noFill/>
          <a:ln>
            <a:noFill/>
          </a:ln>
        </p:spPr>
        <p:txBody>
          <a:bodyPr anchorCtr="0" anchor="t" bIns="45700" lIns="91425" spcFirstLastPara="1" rIns="91425" wrap="square" tIns="45700">
            <a:noAutofit/>
          </a:bodyPr>
          <a:lstStyle/>
          <a:p>
            <a:pPr indent="-339725" lvl="0" marL="350838" marR="0" rtl="0" algn="l">
              <a:lnSpc>
                <a:spcPct val="85000"/>
              </a:lnSpc>
              <a:spcBef>
                <a:spcPts val="0"/>
              </a:spcBef>
              <a:spcAft>
                <a:spcPts val="0"/>
              </a:spcAft>
              <a:buClr>
                <a:srgbClr val="000099"/>
              </a:buClr>
              <a:buSzPts val="2800"/>
              <a:buFont typeface="Noto Sans Symbols"/>
              <a:buChar char="▪"/>
            </a:pPr>
            <a:r>
              <a:rPr b="0" i="1" lang="en-US" sz="2800" u="none" cap="none" strike="noStrike">
                <a:solidFill>
                  <a:srgbClr val="C00000"/>
                </a:solidFill>
                <a:latin typeface="Calibri"/>
                <a:ea typeface="Calibri"/>
                <a:cs typeface="Calibri"/>
                <a:sym typeface="Calibri"/>
              </a:rPr>
              <a:t>cumulative ACK: </a:t>
            </a:r>
            <a:r>
              <a:rPr b="0" i="0" lang="en-US" sz="2800" u="none" cap="none" strike="noStrike">
                <a:solidFill>
                  <a:srgbClr val="000000"/>
                </a:solidFill>
                <a:latin typeface="Calibri"/>
                <a:ea typeface="Calibri"/>
                <a:cs typeface="Calibri"/>
                <a:sym typeface="Calibri"/>
              </a:rPr>
              <a:t>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ACKs all packets up to, including seq # </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a:t>
            </a:r>
            <a:endParaRPr/>
          </a:p>
          <a:p>
            <a:pPr indent="-457200" lvl="1" marL="862013" marR="0" rtl="0" algn="l">
              <a:lnSpc>
                <a:spcPct val="85000"/>
              </a:lnSpc>
              <a:spcBef>
                <a:spcPts val="560"/>
              </a:spcBef>
              <a:spcAft>
                <a:spcPts val="0"/>
              </a:spcAft>
              <a:buClr>
                <a:srgbClr val="000099"/>
              </a:buClr>
              <a:buSzPts val="2800"/>
              <a:buFont typeface="Arial"/>
              <a:buChar char="•"/>
            </a:pPr>
            <a:r>
              <a:rPr b="0" i="0" lang="en-US" sz="2800" u="none" cap="none" strike="noStrike">
                <a:solidFill>
                  <a:srgbClr val="000000"/>
                </a:solidFill>
                <a:latin typeface="Calibri"/>
                <a:ea typeface="Calibri"/>
                <a:cs typeface="Calibri"/>
                <a:sym typeface="Calibri"/>
              </a:rPr>
              <a:t>on receiving ACK(</a:t>
            </a: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move window forward to begin at </a:t>
            </a:r>
            <a:r>
              <a:rPr b="0" i="1" lang="en-US" sz="2800" u="none" cap="none" strike="noStrike">
                <a:solidFill>
                  <a:srgbClr val="000000"/>
                </a:solidFill>
                <a:latin typeface="Calibri"/>
                <a:ea typeface="Calibri"/>
                <a:cs typeface="Calibri"/>
                <a:sym typeface="Calibri"/>
              </a:rPr>
              <a:t>n+1</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0" lang="en-US" sz="2800" u="none" cap="none" strike="noStrike">
                <a:solidFill>
                  <a:srgbClr val="000000"/>
                </a:solidFill>
                <a:latin typeface="Calibri"/>
                <a:ea typeface="Calibri"/>
                <a:cs typeface="Calibri"/>
                <a:sym typeface="Calibri"/>
              </a:rPr>
              <a:t>timer for oldest in-flight packet</a:t>
            </a:r>
            <a:endParaRPr/>
          </a:p>
          <a:p>
            <a:pPr indent="-339725" lvl="0" marL="350838" marR="0" rtl="0" algn="l">
              <a:lnSpc>
                <a:spcPct val="85000"/>
              </a:lnSpc>
              <a:spcBef>
                <a:spcPts val="560"/>
              </a:spcBef>
              <a:spcAft>
                <a:spcPts val="0"/>
              </a:spcAft>
              <a:buClr>
                <a:srgbClr val="000099"/>
              </a:buClr>
              <a:buSzPts val="2800"/>
              <a:buFont typeface="Noto Sans Symbols"/>
              <a:buChar char="▪"/>
            </a:pPr>
            <a:r>
              <a:rPr b="0" i="1" lang="en-US" sz="2800" u="none" cap="none" strike="noStrike">
                <a:solidFill>
                  <a:srgbClr val="000000"/>
                </a:solidFill>
                <a:latin typeface="Calibri"/>
                <a:ea typeface="Calibri"/>
                <a:cs typeface="Calibri"/>
                <a:sym typeface="Calibri"/>
              </a:rPr>
              <a:t>timeout(n):</a:t>
            </a:r>
            <a:r>
              <a:rPr b="0" i="0" lang="en-US" sz="2800" u="none" cap="none" strike="noStrike">
                <a:solidFill>
                  <a:srgbClr val="000000"/>
                </a:solidFill>
                <a:latin typeface="Calibri"/>
                <a:ea typeface="Calibri"/>
                <a:cs typeface="Calibri"/>
                <a:sym typeface="Calibri"/>
              </a:rPr>
              <a:t> retransmit packet n and all higher seq # packets in window</a:t>
            </a:r>
            <a:endParaRPr b="0" i="0" sz="3200" u="none" cap="none" strike="noStrike">
              <a:solidFill>
                <a:srgbClr val="000000"/>
              </a:solidFill>
              <a:latin typeface="Calibri"/>
              <a:ea typeface="Calibri"/>
              <a:cs typeface="Calibri"/>
              <a:sym typeface="Calibri"/>
            </a:endParaRPr>
          </a:p>
          <a:p>
            <a:pPr indent="-176530" lvl="0" marL="2921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4"/>
                                        </p:tgtEl>
                                        <p:attrNameLst>
                                          <p:attrName>style.visibility</p:attrName>
                                        </p:attrNameLst>
                                      </p:cBhvr>
                                      <p:to>
                                        <p:strVal val="visible"/>
                                      </p:to>
                                    </p:set>
                                    <p:animEffect filter="fade" transition="in">
                                      <p:cBhvr>
                                        <p:cTn dur="500"/>
                                        <p:tgtEl>
                                          <p:spTgt spid="19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1"/>
                                        </p:tgtEl>
                                        <p:attrNameLst>
                                          <p:attrName>style.visibility</p:attrName>
                                        </p:attrNameLst>
                                      </p:cBhvr>
                                      <p:to>
                                        <p:strVal val="visible"/>
                                      </p:to>
                                    </p:set>
                                    <p:animEffect filter="fade" transition="in">
                                      <p:cBhvr>
                                        <p:cTn dur="500"/>
                                        <p:tgtEl>
                                          <p:spTgt spid="19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5"/>
                                        </p:tgtEl>
                                        <p:attrNameLst>
                                          <p:attrName>style.visibility</p:attrName>
                                        </p:attrNameLst>
                                      </p:cBhvr>
                                      <p:to>
                                        <p:strVal val="visible"/>
                                      </p:to>
                                    </p:set>
                                    <p:animEffect filter="fade" transition="in">
                                      <p:cBhvr>
                                        <p:cTn dur="500"/>
                                        <p:tgtEl>
                                          <p:spTgt spid="19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p42"/>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a:t>
            </a:r>
            <a:endParaRPr sz="4400"/>
          </a:p>
        </p:txBody>
      </p:sp>
      <p:sp>
        <p:nvSpPr>
          <p:cNvPr id="1942" name="Google Shape;1942;p42"/>
          <p:cNvSpPr txBox="1"/>
          <p:nvPr/>
        </p:nvSpPr>
        <p:spPr>
          <a:xfrm>
            <a:off x="803389" y="1374775"/>
            <a:ext cx="10318069" cy="2854325"/>
          </a:xfrm>
          <a:prstGeom prst="rect">
            <a:avLst/>
          </a:prstGeom>
          <a:noFill/>
          <a:ln>
            <a:noFill/>
          </a:ln>
        </p:spPr>
        <p:txBody>
          <a:bodyPr anchorCtr="0" anchor="t" bIns="45700" lIns="91425" spcFirstLastPara="1" rIns="91425" wrap="square" tIns="45700">
            <a:normAutofit lnSpcReduction="10000"/>
          </a:bodyPr>
          <a:lstStyle/>
          <a:p>
            <a:pPr indent="-277813" lvl="0" marL="288925" marR="0" rtl="0" algn="l">
              <a:lnSpc>
                <a:spcPct val="90000"/>
              </a:lnSpc>
              <a:spcBef>
                <a:spcPts val="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ACK-only: always send ACK for correctly-received packet so far,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0" i="0" lang="en-US" sz="2400" u="none" cap="none" strike="noStrike">
                <a:solidFill>
                  <a:srgbClr val="0013A3"/>
                </a:solidFill>
                <a:latin typeface="Courier New"/>
                <a:ea typeface="Courier New"/>
                <a:cs typeface="Courier New"/>
                <a:sym typeface="Courier New"/>
              </a:rPr>
              <a:t>rcv_base</a:t>
            </a:r>
            <a:endParaRPr b="0" i="0" sz="2400" u="none" cap="none" strike="noStrike">
              <a:solidFill>
                <a:srgbClr val="0013A3"/>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on receipt of 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can discard (don’t buffer) or buffer: an implementation decision</a:t>
            </a:r>
            <a:endParaRPr b="0" i="1" sz="2400" u="none" cap="none" strike="noStrike">
              <a:solidFill>
                <a:srgbClr val="CC0000"/>
              </a:solidFill>
              <a:latin typeface="Calibri"/>
              <a:ea typeface="Calibri"/>
              <a:cs typeface="Calibri"/>
              <a:sym typeface="Calibri"/>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grpSp>
        <p:nvGrpSpPr>
          <p:cNvPr id="1943" name="Google Shape;1943;p42"/>
          <p:cNvGrpSpPr/>
          <p:nvPr/>
        </p:nvGrpSpPr>
        <p:grpSpPr>
          <a:xfrm>
            <a:off x="965200" y="4368800"/>
            <a:ext cx="10131689" cy="2135212"/>
            <a:chOff x="965200" y="4368800"/>
            <a:chExt cx="10131689" cy="2135212"/>
          </a:xfrm>
        </p:grpSpPr>
        <p:sp>
          <p:nvSpPr>
            <p:cNvPr id="1944" name="Google Shape;1944;p42"/>
            <p:cNvSpPr/>
            <p:nvPr/>
          </p:nvSpPr>
          <p:spPr>
            <a:xfrm>
              <a:off x="2412281" y="487799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5" name="Google Shape;1945;p42"/>
            <p:cNvSpPr/>
            <p:nvPr/>
          </p:nvSpPr>
          <p:spPr>
            <a:xfrm>
              <a:off x="2603500" y="487853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6" name="Google Shape;1946;p42"/>
            <p:cNvSpPr/>
            <p:nvPr/>
          </p:nvSpPr>
          <p:spPr>
            <a:xfrm>
              <a:off x="2777467" y="4879975"/>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7" name="Google Shape;1947;p42"/>
            <p:cNvSpPr/>
            <p:nvPr/>
          </p:nvSpPr>
          <p:spPr>
            <a:xfrm>
              <a:off x="2951434" y="4878238"/>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48" name="Google Shape;1948;p42"/>
            <p:cNvSpPr/>
            <p:nvPr/>
          </p:nvSpPr>
          <p:spPr>
            <a:xfrm>
              <a:off x="3125401" y="4879676"/>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49" name="Google Shape;1949;p42"/>
            <p:cNvSpPr/>
            <p:nvPr/>
          </p:nvSpPr>
          <p:spPr>
            <a:xfrm>
              <a:off x="3312307" y="4876800"/>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50" name="Google Shape;1950;p42"/>
            <p:cNvSpPr/>
            <p:nvPr/>
          </p:nvSpPr>
          <p:spPr>
            <a:xfrm>
              <a:off x="4042679" y="487709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51" name="Google Shape;1951;p42"/>
            <p:cNvSpPr/>
            <p:nvPr/>
          </p:nvSpPr>
          <p:spPr>
            <a:xfrm>
              <a:off x="4216646" y="48773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52" name="Google Shape;1952;p42"/>
            <p:cNvSpPr/>
            <p:nvPr/>
          </p:nvSpPr>
          <p:spPr>
            <a:xfrm>
              <a:off x="4394926" y="4877695"/>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53" name="Google Shape;1953;p42"/>
            <p:cNvSpPr/>
            <p:nvPr/>
          </p:nvSpPr>
          <p:spPr>
            <a:xfrm>
              <a:off x="4573204" y="4877096"/>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54" name="Google Shape;1954;p42"/>
            <p:cNvSpPr/>
            <p:nvPr/>
          </p:nvSpPr>
          <p:spPr>
            <a:xfrm>
              <a:off x="4738544" y="4882607"/>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55" name="Google Shape;1955;p42"/>
            <p:cNvSpPr txBox="1"/>
            <p:nvPr/>
          </p:nvSpPr>
          <p:spPr>
            <a:xfrm>
              <a:off x="3200400" y="5878722"/>
              <a:ext cx="128753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13A3"/>
                </a:buClr>
                <a:buSzPts val="1800"/>
                <a:buFont typeface="Courier New"/>
                <a:buNone/>
              </a:pPr>
              <a:r>
                <a:rPr b="0" i="0" lang="en-US" sz="1800" u="none" cap="none" strike="noStrike">
                  <a:solidFill>
                    <a:srgbClr val="0013A3"/>
                  </a:solidFill>
                  <a:latin typeface="Courier New"/>
                  <a:ea typeface="Courier New"/>
                  <a:cs typeface="Courier New"/>
                  <a:sym typeface="Courier New"/>
                </a:rPr>
                <a:t>rcv_base</a:t>
              </a:r>
              <a:endParaRPr b="0" i="0" sz="1800" u="none" cap="none" strike="noStrike">
                <a:solidFill>
                  <a:srgbClr val="0013A3"/>
                </a:solidFill>
                <a:latin typeface="Calibri"/>
                <a:ea typeface="Calibri"/>
                <a:cs typeface="Calibri"/>
                <a:sym typeface="Calibri"/>
              </a:endParaRPr>
            </a:p>
          </p:txBody>
        </p:sp>
        <p:cxnSp>
          <p:nvCxnSpPr>
            <p:cNvPr id="1956" name="Google Shape;1956;p42"/>
            <p:cNvCxnSpPr/>
            <p:nvPr/>
          </p:nvCxnSpPr>
          <p:spPr>
            <a:xfrm rot="10800000">
              <a:off x="3340100" y="5523122"/>
              <a:ext cx="0" cy="469900"/>
            </a:xfrm>
            <a:prstGeom prst="straightConnector1">
              <a:avLst/>
            </a:prstGeom>
            <a:noFill/>
            <a:ln cap="flat" cmpd="sng" w="22225">
              <a:solidFill>
                <a:schemeClr val="accent1"/>
              </a:solidFill>
              <a:prstDash val="solid"/>
              <a:miter lim="800000"/>
              <a:headEnd len="sm" w="sm" type="none"/>
              <a:tailEnd len="med" w="med" type="triangle"/>
            </a:ln>
          </p:spPr>
        </p:cxnSp>
        <p:grpSp>
          <p:nvGrpSpPr>
            <p:cNvPr id="1957" name="Google Shape;1957;p42"/>
            <p:cNvGrpSpPr/>
            <p:nvPr/>
          </p:nvGrpSpPr>
          <p:grpSpPr>
            <a:xfrm>
              <a:off x="7035081" y="4522877"/>
              <a:ext cx="4061808" cy="1981135"/>
              <a:chOff x="7797081" y="4179977"/>
              <a:chExt cx="4061808" cy="1981135"/>
            </a:xfrm>
          </p:grpSpPr>
          <p:sp>
            <p:nvSpPr>
              <p:cNvPr id="1958" name="Google Shape;1958;p42"/>
              <p:cNvSpPr/>
              <p:nvPr/>
            </p:nvSpPr>
            <p:spPr>
              <a:xfrm>
                <a:off x="7797081" y="4179977"/>
                <a:ext cx="81951" cy="595223"/>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59" name="Google Shape;1959;p42"/>
              <p:cNvSpPr/>
              <p:nvPr/>
            </p:nvSpPr>
            <p:spPr>
              <a:xfrm>
                <a:off x="7797081" y="5565889"/>
                <a:ext cx="81951" cy="595223"/>
              </a:xfrm>
              <a:prstGeom prst="rect">
                <a:avLst/>
              </a:prstGeom>
              <a:solidFill>
                <a:srgbClr val="BFBFBF"/>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60" name="Google Shape;1960;p42"/>
              <p:cNvSpPr txBox="1"/>
              <p:nvPr/>
            </p:nvSpPr>
            <p:spPr>
              <a:xfrm>
                <a:off x="8089900" y="4279900"/>
                <a:ext cx="209454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received and ACKed</a:t>
                </a:r>
                <a:endParaRPr b="0" i="0" sz="1800" u="none" cap="none" strike="noStrike">
                  <a:solidFill>
                    <a:srgbClr val="000000"/>
                  </a:solidFill>
                  <a:latin typeface="Calibri"/>
                  <a:ea typeface="Calibri"/>
                  <a:cs typeface="Calibri"/>
                  <a:sym typeface="Calibri"/>
                </a:endParaRPr>
              </a:p>
            </p:txBody>
          </p:sp>
          <p:sp>
            <p:nvSpPr>
              <p:cNvPr id="1961" name="Google Shape;1961;p42"/>
              <p:cNvSpPr txBox="1"/>
              <p:nvPr/>
            </p:nvSpPr>
            <p:spPr>
              <a:xfrm>
                <a:off x="8115300" y="4965700"/>
                <a:ext cx="37435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Out-of-order: received but not  ACKed</a:t>
                </a:r>
                <a:endParaRPr b="0" i="0" sz="1800" u="none" cap="none" strike="noStrike">
                  <a:solidFill>
                    <a:srgbClr val="000000"/>
                  </a:solidFill>
                  <a:latin typeface="Calibri"/>
                  <a:ea typeface="Calibri"/>
                  <a:cs typeface="Calibri"/>
                  <a:sym typeface="Calibri"/>
                </a:endParaRPr>
              </a:p>
            </p:txBody>
          </p:sp>
          <p:sp>
            <p:nvSpPr>
              <p:cNvPr id="1962" name="Google Shape;1962;p42"/>
              <p:cNvSpPr txBox="1"/>
              <p:nvPr/>
            </p:nvSpPr>
            <p:spPr>
              <a:xfrm>
                <a:off x="8089900" y="5664200"/>
                <a:ext cx="13832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Not received</a:t>
                </a:r>
                <a:endParaRPr/>
              </a:p>
            </p:txBody>
          </p:sp>
        </p:grpSp>
        <p:sp>
          <p:nvSpPr>
            <p:cNvPr id="1963" name="Google Shape;1963;p42"/>
            <p:cNvSpPr txBox="1"/>
            <p:nvPr/>
          </p:nvSpPr>
          <p:spPr>
            <a:xfrm>
              <a:off x="965200" y="4368800"/>
              <a:ext cx="5419817"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Receiver view of sequence number space:</a:t>
              </a:r>
              <a:endParaRPr/>
            </a:p>
          </p:txBody>
        </p:sp>
        <p:sp>
          <p:nvSpPr>
            <p:cNvPr id="1964" name="Google Shape;1964;p42"/>
            <p:cNvSpPr/>
            <p:nvPr/>
          </p:nvSpPr>
          <p:spPr>
            <a:xfrm>
              <a:off x="7043594" y="5225507"/>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65" name="Google Shape;1965;p42"/>
            <p:cNvSpPr/>
            <p:nvPr/>
          </p:nvSpPr>
          <p:spPr>
            <a:xfrm>
              <a:off x="38558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66" name="Google Shape;1966;p42"/>
            <p:cNvSpPr/>
            <p:nvPr/>
          </p:nvSpPr>
          <p:spPr>
            <a:xfrm>
              <a:off x="350029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67" name="Google Shape;1967;p42"/>
            <p:cNvSpPr/>
            <p:nvPr/>
          </p:nvSpPr>
          <p:spPr>
            <a:xfrm>
              <a:off x="3684444" y="4876800"/>
              <a:ext cx="81951" cy="595223"/>
            </a:xfrm>
            <a:prstGeom prst="rect">
              <a:avLst/>
            </a:prstGeom>
            <a:solidFill>
              <a:srgbClr val="DF167A"/>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  </a:t>
              </a:r>
              <a:endParaRPr/>
            </a:p>
          </p:txBody>
        </p:sp>
        <p:sp>
          <p:nvSpPr>
            <p:cNvPr id="1968" name="Google Shape;1968;p42"/>
            <p:cNvSpPr txBox="1"/>
            <p:nvPr/>
          </p:nvSpPr>
          <p:spPr>
            <a:xfrm>
              <a:off x="18923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1969" name="Google Shape;1969;p42"/>
            <p:cNvSpPr txBox="1"/>
            <p:nvPr/>
          </p:nvSpPr>
          <p:spPr>
            <a:xfrm>
              <a:off x="4876800" y="5105400"/>
              <a:ext cx="43313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0" i="0" lang="en-US" sz="2800" u="none" cap="none" strike="noStrike">
                  <a:solidFill>
                    <a:srgbClr val="000000"/>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3"/>
                                        </p:tgtEl>
                                        <p:attrNameLst>
                                          <p:attrName>style.visibility</p:attrName>
                                        </p:attrNameLst>
                                      </p:cBhvr>
                                      <p:to>
                                        <p:strVal val="visible"/>
                                      </p:to>
                                    </p:set>
                                    <p:animEffect filter="fade" transition="in">
                                      <p:cBhvr>
                                        <p:cTn dur="500"/>
                                        <p:tgtEl>
                                          <p:spTgt spid="19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4" name="Shape 1974"/>
        <p:cNvGrpSpPr/>
        <p:nvPr/>
      </p:nvGrpSpPr>
      <p:grpSpPr>
        <a:xfrm>
          <a:off x="0" y="0"/>
          <a:ext cx="0" cy="0"/>
          <a:chOff x="0" y="0"/>
          <a:chExt cx="0" cy="0"/>
        </a:xfrm>
      </p:grpSpPr>
      <p:sp>
        <p:nvSpPr>
          <p:cNvPr id="1975" name="Google Shape;1975;p43"/>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in action</a:t>
            </a:r>
            <a:endParaRPr sz="4400"/>
          </a:p>
        </p:txBody>
      </p:sp>
      <p:sp>
        <p:nvSpPr>
          <p:cNvPr id="1976" name="Google Shape;1976;p43"/>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1977" name="Google Shape;1977;p43"/>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1978" name="Google Shape;1978;p43"/>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1979" name="Google Shape;1979;p43"/>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1980" name="Google Shape;1980;p43"/>
          <p:cNvSpPr txBox="1"/>
          <p:nvPr/>
        </p:nvSpPr>
        <p:spPr>
          <a:xfrm>
            <a:off x="8139112" y="1973262"/>
            <a:ext cx="2568575" cy="14652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1981" name="Google Shape;1981;p43"/>
          <p:cNvSpPr txBox="1"/>
          <p:nvPr/>
        </p:nvSpPr>
        <p:spPr>
          <a:xfrm>
            <a:off x="4775200" y="4713287"/>
            <a:ext cx="1246187" cy="1082675"/>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pkt4</a:t>
            </a:r>
            <a:endParaRPr/>
          </a:p>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pkt5</a:t>
            </a:r>
            <a:endParaRPr/>
          </a:p>
        </p:txBody>
      </p:sp>
      <p:cxnSp>
        <p:nvCxnSpPr>
          <p:cNvPr id="1982" name="Google Shape;1982;p43"/>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1983" name="Google Shape;1983;p43"/>
          <p:cNvGrpSpPr/>
          <p:nvPr/>
        </p:nvGrpSpPr>
        <p:grpSpPr>
          <a:xfrm>
            <a:off x="6059487" y="1725612"/>
            <a:ext cx="2122488" cy="1292225"/>
            <a:chOff x="6059487" y="1725612"/>
            <a:chExt cx="2122488" cy="1292225"/>
          </a:xfrm>
        </p:grpSpPr>
        <p:cxnSp>
          <p:nvCxnSpPr>
            <p:cNvPr id="1984" name="Google Shape;1984;p43"/>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1985" name="Google Shape;1985;p43"/>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1986" name="Google Shape;1986;p43"/>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1987" name="Google Shape;1987;p43"/>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1988" name="Google Shape;1988;p43"/>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1989" name="Google Shape;1989;p43"/>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1990" name="Google Shape;1990;p43"/>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1991" name="Google Shape;1991;p43"/>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1992" name="Google Shape;1992;p43"/>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1993" name="Google Shape;1993;p43"/>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1994" name="Google Shape;1994;p43"/>
          <p:cNvGrpSpPr/>
          <p:nvPr/>
        </p:nvGrpSpPr>
        <p:grpSpPr>
          <a:xfrm>
            <a:off x="4081462" y="2254250"/>
            <a:ext cx="1978025" cy="2543175"/>
            <a:chOff x="4081462" y="2254250"/>
            <a:chExt cx="1978025" cy="2543175"/>
          </a:xfrm>
        </p:grpSpPr>
        <p:pic>
          <p:nvPicPr>
            <p:cNvPr descr="alarm_clock_ringing" id="1995" name="Google Shape;1995;p43"/>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1996" name="Google Shape;1996;p43"/>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1997" name="Google Shape;1997;p43"/>
            <p:cNvGrpSpPr/>
            <p:nvPr/>
          </p:nvGrpSpPr>
          <p:grpSpPr>
            <a:xfrm>
              <a:off x="5956300" y="2254250"/>
              <a:ext cx="103187" cy="2462212"/>
              <a:chOff x="3651" y="1878"/>
              <a:chExt cx="78" cy="963"/>
            </a:xfrm>
          </p:grpSpPr>
          <p:cxnSp>
            <p:nvCxnSpPr>
              <p:cNvPr id="1998" name="Google Shape;1998;p43"/>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1999" name="Google Shape;1999;p43"/>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2000" name="Google Shape;2000;p43"/>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grpSp>
        <p:nvGrpSpPr>
          <p:cNvPr id="2001" name="Google Shape;2001;p43"/>
          <p:cNvGrpSpPr/>
          <p:nvPr/>
        </p:nvGrpSpPr>
        <p:grpSpPr>
          <a:xfrm>
            <a:off x="6061075" y="4884737"/>
            <a:ext cx="2114550" cy="1179513"/>
            <a:chOff x="6061075" y="4884737"/>
            <a:chExt cx="2114550" cy="1179513"/>
          </a:xfrm>
        </p:grpSpPr>
        <p:cxnSp>
          <p:nvCxnSpPr>
            <p:cNvPr id="2002" name="Google Shape;2002;p43"/>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cxnSp>
          <p:nvCxnSpPr>
            <p:cNvPr id="2003" name="Google Shape;2003;p43"/>
            <p:cNvCxnSpPr/>
            <p:nvPr/>
          </p:nvCxnSpPr>
          <p:spPr>
            <a:xfrm>
              <a:off x="6067425" y="51292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2004" name="Google Shape;2004;p43"/>
            <p:cNvCxnSpPr/>
            <p:nvPr/>
          </p:nvCxnSpPr>
          <p:spPr>
            <a:xfrm>
              <a:off x="6061075" y="5362575"/>
              <a:ext cx="2101850" cy="468312"/>
            </a:xfrm>
            <a:prstGeom prst="straightConnector1">
              <a:avLst/>
            </a:prstGeom>
            <a:noFill/>
            <a:ln cap="flat" cmpd="sng" w="28575">
              <a:solidFill>
                <a:srgbClr val="000099"/>
              </a:solidFill>
              <a:prstDash val="solid"/>
              <a:round/>
              <a:headEnd len="med" w="med" type="none"/>
              <a:tailEnd len="med" w="med" type="triangle"/>
            </a:ln>
          </p:spPr>
        </p:cxnSp>
        <p:cxnSp>
          <p:nvCxnSpPr>
            <p:cNvPr id="2005" name="Google Shape;2005;p43"/>
            <p:cNvCxnSpPr/>
            <p:nvPr/>
          </p:nvCxnSpPr>
          <p:spPr>
            <a:xfrm>
              <a:off x="6064250" y="5595937"/>
              <a:ext cx="2100262" cy="468313"/>
            </a:xfrm>
            <a:prstGeom prst="straightConnector1">
              <a:avLst/>
            </a:prstGeom>
            <a:noFill/>
            <a:ln cap="flat" cmpd="sng" w="28575">
              <a:solidFill>
                <a:srgbClr val="000099"/>
              </a:solidFill>
              <a:prstDash val="solid"/>
              <a:round/>
              <a:headEnd len="med" w="med" type="none"/>
              <a:tailEnd len="med" w="med" type="triangle"/>
            </a:ln>
          </p:spPr>
        </p:cxnSp>
      </p:grpSp>
      <p:sp>
        <p:nvSpPr>
          <p:cNvPr id="2006" name="Google Shape;2006;p43"/>
          <p:cNvSpPr txBox="1"/>
          <p:nvPr/>
        </p:nvSpPr>
        <p:spPr>
          <a:xfrm>
            <a:off x="8135937" y="34972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007" name="Google Shape;2007;p43"/>
          <p:cNvSpPr txBox="1"/>
          <p:nvPr/>
        </p:nvSpPr>
        <p:spPr>
          <a:xfrm>
            <a:off x="8154987" y="4017962"/>
            <a:ext cx="241300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discard,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(re)send ack1</a:t>
            </a:r>
            <a:endParaRPr/>
          </a:p>
        </p:txBody>
      </p:sp>
      <p:sp>
        <p:nvSpPr>
          <p:cNvPr id="2008" name="Google Shape;2008;p43"/>
          <p:cNvSpPr txBox="1"/>
          <p:nvPr/>
        </p:nvSpPr>
        <p:spPr>
          <a:xfrm>
            <a:off x="8166100" y="5172075"/>
            <a:ext cx="2965450" cy="10826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deliver, send ack2</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pkt3, deliver, send ack3</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pkt4, deliver, send ack4</a:t>
            </a:r>
            <a:endParaRPr/>
          </a:p>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pkt5, deliver, send ack5</a:t>
            </a:r>
            <a:endParaRPr/>
          </a:p>
        </p:txBody>
      </p:sp>
      <p:sp>
        <p:nvSpPr>
          <p:cNvPr id="2009" name="Google Shape;2009;p43"/>
          <p:cNvSpPr txBox="1"/>
          <p:nvPr/>
        </p:nvSpPr>
        <p:spPr>
          <a:xfrm>
            <a:off x="4217987" y="4000500"/>
            <a:ext cx="181133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ignore duplicate ACK</a:t>
            </a:r>
            <a:endParaRPr/>
          </a:p>
        </p:txBody>
      </p:sp>
      <p:sp>
        <p:nvSpPr>
          <p:cNvPr id="2010" name="Google Shape;2010;p43"/>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2011" name="Google Shape;2011;p43"/>
          <p:cNvGrpSpPr/>
          <p:nvPr/>
        </p:nvGrpSpPr>
        <p:grpSpPr>
          <a:xfrm>
            <a:off x="2317750" y="1570037"/>
            <a:ext cx="1520825" cy="1150938"/>
            <a:chOff x="2317750" y="1570037"/>
            <a:chExt cx="1520825" cy="1150938"/>
          </a:xfrm>
        </p:grpSpPr>
        <p:grpSp>
          <p:nvGrpSpPr>
            <p:cNvPr id="2012" name="Google Shape;2012;p43"/>
            <p:cNvGrpSpPr/>
            <p:nvPr/>
          </p:nvGrpSpPr>
          <p:grpSpPr>
            <a:xfrm>
              <a:off x="2320925" y="1570037"/>
              <a:ext cx="1512887" cy="304800"/>
              <a:chOff x="115" y="914"/>
              <a:chExt cx="953" cy="192"/>
            </a:xfrm>
          </p:grpSpPr>
          <p:sp>
            <p:nvSpPr>
              <p:cNvPr id="2013" name="Google Shape;2013;p43"/>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4" name="Google Shape;2014;p43"/>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015" name="Google Shape;2015;p43"/>
            <p:cNvGrpSpPr/>
            <p:nvPr/>
          </p:nvGrpSpPr>
          <p:grpSpPr>
            <a:xfrm>
              <a:off x="2317750" y="1855787"/>
              <a:ext cx="1512887" cy="304800"/>
              <a:chOff x="115" y="914"/>
              <a:chExt cx="953" cy="192"/>
            </a:xfrm>
          </p:grpSpPr>
          <p:sp>
            <p:nvSpPr>
              <p:cNvPr id="2016" name="Google Shape;2016;p43"/>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17" name="Google Shape;2017;p43"/>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018" name="Google Shape;2018;p43"/>
            <p:cNvGrpSpPr/>
            <p:nvPr/>
          </p:nvGrpSpPr>
          <p:grpSpPr>
            <a:xfrm>
              <a:off x="2325687" y="2141537"/>
              <a:ext cx="1512888" cy="304800"/>
              <a:chOff x="115" y="914"/>
              <a:chExt cx="953" cy="192"/>
            </a:xfrm>
          </p:grpSpPr>
          <p:sp>
            <p:nvSpPr>
              <p:cNvPr id="2019" name="Google Shape;2019;p43"/>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0" name="Google Shape;2020;p43"/>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021" name="Google Shape;2021;p43"/>
            <p:cNvGrpSpPr/>
            <p:nvPr/>
          </p:nvGrpSpPr>
          <p:grpSpPr>
            <a:xfrm>
              <a:off x="2322512" y="2416175"/>
              <a:ext cx="1512888" cy="304800"/>
              <a:chOff x="115" y="914"/>
              <a:chExt cx="953" cy="192"/>
            </a:xfrm>
          </p:grpSpPr>
          <p:sp>
            <p:nvSpPr>
              <p:cNvPr id="2022" name="Google Shape;2022;p43"/>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23" name="Google Shape;2023;p43"/>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2024" name="Google Shape;2024;p43"/>
          <p:cNvGrpSpPr/>
          <p:nvPr/>
        </p:nvGrpSpPr>
        <p:grpSpPr>
          <a:xfrm>
            <a:off x="2319337" y="3135312"/>
            <a:ext cx="3749675" cy="369332"/>
            <a:chOff x="2319337" y="3135312"/>
            <a:chExt cx="3749675" cy="369332"/>
          </a:xfrm>
        </p:grpSpPr>
        <p:sp>
          <p:nvSpPr>
            <p:cNvPr id="2025" name="Google Shape;2025;p43"/>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026" name="Google Shape;2026;p43"/>
            <p:cNvGrpSpPr/>
            <p:nvPr/>
          </p:nvGrpSpPr>
          <p:grpSpPr>
            <a:xfrm>
              <a:off x="2319337" y="3135312"/>
              <a:ext cx="3749675" cy="369332"/>
              <a:chOff x="2319337" y="3135312"/>
              <a:chExt cx="3749675" cy="369332"/>
            </a:xfrm>
          </p:grpSpPr>
          <p:sp>
            <p:nvSpPr>
              <p:cNvPr id="2027" name="Google Shape;2027;p43"/>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2028" name="Google Shape;2028;p43"/>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2029" name="Google Shape;2029;p43"/>
          <p:cNvGrpSpPr/>
          <p:nvPr/>
        </p:nvGrpSpPr>
        <p:grpSpPr>
          <a:xfrm>
            <a:off x="2305050" y="4754562"/>
            <a:ext cx="1520825" cy="1050925"/>
            <a:chOff x="2305050" y="4754562"/>
            <a:chExt cx="1520825" cy="1050925"/>
          </a:xfrm>
        </p:grpSpPr>
        <p:grpSp>
          <p:nvGrpSpPr>
            <p:cNvPr id="2030" name="Google Shape;2030;p43"/>
            <p:cNvGrpSpPr/>
            <p:nvPr/>
          </p:nvGrpSpPr>
          <p:grpSpPr>
            <a:xfrm>
              <a:off x="2305050" y="4754562"/>
              <a:ext cx="1512887" cy="304800"/>
              <a:chOff x="112" y="2105"/>
              <a:chExt cx="953" cy="192"/>
            </a:xfrm>
          </p:grpSpPr>
          <p:sp>
            <p:nvSpPr>
              <p:cNvPr id="2031" name="Google Shape;2031;p43"/>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32" name="Google Shape;2032;p43"/>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033" name="Google Shape;2033;p43"/>
            <p:cNvGrpSpPr/>
            <p:nvPr/>
          </p:nvGrpSpPr>
          <p:grpSpPr>
            <a:xfrm>
              <a:off x="2312987" y="4995862"/>
              <a:ext cx="1512888" cy="304800"/>
              <a:chOff x="112" y="2105"/>
              <a:chExt cx="953" cy="192"/>
            </a:xfrm>
          </p:grpSpPr>
          <p:sp>
            <p:nvSpPr>
              <p:cNvPr id="2034" name="Google Shape;2034;p43"/>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35" name="Google Shape;2035;p43"/>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036" name="Google Shape;2036;p43"/>
            <p:cNvGrpSpPr/>
            <p:nvPr/>
          </p:nvGrpSpPr>
          <p:grpSpPr>
            <a:xfrm>
              <a:off x="2309812" y="5259387"/>
              <a:ext cx="1512888" cy="304800"/>
              <a:chOff x="112" y="2105"/>
              <a:chExt cx="953" cy="192"/>
            </a:xfrm>
          </p:grpSpPr>
          <p:sp>
            <p:nvSpPr>
              <p:cNvPr id="2037" name="Google Shape;2037;p43"/>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38" name="Google Shape;2038;p43"/>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039" name="Google Shape;2039;p43"/>
            <p:cNvGrpSpPr/>
            <p:nvPr/>
          </p:nvGrpSpPr>
          <p:grpSpPr>
            <a:xfrm>
              <a:off x="2306637" y="5500687"/>
              <a:ext cx="1512888" cy="304800"/>
              <a:chOff x="112" y="2105"/>
              <a:chExt cx="953" cy="192"/>
            </a:xfrm>
          </p:grpSpPr>
          <p:sp>
            <p:nvSpPr>
              <p:cNvPr id="2040" name="Google Shape;2040;p43"/>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41" name="Google Shape;2041;p43"/>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2042" name="Google Shape;2042;p43"/>
          <p:cNvGrpSpPr/>
          <p:nvPr/>
        </p:nvGrpSpPr>
        <p:grpSpPr>
          <a:xfrm>
            <a:off x="7129462" y="3876675"/>
            <a:ext cx="1039813" cy="873125"/>
            <a:chOff x="7129462" y="3876675"/>
            <a:chExt cx="1039813" cy="873125"/>
          </a:xfrm>
        </p:grpSpPr>
        <p:cxnSp>
          <p:nvCxnSpPr>
            <p:cNvPr id="2043" name="Google Shape;2043;p43"/>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2044" name="Google Shape;2044;p43"/>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2045" name="Google Shape;2045;p43"/>
          <p:cNvGrpSpPr/>
          <p:nvPr/>
        </p:nvGrpSpPr>
        <p:grpSpPr>
          <a:xfrm>
            <a:off x="7108825" y="5376862"/>
            <a:ext cx="1081087" cy="1303338"/>
            <a:chOff x="7083425" y="5376862"/>
            <a:chExt cx="1081087" cy="1303338"/>
          </a:xfrm>
        </p:grpSpPr>
        <p:cxnSp>
          <p:nvCxnSpPr>
            <p:cNvPr id="2046" name="Google Shape;2046;p43"/>
            <p:cNvCxnSpPr/>
            <p:nvPr/>
          </p:nvCxnSpPr>
          <p:spPr>
            <a:xfrm flipH="1">
              <a:off x="7131050" y="5376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2047" name="Google Shape;2047;p43"/>
            <p:cNvCxnSpPr/>
            <p:nvPr/>
          </p:nvCxnSpPr>
          <p:spPr>
            <a:xfrm flipH="1">
              <a:off x="7115175" y="5630862"/>
              <a:ext cx="1033462" cy="563563"/>
            </a:xfrm>
            <a:prstGeom prst="straightConnector1">
              <a:avLst/>
            </a:prstGeom>
            <a:noFill/>
            <a:ln cap="flat" cmpd="sng" w="28575">
              <a:solidFill>
                <a:srgbClr val="008000"/>
              </a:solidFill>
              <a:prstDash val="solid"/>
              <a:round/>
              <a:headEnd len="med" w="med" type="none"/>
              <a:tailEnd len="med" w="med" type="triangle"/>
            </a:ln>
          </p:spPr>
        </p:cxnSp>
        <p:cxnSp>
          <p:nvCxnSpPr>
            <p:cNvPr id="2048" name="Google Shape;2048;p43"/>
            <p:cNvCxnSpPr/>
            <p:nvPr/>
          </p:nvCxnSpPr>
          <p:spPr>
            <a:xfrm flipH="1">
              <a:off x="7099300" y="5873750"/>
              <a:ext cx="1033462" cy="563562"/>
            </a:xfrm>
            <a:prstGeom prst="straightConnector1">
              <a:avLst/>
            </a:prstGeom>
            <a:noFill/>
            <a:ln cap="flat" cmpd="sng" w="28575">
              <a:solidFill>
                <a:srgbClr val="008000"/>
              </a:solidFill>
              <a:prstDash val="solid"/>
              <a:round/>
              <a:headEnd len="med" w="med" type="none"/>
              <a:tailEnd len="med" w="med" type="triangle"/>
            </a:ln>
          </p:spPr>
        </p:cxnSp>
        <p:cxnSp>
          <p:nvCxnSpPr>
            <p:cNvPr id="2049" name="Google Shape;2049;p43"/>
            <p:cNvCxnSpPr/>
            <p:nvPr/>
          </p:nvCxnSpPr>
          <p:spPr>
            <a:xfrm flipH="1">
              <a:off x="7083425" y="6116637"/>
              <a:ext cx="1033462" cy="563563"/>
            </a:xfrm>
            <a:prstGeom prst="straightConnector1">
              <a:avLst/>
            </a:prstGeom>
            <a:noFill/>
            <a:ln cap="flat" cmpd="sng" w="28575">
              <a:solidFill>
                <a:srgbClr val="008000"/>
              </a:solidFill>
              <a:prstDash val="solid"/>
              <a:round/>
              <a:headEnd len="med" w="med" type="none"/>
              <a:tailEnd len="med" w="med" type="triangle"/>
            </a:ln>
          </p:spPr>
        </p:cxnSp>
      </p:grpSp>
      <p:grpSp>
        <p:nvGrpSpPr>
          <p:cNvPr id="2050" name="Google Shape;2050;p43"/>
          <p:cNvGrpSpPr/>
          <p:nvPr/>
        </p:nvGrpSpPr>
        <p:grpSpPr>
          <a:xfrm>
            <a:off x="2316162" y="3452813"/>
            <a:ext cx="3752850" cy="369332"/>
            <a:chOff x="2316162" y="3452813"/>
            <a:chExt cx="3752850" cy="369332"/>
          </a:xfrm>
        </p:grpSpPr>
        <p:grpSp>
          <p:nvGrpSpPr>
            <p:cNvPr id="2051" name="Google Shape;2051;p43"/>
            <p:cNvGrpSpPr/>
            <p:nvPr/>
          </p:nvGrpSpPr>
          <p:grpSpPr>
            <a:xfrm>
              <a:off x="2316162" y="3460750"/>
              <a:ext cx="1512888" cy="304800"/>
              <a:chOff x="112" y="2105"/>
              <a:chExt cx="953" cy="192"/>
            </a:xfrm>
          </p:grpSpPr>
          <p:sp>
            <p:nvSpPr>
              <p:cNvPr id="2052" name="Google Shape;2052;p43"/>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053" name="Google Shape;2053;p43"/>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2054" name="Google Shape;2054;p43"/>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2055" name="Google Shape;2055;p43"/>
          <p:cNvCxnSpPr/>
          <p:nvPr/>
        </p:nvCxnSpPr>
        <p:spPr>
          <a:xfrm>
            <a:off x="6037262" y="1612900"/>
            <a:ext cx="11113" cy="4538662"/>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1"/>
                                        </p:tgtEl>
                                        <p:attrNameLst>
                                          <p:attrName>style.visibility</p:attrName>
                                        </p:attrNameLst>
                                      </p:cBhvr>
                                      <p:to>
                                        <p:strVal val="visible"/>
                                      </p:to>
                                    </p:set>
                                    <p:animEffect filter="fade" transition="in">
                                      <p:cBhvr>
                                        <p:cTn dur="500"/>
                                        <p:tgtEl>
                                          <p:spTgt spid="201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76"/>
                                        </p:tgtEl>
                                        <p:attrNameLst>
                                          <p:attrName>style.visibility</p:attrName>
                                        </p:attrNameLst>
                                      </p:cBhvr>
                                      <p:to>
                                        <p:strVal val="visible"/>
                                      </p:to>
                                    </p:set>
                                    <p:animEffect filter="fade" transition="in">
                                      <p:cBhvr>
                                        <p:cTn dur="500"/>
                                        <p:tgtEl>
                                          <p:spTgt spid="19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83"/>
                                        </p:tgtEl>
                                        <p:attrNameLst>
                                          <p:attrName>style.visibility</p:attrName>
                                        </p:attrNameLst>
                                      </p:cBhvr>
                                      <p:to>
                                        <p:strVal val="visible"/>
                                      </p:to>
                                    </p:set>
                                    <p:animEffect filter="fade" transition="in">
                                      <p:cBhvr>
                                        <p:cTn dur="500"/>
                                        <p:tgtEl>
                                          <p:spTgt spid="1983"/>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980"/>
                                        </p:tgtEl>
                                        <p:attrNameLst>
                                          <p:attrName>style.visibility</p:attrName>
                                        </p:attrNameLst>
                                      </p:cBhvr>
                                      <p:to>
                                        <p:strVal val="visible"/>
                                      </p:to>
                                    </p:set>
                                    <p:animEffect filter="fade" transition="in">
                                      <p:cBhvr>
                                        <p:cTn dur="500"/>
                                        <p:tgtEl>
                                          <p:spTgt spid="1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2"/>
                                        </p:tgtEl>
                                        <p:attrNameLst>
                                          <p:attrName>style.visibility</p:attrName>
                                        </p:attrNameLst>
                                      </p:cBhvr>
                                      <p:to>
                                        <p:strVal val="visible"/>
                                      </p:to>
                                    </p:set>
                                    <p:animEffect filter="fade" transition="in">
                                      <p:cBhvr>
                                        <p:cTn dur="500"/>
                                        <p:tgtEl>
                                          <p:spTgt spid="1982"/>
                                        </p:tgtEl>
                                      </p:cBhvr>
                                    </p:animEffect>
                                  </p:childTnLst>
                                </p:cTn>
                              </p:par>
                              <p:par>
                                <p:cTn fill="hold" nodeType="withEffect" presetClass="entr" presetID="10" presetSubtype="0">
                                  <p:stCondLst>
                                    <p:cond delay="0"/>
                                  </p:stCondLst>
                                  <p:childTnLst>
                                    <p:set>
                                      <p:cBhvr>
                                        <p:cTn dur="1" fill="hold">
                                          <p:stCondLst>
                                            <p:cond delay="0"/>
                                          </p:stCondLst>
                                        </p:cTn>
                                        <p:tgtEl>
                                          <p:spTgt spid="1990"/>
                                        </p:tgtEl>
                                        <p:attrNameLst>
                                          <p:attrName>style.visibility</p:attrName>
                                        </p:attrNameLst>
                                      </p:cBhvr>
                                      <p:to>
                                        <p:strVal val="visible"/>
                                      </p:to>
                                    </p:set>
                                    <p:animEffect filter="fade" transition="in">
                                      <p:cBhvr>
                                        <p:cTn dur="500"/>
                                        <p:tgtEl>
                                          <p:spTgt spid="1990"/>
                                        </p:tgtEl>
                                      </p:cBhvr>
                                    </p:animEffect>
                                  </p:childTnLst>
                                </p:cTn>
                              </p:par>
                              <p:par>
                                <p:cTn fill="hold" nodeType="withEffect" presetClass="entr" presetID="10" presetSubtype="0">
                                  <p:stCondLst>
                                    <p:cond delay="0"/>
                                  </p:stCondLst>
                                  <p:childTnLst>
                                    <p:set>
                                      <p:cBhvr>
                                        <p:cTn dur="1" fill="hold">
                                          <p:stCondLst>
                                            <p:cond delay="0"/>
                                          </p:stCondLst>
                                        </p:cTn>
                                        <p:tgtEl>
                                          <p:spTgt spid="1993"/>
                                        </p:tgtEl>
                                        <p:attrNameLst>
                                          <p:attrName>style.visibility</p:attrName>
                                        </p:attrNameLst>
                                      </p:cBhvr>
                                      <p:to>
                                        <p:strVal val="visible"/>
                                      </p:to>
                                    </p:set>
                                    <p:animEffect filter="fade" transition="in">
                                      <p:cBhvr>
                                        <p:cTn dur="500"/>
                                        <p:tgtEl>
                                          <p:spTgt spid="19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gtEl>
                                        <p:attrNameLst>
                                          <p:attrName>style.visibility</p:attrName>
                                        </p:attrNameLst>
                                      </p:cBhvr>
                                      <p:to>
                                        <p:strVal val="visible"/>
                                      </p:to>
                                    </p:set>
                                    <p:animEffect filter="fade" transition="in">
                                      <p:cBhvr>
                                        <p:cTn dur="500"/>
                                        <p:tgtEl>
                                          <p:spTgt spid="202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91"/>
                                        </p:tgtEl>
                                        <p:attrNameLst>
                                          <p:attrName>style.visibility</p:attrName>
                                        </p:attrNameLst>
                                      </p:cBhvr>
                                      <p:to>
                                        <p:strVal val="visible"/>
                                      </p:to>
                                    </p:set>
                                    <p:animEffect filter="fade" transition="in">
                                      <p:cBhvr>
                                        <p:cTn dur="500"/>
                                        <p:tgtEl>
                                          <p:spTgt spid="19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06"/>
                                        </p:tgtEl>
                                        <p:attrNameLst>
                                          <p:attrName>style.visibility</p:attrName>
                                        </p:attrNameLst>
                                      </p:cBhvr>
                                      <p:to>
                                        <p:strVal val="visible"/>
                                      </p:to>
                                    </p:set>
                                    <p:animEffect filter="fade" transition="in">
                                      <p:cBhvr>
                                        <p:cTn dur="500"/>
                                        <p:tgtEl>
                                          <p:spTgt spid="20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0"/>
                                        </p:tgtEl>
                                        <p:attrNameLst>
                                          <p:attrName>style.visibility</p:attrName>
                                        </p:attrNameLst>
                                      </p:cBhvr>
                                      <p:to>
                                        <p:strVal val="visible"/>
                                      </p:to>
                                    </p:set>
                                    <p:animEffect filter="fade" transition="in">
                                      <p:cBhvr>
                                        <p:cTn dur="500"/>
                                        <p:tgtEl>
                                          <p:spTgt spid="205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92"/>
                                        </p:tgtEl>
                                        <p:attrNameLst>
                                          <p:attrName>style.visibility</p:attrName>
                                        </p:attrNameLst>
                                      </p:cBhvr>
                                      <p:to>
                                        <p:strVal val="visible"/>
                                      </p:to>
                                    </p:set>
                                    <p:animEffect filter="fade" transition="in">
                                      <p:cBhvr>
                                        <p:cTn dur="500"/>
                                        <p:tgtEl>
                                          <p:spTgt spid="19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07"/>
                                        </p:tgtEl>
                                        <p:attrNameLst>
                                          <p:attrName>style.visibility</p:attrName>
                                        </p:attrNameLst>
                                      </p:cBhvr>
                                      <p:to>
                                        <p:strVal val="visible"/>
                                      </p:to>
                                    </p:set>
                                    <p:animEffect filter="fade" transition="in">
                                      <p:cBhvr>
                                        <p:cTn dur="500"/>
                                        <p:tgtEl>
                                          <p:spTgt spid="20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9"/>
                                        </p:tgtEl>
                                        <p:attrNameLst>
                                          <p:attrName>style.visibility</p:attrName>
                                        </p:attrNameLst>
                                      </p:cBhvr>
                                      <p:to>
                                        <p:strVal val="visible"/>
                                      </p:to>
                                    </p:set>
                                    <p:animEffect filter="fade" transition="in">
                                      <p:cBhvr>
                                        <p:cTn dur="500"/>
                                        <p:tgtEl>
                                          <p:spTgt spid="20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2"/>
                                        </p:tgtEl>
                                        <p:attrNameLst>
                                          <p:attrName>style.visibility</p:attrName>
                                        </p:attrNameLst>
                                      </p:cBhvr>
                                      <p:to>
                                        <p:strVal val="visible"/>
                                      </p:to>
                                    </p:set>
                                    <p:animEffect filter="fade" transition="in">
                                      <p:cBhvr>
                                        <p:cTn dur="500"/>
                                        <p:tgtEl>
                                          <p:spTgt spid="20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4"/>
                                        </p:tgtEl>
                                        <p:attrNameLst>
                                          <p:attrName>style.visibility</p:attrName>
                                        </p:attrNameLst>
                                      </p:cBhvr>
                                      <p:to>
                                        <p:strVal val="visible"/>
                                      </p:to>
                                    </p:set>
                                    <p:animEffect filter="fade" transition="in">
                                      <p:cBhvr>
                                        <p:cTn dur="500"/>
                                        <p:tgtEl>
                                          <p:spTgt spid="19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500"/>
                                        <p:tgtEl>
                                          <p:spTgt spid="202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981"/>
                                        </p:tgtEl>
                                        <p:attrNameLst>
                                          <p:attrName>style.visibility</p:attrName>
                                        </p:attrNameLst>
                                      </p:cBhvr>
                                      <p:to>
                                        <p:strVal val="visible"/>
                                      </p:to>
                                    </p:set>
                                    <p:animEffect filter="fade" transition="in">
                                      <p:cBhvr>
                                        <p:cTn dur="500"/>
                                        <p:tgtEl>
                                          <p:spTgt spid="19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01"/>
                                        </p:tgtEl>
                                        <p:attrNameLst>
                                          <p:attrName>style.visibility</p:attrName>
                                        </p:attrNameLst>
                                      </p:cBhvr>
                                      <p:to>
                                        <p:strVal val="visible"/>
                                      </p:to>
                                    </p:set>
                                    <p:animEffect filter="fade" transition="in">
                                      <p:cBhvr>
                                        <p:cTn dur="500"/>
                                        <p:tgtEl>
                                          <p:spTgt spid="200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008"/>
                                        </p:tgtEl>
                                        <p:attrNameLst>
                                          <p:attrName>style.visibility</p:attrName>
                                        </p:attrNameLst>
                                      </p:cBhvr>
                                      <p:to>
                                        <p:strVal val="visible"/>
                                      </p:to>
                                    </p:set>
                                    <p:animEffect filter="fade" transition="in">
                                      <p:cBhvr>
                                        <p:cTn dur="500"/>
                                        <p:tgtEl>
                                          <p:spTgt spid="200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45"/>
                                        </p:tgtEl>
                                        <p:attrNameLst>
                                          <p:attrName>style.visibility</p:attrName>
                                        </p:attrNameLst>
                                      </p:cBhvr>
                                      <p:to>
                                        <p:strVal val="visible"/>
                                      </p:to>
                                    </p:set>
                                    <p:animEffect filter="fade" transition="in">
                                      <p:cBhvr>
                                        <p:cTn dur="500"/>
                                        <p:tgtEl>
                                          <p:spTgt spid="20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0" name="Shape 2060"/>
        <p:cNvGrpSpPr/>
        <p:nvPr/>
      </p:nvGrpSpPr>
      <p:grpSpPr>
        <a:xfrm>
          <a:off x="0" y="0"/>
          <a:ext cx="0" cy="0"/>
          <a:chOff x="0" y="0"/>
          <a:chExt cx="0" cy="0"/>
        </a:xfrm>
      </p:grpSpPr>
      <p:sp>
        <p:nvSpPr>
          <p:cNvPr id="2061" name="Google Shape;2061;p44"/>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a:t>
            </a:r>
            <a:endParaRPr sz="4400"/>
          </a:p>
        </p:txBody>
      </p:sp>
      <p:sp>
        <p:nvSpPr>
          <p:cNvPr id="2062" name="Google Shape;2062;p44"/>
          <p:cNvSpPr txBox="1"/>
          <p:nvPr/>
        </p:nvSpPr>
        <p:spPr>
          <a:xfrm>
            <a:off x="733374" y="1489418"/>
            <a:ext cx="11100624"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receiver </a:t>
            </a:r>
            <a:r>
              <a:rPr b="0" i="1" lang="en-US" sz="3200" u="none" cap="none" strike="noStrike">
                <a:solidFill>
                  <a:srgbClr val="C00000"/>
                </a:solidFill>
                <a:latin typeface="Calibri"/>
                <a:ea typeface="Calibri"/>
                <a:cs typeface="Calibri"/>
                <a:sym typeface="Calibri"/>
              </a:rPr>
              <a:t>individually</a:t>
            </a:r>
            <a:r>
              <a:rPr b="0" i="0" lang="en-US" sz="3200" u="none" cap="none" strike="noStrike">
                <a:solidFill>
                  <a:srgbClr val="000000"/>
                </a:solidFill>
                <a:latin typeface="Calibri"/>
                <a:ea typeface="Calibri"/>
                <a:cs typeface="Calibri"/>
                <a:sym typeface="Calibri"/>
              </a:rPr>
              <a:t> acknowledges all correctly received packets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buffers packets, as needed, for eventual in-order delivery to upper layer</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times-out/retransmits individually for unACKed packets</a:t>
            </a:r>
            <a:endParaRPr/>
          </a:p>
          <a:p>
            <a:pPr indent="-227012" lvl="1" marL="747713" marR="0" rtl="0" algn="l">
              <a:lnSpc>
                <a:spcPct val="90000"/>
              </a:lnSpc>
              <a:spcBef>
                <a:spcPts val="1000"/>
              </a:spcBef>
              <a:spcAft>
                <a:spcPts val="0"/>
              </a:spcAft>
              <a:buClr>
                <a:srgbClr val="0000A3"/>
              </a:buClr>
              <a:buSzPts val="2800"/>
              <a:buFont typeface="Arial"/>
              <a:buChar char="•"/>
            </a:pPr>
            <a:r>
              <a:rPr b="0" i="0" lang="en-US" sz="2800" u="none" cap="none" strike="noStrike">
                <a:solidFill>
                  <a:srgbClr val="000000"/>
                </a:solidFill>
                <a:latin typeface="Calibri"/>
                <a:ea typeface="Calibri"/>
                <a:cs typeface="Calibri"/>
                <a:sym typeface="Calibri"/>
              </a:rPr>
              <a:t>sender maintains timer for each unACKed pkt</a:t>
            </a:r>
            <a:endParaRPr/>
          </a:p>
          <a:p>
            <a:pPr indent="-222250" lvl="0" marL="352425" marR="0" rtl="0" algn="l">
              <a:lnSpc>
                <a:spcPct val="90000"/>
              </a:lnSpc>
              <a:spcBef>
                <a:spcPts val="1000"/>
              </a:spcBef>
              <a:spcAft>
                <a:spcPts val="0"/>
              </a:spcAft>
              <a:buClr>
                <a:srgbClr val="0000A3"/>
              </a:buClr>
              <a:buSzPts val="3200"/>
              <a:buFont typeface="Noto Sans Symbols"/>
              <a:buChar char="▪"/>
            </a:pPr>
            <a:r>
              <a:rPr b="0" i="0" lang="en-US" sz="3200" u="none" cap="none" strike="noStrike">
                <a:solidFill>
                  <a:srgbClr val="000000"/>
                </a:solidFill>
                <a:latin typeface="Calibri"/>
                <a:ea typeface="Calibri"/>
                <a:cs typeface="Calibri"/>
                <a:sym typeface="Calibri"/>
              </a:rPr>
              <a:t>sender window</a:t>
            </a:r>
            <a:endParaRPr/>
          </a:p>
          <a:p>
            <a:pPr indent="-231775" lvl="1" marL="695325" marR="0" rtl="0" algn="l">
              <a:lnSpc>
                <a:spcPct val="90000"/>
              </a:lnSpc>
              <a:spcBef>
                <a:spcPts val="500"/>
              </a:spcBef>
              <a:spcAft>
                <a:spcPts val="0"/>
              </a:spcAft>
              <a:buClr>
                <a:srgbClr val="0000A8"/>
              </a:buClr>
              <a:buSzPts val="2800"/>
              <a:buFont typeface="Arial"/>
              <a:buChar char="•"/>
            </a:pPr>
            <a:r>
              <a:rPr b="0" i="1" lang="en-US" sz="2800" u="none" cap="none" strike="noStrike">
                <a:solidFill>
                  <a:srgbClr val="000000"/>
                </a:solidFill>
                <a:latin typeface="Calibri"/>
                <a:ea typeface="Calibri"/>
                <a:cs typeface="Calibri"/>
                <a:sym typeface="Calibri"/>
              </a:rPr>
              <a:t>N</a:t>
            </a:r>
            <a:r>
              <a:rPr b="0" i="0" lang="en-US" sz="2800" u="none" cap="none" strike="noStrike">
                <a:solidFill>
                  <a:srgbClr val="000000"/>
                </a:solidFill>
                <a:latin typeface="Calibri"/>
                <a:ea typeface="Calibri"/>
                <a:cs typeface="Calibri"/>
                <a:sym typeface="Calibri"/>
              </a:rPr>
              <a:t> consecutive seq #s</a:t>
            </a:r>
            <a:endParaRPr/>
          </a:p>
          <a:p>
            <a:pPr indent="-231775" lvl="1" marL="695325" marR="0" rtl="0" algn="l">
              <a:lnSpc>
                <a:spcPct val="90000"/>
              </a:lnSpc>
              <a:spcBef>
                <a:spcPts val="500"/>
              </a:spcBef>
              <a:spcAft>
                <a:spcPts val="0"/>
              </a:spcAft>
              <a:buClr>
                <a:srgbClr val="0000A8"/>
              </a:buClr>
              <a:buSzPts val="2800"/>
              <a:buFont typeface="Arial"/>
              <a:buChar char="•"/>
            </a:pPr>
            <a:r>
              <a:rPr b="0" i="0" lang="en-US" sz="2800" u="none" cap="none" strike="noStrike">
                <a:solidFill>
                  <a:srgbClr val="000000"/>
                </a:solidFill>
                <a:latin typeface="Calibri"/>
                <a:ea typeface="Calibri"/>
                <a:cs typeface="Calibri"/>
                <a:sym typeface="Calibri"/>
              </a:rPr>
              <a:t>limits seq #s of sent, unACKed packets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xEl>
                                              <p:pRg end="0" st="0"/>
                                            </p:txEl>
                                          </p:spTgt>
                                        </p:tgtEl>
                                        <p:attrNameLst>
                                          <p:attrName>style.visibility</p:attrName>
                                        </p:attrNameLst>
                                      </p:cBhvr>
                                      <p:to>
                                        <p:strVal val="visible"/>
                                      </p:to>
                                    </p:set>
                                    <p:animEffect filter="fade" transition="in">
                                      <p:cBhvr>
                                        <p:cTn dur="500"/>
                                        <p:tgtEl>
                                          <p:spTgt spid="20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xEl>
                                              <p:pRg end="1" st="1"/>
                                            </p:txEl>
                                          </p:spTgt>
                                        </p:tgtEl>
                                        <p:attrNameLst>
                                          <p:attrName>style.visibility</p:attrName>
                                        </p:attrNameLst>
                                      </p:cBhvr>
                                      <p:to>
                                        <p:strVal val="visible"/>
                                      </p:to>
                                    </p:set>
                                    <p:animEffect filter="fade" transition="in">
                                      <p:cBhvr>
                                        <p:cTn dur="500"/>
                                        <p:tgtEl>
                                          <p:spTgt spid="20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xEl>
                                              <p:pRg end="2" st="2"/>
                                            </p:txEl>
                                          </p:spTgt>
                                        </p:tgtEl>
                                        <p:attrNameLst>
                                          <p:attrName>style.visibility</p:attrName>
                                        </p:attrNameLst>
                                      </p:cBhvr>
                                      <p:to>
                                        <p:strVal val="visible"/>
                                      </p:to>
                                    </p:set>
                                    <p:animEffect filter="fade" transition="in">
                                      <p:cBhvr>
                                        <p:cTn dur="500"/>
                                        <p:tgtEl>
                                          <p:spTgt spid="20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xEl>
                                              <p:pRg end="3" st="3"/>
                                            </p:txEl>
                                          </p:spTgt>
                                        </p:tgtEl>
                                        <p:attrNameLst>
                                          <p:attrName>style.visibility</p:attrName>
                                        </p:attrNameLst>
                                      </p:cBhvr>
                                      <p:to>
                                        <p:strVal val="visible"/>
                                      </p:to>
                                    </p:set>
                                    <p:animEffect filter="fade" transition="in">
                                      <p:cBhvr>
                                        <p:cTn dur="500"/>
                                        <p:tgtEl>
                                          <p:spTgt spid="20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xEl>
                                              <p:pRg end="4" st="4"/>
                                            </p:txEl>
                                          </p:spTgt>
                                        </p:tgtEl>
                                        <p:attrNameLst>
                                          <p:attrName>style.visibility</p:attrName>
                                        </p:attrNameLst>
                                      </p:cBhvr>
                                      <p:to>
                                        <p:strVal val="visible"/>
                                      </p:to>
                                    </p:set>
                                    <p:animEffect filter="fade" transition="in">
                                      <p:cBhvr>
                                        <p:cTn dur="500"/>
                                        <p:tgtEl>
                                          <p:spTgt spid="20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xEl>
                                              <p:pRg end="5" st="5"/>
                                            </p:txEl>
                                          </p:spTgt>
                                        </p:tgtEl>
                                        <p:attrNameLst>
                                          <p:attrName>style.visibility</p:attrName>
                                        </p:attrNameLst>
                                      </p:cBhvr>
                                      <p:to>
                                        <p:strVal val="visible"/>
                                      </p:to>
                                    </p:set>
                                    <p:animEffect filter="fade" transition="in">
                                      <p:cBhvr>
                                        <p:cTn dur="500"/>
                                        <p:tgtEl>
                                          <p:spTgt spid="20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2">
                                            <p:txEl>
                                              <p:pRg end="6" st="6"/>
                                            </p:txEl>
                                          </p:spTgt>
                                        </p:tgtEl>
                                        <p:attrNameLst>
                                          <p:attrName>style.visibility</p:attrName>
                                        </p:attrNameLst>
                                      </p:cBhvr>
                                      <p:to>
                                        <p:strVal val="visible"/>
                                      </p:to>
                                    </p:set>
                                    <p:animEffect filter="fade" transition="in">
                                      <p:cBhvr>
                                        <p:cTn dur="500"/>
                                        <p:tgtEl>
                                          <p:spTgt spid="206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7" name="Shape 2067"/>
        <p:cNvGrpSpPr/>
        <p:nvPr/>
      </p:nvGrpSpPr>
      <p:grpSpPr>
        <a:xfrm>
          <a:off x="0" y="0"/>
          <a:ext cx="0" cy="0"/>
          <a:chOff x="0" y="0"/>
          <a:chExt cx="0" cy="0"/>
        </a:xfrm>
      </p:grpSpPr>
      <p:sp>
        <p:nvSpPr>
          <p:cNvPr id="2068" name="Google Shape;2068;p45"/>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receiver windows</a:t>
            </a:r>
            <a:endParaRPr sz="4400"/>
          </a:p>
        </p:txBody>
      </p:sp>
      <p:pic>
        <p:nvPicPr>
          <p:cNvPr descr="sr_seqnum" id="2069" name="Google Shape;2069;p45"/>
          <p:cNvPicPr preferRelativeResize="0"/>
          <p:nvPr/>
        </p:nvPicPr>
        <p:blipFill rotWithShape="1">
          <a:blip r:embed="rId3">
            <a:alphaModFix/>
          </a:blip>
          <a:srcRect b="0" l="0" r="0" t="0"/>
          <a:stretch/>
        </p:blipFill>
        <p:spPr>
          <a:xfrm>
            <a:off x="1978025" y="1526602"/>
            <a:ext cx="8235950" cy="4916487"/>
          </a:xfrm>
          <a:prstGeom prst="rect">
            <a:avLst/>
          </a:prstGeom>
          <a:noFill/>
          <a:ln>
            <a:noFill/>
          </a:ln>
        </p:spPr>
      </p:pic>
      <p:sp>
        <p:nvSpPr>
          <p:cNvPr id="2070" name="Google Shape;2070;p45"/>
          <p:cNvSpPr/>
          <p:nvPr/>
        </p:nvSpPr>
        <p:spPr>
          <a:xfrm>
            <a:off x="2150592" y="4671612"/>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1" name="Google Shape;2071;p45"/>
          <p:cNvSpPr/>
          <p:nvPr/>
        </p:nvSpPr>
        <p:spPr>
          <a:xfrm>
            <a:off x="2299806" y="4667895"/>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2" name="Google Shape;2072;p45"/>
          <p:cNvSpPr/>
          <p:nvPr/>
        </p:nvSpPr>
        <p:spPr>
          <a:xfrm>
            <a:off x="2452206" y="466736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3" name="Google Shape;2073;p45"/>
          <p:cNvSpPr/>
          <p:nvPr/>
        </p:nvSpPr>
        <p:spPr>
          <a:xfrm>
            <a:off x="2604606" y="466683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4" name="Google Shape;2074;p45"/>
          <p:cNvSpPr/>
          <p:nvPr/>
        </p:nvSpPr>
        <p:spPr>
          <a:xfrm>
            <a:off x="2760192" y="4663116"/>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5" name="Google Shape;2075;p45"/>
          <p:cNvSpPr/>
          <p:nvPr/>
        </p:nvSpPr>
        <p:spPr>
          <a:xfrm>
            <a:off x="2915778" y="4665771"/>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6" name="Google Shape;2076;p45"/>
          <p:cNvSpPr/>
          <p:nvPr/>
        </p:nvSpPr>
        <p:spPr>
          <a:xfrm>
            <a:off x="3064992" y="4662054"/>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7" name="Google Shape;2077;p45"/>
          <p:cNvSpPr/>
          <p:nvPr/>
        </p:nvSpPr>
        <p:spPr>
          <a:xfrm>
            <a:off x="3220578" y="4661523"/>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8" name="Google Shape;2078;p45"/>
          <p:cNvSpPr/>
          <p:nvPr/>
        </p:nvSpPr>
        <p:spPr>
          <a:xfrm>
            <a:off x="3369792" y="4664178"/>
            <a:ext cx="73280" cy="512111"/>
          </a:xfrm>
          <a:prstGeom prst="rect">
            <a:avLst/>
          </a:prstGeom>
          <a:solidFill>
            <a:srgbClr val="548135"/>
          </a:solidFill>
          <a:ln cap="flat" cmpd="sng" w="222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79" name="Google Shape;2079;p45"/>
          <p:cNvSpPr/>
          <p:nvPr/>
        </p:nvSpPr>
        <p:spPr>
          <a:xfrm>
            <a:off x="914400" y="3897630"/>
            <a:ext cx="10835640" cy="28117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079"/>
                                        </p:tgtEl>
                                      </p:cBhvr>
                                    </p:animEffect>
                                    <p:set>
                                      <p:cBhvr>
                                        <p:cTn dur="1" fill="hold">
                                          <p:stCondLst>
                                            <p:cond delay="500"/>
                                          </p:stCondLst>
                                        </p:cTn>
                                        <p:tgtEl>
                                          <p:spTgt spid="207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4" name="Shape 2084"/>
        <p:cNvGrpSpPr/>
        <p:nvPr/>
      </p:nvGrpSpPr>
      <p:grpSpPr>
        <a:xfrm>
          <a:off x="0" y="0"/>
          <a:ext cx="0" cy="0"/>
          <a:chOff x="0" y="0"/>
          <a:chExt cx="0" cy="0"/>
        </a:xfrm>
      </p:grpSpPr>
      <p:sp>
        <p:nvSpPr>
          <p:cNvPr id="2085" name="Google Shape;2085;p46"/>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sender and receiver</a:t>
            </a:r>
            <a:endParaRPr sz="4400"/>
          </a:p>
        </p:txBody>
      </p:sp>
      <p:sp>
        <p:nvSpPr>
          <p:cNvPr id="2086" name="Google Shape;2086;p46"/>
          <p:cNvSpPr txBox="1"/>
          <p:nvPr/>
        </p:nvSpPr>
        <p:spPr>
          <a:xfrm>
            <a:off x="946165" y="1698978"/>
            <a:ext cx="4651241" cy="4648200"/>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data from above:</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next available seq # in window, send packet</a:t>
            </a:r>
            <a:endParaRPr/>
          </a:p>
          <a:p>
            <a:pPr indent="-222250" lvl="0" marL="352425" marR="0" rtl="0" algn="l">
              <a:lnSpc>
                <a:spcPct val="90000"/>
              </a:lnSpc>
              <a:spcBef>
                <a:spcPts val="1000"/>
              </a:spcBef>
              <a:spcAft>
                <a:spcPts val="0"/>
              </a:spcAft>
              <a:buClr>
                <a:srgbClr val="0000A3"/>
              </a:buClr>
              <a:buSzPts val="2800"/>
              <a:buFont typeface="Noto Sans Symbols"/>
              <a:buNone/>
            </a:pPr>
            <a:r>
              <a:rPr b="0" i="0" lang="en-US" sz="2800" u="none" cap="none" strike="noStrike">
                <a:solidFill>
                  <a:srgbClr val="CC0000"/>
                </a:solidFill>
                <a:latin typeface="Calibri"/>
                <a:ea typeface="Calibri"/>
                <a:cs typeface="Calibri"/>
                <a:sym typeface="Calibri"/>
              </a:rPr>
              <a:t>timeout(</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a:t>
            </a:r>
            <a:endParaRPr/>
          </a:p>
          <a:p>
            <a:pPr indent="-228599" lvl="0" marL="471488"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resend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restart timer</a:t>
            </a:r>
            <a:endParaRPr/>
          </a:p>
          <a:p>
            <a:pPr indent="-222250" lvl="0" marL="352425" marR="0" rtl="0" algn="l">
              <a:lnSpc>
                <a:spcPct val="90000"/>
              </a:lnSpc>
              <a:spcBef>
                <a:spcPts val="1000"/>
              </a:spcBef>
              <a:spcAft>
                <a:spcPts val="0"/>
              </a:spcAft>
              <a:buClr>
                <a:srgbClr val="0000A3"/>
              </a:buClr>
              <a:buSzPts val="2400"/>
              <a:buFont typeface="Noto Sans Symbols"/>
              <a:buNone/>
            </a:pPr>
            <a:r>
              <a:rPr b="0" i="0" lang="en-US" sz="2400" u="none" cap="none" strike="noStrike">
                <a:solidFill>
                  <a:srgbClr val="CC0000"/>
                </a:solidFill>
                <a:latin typeface="Calibri"/>
                <a:ea typeface="Calibri"/>
                <a:cs typeface="Calibri"/>
                <a:sym typeface="Calibri"/>
              </a:rPr>
              <a:t>ACK(</a:t>
            </a:r>
            <a:r>
              <a:rPr b="0" i="1" lang="en-US" sz="2400" u="none" cap="none" strike="noStrike">
                <a:solidFill>
                  <a:srgbClr val="CC0000"/>
                </a:solidFill>
                <a:latin typeface="Calibri"/>
                <a:ea typeface="Calibri"/>
                <a:cs typeface="Calibri"/>
                <a:sym typeface="Calibri"/>
              </a:rPr>
              <a:t>n</a:t>
            </a:r>
            <a:r>
              <a:rPr b="0" i="0" lang="en-US" sz="2400" u="none" cap="none" strike="noStrike">
                <a:solidFill>
                  <a:srgbClr val="CC0000"/>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r>
              <a:rPr b="0" i="0" lang="en-US" sz="2400" u="none" cap="none" strike="noStrike">
                <a:solidFill>
                  <a:srgbClr val="000000"/>
                </a:solidFill>
                <a:latin typeface="Calibri"/>
                <a:ea typeface="Calibri"/>
                <a:cs typeface="Calibri"/>
                <a:sym typeface="Calibri"/>
              </a:rPr>
              <a:t>in [sendbase,sendbase+N]</a:t>
            </a:r>
            <a:r>
              <a:rPr b="0" i="0" lang="en-US" sz="2000" u="none" cap="none" strike="noStrike">
                <a:solidFill>
                  <a:srgbClr val="000000"/>
                </a:solidFill>
                <a:latin typeface="Calibri"/>
                <a:ea typeface="Calibri"/>
                <a:cs typeface="Calibri"/>
                <a:sym typeface="Calibri"/>
              </a:rPr>
              <a:t>:</a:t>
            </a:r>
            <a:endParaRPr b="0" i="0" sz="2800" u="none" cap="none" strike="noStrike">
              <a:solidFill>
                <a:srgbClr val="000000"/>
              </a:solidFill>
              <a:latin typeface="Calibri"/>
              <a:ea typeface="Calibri"/>
              <a:cs typeface="Calibri"/>
              <a:sym typeface="Calibri"/>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mark packet </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 as received</a:t>
            </a:r>
            <a:endParaRPr/>
          </a:p>
          <a:p>
            <a:pPr indent="-228600" lvl="0" marL="520700" marR="0" rtl="0" algn="l">
              <a:lnSpc>
                <a:spcPct val="9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if n smallest unACKed packet, advance window base to next unACKed seq # </a:t>
            </a:r>
            <a:endParaRPr b="0" i="0" sz="2800" u="none" cap="none" strike="noStrike">
              <a:solidFill>
                <a:srgbClr val="000000"/>
              </a:solidFill>
              <a:latin typeface="Calibri"/>
              <a:ea typeface="Calibri"/>
              <a:cs typeface="Calibri"/>
              <a:sym typeface="Calibri"/>
            </a:endParaRPr>
          </a:p>
          <a:p>
            <a:pPr indent="-44450" lvl="0" marL="352425" marR="0" rtl="0" algn="l">
              <a:lnSpc>
                <a:spcPct val="90000"/>
              </a:lnSpc>
              <a:spcBef>
                <a:spcPts val="1000"/>
              </a:spcBef>
              <a:spcAft>
                <a:spcPts val="0"/>
              </a:spcAft>
              <a:buClr>
                <a:srgbClr val="0000A3"/>
              </a:buClr>
              <a:buSzPts val="280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087" name="Google Shape;2087;p46"/>
          <p:cNvSpPr/>
          <p:nvPr/>
        </p:nvSpPr>
        <p:spPr>
          <a:xfrm>
            <a:off x="876300" y="1485900"/>
            <a:ext cx="4721106"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grpSp>
        <p:nvGrpSpPr>
          <p:cNvPr id="2088" name="Google Shape;2088;p46"/>
          <p:cNvGrpSpPr/>
          <p:nvPr/>
        </p:nvGrpSpPr>
        <p:grpSpPr>
          <a:xfrm>
            <a:off x="1079500" y="1184280"/>
            <a:ext cx="1327103" cy="584201"/>
            <a:chOff x="1100" y="3896"/>
            <a:chExt cx="752" cy="368"/>
          </a:xfrm>
        </p:grpSpPr>
        <p:sp>
          <p:nvSpPr>
            <p:cNvPr id="2089" name="Google Shape;2089;p46"/>
            <p:cNvSpPr/>
            <p:nvPr/>
          </p:nvSpPr>
          <p:spPr>
            <a:xfrm>
              <a:off x="1146" y="3984"/>
              <a:ext cx="61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090" name="Google Shape;2090;p46"/>
            <p:cNvSpPr txBox="1"/>
            <p:nvPr/>
          </p:nvSpPr>
          <p:spPr>
            <a:xfrm>
              <a:off x="1100" y="3896"/>
              <a:ext cx="752" cy="36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sender</a:t>
              </a:r>
              <a:endParaRPr b="0" i="0" sz="2800" u="none" cap="none" strike="noStrike">
                <a:solidFill>
                  <a:srgbClr val="000099"/>
                </a:solidFill>
                <a:latin typeface="Calibri"/>
                <a:ea typeface="Calibri"/>
                <a:cs typeface="Calibri"/>
                <a:sym typeface="Calibri"/>
              </a:endParaRPr>
            </a:p>
          </p:txBody>
        </p:sp>
      </p:grpSp>
      <p:grpSp>
        <p:nvGrpSpPr>
          <p:cNvPr id="2091" name="Google Shape;2091;p46"/>
          <p:cNvGrpSpPr/>
          <p:nvPr/>
        </p:nvGrpSpPr>
        <p:grpSpPr>
          <a:xfrm>
            <a:off x="6447754" y="1183947"/>
            <a:ext cx="5269467" cy="5221186"/>
            <a:chOff x="6447754" y="1183947"/>
            <a:chExt cx="5269467" cy="5221186"/>
          </a:xfrm>
        </p:grpSpPr>
        <p:sp>
          <p:nvSpPr>
            <p:cNvPr id="2092" name="Google Shape;2092;p46"/>
            <p:cNvSpPr/>
            <p:nvPr/>
          </p:nvSpPr>
          <p:spPr>
            <a:xfrm>
              <a:off x="6855858" y="1756933"/>
              <a:ext cx="4861363"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 </a:t>
              </a:r>
              <a:r>
                <a:rPr b="0" i="1" lang="en-US" sz="2800" u="none" cap="none" strike="noStrike">
                  <a:solidFill>
                    <a:srgbClr val="CC0000"/>
                  </a:solidFill>
                  <a:latin typeface="Calibri"/>
                  <a:ea typeface="Calibri"/>
                  <a:cs typeface="Calibri"/>
                  <a:sym typeface="Calibri"/>
                </a:rPr>
                <a:t>n</a:t>
              </a:r>
              <a:r>
                <a:rPr b="0" i="0" lang="en-US" sz="2800" u="none" cap="none" strike="noStrike">
                  <a:solidFill>
                    <a:srgbClr val="CC0000"/>
                  </a:solidFill>
                  <a:latin typeface="Calibri"/>
                  <a:ea typeface="Calibri"/>
                  <a:cs typeface="Calibri"/>
                  <a:sym typeface="Calibri"/>
                </a:rPr>
                <a:t> in </a:t>
              </a:r>
              <a:r>
                <a:rPr b="0" i="0" lang="en-US" sz="1800" u="none" cap="none" strike="noStrike">
                  <a:solidFill>
                    <a:srgbClr val="CC0000"/>
                  </a:solidFill>
                  <a:latin typeface="Calibri"/>
                  <a:ea typeface="Calibri"/>
                  <a:cs typeface="Calibri"/>
                  <a:sym typeface="Calibri"/>
                </a:rPr>
                <a:t>[</a:t>
              </a:r>
              <a:r>
                <a:rPr b="0" i="0" lang="en-US" sz="2400" u="none" cap="none" strike="noStrike">
                  <a:solidFill>
                    <a:srgbClr val="CC0000"/>
                  </a:solidFill>
                  <a:latin typeface="Calibri"/>
                  <a:ea typeface="Calibri"/>
                  <a:cs typeface="Calibri"/>
                  <a:sym typeface="Calibri"/>
                </a:rPr>
                <a:t>rcvbase, rcvbase+N-1]</a:t>
              </a:r>
              <a:endParaRPr b="0" i="0" sz="2800" u="none" cap="none" strike="noStrike">
                <a:solidFill>
                  <a:srgbClr val="CC0000"/>
                </a:solidFill>
                <a:latin typeface="Calibri"/>
                <a:ea typeface="Calibri"/>
                <a:cs typeface="Calibri"/>
                <a:sym typeface="Calibri"/>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send 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out-of-order: buffer</a:t>
              </a:r>
              <a:endParaRPr/>
            </a:p>
            <a:p>
              <a:pPr indent="-276225" lvl="0" marL="406400" marR="0" rtl="0" algn="l">
                <a:lnSpc>
                  <a:spcPct val="90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in-order: deliver (also deliver buffered, in-order packets), advance window to next not-yet-received packet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packet</a:t>
              </a:r>
              <a:r>
                <a:rPr b="0" i="1" lang="en-US" sz="2800" u="none" cap="none" strike="noStrike">
                  <a:solidFill>
                    <a:srgbClr val="CC0000"/>
                  </a:solidFill>
                  <a:latin typeface="Calibri"/>
                  <a:ea typeface="Calibri"/>
                  <a:cs typeface="Calibri"/>
                  <a:sym typeface="Calibri"/>
                </a:rPr>
                <a:t> n </a:t>
              </a:r>
              <a:r>
                <a:rPr b="0" i="0" lang="en-US" sz="2800" u="none" cap="none" strike="noStrike">
                  <a:solidFill>
                    <a:srgbClr val="CC0000"/>
                  </a:solidFill>
                  <a:latin typeface="Calibri"/>
                  <a:ea typeface="Calibri"/>
                  <a:cs typeface="Calibri"/>
                  <a:sym typeface="Calibri"/>
                </a:rPr>
                <a:t>in </a:t>
              </a:r>
              <a:r>
                <a:rPr b="0" i="0" lang="en-US" sz="2400" u="none" cap="none" strike="noStrike">
                  <a:solidFill>
                    <a:srgbClr val="CC0000"/>
                  </a:solidFill>
                  <a:latin typeface="Calibri"/>
                  <a:ea typeface="Calibri"/>
                  <a:cs typeface="Calibri"/>
                  <a:sym typeface="Calibri"/>
                </a:rPr>
                <a:t>[rcvbase-N,rcvbase-1]</a:t>
              </a:r>
              <a:endParaRPr b="0" i="0" sz="3600" u="none" cap="none" strike="noStrike">
                <a:solidFill>
                  <a:srgbClr val="CC0000"/>
                </a:solidFill>
                <a:latin typeface="Calibri"/>
                <a:ea typeface="Calibri"/>
                <a:cs typeface="Calibri"/>
                <a:sym typeface="Calibri"/>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ACK(</a:t>
              </a:r>
              <a:r>
                <a:rPr b="0" i="1" lang="en-US" sz="2400" u="none" cap="none" strike="noStrike">
                  <a:solidFill>
                    <a:srgbClr val="000000"/>
                  </a:solidFill>
                  <a:latin typeface="Calibri"/>
                  <a:ea typeface="Calibri"/>
                  <a:cs typeface="Calibri"/>
                  <a:sym typeface="Calibri"/>
                </a:rPr>
                <a:t>n</a:t>
              </a:r>
              <a:r>
                <a:rPr b="0" i="0" lang="en-US" sz="2400" u="none" cap="none" strike="noStrike">
                  <a:solidFill>
                    <a:srgbClr val="000000"/>
                  </a:solidFill>
                  <a:latin typeface="Calibri"/>
                  <a:ea typeface="Calibri"/>
                  <a:cs typeface="Calibri"/>
                  <a:sym typeface="Calibri"/>
                </a:rPr>
                <a:t>)</a:t>
              </a:r>
              <a:endParaRPr/>
            </a:p>
            <a:p>
              <a:pPr indent="-342900" lvl="0" marL="342900" marR="0" rtl="0" algn="l">
                <a:lnSpc>
                  <a:spcPct val="85000"/>
                </a:lnSpc>
                <a:spcBef>
                  <a:spcPts val="560"/>
                </a:spcBef>
                <a:spcAft>
                  <a:spcPts val="0"/>
                </a:spcAft>
                <a:buClr>
                  <a:srgbClr val="000099"/>
                </a:buClr>
                <a:buSzPts val="1820"/>
                <a:buFont typeface="Noto Sans Symbols"/>
                <a:buNone/>
              </a:pPr>
              <a:r>
                <a:rPr b="0" i="0" lang="en-US" sz="2800" u="none" cap="none" strike="noStrike">
                  <a:solidFill>
                    <a:srgbClr val="CC0000"/>
                  </a:solidFill>
                  <a:latin typeface="Calibri"/>
                  <a:ea typeface="Calibri"/>
                  <a:cs typeface="Calibri"/>
                  <a:sym typeface="Calibri"/>
                </a:rPr>
                <a:t>otherwise:</a:t>
              </a:r>
              <a:r>
                <a:rPr b="0" i="0" lang="en-US" sz="2400" u="none" cap="none" strike="noStrike">
                  <a:solidFill>
                    <a:srgbClr val="FF0000"/>
                  </a:solidFill>
                  <a:latin typeface="Calibri"/>
                  <a:ea typeface="Calibri"/>
                  <a:cs typeface="Calibri"/>
                  <a:sym typeface="Calibri"/>
                </a:rPr>
                <a:t> </a:t>
              </a:r>
              <a:endParaRPr/>
            </a:p>
            <a:p>
              <a:pPr indent="-276225" lvl="0" marL="406400" marR="0" rtl="0" algn="l">
                <a:lnSpc>
                  <a:spcPct val="85000"/>
                </a:lnSpc>
                <a:spcBef>
                  <a:spcPts val="480"/>
                </a:spcBef>
                <a:spcAft>
                  <a:spcPts val="0"/>
                </a:spcAft>
                <a:buClr>
                  <a:srgbClr val="000099"/>
                </a:buClr>
                <a:buSzPts val="2400"/>
                <a:buFont typeface="Noto Sans Symbols"/>
                <a:buChar char="▪"/>
              </a:pPr>
              <a:r>
                <a:rPr b="0" i="0" lang="en-US" sz="2400" u="none" cap="none" strike="noStrike">
                  <a:solidFill>
                    <a:srgbClr val="000000"/>
                  </a:solidFill>
                  <a:latin typeface="Calibri"/>
                  <a:ea typeface="Calibri"/>
                  <a:cs typeface="Calibri"/>
                  <a:sym typeface="Calibri"/>
                </a:rPr>
                <a:t>ignore </a:t>
              </a:r>
              <a:endParaRPr b="0" i="0" sz="2800" u="none" cap="none" strike="noStrike">
                <a:solidFill>
                  <a:srgbClr val="000000"/>
                </a:solidFill>
                <a:latin typeface="Calibri"/>
                <a:ea typeface="Calibri"/>
                <a:cs typeface="Calibri"/>
                <a:sym typeface="Calibri"/>
              </a:endParaRPr>
            </a:p>
            <a:p>
              <a:pPr indent="-227330" lvl="0" marL="342900" marR="0" rtl="0" algn="l">
                <a:lnSpc>
                  <a:spcPct val="85000"/>
                </a:lnSpc>
                <a:spcBef>
                  <a:spcPts val="560"/>
                </a:spcBef>
                <a:spcAft>
                  <a:spcPts val="0"/>
                </a:spcAft>
                <a:buClr>
                  <a:srgbClr val="000099"/>
                </a:buClr>
                <a:buSzPts val="1820"/>
                <a:buFont typeface="Noto Sans Symbols"/>
                <a:buNone/>
              </a:pPr>
              <a:r>
                <a:t/>
              </a:r>
              <a:endParaRPr b="0" i="0" sz="2800" u="none" cap="none" strike="noStrike">
                <a:solidFill>
                  <a:srgbClr val="000000"/>
                </a:solidFill>
                <a:latin typeface="Calibri"/>
                <a:ea typeface="Calibri"/>
                <a:cs typeface="Calibri"/>
                <a:sym typeface="Calibri"/>
              </a:endParaRPr>
            </a:p>
          </p:txBody>
        </p:sp>
        <p:sp>
          <p:nvSpPr>
            <p:cNvPr id="2093" name="Google Shape;2093;p46"/>
            <p:cNvSpPr/>
            <p:nvPr/>
          </p:nvSpPr>
          <p:spPr>
            <a:xfrm>
              <a:off x="6447754" y="1495097"/>
              <a:ext cx="5129210" cy="4610100"/>
            </a:xfrm>
            <a:prstGeom prst="rect">
              <a:avLst/>
            </a:prstGeom>
            <a:noFill/>
            <a:ln cap="flat" cmpd="sng" w="28575">
              <a:solidFill>
                <a:srgbClr val="0000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2094" name="Google Shape;2094;p46"/>
            <p:cNvGrpSpPr/>
            <p:nvPr/>
          </p:nvGrpSpPr>
          <p:grpSpPr>
            <a:xfrm>
              <a:off x="6643024" y="1183947"/>
              <a:ext cx="1531938" cy="584201"/>
              <a:chOff x="3339" y="158"/>
              <a:chExt cx="965" cy="368"/>
            </a:xfrm>
          </p:grpSpPr>
          <p:sp>
            <p:nvSpPr>
              <p:cNvPr id="2095" name="Google Shape;2095;p46"/>
              <p:cNvSpPr/>
              <p:nvPr/>
            </p:nvSpPr>
            <p:spPr>
              <a:xfrm>
                <a:off x="3360" y="264"/>
                <a:ext cx="822" cy="18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96" name="Google Shape;2096;p46"/>
              <p:cNvSpPr txBox="1"/>
              <p:nvPr/>
            </p:nvSpPr>
            <p:spPr>
              <a:xfrm>
                <a:off x="3339" y="158"/>
                <a:ext cx="965" cy="3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99"/>
                  </a:buClr>
                  <a:buSzPts val="3200"/>
                  <a:buFont typeface="Calibri"/>
                  <a:buNone/>
                </a:pPr>
                <a:r>
                  <a:rPr b="0" i="0" lang="en-US" sz="3200" u="none" cap="none" strike="noStrike">
                    <a:solidFill>
                      <a:srgbClr val="000099"/>
                    </a:solidFill>
                    <a:latin typeface="Calibri"/>
                    <a:ea typeface="Calibri"/>
                    <a:cs typeface="Calibri"/>
                    <a:sym typeface="Calibri"/>
                  </a:rPr>
                  <a:t>receiver</a:t>
                </a:r>
                <a:endParaRPr b="0" i="0" sz="2800" u="none" cap="none" strike="noStrike">
                  <a:solidFill>
                    <a:srgbClr val="000099"/>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1"/>
                                        </p:tgtEl>
                                        <p:attrNameLst>
                                          <p:attrName>style.visibility</p:attrName>
                                        </p:attrNameLst>
                                      </p:cBhvr>
                                      <p:to>
                                        <p:strVal val="visible"/>
                                      </p:to>
                                    </p:set>
                                    <p:animEffect filter="fade" transition="in">
                                      <p:cBhvr>
                                        <p:cTn dur="500"/>
                                        <p:tgtEl>
                                          <p:spTgt spid="20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1" name="Shape 2101"/>
        <p:cNvGrpSpPr/>
        <p:nvPr/>
      </p:nvGrpSpPr>
      <p:grpSpPr>
        <a:xfrm>
          <a:off x="0" y="0"/>
          <a:ext cx="0" cy="0"/>
          <a:chOff x="0" y="0"/>
          <a:chExt cx="0" cy="0"/>
        </a:xfrm>
      </p:grpSpPr>
      <p:sp>
        <p:nvSpPr>
          <p:cNvPr id="2102" name="Google Shape;2102;p4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in action</a:t>
            </a:r>
            <a:endParaRPr sz="4400"/>
          </a:p>
        </p:txBody>
      </p:sp>
      <p:sp>
        <p:nvSpPr>
          <p:cNvPr id="2103" name="Google Shape;2103;p47"/>
          <p:cNvSpPr txBox="1"/>
          <p:nvPr/>
        </p:nvSpPr>
        <p:spPr>
          <a:xfrm>
            <a:off x="4770437" y="1531937"/>
            <a:ext cx="1246188" cy="146526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pkt0</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pkt1</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pkt3</a:t>
            </a:r>
            <a:endParaRPr/>
          </a:p>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(wait)</a:t>
            </a:r>
            <a:endParaRPr/>
          </a:p>
        </p:txBody>
      </p:sp>
      <p:sp>
        <p:nvSpPr>
          <p:cNvPr id="2104" name="Google Shape;2104;p47"/>
          <p:cNvSpPr txBox="1"/>
          <p:nvPr/>
        </p:nvSpPr>
        <p:spPr>
          <a:xfrm>
            <a:off x="5091112" y="1160462"/>
            <a:ext cx="93662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2000"/>
              <a:buFont typeface="Tahoma"/>
              <a:buNone/>
            </a:pPr>
            <a:r>
              <a:rPr b="0" i="1" lang="en-US" sz="2000" u="sng" cap="none" strike="noStrike">
                <a:solidFill>
                  <a:srgbClr val="000099"/>
                </a:solidFill>
                <a:latin typeface="Tahoma"/>
                <a:ea typeface="Tahoma"/>
                <a:cs typeface="Tahoma"/>
                <a:sym typeface="Tahoma"/>
              </a:rPr>
              <a:t>sender</a:t>
            </a:r>
            <a:endParaRPr/>
          </a:p>
        </p:txBody>
      </p:sp>
      <p:sp>
        <p:nvSpPr>
          <p:cNvPr id="2105" name="Google Shape;2105;p47"/>
          <p:cNvSpPr txBox="1"/>
          <p:nvPr/>
        </p:nvSpPr>
        <p:spPr>
          <a:xfrm>
            <a:off x="8121650" y="1179512"/>
            <a:ext cx="10715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8000"/>
              </a:buClr>
              <a:buSzPts val="2000"/>
              <a:buFont typeface="Tahoma"/>
              <a:buNone/>
            </a:pPr>
            <a:r>
              <a:rPr b="0" i="1" lang="en-US" sz="2000" u="sng" cap="none" strike="noStrike">
                <a:solidFill>
                  <a:srgbClr val="008000"/>
                </a:solidFill>
                <a:latin typeface="Tahoma"/>
                <a:ea typeface="Tahoma"/>
                <a:cs typeface="Tahoma"/>
                <a:sym typeface="Tahoma"/>
              </a:rPr>
              <a:t>receiver</a:t>
            </a:r>
            <a:endParaRPr/>
          </a:p>
        </p:txBody>
      </p:sp>
      <p:cxnSp>
        <p:nvCxnSpPr>
          <p:cNvPr id="2106" name="Google Shape;2106;p47"/>
          <p:cNvCxnSpPr/>
          <p:nvPr/>
        </p:nvCxnSpPr>
        <p:spPr>
          <a:xfrm>
            <a:off x="8196262" y="1778000"/>
            <a:ext cx="11113" cy="4538662"/>
          </a:xfrm>
          <a:prstGeom prst="straightConnector1">
            <a:avLst/>
          </a:prstGeom>
          <a:noFill/>
          <a:ln cap="flat" cmpd="sng" w="9525">
            <a:solidFill>
              <a:srgbClr val="000000"/>
            </a:solidFill>
            <a:prstDash val="solid"/>
            <a:round/>
            <a:headEnd len="med" w="med" type="none"/>
            <a:tailEnd len="med" w="med" type="none"/>
          </a:ln>
        </p:spPr>
      </p:cxnSp>
      <p:sp>
        <p:nvSpPr>
          <p:cNvPr id="2107" name="Google Shape;2107;p47"/>
          <p:cNvSpPr txBox="1"/>
          <p:nvPr/>
        </p:nvSpPr>
        <p:spPr>
          <a:xfrm>
            <a:off x="4498213" y="4713287"/>
            <a:ext cx="1523174" cy="563231"/>
          </a:xfrm>
          <a:prstGeom prst="rect">
            <a:avLst/>
          </a:prstGeom>
          <a:noFill/>
          <a:ln>
            <a:noFill/>
          </a:ln>
        </p:spPr>
        <p:txBody>
          <a:bodyPr anchorCtr="0" anchor="t" bIns="45700" lIns="91425" spcFirstLastPara="1" rIns="91425" wrap="square" tIns="45700">
            <a:spAutoFit/>
          </a:bodyPr>
          <a:lstStyle/>
          <a:p>
            <a:pPr indent="0" lvl="0" marL="0" marR="0" rtl="0" algn="r">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send  pkt2</a:t>
            </a:r>
            <a:endParaRPr/>
          </a:p>
          <a:p>
            <a:pPr indent="0" lvl="0" marL="0" marR="0" rtl="0" algn="r">
              <a:lnSpc>
                <a:spcPct val="90000"/>
              </a:lnSpc>
              <a:spcBef>
                <a:spcPts val="0"/>
              </a:spcBef>
              <a:spcAft>
                <a:spcPts val="0"/>
              </a:spcAft>
              <a:buClr>
                <a:srgbClr val="C00000"/>
              </a:buClr>
              <a:buSzPts val="1600"/>
              <a:buFont typeface="Tahoma"/>
              <a:buNone/>
            </a:pPr>
            <a:r>
              <a:rPr b="0" i="0" lang="en-US" sz="1600" u="none" cap="none" strike="noStrike">
                <a:solidFill>
                  <a:srgbClr val="C00000"/>
                </a:solidFill>
                <a:latin typeface="Tahoma"/>
                <a:ea typeface="Tahoma"/>
                <a:cs typeface="Tahoma"/>
                <a:sym typeface="Tahoma"/>
              </a:rPr>
              <a:t>(but not 3,4,5)</a:t>
            </a:r>
            <a:endParaRPr/>
          </a:p>
        </p:txBody>
      </p:sp>
      <p:cxnSp>
        <p:nvCxnSpPr>
          <p:cNvPr id="2108" name="Google Shape;2108;p47"/>
          <p:cNvCxnSpPr/>
          <p:nvPr/>
        </p:nvCxnSpPr>
        <p:spPr>
          <a:xfrm flipH="1">
            <a:off x="6067425" y="2249487"/>
            <a:ext cx="2014537" cy="1066800"/>
          </a:xfrm>
          <a:prstGeom prst="straightConnector1">
            <a:avLst/>
          </a:prstGeom>
          <a:noFill/>
          <a:ln cap="flat" cmpd="sng" w="28575">
            <a:solidFill>
              <a:srgbClr val="008000"/>
            </a:solidFill>
            <a:prstDash val="solid"/>
            <a:round/>
            <a:headEnd len="med" w="med" type="none"/>
            <a:tailEnd len="med" w="med" type="triangle"/>
          </a:ln>
        </p:spPr>
      </p:cxnSp>
      <p:grpSp>
        <p:nvGrpSpPr>
          <p:cNvPr id="2109" name="Google Shape;2109;p47"/>
          <p:cNvGrpSpPr/>
          <p:nvPr/>
        </p:nvGrpSpPr>
        <p:grpSpPr>
          <a:xfrm>
            <a:off x="6059487" y="1725612"/>
            <a:ext cx="2122488" cy="1292225"/>
            <a:chOff x="6059487" y="1725612"/>
            <a:chExt cx="2122488" cy="1292225"/>
          </a:xfrm>
        </p:grpSpPr>
        <p:cxnSp>
          <p:nvCxnSpPr>
            <p:cNvPr id="2110" name="Google Shape;2110;p47"/>
            <p:cNvCxnSpPr/>
            <p:nvPr/>
          </p:nvCxnSpPr>
          <p:spPr>
            <a:xfrm>
              <a:off x="6061075" y="1725612"/>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2111" name="Google Shape;2111;p47"/>
            <p:cNvCxnSpPr/>
            <p:nvPr/>
          </p:nvCxnSpPr>
          <p:spPr>
            <a:xfrm>
              <a:off x="6059487" y="2000250"/>
              <a:ext cx="2100263" cy="468312"/>
            </a:xfrm>
            <a:prstGeom prst="straightConnector1">
              <a:avLst/>
            </a:prstGeom>
            <a:noFill/>
            <a:ln cap="flat" cmpd="sng" w="28575">
              <a:solidFill>
                <a:srgbClr val="000099"/>
              </a:solidFill>
              <a:prstDash val="solid"/>
              <a:round/>
              <a:headEnd len="med" w="med" type="none"/>
              <a:tailEnd len="med" w="med" type="triangle"/>
            </a:ln>
          </p:spPr>
        </p:cxnSp>
        <p:cxnSp>
          <p:nvCxnSpPr>
            <p:cNvPr id="2112" name="Google Shape;2112;p47"/>
            <p:cNvCxnSpPr/>
            <p:nvPr/>
          </p:nvCxnSpPr>
          <p:spPr>
            <a:xfrm>
              <a:off x="6075362" y="2263775"/>
              <a:ext cx="876300" cy="200025"/>
            </a:xfrm>
            <a:prstGeom prst="straightConnector1">
              <a:avLst/>
            </a:prstGeom>
            <a:noFill/>
            <a:ln cap="flat" cmpd="sng" w="28575">
              <a:solidFill>
                <a:srgbClr val="000099"/>
              </a:solidFill>
              <a:prstDash val="solid"/>
              <a:round/>
              <a:headEnd len="med" w="med" type="none"/>
              <a:tailEnd len="med" w="med" type="triangle"/>
            </a:ln>
          </p:spPr>
        </p:cxnSp>
        <p:cxnSp>
          <p:nvCxnSpPr>
            <p:cNvPr id="2113" name="Google Shape;2113;p47"/>
            <p:cNvCxnSpPr/>
            <p:nvPr/>
          </p:nvCxnSpPr>
          <p:spPr>
            <a:xfrm>
              <a:off x="6081712" y="2549525"/>
              <a:ext cx="2100263" cy="468312"/>
            </a:xfrm>
            <a:prstGeom prst="straightConnector1">
              <a:avLst/>
            </a:prstGeom>
            <a:noFill/>
            <a:ln cap="flat" cmpd="sng" w="28575">
              <a:solidFill>
                <a:srgbClr val="000099"/>
              </a:solidFill>
              <a:prstDash val="solid"/>
              <a:round/>
              <a:headEnd len="med" w="med" type="none"/>
              <a:tailEnd len="med" w="med" type="triangle"/>
            </a:ln>
          </p:spPr>
        </p:cxnSp>
        <p:sp>
          <p:nvSpPr>
            <p:cNvPr id="2114" name="Google Shape;2114;p47"/>
            <p:cNvSpPr txBox="1"/>
            <p:nvPr/>
          </p:nvSpPr>
          <p:spPr>
            <a:xfrm>
              <a:off x="6837362" y="2298700"/>
              <a:ext cx="341313"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800"/>
                <a:buFont typeface="Tahoma"/>
                <a:buNone/>
              </a:pPr>
              <a:r>
                <a:rPr b="1" i="0" lang="en-US" sz="1800" u="none" cap="none" strike="noStrike">
                  <a:solidFill>
                    <a:srgbClr val="FF0000"/>
                  </a:solidFill>
                  <a:latin typeface="Tahoma"/>
                  <a:ea typeface="Tahoma"/>
                  <a:cs typeface="Tahoma"/>
                  <a:sym typeface="Tahoma"/>
                </a:rPr>
                <a:t>X</a:t>
              </a:r>
              <a:endParaRPr/>
            </a:p>
          </p:txBody>
        </p:sp>
        <p:sp>
          <p:nvSpPr>
            <p:cNvPr id="2115" name="Google Shape;2115;p47"/>
            <p:cNvSpPr txBox="1"/>
            <p:nvPr/>
          </p:nvSpPr>
          <p:spPr>
            <a:xfrm>
              <a:off x="6996112" y="2319337"/>
              <a:ext cx="522288"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ahoma"/>
                <a:buNone/>
              </a:pPr>
              <a:r>
                <a:rPr b="0" i="1" lang="en-US" sz="1600" u="none" cap="none" strike="noStrike">
                  <a:solidFill>
                    <a:srgbClr val="FF0000"/>
                  </a:solidFill>
                  <a:latin typeface="Tahoma"/>
                  <a:ea typeface="Tahoma"/>
                  <a:cs typeface="Tahoma"/>
                  <a:sym typeface="Tahoma"/>
                </a:rPr>
                <a:t>loss</a:t>
              </a:r>
              <a:endParaRPr/>
            </a:p>
          </p:txBody>
        </p:sp>
      </p:grpSp>
      <p:cxnSp>
        <p:nvCxnSpPr>
          <p:cNvPr id="2116" name="Google Shape;2116;p47"/>
          <p:cNvCxnSpPr/>
          <p:nvPr/>
        </p:nvCxnSpPr>
        <p:spPr>
          <a:xfrm flipH="1">
            <a:off x="6064250" y="2535237"/>
            <a:ext cx="2014537" cy="1100138"/>
          </a:xfrm>
          <a:prstGeom prst="straightConnector1">
            <a:avLst/>
          </a:prstGeom>
          <a:noFill/>
          <a:ln cap="flat" cmpd="sng" w="28575">
            <a:solidFill>
              <a:srgbClr val="008000"/>
            </a:solidFill>
            <a:prstDash val="solid"/>
            <a:round/>
            <a:headEnd len="med" w="med" type="none"/>
            <a:tailEnd len="med" w="med" type="triangle"/>
          </a:ln>
        </p:spPr>
      </p:cxnSp>
      <p:cxnSp>
        <p:nvCxnSpPr>
          <p:cNvPr id="2117" name="Google Shape;2117;p47"/>
          <p:cNvCxnSpPr/>
          <p:nvPr/>
        </p:nvCxnSpPr>
        <p:spPr>
          <a:xfrm>
            <a:off x="6067425" y="3371850"/>
            <a:ext cx="2100262" cy="468312"/>
          </a:xfrm>
          <a:prstGeom prst="straightConnector1">
            <a:avLst/>
          </a:prstGeom>
          <a:noFill/>
          <a:ln cap="flat" cmpd="sng" w="28575">
            <a:solidFill>
              <a:srgbClr val="000099"/>
            </a:solidFill>
            <a:prstDash val="solid"/>
            <a:round/>
            <a:headEnd len="med" w="med" type="none"/>
            <a:tailEnd len="med" w="med" type="triangle"/>
          </a:ln>
        </p:spPr>
      </p:cxnSp>
      <p:cxnSp>
        <p:nvCxnSpPr>
          <p:cNvPr id="2118" name="Google Shape;2118;p47"/>
          <p:cNvCxnSpPr/>
          <p:nvPr/>
        </p:nvCxnSpPr>
        <p:spPr>
          <a:xfrm>
            <a:off x="6099175" y="3690937"/>
            <a:ext cx="2101850" cy="468313"/>
          </a:xfrm>
          <a:prstGeom prst="straightConnector1">
            <a:avLst/>
          </a:prstGeom>
          <a:noFill/>
          <a:ln cap="flat" cmpd="sng" w="28575">
            <a:solidFill>
              <a:srgbClr val="000099"/>
            </a:solidFill>
            <a:prstDash val="solid"/>
            <a:round/>
            <a:headEnd len="med" w="med" type="none"/>
            <a:tailEnd len="med" w="med" type="triangle"/>
          </a:ln>
        </p:spPr>
      </p:cxnSp>
      <p:cxnSp>
        <p:nvCxnSpPr>
          <p:cNvPr id="2119" name="Google Shape;2119;p47"/>
          <p:cNvCxnSpPr/>
          <p:nvPr/>
        </p:nvCxnSpPr>
        <p:spPr>
          <a:xfrm flipH="1">
            <a:off x="6096000" y="3065462"/>
            <a:ext cx="2014537" cy="1100138"/>
          </a:xfrm>
          <a:prstGeom prst="straightConnector1">
            <a:avLst/>
          </a:prstGeom>
          <a:noFill/>
          <a:ln cap="flat" cmpd="sng" w="28575">
            <a:solidFill>
              <a:srgbClr val="008000"/>
            </a:solidFill>
            <a:prstDash val="solid"/>
            <a:round/>
            <a:headEnd len="med" w="med" type="none"/>
            <a:tailEnd len="med" w="med" type="triangle"/>
          </a:ln>
        </p:spPr>
      </p:cxnSp>
      <p:grpSp>
        <p:nvGrpSpPr>
          <p:cNvPr id="2120" name="Google Shape;2120;p47"/>
          <p:cNvGrpSpPr/>
          <p:nvPr/>
        </p:nvGrpSpPr>
        <p:grpSpPr>
          <a:xfrm>
            <a:off x="4081462" y="2254250"/>
            <a:ext cx="1978025" cy="2543175"/>
            <a:chOff x="4081462" y="2254250"/>
            <a:chExt cx="1978025" cy="2543175"/>
          </a:xfrm>
        </p:grpSpPr>
        <p:pic>
          <p:nvPicPr>
            <p:cNvPr descr="alarm_clock_ringing" id="2121" name="Google Shape;2121;p47"/>
            <p:cNvPicPr preferRelativeResize="0"/>
            <p:nvPr/>
          </p:nvPicPr>
          <p:blipFill rotWithShape="1">
            <a:blip r:embed="rId3">
              <a:alphaModFix/>
            </a:blip>
            <a:srcRect b="0" l="0" r="0" t="0"/>
            <a:stretch/>
          </p:blipFill>
          <p:spPr>
            <a:xfrm>
              <a:off x="4081462" y="4283075"/>
              <a:ext cx="436563" cy="481012"/>
            </a:xfrm>
            <a:prstGeom prst="rect">
              <a:avLst/>
            </a:prstGeom>
            <a:noFill/>
            <a:ln>
              <a:noFill/>
            </a:ln>
          </p:spPr>
        </p:pic>
        <p:sp>
          <p:nvSpPr>
            <p:cNvPr id="2122" name="Google Shape;2122;p47"/>
            <p:cNvSpPr txBox="1"/>
            <p:nvPr/>
          </p:nvSpPr>
          <p:spPr>
            <a:xfrm>
              <a:off x="4449762" y="4498975"/>
              <a:ext cx="1538288" cy="298450"/>
            </a:xfrm>
            <a:prstGeom prst="rect">
              <a:avLst/>
            </a:prstGeom>
            <a:noFill/>
            <a:ln>
              <a:noFill/>
            </a:ln>
          </p:spPr>
          <p:txBody>
            <a:bodyPr anchorCtr="0" anchor="t" bIns="45700" lIns="91425" spcFirstLastPara="1" rIns="91425" wrap="square" tIns="45700">
              <a:spAutoFit/>
            </a:bodyPr>
            <a:lstStyle/>
            <a:p>
              <a:pPr indent="0" lvl="0" marL="0" marR="0" rtl="0" algn="r">
                <a:lnSpc>
                  <a:spcPct val="75000"/>
                </a:lnSpc>
                <a:spcBef>
                  <a:spcPts val="0"/>
                </a:spcBef>
                <a:spcAft>
                  <a:spcPts val="0"/>
                </a:spcAft>
                <a:buClr>
                  <a:srgbClr val="FF0000"/>
                </a:buClr>
                <a:buSzPts val="1800"/>
                <a:buFont typeface="Tahoma"/>
                <a:buNone/>
              </a:pPr>
              <a:r>
                <a:rPr b="0" i="1" lang="en-US" sz="1800" u="none" cap="none" strike="noStrike">
                  <a:solidFill>
                    <a:srgbClr val="FF0000"/>
                  </a:solidFill>
                  <a:latin typeface="Tahoma"/>
                  <a:ea typeface="Tahoma"/>
                  <a:cs typeface="Tahoma"/>
                  <a:sym typeface="Tahoma"/>
                </a:rPr>
                <a:t>pkt 2 timeout</a:t>
              </a:r>
              <a:endParaRPr/>
            </a:p>
          </p:txBody>
        </p:sp>
        <p:grpSp>
          <p:nvGrpSpPr>
            <p:cNvPr id="2123" name="Google Shape;2123;p47"/>
            <p:cNvGrpSpPr/>
            <p:nvPr/>
          </p:nvGrpSpPr>
          <p:grpSpPr>
            <a:xfrm>
              <a:off x="5956300" y="2254250"/>
              <a:ext cx="103187" cy="2462212"/>
              <a:chOff x="3651" y="1878"/>
              <a:chExt cx="78" cy="963"/>
            </a:xfrm>
          </p:grpSpPr>
          <p:cxnSp>
            <p:nvCxnSpPr>
              <p:cNvPr id="2124" name="Google Shape;2124;p47"/>
              <p:cNvCxnSpPr/>
              <p:nvPr/>
            </p:nvCxnSpPr>
            <p:spPr>
              <a:xfrm>
                <a:off x="3729" y="1879"/>
                <a:ext cx="0" cy="962"/>
              </a:xfrm>
              <a:prstGeom prst="straightConnector1">
                <a:avLst/>
              </a:prstGeom>
              <a:noFill/>
              <a:ln cap="flat" cmpd="sng" w="28575">
                <a:solidFill>
                  <a:srgbClr val="000000"/>
                </a:solidFill>
                <a:prstDash val="solid"/>
                <a:round/>
                <a:headEnd len="med" w="med" type="none"/>
                <a:tailEnd len="med" w="med" type="none"/>
              </a:ln>
            </p:spPr>
          </p:cxnSp>
          <p:cxnSp>
            <p:nvCxnSpPr>
              <p:cNvPr id="2125" name="Google Shape;2125;p47"/>
              <p:cNvCxnSpPr/>
              <p:nvPr/>
            </p:nvCxnSpPr>
            <p:spPr>
              <a:xfrm rot="10800000">
                <a:off x="3651" y="1878"/>
                <a:ext cx="76" cy="0"/>
              </a:xfrm>
              <a:prstGeom prst="straightConnector1">
                <a:avLst/>
              </a:prstGeom>
              <a:noFill/>
              <a:ln cap="flat" cmpd="sng" w="28575">
                <a:solidFill>
                  <a:srgbClr val="000000"/>
                </a:solidFill>
                <a:prstDash val="solid"/>
                <a:round/>
                <a:headEnd len="med" w="med" type="none"/>
                <a:tailEnd len="med" w="med" type="none"/>
              </a:ln>
            </p:spPr>
          </p:cxnSp>
          <p:cxnSp>
            <p:nvCxnSpPr>
              <p:cNvPr id="2126" name="Google Shape;2126;p47"/>
              <p:cNvCxnSpPr/>
              <p:nvPr/>
            </p:nvCxnSpPr>
            <p:spPr>
              <a:xfrm rot="10800000">
                <a:off x="3651" y="2841"/>
                <a:ext cx="76" cy="0"/>
              </a:xfrm>
              <a:prstGeom prst="straightConnector1">
                <a:avLst/>
              </a:prstGeom>
              <a:noFill/>
              <a:ln cap="flat" cmpd="sng" w="28575">
                <a:solidFill>
                  <a:srgbClr val="000000"/>
                </a:solidFill>
                <a:prstDash val="solid"/>
                <a:round/>
                <a:headEnd len="med" w="med" type="none"/>
                <a:tailEnd len="med" w="med" type="none"/>
              </a:ln>
            </p:spPr>
          </p:cxnSp>
        </p:grpSp>
      </p:grpSp>
      <p:cxnSp>
        <p:nvCxnSpPr>
          <p:cNvPr id="2127" name="Google Shape;2127;p47"/>
          <p:cNvCxnSpPr/>
          <p:nvPr/>
        </p:nvCxnSpPr>
        <p:spPr>
          <a:xfrm>
            <a:off x="6075362" y="4884737"/>
            <a:ext cx="2100263" cy="468313"/>
          </a:xfrm>
          <a:prstGeom prst="straightConnector1">
            <a:avLst/>
          </a:prstGeom>
          <a:noFill/>
          <a:ln cap="flat" cmpd="sng" w="28575">
            <a:solidFill>
              <a:srgbClr val="000099"/>
            </a:solidFill>
            <a:prstDash val="solid"/>
            <a:round/>
            <a:headEnd len="med" w="med" type="none"/>
            <a:tailEnd len="med" w="med" type="triangle"/>
          </a:ln>
        </p:spPr>
      </p:cxnSp>
      <p:sp>
        <p:nvSpPr>
          <p:cNvPr id="2128" name="Google Shape;2128;p47"/>
          <p:cNvSpPr txBox="1"/>
          <p:nvPr/>
        </p:nvSpPr>
        <p:spPr>
          <a:xfrm>
            <a:off x="2278062" y="1223962"/>
            <a:ext cx="214630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99"/>
              </a:buClr>
              <a:buSzPts val="1600"/>
              <a:buFont typeface="Tahoma"/>
              <a:buNone/>
            </a:pPr>
            <a:r>
              <a:rPr b="0" i="1" lang="en-US" sz="1600" u="sng" cap="none" strike="noStrike">
                <a:solidFill>
                  <a:srgbClr val="000099"/>
                </a:solidFill>
                <a:latin typeface="Tahoma"/>
                <a:ea typeface="Tahoma"/>
                <a:cs typeface="Tahoma"/>
                <a:sym typeface="Tahoma"/>
              </a:rPr>
              <a:t>sender window (N=4)</a:t>
            </a:r>
            <a:endParaRPr/>
          </a:p>
        </p:txBody>
      </p:sp>
      <p:grpSp>
        <p:nvGrpSpPr>
          <p:cNvPr id="2129" name="Google Shape;2129;p47"/>
          <p:cNvGrpSpPr/>
          <p:nvPr/>
        </p:nvGrpSpPr>
        <p:grpSpPr>
          <a:xfrm>
            <a:off x="2317750" y="1570037"/>
            <a:ext cx="1520825" cy="1150938"/>
            <a:chOff x="2317750" y="1570037"/>
            <a:chExt cx="1520825" cy="1150938"/>
          </a:xfrm>
        </p:grpSpPr>
        <p:grpSp>
          <p:nvGrpSpPr>
            <p:cNvPr id="2130" name="Google Shape;2130;p47"/>
            <p:cNvGrpSpPr/>
            <p:nvPr/>
          </p:nvGrpSpPr>
          <p:grpSpPr>
            <a:xfrm>
              <a:off x="2320925" y="1570037"/>
              <a:ext cx="1512887" cy="304800"/>
              <a:chOff x="115" y="914"/>
              <a:chExt cx="953" cy="192"/>
            </a:xfrm>
          </p:grpSpPr>
          <p:sp>
            <p:nvSpPr>
              <p:cNvPr id="2131" name="Google Shape;2131;p4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2" name="Google Shape;2132;p4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133" name="Google Shape;2133;p47"/>
            <p:cNvGrpSpPr/>
            <p:nvPr/>
          </p:nvGrpSpPr>
          <p:grpSpPr>
            <a:xfrm>
              <a:off x="2317750" y="1855787"/>
              <a:ext cx="1512887" cy="304800"/>
              <a:chOff x="115" y="914"/>
              <a:chExt cx="953" cy="192"/>
            </a:xfrm>
          </p:grpSpPr>
          <p:sp>
            <p:nvSpPr>
              <p:cNvPr id="2134" name="Google Shape;2134;p4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5" name="Google Shape;2135;p4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136" name="Google Shape;2136;p47"/>
            <p:cNvGrpSpPr/>
            <p:nvPr/>
          </p:nvGrpSpPr>
          <p:grpSpPr>
            <a:xfrm>
              <a:off x="2325687" y="2141537"/>
              <a:ext cx="1512888" cy="304800"/>
              <a:chOff x="115" y="914"/>
              <a:chExt cx="953" cy="192"/>
            </a:xfrm>
          </p:grpSpPr>
          <p:sp>
            <p:nvSpPr>
              <p:cNvPr id="2137" name="Google Shape;2137;p4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38" name="Google Shape;2138;p4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nvGrpSpPr>
            <p:cNvPr id="2139" name="Google Shape;2139;p47"/>
            <p:cNvGrpSpPr/>
            <p:nvPr/>
          </p:nvGrpSpPr>
          <p:grpSpPr>
            <a:xfrm>
              <a:off x="2322512" y="2416175"/>
              <a:ext cx="1512888" cy="304800"/>
              <a:chOff x="115" y="914"/>
              <a:chExt cx="953" cy="192"/>
            </a:xfrm>
          </p:grpSpPr>
          <p:sp>
            <p:nvSpPr>
              <p:cNvPr id="2140" name="Google Shape;2140;p47"/>
              <p:cNvSpPr/>
              <p:nvPr/>
            </p:nvSpPr>
            <p:spPr>
              <a:xfrm>
                <a:off x="152" y="936"/>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41" name="Google Shape;2141;p47"/>
              <p:cNvSpPr txBox="1"/>
              <p:nvPr/>
            </p:nvSpPr>
            <p:spPr>
              <a:xfrm>
                <a:off x="115" y="914"/>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400"/>
                  <a:buFont typeface="Arial"/>
                  <a:buNone/>
                </a:pPr>
                <a:r>
                  <a:rPr b="0" i="0" lang="en-US" sz="1400" u="none" cap="none" strike="noStrike">
                    <a:solidFill>
                      <a:srgbClr val="FFFFFF"/>
                    </a:solidFill>
                    <a:latin typeface="Arial"/>
                    <a:ea typeface="Arial"/>
                    <a:cs typeface="Arial"/>
                    <a:sym typeface="Arial"/>
                  </a:rPr>
                  <a:t>0 1 2 3 </a:t>
                </a:r>
                <a:r>
                  <a:rPr b="0" i="0" lang="en-US" sz="1400" u="none" cap="none" strike="noStrike">
                    <a:solidFill>
                      <a:srgbClr val="000000"/>
                    </a:solidFill>
                    <a:latin typeface="Arial"/>
                    <a:ea typeface="Arial"/>
                    <a:cs typeface="Arial"/>
                    <a:sym typeface="Arial"/>
                  </a:rPr>
                  <a:t>4 5 6 7 8 </a:t>
                </a:r>
                <a:endParaRPr/>
              </a:p>
            </p:txBody>
          </p:sp>
        </p:grpSp>
      </p:grpSp>
      <p:grpSp>
        <p:nvGrpSpPr>
          <p:cNvPr id="2142" name="Google Shape;2142;p47"/>
          <p:cNvGrpSpPr/>
          <p:nvPr/>
        </p:nvGrpSpPr>
        <p:grpSpPr>
          <a:xfrm>
            <a:off x="2319337" y="3135312"/>
            <a:ext cx="3749675" cy="369332"/>
            <a:chOff x="2319337" y="3135312"/>
            <a:chExt cx="3749675" cy="369332"/>
          </a:xfrm>
        </p:grpSpPr>
        <p:sp>
          <p:nvSpPr>
            <p:cNvPr id="2143" name="Google Shape;2143;p47"/>
            <p:cNvSpPr/>
            <p:nvPr/>
          </p:nvSpPr>
          <p:spPr>
            <a:xfrm>
              <a:off x="2533650" y="3221037"/>
              <a:ext cx="628650" cy="2286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144" name="Google Shape;2144;p47"/>
            <p:cNvGrpSpPr/>
            <p:nvPr/>
          </p:nvGrpSpPr>
          <p:grpSpPr>
            <a:xfrm>
              <a:off x="2319337" y="3135312"/>
              <a:ext cx="3749675" cy="369332"/>
              <a:chOff x="2319337" y="3135312"/>
              <a:chExt cx="3749675" cy="369332"/>
            </a:xfrm>
          </p:grpSpPr>
          <p:sp>
            <p:nvSpPr>
              <p:cNvPr id="2145" name="Google Shape;2145;p47"/>
              <p:cNvSpPr txBox="1"/>
              <p:nvPr/>
            </p:nvSpPr>
            <p:spPr>
              <a:xfrm>
                <a:off x="3894955" y="3135312"/>
                <a:ext cx="217405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ack0, send pkt4</a:t>
                </a:r>
                <a:endParaRPr/>
              </a:p>
            </p:txBody>
          </p:sp>
          <p:sp>
            <p:nvSpPr>
              <p:cNvPr id="2146" name="Google Shape;2146;p47"/>
              <p:cNvSpPr txBox="1"/>
              <p:nvPr/>
            </p:nvSpPr>
            <p:spPr>
              <a:xfrm>
                <a:off x="2319337" y="3186112"/>
                <a:ext cx="1512888"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a:t>
                </a:r>
                <a:r>
                  <a:rPr b="0" i="0" lang="en-US" sz="1400" u="none" cap="none" strike="noStrike">
                    <a:solidFill>
                      <a:srgbClr val="FFFFFF"/>
                    </a:solidFill>
                    <a:latin typeface="Arial"/>
                    <a:ea typeface="Arial"/>
                    <a:cs typeface="Arial"/>
                    <a:sym typeface="Arial"/>
                  </a:rPr>
                  <a:t>1 2 3 4</a:t>
                </a:r>
                <a:r>
                  <a:rPr b="0" i="0" lang="en-US" sz="1400" u="none" cap="none" strike="noStrike">
                    <a:solidFill>
                      <a:srgbClr val="000000"/>
                    </a:solidFill>
                    <a:latin typeface="Arial"/>
                    <a:ea typeface="Arial"/>
                    <a:cs typeface="Arial"/>
                    <a:sym typeface="Arial"/>
                  </a:rPr>
                  <a:t> 5 6 7 8 </a:t>
                </a:r>
                <a:endParaRPr/>
              </a:p>
            </p:txBody>
          </p:sp>
        </p:grpSp>
      </p:grpSp>
      <p:grpSp>
        <p:nvGrpSpPr>
          <p:cNvPr id="2147" name="Google Shape;2147;p47"/>
          <p:cNvGrpSpPr/>
          <p:nvPr/>
        </p:nvGrpSpPr>
        <p:grpSpPr>
          <a:xfrm>
            <a:off x="2305050" y="4754562"/>
            <a:ext cx="1520825" cy="1050925"/>
            <a:chOff x="2305050" y="4754562"/>
            <a:chExt cx="1520825" cy="1050925"/>
          </a:xfrm>
        </p:grpSpPr>
        <p:grpSp>
          <p:nvGrpSpPr>
            <p:cNvPr id="2148" name="Google Shape;2148;p47"/>
            <p:cNvGrpSpPr/>
            <p:nvPr/>
          </p:nvGrpSpPr>
          <p:grpSpPr>
            <a:xfrm>
              <a:off x="2305050" y="4754562"/>
              <a:ext cx="1512887" cy="304800"/>
              <a:chOff x="112" y="2105"/>
              <a:chExt cx="953" cy="192"/>
            </a:xfrm>
          </p:grpSpPr>
          <p:sp>
            <p:nvSpPr>
              <p:cNvPr id="2149" name="Google Shape;2149;p4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0" name="Google Shape;2150;p4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151" name="Google Shape;2151;p47"/>
            <p:cNvGrpSpPr/>
            <p:nvPr/>
          </p:nvGrpSpPr>
          <p:grpSpPr>
            <a:xfrm>
              <a:off x="2312987" y="4995862"/>
              <a:ext cx="1512888" cy="304800"/>
              <a:chOff x="112" y="2105"/>
              <a:chExt cx="953" cy="192"/>
            </a:xfrm>
          </p:grpSpPr>
          <p:sp>
            <p:nvSpPr>
              <p:cNvPr id="2152" name="Google Shape;2152;p4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3" name="Google Shape;2153;p4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154" name="Google Shape;2154;p47"/>
            <p:cNvGrpSpPr/>
            <p:nvPr/>
          </p:nvGrpSpPr>
          <p:grpSpPr>
            <a:xfrm>
              <a:off x="2309812" y="5259387"/>
              <a:ext cx="1512888" cy="304800"/>
              <a:chOff x="112" y="2105"/>
              <a:chExt cx="953" cy="192"/>
            </a:xfrm>
          </p:grpSpPr>
          <p:sp>
            <p:nvSpPr>
              <p:cNvPr id="2155" name="Google Shape;2155;p4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6" name="Google Shape;2156;p4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nvGrpSpPr>
            <p:cNvPr id="2157" name="Google Shape;2157;p47"/>
            <p:cNvGrpSpPr/>
            <p:nvPr/>
          </p:nvGrpSpPr>
          <p:grpSpPr>
            <a:xfrm>
              <a:off x="2306637" y="5500687"/>
              <a:ext cx="1512888" cy="304800"/>
              <a:chOff x="112" y="2105"/>
              <a:chExt cx="953" cy="192"/>
            </a:xfrm>
          </p:grpSpPr>
          <p:sp>
            <p:nvSpPr>
              <p:cNvPr id="2158" name="Google Shape;2158;p4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59" name="Google Shape;2159;p4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grpSp>
      <p:grpSp>
        <p:nvGrpSpPr>
          <p:cNvPr id="2160" name="Google Shape;2160;p47"/>
          <p:cNvGrpSpPr/>
          <p:nvPr/>
        </p:nvGrpSpPr>
        <p:grpSpPr>
          <a:xfrm>
            <a:off x="7129462" y="3876675"/>
            <a:ext cx="1039813" cy="873125"/>
            <a:chOff x="7129462" y="3876675"/>
            <a:chExt cx="1039813" cy="873125"/>
          </a:xfrm>
        </p:grpSpPr>
        <p:cxnSp>
          <p:nvCxnSpPr>
            <p:cNvPr id="2161" name="Google Shape;2161;p47"/>
            <p:cNvCxnSpPr/>
            <p:nvPr/>
          </p:nvCxnSpPr>
          <p:spPr>
            <a:xfrm flipH="1">
              <a:off x="7129462" y="3876675"/>
              <a:ext cx="1033463" cy="563562"/>
            </a:xfrm>
            <a:prstGeom prst="straightConnector1">
              <a:avLst/>
            </a:prstGeom>
            <a:noFill/>
            <a:ln cap="flat" cmpd="sng" w="28575">
              <a:solidFill>
                <a:srgbClr val="008000"/>
              </a:solidFill>
              <a:prstDash val="solid"/>
              <a:round/>
              <a:headEnd len="med" w="med" type="none"/>
              <a:tailEnd len="med" w="med" type="triangle"/>
            </a:ln>
          </p:spPr>
        </p:cxnSp>
        <p:cxnSp>
          <p:nvCxnSpPr>
            <p:cNvPr id="2162" name="Google Shape;2162;p47"/>
            <p:cNvCxnSpPr/>
            <p:nvPr/>
          </p:nvCxnSpPr>
          <p:spPr>
            <a:xfrm flipH="1">
              <a:off x="7135812" y="4186237"/>
              <a:ext cx="1033463" cy="563563"/>
            </a:xfrm>
            <a:prstGeom prst="straightConnector1">
              <a:avLst/>
            </a:prstGeom>
            <a:noFill/>
            <a:ln cap="flat" cmpd="sng" w="28575">
              <a:solidFill>
                <a:srgbClr val="008000"/>
              </a:solidFill>
              <a:prstDash val="solid"/>
              <a:round/>
              <a:headEnd len="med" w="med" type="none"/>
              <a:tailEnd len="med" w="med" type="triangle"/>
            </a:ln>
          </p:spPr>
        </p:cxnSp>
      </p:grpSp>
      <p:cxnSp>
        <p:nvCxnSpPr>
          <p:cNvPr id="2163" name="Google Shape;2163;p47"/>
          <p:cNvCxnSpPr/>
          <p:nvPr/>
        </p:nvCxnSpPr>
        <p:spPr>
          <a:xfrm flipH="1">
            <a:off x="7156450" y="5376862"/>
            <a:ext cx="1033462" cy="563563"/>
          </a:xfrm>
          <a:prstGeom prst="straightConnector1">
            <a:avLst/>
          </a:prstGeom>
          <a:noFill/>
          <a:ln cap="flat" cmpd="sng" w="28575">
            <a:solidFill>
              <a:srgbClr val="008000"/>
            </a:solidFill>
            <a:prstDash val="solid"/>
            <a:round/>
            <a:headEnd len="med" w="med" type="none"/>
            <a:tailEnd len="med" w="med" type="triangle"/>
          </a:ln>
        </p:spPr>
      </p:cxnSp>
      <p:grpSp>
        <p:nvGrpSpPr>
          <p:cNvPr id="2164" name="Google Shape;2164;p47"/>
          <p:cNvGrpSpPr/>
          <p:nvPr/>
        </p:nvGrpSpPr>
        <p:grpSpPr>
          <a:xfrm>
            <a:off x="2316162" y="3452813"/>
            <a:ext cx="3752850" cy="369332"/>
            <a:chOff x="2316162" y="3452813"/>
            <a:chExt cx="3752850" cy="369332"/>
          </a:xfrm>
        </p:grpSpPr>
        <p:grpSp>
          <p:nvGrpSpPr>
            <p:cNvPr id="2165" name="Google Shape;2165;p47"/>
            <p:cNvGrpSpPr/>
            <p:nvPr/>
          </p:nvGrpSpPr>
          <p:grpSpPr>
            <a:xfrm>
              <a:off x="2316162" y="3460750"/>
              <a:ext cx="1512888" cy="304800"/>
              <a:chOff x="112" y="2105"/>
              <a:chExt cx="953" cy="192"/>
            </a:xfrm>
          </p:grpSpPr>
          <p:sp>
            <p:nvSpPr>
              <p:cNvPr id="2166" name="Google Shape;2166;p47"/>
              <p:cNvSpPr/>
              <p:nvPr/>
            </p:nvSpPr>
            <p:spPr>
              <a:xfrm>
                <a:off x="338" y="2127"/>
                <a:ext cx="396" cy="144"/>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167" name="Google Shape;2167;p47"/>
              <p:cNvSpPr txBox="1"/>
              <p:nvPr/>
            </p:nvSpPr>
            <p:spPr>
              <a:xfrm>
                <a:off x="112" y="2105"/>
                <a:ext cx="953" cy="1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0 1</a:t>
                </a:r>
                <a:r>
                  <a:rPr b="0" i="0" lang="en-US" sz="1400" u="none" cap="none" strike="noStrike">
                    <a:solidFill>
                      <a:srgbClr val="FFFFFF"/>
                    </a:solidFill>
                    <a:latin typeface="Arial"/>
                    <a:ea typeface="Arial"/>
                    <a:cs typeface="Arial"/>
                    <a:sym typeface="Arial"/>
                  </a:rPr>
                  <a:t> 2 3 4 5</a:t>
                </a:r>
                <a:r>
                  <a:rPr b="0" i="0" lang="en-US" sz="1400" u="none" cap="none" strike="noStrike">
                    <a:solidFill>
                      <a:srgbClr val="000000"/>
                    </a:solidFill>
                    <a:latin typeface="Arial"/>
                    <a:ea typeface="Arial"/>
                    <a:cs typeface="Arial"/>
                    <a:sym typeface="Arial"/>
                  </a:rPr>
                  <a:t> 6 7 8 </a:t>
                </a:r>
                <a:endParaRPr/>
              </a:p>
            </p:txBody>
          </p:sp>
        </p:grpSp>
        <p:sp>
          <p:nvSpPr>
            <p:cNvPr id="2168" name="Google Shape;2168;p47"/>
            <p:cNvSpPr txBox="1"/>
            <p:nvPr/>
          </p:nvSpPr>
          <p:spPr>
            <a:xfrm>
              <a:off x="3860800" y="3452813"/>
              <a:ext cx="2208212"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ack1, send pkt5</a:t>
              </a:r>
              <a:endParaRPr/>
            </a:p>
          </p:txBody>
        </p:sp>
      </p:grpSp>
      <p:cxnSp>
        <p:nvCxnSpPr>
          <p:cNvPr id="2169" name="Google Shape;2169;p47"/>
          <p:cNvCxnSpPr/>
          <p:nvPr/>
        </p:nvCxnSpPr>
        <p:spPr>
          <a:xfrm>
            <a:off x="6037263" y="1612900"/>
            <a:ext cx="7938" cy="4292600"/>
          </a:xfrm>
          <a:prstGeom prst="straightConnector1">
            <a:avLst/>
          </a:prstGeom>
          <a:noFill/>
          <a:ln cap="flat" cmpd="sng" w="9525">
            <a:solidFill>
              <a:srgbClr val="000000"/>
            </a:solidFill>
            <a:prstDash val="solid"/>
            <a:round/>
            <a:headEnd len="med" w="med" type="none"/>
            <a:tailEnd len="med" w="med" type="none"/>
          </a:ln>
        </p:spPr>
      </p:cxnSp>
      <p:sp>
        <p:nvSpPr>
          <p:cNvPr id="2170" name="Google Shape;2170;p47"/>
          <p:cNvSpPr txBox="1"/>
          <p:nvPr/>
        </p:nvSpPr>
        <p:spPr>
          <a:xfrm>
            <a:off x="8122331" y="2003425"/>
            <a:ext cx="2568575" cy="1465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pkt0, send ack0</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pkt1, send ack1</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pkt3, </a:t>
            </a:r>
            <a:r>
              <a:rPr b="0" i="0" lang="en-US" sz="1800" u="none" cap="none" strike="noStrike">
                <a:solidFill>
                  <a:srgbClr val="C00000"/>
                </a:solidFill>
                <a:latin typeface="Tahoma"/>
                <a:ea typeface="Tahoma"/>
                <a:cs typeface="Tahoma"/>
                <a:sym typeface="Tahoma"/>
              </a:rPr>
              <a:t>buffer</a:t>
            </a:r>
            <a:r>
              <a:rPr b="0" i="0" lang="en-US" sz="1800" u="none" cap="none" strike="noStrike">
                <a:solidFill>
                  <a:srgbClr val="000000"/>
                </a:solidFill>
                <a:latin typeface="Tahoma"/>
                <a:ea typeface="Tahoma"/>
                <a:cs typeface="Tahoma"/>
                <a:sym typeface="Tahoma"/>
              </a:rPr>
              <a:t>, </a:t>
            </a:r>
            <a:endParaRPr/>
          </a:p>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           </a:t>
            </a:r>
            <a:r>
              <a:rPr b="0" i="0" lang="en-US" sz="1800" u="none" cap="none" strike="noStrike">
                <a:solidFill>
                  <a:srgbClr val="C00000"/>
                </a:solidFill>
                <a:latin typeface="Tahoma"/>
                <a:ea typeface="Tahoma"/>
                <a:cs typeface="Tahoma"/>
                <a:sym typeface="Tahoma"/>
              </a:rPr>
              <a:t>send ack3</a:t>
            </a:r>
            <a:endParaRPr/>
          </a:p>
        </p:txBody>
      </p:sp>
      <p:sp>
        <p:nvSpPr>
          <p:cNvPr id="2171" name="Google Shape;2171;p47"/>
          <p:cNvSpPr txBox="1"/>
          <p:nvPr/>
        </p:nvSpPr>
        <p:spPr>
          <a:xfrm>
            <a:off x="4390118" y="3967162"/>
            <a:ext cx="1698625" cy="304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00000"/>
              </a:buClr>
              <a:buSzPts val="1400"/>
              <a:buFont typeface="Tahoma"/>
              <a:buNone/>
            </a:pPr>
            <a:r>
              <a:rPr b="0" i="0" lang="en-US" sz="1400" u="none" cap="none" strike="noStrike">
                <a:solidFill>
                  <a:srgbClr val="C00000"/>
                </a:solidFill>
                <a:latin typeface="Tahoma"/>
                <a:ea typeface="Tahoma"/>
                <a:cs typeface="Tahoma"/>
                <a:sym typeface="Tahoma"/>
              </a:rPr>
              <a:t>record ack3 arrived</a:t>
            </a:r>
            <a:endParaRPr/>
          </a:p>
        </p:txBody>
      </p:sp>
      <p:sp>
        <p:nvSpPr>
          <p:cNvPr id="2172" name="Google Shape;2172;p47"/>
          <p:cNvSpPr txBox="1"/>
          <p:nvPr/>
        </p:nvSpPr>
        <p:spPr>
          <a:xfrm>
            <a:off x="8169956" y="36036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pkt4,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ack4</a:t>
            </a:r>
            <a:endParaRPr/>
          </a:p>
        </p:txBody>
      </p:sp>
      <p:sp>
        <p:nvSpPr>
          <p:cNvPr id="2173" name="Google Shape;2173;p47"/>
          <p:cNvSpPr txBox="1"/>
          <p:nvPr/>
        </p:nvSpPr>
        <p:spPr>
          <a:xfrm>
            <a:off x="8189006" y="4124325"/>
            <a:ext cx="2300287"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receive pkt5, </a:t>
            </a:r>
            <a:r>
              <a:rPr b="0" i="0" lang="en-US" sz="1800" u="none" cap="none" strike="noStrike">
                <a:solidFill>
                  <a:srgbClr val="C00000"/>
                </a:solidFill>
                <a:latin typeface="Tahoma"/>
                <a:ea typeface="Tahoma"/>
                <a:cs typeface="Tahoma"/>
                <a:sym typeface="Tahoma"/>
              </a:rPr>
              <a:t>buffer, </a:t>
            </a:r>
            <a:endParaRPr/>
          </a:p>
          <a:p>
            <a:pPr indent="0" lvl="0" marL="0" marR="0" rtl="0" algn="l">
              <a:lnSpc>
                <a:spcPct val="10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           send ack5</a:t>
            </a:r>
            <a:endParaRPr/>
          </a:p>
        </p:txBody>
      </p:sp>
      <p:sp>
        <p:nvSpPr>
          <p:cNvPr id="2174" name="Google Shape;2174;p47"/>
          <p:cNvSpPr txBox="1"/>
          <p:nvPr/>
        </p:nvSpPr>
        <p:spPr>
          <a:xfrm>
            <a:off x="8162018" y="5189537"/>
            <a:ext cx="2960688" cy="587375"/>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800"/>
              <a:buFont typeface="Tahoma"/>
              <a:buNone/>
            </a:pPr>
            <a:r>
              <a:rPr b="0" i="0" lang="en-US" sz="1800" u="none" cap="none" strike="noStrike">
                <a:solidFill>
                  <a:srgbClr val="000000"/>
                </a:solidFill>
                <a:latin typeface="Tahoma"/>
                <a:ea typeface="Tahoma"/>
                <a:cs typeface="Tahoma"/>
                <a:sym typeface="Tahoma"/>
              </a:rPr>
              <a:t>rcv pkt2; </a:t>
            </a:r>
            <a:r>
              <a:rPr b="0" i="0" lang="en-US" sz="1800" u="none" cap="none" strike="noStrike">
                <a:solidFill>
                  <a:srgbClr val="C00000"/>
                </a:solidFill>
                <a:latin typeface="Tahoma"/>
                <a:ea typeface="Tahoma"/>
                <a:cs typeface="Tahoma"/>
                <a:sym typeface="Tahoma"/>
              </a:rPr>
              <a:t>deliver pkt2,</a:t>
            </a:r>
            <a:endParaRPr/>
          </a:p>
          <a:p>
            <a:pPr indent="0" lvl="0" marL="0" marR="0" rtl="0" algn="l">
              <a:lnSpc>
                <a:spcPct val="90000"/>
              </a:lnSpc>
              <a:spcBef>
                <a:spcPts val="0"/>
              </a:spcBef>
              <a:spcAft>
                <a:spcPts val="0"/>
              </a:spcAft>
              <a:buClr>
                <a:srgbClr val="C00000"/>
              </a:buClr>
              <a:buSzPts val="1800"/>
              <a:buFont typeface="Tahoma"/>
              <a:buNone/>
            </a:pPr>
            <a:r>
              <a:rPr b="0" i="0" lang="en-US" sz="1800" u="none" cap="none" strike="noStrike">
                <a:solidFill>
                  <a:srgbClr val="C00000"/>
                </a:solidFill>
                <a:latin typeface="Tahoma"/>
                <a:ea typeface="Tahoma"/>
                <a:cs typeface="Tahoma"/>
                <a:sym typeface="Tahoma"/>
              </a:rPr>
              <a:t>pkt3, pkt4, pkt5; send ack2</a:t>
            </a:r>
            <a:endParaRPr/>
          </a:p>
        </p:txBody>
      </p:sp>
      <p:sp>
        <p:nvSpPr>
          <p:cNvPr id="2175" name="Google Shape;2175;p47"/>
          <p:cNvSpPr txBox="1"/>
          <p:nvPr/>
        </p:nvSpPr>
        <p:spPr>
          <a:xfrm>
            <a:off x="4472668" y="5919787"/>
            <a:ext cx="3498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ahoma"/>
              <a:buNone/>
            </a:pPr>
            <a:r>
              <a:rPr b="0" i="1" lang="en-US" sz="1600" u="none" cap="none" strike="noStrike">
                <a:solidFill>
                  <a:srgbClr val="000000"/>
                </a:solidFill>
                <a:latin typeface="Tahoma"/>
                <a:ea typeface="Tahoma"/>
                <a:cs typeface="Tahoma"/>
                <a:sym typeface="Tahoma"/>
              </a:rPr>
              <a:t>Q: what happens when ack2 arrives?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9"/>
                                        </p:tgtEl>
                                        <p:attrNameLst>
                                          <p:attrName>style.visibility</p:attrName>
                                        </p:attrNameLst>
                                      </p:cBhvr>
                                      <p:to>
                                        <p:strVal val="visible"/>
                                      </p:to>
                                    </p:set>
                                    <p:animEffect filter="fade" transition="in">
                                      <p:cBhvr>
                                        <p:cTn dur="500"/>
                                        <p:tgtEl>
                                          <p:spTgt spid="212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03"/>
                                        </p:tgtEl>
                                        <p:attrNameLst>
                                          <p:attrName>style.visibility</p:attrName>
                                        </p:attrNameLst>
                                      </p:cBhvr>
                                      <p:to>
                                        <p:strVal val="visible"/>
                                      </p:to>
                                    </p:set>
                                    <p:animEffect filter="fade" transition="in">
                                      <p:cBhvr>
                                        <p:cTn dur="500"/>
                                        <p:tgtEl>
                                          <p:spTgt spid="210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09"/>
                                        </p:tgtEl>
                                        <p:attrNameLst>
                                          <p:attrName>style.visibility</p:attrName>
                                        </p:attrNameLst>
                                      </p:cBhvr>
                                      <p:to>
                                        <p:strVal val="visible"/>
                                      </p:to>
                                    </p:set>
                                    <p:animEffect filter="fade" transition="in">
                                      <p:cBhvr>
                                        <p:cTn dur="500"/>
                                        <p:tgtEl>
                                          <p:spTgt spid="2109"/>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70"/>
                                        </p:tgtEl>
                                        <p:attrNameLst>
                                          <p:attrName>style.visibility</p:attrName>
                                        </p:attrNameLst>
                                      </p:cBhvr>
                                      <p:to>
                                        <p:strVal val="visible"/>
                                      </p:to>
                                    </p:set>
                                    <p:animEffect filter="fade" transition="in">
                                      <p:cBhvr>
                                        <p:cTn dur="500"/>
                                        <p:tgtEl>
                                          <p:spTgt spid="2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8"/>
                                        </p:tgtEl>
                                        <p:attrNameLst>
                                          <p:attrName>style.visibility</p:attrName>
                                        </p:attrNameLst>
                                      </p:cBhvr>
                                      <p:to>
                                        <p:strVal val="visible"/>
                                      </p:to>
                                    </p:set>
                                    <p:animEffect filter="fade" transition="in">
                                      <p:cBhvr>
                                        <p:cTn dur="500"/>
                                        <p:tgtEl>
                                          <p:spTgt spid="2108"/>
                                        </p:tgtEl>
                                      </p:cBhvr>
                                    </p:animEffect>
                                  </p:childTnLst>
                                </p:cTn>
                              </p:par>
                              <p:par>
                                <p:cTn fill="hold" nodeType="withEffect" presetClass="entr" presetID="10" presetSubtype="0">
                                  <p:stCondLst>
                                    <p:cond delay="0"/>
                                  </p:stCondLst>
                                  <p:childTnLst>
                                    <p:set>
                                      <p:cBhvr>
                                        <p:cTn dur="1" fill="hold">
                                          <p:stCondLst>
                                            <p:cond delay="0"/>
                                          </p:stCondLst>
                                        </p:cTn>
                                        <p:tgtEl>
                                          <p:spTgt spid="2116"/>
                                        </p:tgtEl>
                                        <p:attrNameLst>
                                          <p:attrName>style.visibility</p:attrName>
                                        </p:attrNameLst>
                                      </p:cBhvr>
                                      <p:to>
                                        <p:strVal val="visible"/>
                                      </p:to>
                                    </p:set>
                                    <p:animEffect filter="fade" transition="in">
                                      <p:cBhvr>
                                        <p:cTn dur="500"/>
                                        <p:tgtEl>
                                          <p:spTgt spid="2116"/>
                                        </p:tgtEl>
                                      </p:cBhvr>
                                    </p:animEffect>
                                  </p:childTnLst>
                                </p:cTn>
                              </p:par>
                              <p:par>
                                <p:cTn fill="hold" nodeType="withEffect" presetClass="entr" presetID="10" presetSubtype="0">
                                  <p:stCondLst>
                                    <p:cond delay="0"/>
                                  </p:stCondLst>
                                  <p:childTnLst>
                                    <p:set>
                                      <p:cBhvr>
                                        <p:cTn dur="1" fill="hold">
                                          <p:stCondLst>
                                            <p:cond delay="0"/>
                                          </p:stCondLst>
                                        </p:cTn>
                                        <p:tgtEl>
                                          <p:spTgt spid="2119"/>
                                        </p:tgtEl>
                                        <p:attrNameLst>
                                          <p:attrName>style.visibility</p:attrName>
                                        </p:attrNameLst>
                                      </p:cBhvr>
                                      <p:to>
                                        <p:strVal val="visible"/>
                                      </p:to>
                                    </p:set>
                                    <p:animEffect filter="fade" transition="in">
                                      <p:cBhvr>
                                        <p:cTn dur="500"/>
                                        <p:tgtEl>
                                          <p:spTgt spid="2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500"/>
                                        <p:tgtEl>
                                          <p:spTgt spid="214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17"/>
                                        </p:tgtEl>
                                        <p:attrNameLst>
                                          <p:attrName>style.visibility</p:attrName>
                                        </p:attrNameLst>
                                      </p:cBhvr>
                                      <p:to>
                                        <p:strVal val="visible"/>
                                      </p:to>
                                    </p:set>
                                    <p:animEffect filter="fade" transition="in">
                                      <p:cBhvr>
                                        <p:cTn dur="500"/>
                                        <p:tgtEl>
                                          <p:spTgt spid="21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72"/>
                                        </p:tgtEl>
                                        <p:attrNameLst>
                                          <p:attrName>style.visibility</p:attrName>
                                        </p:attrNameLst>
                                      </p:cBhvr>
                                      <p:to>
                                        <p:strVal val="visible"/>
                                      </p:to>
                                    </p:set>
                                    <p:animEffect filter="fade" transition="in">
                                      <p:cBhvr>
                                        <p:cTn dur="500"/>
                                        <p:tgtEl>
                                          <p:spTgt spid="2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4"/>
                                        </p:tgtEl>
                                        <p:attrNameLst>
                                          <p:attrName>style.visibility</p:attrName>
                                        </p:attrNameLst>
                                      </p:cBhvr>
                                      <p:to>
                                        <p:strVal val="visible"/>
                                      </p:to>
                                    </p:set>
                                    <p:animEffect filter="fade" transition="in">
                                      <p:cBhvr>
                                        <p:cTn dur="500"/>
                                        <p:tgtEl>
                                          <p:spTgt spid="216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18"/>
                                        </p:tgtEl>
                                        <p:attrNameLst>
                                          <p:attrName>style.visibility</p:attrName>
                                        </p:attrNameLst>
                                      </p:cBhvr>
                                      <p:to>
                                        <p:strVal val="visible"/>
                                      </p:to>
                                    </p:set>
                                    <p:animEffect filter="fade" transition="in">
                                      <p:cBhvr>
                                        <p:cTn dur="500"/>
                                        <p:tgtEl>
                                          <p:spTgt spid="21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73"/>
                                        </p:tgtEl>
                                        <p:attrNameLst>
                                          <p:attrName>style.visibility</p:attrName>
                                        </p:attrNameLst>
                                      </p:cBhvr>
                                      <p:to>
                                        <p:strVal val="visible"/>
                                      </p:to>
                                    </p:set>
                                    <p:animEffect filter="fade" transition="in">
                                      <p:cBhvr>
                                        <p:cTn dur="500"/>
                                        <p:tgtEl>
                                          <p:spTgt spid="2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0"/>
                                        </p:tgtEl>
                                        <p:attrNameLst>
                                          <p:attrName>style.visibility</p:attrName>
                                        </p:attrNameLst>
                                      </p:cBhvr>
                                      <p:to>
                                        <p:strVal val="visible"/>
                                      </p:to>
                                    </p:set>
                                    <p:animEffect filter="fade" transition="in">
                                      <p:cBhvr>
                                        <p:cTn dur="500"/>
                                        <p:tgtEl>
                                          <p:spTgt spid="216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71"/>
                                        </p:tgtEl>
                                        <p:attrNameLst>
                                          <p:attrName>style.visibility</p:attrName>
                                        </p:attrNameLst>
                                      </p:cBhvr>
                                      <p:to>
                                        <p:strVal val="visible"/>
                                      </p:to>
                                    </p:set>
                                    <p:animEffect filter="fade" transition="in">
                                      <p:cBhvr>
                                        <p:cTn dur="500"/>
                                        <p:tgtEl>
                                          <p:spTgt spid="2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0"/>
                                        </p:tgtEl>
                                        <p:attrNameLst>
                                          <p:attrName>style.visibility</p:attrName>
                                        </p:attrNameLst>
                                      </p:cBhvr>
                                      <p:to>
                                        <p:strVal val="visible"/>
                                      </p:to>
                                    </p:set>
                                    <p:animEffect filter="fade" transition="in">
                                      <p:cBhvr>
                                        <p:cTn dur="500"/>
                                        <p:tgtEl>
                                          <p:spTgt spid="2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7"/>
                                        </p:tgtEl>
                                        <p:attrNameLst>
                                          <p:attrName>style.visibility</p:attrName>
                                        </p:attrNameLst>
                                      </p:cBhvr>
                                      <p:to>
                                        <p:strVal val="visible"/>
                                      </p:to>
                                    </p:set>
                                    <p:animEffect filter="fade" transition="in">
                                      <p:cBhvr>
                                        <p:cTn dur="500"/>
                                        <p:tgtEl>
                                          <p:spTgt spid="214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107"/>
                                        </p:tgtEl>
                                        <p:attrNameLst>
                                          <p:attrName>style.visibility</p:attrName>
                                        </p:attrNameLst>
                                      </p:cBhvr>
                                      <p:to>
                                        <p:strVal val="visible"/>
                                      </p:to>
                                    </p:set>
                                    <p:animEffect filter="fade" transition="in">
                                      <p:cBhvr>
                                        <p:cTn dur="500"/>
                                        <p:tgtEl>
                                          <p:spTgt spid="210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27"/>
                                        </p:tgtEl>
                                        <p:attrNameLst>
                                          <p:attrName>style.visibility</p:attrName>
                                        </p:attrNameLst>
                                      </p:cBhvr>
                                      <p:to>
                                        <p:strVal val="visible"/>
                                      </p:to>
                                    </p:set>
                                    <p:animEffect filter="fade" transition="in">
                                      <p:cBhvr>
                                        <p:cTn dur="500"/>
                                        <p:tgtEl>
                                          <p:spTgt spid="212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2174"/>
                                        </p:tgtEl>
                                        <p:attrNameLst>
                                          <p:attrName>style.visibility</p:attrName>
                                        </p:attrNameLst>
                                      </p:cBhvr>
                                      <p:to>
                                        <p:strVal val="visible"/>
                                      </p:to>
                                    </p:set>
                                    <p:animEffect filter="fade" transition="in">
                                      <p:cBhvr>
                                        <p:cTn dur="500"/>
                                        <p:tgtEl>
                                          <p:spTgt spid="217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163"/>
                                        </p:tgtEl>
                                        <p:attrNameLst>
                                          <p:attrName>style.visibility</p:attrName>
                                        </p:attrNameLst>
                                      </p:cBhvr>
                                      <p:to>
                                        <p:strVal val="visible"/>
                                      </p:to>
                                    </p:set>
                                    <p:animEffect filter="fade" transition="in">
                                      <p:cBhvr>
                                        <p:cTn dur="500"/>
                                        <p:tgtEl>
                                          <p:spTgt spid="2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5"/>
                                        </p:tgtEl>
                                        <p:attrNameLst>
                                          <p:attrName>style.visibility</p:attrName>
                                        </p:attrNameLst>
                                      </p:cBhvr>
                                      <p:to>
                                        <p:strVal val="visible"/>
                                      </p:to>
                                    </p:set>
                                    <p:animEffect filter="fade" transition="in">
                                      <p:cBhvr>
                                        <p:cTn dur="500"/>
                                        <p:tgtEl>
                                          <p:spTgt spid="2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0" name="Shape 2180"/>
        <p:cNvGrpSpPr/>
        <p:nvPr/>
      </p:nvGrpSpPr>
      <p:grpSpPr>
        <a:xfrm>
          <a:off x="0" y="0"/>
          <a:ext cx="0" cy="0"/>
          <a:chOff x="0" y="0"/>
          <a:chExt cx="0" cy="0"/>
        </a:xfrm>
      </p:grpSpPr>
      <p:sp>
        <p:nvSpPr>
          <p:cNvPr id="2181" name="Google Shape;2181;p48"/>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grpSp>
        <p:nvGrpSpPr>
          <p:cNvPr id="2182" name="Google Shape;2182;p48"/>
          <p:cNvGrpSpPr/>
          <p:nvPr/>
        </p:nvGrpSpPr>
        <p:grpSpPr>
          <a:xfrm>
            <a:off x="6931293" y="4061030"/>
            <a:ext cx="4257675" cy="2225676"/>
            <a:chOff x="6909757" y="4181931"/>
            <a:chExt cx="4257675" cy="2225676"/>
          </a:xfrm>
        </p:grpSpPr>
        <p:grpSp>
          <p:nvGrpSpPr>
            <p:cNvPr id="2183" name="Google Shape;2183;p48"/>
            <p:cNvGrpSpPr/>
            <p:nvPr/>
          </p:nvGrpSpPr>
          <p:grpSpPr>
            <a:xfrm>
              <a:off x="6909757" y="4258131"/>
              <a:ext cx="1030288" cy="274638"/>
              <a:chOff x="1895" y="3931"/>
              <a:chExt cx="649" cy="173"/>
            </a:xfrm>
          </p:grpSpPr>
          <p:sp>
            <p:nvSpPr>
              <p:cNvPr id="2184" name="Google Shape;2184;p4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185" name="Google Shape;2185;p4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186" name="Google Shape;2186;p48"/>
            <p:cNvGrpSpPr/>
            <p:nvPr/>
          </p:nvGrpSpPr>
          <p:grpSpPr>
            <a:xfrm>
              <a:off x="6928807" y="4532769"/>
              <a:ext cx="1030288" cy="274638"/>
              <a:chOff x="1895" y="3931"/>
              <a:chExt cx="649" cy="173"/>
            </a:xfrm>
          </p:grpSpPr>
          <p:sp>
            <p:nvSpPr>
              <p:cNvPr id="2187" name="Google Shape;2187;p4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188" name="Google Shape;2188;p4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189" name="Google Shape;2189;p48"/>
            <p:cNvGrpSpPr/>
            <p:nvPr/>
          </p:nvGrpSpPr>
          <p:grpSpPr>
            <a:xfrm>
              <a:off x="6936745" y="4796294"/>
              <a:ext cx="1030288" cy="274638"/>
              <a:chOff x="1895" y="3931"/>
              <a:chExt cx="649" cy="173"/>
            </a:xfrm>
          </p:grpSpPr>
          <p:sp>
            <p:nvSpPr>
              <p:cNvPr id="2190" name="Google Shape;2190;p4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191" name="Google Shape;2191;p4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2192" name="Google Shape;2192;p48"/>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2193" name="Google Shape;2193;p48"/>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2194" name="Google Shape;2194;p48"/>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2195" name="Google Shape;2195;p48"/>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196" name="Google Shape;2196;p48"/>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2197" name="Google Shape;2197;p48"/>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2198" name="Google Shape;2198;p48"/>
            <p:cNvGrpSpPr/>
            <p:nvPr/>
          </p:nvGrpSpPr>
          <p:grpSpPr>
            <a:xfrm>
              <a:off x="6939920" y="5828170"/>
              <a:ext cx="1030288" cy="274638"/>
              <a:chOff x="1895" y="3931"/>
              <a:chExt cx="649" cy="173"/>
            </a:xfrm>
          </p:grpSpPr>
          <p:sp>
            <p:nvSpPr>
              <p:cNvPr id="2199" name="Google Shape;2199;p4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00" name="Google Shape;2200;p4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2201" name="Google Shape;2201;p48"/>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2202" name="Google Shape;2202;p48"/>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203" name="Google Shape;2203;p48"/>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2204" name="Google Shape;2204;p48"/>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05" name="Google Shape;2205;p48"/>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2206" name="Google Shape;2206;p48"/>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07" name="Google Shape;2207;p48"/>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2208" name="Google Shape;2208;p48"/>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09" name="Google Shape;2209;p48"/>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2210" name="Google Shape;2210;p48"/>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2211" name="Google Shape;2211;p48"/>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2212" name="Google Shape;2212;p48"/>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2213" name="Google Shape;2213;p48"/>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214" name="Google Shape;2214;p48"/>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215" name="Google Shape;2215;p48"/>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216" name="Google Shape;2216;p48"/>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2217" name="Google Shape;2217;p48"/>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2218" name="Google Shape;2218;p48"/>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2219" name="Google Shape;2219;p48"/>
          <p:cNvGrpSpPr/>
          <p:nvPr/>
        </p:nvGrpSpPr>
        <p:grpSpPr>
          <a:xfrm>
            <a:off x="6785932" y="351292"/>
            <a:ext cx="4410075" cy="2644775"/>
            <a:chOff x="6785932" y="351292"/>
            <a:chExt cx="4410075" cy="2644775"/>
          </a:xfrm>
        </p:grpSpPr>
        <p:sp>
          <p:nvSpPr>
            <p:cNvPr id="2220" name="Google Shape;2220;p48"/>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2221" name="Google Shape;2221;p48"/>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2222" name="Google Shape;2222;p48"/>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2223" name="Google Shape;2223;p48"/>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2224" name="Google Shape;2224;p48"/>
            <p:cNvGrpSpPr/>
            <p:nvPr/>
          </p:nvGrpSpPr>
          <p:grpSpPr>
            <a:xfrm>
              <a:off x="6927220" y="1057729"/>
              <a:ext cx="1030287" cy="274638"/>
              <a:chOff x="1895" y="3931"/>
              <a:chExt cx="649" cy="173"/>
            </a:xfrm>
          </p:grpSpPr>
          <p:sp>
            <p:nvSpPr>
              <p:cNvPr id="2225" name="Google Shape;2225;p4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26" name="Google Shape;2226;p4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227" name="Google Shape;2227;p48"/>
            <p:cNvGrpSpPr/>
            <p:nvPr/>
          </p:nvGrpSpPr>
          <p:grpSpPr>
            <a:xfrm>
              <a:off x="6946270" y="1332367"/>
              <a:ext cx="1030287" cy="274638"/>
              <a:chOff x="1895" y="3931"/>
              <a:chExt cx="649" cy="173"/>
            </a:xfrm>
          </p:grpSpPr>
          <p:sp>
            <p:nvSpPr>
              <p:cNvPr id="2228" name="Google Shape;2228;p4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29" name="Google Shape;2229;p4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230" name="Google Shape;2230;p48"/>
            <p:cNvGrpSpPr/>
            <p:nvPr/>
          </p:nvGrpSpPr>
          <p:grpSpPr>
            <a:xfrm>
              <a:off x="6954207" y="1595892"/>
              <a:ext cx="1030287" cy="274638"/>
              <a:chOff x="1895" y="3931"/>
              <a:chExt cx="649" cy="173"/>
            </a:xfrm>
          </p:grpSpPr>
          <p:sp>
            <p:nvSpPr>
              <p:cNvPr id="2231" name="Google Shape;2231;p48"/>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32" name="Google Shape;2232;p48"/>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2233" name="Google Shape;2233;p48"/>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2234" name="Google Shape;2234;p48"/>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2235" name="Google Shape;2235;p48"/>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2236" name="Google Shape;2236;p48"/>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237" name="Google Shape;2237;p48"/>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2238" name="Google Shape;2238;p48"/>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2239" name="Google Shape;2239;p48"/>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40" name="Google Shape;2240;p48"/>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2241" name="Google Shape;2241;p48"/>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2242" name="Google Shape;2242;p48"/>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243" name="Google Shape;2243;p48"/>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44" name="Google Shape;2244;p48"/>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2245" name="Google Shape;2245;p48"/>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46" name="Google Shape;2246;p48"/>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2247" name="Google Shape;2247;p48"/>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48" name="Google Shape;2248;p48"/>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2249" name="Google Shape;2249;p48"/>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2250" name="Google Shape;2250;p48"/>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2251" name="Google Shape;2251;p48"/>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252" name="Google Shape;2252;p48"/>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2253" name="Google Shape;2253;p48"/>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2254" name="Google Shape;2254;p48"/>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2255" name="Google Shape;2255;p48"/>
            <p:cNvGrpSpPr/>
            <p:nvPr/>
          </p:nvGrpSpPr>
          <p:grpSpPr>
            <a:xfrm>
              <a:off x="6957382" y="2037217"/>
              <a:ext cx="1030287" cy="274638"/>
              <a:chOff x="2667" y="3750"/>
              <a:chExt cx="649" cy="173"/>
            </a:xfrm>
          </p:grpSpPr>
          <p:sp>
            <p:nvSpPr>
              <p:cNvPr id="2256" name="Google Shape;2256;p48"/>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57" name="Google Shape;2257;p48"/>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2258" name="Google Shape;2258;p48"/>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2259" name="Google Shape;2259;p48"/>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2260" name="Google Shape;2260;p48"/>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9"/>
                                        </p:tgtEl>
                                        <p:attrNameLst>
                                          <p:attrName>style.visibility</p:attrName>
                                        </p:attrNameLst>
                                      </p:cBhvr>
                                      <p:to>
                                        <p:strVal val="visible"/>
                                      </p:to>
                                    </p:set>
                                    <p:animEffect filter="fade" transition="in">
                                      <p:cBhvr>
                                        <p:cTn dur="500"/>
                                        <p:tgtEl>
                                          <p:spTgt spid="2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9"/>
                                        </p:tgtEl>
                                        <p:attrNameLst>
                                          <p:attrName>style.visibility</p:attrName>
                                        </p:attrNameLst>
                                      </p:cBhvr>
                                      <p:to>
                                        <p:strVal val="visible"/>
                                      </p:to>
                                    </p:set>
                                    <p:animEffect filter="fade" transition="in">
                                      <p:cBhvr>
                                        <p:cTn dur="500"/>
                                        <p:tgtEl>
                                          <p:spTgt spid="2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2"/>
                                        </p:tgtEl>
                                        <p:attrNameLst>
                                          <p:attrName>style.visibility</p:attrName>
                                        </p:attrNameLst>
                                      </p:cBhvr>
                                      <p:to>
                                        <p:strVal val="visible"/>
                                      </p:to>
                                    </p:set>
                                    <p:animEffect filter="fade" transition="in">
                                      <p:cBhvr>
                                        <p:cTn dur="500"/>
                                        <p:tgtEl>
                                          <p:spTgt spid="2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8"/>
                                        </p:tgtEl>
                                        <p:attrNameLst>
                                          <p:attrName>style.visibility</p:attrName>
                                        </p:attrNameLst>
                                      </p:cBhvr>
                                      <p:to>
                                        <p:strVal val="visible"/>
                                      </p:to>
                                    </p:set>
                                    <p:animEffect filter="fade" transition="in">
                                      <p:cBhvr>
                                        <p:cTn dur="500"/>
                                        <p:tgtEl>
                                          <p:spTgt spid="22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5" name="Shape 2265"/>
        <p:cNvGrpSpPr/>
        <p:nvPr/>
      </p:nvGrpSpPr>
      <p:grpSpPr>
        <a:xfrm>
          <a:off x="0" y="0"/>
          <a:ext cx="0" cy="0"/>
          <a:chOff x="0" y="0"/>
          <a:chExt cx="0" cy="0"/>
        </a:xfrm>
      </p:grpSpPr>
      <p:sp>
        <p:nvSpPr>
          <p:cNvPr id="2266" name="Google Shape;2266;p49"/>
          <p:cNvSpPr txBox="1"/>
          <p:nvPr>
            <p:ph type="title"/>
          </p:nvPr>
        </p:nvSpPr>
        <p:spPr>
          <a:xfrm>
            <a:off x="794655" y="408214"/>
            <a:ext cx="6222596" cy="133090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00A3"/>
              </a:buClr>
              <a:buSzPts val="4800"/>
              <a:buFont typeface="Calibri"/>
              <a:buNone/>
            </a:pPr>
            <a:r>
              <a:rPr lang="en-US" sz="4800"/>
              <a:t>Selective repeat: </a:t>
            </a:r>
            <a:br>
              <a:rPr lang="en-US" sz="4800"/>
            </a:br>
            <a:r>
              <a:rPr lang="en-US" sz="4800"/>
              <a:t>a dilemma!</a:t>
            </a:r>
            <a:endParaRPr/>
          </a:p>
        </p:txBody>
      </p:sp>
      <p:sp>
        <p:nvSpPr>
          <p:cNvPr id="2267" name="Google Shape;2267;p49"/>
          <p:cNvSpPr/>
          <p:nvPr/>
        </p:nvSpPr>
        <p:spPr>
          <a:xfrm>
            <a:off x="1004797" y="3949577"/>
            <a:ext cx="5038193" cy="235803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rgbClr val="000099"/>
              </a:buClr>
              <a:buSzPts val="1560"/>
              <a:buFont typeface="Noto Sans Symbols"/>
              <a:buNone/>
            </a:pPr>
            <a:r>
              <a:t/>
            </a:r>
            <a:endParaRPr b="0" i="0" sz="2400" u="none" cap="none" strike="noStrike">
              <a:solidFill>
                <a:srgbClr val="000000"/>
              </a:solidFill>
              <a:latin typeface="Calibri"/>
              <a:ea typeface="Calibri"/>
              <a:cs typeface="Calibri"/>
              <a:sym typeface="Calibri"/>
            </a:endParaRPr>
          </a:p>
          <a:p>
            <a:pPr indent="-342900" lvl="0" marL="342900" marR="0" rtl="0" algn="l">
              <a:lnSpc>
                <a:spcPct val="80000"/>
              </a:lnSpc>
              <a:spcBef>
                <a:spcPts val="560"/>
              </a:spcBef>
              <a:spcAft>
                <a:spcPts val="0"/>
              </a:spcAft>
              <a:buClr>
                <a:srgbClr val="000099"/>
              </a:buClr>
              <a:buSzPts val="1820"/>
              <a:buFont typeface="Calibri"/>
              <a:buNone/>
            </a:pPr>
            <a:r>
              <a:rPr b="0" i="0" lang="en-US" sz="2800" u="none" cap="none" strike="noStrike">
                <a:solidFill>
                  <a:srgbClr val="CC0000"/>
                </a:solidFill>
                <a:latin typeface="Calibri"/>
                <a:ea typeface="Calibri"/>
                <a:cs typeface="Calibri"/>
                <a:sym typeface="Calibri"/>
              </a:rPr>
              <a:t>Q:</a:t>
            </a:r>
            <a:r>
              <a:rPr b="0" i="0" lang="en-US" sz="2800" u="none" cap="none" strike="noStrike">
                <a:solidFill>
                  <a:srgbClr val="000000"/>
                </a:solidFill>
                <a:latin typeface="Calibri"/>
                <a:ea typeface="Calibri"/>
                <a:cs typeface="Calibri"/>
                <a:sym typeface="Calibri"/>
              </a:rPr>
              <a:t> what relationship is needed between sequence # size and window size to avoid problem in scenario (b)?</a:t>
            </a:r>
            <a:endParaRPr/>
          </a:p>
        </p:txBody>
      </p:sp>
      <p:grpSp>
        <p:nvGrpSpPr>
          <p:cNvPr id="2268" name="Google Shape;2268;p49"/>
          <p:cNvGrpSpPr/>
          <p:nvPr/>
        </p:nvGrpSpPr>
        <p:grpSpPr>
          <a:xfrm>
            <a:off x="6931293" y="4061030"/>
            <a:ext cx="4257675" cy="2225676"/>
            <a:chOff x="6909757" y="4181931"/>
            <a:chExt cx="4257675" cy="2225676"/>
          </a:xfrm>
        </p:grpSpPr>
        <p:grpSp>
          <p:nvGrpSpPr>
            <p:cNvPr id="2269" name="Google Shape;2269;p49"/>
            <p:cNvGrpSpPr/>
            <p:nvPr/>
          </p:nvGrpSpPr>
          <p:grpSpPr>
            <a:xfrm>
              <a:off x="6909757" y="4258131"/>
              <a:ext cx="1030288" cy="274638"/>
              <a:chOff x="1895" y="3931"/>
              <a:chExt cx="649" cy="173"/>
            </a:xfrm>
          </p:grpSpPr>
          <p:sp>
            <p:nvSpPr>
              <p:cNvPr id="2270" name="Google Shape;2270;p4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71" name="Google Shape;2271;p4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272" name="Google Shape;2272;p49"/>
            <p:cNvGrpSpPr/>
            <p:nvPr/>
          </p:nvGrpSpPr>
          <p:grpSpPr>
            <a:xfrm>
              <a:off x="6928807" y="4532769"/>
              <a:ext cx="1030288" cy="274638"/>
              <a:chOff x="1895" y="3931"/>
              <a:chExt cx="649" cy="173"/>
            </a:xfrm>
          </p:grpSpPr>
          <p:sp>
            <p:nvSpPr>
              <p:cNvPr id="2273" name="Google Shape;2273;p4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74" name="Google Shape;2274;p4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275" name="Google Shape;2275;p49"/>
            <p:cNvGrpSpPr/>
            <p:nvPr/>
          </p:nvGrpSpPr>
          <p:grpSpPr>
            <a:xfrm>
              <a:off x="6936745" y="4796294"/>
              <a:ext cx="1030288" cy="274638"/>
              <a:chOff x="1895" y="3931"/>
              <a:chExt cx="649" cy="173"/>
            </a:xfrm>
          </p:grpSpPr>
          <p:sp>
            <p:nvSpPr>
              <p:cNvPr id="2276" name="Google Shape;2276;p4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77" name="Google Shape;2277;p4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2278" name="Google Shape;2278;p49"/>
            <p:cNvCxnSpPr/>
            <p:nvPr/>
          </p:nvCxnSpPr>
          <p:spPr>
            <a:xfrm>
              <a:off x="7927345" y="4396244"/>
              <a:ext cx="1827213" cy="238125"/>
            </a:xfrm>
            <a:prstGeom prst="straightConnector1">
              <a:avLst/>
            </a:prstGeom>
            <a:noFill/>
            <a:ln cap="flat" cmpd="sng" w="19050">
              <a:solidFill>
                <a:srgbClr val="000099"/>
              </a:solidFill>
              <a:prstDash val="solid"/>
              <a:round/>
              <a:headEnd len="med" w="med" type="none"/>
              <a:tailEnd len="med" w="med" type="triangle"/>
            </a:ln>
          </p:spPr>
        </p:cxnSp>
        <p:cxnSp>
          <p:nvCxnSpPr>
            <p:cNvPr id="2279" name="Google Shape;2279;p49"/>
            <p:cNvCxnSpPr/>
            <p:nvPr/>
          </p:nvCxnSpPr>
          <p:spPr>
            <a:xfrm>
              <a:off x="7957507" y="4681994"/>
              <a:ext cx="1808163" cy="228600"/>
            </a:xfrm>
            <a:prstGeom prst="straightConnector1">
              <a:avLst/>
            </a:prstGeom>
            <a:noFill/>
            <a:ln cap="flat" cmpd="sng" w="19050">
              <a:solidFill>
                <a:srgbClr val="000099"/>
              </a:solidFill>
              <a:prstDash val="solid"/>
              <a:round/>
              <a:headEnd len="med" w="med" type="none"/>
              <a:tailEnd len="med" w="med" type="triangle"/>
            </a:ln>
          </p:spPr>
        </p:cxnSp>
        <p:cxnSp>
          <p:nvCxnSpPr>
            <p:cNvPr id="2280" name="Google Shape;2280;p49"/>
            <p:cNvCxnSpPr/>
            <p:nvPr/>
          </p:nvCxnSpPr>
          <p:spPr>
            <a:xfrm>
              <a:off x="7987670" y="4967744"/>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2281" name="Google Shape;2281;p49"/>
            <p:cNvSpPr txBox="1"/>
            <p:nvPr/>
          </p:nvSpPr>
          <p:spPr>
            <a:xfrm>
              <a:off x="8040057" y="41819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282" name="Google Shape;2282;p49"/>
            <p:cNvSpPr txBox="1"/>
            <p:nvPr/>
          </p:nvSpPr>
          <p:spPr>
            <a:xfrm>
              <a:off x="8036882" y="446768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2283" name="Google Shape;2283;p49"/>
            <p:cNvSpPr txBox="1"/>
            <p:nvPr/>
          </p:nvSpPr>
          <p:spPr>
            <a:xfrm>
              <a:off x="8033707" y="4753431"/>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grpSp>
          <p:nvGrpSpPr>
            <p:cNvPr id="2284" name="Google Shape;2284;p49"/>
            <p:cNvGrpSpPr/>
            <p:nvPr/>
          </p:nvGrpSpPr>
          <p:grpSpPr>
            <a:xfrm>
              <a:off x="6939920" y="5828170"/>
              <a:ext cx="1030288" cy="274638"/>
              <a:chOff x="1895" y="3931"/>
              <a:chExt cx="649" cy="173"/>
            </a:xfrm>
          </p:grpSpPr>
          <p:sp>
            <p:nvSpPr>
              <p:cNvPr id="2285" name="Google Shape;2285;p4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86" name="Google Shape;2286;p4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2287" name="Google Shape;2287;p49"/>
            <p:cNvCxnSpPr/>
            <p:nvPr/>
          </p:nvCxnSpPr>
          <p:spPr>
            <a:xfrm>
              <a:off x="7990845" y="5961520"/>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2288" name="Google Shape;2288;p49"/>
            <p:cNvSpPr txBox="1"/>
            <p:nvPr/>
          </p:nvSpPr>
          <p:spPr>
            <a:xfrm>
              <a:off x="8074982" y="5747207"/>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289" name="Google Shape;2289;p49"/>
            <p:cNvSpPr txBox="1"/>
            <p:nvPr/>
          </p:nvSpPr>
          <p:spPr>
            <a:xfrm>
              <a:off x="6924045" y="5429707"/>
              <a:ext cx="1382713" cy="47625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timeout</a:t>
              </a:r>
              <a:endParaRPr/>
            </a:p>
            <a:p>
              <a:pPr indent="0" lvl="0" marL="0" marR="0" rtl="0" algn="l">
                <a:lnSpc>
                  <a:spcPct val="9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retransmit pkt0</a:t>
              </a:r>
              <a:endParaRPr/>
            </a:p>
          </p:txBody>
        </p:sp>
        <p:sp>
          <p:nvSpPr>
            <p:cNvPr id="2290" name="Google Shape;2290;p49"/>
            <p:cNvSpPr/>
            <p:nvPr/>
          </p:nvSpPr>
          <p:spPr>
            <a:xfrm>
              <a:off x="9959345" y="4559756"/>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91" name="Google Shape;2291;p49"/>
            <p:cNvSpPr txBox="1"/>
            <p:nvPr/>
          </p:nvSpPr>
          <p:spPr>
            <a:xfrm>
              <a:off x="9770432" y="4510544"/>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2292" name="Google Shape;2292;p49"/>
            <p:cNvSpPr/>
            <p:nvPr/>
          </p:nvSpPr>
          <p:spPr>
            <a:xfrm>
              <a:off x="10079995" y="4831219"/>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93" name="Google Shape;2293;p49"/>
            <p:cNvSpPr txBox="1"/>
            <p:nvPr/>
          </p:nvSpPr>
          <p:spPr>
            <a:xfrm>
              <a:off x="9767257" y="4785181"/>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2294" name="Google Shape;2294;p49"/>
            <p:cNvSpPr/>
            <p:nvPr/>
          </p:nvSpPr>
          <p:spPr>
            <a:xfrm>
              <a:off x="10210170" y="5094744"/>
              <a:ext cx="401638"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295" name="Google Shape;2295;p49"/>
            <p:cNvSpPr txBox="1"/>
            <p:nvPr/>
          </p:nvSpPr>
          <p:spPr>
            <a:xfrm>
              <a:off x="9770432" y="5048707"/>
              <a:ext cx="1030288"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2296" name="Google Shape;2296;p49"/>
            <p:cNvCxnSpPr/>
            <p:nvPr/>
          </p:nvCxnSpPr>
          <p:spPr>
            <a:xfrm flipH="1">
              <a:off x="9122732" y="4642306"/>
              <a:ext cx="577850" cy="257175"/>
            </a:xfrm>
            <a:prstGeom prst="straightConnector1">
              <a:avLst/>
            </a:prstGeom>
            <a:noFill/>
            <a:ln cap="flat" cmpd="sng" w="19050">
              <a:solidFill>
                <a:srgbClr val="008000"/>
              </a:solidFill>
              <a:prstDash val="solid"/>
              <a:round/>
              <a:headEnd len="med" w="med" type="none"/>
              <a:tailEnd len="med" w="med" type="triangle"/>
            </a:ln>
          </p:spPr>
        </p:cxnSp>
        <p:cxnSp>
          <p:nvCxnSpPr>
            <p:cNvPr id="2297" name="Google Shape;2297;p49"/>
            <p:cNvCxnSpPr/>
            <p:nvPr/>
          </p:nvCxnSpPr>
          <p:spPr>
            <a:xfrm flipH="1">
              <a:off x="9122732" y="4905831"/>
              <a:ext cx="608013" cy="225425"/>
            </a:xfrm>
            <a:prstGeom prst="straightConnector1">
              <a:avLst/>
            </a:prstGeom>
            <a:noFill/>
            <a:ln cap="flat" cmpd="sng" w="19050">
              <a:solidFill>
                <a:srgbClr val="008000"/>
              </a:solidFill>
              <a:prstDash val="solid"/>
              <a:round/>
              <a:headEnd len="med" w="med" type="none"/>
              <a:tailEnd len="med" w="med" type="triangle"/>
            </a:ln>
          </p:spPr>
        </p:cxnSp>
        <p:cxnSp>
          <p:nvCxnSpPr>
            <p:cNvPr id="2298" name="Google Shape;2298;p49"/>
            <p:cNvCxnSpPr/>
            <p:nvPr/>
          </p:nvCxnSpPr>
          <p:spPr>
            <a:xfrm flipH="1">
              <a:off x="9129082" y="5169357"/>
              <a:ext cx="631825" cy="212725"/>
            </a:xfrm>
            <a:prstGeom prst="straightConnector1">
              <a:avLst/>
            </a:prstGeom>
            <a:noFill/>
            <a:ln cap="flat" cmpd="sng" w="19050">
              <a:solidFill>
                <a:srgbClr val="008000"/>
              </a:solidFill>
              <a:prstDash val="solid"/>
              <a:round/>
              <a:headEnd len="med" w="med" type="none"/>
              <a:tailEnd len="med" w="med" type="triangle"/>
            </a:ln>
          </p:spPr>
        </p:cxnSp>
        <p:sp>
          <p:nvSpPr>
            <p:cNvPr id="2299" name="Google Shape;2299;p49"/>
            <p:cNvSpPr txBox="1"/>
            <p:nvPr/>
          </p:nvSpPr>
          <p:spPr>
            <a:xfrm>
              <a:off x="8913182" y="4759781"/>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300" name="Google Shape;2300;p49"/>
            <p:cNvSpPr txBox="1"/>
            <p:nvPr/>
          </p:nvSpPr>
          <p:spPr>
            <a:xfrm>
              <a:off x="8921120" y="5002669"/>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301" name="Google Shape;2301;p49"/>
            <p:cNvSpPr txBox="1"/>
            <p:nvPr/>
          </p:nvSpPr>
          <p:spPr>
            <a:xfrm>
              <a:off x="8927470" y="5240794"/>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302" name="Google Shape;2302;p49"/>
            <p:cNvSpPr txBox="1"/>
            <p:nvPr/>
          </p:nvSpPr>
          <p:spPr>
            <a:xfrm>
              <a:off x="9719632" y="595040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2303" name="Google Shape;2303;p49"/>
            <p:cNvCxnSpPr/>
            <p:nvPr/>
          </p:nvCxnSpPr>
          <p:spPr>
            <a:xfrm rot="10800000">
              <a:off x="10424482" y="5345569"/>
              <a:ext cx="0" cy="635000"/>
            </a:xfrm>
            <a:prstGeom prst="straightConnector1">
              <a:avLst/>
            </a:prstGeom>
            <a:noFill/>
            <a:ln cap="flat" cmpd="sng" w="9525">
              <a:solidFill>
                <a:srgbClr val="CC0000"/>
              </a:solidFill>
              <a:prstDash val="solid"/>
              <a:round/>
              <a:headEnd len="med" w="med" type="none"/>
              <a:tailEnd len="med" w="med" type="triangle"/>
            </a:ln>
          </p:spPr>
        </p:cxnSp>
      </p:grpSp>
      <p:sp>
        <p:nvSpPr>
          <p:cNvPr id="2304" name="Google Shape;2304;p49"/>
          <p:cNvSpPr txBox="1"/>
          <p:nvPr/>
        </p:nvSpPr>
        <p:spPr>
          <a:xfrm>
            <a:off x="6903407" y="6111434"/>
            <a:ext cx="1220788"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(b) oops!</a:t>
            </a:r>
            <a:endParaRPr/>
          </a:p>
        </p:txBody>
      </p:sp>
      <p:grpSp>
        <p:nvGrpSpPr>
          <p:cNvPr id="2305" name="Google Shape;2305;p49"/>
          <p:cNvGrpSpPr/>
          <p:nvPr/>
        </p:nvGrpSpPr>
        <p:grpSpPr>
          <a:xfrm>
            <a:off x="6785932" y="351292"/>
            <a:ext cx="4410075" cy="2644775"/>
            <a:chOff x="6785932" y="351292"/>
            <a:chExt cx="4410075" cy="2644775"/>
          </a:xfrm>
        </p:grpSpPr>
        <p:sp>
          <p:nvSpPr>
            <p:cNvPr id="2306" name="Google Shape;2306;p49"/>
            <p:cNvSpPr txBox="1"/>
            <p:nvPr/>
          </p:nvSpPr>
          <p:spPr>
            <a:xfrm>
              <a:off x="9546595" y="351292"/>
              <a:ext cx="1458912"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receiver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sp>
          <p:nvSpPr>
            <p:cNvPr id="2307" name="Google Shape;2307;p49"/>
            <p:cNvSpPr txBox="1"/>
            <p:nvPr/>
          </p:nvSpPr>
          <p:spPr>
            <a:xfrm>
              <a:off x="6785932" y="354467"/>
              <a:ext cx="1365250" cy="517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sender window</a:t>
              </a:r>
              <a:endParaRPr/>
            </a:p>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(after receipt)</a:t>
              </a:r>
              <a:endParaRPr/>
            </a:p>
          </p:txBody>
        </p:sp>
        <p:cxnSp>
          <p:nvCxnSpPr>
            <p:cNvPr id="2308" name="Google Shape;2308;p49"/>
            <p:cNvCxnSpPr/>
            <p:nvPr/>
          </p:nvCxnSpPr>
          <p:spPr>
            <a:xfrm>
              <a:off x="6871657" y="845004"/>
              <a:ext cx="1109663" cy="0"/>
            </a:xfrm>
            <a:prstGeom prst="straightConnector1">
              <a:avLst/>
            </a:prstGeom>
            <a:noFill/>
            <a:ln cap="flat" cmpd="sng" w="19050">
              <a:solidFill>
                <a:srgbClr val="000099"/>
              </a:solidFill>
              <a:prstDash val="solid"/>
              <a:round/>
              <a:headEnd len="med" w="med" type="none"/>
              <a:tailEnd len="med" w="med" type="none"/>
            </a:ln>
          </p:spPr>
        </p:cxnSp>
        <p:cxnSp>
          <p:nvCxnSpPr>
            <p:cNvPr id="2309" name="Google Shape;2309;p49"/>
            <p:cNvCxnSpPr/>
            <p:nvPr/>
          </p:nvCxnSpPr>
          <p:spPr>
            <a:xfrm>
              <a:off x="9652957" y="845004"/>
              <a:ext cx="1109663" cy="0"/>
            </a:xfrm>
            <a:prstGeom prst="straightConnector1">
              <a:avLst/>
            </a:prstGeom>
            <a:noFill/>
            <a:ln cap="flat" cmpd="sng" w="19050">
              <a:solidFill>
                <a:srgbClr val="008000"/>
              </a:solidFill>
              <a:prstDash val="solid"/>
              <a:round/>
              <a:headEnd len="med" w="med" type="none"/>
              <a:tailEnd len="med" w="med" type="none"/>
            </a:ln>
          </p:spPr>
        </p:cxnSp>
        <p:grpSp>
          <p:nvGrpSpPr>
            <p:cNvPr id="2310" name="Google Shape;2310;p49"/>
            <p:cNvGrpSpPr/>
            <p:nvPr/>
          </p:nvGrpSpPr>
          <p:grpSpPr>
            <a:xfrm>
              <a:off x="6927220" y="1057729"/>
              <a:ext cx="1030287" cy="274638"/>
              <a:chOff x="1895" y="3931"/>
              <a:chExt cx="649" cy="173"/>
            </a:xfrm>
          </p:grpSpPr>
          <p:sp>
            <p:nvSpPr>
              <p:cNvPr id="2311" name="Google Shape;2311;p4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12" name="Google Shape;2312;p4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313" name="Google Shape;2313;p49"/>
            <p:cNvGrpSpPr/>
            <p:nvPr/>
          </p:nvGrpSpPr>
          <p:grpSpPr>
            <a:xfrm>
              <a:off x="6946270" y="1332367"/>
              <a:ext cx="1030287" cy="274638"/>
              <a:chOff x="1895" y="3931"/>
              <a:chExt cx="649" cy="173"/>
            </a:xfrm>
          </p:grpSpPr>
          <p:sp>
            <p:nvSpPr>
              <p:cNvPr id="2314" name="Google Shape;2314;p4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15" name="Google Shape;2315;p4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grpSp>
          <p:nvGrpSpPr>
            <p:cNvPr id="2316" name="Google Shape;2316;p49"/>
            <p:cNvGrpSpPr/>
            <p:nvPr/>
          </p:nvGrpSpPr>
          <p:grpSpPr>
            <a:xfrm>
              <a:off x="6954207" y="1595892"/>
              <a:ext cx="1030287" cy="274638"/>
              <a:chOff x="1895" y="3931"/>
              <a:chExt cx="649" cy="173"/>
            </a:xfrm>
          </p:grpSpPr>
          <p:sp>
            <p:nvSpPr>
              <p:cNvPr id="2317" name="Google Shape;2317;p49"/>
              <p:cNvSpPr/>
              <p:nvPr/>
            </p:nvSpPr>
            <p:spPr>
              <a:xfrm>
                <a:off x="1936" y="3962"/>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18" name="Google Shape;2318;p49"/>
              <p:cNvSpPr txBox="1"/>
              <p:nvPr/>
            </p:nvSpPr>
            <p:spPr>
              <a:xfrm>
                <a:off x="1895" y="3931"/>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0 1 2</a:t>
                </a:r>
                <a:r>
                  <a:rPr b="0" i="0" lang="en-US" sz="1200" u="none" cap="none" strike="noStrike">
                    <a:solidFill>
                      <a:srgbClr val="000000"/>
                    </a:solidFill>
                    <a:latin typeface="Arial"/>
                    <a:ea typeface="Arial"/>
                    <a:cs typeface="Arial"/>
                    <a:sym typeface="Arial"/>
                  </a:rPr>
                  <a:t> 3 0 1 2</a:t>
                </a:r>
                <a:endParaRPr/>
              </a:p>
            </p:txBody>
          </p:sp>
        </p:grpSp>
        <p:cxnSp>
          <p:nvCxnSpPr>
            <p:cNvPr id="2319" name="Google Shape;2319;p49"/>
            <p:cNvCxnSpPr/>
            <p:nvPr/>
          </p:nvCxnSpPr>
          <p:spPr>
            <a:xfrm>
              <a:off x="7944807" y="1195842"/>
              <a:ext cx="1827212" cy="238125"/>
            </a:xfrm>
            <a:prstGeom prst="straightConnector1">
              <a:avLst/>
            </a:prstGeom>
            <a:noFill/>
            <a:ln cap="flat" cmpd="sng" w="19050">
              <a:solidFill>
                <a:srgbClr val="000099"/>
              </a:solidFill>
              <a:prstDash val="solid"/>
              <a:round/>
              <a:headEnd len="med" w="med" type="none"/>
              <a:tailEnd len="med" w="med" type="triangle"/>
            </a:ln>
          </p:spPr>
        </p:cxnSp>
        <p:cxnSp>
          <p:nvCxnSpPr>
            <p:cNvPr id="2320" name="Google Shape;2320;p49"/>
            <p:cNvCxnSpPr/>
            <p:nvPr/>
          </p:nvCxnSpPr>
          <p:spPr>
            <a:xfrm>
              <a:off x="7974970" y="1481592"/>
              <a:ext cx="1808162" cy="228600"/>
            </a:xfrm>
            <a:prstGeom prst="straightConnector1">
              <a:avLst/>
            </a:prstGeom>
            <a:noFill/>
            <a:ln cap="flat" cmpd="sng" w="19050">
              <a:solidFill>
                <a:srgbClr val="000099"/>
              </a:solidFill>
              <a:prstDash val="solid"/>
              <a:round/>
              <a:headEnd len="med" w="med" type="none"/>
              <a:tailEnd len="med" w="med" type="triangle"/>
            </a:ln>
          </p:spPr>
        </p:cxnSp>
        <p:cxnSp>
          <p:nvCxnSpPr>
            <p:cNvPr id="2321" name="Google Shape;2321;p49"/>
            <p:cNvCxnSpPr/>
            <p:nvPr/>
          </p:nvCxnSpPr>
          <p:spPr>
            <a:xfrm>
              <a:off x="8005132" y="1767342"/>
              <a:ext cx="1784350" cy="209550"/>
            </a:xfrm>
            <a:prstGeom prst="straightConnector1">
              <a:avLst/>
            </a:prstGeom>
            <a:noFill/>
            <a:ln cap="flat" cmpd="sng" w="19050">
              <a:solidFill>
                <a:srgbClr val="000099"/>
              </a:solidFill>
              <a:prstDash val="solid"/>
              <a:round/>
              <a:headEnd len="med" w="med" type="none"/>
              <a:tailEnd len="med" w="med" type="triangle"/>
            </a:ln>
          </p:spPr>
        </p:cxnSp>
        <p:sp>
          <p:nvSpPr>
            <p:cNvPr id="2322" name="Google Shape;2322;p49"/>
            <p:cNvSpPr txBox="1"/>
            <p:nvPr/>
          </p:nvSpPr>
          <p:spPr>
            <a:xfrm>
              <a:off x="7990845" y="9815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323" name="Google Shape;2323;p49"/>
            <p:cNvSpPr txBox="1"/>
            <p:nvPr/>
          </p:nvSpPr>
          <p:spPr>
            <a:xfrm>
              <a:off x="8054345" y="126727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pkt1</a:t>
              </a:r>
              <a:endParaRPr/>
            </a:p>
          </p:txBody>
        </p:sp>
        <p:sp>
          <p:nvSpPr>
            <p:cNvPr id="2324" name="Google Shape;2324;p49"/>
            <p:cNvSpPr txBox="1"/>
            <p:nvPr/>
          </p:nvSpPr>
          <p:spPr>
            <a:xfrm>
              <a:off x="8051170" y="1553029"/>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pkt2</a:t>
              </a:r>
              <a:endParaRPr/>
            </a:p>
          </p:txBody>
        </p:sp>
        <p:sp>
          <p:nvSpPr>
            <p:cNvPr id="2325" name="Google Shape;2325;p49"/>
            <p:cNvSpPr/>
            <p:nvPr/>
          </p:nvSpPr>
          <p:spPr>
            <a:xfrm>
              <a:off x="7270120" y="2369004"/>
              <a:ext cx="401637" cy="188913"/>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26" name="Google Shape;2326;p49"/>
            <p:cNvSpPr txBox="1"/>
            <p:nvPr/>
          </p:nvSpPr>
          <p:spPr>
            <a:xfrm>
              <a:off x="6957382" y="2322967"/>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3 0</a:t>
              </a:r>
              <a:r>
                <a:rPr b="0" i="0" lang="en-US" sz="1200" u="none" cap="none" strike="noStrike">
                  <a:solidFill>
                    <a:srgbClr val="000000"/>
                  </a:solidFill>
                  <a:latin typeface="Arial"/>
                  <a:ea typeface="Arial"/>
                  <a:cs typeface="Arial"/>
                  <a:sym typeface="Arial"/>
                </a:rPr>
                <a:t> 1 2</a:t>
              </a:r>
              <a:endParaRPr/>
            </a:p>
          </p:txBody>
        </p:sp>
        <p:cxnSp>
          <p:nvCxnSpPr>
            <p:cNvPr id="2327" name="Google Shape;2327;p49"/>
            <p:cNvCxnSpPr/>
            <p:nvPr/>
          </p:nvCxnSpPr>
          <p:spPr>
            <a:xfrm>
              <a:off x="7976557" y="2494417"/>
              <a:ext cx="1784350" cy="223838"/>
            </a:xfrm>
            <a:prstGeom prst="straightConnector1">
              <a:avLst/>
            </a:prstGeom>
            <a:noFill/>
            <a:ln cap="flat" cmpd="sng" w="19050">
              <a:solidFill>
                <a:srgbClr val="000099"/>
              </a:solidFill>
              <a:prstDash val="solid"/>
              <a:round/>
              <a:headEnd len="med" w="med" type="none"/>
              <a:tailEnd len="med" w="med" type="triangle"/>
            </a:ln>
          </p:spPr>
        </p:cxnSp>
        <p:sp>
          <p:nvSpPr>
            <p:cNvPr id="2328" name="Google Shape;2328;p49"/>
            <p:cNvSpPr txBox="1"/>
            <p:nvPr/>
          </p:nvSpPr>
          <p:spPr>
            <a:xfrm>
              <a:off x="8079745" y="250235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pkt0</a:t>
              </a:r>
              <a:endParaRPr/>
            </a:p>
          </p:txBody>
        </p:sp>
        <p:sp>
          <p:nvSpPr>
            <p:cNvPr id="2329" name="Google Shape;2329;p49"/>
            <p:cNvSpPr/>
            <p:nvPr/>
          </p:nvSpPr>
          <p:spPr>
            <a:xfrm>
              <a:off x="9976807" y="1359354"/>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30" name="Google Shape;2330;p49"/>
            <p:cNvSpPr txBox="1"/>
            <p:nvPr/>
          </p:nvSpPr>
          <p:spPr>
            <a:xfrm>
              <a:off x="9787895" y="1310142"/>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a:t>
              </a:r>
              <a:r>
                <a:rPr b="0" i="0" lang="en-US" sz="1200" u="none" cap="none" strike="noStrike">
                  <a:solidFill>
                    <a:srgbClr val="FFFFFF"/>
                  </a:solidFill>
                  <a:latin typeface="Arial"/>
                  <a:ea typeface="Arial"/>
                  <a:cs typeface="Arial"/>
                  <a:sym typeface="Arial"/>
                </a:rPr>
                <a:t> 1 2 3</a:t>
              </a:r>
              <a:r>
                <a:rPr b="0" i="0" lang="en-US" sz="1200" u="none" cap="none" strike="noStrike">
                  <a:solidFill>
                    <a:srgbClr val="000000"/>
                  </a:solidFill>
                  <a:latin typeface="Arial"/>
                  <a:ea typeface="Arial"/>
                  <a:cs typeface="Arial"/>
                  <a:sym typeface="Arial"/>
                </a:rPr>
                <a:t> 0 1 2</a:t>
              </a:r>
              <a:endParaRPr/>
            </a:p>
          </p:txBody>
        </p:sp>
        <p:sp>
          <p:nvSpPr>
            <p:cNvPr id="2331" name="Google Shape;2331;p49"/>
            <p:cNvSpPr/>
            <p:nvPr/>
          </p:nvSpPr>
          <p:spPr>
            <a:xfrm>
              <a:off x="10097457" y="1630817"/>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32" name="Google Shape;2332;p49"/>
            <p:cNvSpPr txBox="1"/>
            <p:nvPr/>
          </p:nvSpPr>
          <p:spPr>
            <a:xfrm>
              <a:off x="9784720" y="1584779"/>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a:t>
              </a:r>
              <a:r>
                <a:rPr b="0" i="0" lang="en-US" sz="1200" u="none" cap="none" strike="noStrike">
                  <a:solidFill>
                    <a:srgbClr val="FFFFFF"/>
                  </a:solidFill>
                  <a:latin typeface="Arial"/>
                  <a:ea typeface="Arial"/>
                  <a:cs typeface="Arial"/>
                  <a:sym typeface="Arial"/>
                </a:rPr>
                <a:t> 2 3 0</a:t>
              </a:r>
              <a:r>
                <a:rPr b="0" i="0" lang="en-US" sz="1200" u="none" cap="none" strike="noStrike">
                  <a:solidFill>
                    <a:srgbClr val="000000"/>
                  </a:solidFill>
                  <a:latin typeface="Arial"/>
                  <a:ea typeface="Arial"/>
                  <a:cs typeface="Arial"/>
                  <a:sym typeface="Arial"/>
                </a:rPr>
                <a:t> 1 2</a:t>
              </a:r>
              <a:endParaRPr/>
            </a:p>
          </p:txBody>
        </p:sp>
        <p:sp>
          <p:nvSpPr>
            <p:cNvPr id="2333" name="Google Shape;2333;p49"/>
            <p:cNvSpPr/>
            <p:nvPr/>
          </p:nvSpPr>
          <p:spPr>
            <a:xfrm>
              <a:off x="10227632" y="1894342"/>
              <a:ext cx="401637" cy="188913"/>
            </a:xfrm>
            <a:prstGeom prst="rect">
              <a:avLst/>
            </a:prstGeom>
            <a:solidFill>
              <a:srgbClr val="0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34" name="Google Shape;2334;p49"/>
            <p:cNvSpPr txBox="1"/>
            <p:nvPr/>
          </p:nvSpPr>
          <p:spPr>
            <a:xfrm>
              <a:off x="9787895" y="1848304"/>
              <a:ext cx="1030287" cy="2746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0 1 2 </a:t>
              </a:r>
              <a:r>
                <a:rPr b="0" i="0" lang="en-US" sz="1200" u="none" cap="none" strike="noStrike">
                  <a:solidFill>
                    <a:srgbClr val="FFFFFF"/>
                  </a:solidFill>
                  <a:latin typeface="Arial"/>
                  <a:ea typeface="Arial"/>
                  <a:cs typeface="Arial"/>
                  <a:sym typeface="Arial"/>
                </a:rPr>
                <a:t>3 0 1</a:t>
              </a:r>
              <a:r>
                <a:rPr b="0" i="0" lang="en-US" sz="1200" u="none" cap="none" strike="noStrike">
                  <a:solidFill>
                    <a:srgbClr val="000000"/>
                  </a:solidFill>
                  <a:latin typeface="Arial"/>
                  <a:ea typeface="Arial"/>
                  <a:cs typeface="Arial"/>
                  <a:sym typeface="Arial"/>
                </a:rPr>
                <a:t> 2</a:t>
              </a:r>
              <a:endParaRPr/>
            </a:p>
          </p:txBody>
        </p:sp>
        <p:cxnSp>
          <p:nvCxnSpPr>
            <p:cNvPr id="2335" name="Google Shape;2335;p49"/>
            <p:cNvCxnSpPr/>
            <p:nvPr/>
          </p:nvCxnSpPr>
          <p:spPr>
            <a:xfrm flipH="1">
              <a:off x="7933695" y="1441904"/>
              <a:ext cx="1784350" cy="735013"/>
            </a:xfrm>
            <a:prstGeom prst="straightConnector1">
              <a:avLst/>
            </a:prstGeom>
            <a:noFill/>
            <a:ln cap="flat" cmpd="sng" w="19050">
              <a:solidFill>
                <a:srgbClr val="008000"/>
              </a:solidFill>
              <a:prstDash val="solid"/>
              <a:round/>
              <a:headEnd len="med" w="med" type="none"/>
              <a:tailEnd len="med" w="med" type="triangle"/>
            </a:ln>
          </p:spPr>
        </p:cxnSp>
        <p:cxnSp>
          <p:nvCxnSpPr>
            <p:cNvPr id="2336" name="Google Shape;2336;p49"/>
            <p:cNvCxnSpPr/>
            <p:nvPr/>
          </p:nvCxnSpPr>
          <p:spPr>
            <a:xfrm flipH="1">
              <a:off x="7952745" y="1705429"/>
              <a:ext cx="1795462" cy="758825"/>
            </a:xfrm>
            <a:prstGeom prst="straightConnector1">
              <a:avLst/>
            </a:prstGeom>
            <a:noFill/>
            <a:ln cap="flat" cmpd="sng" w="19050">
              <a:solidFill>
                <a:srgbClr val="008000"/>
              </a:solidFill>
              <a:prstDash val="solid"/>
              <a:round/>
              <a:headEnd len="med" w="med" type="none"/>
              <a:tailEnd len="med" w="med" type="triangle"/>
            </a:ln>
          </p:spPr>
        </p:cxnSp>
        <p:sp>
          <p:nvSpPr>
            <p:cNvPr id="2337" name="Google Shape;2337;p49"/>
            <p:cNvSpPr txBox="1"/>
            <p:nvPr/>
          </p:nvSpPr>
          <p:spPr>
            <a:xfrm>
              <a:off x="8452807" y="2132467"/>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600"/>
                <a:buFont typeface="Tahoma"/>
                <a:buNone/>
              </a:pPr>
              <a:r>
                <a:rPr b="1" i="0" lang="en-US" sz="1600" u="none" cap="none" strike="noStrike">
                  <a:solidFill>
                    <a:srgbClr val="FF0000"/>
                  </a:solidFill>
                  <a:latin typeface="Tahoma"/>
                  <a:ea typeface="Tahoma"/>
                  <a:cs typeface="Tahoma"/>
                  <a:sym typeface="Tahoma"/>
                </a:rPr>
                <a:t>X</a:t>
              </a:r>
              <a:endParaRPr/>
            </a:p>
          </p:txBody>
        </p:sp>
        <p:sp>
          <p:nvSpPr>
            <p:cNvPr id="2338" name="Google Shape;2338;p49"/>
            <p:cNvSpPr txBox="1"/>
            <p:nvPr/>
          </p:nvSpPr>
          <p:spPr>
            <a:xfrm>
              <a:off x="9748207" y="2538867"/>
              <a:ext cx="1447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will accept packet</a:t>
              </a:r>
              <a:endParaRPr/>
            </a:p>
            <a:p>
              <a:pPr indent="0" lvl="0" marL="0" marR="0" rtl="0" algn="l">
                <a:lnSpc>
                  <a:spcPct val="100000"/>
                </a:lnSpc>
                <a:spcBef>
                  <a:spcPts val="0"/>
                </a:spcBef>
                <a:spcAft>
                  <a:spcPts val="0"/>
                </a:spcAft>
                <a:buClr>
                  <a:srgbClr val="CC0000"/>
                </a:buClr>
                <a:buSzPts val="1200"/>
                <a:buFont typeface="Tahoma"/>
                <a:buNone/>
              </a:pPr>
              <a:r>
                <a:rPr b="0" i="1" lang="en-US" sz="1200" u="none" cap="none" strike="noStrike">
                  <a:solidFill>
                    <a:srgbClr val="CC0000"/>
                  </a:solidFill>
                  <a:latin typeface="Tahoma"/>
                  <a:ea typeface="Tahoma"/>
                  <a:cs typeface="Tahoma"/>
                  <a:sym typeface="Tahoma"/>
                </a:rPr>
                <a:t>with seq number 0</a:t>
              </a:r>
              <a:endParaRPr/>
            </a:p>
          </p:txBody>
        </p:sp>
        <p:cxnSp>
          <p:nvCxnSpPr>
            <p:cNvPr id="2339" name="Google Shape;2339;p49"/>
            <p:cNvCxnSpPr/>
            <p:nvPr/>
          </p:nvCxnSpPr>
          <p:spPr>
            <a:xfrm rot="10800000">
              <a:off x="10441945" y="2145167"/>
              <a:ext cx="0" cy="446088"/>
            </a:xfrm>
            <a:prstGeom prst="straightConnector1">
              <a:avLst/>
            </a:prstGeom>
            <a:noFill/>
            <a:ln cap="flat" cmpd="sng" w="9525">
              <a:solidFill>
                <a:srgbClr val="CC0000"/>
              </a:solidFill>
              <a:prstDash val="solid"/>
              <a:round/>
              <a:headEnd len="med" w="med" type="none"/>
              <a:tailEnd len="med" w="med" type="triangle"/>
            </a:ln>
          </p:spPr>
        </p:cxnSp>
        <p:cxnSp>
          <p:nvCxnSpPr>
            <p:cNvPr id="2340" name="Google Shape;2340;p49"/>
            <p:cNvCxnSpPr/>
            <p:nvPr/>
          </p:nvCxnSpPr>
          <p:spPr>
            <a:xfrm>
              <a:off x="7968620" y="2203904"/>
              <a:ext cx="590550" cy="73025"/>
            </a:xfrm>
            <a:prstGeom prst="straightConnector1">
              <a:avLst/>
            </a:prstGeom>
            <a:noFill/>
            <a:ln cap="flat" cmpd="sng" w="19050">
              <a:solidFill>
                <a:srgbClr val="000099"/>
              </a:solidFill>
              <a:prstDash val="solid"/>
              <a:round/>
              <a:headEnd len="med" w="med" type="none"/>
              <a:tailEnd len="med" w="med" type="triangle"/>
            </a:ln>
          </p:spPr>
        </p:cxnSp>
        <p:grpSp>
          <p:nvGrpSpPr>
            <p:cNvPr id="2341" name="Google Shape;2341;p49"/>
            <p:cNvGrpSpPr/>
            <p:nvPr/>
          </p:nvGrpSpPr>
          <p:grpSpPr>
            <a:xfrm>
              <a:off x="6957382" y="2037217"/>
              <a:ext cx="1030287" cy="274638"/>
              <a:chOff x="2667" y="3750"/>
              <a:chExt cx="649" cy="173"/>
            </a:xfrm>
          </p:grpSpPr>
          <p:sp>
            <p:nvSpPr>
              <p:cNvPr id="2342" name="Google Shape;2342;p49"/>
              <p:cNvSpPr/>
              <p:nvPr/>
            </p:nvSpPr>
            <p:spPr>
              <a:xfrm>
                <a:off x="2786" y="3779"/>
                <a:ext cx="253" cy="119"/>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Tahoma"/>
                  <a:ea typeface="Tahoma"/>
                  <a:cs typeface="Tahoma"/>
                  <a:sym typeface="Tahoma"/>
                </a:endParaRPr>
              </a:p>
            </p:txBody>
          </p:sp>
          <p:sp>
            <p:nvSpPr>
              <p:cNvPr id="2343" name="Google Shape;2343;p49"/>
              <p:cNvSpPr txBox="1"/>
              <p:nvPr/>
            </p:nvSpPr>
            <p:spPr>
              <a:xfrm>
                <a:off x="2667" y="3750"/>
                <a:ext cx="649" cy="1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0 </a:t>
                </a:r>
                <a:r>
                  <a:rPr b="0" i="0" lang="en-US" sz="1200" u="none" cap="none" strike="noStrike">
                    <a:solidFill>
                      <a:srgbClr val="FFFFFF"/>
                    </a:solidFill>
                    <a:latin typeface="Arial"/>
                    <a:ea typeface="Arial"/>
                    <a:cs typeface="Arial"/>
                    <a:sym typeface="Arial"/>
                  </a:rPr>
                  <a:t>1 2</a:t>
                </a:r>
                <a:r>
                  <a:rPr b="0" i="0" lang="en-US" sz="1200" u="none" cap="none" strike="noStrike">
                    <a:solidFill>
                      <a:srgbClr val="000000"/>
                    </a:solidFill>
                    <a:latin typeface="Arial"/>
                    <a:ea typeface="Arial"/>
                    <a:cs typeface="Arial"/>
                    <a:sym typeface="Arial"/>
                  </a:rPr>
                  <a:t> </a:t>
                </a:r>
                <a:r>
                  <a:rPr b="0" i="0" lang="en-US" sz="1200" u="none" cap="none" strike="noStrike">
                    <a:solidFill>
                      <a:srgbClr val="FFFFFF"/>
                    </a:solidFill>
                    <a:latin typeface="Arial"/>
                    <a:ea typeface="Arial"/>
                    <a:cs typeface="Arial"/>
                    <a:sym typeface="Arial"/>
                  </a:rPr>
                  <a:t>3 </a:t>
                </a:r>
                <a:r>
                  <a:rPr b="0" i="0" lang="en-US" sz="1200" u="none" cap="none" strike="noStrike">
                    <a:solidFill>
                      <a:srgbClr val="000000"/>
                    </a:solidFill>
                    <a:latin typeface="Arial"/>
                    <a:ea typeface="Arial"/>
                    <a:cs typeface="Arial"/>
                    <a:sym typeface="Arial"/>
                  </a:rPr>
                  <a:t>0 1 2</a:t>
                </a:r>
                <a:endParaRPr/>
              </a:p>
            </p:txBody>
          </p:sp>
        </p:grpSp>
        <p:sp>
          <p:nvSpPr>
            <p:cNvPr id="2344" name="Google Shape;2344;p49"/>
            <p:cNvSpPr txBox="1"/>
            <p:nvPr/>
          </p:nvSpPr>
          <p:spPr>
            <a:xfrm>
              <a:off x="8082920" y="1988004"/>
              <a:ext cx="5270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pkt3</a:t>
              </a:r>
              <a:endParaRPr/>
            </a:p>
          </p:txBody>
        </p:sp>
      </p:grpSp>
      <p:sp>
        <p:nvSpPr>
          <p:cNvPr id="2345" name="Google Shape;2345;p49"/>
          <p:cNvSpPr txBox="1"/>
          <p:nvPr/>
        </p:nvSpPr>
        <p:spPr>
          <a:xfrm>
            <a:off x="6800220" y="2834142"/>
            <a:ext cx="1879361"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2000"/>
              <a:buFont typeface="Tahoma"/>
              <a:buNone/>
            </a:pPr>
            <a:r>
              <a:rPr b="0" i="0" lang="en-US" sz="2000" u="none" cap="none" strike="noStrike">
                <a:solidFill>
                  <a:srgbClr val="C00000"/>
                </a:solidFill>
                <a:latin typeface="Tahoma"/>
                <a:ea typeface="Tahoma"/>
                <a:cs typeface="Tahoma"/>
                <a:sym typeface="Tahoma"/>
              </a:rPr>
              <a:t>(a) no problem</a:t>
            </a:r>
            <a:endParaRPr/>
          </a:p>
        </p:txBody>
      </p:sp>
      <p:sp>
        <p:nvSpPr>
          <p:cNvPr id="2346" name="Google Shape;2346;p49"/>
          <p:cNvSpPr txBox="1"/>
          <p:nvPr/>
        </p:nvSpPr>
        <p:spPr>
          <a:xfrm>
            <a:off x="794654" y="1899557"/>
            <a:ext cx="5517245" cy="1326243"/>
          </a:xfrm>
          <a:prstGeom prst="rect">
            <a:avLst/>
          </a:prstGeom>
          <a:noFill/>
          <a:ln>
            <a:noFill/>
          </a:ln>
        </p:spPr>
        <p:txBody>
          <a:bodyPr anchorCtr="0" anchor="t" bIns="45700" lIns="91425" spcFirstLastPara="1" rIns="91425" wrap="square" tIns="45700">
            <a:normAutofit/>
          </a:bodyPr>
          <a:lstStyle/>
          <a:p>
            <a:pPr indent="0" lvl="0" marL="1587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example: </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seq #s: 0, 1, 2, 3 </a:t>
            </a:r>
            <a:r>
              <a:rPr b="0" i="0" lang="en-US" sz="2000" u="none" cap="none" strike="noStrike">
                <a:solidFill>
                  <a:srgbClr val="000000"/>
                </a:solidFill>
                <a:latin typeface="Calibri"/>
                <a:ea typeface="Calibri"/>
                <a:cs typeface="Calibri"/>
                <a:sym typeface="Calibri"/>
              </a:rPr>
              <a:t>(base 4 counting)</a:t>
            </a:r>
            <a:endParaRPr/>
          </a:p>
          <a:p>
            <a:pPr indent="-222250" lvl="0" marL="352425" marR="0" rtl="0" algn="l">
              <a:lnSpc>
                <a:spcPct val="80000"/>
              </a:lnSpc>
              <a:spcBef>
                <a:spcPts val="1000"/>
              </a:spcBef>
              <a:spcAft>
                <a:spcPts val="0"/>
              </a:spcAft>
              <a:buClr>
                <a:srgbClr val="0000A3"/>
              </a:buClr>
              <a:buSzPts val="2400"/>
              <a:buFont typeface="Noto Sans Symbols"/>
              <a:buChar char="▪"/>
            </a:pPr>
            <a:r>
              <a:rPr b="0" i="0" lang="en-US" sz="2400" u="none" cap="none" strike="noStrike">
                <a:solidFill>
                  <a:srgbClr val="000000"/>
                </a:solidFill>
                <a:latin typeface="Calibri"/>
                <a:ea typeface="Calibri"/>
                <a:cs typeface="Calibri"/>
                <a:sym typeface="Calibri"/>
              </a:rPr>
              <a:t>window size=3</a:t>
            </a:r>
            <a:endParaRPr b="0" i="0" sz="2800" u="none" cap="none" strike="noStrike">
              <a:solidFill>
                <a:srgbClr val="000000"/>
              </a:solidFill>
              <a:latin typeface="Calibri"/>
              <a:ea typeface="Calibri"/>
              <a:cs typeface="Calibri"/>
              <a:sym typeface="Calibri"/>
            </a:endParaRPr>
          </a:p>
        </p:txBody>
      </p:sp>
      <p:grpSp>
        <p:nvGrpSpPr>
          <p:cNvPr id="2347" name="Google Shape;2347;p49"/>
          <p:cNvGrpSpPr/>
          <p:nvPr/>
        </p:nvGrpSpPr>
        <p:grpSpPr>
          <a:xfrm>
            <a:off x="6612895" y="981529"/>
            <a:ext cx="2769497" cy="5564188"/>
            <a:chOff x="6612895" y="981529"/>
            <a:chExt cx="2769497" cy="5564188"/>
          </a:xfrm>
        </p:grpSpPr>
        <p:sp>
          <p:nvSpPr>
            <p:cNvPr id="2348" name="Google Shape;2348;p49"/>
            <p:cNvSpPr/>
            <p:nvPr/>
          </p:nvSpPr>
          <p:spPr>
            <a:xfrm>
              <a:off x="6612895" y="981529"/>
              <a:ext cx="2463800" cy="5564188"/>
            </a:xfrm>
            <a:prstGeom prst="rect">
              <a:avLst/>
            </a:prstGeom>
            <a:solidFill>
              <a:schemeClr val="lt1">
                <a:alpha val="9686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nvGrpSpPr>
            <p:cNvPr id="2349" name="Google Shape;2349;p49"/>
            <p:cNvGrpSpPr/>
            <p:nvPr/>
          </p:nvGrpSpPr>
          <p:grpSpPr>
            <a:xfrm>
              <a:off x="8864867" y="1005799"/>
              <a:ext cx="517525" cy="5278437"/>
              <a:chOff x="3821" y="550"/>
              <a:chExt cx="326" cy="3325"/>
            </a:xfrm>
          </p:grpSpPr>
          <p:pic>
            <p:nvPicPr>
              <p:cNvPr descr="curtain" id="2350" name="Google Shape;2350;p49"/>
              <p:cNvPicPr preferRelativeResize="0"/>
              <p:nvPr/>
            </p:nvPicPr>
            <p:blipFill rotWithShape="1">
              <a:blip r:embed="rId3">
                <a:alphaModFix/>
              </a:blip>
              <a:srcRect b="0" l="0" r="0" t="0"/>
              <a:stretch/>
            </p:blipFill>
            <p:spPr>
              <a:xfrm>
                <a:off x="3823" y="550"/>
                <a:ext cx="284" cy="1366"/>
              </a:xfrm>
              <a:prstGeom prst="rect">
                <a:avLst/>
              </a:prstGeom>
              <a:noFill/>
              <a:ln>
                <a:noFill/>
              </a:ln>
            </p:spPr>
          </p:pic>
          <p:pic>
            <p:nvPicPr>
              <p:cNvPr descr="curtain" id="2351" name="Google Shape;2351;p49"/>
              <p:cNvPicPr preferRelativeResize="0"/>
              <p:nvPr/>
            </p:nvPicPr>
            <p:blipFill rotWithShape="1">
              <a:blip r:embed="rId3">
                <a:alphaModFix/>
              </a:blip>
              <a:srcRect b="0" l="0" r="0" t="0"/>
              <a:stretch/>
            </p:blipFill>
            <p:spPr>
              <a:xfrm>
                <a:off x="3821" y="2564"/>
                <a:ext cx="326" cy="1311"/>
              </a:xfrm>
              <a:prstGeom prst="rect">
                <a:avLst/>
              </a:prstGeom>
              <a:noFill/>
              <a:ln>
                <a:noFill/>
              </a:ln>
            </p:spPr>
          </p:pic>
        </p:grpSp>
      </p:grpSp>
      <p:sp>
        <p:nvSpPr>
          <p:cNvPr id="2352" name="Google Shape;2352;p49"/>
          <p:cNvSpPr txBox="1"/>
          <p:nvPr/>
        </p:nvSpPr>
        <p:spPr>
          <a:xfrm>
            <a:off x="6811617" y="2358260"/>
            <a:ext cx="2107096" cy="2308324"/>
          </a:xfrm>
          <a:prstGeom prst="rect">
            <a:avLst/>
          </a:prstGeom>
          <a:solidFill>
            <a:schemeClr val="lt1"/>
          </a:solidFill>
          <a:ln>
            <a:noFill/>
          </a:ln>
        </p:spPr>
        <p:txBody>
          <a:bodyPr anchorCtr="0" anchor="t" bIns="45700" lIns="91425" spcFirstLastPara="1" rIns="91425" wrap="square" tIns="45700">
            <a:spAutoFit/>
          </a:bodyPr>
          <a:lstStyle/>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can’t see sender side</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000000"/>
                </a:solidFill>
                <a:latin typeface="Calibri"/>
                <a:ea typeface="Calibri"/>
                <a:cs typeface="Calibri"/>
                <a:sym typeface="Calibri"/>
              </a:rPr>
              <a:t>receiver behavior identical in both cases!</a:t>
            </a:r>
            <a:endParaRPr/>
          </a:p>
          <a:p>
            <a:pPr indent="-171450" lvl="0" marL="171450" marR="0" rtl="0" algn="l">
              <a:lnSpc>
                <a:spcPct val="90000"/>
              </a:lnSpc>
              <a:spcBef>
                <a:spcPts val="0"/>
              </a:spcBef>
              <a:spcAft>
                <a:spcPts val="0"/>
              </a:spcAft>
              <a:buClr>
                <a:srgbClr val="0013A3"/>
              </a:buClr>
              <a:buSzPts val="2000"/>
              <a:buFont typeface="Noto Sans Symbols"/>
              <a:buChar char="▪"/>
            </a:pPr>
            <a:r>
              <a:rPr b="0" i="1" lang="en-US" sz="2000" u="none" cap="none" strike="noStrike">
                <a:solidFill>
                  <a:srgbClr val="CC0000"/>
                </a:solidFill>
                <a:latin typeface="Calibri"/>
                <a:ea typeface="Calibri"/>
                <a:cs typeface="Calibri"/>
                <a:sym typeface="Calibri"/>
              </a:rPr>
              <a:t>something’s (very) wrong!</a:t>
            </a:r>
            <a:endParaRPr b="0" i="1" sz="2000" u="none" cap="none" strike="noStrike">
              <a:solidFill>
                <a:srgbClr val="CC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52"/>
                                        </p:tgtEl>
                                        <p:attrNameLst>
                                          <p:attrName>style.visibility</p:attrName>
                                        </p:attrNameLst>
                                      </p:cBhvr>
                                      <p:to>
                                        <p:strVal val="visible"/>
                                      </p:to>
                                    </p:set>
                                    <p:animEffect filter="fade" transition="in">
                                      <p:cBhvr>
                                        <p:cTn dur="500"/>
                                        <p:tgtEl>
                                          <p:spTgt spid="2352"/>
                                        </p:tgtEl>
                                      </p:cBhvr>
                                    </p:animEffect>
                                  </p:childTnLst>
                                </p:cTn>
                              </p:par>
                              <p:par>
                                <p:cTn fill="hold" nodeType="withEffect" presetClass="entr" presetID="10" presetSubtype="0">
                                  <p:stCondLst>
                                    <p:cond delay="0"/>
                                  </p:stCondLst>
                                  <p:childTnLst>
                                    <p:set>
                                      <p:cBhvr>
                                        <p:cTn dur="1" fill="hold">
                                          <p:stCondLst>
                                            <p:cond delay="0"/>
                                          </p:stCondLst>
                                        </p:cTn>
                                        <p:tgtEl>
                                          <p:spTgt spid="2347"/>
                                        </p:tgtEl>
                                        <p:attrNameLst>
                                          <p:attrName>style.visibility</p:attrName>
                                        </p:attrNameLst>
                                      </p:cBhvr>
                                      <p:to>
                                        <p:strVal val="visible"/>
                                      </p:to>
                                    </p:set>
                                    <p:animEffect filter="fade" transition="in">
                                      <p:cBhvr>
                                        <p:cTn dur="500"/>
                                        <p:tgtEl>
                                          <p:spTgt spid="23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7"/>
                                        </p:tgtEl>
                                        <p:attrNameLst>
                                          <p:attrName>style.visibility</p:attrName>
                                        </p:attrNameLst>
                                      </p:cBhvr>
                                      <p:to>
                                        <p:strVal val="visible"/>
                                      </p:to>
                                    </p:set>
                                    <p:animEffect filter="fade" transition="in">
                                      <p:cBhvr>
                                        <p:cTn dur="500"/>
                                        <p:tgtEl>
                                          <p:spTgt spid="2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7" name="Shape 2357"/>
        <p:cNvGrpSpPr/>
        <p:nvPr/>
      </p:nvGrpSpPr>
      <p:grpSpPr>
        <a:xfrm>
          <a:off x="0" y="0"/>
          <a:ext cx="0" cy="0"/>
          <a:chOff x="0" y="0"/>
          <a:chExt cx="0" cy="0"/>
        </a:xfrm>
      </p:grpSpPr>
      <p:sp>
        <p:nvSpPr>
          <p:cNvPr id="2358" name="Google Shape;2358;p50"/>
          <p:cNvSpPr txBox="1"/>
          <p:nvPr>
            <p:ph type="title"/>
          </p:nvPr>
        </p:nvSpPr>
        <p:spPr>
          <a:xfrm>
            <a:off x="580529" y="650420"/>
            <a:ext cx="6551791" cy="11167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6000"/>
              <a:buFont typeface="Calibri"/>
              <a:buNone/>
            </a:pPr>
            <a:r>
              <a:rPr lang="en-US" sz="6000"/>
              <a:t>Transport Layer</a:t>
            </a:r>
            <a:endParaRPr sz="6000"/>
          </a:p>
        </p:txBody>
      </p:sp>
      <p:sp>
        <p:nvSpPr>
          <p:cNvPr id="2359" name="Google Shape;2359;p50"/>
          <p:cNvSpPr txBox="1"/>
          <p:nvPr>
            <p:ph idx="2" type="body"/>
          </p:nvPr>
        </p:nvSpPr>
        <p:spPr>
          <a:xfrm>
            <a:off x="590430" y="1783836"/>
            <a:ext cx="7372469" cy="4173132"/>
          </a:xfrm>
          <a:prstGeom prst="rect">
            <a:avLst/>
          </a:prstGeom>
          <a:noFill/>
          <a:ln>
            <a:noFill/>
          </a:ln>
        </p:spPr>
        <p:txBody>
          <a:bodyPr anchorCtr="0" anchor="t" bIns="45700" lIns="91425" spcFirstLastPara="1" rIns="91425" wrap="square" tIns="45700">
            <a:normAutofit/>
          </a:bodyPr>
          <a:lstStyle/>
          <a:p>
            <a:pPr indent="-285750" lvl="0" marL="403225" rtl="0" algn="l">
              <a:lnSpc>
                <a:spcPct val="90000"/>
              </a:lnSpc>
              <a:spcBef>
                <a:spcPts val="0"/>
              </a:spcBef>
              <a:spcAft>
                <a:spcPts val="0"/>
              </a:spcAft>
              <a:buClr>
                <a:srgbClr val="BFBFBF"/>
              </a:buClr>
              <a:buSzPts val="2800"/>
              <a:buChar char="▪"/>
            </a:pPr>
            <a:r>
              <a:rPr lang="en-US">
                <a:solidFill>
                  <a:srgbClr val="BFBFBF"/>
                </a:solidFill>
              </a:rPr>
              <a:t>Transport-layer services</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Multiplexing and demultiplexing</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Connectionless transport: UDP</a:t>
            </a:r>
            <a:endParaRPr/>
          </a:p>
          <a:p>
            <a:pPr indent="-285750" lvl="0" marL="403225" rtl="0" algn="l">
              <a:lnSpc>
                <a:spcPct val="90000"/>
              </a:lnSpc>
              <a:spcBef>
                <a:spcPts val="800"/>
              </a:spcBef>
              <a:spcAft>
                <a:spcPts val="0"/>
              </a:spcAft>
              <a:buClr>
                <a:srgbClr val="BFBFBF"/>
              </a:buClr>
              <a:buSzPts val="2800"/>
              <a:buChar char="▪"/>
            </a:pPr>
            <a:r>
              <a:rPr lang="en-US"/>
              <a:t>Principles of reliable data transfer (1)</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Connection-oriented transport: TCP</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Principles of congestion control</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TCP congestion control </a:t>
            </a:r>
            <a:endParaRPr/>
          </a:p>
          <a:p>
            <a:pPr indent="-285750" lvl="0" marL="403225" rtl="0" algn="l">
              <a:lnSpc>
                <a:spcPct val="90000"/>
              </a:lnSpc>
              <a:spcBef>
                <a:spcPts val="800"/>
              </a:spcBef>
              <a:spcAft>
                <a:spcPts val="0"/>
              </a:spcAft>
              <a:buClr>
                <a:srgbClr val="BFBFBF"/>
              </a:buClr>
              <a:buSzPts val="2800"/>
              <a:buChar char="▪"/>
            </a:pPr>
            <a:r>
              <a:rPr lang="en-US">
                <a:solidFill>
                  <a:srgbClr val="BFBFBF"/>
                </a:solidFill>
              </a:rPr>
              <a:t>Evolution of transport-layer functionality</a:t>
            </a:r>
            <a:endParaRPr/>
          </a:p>
          <a:p>
            <a:pPr indent="-222250" lvl="0" marL="352425" rtl="0" algn="l">
              <a:lnSpc>
                <a:spcPct val="90000"/>
              </a:lnSpc>
              <a:spcBef>
                <a:spcPts val="1000"/>
              </a:spcBef>
              <a:spcAft>
                <a:spcPts val="0"/>
              </a:spcAft>
              <a:buClr>
                <a:srgbClr val="0013A3"/>
              </a:buClr>
              <a:buSzPts val="2400"/>
              <a:buFont typeface="Noto Sans Symbols"/>
              <a:buNone/>
            </a:pPr>
            <a:r>
              <a:t/>
            </a:r>
            <a:endParaRPr sz="2400"/>
          </a:p>
        </p:txBody>
      </p:sp>
      <p:grpSp>
        <p:nvGrpSpPr>
          <p:cNvPr id="2360" name="Google Shape;2360;p50"/>
          <p:cNvGrpSpPr/>
          <p:nvPr/>
        </p:nvGrpSpPr>
        <p:grpSpPr>
          <a:xfrm>
            <a:off x="7421880" y="792480"/>
            <a:ext cx="4399280" cy="3866277"/>
            <a:chOff x="7421880" y="792480"/>
            <a:chExt cx="4399280" cy="3866277"/>
          </a:xfrm>
        </p:grpSpPr>
        <p:pic>
          <p:nvPicPr>
            <p:cNvPr descr="University of Massachusetts Amherst - Wikipedia" id="2361" name="Google Shape;2361;p50"/>
            <p:cNvPicPr preferRelativeResize="0"/>
            <p:nvPr/>
          </p:nvPicPr>
          <p:blipFill rotWithShape="1">
            <a:blip r:embed="rId3">
              <a:alphaModFix/>
            </a:blip>
            <a:srcRect b="0" l="0" r="0" t="0"/>
            <a:stretch/>
          </p:blipFill>
          <p:spPr>
            <a:xfrm>
              <a:off x="10886440" y="2125980"/>
              <a:ext cx="848360" cy="848360"/>
            </a:xfrm>
            <a:prstGeom prst="rect">
              <a:avLst/>
            </a:prstGeom>
            <a:noFill/>
            <a:ln>
              <a:noFill/>
            </a:ln>
          </p:spPr>
        </p:pic>
        <p:sp>
          <p:nvSpPr>
            <p:cNvPr id="2362" name="Google Shape;2362;p50"/>
            <p:cNvSpPr txBox="1"/>
            <p:nvPr/>
          </p:nvSpPr>
          <p:spPr>
            <a:xfrm>
              <a:off x="7421880" y="792480"/>
              <a:ext cx="4399280" cy="1384995"/>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COMPSCI 453 </a:t>
              </a:r>
              <a:r>
                <a:rPr b="0" i="0" lang="en-US" sz="2800" u="none" cap="none" strike="noStrike">
                  <a:solidFill>
                    <a:srgbClr val="0013A3"/>
                  </a:solidFill>
                  <a:latin typeface="Calibri"/>
                  <a:ea typeface="Calibri"/>
                  <a:cs typeface="Calibri"/>
                  <a:sym typeface="Calibri"/>
                </a:rPr>
                <a:t>Computer Networks</a:t>
              </a:r>
              <a:endParaRPr/>
            </a:p>
            <a:p>
              <a:pPr indent="0" lvl="0" marL="0" marR="0" rtl="0" algn="r">
                <a:lnSpc>
                  <a:spcPct val="100000"/>
                </a:lnSpc>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Professor Jim Kurose</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College of Information and Computer Sciences</a:t>
              </a:r>
              <a:endParaRPr/>
            </a:p>
            <a:p>
              <a:pPr indent="0" lvl="0" marL="0" marR="0" rtl="0" algn="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University of Massachusetts </a:t>
              </a:r>
              <a:endParaRPr/>
            </a:p>
          </p:txBody>
        </p:sp>
        <p:grpSp>
          <p:nvGrpSpPr>
            <p:cNvPr id="2363" name="Google Shape;2363;p50"/>
            <p:cNvGrpSpPr/>
            <p:nvPr/>
          </p:nvGrpSpPr>
          <p:grpSpPr>
            <a:xfrm>
              <a:off x="7884160" y="3304540"/>
              <a:ext cx="3857707" cy="1354217"/>
              <a:chOff x="7904480" y="4206240"/>
              <a:chExt cx="3857707" cy="1354217"/>
            </a:xfrm>
          </p:grpSpPr>
          <p:pic>
            <p:nvPicPr>
              <p:cNvPr descr="Kurose_CVR_REV2.jpg" id="2364" name="Google Shape;2364;p50"/>
              <p:cNvPicPr preferRelativeResize="0"/>
              <p:nvPr/>
            </p:nvPicPr>
            <p:blipFill rotWithShape="1">
              <a:blip r:embed="rId4">
                <a:alphaModFix/>
              </a:blip>
              <a:srcRect b="0" l="0" r="0" t="0"/>
              <a:stretch/>
            </p:blipFill>
            <p:spPr>
              <a:xfrm>
                <a:off x="10828020" y="4246880"/>
                <a:ext cx="934167" cy="1224438"/>
              </a:xfrm>
              <a:prstGeom prst="rect">
                <a:avLst/>
              </a:prstGeom>
              <a:noFill/>
              <a:ln>
                <a:noFill/>
              </a:ln>
            </p:spPr>
          </p:pic>
          <p:sp>
            <p:nvSpPr>
              <p:cNvPr id="2365" name="Google Shape;2365;p50"/>
              <p:cNvSpPr txBox="1"/>
              <p:nvPr/>
            </p:nvSpPr>
            <p:spPr>
              <a:xfrm>
                <a:off x="7904480" y="4206240"/>
                <a:ext cx="2885440" cy="135421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Class textbook: </a:t>
                </a:r>
                <a:endParaRPr/>
              </a:p>
              <a:p>
                <a:pPr indent="0" lvl="0" marL="0" marR="0" rtl="0" algn="r">
                  <a:lnSpc>
                    <a:spcPct val="100000"/>
                  </a:lnSpc>
                  <a:spcBef>
                    <a:spcPts val="0"/>
                  </a:spcBef>
                  <a:spcAft>
                    <a:spcPts val="0"/>
                  </a:spcAft>
                  <a:buClr>
                    <a:srgbClr val="000000"/>
                  </a:buClr>
                  <a:buSzPts val="1600"/>
                  <a:buFont typeface="Calibri"/>
                  <a:buNone/>
                </a:pPr>
                <a:r>
                  <a:rPr b="0" i="1" lang="en-US" sz="1600" u="none" cap="none" strike="noStrike">
                    <a:solidFill>
                      <a:srgbClr val="000000"/>
                    </a:solidFill>
                    <a:latin typeface="Calibri"/>
                    <a:ea typeface="Calibri"/>
                    <a:cs typeface="Calibri"/>
                    <a:sym typeface="Calibri"/>
                  </a:rPr>
                  <a:t>Computer Networking: A Top-Down Approach </a:t>
                </a:r>
                <a:r>
                  <a:rPr b="0" i="1" lang="en-US" sz="1400" u="none" cap="none" strike="noStrike">
                    <a:solidFill>
                      <a:srgbClr val="000000"/>
                    </a:solidFill>
                    <a:latin typeface="Calibri"/>
                    <a:ea typeface="Calibri"/>
                    <a:cs typeface="Calibri"/>
                    <a:sym typeface="Calibri"/>
                  </a:rPr>
                  <a:t>(8</a:t>
                </a:r>
                <a:r>
                  <a:rPr b="0" baseline="30000" i="1" lang="en-US" sz="1400" u="none" cap="none" strike="noStrike">
                    <a:solidFill>
                      <a:srgbClr val="000000"/>
                    </a:solidFill>
                    <a:latin typeface="Calibri"/>
                    <a:ea typeface="Calibri"/>
                    <a:cs typeface="Calibri"/>
                    <a:sym typeface="Calibri"/>
                  </a:rPr>
                  <a:t>th</a:t>
                </a:r>
                <a:r>
                  <a:rPr b="0" i="1" lang="en-US" sz="1400" u="none" cap="none" strike="noStrike">
                    <a:solidFill>
                      <a:srgbClr val="000000"/>
                    </a:solidFill>
                    <a:latin typeface="Calibri"/>
                    <a:ea typeface="Calibri"/>
                    <a:cs typeface="Calibri"/>
                    <a:sym typeface="Calibri"/>
                  </a:rPr>
                  <a:t> ed.)</a:t>
                </a:r>
                <a:endParaRPr b="0" i="1" sz="1600" u="none" cap="none" strike="noStrike">
                  <a:solidFill>
                    <a:srgbClr val="000000"/>
                  </a:solidFill>
                  <a:latin typeface="Calibri"/>
                  <a:ea typeface="Calibri"/>
                  <a:cs typeface="Calibri"/>
                  <a:sym typeface="Calibri"/>
                </a:endParaRPr>
              </a:p>
              <a:p>
                <a:pPr indent="0" lvl="0" marL="0" marR="0" rtl="0" algn="r">
                  <a:lnSpc>
                    <a:spcPct val="100000"/>
                  </a:lnSpc>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J.F. Kurose, K.W. Ross</a:t>
                </a:r>
                <a:endParaRPr/>
              </a:p>
              <a:p>
                <a:pPr indent="0" lvl="0" marL="0" marR="0" rtl="0" algn="r">
                  <a:lnSpc>
                    <a:spcPct val="100000"/>
                  </a:lnSpc>
                  <a:spcBef>
                    <a:spcPts val="0"/>
                  </a:spcBef>
                  <a:spcAft>
                    <a:spcPts val="0"/>
                  </a:spcAft>
                  <a:buClr>
                    <a:srgbClr val="000000"/>
                  </a:buClr>
                  <a:buSzPts val="1100"/>
                  <a:buFont typeface="Calibri"/>
                  <a:buNone/>
                </a:pPr>
                <a:r>
                  <a:rPr b="0" i="0" lang="en-US" sz="1100" u="none" cap="none" strike="noStrike">
                    <a:solidFill>
                      <a:srgbClr val="000000"/>
                    </a:solidFill>
                    <a:latin typeface="Calibri"/>
                    <a:ea typeface="Calibri"/>
                    <a:cs typeface="Calibri"/>
                    <a:sym typeface="Calibri"/>
                  </a:rPr>
                  <a:t>Pearson, 2020</a:t>
                </a:r>
                <a:endParaRPr/>
              </a:p>
              <a:p>
                <a:pPr indent="0" lvl="0" marL="0" marR="0" rtl="0" algn="r">
                  <a:lnSpc>
                    <a:spcPct val="100000"/>
                  </a:lnSpc>
                  <a:spcBef>
                    <a:spcPts val="0"/>
                  </a:spcBef>
                  <a:spcAft>
                    <a:spcPts val="0"/>
                  </a:spcAft>
                  <a:buClr>
                    <a:srgbClr val="000000"/>
                  </a:buClr>
                  <a:buSzPts val="1050"/>
                  <a:buFont typeface="Calibri"/>
                  <a:buNone/>
                </a:pPr>
                <a:r>
                  <a:rPr b="0" i="0" lang="en-US" sz="1050" u="none" cap="none" strike="noStrike">
                    <a:solidFill>
                      <a:srgbClr val="000000"/>
                    </a:solidFill>
                    <a:latin typeface="Calibri"/>
                    <a:ea typeface="Calibri"/>
                    <a:cs typeface="Calibri"/>
                    <a:sym typeface="Calibri"/>
                  </a:rPr>
                  <a:t>http://gaia.cs.umass.edu/kurose_ross</a:t>
                </a:r>
                <a:endParaRPr b="0" i="0" sz="1100" u="none" cap="none" strike="noStrike">
                  <a:solidFill>
                    <a:srgbClr val="000000"/>
                  </a:solidFill>
                  <a:latin typeface="Calibri"/>
                  <a:ea typeface="Calibri"/>
                  <a:cs typeface="Calibri"/>
                  <a:sym typeface="Calibri"/>
                </a:endParaRPr>
              </a:p>
            </p:txBody>
          </p:sp>
        </p:grpSp>
      </p:grpSp>
      <p:grpSp>
        <p:nvGrpSpPr>
          <p:cNvPr id="2366" name="Google Shape;2366;p50"/>
          <p:cNvGrpSpPr/>
          <p:nvPr/>
        </p:nvGrpSpPr>
        <p:grpSpPr>
          <a:xfrm>
            <a:off x="706121" y="6088211"/>
            <a:ext cx="6892924" cy="461665"/>
            <a:chOff x="731521" y="6141551"/>
            <a:chExt cx="6892924" cy="461665"/>
          </a:xfrm>
        </p:grpSpPr>
        <p:sp>
          <p:nvSpPr>
            <p:cNvPr id="2367" name="Google Shape;2367;p50"/>
            <p:cNvSpPr txBox="1"/>
            <p:nvPr/>
          </p:nvSpPr>
          <p:spPr>
            <a:xfrm>
              <a:off x="731521" y="6141551"/>
              <a:ext cx="689292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Video:     2020, J.F. Kurose, All Rights Reserved</a:t>
              </a:r>
              <a:endParaRPr/>
            </a:p>
            <a:p>
              <a:pPr indent="0" lvl="0" marL="0" marR="0" rtl="0" algn="l">
                <a:lnSpc>
                  <a:spcPct val="100000"/>
                </a:lnSpc>
                <a:spcBef>
                  <a:spcPts val="0"/>
                </a:spcBef>
                <a:spcAft>
                  <a:spcPts val="0"/>
                </a:spcAft>
                <a:buClr>
                  <a:srgbClr val="000000"/>
                </a:buClr>
                <a:buSzPts val="1200"/>
                <a:buFont typeface="Calibri"/>
                <a:buNone/>
              </a:pPr>
              <a:r>
                <a:rPr b="0" i="0" lang="en-US" sz="1200" u="none" cap="none" strike="noStrike">
                  <a:solidFill>
                    <a:srgbClr val="000000"/>
                  </a:solidFill>
                  <a:latin typeface="Calibri"/>
                  <a:ea typeface="Calibri"/>
                  <a:cs typeface="Calibri"/>
                  <a:sym typeface="Calibri"/>
                </a:rPr>
                <a:t>Powerpoint:    1996-2020, J.F. Kurose, K.W. Ross, All Rights Reserved</a:t>
              </a:r>
              <a:endParaRPr/>
            </a:p>
          </p:txBody>
        </p:sp>
        <p:grpSp>
          <p:nvGrpSpPr>
            <p:cNvPr id="2368" name="Google Shape;2368;p50"/>
            <p:cNvGrpSpPr/>
            <p:nvPr/>
          </p:nvGrpSpPr>
          <p:grpSpPr>
            <a:xfrm>
              <a:off x="1252378" y="6209727"/>
              <a:ext cx="473108" cy="346349"/>
              <a:chOff x="1252378" y="6209727"/>
              <a:chExt cx="473108" cy="346349"/>
            </a:xfrm>
          </p:grpSpPr>
          <p:pic>
            <p:nvPicPr>
              <p:cNvPr id="2369" name="Google Shape;2369;p50"/>
              <p:cNvPicPr preferRelativeResize="0"/>
              <p:nvPr/>
            </p:nvPicPr>
            <p:blipFill rotWithShape="1">
              <a:blip r:embed="rId5">
                <a:alphaModFix/>
              </a:blip>
              <a:srcRect b="0" l="0" r="0" t="0"/>
              <a:stretch/>
            </p:blipFill>
            <p:spPr>
              <a:xfrm>
                <a:off x="1252378" y="6209727"/>
                <a:ext cx="125836" cy="160221"/>
              </a:xfrm>
              <a:prstGeom prst="rect">
                <a:avLst/>
              </a:prstGeom>
              <a:noFill/>
              <a:ln>
                <a:noFill/>
              </a:ln>
            </p:spPr>
          </p:pic>
          <p:pic>
            <p:nvPicPr>
              <p:cNvPr id="2370" name="Google Shape;2370;p50"/>
              <p:cNvPicPr preferRelativeResize="0"/>
              <p:nvPr/>
            </p:nvPicPr>
            <p:blipFill rotWithShape="1">
              <a:blip r:embed="rId5">
                <a:alphaModFix/>
              </a:blip>
              <a:srcRect b="0" l="0" r="0" t="0"/>
              <a:stretch/>
            </p:blipFill>
            <p:spPr>
              <a:xfrm>
                <a:off x="1599650" y="6395855"/>
                <a:ext cx="125836" cy="160221"/>
              </a:xfrm>
              <a:prstGeom prst="rect">
                <a:avLst/>
              </a:prstGeom>
              <a:noFill/>
              <a:ln>
                <a:noFill/>
              </a:ln>
            </p:spPr>
          </p:pic>
        </p:grpSp>
      </p:gr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4" name="Shape 2374"/>
        <p:cNvGrpSpPr/>
        <p:nvPr/>
      </p:nvGrpSpPr>
      <p:grpSpPr>
        <a:xfrm>
          <a:off x="0" y="0"/>
          <a:ext cx="0" cy="0"/>
          <a:chOff x="0" y="0"/>
          <a:chExt cx="0" cy="0"/>
        </a:xfrm>
      </p:grpSpPr>
      <p:sp>
        <p:nvSpPr>
          <p:cNvPr id="2375" name="Google Shape;2375;p51"/>
          <p:cNvSpPr txBox="1"/>
          <p:nvPr>
            <p:ph type="title"/>
          </p:nvPr>
        </p:nvSpPr>
        <p:spPr>
          <a:xfrm>
            <a:off x="838200" y="451821"/>
            <a:ext cx="10515600"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400"/>
              <a:buFont typeface="Calibri"/>
              <a:buNone/>
            </a:pPr>
            <a:r>
              <a:rPr lang="en-US"/>
              <a:t>Backup</a:t>
            </a:r>
            <a:endParaRPr/>
          </a:p>
        </p:txBody>
      </p:sp>
      <p:sp>
        <p:nvSpPr>
          <p:cNvPr id="2376" name="Google Shape;2376;p51"/>
          <p:cNvSpPr txBox="1"/>
          <p:nvPr>
            <p:ph idx="12" type="sldNum"/>
          </p:nvPr>
        </p:nvSpPr>
        <p:spPr>
          <a:xfrm>
            <a:off x="9219616" y="6443089"/>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Transport Layer: 3-</a:t>
            </a: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1" name="Shape 2381"/>
        <p:cNvGrpSpPr/>
        <p:nvPr/>
      </p:nvGrpSpPr>
      <p:grpSpPr>
        <a:xfrm>
          <a:off x="0" y="0"/>
          <a:ext cx="0" cy="0"/>
          <a:chOff x="0" y="0"/>
          <a:chExt cx="0" cy="0"/>
        </a:xfrm>
      </p:grpSpPr>
      <p:sp>
        <p:nvSpPr>
          <p:cNvPr id="2382" name="Google Shape;2382;p52"/>
          <p:cNvSpPr/>
          <p:nvPr/>
        </p:nvSpPr>
        <p:spPr>
          <a:xfrm>
            <a:off x="-76200" y="0"/>
            <a:ext cx="12538128" cy="6858000"/>
          </a:xfrm>
          <a:prstGeom prst="rect">
            <a:avLst/>
          </a:prstGeom>
          <a:solidFill>
            <a:schemeClr val="dk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7200" u="none" cap="none" strike="noStrike">
              <a:solidFill>
                <a:schemeClr val="lt1"/>
              </a:solidFill>
              <a:latin typeface="Calibri"/>
              <a:ea typeface="Calibri"/>
              <a:cs typeface="Calibri"/>
              <a:sym typeface="Calibri"/>
            </a:endParaRPr>
          </a:p>
        </p:txBody>
      </p:sp>
      <p:grpSp>
        <p:nvGrpSpPr>
          <p:cNvPr id="2383" name="Google Shape;2383;p52"/>
          <p:cNvGrpSpPr/>
          <p:nvPr/>
        </p:nvGrpSpPr>
        <p:grpSpPr>
          <a:xfrm>
            <a:off x="4072179" y="294468"/>
            <a:ext cx="4200041" cy="1921790"/>
            <a:chOff x="4072179" y="294468"/>
            <a:chExt cx="4200041" cy="1921790"/>
          </a:xfrm>
        </p:grpSpPr>
        <p:sp>
          <p:nvSpPr>
            <p:cNvPr id="2384" name="Google Shape;2384;p52"/>
            <p:cNvSpPr/>
            <p:nvPr/>
          </p:nvSpPr>
          <p:spPr>
            <a:xfrm>
              <a:off x="4072179" y="1627322"/>
              <a:ext cx="4200041" cy="588936"/>
            </a:xfrm>
            <a:prstGeom prst="uturnArrow">
              <a:avLst>
                <a:gd fmla="val 29430" name="adj1"/>
                <a:gd fmla="val 25000" name="adj2"/>
                <a:gd fmla="val 46053" name="adj3"/>
                <a:gd fmla="val 43750"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2385" name="Google Shape;2385;p52"/>
            <p:cNvGrpSpPr/>
            <p:nvPr/>
          </p:nvGrpSpPr>
          <p:grpSpPr>
            <a:xfrm>
              <a:off x="4584916" y="294468"/>
              <a:ext cx="3169073" cy="1124632"/>
              <a:chOff x="4584916" y="294468"/>
              <a:chExt cx="3169073" cy="1124632"/>
            </a:xfrm>
          </p:grpSpPr>
          <p:sp>
            <p:nvSpPr>
              <p:cNvPr id="2386" name="Google Shape;2386;p52"/>
              <p:cNvSpPr txBox="1"/>
              <p:nvPr/>
            </p:nvSpPr>
            <p:spPr>
              <a:xfrm>
                <a:off x="4819970" y="294468"/>
                <a:ext cx="27266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chemeClr val="lt1"/>
                    </a:solidFill>
                    <a:latin typeface="Calibri"/>
                    <a:ea typeface="Calibri"/>
                    <a:cs typeface="Calibri"/>
                    <a:sym typeface="Calibri"/>
                  </a:rPr>
                  <a:t>Turn switch ON</a:t>
                </a:r>
                <a:endParaRPr/>
              </a:p>
            </p:txBody>
          </p:sp>
          <p:sp>
            <p:nvSpPr>
              <p:cNvPr id="2387" name="Google Shape;2387;p52"/>
              <p:cNvSpPr txBox="1"/>
              <p:nvPr/>
            </p:nvSpPr>
            <p:spPr>
              <a:xfrm>
                <a:off x="4584916" y="834325"/>
                <a:ext cx="316907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power to filament</a:t>
                </a:r>
                <a:endParaRPr/>
              </a:p>
            </p:txBody>
          </p:sp>
          <p:cxnSp>
            <p:nvCxnSpPr>
              <p:cNvPr id="2388" name="Google Shape;2388;p52"/>
              <p:cNvCxnSpPr/>
              <p:nvPr/>
            </p:nvCxnSpPr>
            <p:spPr>
              <a:xfrm>
                <a:off x="4692112" y="898901"/>
                <a:ext cx="2960176" cy="0"/>
              </a:xfrm>
              <a:prstGeom prst="straightConnector1">
                <a:avLst/>
              </a:prstGeom>
              <a:noFill/>
              <a:ln cap="flat" cmpd="sng" w="63500">
                <a:solidFill>
                  <a:schemeClr val="lt1"/>
                </a:solidFill>
                <a:prstDash val="solid"/>
                <a:miter lim="800000"/>
                <a:headEnd len="sm" w="sm" type="none"/>
                <a:tailEnd len="sm" w="sm" type="none"/>
              </a:ln>
            </p:spPr>
          </p:cxnSp>
        </p:grpSp>
      </p:grpSp>
      <p:grpSp>
        <p:nvGrpSpPr>
          <p:cNvPr id="2389" name="Google Shape;2389;p52"/>
          <p:cNvGrpSpPr/>
          <p:nvPr/>
        </p:nvGrpSpPr>
        <p:grpSpPr>
          <a:xfrm>
            <a:off x="4072179" y="4677905"/>
            <a:ext cx="4200041" cy="1992537"/>
            <a:chOff x="4072179" y="4677905"/>
            <a:chExt cx="4200041" cy="1992537"/>
          </a:xfrm>
        </p:grpSpPr>
        <p:sp>
          <p:nvSpPr>
            <p:cNvPr id="2390" name="Google Shape;2390;p52"/>
            <p:cNvSpPr/>
            <p:nvPr/>
          </p:nvSpPr>
          <p:spPr>
            <a:xfrm rot="10800000">
              <a:off x="4072179" y="4677905"/>
              <a:ext cx="4200041" cy="588936"/>
            </a:xfrm>
            <a:prstGeom prst="uturnArrow">
              <a:avLst>
                <a:gd fmla="val 29430" name="adj1"/>
                <a:gd fmla="val 25000" name="adj2"/>
                <a:gd fmla="val 46053" name="adj3"/>
                <a:gd fmla="val 43750"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91" name="Google Shape;2391;p52"/>
            <p:cNvGrpSpPr/>
            <p:nvPr/>
          </p:nvGrpSpPr>
          <p:grpSpPr>
            <a:xfrm>
              <a:off x="4318864" y="5545810"/>
              <a:ext cx="3740260" cy="1124632"/>
              <a:chOff x="4305952" y="294468"/>
              <a:chExt cx="3740260" cy="1124632"/>
            </a:xfrm>
          </p:grpSpPr>
          <p:sp>
            <p:nvSpPr>
              <p:cNvPr id="2392" name="Google Shape;2392;p52"/>
              <p:cNvSpPr txBox="1"/>
              <p:nvPr/>
            </p:nvSpPr>
            <p:spPr>
              <a:xfrm>
                <a:off x="4819970" y="294468"/>
                <a:ext cx="284045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Turn switch OFF</a:t>
                </a:r>
                <a:endParaRPr/>
              </a:p>
            </p:txBody>
          </p:sp>
          <p:sp>
            <p:nvSpPr>
              <p:cNvPr id="2393" name="Google Shape;2393;p52"/>
              <p:cNvSpPr txBox="1"/>
              <p:nvPr/>
            </p:nvSpPr>
            <p:spPr>
              <a:xfrm>
                <a:off x="4305952" y="834325"/>
                <a:ext cx="37402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no power to filament</a:t>
                </a:r>
                <a:endParaRPr/>
              </a:p>
            </p:txBody>
          </p:sp>
          <p:cxnSp>
            <p:nvCxnSpPr>
              <p:cNvPr id="2394" name="Google Shape;2394;p52"/>
              <p:cNvCxnSpPr/>
              <p:nvPr/>
            </p:nvCxnSpPr>
            <p:spPr>
              <a:xfrm>
                <a:off x="4692112" y="898901"/>
                <a:ext cx="2960176" cy="0"/>
              </a:xfrm>
              <a:prstGeom prst="straightConnector1">
                <a:avLst/>
              </a:prstGeom>
              <a:noFill/>
              <a:ln cap="flat" cmpd="sng" w="63500">
                <a:solidFill>
                  <a:schemeClr val="lt1"/>
                </a:solidFill>
                <a:prstDash val="solid"/>
                <a:miter lim="800000"/>
                <a:headEnd len="sm" w="sm" type="none"/>
                <a:tailEnd len="sm" w="sm" type="none"/>
              </a:ln>
            </p:spPr>
          </p:cxnSp>
        </p:grpSp>
      </p:grpSp>
      <p:grpSp>
        <p:nvGrpSpPr>
          <p:cNvPr id="2395" name="Google Shape;2395;p52"/>
          <p:cNvGrpSpPr/>
          <p:nvPr/>
        </p:nvGrpSpPr>
        <p:grpSpPr>
          <a:xfrm>
            <a:off x="6679770" y="2112757"/>
            <a:ext cx="4724400" cy="2629726"/>
            <a:chOff x="6679770" y="2112757"/>
            <a:chExt cx="4724400" cy="2629726"/>
          </a:xfrm>
        </p:grpSpPr>
        <p:pic>
          <p:nvPicPr>
            <p:cNvPr id="2396" name="Google Shape;2396;p52"/>
            <p:cNvPicPr preferRelativeResize="0"/>
            <p:nvPr/>
          </p:nvPicPr>
          <p:blipFill rotWithShape="1">
            <a:blip r:embed="rId3">
              <a:alphaModFix/>
            </a:blip>
            <a:srcRect b="0" l="0" r="0" t="0"/>
            <a:stretch/>
          </p:blipFill>
          <p:spPr>
            <a:xfrm>
              <a:off x="6679770" y="2112757"/>
              <a:ext cx="4724400" cy="2629726"/>
            </a:xfrm>
            <a:prstGeom prst="ellipse">
              <a:avLst/>
            </a:prstGeom>
            <a:noFill/>
            <a:ln cap="flat" cmpd="sng" w="66675">
              <a:solidFill>
                <a:schemeClr val="lt1"/>
              </a:solidFill>
              <a:prstDash val="solid"/>
              <a:round/>
              <a:headEnd len="sm" w="sm" type="none"/>
              <a:tailEnd len="sm" w="sm" type="none"/>
            </a:ln>
          </p:spPr>
        </p:pic>
        <p:sp>
          <p:nvSpPr>
            <p:cNvPr id="2397" name="Google Shape;2397;p52"/>
            <p:cNvSpPr txBox="1"/>
            <p:nvPr/>
          </p:nvSpPr>
          <p:spPr>
            <a:xfrm>
              <a:off x="7480516" y="2867187"/>
              <a:ext cx="1815884"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0">
                  <a:solidFill>
                    <a:srgbClr val="C00000"/>
                  </a:solidFill>
                  <a:latin typeface="Calibri"/>
                  <a:ea typeface="Calibri"/>
                  <a:cs typeface="Calibri"/>
                  <a:sym typeface="Calibri"/>
                </a:rPr>
                <a:t>ON</a:t>
              </a:r>
              <a:endParaRPr b="1" sz="3200">
                <a:solidFill>
                  <a:srgbClr val="C00000"/>
                </a:solidFill>
                <a:latin typeface="Calibri"/>
                <a:ea typeface="Calibri"/>
                <a:cs typeface="Calibri"/>
                <a:sym typeface="Calibri"/>
              </a:endParaRPr>
            </a:p>
          </p:txBody>
        </p:sp>
      </p:grpSp>
      <p:grpSp>
        <p:nvGrpSpPr>
          <p:cNvPr id="2398" name="Google Shape;2398;p52"/>
          <p:cNvGrpSpPr/>
          <p:nvPr/>
        </p:nvGrpSpPr>
        <p:grpSpPr>
          <a:xfrm>
            <a:off x="927312" y="2164695"/>
            <a:ext cx="4788547" cy="2528610"/>
            <a:chOff x="927312" y="2164695"/>
            <a:chExt cx="4788547" cy="2528610"/>
          </a:xfrm>
        </p:grpSpPr>
        <p:pic>
          <p:nvPicPr>
            <p:cNvPr id="2399" name="Google Shape;2399;p52"/>
            <p:cNvPicPr preferRelativeResize="0"/>
            <p:nvPr/>
          </p:nvPicPr>
          <p:blipFill rotWithShape="1">
            <a:blip r:embed="rId4">
              <a:alphaModFix/>
            </a:blip>
            <a:srcRect b="0" l="0" r="0" t="0"/>
            <a:stretch/>
          </p:blipFill>
          <p:spPr>
            <a:xfrm>
              <a:off x="927312" y="2164695"/>
              <a:ext cx="4695989" cy="2528610"/>
            </a:xfrm>
            <a:prstGeom prst="ellipse">
              <a:avLst/>
            </a:prstGeom>
            <a:noFill/>
            <a:ln cap="flat" cmpd="sng" w="63500">
              <a:solidFill>
                <a:schemeClr val="lt1"/>
              </a:solidFill>
              <a:prstDash val="solid"/>
              <a:round/>
              <a:headEnd len="sm" w="sm" type="none"/>
              <a:tailEnd len="sm" w="sm" type="none"/>
            </a:ln>
          </p:spPr>
        </p:pic>
        <p:sp>
          <p:nvSpPr>
            <p:cNvPr id="2400" name="Google Shape;2400;p52"/>
            <p:cNvSpPr txBox="1"/>
            <p:nvPr/>
          </p:nvSpPr>
          <p:spPr>
            <a:xfrm>
              <a:off x="3127643" y="2657099"/>
              <a:ext cx="2588216"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0">
                  <a:solidFill>
                    <a:srgbClr val="C00000"/>
                  </a:solidFill>
                  <a:latin typeface="Calibri"/>
                  <a:ea typeface="Calibri"/>
                  <a:cs typeface="Calibri"/>
                  <a:sym typeface="Calibri"/>
                </a:rPr>
                <a:t>OFF</a:t>
              </a:r>
              <a:endParaRPr b="1" sz="4000">
                <a:solidFill>
                  <a:srgbClr val="C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3"/>
                                        </p:tgtEl>
                                        <p:attrNameLst>
                                          <p:attrName>style.visibility</p:attrName>
                                        </p:attrNameLst>
                                      </p:cBhvr>
                                      <p:to>
                                        <p:strVal val="visible"/>
                                      </p:to>
                                    </p:set>
                                    <p:animEffect filter="fade" transition="in">
                                      <p:cBhvr>
                                        <p:cTn dur="500"/>
                                        <p:tgtEl>
                                          <p:spTgt spid="2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9"/>
                                        </p:tgtEl>
                                        <p:attrNameLst>
                                          <p:attrName>style.visibility</p:attrName>
                                        </p:attrNameLst>
                                      </p:cBhvr>
                                      <p:to>
                                        <p:strVal val="visible"/>
                                      </p:to>
                                    </p:set>
                                    <p:animEffect filter="fade" transition="in">
                                      <p:cBhvr>
                                        <p:cTn dur="500"/>
                                        <p:tgtEl>
                                          <p:spTgt spid="2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53"/>
          <p:cNvSpPr/>
          <p:nvPr/>
        </p:nvSpPr>
        <p:spPr>
          <a:xfrm>
            <a:off x="-76200" y="0"/>
            <a:ext cx="12538128" cy="6858000"/>
          </a:xfrm>
          <a:prstGeom prst="rect">
            <a:avLst/>
          </a:prstGeom>
          <a:solidFill>
            <a:schemeClr val="dk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7200">
              <a:solidFill>
                <a:schemeClr val="lt1"/>
              </a:solidFill>
              <a:latin typeface="Calibri"/>
              <a:ea typeface="Calibri"/>
              <a:cs typeface="Calibri"/>
              <a:sym typeface="Calibri"/>
            </a:endParaRPr>
          </a:p>
        </p:txBody>
      </p:sp>
      <p:grpSp>
        <p:nvGrpSpPr>
          <p:cNvPr id="2407" name="Google Shape;2407;p53"/>
          <p:cNvGrpSpPr/>
          <p:nvPr/>
        </p:nvGrpSpPr>
        <p:grpSpPr>
          <a:xfrm>
            <a:off x="95570" y="573868"/>
            <a:ext cx="2939730" cy="4530513"/>
            <a:chOff x="95570" y="573868"/>
            <a:chExt cx="2939730" cy="4530513"/>
          </a:xfrm>
        </p:grpSpPr>
        <p:grpSp>
          <p:nvGrpSpPr>
            <p:cNvPr id="2408" name="Google Shape;2408;p53"/>
            <p:cNvGrpSpPr/>
            <p:nvPr/>
          </p:nvGrpSpPr>
          <p:grpSpPr>
            <a:xfrm rot="10800000">
              <a:off x="366846" y="1620217"/>
              <a:ext cx="1801840" cy="3484164"/>
              <a:chOff x="10209346" y="1810717"/>
              <a:chExt cx="1801840" cy="3484164"/>
            </a:xfrm>
          </p:grpSpPr>
          <p:sp>
            <p:nvSpPr>
              <p:cNvPr id="2409" name="Google Shape;2409;p53"/>
              <p:cNvSpPr/>
              <p:nvPr/>
            </p:nvSpPr>
            <p:spPr>
              <a:xfrm rot="10800000">
                <a:off x="10209346" y="4597455"/>
                <a:ext cx="1502690" cy="697426"/>
              </a:xfrm>
              <a:prstGeom prst="uturnArrow">
                <a:avLst>
                  <a:gd fmla="val 21667" name="adj1"/>
                  <a:gd fmla="val 22511" name="adj2"/>
                  <a:gd fmla="val 28641" name="adj3"/>
                  <a:gd fmla="val 45831"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0" name="Google Shape;2410;p53"/>
              <p:cNvSpPr/>
              <p:nvPr/>
            </p:nvSpPr>
            <p:spPr>
              <a:xfrm>
                <a:off x="10288936" y="1810717"/>
                <a:ext cx="1502690" cy="697426"/>
              </a:xfrm>
              <a:prstGeom prst="uturnArrow">
                <a:avLst>
                  <a:gd fmla="val 21667" name="adj1"/>
                  <a:gd fmla="val 22511" name="adj2"/>
                  <a:gd fmla="val 28641" name="adj3"/>
                  <a:gd fmla="val 45831"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11" name="Google Shape;2411;p53"/>
              <p:cNvSpPr/>
              <p:nvPr/>
            </p:nvSpPr>
            <p:spPr>
              <a:xfrm>
                <a:off x="11251769" y="2169763"/>
                <a:ext cx="759417" cy="54244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2" name="Google Shape;2412;p53"/>
              <p:cNvSpPr/>
              <p:nvPr/>
            </p:nvSpPr>
            <p:spPr>
              <a:xfrm>
                <a:off x="11562112" y="2168524"/>
                <a:ext cx="150463" cy="26352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413" name="Google Shape;2413;p53"/>
            <p:cNvGrpSpPr/>
            <p:nvPr/>
          </p:nvGrpSpPr>
          <p:grpSpPr>
            <a:xfrm>
              <a:off x="95570" y="573868"/>
              <a:ext cx="2939730" cy="1111932"/>
              <a:chOff x="4819970" y="294468"/>
              <a:chExt cx="2939730" cy="1111932"/>
            </a:xfrm>
          </p:grpSpPr>
          <p:sp>
            <p:nvSpPr>
              <p:cNvPr id="2414" name="Google Shape;2414;p53"/>
              <p:cNvSpPr txBox="1"/>
              <p:nvPr/>
            </p:nvSpPr>
            <p:spPr>
              <a:xfrm>
                <a:off x="4819970" y="294468"/>
                <a:ext cx="293973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Turn switch OFF</a:t>
                </a:r>
                <a:endParaRPr/>
              </a:p>
            </p:txBody>
          </p:sp>
          <p:sp>
            <p:nvSpPr>
              <p:cNvPr id="2415" name="Google Shape;2415;p53"/>
              <p:cNvSpPr txBox="1"/>
              <p:nvPr/>
            </p:nvSpPr>
            <p:spPr>
              <a:xfrm>
                <a:off x="6032716" y="821625"/>
                <a:ext cx="43794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Noto Sans Symbols"/>
                    <a:ea typeface="Noto Sans Symbols"/>
                    <a:cs typeface="Noto Sans Symbols"/>
                    <a:sym typeface="Noto Sans Symbols"/>
                  </a:rPr>
                  <a:t>Δ</a:t>
                </a:r>
                <a:endParaRPr/>
              </a:p>
            </p:txBody>
          </p:sp>
          <p:cxnSp>
            <p:nvCxnSpPr>
              <p:cNvPr id="2416" name="Google Shape;2416;p53"/>
              <p:cNvCxnSpPr/>
              <p:nvPr/>
            </p:nvCxnSpPr>
            <p:spPr>
              <a:xfrm>
                <a:off x="5016500" y="873501"/>
                <a:ext cx="2369088" cy="0"/>
              </a:xfrm>
              <a:prstGeom prst="straightConnector1">
                <a:avLst/>
              </a:prstGeom>
              <a:noFill/>
              <a:ln cap="flat" cmpd="sng" w="63500">
                <a:solidFill>
                  <a:schemeClr val="lt1"/>
                </a:solidFill>
                <a:prstDash val="solid"/>
                <a:miter lim="800000"/>
                <a:headEnd len="sm" w="sm" type="none"/>
                <a:tailEnd len="sm" w="sm" type="none"/>
              </a:ln>
            </p:spPr>
          </p:cxnSp>
        </p:grpSp>
      </p:grpSp>
      <p:grpSp>
        <p:nvGrpSpPr>
          <p:cNvPr id="2417" name="Google Shape;2417;p53"/>
          <p:cNvGrpSpPr/>
          <p:nvPr/>
        </p:nvGrpSpPr>
        <p:grpSpPr>
          <a:xfrm>
            <a:off x="4072179" y="294468"/>
            <a:ext cx="4200041" cy="1921790"/>
            <a:chOff x="4072179" y="294468"/>
            <a:chExt cx="4200041" cy="1921790"/>
          </a:xfrm>
        </p:grpSpPr>
        <p:sp>
          <p:nvSpPr>
            <p:cNvPr id="2418" name="Google Shape;2418;p53"/>
            <p:cNvSpPr/>
            <p:nvPr/>
          </p:nvSpPr>
          <p:spPr>
            <a:xfrm>
              <a:off x="4072179" y="1627322"/>
              <a:ext cx="4200041" cy="588936"/>
            </a:xfrm>
            <a:prstGeom prst="uturnArrow">
              <a:avLst>
                <a:gd fmla="val 29430" name="adj1"/>
                <a:gd fmla="val 25000" name="adj2"/>
                <a:gd fmla="val 46053" name="adj3"/>
                <a:gd fmla="val 43750"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19" name="Google Shape;2419;p53"/>
            <p:cNvGrpSpPr/>
            <p:nvPr/>
          </p:nvGrpSpPr>
          <p:grpSpPr>
            <a:xfrm>
              <a:off x="4584916" y="294468"/>
              <a:ext cx="3169073" cy="1124632"/>
              <a:chOff x="4584916" y="294468"/>
              <a:chExt cx="3169073" cy="1124632"/>
            </a:xfrm>
          </p:grpSpPr>
          <p:sp>
            <p:nvSpPr>
              <p:cNvPr id="2420" name="Google Shape;2420;p53"/>
              <p:cNvSpPr txBox="1"/>
              <p:nvPr/>
            </p:nvSpPr>
            <p:spPr>
              <a:xfrm>
                <a:off x="4819970" y="294468"/>
                <a:ext cx="27266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Turn switch ON</a:t>
                </a:r>
                <a:endParaRPr/>
              </a:p>
            </p:txBody>
          </p:sp>
          <p:sp>
            <p:nvSpPr>
              <p:cNvPr id="2421" name="Google Shape;2421;p53"/>
              <p:cNvSpPr txBox="1"/>
              <p:nvPr/>
            </p:nvSpPr>
            <p:spPr>
              <a:xfrm>
                <a:off x="4584916" y="834325"/>
                <a:ext cx="316907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power to filament</a:t>
                </a:r>
                <a:endParaRPr/>
              </a:p>
            </p:txBody>
          </p:sp>
          <p:cxnSp>
            <p:nvCxnSpPr>
              <p:cNvPr id="2422" name="Google Shape;2422;p53"/>
              <p:cNvCxnSpPr/>
              <p:nvPr/>
            </p:nvCxnSpPr>
            <p:spPr>
              <a:xfrm>
                <a:off x="4692112" y="898901"/>
                <a:ext cx="2960176" cy="0"/>
              </a:xfrm>
              <a:prstGeom prst="straightConnector1">
                <a:avLst/>
              </a:prstGeom>
              <a:noFill/>
              <a:ln cap="flat" cmpd="sng" w="63500">
                <a:solidFill>
                  <a:schemeClr val="lt1"/>
                </a:solidFill>
                <a:prstDash val="solid"/>
                <a:miter lim="800000"/>
                <a:headEnd len="sm" w="sm" type="none"/>
                <a:tailEnd len="sm" w="sm" type="none"/>
              </a:ln>
            </p:spPr>
          </p:cxnSp>
        </p:grpSp>
      </p:grpSp>
      <p:grpSp>
        <p:nvGrpSpPr>
          <p:cNvPr id="2423" name="Google Shape;2423;p53"/>
          <p:cNvGrpSpPr/>
          <p:nvPr/>
        </p:nvGrpSpPr>
        <p:grpSpPr>
          <a:xfrm>
            <a:off x="4072179" y="4677905"/>
            <a:ext cx="4200041" cy="1992537"/>
            <a:chOff x="4072179" y="4677905"/>
            <a:chExt cx="4200041" cy="1992537"/>
          </a:xfrm>
        </p:grpSpPr>
        <p:sp>
          <p:nvSpPr>
            <p:cNvPr id="2424" name="Google Shape;2424;p53"/>
            <p:cNvSpPr/>
            <p:nvPr/>
          </p:nvSpPr>
          <p:spPr>
            <a:xfrm rot="10800000">
              <a:off x="4072179" y="4677905"/>
              <a:ext cx="4200041" cy="588936"/>
            </a:xfrm>
            <a:prstGeom prst="uturnArrow">
              <a:avLst>
                <a:gd fmla="val 29430" name="adj1"/>
                <a:gd fmla="val 25000" name="adj2"/>
                <a:gd fmla="val 46053" name="adj3"/>
                <a:gd fmla="val 43750"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2425" name="Google Shape;2425;p53"/>
            <p:cNvGrpSpPr/>
            <p:nvPr/>
          </p:nvGrpSpPr>
          <p:grpSpPr>
            <a:xfrm>
              <a:off x="4318864" y="5545810"/>
              <a:ext cx="3740260" cy="1124632"/>
              <a:chOff x="4305952" y="294468"/>
              <a:chExt cx="3740260" cy="1124632"/>
            </a:xfrm>
          </p:grpSpPr>
          <p:sp>
            <p:nvSpPr>
              <p:cNvPr id="2426" name="Google Shape;2426;p53"/>
              <p:cNvSpPr txBox="1"/>
              <p:nvPr/>
            </p:nvSpPr>
            <p:spPr>
              <a:xfrm>
                <a:off x="4819970" y="294468"/>
                <a:ext cx="284045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Turn switch OFF</a:t>
                </a:r>
                <a:endParaRPr/>
              </a:p>
            </p:txBody>
          </p:sp>
          <p:sp>
            <p:nvSpPr>
              <p:cNvPr id="2427" name="Google Shape;2427;p53"/>
              <p:cNvSpPr txBox="1"/>
              <p:nvPr/>
            </p:nvSpPr>
            <p:spPr>
              <a:xfrm>
                <a:off x="4305952" y="834325"/>
                <a:ext cx="37402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no power to filament</a:t>
                </a:r>
                <a:endParaRPr/>
              </a:p>
            </p:txBody>
          </p:sp>
          <p:cxnSp>
            <p:nvCxnSpPr>
              <p:cNvPr id="2428" name="Google Shape;2428;p53"/>
              <p:cNvCxnSpPr/>
              <p:nvPr/>
            </p:nvCxnSpPr>
            <p:spPr>
              <a:xfrm>
                <a:off x="4692112" y="898901"/>
                <a:ext cx="2960176" cy="0"/>
              </a:xfrm>
              <a:prstGeom prst="straightConnector1">
                <a:avLst/>
              </a:prstGeom>
              <a:noFill/>
              <a:ln cap="flat" cmpd="sng" w="63500">
                <a:solidFill>
                  <a:schemeClr val="lt1"/>
                </a:solidFill>
                <a:prstDash val="solid"/>
                <a:miter lim="800000"/>
                <a:headEnd len="sm" w="sm" type="none"/>
                <a:tailEnd len="sm" w="sm" type="none"/>
              </a:ln>
            </p:spPr>
          </p:cxnSp>
        </p:grpSp>
      </p:grpSp>
      <p:pic>
        <p:nvPicPr>
          <p:cNvPr id="2429" name="Google Shape;2429;p53"/>
          <p:cNvPicPr preferRelativeResize="0"/>
          <p:nvPr/>
        </p:nvPicPr>
        <p:blipFill rotWithShape="1">
          <a:blip r:embed="rId3">
            <a:alphaModFix/>
          </a:blip>
          <a:srcRect b="0" l="0" r="0" t="0"/>
          <a:stretch/>
        </p:blipFill>
        <p:spPr>
          <a:xfrm>
            <a:off x="927312" y="2164695"/>
            <a:ext cx="4695989" cy="2528610"/>
          </a:xfrm>
          <a:prstGeom prst="ellipse">
            <a:avLst/>
          </a:prstGeom>
          <a:noFill/>
          <a:ln cap="flat" cmpd="sng" w="63500">
            <a:solidFill>
              <a:schemeClr val="lt1"/>
            </a:solidFill>
            <a:prstDash val="solid"/>
            <a:round/>
            <a:headEnd len="sm" w="sm" type="none"/>
            <a:tailEnd len="sm" w="sm" type="none"/>
          </a:ln>
        </p:spPr>
      </p:pic>
      <p:sp>
        <p:nvSpPr>
          <p:cNvPr id="2430" name="Google Shape;2430;p53"/>
          <p:cNvSpPr/>
          <p:nvPr/>
        </p:nvSpPr>
        <p:spPr>
          <a:xfrm>
            <a:off x="863600" y="2108200"/>
            <a:ext cx="4826000" cy="2628900"/>
          </a:xfrm>
          <a:prstGeom prst="ellipse">
            <a:avLst/>
          </a:prstGeom>
          <a:noFill/>
          <a:ln cap="flat" cmpd="sng" w="889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431" name="Google Shape;2431;p53"/>
          <p:cNvGrpSpPr/>
          <p:nvPr/>
        </p:nvGrpSpPr>
        <p:grpSpPr>
          <a:xfrm>
            <a:off x="9569770" y="688168"/>
            <a:ext cx="2726644" cy="4606713"/>
            <a:chOff x="9569770" y="688168"/>
            <a:chExt cx="2726644" cy="4606713"/>
          </a:xfrm>
        </p:grpSpPr>
        <p:grpSp>
          <p:nvGrpSpPr>
            <p:cNvPr id="2432" name="Google Shape;2432;p53"/>
            <p:cNvGrpSpPr/>
            <p:nvPr/>
          </p:nvGrpSpPr>
          <p:grpSpPr>
            <a:xfrm>
              <a:off x="10209346" y="1810717"/>
              <a:ext cx="1801840" cy="3484164"/>
              <a:chOff x="10209346" y="1810717"/>
              <a:chExt cx="1801840" cy="3484164"/>
            </a:xfrm>
          </p:grpSpPr>
          <p:sp>
            <p:nvSpPr>
              <p:cNvPr id="2433" name="Google Shape;2433;p53"/>
              <p:cNvSpPr/>
              <p:nvPr/>
            </p:nvSpPr>
            <p:spPr>
              <a:xfrm rot="10800000">
                <a:off x="10209346" y="4597455"/>
                <a:ext cx="1502690" cy="697426"/>
              </a:xfrm>
              <a:prstGeom prst="uturnArrow">
                <a:avLst>
                  <a:gd fmla="val 21667" name="adj1"/>
                  <a:gd fmla="val 22511" name="adj2"/>
                  <a:gd fmla="val 28641" name="adj3"/>
                  <a:gd fmla="val 45831"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4" name="Google Shape;2434;p53"/>
              <p:cNvSpPr/>
              <p:nvPr/>
            </p:nvSpPr>
            <p:spPr>
              <a:xfrm>
                <a:off x="10288936" y="1810717"/>
                <a:ext cx="1502690" cy="697426"/>
              </a:xfrm>
              <a:prstGeom prst="uturnArrow">
                <a:avLst>
                  <a:gd fmla="val 21667" name="adj1"/>
                  <a:gd fmla="val 22511" name="adj2"/>
                  <a:gd fmla="val 28641" name="adj3"/>
                  <a:gd fmla="val 45831" name="adj4"/>
                  <a:gd fmla="val 100000" name="adj5"/>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435" name="Google Shape;2435;p53"/>
              <p:cNvSpPr/>
              <p:nvPr/>
            </p:nvSpPr>
            <p:spPr>
              <a:xfrm>
                <a:off x="11251769" y="2169763"/>
                <a:ext cx="759417" cy="54244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6" name="Google Shape;2436;p53"/>
              <p:cNvSpPr/>
              <p:nvPr/>
            </p:nvSpPr>
            <p:spPr>
              <a:xfrm>
                <a:off x="11562112" y="2168524"/>
                <a:ext cx="150463" cy="26352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2437" name="Google Shape;2437;p53"/>
            <p:cNvGrpSpPr/>
            <p:nvPr/>
          </p:nvGrpSpPr>
          <p:grpSpPr>
            <a:xfrm>
              <a:off x="9569770" y="688168"/>
              <a:ext cx="2726644" cy="1111932"/>
              <a:chOff x="4819970" y="294468"/>
              <a:chExt cx="2726644" cy="1111932"/>
            </a:xfrm>
          </p:grpSpPr>
          <p:sp>
            <p:nvSpPr>
              <p:cNvPr id="2438" name="Google Shape;2438;p53"/>
              <p:cNvSpPr txBox="1"/>
              <p:nvPr/>
            </p:nvSpPr>
            <p:spPr>
              <a:xfrm>
                <a:off x="4819970" y="294468"/>
                <a:ext cx="272664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Turn switch ON</a:t>
                </a:r>
                <a:endParaRPr/>
              </a:p>
            </p:txBody>
          </p:sp>
          <p:sp>
            <p:nvSpPr>
              <p:cNvPr id="2439" name="Google Shape;2439;p53"/>
              <p:cNvSpPr txBox="1"/>
              <p:nvPr/>
            </p:nvSpPr>
            <p:spPr>
              <a:xfrm>
                <a:off x="6032716" y="821625"/>
                <a:ext cx="43794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lt1"/>
                    </a:solidFill>
                    <a:latin typeface="Noto Sans Symbols"/>
                    <a:ea typeface="Noto Sans Symbols"/>
                    <a:cs typeface="Noto Sans Symbols"/>
                    <a:sym typeface="Noto Sans Symbols"/>
                  </a:rPr>
                  <a:t>Δ</a:t>
                </a:r>
                <a:endParaRPr/>
              </a:p>
            </p:txBody>
          </p:sp>
          <p:cxnSp>
            <p:nvCxnSpPr>
              <p:cNvPr id="2440" name="Google Shape;2440;p53"/>
              <p:cNvCxnSpPr/>
              <p:nvPr/>
            </p:nvCxnSpPr>
            <p:spPr>
              <a:xfrm>
                <a:off x="5016500" y="873501"/>
                <a:ext cx="2369088" cy="0"/>
              </a:xfrm>
              <a:prstGeom prst="straightConnector1">
                <a:avLst/>
              </a:prstGeom>
              <a:noFill/>
              <a:ln cap="flat" cmpd="sng" w="63500">
                <a:solidFill>
                  <a:schemeClr val="lt1"/>
                </a:solidFill>
                <a:prstDash val="solid"/>
                <a:miter lim="800000"/>
                <a:headEnd len="sm" w="sm" type="none"/>
                <a:tailEnd len="sm" w="sm" type="none"/>
              </a:ln>
            </p:spPr>
          </p:cxnSp>
        </p:grpSp>
      </p:grpSp>
      <p:pic>
        <p:nvPicPr>
          <p:cNvPr id="2441" name="Google Shape;2441;p53"/>
          <p:cNvPicPr preferRelativeResize="0"/>
          <p:nvPr/>
        </p:nvPicPr>
        <p:blipFill rotWithShape="1">
          <a:blip r:embed="rId4">
            <a:alphaModFix/>
          </a:blip>
          <a:srcRect b="0" l="0" r="0" t="0"/>
          <a:stretch/>
        </p:blipFill>
        <p:spPr>
          <a:xfrm>
            <a:off x="6679770" y="2112757"/>
            <a:ext cx="4724400" cy="2629726"/>
          </a:xfrm>
          <a:prstGeom prst="ellipse">
            <a:avLst/>
          </a:prstGeom>
          <a:noFill/>
          <a:ln cap="flat" cmpd="sng" w="66675">
            <a:solidFill>
              <a:schemeClr val="lt1"/>
            </a:solidFill>
            <a:prstDash val="solid"/>
            <a:round/>
            <a:headEnd len="sm" w="sm" type="none"/>
            <a:tailEnd len="sm" w="sm" type="none"/>
          </a:ln>
        </p:spPr>
      </p:pic>
      <p:sp>
        <p:nvSpPr>
          <p:cNvPr id="2442" name="Google Shape;2442;p53"/>
          <p:cNvSpPr/>
          <p:nvPr/>
        </p:nvSpPr>
        <p:spPr>
          <a:xfrm>
            <a:off x="6604000" y="2082800"/>
            <a:ext cx="4826000" cy="2692400"/>
          </a:xfrm>
          <a:prstGeom prst="ellipse">
            <a:avLst/>
          </a:prstGeom>
          <a:noFill/>
          <a:ln cap="flat" cmpd="sng" w="889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3" name="Google Shape;2443;p53"/>
          <p:cNvSpPr txBox="1"/>
          <p:nvPr/>
        </p:nvSpPr>
        <p:spPr>
          <a:xfrm>
            <a:off x="3127643" y="2657099"/>
            <a:ext cx="2588216"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0">
                <a:solidFill>
                  <a:srgbClr val="C00000"/>
                </a:solidFill>
                <a:latin typeface="Calibri"/>
                <a:ea typeface="Calibri"/>
                <a:cs typeface="Calibri"/>
                <a:sym typeface="Calibri"/>
              </a:rPr>
              <a:t>OFF</a:t>
            </a:r>
            <a:endParaRPr b="1" sz="4000">
              <a:solidFill>
                <a:srgbClr val="C00000"/>
              </a:solidFill>
              <a:latin typeface="Calibri"/>
              <a:ea typeface="Calibri"/>
              <a:cs typeface="Calibri"/>
              <a:sym typeface="Calibri"/>
            </a:endParaRPr>
          </a:p>
        </p:txBody>
      </p:sp>
      <p:sp>
        <p:nvSpPr>
          <p:cNvPr id="2444" name="Google Shape;2444;p53"/>
          <p:cNvSpPr txBox="1"/>
          <p:nvPr/>
        </p:nvSpPr>
        <p:spPr>
          <a:xfrm>
            <a:off x="7480516" y="2867187"/>
            <a:ext cx="1815884"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0">
                <a:solidFill>
                  <a:srgbClr val="C00000"/>
                </a:solidFill>
                <a:latin typeface="Calibri"/>
                <a:ea typeface="Calibri"/>
                <a:cs typeface="Calibri"/>
                <a:sym typeface="Calibri"/>
              </a:rPr>
              <a:t>ON</a:t>
            </a:r>
            <a:endParaRPr b="1" sz="3200">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0"/>
                                        </p:tgtEl>
                                        <p:attrNameLst>
                                          <p:attrName>style.visibility</p:attrName>
                                        </p:attrNameLst>
                                      </p:cBhvr>
                                      <p:to>
                                        <p:strVal val="visible"/>
                                      </p:to>
                                    </p:set>
                                    <p:animEffect filter="fade" transition="in">
                                      <p:cBhvr>
                                        <p:cTn dur="500"/>
                                        <p:tgtEl>
                                          <p:spTgt spid="2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7"/>
                                        </p:tgtEl>
                                        <p:attrNameLst>
                                          <p:attrName>style.visibility</p:attrName>
                                        </p:attrNameLst>
                                      </p:cBhvr>
                                      <p:to>
                                        <p:strVal val="visible"/>
                                      </p:to>
                                    </p:set>
                                    <p:animEffect filter="fade" transition="in">
                                      <p:cBhvr>
                                        <p:cTn dur="500"/>
                                        <p:tgtEl>
                                          <p:spTgt spid="2417"/>
                                        </p:tgtEl>
                                      </p:cBhvr>
                                    </p:animEffect>
                                  </p:childTnLst>
                                </p:cTn>
                              </p:par>
                              <p:par>
                                <p:cTn fill="hold" nodeType="withEffect" presetClass="exit" presetID="10" presetSubtype="0">
                                  <p:stCondLst>
                                    <p:cond delay="0"/>
                                  </p:stCondLst>
                                  <p:childTnLst>
                                    <p:animEffect filter="fade" transition="out">
                                      <p:cBhvr>
                                        <p:cTn dur="500"/>
                                        <p:tgtEl>
                                          <p:spTgt spid="2430"/>
                                        </p:tgtEl>
                                      </p:cBhvr>
                                    </p:animEffect>
                                    <p:set>
                                      <p:cBhvr>
                                        <p:cTn dur="1" fill="hold">
                                          <p:stCondLst>
                                            <p:cond delay="500"/>
                                          </p:stCondLst>
                                        </p:cTn>
                                        <p:tgtEl>
                                          <p:spTgt spid="2430"/>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42"/>
                                        </p:tgtEl>
                                        <p:attrNameLst>
                                          <p:attrName>style.visibility</p:attrName>
                                        </p:attrNameLst>
                                      </p:cBhvr>
                                      <p:to>
                                        <p:strVal val="visible"/>
                                      </p:to>
                                    </p:set>
                                    <p:animEffect filter="fade" transition="in">
                                      <p:cBhvr>
                                        <p:cTn dur="500"/>
                                        <p:tgtEl>
                                          <p:spTgt spid="2442"/>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2417"/>
                                        </p:tgtEl>
                                      </p:cBhvr>
                                    </p:animEffect>
                                    <p:set>
                                      <p:cBhvr>
                                        <p:cTn dur="1" fill="hold">
                                          <p:stCondLst>
                                            <p:cond delay="500"/>
                                          </p:stCondLst>
                                        </p:cTn>
                                        <p:tgtEl>
                                          <p:spTgt spid="24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3"/>
                                        </p:tgtEl>
                                        <p:attrNameLst>
                                          <p:attrName>style.visibility</p:attrName>
                                        </p:attrNameLst>
                                      </p:cBhvr>
                                      <p:to>
                                        <p:strVal val="visible"/>
                                      </p:to>
                                    </p:set>
                                    <p:animEffect filter="fade" transition="in">
                                      <p:cBhvr>
                                        <p:cTn dur="500"/>
                                        <p:tgtEl>
                                          <p:spTgt spid="2423"/>
                                        </p:tgtEl>
                                      </p:cBhvr>
                                    </p:animEffect>
                                  </p:childTnLst>
                                </p:cTn>
                              </p:par>
                              <p:par>
                                <p:cTn fill="hold" nodeType="withEffect" presetClass="exit" presetID="10" presetSubtype="0">
                                  <p:stCondLst>
                                    <p:cond delay="0"/>
                                  </p:stCondLst>
                                  <p:childTnLst>
                                    <p:animEffect filter="fade" transition="out">
                                      <p:cBhvr>
                                        <p:cTn dur="500"/>
                                        <p:tgtEl>
                                          <p:spTgt spid="2442"/>
                                        </p:tgtEl>
                                      </p:cBhvr>
                                    </p:animEffect>
                                    <p:set>
                                      <p:cBhvr>
                                        <p:cTn dur="1" fill="hold">
                                          <p:stCondLst>
                                            <p:cond delay="500"/>
                                          </p:stCondLst>
                                        </p:cTn>
                                        <p:tgtEl>
                                          <p:spTgt spid="244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30"/>
                                        </p:tgtEl>
                                        <p:attrNameLst>
                                          <p:attrName>style.visibility</p:attrName>
                                        </p:attrNameLst>
                                      </p:cBhvr>
                                      <p:to>
                                        <p:strVal val="visible"/>
                                      </p:to>
                                    </p:set>
                                    <p:animEffect filter="fade" transition="in">
                                      <p:cBhvr>
                                        <p:cTn dur="500"/>
                                        <p:tgtEl>
                                          <p:spTgt spid="2430"/>
                                        </p:tgtEl>
                                      </p:cBhvr>
                                    </p:animEffec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2423"/>
                                        </p:tgtEl>
                                      </p:cBhvr>
                                    </p:animEffect>
                                    <p:set>
                                      <p:cBhvr>
                                        <p:cTn dur="1" fill="hold">
                                          <p:stCondLst>
                                            <p:cond delay="500"/>
                                          </p:stCondLst>
                                        </p:cTn>
                                        <p:tgtEl>
                                          <p:spTgt spid="2423"/>
                                        </p:tgtEl>
                                        <p:attrNameLst>
                                          <p:attrName>style.visibility</p:attrName>
                                        </p:attrNameLst>
                                      </p:cBhvr>
                                      <p:to>
                                        <p:strVal val="hidden"/>
                                      </p:to>
                                    </p:set>
                                  </p:childTnLst>
                                </p:cTn>
                              </p:par>
                            </p:childTnLst>
                          </p:cTn>
                        </p:par>
                        <p:par>
                          <p:cTn fill="hold">
                            <p:stCondLst>
                              <p:cond delay="1500"/>
                            </p:stCondLst>
                            <p:childTnLst>
                              <p:par>
                                <p:cTn fill="hold" nodeType="afterEffect" presetClass="exit" presetID="10" presetSubtype="0">
                                  <p:stCondLst>
                                    <p:cond delay="1500"/>
                                  </p:stCondLst>
                                  <p:childTnLst>
                                    <p:animEffect filter="fade" transition="out">
                                      <p:cBhvr>
                                        <p:cTn dur="1000"/>
                                        <p:tgtEl>
                                          <p:spTgt spid="2430"/>
                                        </p:tgtEl>
                                      </p:cBhvr>
                                    </p:animEffect>
                                    <p:set>
                                      <p:cBhvr>
                                        <p:cTn dur="1" fill="hold">
                                          <p:stCondLst>
                                            <p:cond delay="1000"/>
                                          </p:stCondLst>
                                        </p:cTn>
                                        <p:tgtEl>
                                          <p:spTgt spid="243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7"/>
                                        </p:tgtEl>
                                        <p:attrNameLst>
                                          <p:attrName>style.visibility</p:attrName>
                                        </p:attrNameLst>
                                      </p:cBhvr>
                                      <p:to>
                                        <p:strVal val="visible"/>
                                      </p:to>
                                    </p:set>
                                    <p:animEffect filter="fade" transition="in">
                                      <p:cBhvr>
                                        <p:cTn dur="500"/>
                                        <p:tgtEl>
                                          <p:spTgt spid="2417"/>
                                        </p:tgtEl>
                                      </p:cBhvr>
                                    </p:animEffect>
                                  </p:childTnLst>
                                </p:cTn>
                              </p:par>
                              <p:par>
                                <p:cTn fill="hold" nodeType="withEffect" presetClass="entr" presetID="10" presetSubtype="0">
                                  <p:stCondLst>
                                    <p:cond delay="0"/>
                                  </p:stCondLst>
                                  <p:childTnLst>
                                    <p:set>
                                      <p:cBhvr>
                                        <p:cTn dur="1" fill="hold">
                                          <p:stCondLst>
                                            <p:cond delay="0"/>
                                          </p:stCondLst>
                                        </p:cTn>
                                        <p:tgtEl>
                                          <p:spTgt spid="2423"/>
                                        </p:tgtEl>
                                        <p:attrNameLst>
                                          <p:attrName>style.visibility</p:attrName>
                                        </p:attrNameLst>
                                      </p:cBhvr>
                                      <p:to>
                                        <p:strVal val="visible"/>
                                      </p:to>
                                    </p:set>
                                    <p:animEffect filter="fade" transition="in">
                                      <p:cBhvr>
                                        <p:cTn dur="500"/>
                                        <p:tgtEl>
                                          <p:spTgt spid="2423"/>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07"/>
                                        </p:tgtEl>
                                        <p:attrNameLst>
                                          <p:attrName>style.visibility</p:attrName>
                                        </p:attrNameLst>
                                      </p:cBhvr>
                                      <p:to>
                                        <p:strVal val="visible"/>
                                      </p:to>
                                    </p:set>
                                    <p:animEffect filter="fade" transition="in">
                                      <p:cBhvr>
                                        <p:cTn dur="500"/>
                                        <p:tgtEl>
                                          <p:spTgt spid="2407"/>
                                        </p:tgtEl>
                                      </p:cBhvr>
                                    </p:animEffect>
                                  </p:childTnLst>
                                </p:cTn>
                              </p:par>
                              <p:par>
                                <p:cTn fill="hold" nodeType="withEffect" presetClass="entr" presetID="10" presetSubtype="0">
                                  <p:stCondLst>
                                    <p:cond delay="0"/>
                                  </p:stCondLst>
                                  <p:childTnLst>
                                    <p:set>
                                      <p:cBhvr>
                                        <p:cTn dur="1" fill="hold">
                                          <p:stCondLst>
                                            <p:cond delay="0"/>
                                          </p:stCondLst>
                                        </p:cTn>
                                        <p:tgtEl>
                                          <p:spTgt spid="2431"/>
                                        </p:tgtEl>
                                        <p:attrNameLst>
                                          <p:attrName>style.visibility</p:attrName>
                                        </p:attrNameLst>
                                      </p:cBhvr>
                                      <p:to>
                                        <p:strVal val="visible"/>
                                      </p:to>
                                    </p:set>
                                    <p:animEffect filter="fade" transition="in">
                                      <p:cBhvr>
                                        <p:cTn dur="500"/>
                                        <p:tgtEl>
                                          <p:spTgt spid="2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8" name="Shape 2448"/>
        <p:cNvGrpSpPr/>
        <p:nvPr/>
      </p:nvGrpSpPr>
      <p:grpSpPr>
        <a:xfrm>
          <a:off x="0" y="0"/>
          <a:ext cx="0" cy="0"/>
          <a:chOff x="0" y="0"/>
          <a:chExt cx="0" cy="0"/>
        </a:xfrm>
      </p:grpSpPr>
      <p:sp>
        <p:nvSpPr>
          <p:cNvPr id="2449" name="Google Shape;2449;p54"/>
          <p:cNvSpPr txBox="1"/>
          <p:nvPr>
            <p:ph type="title"/>
          </p:nvPr>
        </p:nvSpPr>
        <p:spPr>
          <a:xfrm>
            <a:off x="838200" y="451821"/>
            <a:ext cx="10515600" cy="110140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6600"/>
              <a:buFont typeface="Calibri"/>
              <a:buNone/>
            </a:pPr>
            <a:r>
              <a:rPr lang="en-US" sz="6600"/>
              <a:t>rdt protocol mechanisms:</a:t>
            </a:r>
            <a:endParaRPr/>
          </a:p>
        </p:txBody>
      </p:sp>
      <p:sp>
        <p:nvSpPr>
          <p:cNvPr id="2450" name="Google Shape;2450;p54"/>
          <p:cNvSpPr txBox="1"/>
          <p:nvPr>
            <p:ph idx="1" type="body"/>
          </p:nvPr>
        </p:nvSpPr>
        <p:spPr>
          <a:xfrm>
            <a:off x="850726" y="1977231"/>
            <a:ext cx="11074052" cy="4351338"/>
          </a:xfrm>
          <a:prstGeom prst="rect">
            <a:avLst/>
          </a:prstGeom>
          <a:noFill/>
          <a:ln>
            <a:noFill/>
          </a:ln>
        </p:spPr>
        <p:txBody>
          <a:bodyPr anchorCtr="0" anchor="t" bIns="45700" lIns="91425" spcFirstLastPara="1" rIns="91425" wrap="square" tIns="45700">
            <a:normAutofit/>
          </a:bodyPr>
          <a:lstStyle/>
          <a:p>
            <a:pPr indent="-398463" lvl="0" marL="522288" rtl="0" algn="l">
              <a:lnSpc>
                <a:spcPct val="90000"/>
              </a:lnSpc>
              <a:spcBef>
                <a:spcPts val="0"/>
              </a:spcBef>
              <a:spcAft>
                <a:spcPts val="0"/>
              </a:spcAft>
              <a:buSzPts val="4400"/>
              <a:buChar char="▪"/>
            </a:pPr>
            <a:r>
              <a:rPr lang="en-US" sz="4400"/>
              <a:t>error detection (e.g., checksum)</a:t>
            </a:r>
            <a:endParaRPr/>
          </a:p>
          <a:p>
            <a:pPr indent="-398463" lvl="0" marL="522288" rtl="0" algn="l">
              <a:lnSpc>
                <a:spcPct val="90000"/>
              </a:lnSpc>
              <a:spcBef>
                <a:spcPts val="1000"/>
              </a:spcBef>
              <a:spcAft>
                <a:spcPts val="0"/>
              </a:spcAft>
              <a:buSzPts val="4400"/>
              <a:buChar char="▪"/>
            </a:pPr>
            <a:r>
              <a:rPr lang="en-US" sz="4400"/>
              <a:t>ACKs, NAKs</a:t>
            </a:r>
            <a:endParaRPr/>
          </a:p>
          <a:p>
            <a:pPr indent="-398463" lvl="0" marL="522288" rtl="0" algn="l">
              <a:lnSpc>
                <a:spcPct val="90000"/>
              </a:lnSpc>
              <a:spcBef>
                <a:spcPts val="1000"/>
              </a:spcBef>
              <a:spcAft>
                <a:spcPts val="0"/>
              </a:spcAft>
              <a:buSzPts val="4400"/>
              <a:buChar char="▪"/>
            </a:pPr>
            <a:r>
              <a:rPr lang="en-US" sz="4400"/>
              <a:t>retransmission</a:t>
            </a:r>
            <a:endParaRPr/>
          </a:p>
          <a:p>
            <a:pPr indent="-398463" lvl="0" marL="522288" rtl="0" algn="l">
              <a:lnSpc>
                <a:spcPct val="90000"/>
              </a:lnSpc>
              <a:spcBef>
                <a:spcPts val="1000"/>
              </a:spcBef>
              <a:spcAft>
                <a:spcPts val="0"/>
              </a:spcAft>
              <a:buSzPts val="4400"/>
              <a:buChar char="▪"/>
            </a:pPr>
            <a:r>
              <a:rPr lang="en-US" sz="4400"/>
              <a:t>sequence numbers (duplicate detection)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5" name="Shape 2455"/>
        <p:cNvGrpSpPr/>
        <p:nvPr/>
      </p:nvGrpSpPr>
      <p:grpSpPr>
        <a:xfrm>
          <a:off x="0" y="0"/>
          <a:ext cx="0" cy="0"/>
          <a:chOff x="0" y="0"/>
          <a:chExt cx="0" cy="0"/>
        </a:xfrm>
      </p:grpSpPr>
      <p:sp>
        <p:nvSpPr>
          <p:cNvPr id="2456" name="Google Shape;2456;p55"/>
          <p:cNvSpPr txBox="1"/>
          <p:nvPr>
            <p:ph type="title"/>
          </p:nvPr>
        </p:nvSpPr>
        <p:spPr>
          <a:xfrm>
            <a:off x="1704814" y="1343210"/>
            <a:ext cx="1983782" cy="894622"/>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Clr>
                <a:srgbClr val="0000A3"/>
              </a:buClr>
              <a:buSzPct val="100000"/>
              <a:buFont typeface="Calibri"/>
              <a:buNone/>
            </a:pPr>
            <a:r>
              <a:rPr lang="en-US" sz="4800"/>
              <a:t>rdt2.1 </a:t>
            </a:r>
            <a:br>
              <a:rPr lang="en-US" sz="4800"/>
            </a:br>
            <a:r>
              <a:rPr lang="en-US" sz="4800"/>
              <a:t>sender</a:t>
            </a:r>
            <a:endParaRPr sz="4400"/>
          </a:p>
        </p:txBody>
      </p:sp>
      <p:sp>
        <p:nvSpPr>
          <p:cNvPr id="2457" name="Google Shape;2457;p55"/>
          <p:cNvSpPr/>
          <p:nvPr/>
        </p:nvSpPr>
        <p:spPr>
          <a:xfrm>
            <a:off x="4658777" y="2435427"/>
            <a:ext cx="901700" cy="83661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458" name="Google Shape;2458;p55"/>
          <p:cNvSpPr txBox="1"/>
          <p:nvPr/>
        </p:nvSpPr>
        <p:spPr>
          <a:xfrm>
            <a:off x="4567752" y="2511448"/>
            <a:ext cx="1090613"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call 0 from above</a:t>
            </a:r>
            <a:endParaRPr b="0" i="0" sz="1400" u="none" cap="none" strike="noStrike">
              <a:solidFill>
                <a:srgbClr val="000000"/>
              </a:solidFill>
              <a:latin typeface="Times New Roman"/>
              <a:ea typeface="Times New Roman"/>
              <a:cs typeface="Times New Roman"/>
              <a:sym typeface="Times New Roman"/>
            </a:endParaRPr>
          </a:p>
        </p:txBody>
      </p:sp>
      <p:cxnSp>
        <p:nvCxnSpPr>
          <p:cNvPr id="2459" name="Google Shape;2459;p55"/>
          <p:cNvCxnSpPr/>
          <p:nvPr/>
        </p:nvCxnSpPr>
        <p:spPr>
          <a:xfrm>
            <a:off x="4384139" y="2390977"/>
            <a:ext cx="377825" cy="190500"/>
          </a:xfrm>
          <a:prstGeom prst="straightConnector1">
            <a:avLst/>
          </a:prstGeom>
          <a:noFill/>
          <a:ln cap="flat" cmpd="sng" w="28575">
            <a:solidFill>
              <a:srgbClr val="000000"/>
            </a:solidFill>
            <a:prstDash val="dash"/>
            <a:round/>
            <a:headEnd len="med" w="med" type="none"/>
            <a:tailEnd len="med" w="med" type="triangle"/>
          </a:ln>
        </p:spPr>
      </p:cxnSp>
      <p:grpSp>
        <p:nvGrpSpPr>
          <p:cNvPr id="2460" name="Google Shape;2460;p55"/>
          <p:cNvGrpSpPr/>
          <p:nvPr/>
        </p:nvGrpSpPr>
        <p:grpSpPr>
          <a:xfrm>
            <a:off x="6492339" y="2383039"/>
            <a:ext cx="1089025" cy="865188"/>
            <a:chOff x="2848" y="1499"/>
            <a:chExt cx="660" cy="510"/>
          </a:xfrm>
        </p:grpSpPr>
        <p:sp>
          <p:nvSpPr>
            <p:cNvPr id="2461" name="Google Shape;2461;p55"/>
            <p:cNvSpPr/>
            <p:nvPr/>
          </p:nvSpPr>
          <p:spPr>
            <a:xfrm>
              <a:off x="2893" y="1499"/>
              <a:ext cx="568" cy="51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462" name="Google Shape;2462;p55"/>
            <p:cNvSpPr txBox="1"/>
            <p:nvPr/>
          </p:nvSpPr>
          <p:spPr>
            <a:xfrm>
              <a:off x="2848" y="1551"/>
              <a:ext cx="660"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0</a:t>
              </a:r>
              <a:endParaRPr b="0" i="0" sz="1400" u="none" cap="none" strike="noStrike">
                <a:solidFill>
                  <a:srgbClr val="000000"/>
                </a:solidFill>
                <a:latin typeface="Times New Roman"/>
                <a:ea typeface="Times New Roman"/>
                <a:cs typeface="Times New Roman"/>
                <a:sym typeface="Times New Roman"/>
              </a:endParaRPr>
            </a:p>
          </p:txBody>
        </p:sp>
      </p:grpSp>
      <p:grpSp>
        <p:nvGrpSpPr>
          <p:cNvPr id="2463" name="Google Shape;2463;p55"/>
          <p:cNvGrpSpPr/>
          <p:nvPr/>
        </p:nvGrpSpPr>
        <p:grpSpPr>
          <a:xfrm>
            <a:off x="4914364" y="1394027"/>
            <a:ext cx="3694113" cy="1087437"/>
            <a:chOff x="4914364" y="1394027"/>
            <a:chExt cx="3694113" cy="1087437"/>
          </a:xfrm>
        </p:grpSpPr>
        <p:sp>
          <p:nvSpPr>
            <p:cNvPr id="2464" name="Google Shape;2464;p55"/>
            <p:cNvSpPr txBox="1"/>
            <p:nvPr/>
          </p:nvSpPr>
          <p:spPr>
            <a:xfrm>
              <a:off x="4914364" y="1706764"/>
              <a:ext cx="36941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make_pkt(0,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grpSp>
          <p:nvGrpSpPr>
            <p:cNvPr id="2465" name="Google Shape;2465;p55"/>
            <p:cNvGrpSpPr/>
            <p:nvPr/>
          </p:nvGrpSpPr>
          <p:grpSpPr>
            <a:xfrm>
              <a:off x="4928652" y="1394027"/>
              <a:ext cx="2852737" cy="1087437"/>
              <a:chOff x="4928652" y="1394027"/>
              <a:chExt cx="2852737" cy="1087437"/>
            </a:xfrm>
          </p:grpSpPr>
          <p:sp>
            <p:nvSpPr>
              <p:cNvPr id="2466" name="Google Shape;2466;p55"/>
              <p:cNvSpPr txBox="1"/>
              <p:nvPr/>
            </p:nvSpPr>
            <p:spPr>
              <a:xfrm>
                <a:off x="4928652" y="1394027"/>
                <a:ext cx="2111375" cy="30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2467" name="Google Shape;2467;p55"/>
              <p:cNvCxnSpPr/>
              <p:nvPr/>
            </p:nvCxnSpPr>
            <p:spPr>
              <a:xfrm>
                <a:off x="5046127" y="1759152"/>
                <a:ext cx="2735262" cy="0"/>
              </a:xfrm>
              <a:prstGeom prst="straightConnector1">
                <a:avLst/>
              </a:prstGeom>
              <a:noFill/>
              <a:ln cap="flat" cmpd="sng" w="28575">
                <a:solidFill>
                  <a:srgbClr val="000000"/>
                </a:solidFill>
                <a:prstDash val="solid"/>
                <a:round/>
                <a:headEnd len="med" w="med" type="none"/>
                <a:tailEnd len="med" w="med" type="none"/>
              </a:ln>
            </p:spPr>
          </p:cxnSp>
          <p:sp>
            <p:nvSpPr>
              <p:cNvPr id="2468" name="Google Shape;2468;p55"/>
              <p:cNvSpPr/>
              <p:nvPr/>
            </p:nvSpPr>
            <p:spPr>
              <a:xfrm flipH="1" rot="10800000">
                <a:off x="5215989" y="2260802"/>
                <a:ext cx="1482725" cy="220662"/>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grpSp>
        <p:nvGrpSpPr>
          <p:cNvPr id="2469" name="Google Shape;2469;p55"/>
          <p:cNvGrpSpPr/>
          <p:nvPr/>
        </p:nvGrpSpPr>
        <p:grpSpPr>
          <a:xfrm>
            <a:off x="7265819" y="1999849"/>
            <a:ext cx="3627361" cy="1207103"/>
            <a:chOff x="7265819" y="1999849"/>
            <a:chExt cx="3627361" cy="1207103"/>
          </a:xfrm>
        </p:grpSpPr>
        <p:sp>
          <p:nvSpPr>
            <p:cNvPr id="2470" name="Google Shape;2470;p55"/>
            <p:cNvSpPr/>
            <p:nvPr/>
          </p:nvSpPr>
          <p:spPr>
            <a:xfrm rot="-1357180">
              <a:off x="7379752" y="2244927"/>
              <a:ext cx="466725" cy="685800"/>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71" name="Google Shape;2471;p55"/>
            <p:cNvSpPr txBox="1"/>
            <p:nvPr/>
          </p:nvSpPr>
          <p:spPr>
            <a:xfrm>
              <a:off x="7742239" y="2806902"/>
              <a:ext cx="2262187"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2472" name="Google Shape;2472;p55"/>
            <p:cNvSpPr txBox="1"/>
            <p:nvPr/>
          </p:nvSpPr>
          <p:spPr>
            <a:xfrm>
              <a:off x="7714671" y="1999849"/>
              <a:ext cx="3178509"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 ||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2473" name="Google Shape;2473;p55"/>
            <p:cNvCxnSpPr/>
            <p:nvPr/>
          </p:nvCxnSpPr>
          <p:spPr>
            <a:xfrm>
              <a:off x="7835364" y="2846589"/>
              <a:ext cx="1433513" cy="0"/>
            </a:xfrm>
            <a:prstGeom prst="straightConnector1">
              <a:avLst/>
            </a:prstGeom>
            <a:noFill/>
            <a:ln cap="flat" cmpd="sng" w="28575">
              <a:solidFill>
                <a:srgbClr val="000000"/>
              </a:solidFill>
              <a:prstDash val="solid"/>
              <a:round/>
              <a:headEnd len="med" w="med" type="none"/>
              <a:tailEnd len="med" w="med" type="none"/>
            </a:ln>
          </p:spPr>
        </p:cxnSp>
      </p:grpSp>
      <p:grpSp>
        <p:nvGrpSpPr>
          <p:cNvPr id="2474" name="Google Shape;2474;p55"/>
          <p:cNvGrpSpPr/>
          <p:nvPr/>
        </p:nvGrpSpPr>
        <p:grpSpPr>
          <a:xfrm>
            <a:off x="5155664" y="4908752"/>
            <a:ext cx="3763963" cy="984250"/>
            <a:chOff x="5155664" y="4908752"/>
            <a:chExt cx="3763963" cy="984250"/>
          </a:xfrm>
        </p:grpSpPr>
        <p:sp>
          <p:nvSpPr>
            <p:cNvPr id="2475" name="Google Shape;2475;p55"/>
            <p:cNvSpPr/>
            <p:nvPr/>
          </p:nvSpPr>
          <p:spPr>
            <a:xfrm>
              <a:off x="5390614" y="4908752"/>
              <a:ext cx="1606550" cy="247650"/>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76" name="Google Shape;2476;p55"/>
            <p:cNvSpPr txBox="1"/>
            <p:nvPr/>
          </p:nvSpPr>
          <p:spPr>
            <a:xfrm>
              <a:off x="5155664" y="5492952"/>
              <a:ext cx="376396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sndpkt = make_pkt(1, 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2477" name="Google Shape;2477;p55"/>
            <p:cNvSpPr txBox="1"/>
            <p:nvPr/>
          </p:nvSpPr>
          <p:spPr>
            <a:xfrm>
              <a:off x="5225514" y="5154814"/>
              <a:ext cx="2389188"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cxnSp>
          <p:nvCxnSpPr>
            <p:cNvPr id="2478" name="Google Shape;2478;p55"/>
            <p:cNvCxnSpPr/>
            <p:nvPr/>
          </p:nvCxnSpPr>
          <p:spPr>
            <a:xfrm>
              <a:off x="5273139" y="5507239"/>
              <a:ext cx="2903538" cy="0"/>
            </a:xfrm>
            <a:prstGeom prst="straightConnector1">
              <a:avLst/>
            </a:prstGeom>
            <a:noFill/>
            <a:ln cap="flat" cmpd="sng" w="28575">
              <a:solidFill>
                <a:srgbClr val="000000"/>
              </a:solidFill>
              <a:prstDash val="solid"/>
              <a:round/>
              <a:headEnd len="med" w="med" type="none"/>
              <a:tailEnd len="med" w="med" type="none"/>
            </a:ln>
          </p:spPr>
        </p:cxnSp>
      </p:grpSp>
      <p:grpSp>
        <p:nvGrpSpPr>
          <p:cNvPr id="2479" name="Google Shape;2479;p55"/>
          <p:cNvGrpSpPr/>
          <p:nvPr/>
        </p:nvGrpSpPr>
        <p:grpSpPr>
          <a:xfrm>
            <a:off x="1859796" y="4436442"/>
            <a:ext cx="3008971" cy="1404172"/>
            <a:chOff x="1859796" y="4436442"/>
            <a:chExt cx="3008971" cy="1404172"/>
          </a:xfrm>
        </p:grpSpPr>
        <p:sp>
          <p:nvSpPr>
            <p:cNvPr id="2480" name="Google Shape;2480;p55"/>
            <p:cNvSpPr/>
            <p:nvPr/>
          </p:nvSpPr>
          <p:spPr>
            <a:xfrm rot="-6989453">
              <a:off x="3969802" y="4732539"/>
              <a:ext cx="952500" cy="469900"/>
            </a:xfrm>
            <a:custGeom>
              <a:rect b="b" l="l" r="r" t="t"/>
              <a:pathLst>
                <a:path extrusionOk="0" h="740" w="1500">
                  <a:moveTo>
                    <a:pt x="361" y="671"/>
                  </a:moveTo>
                  <a:cubicBezTo>
                    <a:pt x="0" y="0"/>
                    <a:pt x="1500" y="90"/>
                    <a:pt x="1017" y="74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81" name="Google Shape;2481;p55"/>
            <p:cNvSpPr txBox="1"/>
            <p:nvPr/>
          </p:nvSpPr>
          <p:spPr>
            <a:xfrm>
              <a:off x="2510889" y="5564389"/>
              <a:ext cx="1819275" cy="2762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2482" name="Google Shape;2482;p55"/>
            <p:cNvSpPr txBox="1"/>
            <p:nvPr/>
          </p:nvSpPr>
          <p:spPr>
            <a:xfrm>
              <a:off x="1859796" y="4726939"/>
              <a:ext cx="2391034"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(corrupt(rcvpkt)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isNAK(rcvpkt) )</a:t>
              </a:r>
              <a:endParaRPr b="0" i="0" sz="1600" u="none" cap="none" strike="noStrike">
                <a:solidFill>
                  <a:srgbClr val="000000"/>
                </a:solidFill>
                <a:latin typeface="Times New Roman"/>
                <a:ea typeface="Times New Roman"/>
                <a:cs typeface="Times New Roman"/>
                <a:sym typeface="Times New Roman"/>
              </a:endParaRPr>
            </a:p>
          </p:txBody>
        </p:sp>
        <p:cxnSp>
          <p:nvCxnSpPr>
            <p:cNvPr id="2483" name="Google Shape;2483;p55"/>
            <p:cNvCxnSpPr/>
            <p:nvPr/>
          </p:nvCxnSpPr>
          <p:spPr>
            <a:xfrm>
              <a:off x="2601377" y="5572327"/>
              <a:ext cx="1557337" cy="0"/>
            </a:xfrm>
            <a:prstGeom prst="straightConnector1">
              <a:avLst/>
            </a:prstGeom>
            <a:noFill/>
            <a:ln cap="flat" cmpd="sng" w="28575">
              <a:solidFill>
                <a:srgbClr val="000000"/>
              </a:solidFill>
              <a:prstDash val="solid"/>
              <a:round/>
              <a:headEnd len="med" w="med" type="none"/>
              <a:tailEnd len="med" w="med" type="none"/>
            </a:ln>
          </p:spPr>
        </p:cxnSp>
      </p:grpSp>
      <p:grpSp>
        <p:nvGrpSpPr>
          <p:cNvPr id="2484" name="Google Shape;2484;p55"/>
          <p:cNvGrpSpPr/>
          <p:nvPr/>
        </p:nvGrpSpPr>
        <p:grpSpPr>
          <a:xfrm>
            <a:off x="6643152" y="4329314"/>
            <a:ext cx="1117600" cy="823913"/>
            <a:chOff x="4156" y="2812"/>
            <a:chExt cx="704" cy="519"/>
          </a:xfrm>
        </p:grpSpPr>
        <p:sp>
          <p:nvSpPr>
            <p:cNvPr id="2485" name="Google Shape;2485;p55"/>
            <p:cNvSpPr/>
            <p:nvPr/>
          </p:nvSpPr>
          <p:spPr>
            <a:xfrm>
              <a:off x="4242" y="2812"/>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486" name="Google Shape;2486;p55"/>
            <p:cNvSpPr txBox="1"/>
            <p:nvPr/>
          </p:nvSpPr>
          <p:spPr>
            <a:xfrm>
              <a:off x="4156" y="2870"/>
              <a:ext cx="7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call 1 from above</a:t>
              </a:r>
              <a:endParaRPr b="0" i="0" sz="1400" u="none" cap="none" strike="noStrike">
                <a:solidFill>
                  <a:srgbClr val="000000"/>
                </a:solidFill>
                <a:latin typeface="Times New Roman"/>
                <a:ea typeface="Times New Roman"/>
                <a:cs typeface="Times New Roman"/>
                <a:sym typeface="Times New Roman"/>
              </a:endParaRPr>
            </a:p>
          </p:txBody>
        </p:sp>
      </p:grpSp>
      <p:grpSp>
        <p:nvGrpSpPr>
          <p:cNvPr id="2487" name="Google Shape;2487;p55"/>
          <p:cNvGrpSpPr/>
          <p:nvPr/>
        </p:nvGrpSpPr>
        <p:grpSpPr>
          <a:xfrm>
            <a:off x="4453989" y="4275339"/>
            <a:ext cx="1046163" cy="823913"/>
            <a:chOff x="4916" y="3266"/>
            <a:chExt cx="659" cy="519"/>
          </a:xfrm>
        </p:grpSpPr>
        <p:sp>
          <p:nvSpPr>
            <p:cNvPr id="2488" name="Google Shape;2488;p55"/>
            <p:cNvSpPr/>
            <p:nvPr/>
          </p:nvSpPr>
          <p:spPr>
            <a:xfrm>
              <a:off x="4957" y="3266"/>
              <a:ext cx="567" cy="519"/>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489" name="Google Shape;2489;p55"/>
            <p:cNvSpPr txBox="1"/>
            <p:nvPr/>
          </p:nvSpPr>
          <p:spPr>
            <a:xfrm>
              <a:off x="4916" y="3319"/>
              <a:ext cx="659"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ACK or NAK 1</a:t>
              </a:r>
              <a:endParaRPr b="0" i="0" sz="1400" u="none" cap="none" strike="noStrike">
                <a:solidFill>
                  <a:srgbClr val="000000"/>
                </a:solidFill>
                <a:latin typeface="Times New Roman"/>
                <a:ea typeface="Times New Roman"/>
                <a:cs typeface="Times New Roman"/>
                <a:sym typeface="Times New Roman"/>
              </a:endParaRPr>
            </a:p>
          </p:txBody>
        </p:sp>
      </p:grpSp>
      <p:grpSp>
        <p:nvGrpSpPr>
          <p:cNvPr id="2490" name="Google Shape;2490;p55"/>
          <p:cNvGrpSpPr/>
          <p:nvPr/>
        </p:nvGrpSpPr>
        <p:grpSpPr>
          <a:xfrm>
            <a:off x="7340063" y="2989465"/>
            <a:ext cx="3184985" cy="1470025"/>
            <a:chOff x="7340063" y="2989464"/>
            <a:chExt cx="3184985" cy="1470025"/>
          </a:xfrm>
        </p:grpSpPr>
        <p:sp>
          <p:nvSpPr>
            <p:cNvPr id="2491" name="Google Shape;2491;p55"/>
            <p:cNvSpPr/>
            <p:nvPr/>
          </p:nvSpPr>
          <p:spPr>
            <a:xfrm rot="-5400000">
              <a:off x="6760626" y="3568902"/>
              <a:ext cx="1363663" cy="204788"/>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92" name="Google Shape;2492;p55"/>
            <p:cNvSpPr txBox="1"/>
            <p:nvPr/>
          </p:nvSpPr>
          <p:spPr>
            <a:xfrm>
              <a:off x="7529435" y="3255707"/>
              <a:ext cx="2995613"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isACK(rcvpkt) </a:t>
              </a:r>
              <a:endParaRPr/>
            </a:p>
          </p:txBody>
        </p:sp>
        <p:cxnSp>
          <p:nvCxnSpPr>
            <p:cNvPr id="2493" name="Google Shape;2493;p55"/>
            <p:cNvCxnSpPr/>
            <p:nvPr/>
          </p:nvCxnSpPr>
          <p:spPr>
            <a:xfrm>
              <a:off x="7611527" y="4113414"/>
              <a:ext cx="990600" cy="0"/>
            </a:xfrm>
            <a:prstGeom prst="straightConnector1">
              <a:avLst/>
            </a:prstGeom>
            <a:noFill/>
            <a:ln cap="flat" cmpd="sng" w="28575">
              <a:solidFill>
                <a:srgbClr val="000000"/>
              </a:solidFill>
              <a:prstDash val="solid"/>
              <a:round/>
              <a:headEnd len="med" w="med" type="none"/>
              <a:tailEnd len="med" w="med" type="none"/>
            </a:ln>
          </p:spPr>
        </p:cxnSp>
        <p:sp>
          <p:nvSpPr>
            <p:cNvPr id="2494" name="Google Shape;2494;p55"/>
            <p:cNvSpPr txBox="1"/>
            <p:nvPr/>
          </p:nvSpPr>
          <p:spPr>
            <a:xfrm>
              <a:off x="7994114" y="4122939"/>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2495" name="Google Shape;2495;p55"/>
          <p:cNvGrpSpPr/>
          <p:nvPr/>
        </p:nvGrpSpPr>
        <p:grpSpPr>
          <a:xfrm>
            <a:off x="768495" y="3049789"/>
            <a:ext cx="3918857" cy="1284288"/>
            <a:chOff x="768495" y="3049789"/>
            <a:chExt cx="3918857" cy="1284288"/>
          </a:xfrm>
        </p:grpSpPr>
        <p:sp>
          <p:nvSpPr>
            <p:cNvPr id="2496" name="Google Shape;2496;p55"/>
            <p:cNvSpPr/>
            <p:nvPr/>
          </p:nvSpPr>
          <p:spPr>
            <a:xfrm flipH="1" rot="5400000">
              <a:off x="3992027" y="3621289"/>
              <a:ext cx="1266825" cy="12382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497" name="Google Shape;2497;p55"/>
            <p:cNvSpPr txBox="1"/>
            <p:nvPr/>
          </p:nvSpPr>
          <p:spPr>
            <a:xfrm>
              <a:off x="768495" y="3141125"/>
              <a:ext cx="3623727" cy="5715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t>
              </a:r>
              <a:endParaRPr/>
            </a:p>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&amp;&amp; notcorrupt(rcvpkt) &amp;&amp; isACK(rcvpkt)</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498" name="Google Shape;2498;p55"/>
            <p:cNvCxnSpPr/>
            <p:nvPr/>
          </p:nvCxnSpPr>
          <p:spPr>
            <a:xfrm>
              <a:off x="2572802" y="3983239"/>
              <a:ext cx="1738312" cy="0"/>
            </a:xfrm>
            <a:prstGeom prst="straightConnector1">
              <a:avLst/>
            </a:prstGeom>
            <a:noFill/>
            <a:ln cap="flat" cmpd="sng" w="28575">
              <a:solidFill>
                <a:srgbClr val="000000"/>
              </a:solidFill>
              <a:prstDash val="solid"/>
              <a:round/>
              <a:headEnd len="med" w="med" type="none"/>
              <a:tailEnd len="med" w="med" type="none"/>
            </a:ln>
          </p:spPr>
        </p:cxnSp>
        <p:sp>
          <p:nvSpPr>
            <p:cNvPr id="2499" name="Google Shape;2499;p55"/>
            <p:cNvSpPr txBox="1"/>
            <p:nvPr/>
          </p:nvSpPr>
          <p:spPr>
            <a:xfrm>
              <a:off x="3144302" y="3997527"/>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nvGrpSpPr>
          <p:cNvPr id="2500" name="Google Shape;2500;p55"/>
          <p:cNvGrpSpPr/>
          <p:nvPr/>
        </p:nvGrpSpPr>
        <p:grpSpPr>
          <a:xfrm>
            <a:off x="4370522" y="1661064"/>
            <a:ext cx="513366" cy="465788"/>
            <a:chOff x="1518833" y="4559246"/>
            <a:chExt cx="513366" cy="465788"/>
          </a:xfrm>
        </p:grpSpPr>
        <p:sp>
          <p:nvSpPr>
            <p:cNvPr id="2501" name="Google Shape;2501;p55"/>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2" name="Google Shape;2502;p55"/>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S1</a:t>
              </a:r>
              <a:endParaRPr/>
            </a:p>
          </p:txBody>
        </p:sp>
      </p:grpSp>
      <p:grpSp>
        <p:nvGrpSpPr>
          <p:cNvPr id="2503" name="Google Shape;2503;p55"/>
          <p:cNvGrpSpPr/>
          <p:nvPr/>
        </p:nvGrpSpPr>
        <p:grpSpPr>
          <a:xfrm>
            <a:off x="9373892" y="2417899"/>
            <a:ext cx="513366" cy="465788"/>
            <a:chOff x="1518833" y="4559246"/>
            <a:chExt cx="513366" cy="465788"/>
          </a:xfrm>
        </p:grpSpPr>
        <p:sp>
          <p:nvSpPr>
            <p:cNvPr id="2504" name="Google Shape;2504;p55"/>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5" name="Google Shape;2505;p55"/>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S2</a:t>
              </a:r>
              <a:endParaRPr/>
            </a:p>
          </p:txBody>
        </p:sp>
      </p:grpSp>
      <p:grpSp>
        <p:nvGrpSpPr>
          <p:cNvPr id="2506" name="Google Shape;2506;p55"/>
          <p:cNvGrpSpPr/>
          <p:nvPr/>
        </p:nvGrpSpPr>
        <p:grpSpPr>
          <a:xfrm>
            <a:off x="8720380" y="4151126"/>
            <a:ext cx="513366" cy="465788"/>
            <a:chOff x="1518833" y="4559246"/>
            <a:chExt cx="513366" cy="465788"/>
          </a:xfrm>
        </p:grpSpPr>
        <p:sp>
          <p:nvSpPr>
            <p:cNvPr id="2507" name="Google Shape;2507;p55"/>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8" name="Google Shape;2508;p55"/>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S3</a:t>
              </a:r>
              <a:endParaRPr/>
            </a:p>
          </p:txBody>
        </p:sp>
      </p:grpSp>
      <p:grpSp>
        <p:nvGrpSpPr>
          <p:cNvPr id="2509" name="Google Shape;2509;p55"/>
          <p:cNvGrpSpPr/>
          <p:nvPr/>
        </p:nvGrpSpPr>
        <p:grpSpPr>
          <a:xfrm>
            <a:off x="8826285" y="5295417"/>
            <a:ext cx="513366" cy="465788"/>
            <a:chOff x="1518833" y="4559246"/>
            <a:chExt cx="513366" cy="465788"/>
          </a:xfrm>
        </p:grpSpPr>
        <p:sp>
          <p:nvSpPr>
            <p:cNvPr id="2510" name="Google Shape;2510;p55"/>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1" name="Google Shape;2511;p55"/>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S4</a:t>
              </a:r>
              <a:endParaRPr/>
            </a:p>
          </p:txBody>
        </p:sp>
      </p:grpSp>
      <p:grpSp>
        <p:nvGrpSpPr>
          <p:cNvPr id="2512" name="Google Shape;2512;p55"/>
          <p:cNvGrpSpPr/>
          <p:nvPr/>
        </p:nvGrpSpPr>
        <p:grpSpPr>
          <a:xfrm>
            <a:off x="2190428" y="4533417"/>
            <a:ext cx="513366" cy="465788"/>
            <a:chOff x="1518833" y="4559246"/>
            <a:chExt cx="513366" cy="465788"/>
          </a:xfrm>
        </p:grpSpPr>
        <p:sp>
          <p:nvSpPr>
            <p:cNvPr id="2513" name="Google Shape;2513;p55"/>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4" name="Google Shape;2514;p55"/>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S5</a:t>
              </a:r>
              <a:endParaRPr/>
            </a:p>
          </p:txBody>
        </p:sp>
      </p:grpSp>
      <p:grpSp>
        <p:nvGrpSpPr>
          <p:cNvPr id="2515" name="Google Shape;2515;p55"/>
          <p:cNvGrpSpPr/>
          <p:nvPr/>
        </p:nvGrpSpPr>
        <p:grpSpPr>
          <a:xfrm>
            <a:off x="2373825" y="2934508"/>
            <a:ext cx="513366" cy="465788"/>
            <a:chOff x="1518833" y="4559246"/>
            <a:chExt cx="513366" cy="465788"/>
          </a:xfrm>
        </p:grpSpPr>
        <p:sp>
          <p:nvSpPr>
            <p:cNvPr id="2516" name="Google Shape;2516;p55"/>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7" name="Google Shape;2517;p55"/>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S6</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3"/>
                                        </p:tgtEl>
                                        <p:attrNameLst>
                                          <p:attrName>style.visibility</p:attrName>
                                        </p:attrNameLst>
                                      </p:cBhvr>
                                      <p:to>
                                        <p:strVal val="visible"/>
                                      </p:to>
                                    </p:set>
                                    <p:animEffect filter="fade" transition="in">
                                      <p:cBhvr>
                                        <p:cTn dur="500"/>
                                        <p:tgtEl>
                                          <p:spTgt spid="24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0"/>
                                        </p:tgtEl>
                                        <p:attrNameLst>
                                          <p:attrName>style.visibility</p:attrName>
                                        </p:attrNameLst>
                                      </p:cBhvr>
                                      <p:to>
                                        <p:strVal val="visible"/>
                                      </p:to>
                                    </p:set>
                                    <p:animEffect filter="fade" transition="in">
                                      <p:cBhvr>
                                        <p:cTn dur="500"/>
                                        <p:tgtEl>
                                          <p:spTgt spid="2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4"/>
                                        </p:tgtEl>
                                        <p:attrNameLst>
                                          <p:attrName>style.visibility</p:attrName>
                                        </p:attrNameLst>
                                      </p:cBhvr>
                                      <p:to>
                                        <p:strVal val="visible"/>
                                      </p:to>
                                    </p:set>
                                    <p:animEffect filter="fade" transition="in">
                                      <p:cBhvr>
                                        <p:cTn dur="500"/>
                                        <p:tgtEl>
                                          <p:spTgt spid="2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5"/>
                                        </p:tgtEl>
                                        <p:attrNameLst>
                                          <p:attrName>style.visibility</p:attrName>
                                        </p:attrNameLst>
                                      </p:cBhvr>
                                      <p:to>
                                        <p:strVal val="visible"/>
                                      </p:to>
                                    </p:set>
                                    <p:animEffect filter="fade" transition="in">
                                      <p:cBhvr>
                                        <p:cTn dur="500"/>
                                        <p:tgtEl>
                                          <p:spTgt spid="2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9"/>
                                        </p:tgtEl>
                                        <p:attrNameLst>
                                          <p:attrName>style.visibility</p:attrName>
                                        </p:attrNameLst>
                                      </p:cBhvr>
                                      <p:to>
                                        <p:strVal val="visible"/>
                                      </p:to>
                                    </p:set>
                                    <p:animEffect filter="fade" transition="in">
                                      <p:cBhvr>
                                        <p:cTn dur="500"/>
                                        <p:tgtEl>
                                          <p:spTgt spid="2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9"/>
                                        </p:tgtEl>
                                        <p:attrNameLst>
                                          <p:attrName>style.visibility</p:attrName>
                                        </p:attrNameLst>
                                      </p:cBhvr>
                                      <p:to>
                                        <p:strVal val="visible"/>
                                      </p:to>
                                    </p:set>
                                    <p:animEffect filter="fade" transition="in">
                                      <p:cBhvr>
                                        <p:cTn dur="500"/>
                                        <p:tgtEl>
                                          <p:spTgt spid="24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2" name="Shape 2522"/>
        <p:cNvGrpSpPr/>
        <p:nvPr/>
      </p:nvGrpSpPr>
      <p:grpSpPr>
        <a:xfrm>
          <a:off x="0" y="0"/>
          <a:ext cx="0" cy="0"/>
          <a:chOff x="0" y="0"/>
          <a:chExt cx="0" cy="0"/>
        </a:xfrm>
      </p:grpSpPr>
      <p:sp>
        <p:nvSpPr>
          <p:cNvPr id="2523" name="Google Shape;2523;p56"/>
          <p:cNvSpPr txBox="1"/>
          <p:nvPr>
            <p:ph type="title"/>
          </p:nvPr>
        </p:nvSpPr>
        <p:spPr>
          <a:xfrm>
            <a:off x="318244" y="1095237"/>
            <a:ext cx="4067778" cy="894622"/>
          </a:xfrm>
          <a:prstGeom prst="rect">
            <a:avLst/>
          </a:prstGeom>
          <a:noFill/>
          <a:ln>
            <a:noFill/>
          </a:ln>
        </p:spPr>
        <p:txBody>
          <a:bodyPr anchorCtr="0" anchor="ctr" bIns="45700" lIns="91425" spcFirstLastPara="1" rIns="91425" wrap="square" tIns="45700">
            <a:normAutofit fontScale="90000"/>
          </a:bodyPr>
          <a:lstStyle/>
          <a:p>
            <a:pPr indent="0" lvl="0" marL="0" rtl="0" algn="r">
              <a:lnSpc>
                <a:spcPct val="90000"/>
              </a:lnSpc>
              <a:spcBef>
                <a:spcPts val="0"/>
              </a:spcBef>
              <a:spcAft>
                <a:spcPts val="0"/>
              </a:spcAft>
              <a:buClr>
                <a:srgbClr val="0000A3"/>
              </a:buClr>
              <a:buSzPct val="100000"/>
              <a:buFont typeface="Calibri"/>
              <a:buNone/>
            </a:pPr>
            <a:r>
              <a:rPr lang="en-US" sz="4800"/>
              <a:t>rdt2.1 </a:t>
            </a:r>
            <a:br>
              <a:rPr lang="en-US" sz="4800"/>
            </a:br>
            <a:r>
              <a:rPr lang="en-US" sz="4800"/>
              <a:t>receiver</a:t>
            </a:r>
            <a:endParaRPr sz="4400"/>
          </a:p>
        </p:txBody>
      </p:sp>
      <p:grpSp>
        <p:nvGrpSpPr>
          <p:cNvPr id="2524" name="Google Shape;2524;p56"/>
          <p:cNvGrpSpPr/>
          <p:nvPr/>
        </p:nvGrpSpPr>
        <p:grpSpPr>
          <a:xfrm>
            <a:off x="4764244" y="3345999"/>
            <a:ext cx="817563" cy="795338"/>
            <a:chOff x="963" y="1131"/>
            <a:chExt cx="515" cy="501"/>
          </a:xfrm>
        </p:grpSpPr>
        <p:sp>
          <p:nvSpPr>
            <p:cNvPr id="2525" name="Google Shape;2525;p56"/>
            <p:cNvSpPr/>
            <p:nvPr/>
          </p:nvSpPr>
          <p:spPr>
            <a:xfrm>
              <a:off x="963" y="1131"/>
              <a:ext cx="490" cy="501"/>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526" name="Google Shape;2526;p56"/>
            <p:cNvSpPr txBox="1"/>
            <p:nvPr/>
          </p:nvSpPr>
          <p:spPr>
            <a:xfrm>
              <a:off x="974" y="115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0 from below</a:t>
              </a:r>
              <a:endParaRPr b="0" i="0" sz="1400" u="none" cap="none" strike="noStrike">
                <a:solidFill>
                  <a:srgbClr val="000000"/>
                </a:solidFill>
                <a:latin typeface="Times New Roman"/>
                <a:ea typeface="Times New Roman"/>
                <a:cs typeface="Times New Roman"/>
                <a:sym typeface="Times New Roman"/>
              </a:endParaRPr>
            </a:p>
          </p:txBody>
        </p:sp>
      </p:grpSp>
      <p:cxnSp>
        <p:nvCxnSpPr>
          <p:cNvPr id="2527" name="Google Shape;2527;p56"/>
          <p:cNvCxnSpPr/>
          <p:nvPr/>
        </p:nvCxnSpPr>
        <p:spPr>
          <a:xfrm>
            <a:off x="4600732" y="2276024"/>
            <a:ext cx="419100" cy="1079500"/>
          </a:xfrm>
          <a:prstGeom prst="straightConnector1">
            <a:avLst/>
          </a:prstGeom>
          <a:noFill/>
          <a:ln cap="flat" cmpd="sng" w="28575">
            <a:solidFill>
              <a:srgbClr val="000000"/>
            </a:solidFill>
            <a:prstDash val="dash"/>
            <a:round/>
            <a:headEnd len="med" w="med" type="none"/>
            <a:tailEnd len="med" w="med" type="triangle"/>
          </a:ln>
        </p:spPr>
      </p:cxnSp>
      <p:grpSp>
        <p:nvGrpSpPr>
          <p:cNvPr id="2528" name="Google Shape;2528;p56"/>
          <p:cNvGrpSpPr/>
          <p:nvPr/>
        </p:nvGrpSpPr>
        <p:grpSpPr>
          <a:xfrm>
            <a:off x="4688044" y="4161974"/>
            <a:ext cx="3862388" cy="2187575"/>
            <a:chOff x="4688044" y="4161974"/>
            <a:chExt cx="3862388" cy="2187575"/>
          </a:xfrm>
        </p:grpSpPr>
        <p:sp>
          <p:nvSpPr>
            <p:cNvPr id="2529" name="Google Shape;2529;p56"/>
            <p:cNvSpPr/>
            <p:nvPr/>
          </p:nvSpPr>
          <p:spPr>
            <a:xfrm>
              <a:off x="5299232" y="4161974"/>
              <a:ext cx="1590675" cy="688975"/>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30" name="Google Shape;2530;p56"/>
            <p:cNvSpPr txBox="1"/>
            <p:nvPr/>
          </p:nvSpPr>
          <p:spPr>
            <a:xfrm>
              <a:off x="4688044" y="4742999"/>
              <a:ext cx="358140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has_seq1(rcvpkt)</a:t>
              </a:r>
              <a:r>
                <a:rPr b="0" i="0" lang="en-US" sz="1600" u="none" cap="none" strike="noStrike">
                  <a:solidFill>
                    <a:srgbClr val="000000"/>
                  </a:solidFill>
                  <a:latin typeface="Arial"/>
                  <a:ea typeface="Arial"/>
                  <a:cs typeface="Arial"/>
                  <a:sym typeface="Arial"/>
                </a:rPr>
                <a:t> </a:t>
              </a:r>
              <a:endParaRPr b="0" i="0" sz="1600" u="none" cap="none" strike="noStrike">
                <a:solidFill>
                  <a:srgbClr val="000000"/>
                </a:solidFill>
                <a:latin typeface="Times New Roman"/>
                <a:ea typeface="Times New Roman"/>
                <a:cs typeface="Times New Roman"/>
                <a:sym typeface="Times New Roman"/>
              </a:endParaRPr>
            </a:p>
          </p:txBody>
        </p:sp>
        <p:cxnSp>
          <p:nvCxnSpPr>
            <p:cNvPr id="2531" name="Google Shape;2531;p56"/>
            <p:cNvCxnSpPr/>
            <p:nvPr/>
          </p:nvCxnSpPr>
          <p:spPr>
            <a:xfrm>
              <a:off x="4754719" y="5300212"/>
              <a:ext cx="2898775" cy="0"/>
            </a:xfrm>
            <a:prstGeom prst="straightConnector1">
              <a:avLst/>
            </a:prstGeom>
            <a:noFill/>
            <a:ln cap="flat" cmpd="sng" w="28575">
              <a:solidFill>
                <a:srgbClr val="000000"/>
              </a:solidFill>
              <a:prstDash val="solid"/>
              <a:round/>
              <a:headEnd len="med" w="med" type="none"/>
              <a:tailEnd len="med" w="med" type="none"/>
            </a:ln>
          </p:spPr>
        </p:cxnSp>
        <p:sp>
          <p:nvSpPr>
            <p:cNvPr id="2532" name="Google Shape;2532;p56"/>
            <p:cNvSpPr txBox="1"/>
            <p:nvPr/>
          </p:nvSpPr>
          <p:spPr>
            <a:xfrm>
              <a:off x="4697569" y="5355774"/>
              <a:ext cx="3852863" cy="993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2533" name="Google Shape;2533;p56"/>
          <p:cNvGrpSpPr/>
          <p:nvPr/>
        </p:nvGrpSpPr>
        <p:grpSpPr>
          <a:xfrm>
            <a:off x="6462869" y="3380924"/>
            <a:ext cx="825500" cy="796925"/>
            <a:chOff x="4398" y="3133"/>
            <a:chExt cx="520" cy="502"/>
          </a:xfrm>
        </p:grpSpPr>
        <p:sp>
          <p:nvSpPr>
            <p:cNvPr id="2534" name="Google Shape;2534;p56"/>
            <p:cNvSpPr/>
            <p:nvPr/>
          </p:nvSpPr>
          <p:spPr>
            <a:xfrm>
              <a:off x="4398" y="3133"/>
              <a:ext cx="507" cy="502"/>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535" name="Google Shape;2535;p56"/>
            <p:cNvSpPr txBox="1"/>
            <p:nvPr/>
          </p:nvSpPr>
          <p:spPr>
            <a:xfrm>
              <a:off x="4414" y="3163"/>
              <a:ext cx="504"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Wait for </a:t>
              </a:r>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1 from below</a:t>
              </a:r>
              <a:endParaRPr b="0" i="0" sz="1400" u="none" cap="none" strike="noStrike">
                <a:solidFill>
                  <a:srgbClr val="000000"/>
                </a:solidFill>
                <a:latin typeface="Times New Roman"/>
                <a:ea typeface="Times New Roman"/>
                <a:cs typeface="Times New Roman"/>
                <a:sym typeface="Times New Roman"/>
              </a:endParaRPr>
            </a:p>
          </p:txBody>
        </p:sp>
      </p:grpSp>
      <p:grpSp>
        <p:nvGrpSpPr>
          <p:cNvPr id="2536" name="Google Shape;2536;p56"/>
          <p:cNvGrpSpPr/>
          <p:nvPr/>
        </p:nvGrpSpPr>
        <p:grpSpPr>
          <a:xfrm>
            <a:off x="4849969" y="1277487"/>
            <a:ext cx="3981450" cy="2101850"/>
            <a:chOff x="4849969" y="1277487"/>
            <a:chExt cx="3981450" cy="2101850"/>
          </a:xfrm>
        </p:grpSpPr>
        <p:sp>
          <p:nvSpPr>
            <p:cNvPr id="2537" name="Google Shape;2537;p56"/>
            <p:cNvSpPr/>
            <p:nvPr/>
          </p:nvSpPr>
          <p:spPr>
            <a:xfrm flipH="1" rot="10800000">
              <a:off x="5281769" y="2593524"/>
              <a:ext cx="1590675" cy="785813"/>
            </a:xfrm>
            <a:custGeom>
              <a:rect b="b" l="l" r="r" t="t"/>
              <a:pathLst>
                <a:path extrusionOk="0" h="525" w="2835">
                  <a:moveTo>
                    <a:pt x="0" y="0"/>
                  </a:moveTo>
                  <a:cubicBezTo>
                    <a:pt x="60" y="525"/>
                    <a:pt x="2835" y="495"/>
                    <a:pt x="2835"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nvGrpSpPr>
            <p:cNvPr id="2538" name="Google Shape;2538;p56"/>
            <p:cNvGrpSpPr/>
            <p:nvPr/>
          </p:nvGrpSpPr>
          <p:grpSpPr>
            <a:xfrm>
              <a:off x="4849969" y="1277487"/>
              <a:ext cx="3981450" cy="1231900"/>
              <a:chOff x="4849969" y="1277487"/>
              <a:chExt cx="3981450" cy="1231900"/>
            </a:xfrm>
          </p:grpSpPr>
          <p:sp>
            <p:nvSpPr>
              <p:cNvPr id="2539" name="Google Shape;2539;p56"/>
              <p:cNvSpPr txBox="1"/>
              <p:nvPr/>
            </p:nvSpPr>
            <p:spPr>
              <a:xfrm>
                <a:off x="4849969" y="1277487"/>
                <a:ext cx="3981450" cy="571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notcorrupt(rcvpkt)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has_seq0(rcvpkt) </a:t>
                </a:r>
                <a:endParaRPr b="0" i="0" sz="1400" u="none" cap="none" strike="noStrike">
                  <a:solidFill>
                    <a:srgbClr val="000000"/>
                  </a:solidFill>
                  <a:latin typeface="Times New Roman"/>
                  <a:ea typeface="Times New Roman"/>
                  <a:cs typeface="Times New Roman"/>
                  <a:sym typeface="Times New Roman"/>
                </a:endParaRPr>
              </a:p>
            </p:txBody>
          </p:sp>
          <p:cxnSp>
            <p:nvCxnSpPr>
              <p:cNvPr id="2540" name="Google Shape;2540;p56"/>
              <p:cNvCxnSpPr/>
              <p:nvPr/>
            </p:nvCxnSpPr>
            <p:spPr>
              <a:xfrm>
                <a:off x="4959507" y="1847399"/>
                <a:ext cx="1914525" cy="0"/>
              </a:xfrm>
              <a:prstGeom prst="straightConnector1">
                <a:avLst/>
              </a:prstGeom>
              <a:noFill/>
              <a:ln cap="flat" cmpd="sng" w="28575">
                <a:solidFill>
                  <a:srgbClr val="000000"/>
                </a:solidFill>
                <a:prstDash val="solid"/>
                <a:round/>
                <a:headEnd len="med" w="med" type="none"/>
                <a:tailEnd len="med" w="med" type="none"/>
              </a:ln>
            </p:spPr>
          </p:cxnSp>
          <p:sp>
            <p:nvSpPr>
              <p:cNvPr id="2541" name="Google Shape;2541;p56"/>
              <p:cNvSpPr txBox="1"/>
              <p:nvPr/>
            </p:nvSpPr>
            <p:spPr>
              <a:xfrm>
                <a:off x="4862669" y="1804537"/>
                <a:ext cx="3475038" cy="704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grpSp>
        <p:nvGrpSpPr>
          <p:cNvPr id="2542" name="Google Shape;2542;p56"/>
          <p:cNvGrpSpPr/>
          <p:nvPr/>
        </p:nvGrpSpPr>
        <p:grpSpPr>
          <a:xfrm>
            <a:off x="7028916" y="2655437"/>
            <a:ext cx="3840853" cy="1309628"/>
            <a:chOff x="7028916" y="2655437"/>
            <a:chExt cx="3840853" cy="1309628"/>
          </a:xfrm>
        </p:grpSpPr>
        <p:sp>
          <p:nvSpPr>
            <p:cNvPr id="2543" name="Google Shape;2543;p56"/>
            <p:cNvSpPr txBox="1"/>
            <p:nvPr/>
          </p:nvSpPr>
          <p:spPr>
            <a:xfrm>
              <a:off x="7842407" y="295229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544" name="Google Shape;2544;p56"/>
            <p:cNvSpPr/>
            <p:nvPr/>
          </p:nvSpPr>
          <p:spPr>
            <a:xfrm rot="-1361013">
              <a:off x="7162957" y="2972937"/>
              <a:ext cx="839787"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45" name="Google Shape;2545;p56"/>
            <p:cNvSpPr txBox="1"/>
            <p:nvPr/>
          </p:nvSpPr>
          <p:spPr>
            <a:xfrm>
              <a:off x="7793194" y="2655437"/>
              <a:ext cx="287178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2546" name="Google Shape;2546;p56"/>
            <p:cNvCxnSpPr/>
            <p:nvPr/>
          </p:nvCxnSpPr>
          <p:spPr>
            <a:xfrm>
              <a:off x="7931307" y="2966587"/>
              <a:ext cx="1938337" cy="0"/>
            </a:xfrm>
            <a:prstGeom prst="straightConnector1">
              <a:avLst/>
            </a:prstGeom>
            <a:noFill/>
            <a:ln cap="flat" cmpd="sng" w="28575">
              <a:solidFill>
                <a:srgbClr val="000000"/>
              </a:solidFill>
              <a:prstDash val="solid"/>
              <a:round/>
              <a:headEnd len="med" w="med" type="none"/>
              <a:tailEnd len="med" w="med" type="none"/>
            </a:ln>
          </p:spPr>
        </p:cxnSp>
      </p:grpSp>
      <p:grpSp>
        <p:nvGrpSpPr>
          <p:cNvPr id="2547" name="Google Shape;2547;p56"/>
          <p:cNvGrpSpPr/>
          <p:nvPr/>
        </p:nvGrpSpPr>
        <p:grpSpPr>
          <a:xfrm>
            <a:off x="7078824" y="3592896"/>
            <a:ext cx="3662358" cy="1234241"/>
            <a:chOff x="7078824" y="3592896"/>
            <a:chExt cx="3662358" cy="1234241"/>
          </a:xfrm>
        </p:grpSpPr>
        <p:sp>
          <p:nvSpPr>
            <p:cNvPr id="2548" name="Google Shape;2548;p56"/>
            <p:cNvSpPr txBox="1"/>
            <p:nvPr/>
          </p:nvSpPr>
          <p:spPr>
            <a:xfrm>
              <a:off x="7845582" y="3665087"/>
              <a:ext cx="262413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has_seq0(rcvpkt)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2549" name="Google Shape;2549;p56"/>
            <p:cNvCxnSpPr/>
            <p:nvPr/>
          </p:nvCxnSpPr>
          <p:spPr>
            <a:xfrm>
              <a:off x="7929719" y="4363587"/>
              <a:ext cx="1938338" cy="0"/>
            </a:xfrm>
            <a:prstGeom prst="straightConnector1">
              <a:avLst/>
            </a:prstGeom>
            <a:noFill/>
            <a:ln cap="flat" cmpd="sng" w="28575">
              <a:solidFill>
                <a:srgbClr val="000000"/>
              </a:solidFill>
              <a:prstDash val="solid"/>
              <a:round/>
              <a:headEnd len="med" w="med" type="none"/>
              <a:tailEnd len="med" w="med" type="none"/>
            </a:ln>
          </p:spPr>
        </p:cxnSp>
        <p:sp>
          <p:nvSpPr>
            <p:cNvPr id="2550" name="Google Shape;2550;p56"/>
            <p:cNvSpPr/>
            <p:nvPr/>
          </p:nvSpPr>
          <p:spPr>
            <a:xfrm rot="1020547">
              <a:off x="7186769" y="36968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sp>
          <p:nvSpPr>
            <p:cNvPr id="2551" name="Google Shape;2551;p56"/>
            <p:cNvSpPr txBox="1"/>
            <p:nvPr/>
          </p:nvSpPr>
          <p:spPr>
            <a:xfrm>
              <a:off x="7801132" y="4417562"/>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grpSp>
      <p:grpSp>
        <p:nvGrpSpPr>
          <p:cNvPr id="2552" name="Google Shape;2552;p56"/>
          <p:cNvGrpSpPr/>
          <p:nvPr/>
        </p:nvGrpSpPr>
        <p:grpSpPr>
          <a:xfrm>
            <a:off x="1919444" y="3529396"/>
            <a:ext cx="2989258" cy="1254878"/>
            <a:chOff x="1919444" y="3529396"/>
            <a:chExt cx="2989258" cy="1254878"/>
          </a:xfrm>
        </p:grpSpPr>
        <p:sp>
          <p:nvSpPr>
            <p:cNvPr id="2553" name="Google Shape;2553;p56"/>
            <p:cNvSpPr txBox="1"/>
            <p:nvPr/>
          </p:nvSpPr>
          <p:spPr>
            <a:xfrm>
              <a:off x="1919444" y="3644449"/>
              <a:ext cx="2624138"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 corrupt(rcvpkt) &amp;&amp;</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has_seq1(rcvpkt)</a:t>
              </a:r>
              <a:endParaRPr/>
            </a:p>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2554" name="Google Shape;2554;p56"/>
            <p:cNvCxnSpPr/>
            <p:nvPr/>
          </p:nvCxnSpPr>
          <p:spPr>
            <a:xfrm>
              <a:off x="2003582" y="4352474"/>
              <a:ext cx="1938337" cy="0"/>
            </a:xfrm>
            <a:prstGeom prst="straightConnector1">
              <a:avLst/>
            </a:prstGeom>
            <a:noFill/>
            <a:ln cap="flat" cmpd="sng" w="28575">
              <a:solidFill>
                <a:srgbClr val="000000"/>
              </a:solidFill>
              <a:prstDash val="solid"/>
              <a:round/>
              <a:headEnd len="med" w="med" type="none"/>
              <a:tailEnd len="med" w="med" type="none"/>
            </a:ln>
          </p:spPr>
        </p:cxnSp>
        <p:sp>
          <p:nvSpPr>
            <p:cNvPr id="2555" name="Google Shape;2555;p56"/>
            <p:cNvSpPr txBox="1"/>
            <p:nvPr/>
          </p:nvSpPr>
          <p:spPr>
            <a:xfrm>
              <a:off x="1951194" y="4374699"/>
              <a:ext cx="2940050"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make_pkt(ACK,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556" name="Google Shape;2556;p56"/>
            <p:cNvSpPr/>
            <p:nvPr/>
          </p:nvSpPr>
          <p:spPr>
            <a:xfrm flipH="1" rot="-1020547">
              <a:off x="3960969" y="36333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557" name="Google Shape;2557;p56"/>
          <p:cNvGrpSpPr/>
          <p:nvPr/>
        </p:nvGrpSpPr>
        <p:grpSpPr>
          <a:xfrm>
            <a:off x="1867057" y="2591937"/>
            <a:ext cx="3087687" cy="1385828"/>
            <a:chOff x="1867057" y="2591937"/>
            <a:chExt cx="3087687" cy="1385828"/>
          </a:xfrm>
        </p:grpSpPr>
        <p:sp>
          <p:nvSpPr>
            <p:cNvPr id="2558" name="Google Shape;2558;p56"/>
            <p:cNvSpPr txBox="1"/>
            <p:nvPr/>
          </p:nvSpPr>
          <p:spPr>
            <a:xfrm>
              <a:off x="1867057" y="2591937"/>
              <a:ext cx="2871787" cy="609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(corrupt(rcvpkt)</a:t>
              </a:r>
              <a:endParaRPr b="0" i="0" sz="1400" u="none" cap="none" strike="noStrike">
                <a:solidFill>
                  <a:srgbClr val="000000"/>
                </a:solidFill>
                <a:latin typeface="Times New Roman"/>
                <a:ea typeface="Times New Roman"/>
                <a:cs typeface="Times New Roman"/>
                <a:sym typeface="Times New Roman"/>
              </a:endParaRPr>
            </a:p>
          </p:txBody>
        </p:sp>
        <p:cxnSp>
          <p:nvCxnSpPr>
            <p:cNvPr id="2559" name="Google Shape;2559;p56"/>
            <p:cNvCxnSpPr/>
            <p:nvPr/>
          </p:nvCxnSpPr>
          <p:spPr>
            <a:xfrm>
              <a:off x="2005169" y="2966587"/>
              <a:ext cx="1938338" cy="0"/>
            </a:xfrm>
            <a:prstGeom prst="straightConnector1">
              <a:avLst/>
            </a:prstGeom>
            <a:noFill/>
            <a:ln cap="flat" cmpd="sng" w="28575">
              <a:solidFill>
                <a:srgbClr val="000000"/>
              </a:solidFill>
              <a:prstDash val="solid"/>
              <a:round/>
              <a:headEnd len="med" w="med" type="none"/>
              <a:tailEnd len="med" w="med" type="none"/>
            </a:ln>
          </p:spPr>
        </p:cxnSp>
        <p:sp>
          <p:nvSpPr>
            <p:cNvPr id="2560" name="Google Shape;2560;p56"/>
            <p:cNvSpPr txBox="1"/>
            <p:nvPr/>
          </p:nvSpPr>
          <p:spPr>
            <a:xfrm>
              <a:off x="1927382" y="2933249"/>
              <a:ext cx="3027362" cy="4095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make_pkt(NAK, 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561" name="Google Shape;2561;p56"/>
            <p:cNvSpPr/>
            <p:nvPr/>
          </p:nvSpPr>
          <p:spPr>
            <a:xfrm flipH="1" rot="1361013">
              <a:off x="3948269" y="2985637"/>
              <a:ext cx="839788" cy="863600"/>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562" name="Google Shape;2562;p56"/>
          <p:cNvGrpSpPr/>
          <p:nvPr/>
        </p:nvGrpSpPr>
        <p:grpSpPr>
          <a:xfrm>
            <a:off x="7012983" y="1622319"/>
            <a:ext cx="513366" cy="465788"/>
            <a:chOff x="1518833" y="4559246"/>
            <a:chExt cx="513366" cy="465788"/>
          </a:xfrm>
        </p:grpSpPr>
        <p:sp>
          <p:nvSpPr>
            <p:cNvPr id="2563" name="Google Shape;2563;p56"/>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4" name="Google Shape;2564;p56"/>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R1</a:t>
              </a:r>
              <a:endParaRPr/>
            </a:p>
          </p:txBody>
        </p:sp>
      </p:grpSp>
      <p:grpSp>
        <p:nvGrpSpPr>
          <p:cNvPr id="2565" name="Google Shape;2565;p56"/>
          <p:cNvGrpSpPr/>
          <p:nvPr/>
        </p:nvGrpSpPr>
        <p:grpSpPr>
          <a:xfrm>
            <a:off x="7335864" y="2813105"/>
            <a:ext cx="513366" cy="465788"/>
            <a:chOff x="1518833" y="4559246"/>
            <a:chExt cx="513366" cy="465788"/>
          </a:xfrm>
        </p:grpSpPr>
        <p:sp>
          <p:nvSpPr>
            <p:cNvPr id="2566" name="Google Shape;2566;p56"/>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7" name="Google Shape;2567;p56"/>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R2</a:t>
              </a:r>
              <a:endParaRPr/>
            </a:p>
          </p:txBody>
        </p:sp>
      </p:grpSp>
      <p:grpSp>
        <p:nvGrpSpPr>
          <p:cNvPr id="2568" name="Google Shape;2568;p56"/>
          <p:cNvGrpSpPr/>
          <p:nvPr/>
        </p:nvGrpSpPr>
        <p:grpSpPr>
          <a:xfrm>
            <a:off x="9890501" y="3957396"/>
            <a:ext cx="513366" cy="465788"/>
            <a:chOff x="1518833" y="4559246"/>
            <a:chExt cx="513366" cy="465788"/>
          </a:xfrm>
        </p:grpSpPr>
        <p:sp>
          <p:nvSpPr>
            <p:cNvPr id="2569" name="Google Shape;2569;p56"/>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0" name="Google Shape;2570;p56"/>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R3</a:t>
              </a:r>
              <a:endParaRPr/>
            </a:p>
          </p:txBody>
        </p:sp>
      </p:grpSp>
      <p:grpSp>
        <p:nvGrpSpPr>
          <p:cNvPr id="2571" name="Google Shape;2571;p56"/>
          <p:cNvGrpSpPr/>
          <p:nvPr/>
        </p:nvGrpSpPr>
        <p:grpSpPr>
          <a:xfrm>
            <a:off x="4200040" y="5070691"/>
            <a:ext cx="513366" cy="465788"/>
            <a:chOff x="1518833" y="4559246"/>
            <a:chExt cx="513366" cy="465788"/>
          </a:xfrm>
        </p:grpSpPr>
        <p:sp>
          <p:nvSpPr>
            <p:cNvPr id="2572" name="Google Shape;2572;p56"/>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3" name="Google Shape;2573;p56"/>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R4</a:t>
              </a:r>
              <a:endParaRPr/>
            </a:p>
          </p:txBody>
        </p:sp>
      </p:grpSp>
      <p:grpSp>
        <p:nvGrpSpPr>
          <p:cNvPr id="2574" name="Google Shape;2574;p56"/>
          <p:cNvGrpSpPr/>
          <p:nvPr/>
        </p:nvGrpSpPr>
        <p:grpSpPr>
          <a:xfrm>
            <a:off x="1903708" y="4928623"/>
            <a:ext cx="513366" cy="465788"/>
            <a:chOff x="1518833" y="4559246"/>
            <a:chExt cx="513366" cy="465788"/>
          </a:xfrm>
        </p:grpSpPr>
        <p:sp>
          <p:nvSpPr>
            <p:cNvPr id="2575" name="Google Shape;2575;p56"/>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6" name="Google Shape;2576;p56"/>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R5</a:t>
              </a:r>
              <a:endParaRPr/>
            </a:p>
          </p:txBody>
        </p:sp>
      </p:grpSp>
      <p:grpSp>
        <p:nvGrpSpPr>
          <p:cNvPr id="2577" name="Google Shape;2577;p56"/>
          <p:cNvGrpSpPr/>
          <p:nvPr/>
        </p:nvGrpSpPr>
        <p:grpSpPr>
          <a:xfrm>
            <a:off x="1901126" y="2105349"/>
            <a:ext cx="513366" cy="465788"/>
            <a:chOff x="1518833" y="4559246"/>
            <a:chExt cx="513366" cy="465788"/>
          </a:xfrm>
        </p:grpSpPr>
        <p:sp>
          <p:nvSpPr>
            <p:cNvPr id="2578" name="Google Shape;2578;p56"/>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9" name="Google Shape;2579;p56"/>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R6</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6"/>
                                        </p:tgtEl>
                                        <p:attrNameLst>
                                          <p:attrName>style.visibility</p:attrName>
                                        </p:attrNameLst>
                                      </p:cBhvr>
                                      <p:to>
                                        <p:strVal val="visible"/>
                                      </p:to>
                                    </p:set>
                                    <p:animEffect filter="fade" transition="in">
                                      <p:cBhvr>
                                        <p:cTn dur="500"/>
                                        <p:tgtEl>
                                          <p:spTgt spid="2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8"/>
                                        </p:tgtEl>
                                        <p:attrNameLst>
                                          <p:attrName>style.visibility</p:attrName>
                                        </p:attrNameLst>
                                      </p:cBhvr>
                                      <p:to>
                                        <p:strVal val="visible"/>
                                      </p:to>
                                    </p:set>
                                    <p:animEffect filter="fade" transition="in">
                                      <p:cBhvr>
                                        <p:cTn dur="500"/>
                                        <p:tgtEl>
                                          <p:spTgt spid="25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2"/>
                                        </p:tgtEl>
                                        <p:attrNameLst>
                                          <p:attrName>style.visibility</p:attrName>
                                        </p:attrNameLst>
                                      </p:cBhvr>
                                      <p:to>
                                        <p:strVal val="visible"/>
                                      </p:to>
                                    </p:set>
                                    <p:animEffect filter="fade" transition="in">
                                      <p:cBhvr>
                                        <p:cTn dur="500"/>
                                        <p:tgtEl>
                                          <p:spTgt spid="25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7"/>
                                        </p:tgtEl>
                                        <p:attrNameLst>
                                          <p:attrName>style.visibility</p:attrName>
                                        </p:attrNameLst>
                                      </p:cBhvr>
                                      <p:to>
                                        <p:strVal val="visible"/>
                                      </p:to>
                                    </p:set>
                                    <p:animEffect filter="fade" transition="in">
                                      <p:cBhvr>
                                        <p:cTn dur="500"/>
                                        <p:tgtEl>
                                          <p:spTgt spid="25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2"/>
                                        </p:tgtEl>
                                        <p:attrNameLst>
                                          <p:attrName>style.visibility</p:attrName>
                                        </p:attrNameLst>
                                      </p:cBhvr>
                                      <p:to>
                                        <p:strVal val="visible"/>
                                      </p:to>
                                    </p:set>
                                    <p:animEffect filter="fade" transition="in">
                                      <p:cBhvr>
                                        <p:cTn dur="500"/>
                                        <p:tgtEl>
                                          <p:spTgt spid="2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7"/>
                                        </p:tgtEl>
                                        <p:attrNameLst>
                                          <p:attrName>style.visibility</p:attrName>
                                        </p:attrNameLst>
                                      </p:cBhvr>
                                      <p:to>
                                        <p:strVal val="visible"/>
                                      </p:to>
                                    </p:set>
                                    <p:animEffect filter="fade" transition="in">
                                      <p:cBhvr>
                                        <p:cTn dur="500"/>
                                        <p:tgtEl>
                                          <p:spTgt spid="2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4" name="Shape 2584"/>
        <p:cNvGrpSpPr/>
        <p:nvPr/>
      </p:nvGrpSpPr>
      <p:grpSpPr>
        <a:xfrm>
          <a:off x="0" y="0"/>
          <a:ext cx="0" cy="0"/>
          <a:chOff x="0" y="0"/>
          <a:chExt cx="0" cy="0"/>
        </a:xfrm>
      </p:grpSpPr>
      <p:sp>
        <p:nvSpPr>
          <p:cNvPr id="2585" name="Google Shape;2585;p57"/>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rdt2.0: FSM specifications</a:t>
            </a:r>
            <a:endParaRPr sz="4400"/>
          </a:p>
        </p:txBody>
      </p:sp>
      <p:grpSp>
        <p:nvGrpSpPr>
          <p:cNvPr id="2586" name="Google Shape;2586;p57"/>
          <p:cNvGrpSpPr/>
          <p:nvPr/>
        </p:nvGrpSpPr>
        <p:grpSpPr>
          <a:xfrm>
            <a:off x="8325877" y="2689568"/>
            <a:ext cx="3424238" cy="1068388"/>
            <a:chOff x="8325877" y="2689568"/>
            <a:chExt cx="3424238" cy="1068388"/>
          </a:xfrm>
        </p:grpSpPr>
        <p:grpSp>
          <p:nvGrpSpPr>
            <p:cNvPr id="2587" name="Google Shape;2587;p57"/>
            <p:cNvGrpSpPr/>
            <p:nvPr/>
          </p:nvGrpSpPr>
          <p:grpSpPr>
            <a:xfrm>
              <a:off x="8325877" y="2689568"/>
              <a:ext cx="3424238" cy="661988"/>
              <a:chOff x="2222" y="2784"/>
              <a:chExt cx="2157" cy="417"/>
            </a:xfrm>
          </p:grpSpPr>
          <p:sp>
            <p:nvSpPr>
              <p:cNvPr id="2588" name="Google Shape;2588;p57"/>
              <p:cNvSpPr txBox="1"/>
              <p:nvPr/>
            </p:nvSpPr>
            <p:spPr>
              <a:xfrm>
                <a:off x="2222" y="3039"/>
                <a:ext cx="1152" cy="1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udt_send(NAK)</a:t>
                </a:r>
                <a:endParaRPr b="0" i="0" sz="1600" u="none" cap="none" strike="noStrike">
                  <a:solidFill>
                    <a:srgbClr val="000000"/>
                  </a:solidFill>
                  <a:latin typeface="Times New Roman"/>
                  <a:ea typeface="Times New Roman"/>
                  <a:cs typeface="Times New Roman"/>
                  <a:sym typeface="Times New Roman"/>
                </a:endParaRPr>
              </a:p>
            </p:txBody>
          </p:sp>
          <p:sp>
            <p:nvSpPr>
              <p:cNvPr id="2589" name="Google Shape;2589;p57"/>
              <p:cNvSpPr txBox="1"/>
              <p:nvPr/>
            </p:nvSpPr>
            <p:spPr>
              <a:xfrm>
                <a:off x="2244" y="2784"/>
                <a:ext cx="2135" cy="1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2590" name="Google Shape;2590;p57"/>
              <p:cNvCxnSpPr/>
              <p:nvPr/>
            </p:nvCxnSpPr>
            <p:spPr>
              <a:xfrm>
                <a:off x="2285" y="3040"/>
                <a:ext cx="624" cy="0"/>
              </a:xfrm>
              <a:prstGeom prst="straightConnector1">
                <a:avLst/>
              </a:prstGeom>
              <a:noFill/>
              <a:ln cap="flat" cmpd="sng" w="28575">
                <a:solidFill>
                  <a:srgbClr val="000000"/>
                </a:solidFill>
                <a:prstDash val="solid"/>
                <a:round/>
                <a:headEnd len="med" w="med" type="none"/>
                <a:tailEnd len="med" w="med" type="none"/>
              </a:ln>
            </p:spPr>
          </p:cxnSp>
        </p:grpSp>
        <p:sp>
          <p:nvSpPr>
            <p:cNvPr id="2591" name="Google Shape;2591;p57"/>
            <p:cNvSpPr/>
            <p:nvPr/>
          </p:nvSpPr>
          <p:spPr>
            <a:xfrm>
              <a:off x="8424301" y="3288056"/>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592" name="Google Shape;2592;p57"/>
          <p:cNvSpPr/>
          <p:nvPr/>
        </p:nvSpPr>
        <p:spPr>
          <a:xfrm>
            <a:off x="8516376" y="37087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593" name="Google Shape;2593;p57"/>
          <p:cNvSpPr txBox="1"/>
          <p:nvPr/>
        </p:nvSpPr>
        <p:spPr>
          <a:xfrm>
            <a:off x="8429063" y="37928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below</a:t>
            </a:r>
            <a:endParaRPr b="0" i="0" sz="1600" u="none" cap="none" strike="noStrike">
              <a:solidFill>
                <a:srgbClr val="000000"/>
              </a:solidFill>
              <a:latin typeface="Times New Roman"/>
              <a:ea typeface="Times New Roman"/>
              <a:cs typeface="Times New Roman"/>
              <a:sym typeface="Times New Roman"/>
            </a:endParaRPr>
          </a:p>
        </p:txBody>
      </p:sp>
      <p:grpSp>
        <p:nvGrpSpPr>
          <p:cNvPr id="2594" name="Google Shape;2594;p57"/>
          <p:cNvGrpSpPr/>
          <p:nvPr/>
        </p:nvGrpSpPr>
        <p:grpSpPr>
          <a:xfrm>
            <a:off x="8049651" y="4591214"/>
            <a:ext cx="4142349" cy="1379872"/>
            <a:chOff x="8049651" y="4591214"/>
            <a:chExt cx="4142349" cy="1379872"/>
          </a:xfrm>
        </p:grpSpPr>
        <p:grpSp>
          <p:nvGrpSpPr>
            <p:cNvPr id="2595" name="Google Shape;2595;p57"/>
            <p:cNvGrpSpPr/>
            <p:nvPr/>
          </p:nvGrpSpPr>
          <p:grpSpPr>
            <a:xfrm>
              <a:off x="8049651" y="5022006"/>
              <a:ext cx="4142349" cy="949080"/>
              <a:chOff x="8049651" y="5022006"/>
              <a:chExt cx="4142349" cy="949080"/>
            </a:xfrm>
          </p:grpSpPr>
          <p:sp>
            <p:nvSpPr>
              <p:cNvPr id="2596" name="Google Shape;2596;p57"/>
              <p:cNvSpPr txBox="1"/>
              <p:nvPr/>
            </p:nvSpPr>
            <p:spPr>
              <a:xfrm>
                <a:off x="8071876" y="5351961"/>
                <a:ext cx="2143125" cy="61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udt_send(ACK)</a:t>
                </a:r>
                <a:endParaRPr b="0" i="0" sz="1600" u="none" cap="none" strike="noStrike">
                  <a:solidFill>
                    <a:srgbClr val="000000"/>
                  </a:solidFill>
                  <a:latin typeface="Times New Roman"/>
                  <a:ea typeface="Times New Roman"/>
                  <a:cs typeface="Times New Roman"/>
                  <a:sym typeface="Times New Roman"/>
                </a:endParaRPr>
              </a:p>
            </p:txBody>
          </p:sp>
          <p:sp>
            <p:nvSpPr>
              <p:cNvPr id="2597" name="Google Shape;2597;p57"/>
              <p:cNvSpPr txBox="1"/>
              <p:nvPr/>
            </p:nvSpPr>
            <p:spPr>
              <a:xfrm>
                <a:off x="8049651" y="5022006"/>
                <a:ext cx="4142349"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notcorrupt(rcvpkt)</a:t>
                </a:r>
                <a:endParaRPr b="0" i="0" sz="1600" u="none" cap="none" strike="noStrike">
                  <a:solidFill>
                    <a:srgbClr val="000000"/>
                  </a:solidFill>
                  <a:latin typeface="Times New Roman"/>
                  <a:ea typeface="Times New Roman"/>
                  <a:cs typeface="Times New Roman"/>
                  <a:sym typeface="Times New Roman"/>
                </a:endParaRPr>
              </a:p>
            </p:txBody>
          </p:sp>
          <p:cxnSp>
            <p:nvCxnSpPr>
              <p:cNvPr id="2598" name="Google Shape;2598;p57"/>
              <p:cNvCxnSpPr/>
              <p:nvPr/>
            </p:nvCxnSpPr>
            <p:spPr>
              <a:xfrm>
                <a:off x="8171888" y="5407524"/>
                <a:ext cx="1489075" cy="0"/>
              </a:xfrm>
              <a:prstGeom prst="straightConnector1">
                <a:avLst/>
              </a:prstGeom>
              <a:noFill/>
              <a:ln cap="flat" cmpd="sng" w="28575">
                <a:solidFill>
                  <a:srgbClr val="000000"/>
                </a:solidFill>
                <a:prstDash val="solid"/>
                <a:round/>
                <a:headEnd len="med" w="med" type="none"/>
                <a:tailEnd len="med" w="med" type="none"/>
              </a:ln>
            </p:spPr>
          </p:cxnSp>
        </p:grpSp>
        <p:sp>
          <p:nvSpPr>
            <p:cNvPr id="2599" name="Google Shape;2599;p57"/>
            <p:cNvSpPr/>
            <p:nvPr/>
          </p:nvSpPr>
          <p:spPr>
            <a:xfrm flipH="1" rot="10800000">
              <a:off x="8437001" y="4591214"/>
              <a:ext cx="1257300" cy="469900"/>
            </a:xfrm>
            <a:custGeom>
              <a:rect b="b" l="l" r="r" t="t"/>
              <a:pathLst>
                <a:path extrusionOk="0" h="740" w="1500">
                  <a:moveTo>
                    <a:pt x="361" y="671"/>
                  </a:moveTo>
                  <a:cubicBezTo>
                    <a:pt x="0" y="0"/>
                    <a:pt x="1500" y="90"/>
                    <a:pt x="1017" y="74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600" name="Google Shape;2600;p57"/>
          <p:cNvSpPr txBox="1"/>
          <p:nvPr/>
        </p:nvSpPr>
        <p:spPr>
          <a:xfrm>
            <a:off x="9660963" y="3961155"/>
            <a:ext cx="124777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receiver</a:t>
            </a:r>
            <a:endParaRPr/>
          </a:p>
        </p:txBody>
      </p:sp>
      <p:grpSp>
        <p:nvGrpSpPr>
          <p:cNvPr id="2601" name="Google Shape;2601;p57"/>
          <p:cNvGrpSpPr/>
          <p:nvPr/>
        </p:nvGrpSpPr>
        <p:grpSpPr>
          <a:xfrm>
            <a:off x="651622" y="2905522"/>
            <a:ext cx="7515235" cy="3044246"/>
            <a:chOff x="1163066" y="1340193"/>
            <a:chExt cx="7515235" cy="3044246"/>
          </a:xfrm>
        </p:grpSpPr>
        <p:grpSp>
          <p:nvGrpSpPr>
            <p:cNvPr id="2602" name="Google Shape;2602;p57"/>
            <p:cNvGrpSpPr/>
            <p:nvPr/>
          </p:nvGrpSpPr>
          <p:grpSpPr>
            <a:xfrm>
              <a:off x="5004826" y="2400535"/>
              <a:ext cx="3673475" cy="919271"/>
              <a:chOff x="5004826" y="2400535"/>
              <a:chExt cx="3673475" cy="919271"/>
            </a:xfrm>
          </p:grpSpPr>
          <p:sp>
            <p:nvSpPr>
              <p:cNvPr id="2603" name="Google Shape;2603;p57"/>
              <p:cNvSpPr/>
              <p:nvPr/>
            </p:nvSpPr>
            <p:spPr>
              <a:xfrm>
                <a:off x="5004826" y="2426043"/>
                <a:ext cx="466725" cy="893763"/>
              </a:xfrm>
              <a:custGeom>
                <a:rect b="b" l="l" r="r" t="t"/>
                <a:pathLst>
                  <a:path extrusionOk="0" h="1080" w="735">
                    <a:moveTo>
                      <a:pt x="0" y="195"/>
                    </a:moveTo>
                    <a:cubicBezTo>
                      <a:pt x="690" y="0"/>
                      <a:pt x="735" y="1080"/>
                      <a:pt x="0" y="85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04" name="Google Shape;2604;p57"/>
              <p:cNvSpPr txBox="1"/>
              <p:nvPr/>
            </p:nvSpPr>
            <p:spPr>
              <a:xfrm>
                <a:off x="5314388" y="2740368"/>
                <a:ext cx="1763713"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sp>
            <p:nvSpPr>
              <p:cNvPr id="2605" name="Google Shape;2605;p57"/>
              <p:cNvSpPr txBox="1"/>
              <p:nvPr/>
            </p:nvSpPr>
            <p:spPr>
              <a:xfrm>
                <a:off x="5288988" y="2400535"/>
                <a:ext cx="3389313"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imes New Roman"/>
                  <a:ea typeface="Times New Roman"/>
                  <a:cs typeface="Times New Roman"/>
                  <a:sym typeface="Times New Roman"/>
                </a:endParaRPr>
              </a:p>
            </p:txBody>
          </p:sp>
          <p:cxnSp>
            <p:nvCxnSpPr>
              <p:cNvPr id="2606" name="Google Shape;2606;p57"/>
              <p:cNvCxnSpPr/>
              <p:nvPr/>
            </p:nvCxnSpPr>
            <p:spPr>
              <a:xfrm>
                <a:off x="5408051" y="2740368"/>
                <a:ext cx="990600" cy="0"/>
              </a:xfrm>
              <a:prstGeom prst="straightConnector1">
                <a:avLst/>
              </a:prstGeom>
              <a:noFill/>
              <a:ln cap="flat" cmpd="sng" w="28575">
                <a:solidFill>
                  <a:srgbClr val="000000"/>
                </a:solidFill>
                <a:prstDash val="solid"/>
                <a:round/>
                <a:headEnd len="med" w="med" type="none"/>
                <a:tailEnd len="med" w="med" type="none"/>
              </a:ln>
            </p:spPr>
          </p:cxnSp>
        </p:grpSp>
        <p:grpSp>
          <p:nvGrpSpPr>
            <p:cNvPr id="2607" name="Google Shape;2607;p57"/>
            <p:cNvGrpSpPr/>
            <p:nvPr/>
          </p:nvGrpSpPr>
          <p:grpSpPr>
            <a:xfrm>
              <a:off x="1163066" y="1340193"/>
              <a:ext cx="6211386" cy="3044246"/>
              <a:chOff x="1163066" y="1340193"/>
              <a:chExt cx="6211386" cy="3044246"/>
            </a:xfrm>
          </p:grpSpPr>
          <p:sp>
            <p:nvSpPr>
              <p:cNvPr id="2608" name="Google Shape;2608;p57"/>
              <p:cNvSpPr/>
              <p:nvPr/>
            </p:nvSpPr>
            <p:spPr>
              <a:xfrm>
                <a:off x="2448951" y="2349843"/>
                <a:ext cx="985837" cy="9620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609" name="Google Shape;2609;p57"/>
              <p:cNvSpPr txBox="1"/>
              <p:nvPr/>
            </p:nvSpPr>
            <p:spPr>
              <a:xfrm>
                <a:off x="2347351" y="2433981"/>
                <a:ext cx="1200150" cy="60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call from above</a:t>
                </a:r>
                <a:endParaRPr b="0" i="0" sz="1600" u="none" cap="none" strike="noStrike">
                  <a:solidFill>
                    <a:srgbClr val="000000"/>
                  </a:solidFill>
                  <a:latin typeface="Times New Roman"/>
                  <a:ea typeface="Times New Roman"/>
                  <a:cs typeface="Times New Roman"/>
                  <a:sym typeface="Times New Roman"/>
                </a:endParaRPr>
              </a:p>
            </p:txBody>
          </p:sp>
          <p:grpSp>
            <p:nvGrpSpPr>
              <p:cNvPr id="2610" name="Google Shape;2610;p57"/>
              <p:cNvGrpSpPr/>
              <p:nvPr/>
            </p:nvGrpSpPr>
            <p:grpSpPr>
              <a:xfrm>
                <a:off x="4044388" y="2362543"/>
                <a:ext cx="1074738" cy="962025"/>
                <a:chOff x="1540" y="2116"/>
                <a:chExt cx="677" cy="606"/>
              </a:xfrm>
            </p:grpSpPr>
            <p:sp>
              <p:nvSpPr>
                <p:cNvPr id="2611" name="Google Shape;2611;p57"/>
                <p:cNvSpPr/>
                <p:nvPr/>
              </p:nvSpPr>
              <p:spPr>
                <a:xfrm>
                  <a:off x="1565" y="2116"/>
                  <a:ext cx="621" cy="606"/>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612" name="Google Shape;2612;p57"/>
                <p:cNvSpPr txBox="1"/>
                <p:nvPr/>
              </p:nvSpPr>
              <p:spPr>
                <a:xfrm>
                  <a:off x="1540" y="2163"/>
                  <a:ext cx="677" cy="38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Wait for ACK or NAK</a:t>
                  </a:r>
                  <a:endParaRPr b="0" i="0" sz="1600" u="none" cap="none" strike="noStrike">
                    <a:solidFill>
                      <a:srgbClr val="000000"/>
                    </a:solidFill>
                    <a:latin typeface="Times New Roman"/>
                    <a:ea typeface="Times New Roman"/>
                    <a:cs typeface="Times New Roman"/>
                    <a:sym typeface="Times New Roman"/>
                  </a:endParaRPr>
                </a:p>
              </p:txBody>
            </p:sp>
          </p:grpSp>
          <p:grpSp>
            <p:nvGrpSpPr>
              <p:cNvPr id="2613" name="Google Shape;2613;p57"/>
              <p:cNvGrpSpPr/>
              <p:nvPr/>
            </p:nvGrpSpPr>
            <p:grpSpPr>
              <a:xfrm>
                <a:off x="2756926" y="1340193"/>
                <a:ext cx="3643312" cy="1027113"/>
                <a:chOff x="2756926" y="1340193"/>
                <a:chExt cx="3643312" cy="1027113"/>
              </a:xfrm>
            </p:grpSpPr>
            <p:sp>
              <p:nvSpPr>
                <p:cNvPr id="2614" name="Google Shape;2614;p57"/>
                <p:cNvSpPr txBox="1"/>
                <p:nvPr/>
              </p:nvSpPr>
              <p:spPr>
                <a:xfrm>
                  <a:off x="2756926" y="1630706"/>
                  <a:ext cx="3643312" cy="400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snkpkt = make_pkt(data, checksum)</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udt_send(sndpkt)</a:t>
                  </a:r>
                  <a:endParaRPr b="0" i="0" sz="1600" u="none" cap="none" strike="noStrike">
                    <a:solidFill>
                      <a:srgbClr val="000000"/>
                    </a:solidFill>
                    <a:latin typeface="Times New Roman"/>
                    <a:ea typeface="Times New Roman"/>
                    <a:cs typeface="Times New Roman"/>
                    <a:sym typeface="Times New Roman"/>
                  </a:endParaRPr>
                </a:p>
              </p:txBody>
            </p:sp>
            <p:cxnSp>
              <p:nvCxnSpPr>
                <p:cNvPr id="2615" name="Google Shape;2615;p57"/>
                <p:cNvCxnSpPr/>
                <p:nvPr/>
              </p:nvCxnSpPr>
              <p:spPr>
                <a:xfrm>
                  <a:off x="2861701" y="1675156"/>
                  <a:ext cx="990600" cy="0"/>
                </a:xfrm>
                <a:prstGeom prst="straightConnector1">
                  <a:avLst/>
                </a:prstGeom>
                <a:noFill/>
                <a:ln cap="flat" cmpd="sng" w="28575">
                  <a:solidFill>
                    <a:srgbClr val="000000"/>
                  </a:solidFill>
                  <a:prstDash val="solid"/>
                  <a:round/>
                  <a:headEnd len="med" w="med" type="none"/>
                  <a:tailEnd len="med" w="med" type="none"/>
                </a:ln>
              </p:spPr>
            </p:cxnSp>
            <p:sp>
              <p:nvSpPr>
                <p:cNvPr id="2616" name="Google Shape;2616;p57"/>
                <p:cNvSpPr/>
                <p:nvPr/>
              </p:nvSpPr>
              <p:spPr>
                <a:xfrm flipH="1" rot="10800000">
                  <a:off x="2809313" y="2119656"/>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17" name="Google Shape;2617;p57"/>
                <p:cNvSpPr txBox="1"/>
                <p:nvPr/>
              </p:nvSpPr>
              <p:spPr>
                <a:xfrm>
                  <a:off x="2782326" y="1340193"/>
                  <a:ext cx="2255837"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rdt_send(data)</a:t>
                  </a:r>
                  <a:endParaRPr b="0" i="0" sz="1600" u="none" cap="none" strike="noStrike">
                    <a:solidFill>
                      <a:srgbClr val="000000"/>
                    </a:solidFill>
                    <a:latin typeface="Times New Roman"/>
                    <a:ea typeface="Times New Roman"/>
                    <a:cs typeface="Times New Roman"/>
                    <a:sym typeface="Times New Roman"/>
                  </a:endParaRPr>
                </a:p>
              </p:txBody>
            </p:sp>
          </p:grpSp>
          <p:grpSp>
            <p:nvGrpSpPr>
              <p:cNvPr id="2618" name="Google Shape;2618;p57"/>
              <p:cNvGrpSpPr/>
              <p:nvPr/>
            </p:nvGrpSpPr>
            <p:grpSpPr>
              <a:xfrm>
                <a:off x="2270357" y="3283338"/>
                <a:ext cx="3548062" cy="989290"/>
                <a:chOff x="2270357" y="3283338"/>
                <a:chExt cx="3548062" cy="989290"/>
              </a:xfrm>
            </p:grpSpPr>
            <p:sp>
              <p:nvSpPr>
                <p:cNvPr id="2619" name="Google Shape;2619;p57"/>
                <p:cNvSpPr/>
                <p:nvPr/>
              </p:nvSpPr>
              <p:spPr>
                <a:xfrm>
                  <a:off x="2882338" y="3283338"/>
                  <a:ext cx="1800225" cy="247650"/>
                </a:xfrm>
                <a:custGeom>
                  <a:rect b="b" l="l" r="r" t="t"/>
                  <a:pathLst>
                    <a:path extrusionOk="0" h="525" w="2835">
                      <a:moveTo>
                        <a:pt x="0" y="0"/>
                      </a:moveTo>
                      <a:cubicBezTo>
                        <a:pt x="60" y="525"/>
                        <a:pt x="2835" y="495"/>
                        <a:pt x="2835" y="0"/>
                      </a:cubicBezTo>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a:t>
                  </a:r>
                  <a:endParaRPr/>
                </a:p>
              </p:txBody>
            </p:sp>
            <p:grpSp>
              <p:nvGrpSpPr>
                <p:cNvPr id="2620" name="Google Shape;2620;p57"/>
                <p:cNvGrpSpPr/>
                <p:nvPr/>
              </p:nvGrpSpPr>
              <p:grpSpPr>
                <a:xfrm>
                  <a:off x="2270357" y="3545923"/>
                  <a:ext cx="3548062" cy="726705"/>
                  <a:chOff x="2270357" y="3545923"/>
                  <a:chExt cx="3548062" cy="726705"/>
                </a:xfrm>
              </p:grpSpPr>
              <p:sp>
                <p:nvSpPr>
                  <p:cNvPr id="2621" name="Google Shape;2621;p57"/>
                  <p:cNvSpPr txBox="1"/>
                  <p:nvPr/>
                </p:nvSpPr>
                <p:spPr>
                  <a:xfrm>
                    <a:off x="2270357" y="3545923"/>
                    <a:ext cx="3548062" cy="285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 isACK(rcvpkt)</a:t>
                    </a:r>
                    <a:endParaRPr b="0" i="0" sz="1600" u="none" cap="none" strike="noStrike">
                      <a:solidFill>
                        <a:srgbClr val="000000"/>
                      </a:solidFill>
                      <a:latin typeface="Times New Roman"/>
                      <a:ea typeface="Times New Roman"/>
                      <a:cs typeface="Times New Roman"/>
                      <a:sym typeface="Times New Roman"/>
                    </a:endParaRPr>
                  </a:p>
                </p:txBody>
              </p:sp>
              <p:cxnSp>
                <p:nvCxnSpPr>
                  <p:cNvPr id="2622" name="Google Shape;2622;p57"/>
                  <p:cNvCxnSpPr/>
                  <p:nvPr/>
                </p:nvCxnSpPr>
                <p:spPr>
                  <a:xfrm>
                    <a:off x="3330476" y="3919619"/>
                    <a:ext cx="990600" cy="0"/>
                  </a:xfrm>
                  <a:prstGeom prst="straightConnector1">
                    <a:avLst/>
                  </a:prstGeom>
                  <a:noFill/>
                  <a:ln cap="flat" cmpd="sng" w="28575">
                    <a:solidFill>
                      <a:srgbClr val="000000"/>
                    </a:solidFill>
                    <a:prstDash val="solid"/>
                    <a:round/>
                    <a:headEnd len="med" w="med" type="none"/>
                    <a:tailEnd len="med" w="med" type="none"/>
                  </a:ln>
                </p:spPr>
              </p:cxnSp>
              <p:sp>
                <p:nvSpPr>
                  <p:cNvPr id="2623" name="Google Shape;2623;p57"/>
                  <p:cNvSpPr txBox="1"/>
                  <p:nvPr/>
                </p:nvSpPr>
                <p:spPr>
                  <a:xfrm>
                    <a:off x="3665151" y="3936078"/>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grpSp>
          </p:grpSp>
          <p:sp>
            <p:nvSpPr>
              <p:cNvPr id="2624" name="Google Shape;2624;p57"/>
              <p:cNvSpPr txBox="1"/>
              <p:nvPr/>
            </p:nvSpPr>
            <p:spPr>
              <a:xfrm>
                <a:off x="1163066" y="2517724"/>
                <a:ext cx="1089025" cy="457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0000"/>
                  </a:buClr>
                  <a:buSzPts val="2400"/>
                  <a:buFont typeface="Tahoma"/>
                  <a:buNone/>
                </a:pPr>
                <a:r>
                  <a:rPr b="0" i="0" lang="en-US" sz="2400" u="none" cap="none" strike="noStrike">
                    <a:solidFill>
                      <a:srgbClr val="CC0000"/>
                    </a:solidFill>
                    <a:latin typeface="Tahoma"/>
                    <a:ea typeface="Tahoma"/>
                    <a:cs typeface="Tahoma"/>
                    <a:sym typeface="Tahoma"/>
                  </a:rPr>
                  <a:t>sender</a:t>
                </a:r>
                <a:endParaRPr/>
              </a:p>
            </p:txBody>
          </p:sp>
          <p:sp>
            <p:nvSpPr>
              <p:cNvPr id="2625" name="Google Shape;2625;p57"/>
              <p:cNvSpPr txBox="1"/>
              <p:nvPr/>
            </p:nvSpPr>
            <p:spPr>
              <a:xfrm>
                <a:off x="5288477" y="2154581"/>
                <a:ext cx="2085975" cy="631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rdt_rcv(rcvpkt) &amp;&amp;</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isNAK(rcvpkt)</a:t>
                </a:r>
                <a:endParaRPr b="0" i="0" sz="1600" u="none" cap="none" strike="noStrike">
                  <a:solidFill>
                    <a:srgbClr val="000000"/>
                  </a:solidFill>
                  <a:latin typeface="Times New Roman"/>
                  <a:ea typeface="Times New Roman"/>
                  <a:cs typeface="Times New Roman"/>
                  <a:sym typeface="Times New Roman"/>
                </a:endParaRPr>
              </a:p>
            </p:txBody>
          </p:sp>
          <p:grpSp>
            <p:nvGrpSpPr>
              <p:cNvPr id="2626" name="Google Shape;2626;p57"/>
              <p:cNvGrpSpPr/>
              <p:nvPr/>
            </p:nvGrpSpPr>
            <p:grpSpPr>
              <a:xfrm>
                <a:off x="2293749" y="1537077"/>
                <a:ext cx="513366" cy="465788"/>
                <a:chOff x="1518833" y="4559246"/>
                <a:chExt cx="513366" cy="465788"/>
              </a:xfrm>
            </p:grpSpPr>
            <p:sp>
              <p:nvSpPr>
                <p:cNvPr id="2627" name="Google Shape;2627;p57"/>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8" name="Google Shape;2628;p57"/>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S1</a:t>
                  </a:r>
                  <a:endParaRPr/>
                </a:p>
              </p:txBody>
            </p:sp>
          </p:grpSp>
          <p:grpSp>
            <p:nvGrpSpPr>
              <p:cNvPr id="2629" name="Google Shape;2629;p57"/>
              <p:cNvGrpSpPr/>
              <p:nvPr/>
            </p:nvGrpSpPr>
            <p:grpSpPr>
              <a:xfrm>
                <a:off x="5809282" y="3053329"/>
                <a:ext cx="513366" cy="465788"/>
                <a:chOff x="1518833" y="4559246"/>
                <a:chExt cx="513366" cy="465788"/>
              </a:xfrm>
            </p:grpSpPr>
            <p:sp>
              <p:nvSpPr>
                <p:cNvPr id="2630" name="Google Shape;2630;p57"/>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1" name="Google Shape;2631;p57"/>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S2</a:t>
                  </a:r>
                  <a:endParaRPr/>
                </a:p>
              </p:txBody>
            </p:sp>
          </p:grpSp>
          <p:grpSp>
            <p:nvGrpSpPr>
              <p:cNvPr id="2632" name="Google Shape;2632;p57"/>
              <p:cNvGrpSpPr/>
              <p:nvPr/>
            </p:nvGrpSpPr>
            <p:grpSpPr>
              <a:xfrm>
                <a:off x="2769031" y="3918651"/>
                <a:ext cx="513366" cy="465788"/>
                <a:chOff x="1518833" y="4559246"/>
                <a:chExt cx="513366" cy="465788"/>
              </a:xfrm>
            </p:grpSpPr>
            <p:sp>
              <p:nvSpPr>
                <p:cNvPr id="2633" name="Google Shape;2633;p57"/>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4" name="Google Shape;2634;p57"/>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S3</a:t>
                  </a:r>
                  <a:endParaRPr/>
                </a:p>
              </p:txBody>
            </p:sp>
          </p:grpSp>
        </p:grpSp>
      </p:grpSp>
      <p:grpSp>
        <p:nvGrpSpPr>
          <p:cNvPr id="2635" name="Google Shape;2635;p57"/>
          <p:cNvGrpSpPr/>
          <p:nvPr/>
        </p:nvGrpSpPr>
        <p:grpSpPr>
          <a:xfrm>
            <a:off x="9957661" y="3001668"/>
            <a:ext cx="513366" cy="465788"/>
            <a:chOff x="1518833" y="4559246"/>
            <a:chExt cx="513366" cy="465788"/>
          </a:xfrm>
        </p:grpSpPr>
        <p:sp>
          <p:nvSpPr>
            <p:cNvPr id="2636" name="Google Shape;2636;p57"/>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7" name="Google Shape;2637;p57"/>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R1</a:t>
              </a:r>
              <a:endParaRPr/>
            </a:p>
          </p:txBody>
        </p:sp>
      </p:grpSp>
      <p:grpSp>
        <p:nvGrpSpPr>
          <p:cNvPr id="2638" name="Google Shape;2638;p57"/>
          <p:cNvGrpSpPr/>
          <p:nvPr/>
        </p:nvGrpSpPr>
        <p:grpSpPr>
          <a:xfrm>
            <a:off x="7552841" y="5385823"/>
            <a:ext cx="513366" cy="465788"/>
            <a:chOff x="1518833" y="4559246"/>
            <a:chExt cx="513366" cy="465788"/>
          </a:xfrm>
        </p:grpSpPr>
        <p:sp>
          <p:nvSpPr>
            <p:cNvPr id="2639" name="Google Shape;2639;p57"/>
            <p:cNvSpPr/>
            <p:nvPr/>
          </p:nvSpPr>
          <p:spPr>
            <a:xfrm>
              <a:off x="1518833" y="4559246"/>
              <a:ext cx="501401" cy="462205"/>
            </a:xfrm>
            <a:prstGeom prst="ellipse">
              <a:avLst/>
            </a:prstGeom>
            <a:solidFill>
              <a:srgbClr val="FFE0EA"/>
            </a:solidFill>
            <a:ln cap="flat" cmpd="sng" w="127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0" name="Google Shape;2640;p57"/>
            <p:cNvSpPr txBox="1"/>
            <p:nvPr/>
          </p:nvSpPr>
          <p:spPr>
            <a:xfrm flipH="1">
              <a:off x="1527642" y="4563369"/>
              <a:ext cx="50455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rgbClr val="C00000"/>
                  </a:solidFill>
                  <a:latin typeface="Calibri"/>
                  <a:ea typeface="Calibri"/>
                  <a:cs typeface="Calibri"/>
                  <a:sym typeface="Calibri"/>
                </a:rPr>
                <a:t>R2</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6"/>
                                        </p:tgtEl>
                                        <p:attrNameLst>
                                          <p:attrName>style.visibility</p:attrName>
                                        </p:attrNameLst>
                                      </p:cBhvr>
                                      <p:to>
                                        <p:strVal val="visible"/>
                                      </p:to>
                                    </p:set>
                                    <p:animEffect filter="fade" transition="in">
                                      <p:cBhvr>
                                        <p:cTn dur="500"/>
                                        <p:tgtEl>
                                          <p:spTgt spid="2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4"/>
                                        </p:tgtEl>
                                        <p:attrNameLst>
                                          <p:attrName>style.visibility</p:attrName>
                                        </p:attrNameLst>
                                      </p:cBhvr>
                                      <p:to>
                                        <p:strVal val="visible"/>
                                      </p:to>
                                    </p:set>
                                    <p:animEffect filter="fade" transition="in">
                                      <p:cBhvr>
                                        <p:cTn dur="500"/>
                                        <p:tgtEl>
                                          <p:spTgt spid="25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5" name="Shape 2645"/>
        <p:cNvGrpSpPr/>
        <p:nvPr/>
      </p:nvGrpSpPr>
      <p:grpSpPr>
        <a:xfrm>
          <a:off x="0" y="0"/>
          <a:ext cx="0" cy="0"/>
          <a:chOff x="0" y="0"/>
          <a:chExt cx="0" cy="0"/>
        </a:xfrm>
      </p:grpSpPr>
      <p:sp>
        <p:nvSpPr>
          <p:cNvPr id="2646" name="Google Shape;2646;p58"/>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sender extended FSM</a:t>
            </a:r>
            <a:endParaRPr sz="4400"/>
          </a:p>
        </p:txBody>
      </p:sp>
      <p:grpSp>
        <p:nvGrpSpPr>
          <p:cNvPr id="2647" name="Google Shape;2647;p58"/>
          <p:cNvGrpSpPr/>
          <p:nvPr/>
        </p:nvGrpSpPr>
        <p:grpSpPr>
          <a:xfrm>
            <a:off x="4595813" y="3710668"/>
            <a:ext cx="800100" cy="657225"/>
            <a:chOff x="1959" y="2515"/>
            <a:chExt cx="504" cy="414"/>
          </a:xfrm>
        </p:grpSpPr>
        <p:sp>
          <p:nvSpPr>
            <p:cNvPr id="2648" name="Google Shape;2648;p58"/>
            <p:cNvSpPr/>
            <p:nvPr/>
          </p:nvSpPr>
          <p:spPr>
            <a:xfrm>
              <a:off x="2004" y="2515"/>
              <a:ext cx="420" cy="414"/>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649" name="Google Shape;2649;p58"/>
            <p:cNvSpPr txBox="1"/>
            <p:nvPr/>
          </p:nvSpPr>
          <p:spPr>
            <a:xfrm>
              <a:off x="1959" y="2611"/>
              <a:ext cx="504" cy="24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1600" u="none" cap="none" strike="noStrike">
                <a:solidFill>
                  <a:srgbClr val="000000"/>
                </a:solidFill>
                <a:latin typeface="Times New Roman"/>
                <a:ea typeface="Times New Roman"/>
                <a:cs typeface="Times New Roman"/>
                <a:sym typeface="Times New Roman"/>
              </a:endParaRPr>
            </a:p>
          </p:txBody>
        </p:sp>
      </p:grpSp>
      <p:cxnSp>
        <p:nvCxnSpPr>
          <p:cNvPr id="2650" name="Google Shape;2650;p58"/>
          <p:cNvCxnSpPr/>
          <p:nvPr/>
        </p:nvCxnSpPr>
        <p:spPr>
          <a:xfrm>
            <a:off x="3057525" y="2797856"/>
            <a:ext cx="1624013" cy="1069975"/>
          </a:xfrm>
          <a:prstGeom prst="straightConnector1">
            <a:avLst/>
          </a:prstGeom>
          <a:noFill/>
          <a:ln cap="flat" cmpd="sng" w="28575">
            <a:solidFill>
              <a:srgbClr val="000000"/>
            </a:solidFill>
            <a:prstDash val="dot"/>
            <a:round/>
            <a:headEnd len="med" w="med" type="none"/>
            <a:tailEnd len="med" w="med" type="triangle"/>
          </a:ln>
        </p:spPr>
      </p:cxnSp>
      <p:grpSp>
        <p:nvGrpSpPr>
          <p:cNvPr id="2651" name="Google Shape;2651;p58"/>
          <p:cNvGrpSpPr/>
          <p:nvPr/>
        </p:nvGrpSpPr>
        <p:grpSpPr>
          <a:xfrm>
            <a:off x="5389563" y="3466193"/>
            <a:ext cx="3167062" cy="1152525"/>
            <a:chOff x="5389563" y="3466193"/>
            <a:chExt cx="3167062" cy="1152525"/>
          </a:xfrm>
        </p:grpSpPr>
        <p:sp>
          <p:nvSpPr>
            <p:cNvPr id="2652" name="Google Shape;2652;p58"/>
            <p:cNvSpPr txBox="1"/>
            <p:nvPr/>
          </p:nvSpPr>
          <p:spPr>
            <a:xfrm>
              <a:off x="5780088" y="3777343"/>
              <a:ext cx="2776537"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udt_send(sndpkt[nextseqnum-1])</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2653" name="Google Shape;2653;p58"/>
            <p:cNvSpPr txBox="1"/>
            <p:nvPr/>
          </p:nvSpPr>
          <p:spPr>
            <a:xfrm>
              <a:off x="5802313" y="3542393"/>
              <a:ext cx="1100137" cy="2746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timeout</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2654" name="Google Shape;2654;p58"/>
            <p:cNvCxnSpPr/>
            <p:nvPr/>
          </p:nvCxnSpPr>
          <p:spPr>
            <a:xfrm>
              <a:off x="5886450" y="3818618"/>
              <a:ext cx="1619250" cy="0"/>
            </a:xfrm>
            <a:prstGeom prst="straightConnector1">
              <a:avLst/>
            </a:prstGeom>
            <a:noFill/>
            <a:ln cap="flat" cmpd="sng" w="19050">
              <a:solidFill>
                <a:srgbClr val="000000"/>
              </a:solidFill>
              <a:prstDash val="solid"/>
              <a:round/>
              <a:headEnd len="med" w="med" type="none"/>
              <a:tailEnd len="med" w="med" type="none"/>
            </a:ln>
          </p:spPr>
        </p:cxnSp>
        <p:sp>
          <p:nvSpPr>
            <p:cNvPr id="2655" name="Google Shape;2655;p58"/>
            <p:cNvSpPr/>
            <p:nvPr/>
          </p:nvSpPr>
          <p:spPr>
            <a:xfrm>
              <a:off x="5389563" y="346619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656" name="Google Shape;2656;p58"/>
          <p:cNvGrpSpPr/>
          <p:nvPr/>
        </p:nvGrpSpPr>
        <p:grpSpPr>
          <a:xfrm>
            <a:off x="4222750" y="1037318"/>
            <a:ext cx="5521325" cy="2679474"/>
            <a:chOff x="4222750" y="1037318"/>
            <a:chExt cx="5521325" cy="2679474"/>
          </a:xfrm>
        </p:grpSpPr>
        <p:sp>
          <p:nvSpPr>
            <p:cNvPr id="2657" name="Google Shape;2657;p58"/>
            <p:cNvSpPr txBox="1"/>
            <p:nvPr/>
          </p:nvSpPr>
          <p:spPr>
            <a:xfrm>
              <a:off x="4222750" y="1037318"/>
              <a:ext cx="2333625" cy="2571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rdt_send(data)</a:t>
              </a:r>
              <a:r>
                <a:rPr b="0" i="0" lang="en-US" sz="1000" u="none" cap="none" strike="noStrike">
                  <a:solidFill>
                    <a:srgbClr val="000000"/>
                  </a:solidFill>
                  <a:latin typeface="Arial"/>
                  <a:ea typeface="Arial"/>
                  <a:cs typeface="Arial"/>
                  <a:sym typeface="Arial"/>
                </a:rPr>
                <a:t> </a:t>
              </a:r>
              <a:endParaRPr b="0" i="0" sz="2400" u="none" cap="none" strike="noStrike">
                <a:solidFill>
                  <a:srgbClr val="000000"/>
                </a:solidFill>
                <a:latin typeface="Times New Roman"/>
                <a:ea typeface="Times New Roman"/>
                <a:cs typeface="Times New Roman"/>
                <a:sym typeface="Times New Roman"/>
              </a:endParaRPr>
            </a:p>
          </p:txBody>
        </p:sp>
        <p:cxnSp>
          <p:nvCxnSpPr>
            <p:cNvPr id="2658" name="Google Shape;2658;p58"/>
            <p:cNvCxnSpPr/>
            <p:nvPr/>
          </p:nvCxnSpPr>
          <p:spPr>
            <a:xfrm>
              <a:off x="4330700" y="1356406"/>
              <a:ext cx="1914525" cy="0"/>
            </a:xfrm>
            <a:prstGeom prst="straightConnector1">
              <a:avLst/>
            </a:prstGeom>
            <a:noFill/>
            <a:ln cap="flat" cmpd="sng" w="28575">
              <a:solidFill>
                <a:srgbClr val="000000"/>
              </a:solidFill>
              <a:prstDash val="solid"/>
              <a:round/>
              <a:headEnd len="med" w="med" type="none"/>
              <a:tailEnd len="med" w="med" type="none"/>
            </a:ln>
          </p:spPr>
        </p:cxnSp>
        <p:sp>
          <p:nvSpPr>
            <p:cNvPr id="2659" name="Google Shape;2659;p58"/>
            <p:cNvSpPr txBox="1"/>
            <p:nvPr/>
          </p:nvSpPr>
          <p:spPr>
            <a:xfrm>
              <a:off x="4222750" y="1378631"/>
              <a:ext cx="5521325" cy="1466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(nextseqnum &lt; base+N)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sndpkt[nextseqnum] = make_pkt(nextseqnum,data,chksum)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udt_send(sndpkt[nextseqnum])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refuse_data(data)</a:t>
              </a:r>
              <a:endParaRPr b="0" i="0" sz="1400" u="none" cap="none" strike="noStrike">
                <a:solidFill>
                  <a:srgbClr val="000000"/>
                </a:solidFill>
                <a:latin typeface="Times New Roman"/>
                <a:ea typeface="Times New Roman"/>
                <a:cs typeface="Times New Roman"/>
                <a:sym typeface="Times New Roman"/>
              </a:endParaRPr>
            </a:p>
          </p:txBody>
        </p:sp>
        <p:sp>
          <p:nvSpPr>
            <p:cNvPr id="2660" name="Google Shape;2660;p58"/>
            <p:cNvSpPr/>
            <p:nvPr/>
          </p:nvSpPr>
          <p:spPr>
            <a:xfrm flipH="1" rot="5142103">
              <a:off x="4816476" y="2901043"/>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grpSp>
        <p:nvGrpSpPr>
          <p:cNvPr id="2661" name="Google Shape;2661;p58"/>
          <p:cNvGrpSpPr/>
          <p:nvPr/>
        </p:nvGrpSpPr>
        <p:grpSpPr>
          <a:xfrm>
            <a:off x="4371975" y="4413931"/>
            <a:ext cx="3686175" cy="1860550"/>
            <a:chOff x="4371975" y="4413931"/>
            <a:chExt cx="3686175" cy="1860550"/>
          </a:xfrm>
        </p:grpSpPr>
        <p:sp>
          <p:nvSpPr>
            <p:cNvPr id="2662" name="Google Shape;2662;p58"/>
            <p:cNvSpPr txBox="1"/>
            <p:nvPr/>
          </p:nvSpPr>
          <p:spPr>
            <a:xfrm>
              <a:off x="4371975" y="5445806"/>
              <a:ext cx="3686175" cy="828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 = getacknum(rcvpkt)+1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If (base == nextseqnum)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stop_timer</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else</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start_timer</a:t>
              </a:r>
              <a:endParaRPr b="0" i="0" sz="1400" u="none" cap="none" strike="noStrike">
                <a:solidFill>
                  <a:srgbClr val="000000"/>
                </a:solidFill>
                <a:latin typeface="Times New Roman"/>
                <a:ea typeface="Times New Roman"/>
                <a:cs typeface="Times New Roman"/>
                <a:sym typeface="Times New Roman"/>
              </a:endParaRPr>
            </a:p>
          </p:txBody>
        </p:sp>
        <p:sp>
          <p:nvSpPr>
            <p:cNvPr id="2663" name="Google Shape;2663;p58"/>
            <p:cNvSpPr txBox="1"/>
            <p:nvPr/>
          </p:nvSpPr>
          <p:spPr>
            <a:xfrm>
              <a:off x="4384675" y="4945743"/>
              <a:ext cx="2833688"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&amp;&amp;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notcorrupt(rcvpkt) </a:t>
              </a:r>
              <a:endParaRPr/>
            </a:p>
            <a:p>
              <a:pPr indent="0" lvl="0" marL="0" marR="0" rtl="0" algn="ctr">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p:txBody>
        </p:sp>
        <p:cxnSp>
          <p:nvCxnSpPr>
            <p:cNvPr id="2664" name="Google Shape;2664;p58"/>
            <p:cNvCxnSpPr/>
            <p:nvPr/>
          </p:nvCxnSpPr>
          <p:spPr>
            <a:xfrm>
              <a:off x="4476750" y="5469618"/>
              <a:ext cx="1619250" cy="0"/>
            </a:xfrm>
            <a:prstGeom prst="straightConnector1">
              <a:avLst/>
            </a:prstGeom>
            <a:noFill/>
            <a:ln cap="flat" cmpd="sng" w="28575">
              <a:solidFill>
                <a:srgbClr val="000000"/>
              </a:solidFill>
              <a:prstDash val="solid"/>
              <a:round/>
              <a:headEnd len="med" w="med" type="none"/>
              <a:tailEnd len="med" w="med" type="none"/>
            </a:ln>
          </p:spPr>
        </p:cxnSp>
        <p:sp>
          <p:nvSpPr>
            <p:cNvPr id="2665" name="Google Shape;2665;p58"/>
            <p:cNvSpPr/>
            <p:nvPr/>
          </p:nvSpPr>
          <p:spPr>
            <a:xfrm>
              <a:off x="4533900" y="4413931"/>
              <a:ext cx="1054100" cy="674687"/>
            </a:xfrm>
            <a:custGeom>
              <a:rect b="b" l="l" r="r" t="t"/>
              <a:pathLst>
                <a:path extrusionOk="0" h="425" w="664">
                  <a:moveTo>
                    <a:pt x="241" y="20"/>
                  </a:moveTo>
                  <a:cubicBezTo>
                    <a:pt x="0" y="393"/>
                    <a:pt x="664" y="425"/>
                    <a:pt x="388" y="0"/>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cxnSp>
        <p:nvCxnSpPr>
          <p:cNvPr id="2666" name="Google Shape;2666;p58"/>
          <p:cNvCxnSpPr/>
          <p:nvPr/>
        </p:nvCxnSpPr>
        <p:spPr>
          <a:xfrm>
            <a:off x="2643188" y="3224893"/>
            <a:ext cx="803275" cy="0"/>
          </a:xfrm>
          <a:prstGeom prst="straightConnector1">
            <a:avLst/>
          </a:prstGeom>
          <a:noFill/>
          <a:ln cap="flat" cmpd="sng" w="19050">
            <a:solidFill>
              <a:srgbClr val="000000"/>
            </a:solidFill>
            <a:prstDash val="solid"/>
            <a:round/>
            <a:headEnd len="med" w="med" type="none"/>
            <a:tailEnd len="med" w="med" type="none"/>
          </a:ln>
        </p:spPr>
      </p:cxnSp>
      <p:sp>
        <p:nvSpPr>
          <p:cNvPr id="2667" name="Google Shape;2667;p58"/>
          <p:cNvSpPr txBox="1"/>
          <p:nvPr/>
        </p:nvSpPr>
        <p:spPr>
          <a:xfrm>
            <a:off x="2516188" y="3194731"/>
            <a:ext cx="1485900" cy="501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base=1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nextseqnum=1</a:t>
            </a:r>
            <a:endParaRPr b="0" i="0" sz="1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grpSp>
        <p:nvGrpSpPr>
          <p:cNvPr id="2668" name="Google Shape;2668;p58"/>
          <p:cNvGrpSpPr/>
          <p:nvPr/>
        </p:nvGrpSpPr>
        <p:grpSpPr>
          <a:xfrm>
            <a:off x="2279650" y="4188506"/>
            <a:ext cx="2343150" cy="638175"/>
            <a:chOff x="2279650" y="4188506"/>
            <a:chExt cx="2343150" cy="638175"/>
          </a:xfrm>
        </p:grpSpPr>
        <p:sp>
          <p:nvSpPr>
            <p:cNvPr id="2669" name="Google Shape;2669;p58"/>
            <p:cNvSpPr txBox="1"/>
            <p:nvPr/>
          </p:nvSpPr>
          <p:spPr>
            <a:xfrm>
              <a:off x="2279650" y="4256768"/>
              <a:ext cx="2047875" cy="447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corrupt(rcvpkt)</a:t>
              </a:r>
              <a:r>
                <a:rPr b="0" i="0" lang="en-US" sz="1000" u="none" cap="none" strike="noStrike">
                  <a:solidFill>
                    <a:srgbClr val="000000"/>
                  </a:solidFill>
                  <a:latin typeface="Arial"/>
                  <a:ea typeface="Arial"/>
                  <a:cs typeface="Arial"/>
                  <a:sym typeface="Arial"/>
                </a:rPr>
                <a:t> </a:t>
              </a:r>
              <a:endParaRPr/>
            </a:p>
            <a:p>
              <a:pPr indent="0" lvl="0" marL="0" marR="0" rtl="0" algn="ctr">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670" name="Google Shape;2670;p58"/>
            <p:cNvCxnSpPr/>
            <p:nvPr/>
          </p:nvCxnSpPr>
          <p:spPr>
            <a:xfrm>
              <a:off x="2371725" y="4755243"/>
              <a:ext cx="1520825" cy="0"/>
            </a:xfrm>
            <a:prstGeom prst="straightConnector1">
              <a:avLst/>
            </a:prstGeom>
            <a:noFill/>
            <a:ln cap="flat" cmpd="sng" w="19050">
              <a:solidFill>
                <a:srgbClr val="000000"/>
              </a:solidFill>
              <a:prstDash val="solid"/>
              <a:round/>
              <a:headEnd len="med" w="med" type="none"/>
              <a:tailEnd len="med" w="med" type="none"/>
            </a:ln>
          </p:spPr>
        </p:cxnSp>
        <p:sp>
          <p:nvSpPr>
            <p:cNvPr id="2671" name="Google Shape;2671;p58"/>
            <p:cNvSpPr/>
            <p:nvPr/>
          </p:nvSpPr>
          <p:spPr>
            <a:xfrm>
              <a:off x="3927475" y="4188506"/>
              <a:ext cx="695325" cy="638175"/>
            </a:xfrm>
            <a:custGeom>
              <a:rect b="b" l="l" r="r" t="t"/>
              <a:pathLst>
                <a:path extrusionOk="0" h="1005" w="1095">
                  <a:moveTo>
                    <a:pt x="1005" y="0"/>
                  </a:moveTo>
                  <a:cubicBezTo>
                    <a:pt x="0" y="30"/>
                    <a:pt x="645" y="1005"/>
                    <a:pt x="1095" y="165"/>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Tahoma"/>
                <a:ea typeface="Tahoma"/>
                <a:cs typeface="Tahoma"/>
                <a:sym typeface="Tahoma"/>
              </a:endParaRPr>
            </a:p>
          </p:txBody>
        </p:sp>
      </p:grpSp>
      <p:sp>
        <p:nvSpPr>
          <p:cNvPr id="2672" name="Google Shape;2672;p58"/>
          <p:cNvSpPr txBox="1"/>
          <p:nvPr/>
        </p:nvSpPr>
        <p:spPr>
          <a:xfrm>
            <a:off x="2559050" y="2894693"/>
            <a:ext cx="323850"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6"/>
                                        </p:tgtEl>
                                        <p:attrNameLst>
                                          <p:attrName>style.visibility</p:attrName>
                                        </p:attrNameLst>
                                      </p:cBhvr>
                                      <p:to>
                                        <p:strVal val="visible"/>
                                      </p:to>
                                    </p:set>
                                    <p:animEffect filter="fade" transition="in">
                                      <p:cBhvr>
                                        <p:cTn dur="500"/>
                                        <p:tgtEl>
                                          <p:spTgt spid="2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1"/>
                                        </p:tgtEl>
                                        <p:attrNameLst>
                                          <p:attrName>style.visibility</p:attrName>
                                        </p:attrNameLst>
                                      </p:cBhvr>
                                      <p:to>
                                        <p:strVal val="visible"/>
                                      </p:to>
                                    </p:set>
                                    <p:animEffect filter="fade" transition="in">
                                      <p:cBhvr>
                                        <p:cTn dur="500"/>
                                        <p:tgtEl>
                                          <p:spTgt spid="26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1"/>
                                        </p:tgtEl>
                                        <p:attrNameLst>
                                          <p:attrName>style.visibility</p:attrName>
                                        </p:attrNameLst>
                                      </p:cBhvr>
                                      <p:to>
                                        <p:strVal val="visible"/>
                                      </p:to>
                                    </p:set>
                                    <p:animEffect filter="fade" transition="in">
                                      <p:cBhvr>
                                        <p:cTn dur="500"/>
                                        <p:tgtEl>
                                          <p:spTgt spid="2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8"/>
                                        </p:tgtEl>
                                        <p:attrNameLst>
                                          <p:attrName>style.visibility</p:attrName>
                                        </p:attrNameLst>
                                      </p:cBhvr>
                                      <p:to>
                                        <p:strVal val="visible"/>
                                      </p:to>
                                    </p:set>
                                    <p:animEffect filter="fade" transition="in">
                                      <p:cBhvr>
                                        <p:cTn dur="500"/>
                                        <p:tgtEl>
                                          <p:spTgt spid="26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7" name="Shape 2677"/>
        <p:cNvGrpSpPr/>
        <p:nvPr/>
      </p:nvGrpSpPr>
      <p:grpSpPr>
        <a:xfrm>
          <a:off x="0" y="0"/>
          <a:ext cx="0" cy="0"/>
          <a:chOff x="0" y="0"/>
          <a:chExt cx="0" cy="0"/>
        </a:xfrm>
      </p:grpSpPr>
      <p:sp>
        <p:nvSpPr>
          <p:cNvPr id="2678" name="Google Shape;2678;p59"/>
          <p:cNvSpPr txBox="1"/>
          <p:nvPr>
            <p:ph type="title"/>
          </p:nvPr>
        </p:nvSpPr>
        <p:spPr>
          <a:xfrm>
            <a:off x="798690" y="289325"/>
            <a:ext cx="11100625" cy="8946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A3"/>
              </a:buClr>
              <a:buSzPts val="4800"/>
              <a:buFont typeface="Calibri"/>
              <a:buNone/>
            </a:pPr>
            <a:r>
              <a:rPr lang="en-US" sz="4800"/>
              <a:t>Go-Back-N: receiver extended FSM</a:t>
            </a:r>
            <a:endParaRPr sz="4400"/>
          </a:p>
        </p:txBody>
      </p:sp>
      <p:sp>
        <p:nvSpPr>
          <p:cNvPr id="2679" name="Google Shape;2679;p59"/>
          <p:cNvSpPr/>
          <p:nvPr/>
        </p:nvSpPr>
        <p:spPr>
          <a:xfrm>
            <a:off x="4922611" y="2155825"/>
            <a:ext cx="666750" cy="657225"/>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Tahoma"/>
              <a:buNone/>
            </a:pPr>
            <a:r>
              <a:t/>
            </a:r>
            <a:endParaRPr b="0" i="0" sz="1600" u="none" cap="none" strike="noStrike">
              <a:solidFill>
                <a:srgbClr val="000000"/>
              </a:solidFill>
              <a:latin typeface="Tahoma"/>
              <a:ea typeface="Tahoma"/>
              <a:cs typeface="Tahoma"/>
              <a:sym typeface="Tahoma"/>
            </a:endParaRPr>
          </a:p>
        </p:txBody>
      </p:sp>
      <p:sp>
        <p:nvSpPr>
          <p:cNvPr id="2680" name="Google Shape;2680;p59"/>
          <p:cNvSpPr txBox="1"/>
          <p:nvPr/>
        </p:nvSpPr>
        <p:spPr>
          <a:xfrm>
            <a:off x="4881111" y="2307771"/>
            <a:ext cx="800100" cy="336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Wait</a:t>
            </a:r>
            <a:endParaRPr b="0" i="0" sz="2000" u="none" cap="none" strike="noStrike">
              <a:solidFill>
                <a:srgbClr val="000000"/>
              </a:solidFill>
              <a:latin typeface="Times New Roman"/>
              <a:ea typeface="Times New Roman"/>
              <a:cs typeface="Times New Roman"/>
              <a:sym typeface="Times New Roman"/>
            </a:endParaRPr>
          </a:p>
        </p:txBody>
      </p:sp>
      <p:cxnSp>
        <p:nvCxnSpPr>
          <p:cNvPr id="2681" name="Google Shape;2681;p59"/>
          <p:cNvCxnSpPr/>
          <p:nvPr/>
        </p:nvCxnSpPr>
        <p:spPr>
          <a:xfrm>
            <a:off x="2608036" y="1995488"/>
            <a:ext cx="2298700" cy="474662"/>
          </a:xfrm>
          <a:prstGeom prst="straightConnector1">
            <a:avLst/>
          </a:prstGeom>
          <a:noFill/>
          <a:ln cap="flat" cmpd="sng" w="28575">
            <a:solidFill>
              <a:srgbClr val="000000"/>
            </a:solidFill>
            <a:prstDash val="dash"/>
            <a:round/>
            <a:headEnd len="med" w="med" type="none"/>
            <a:tailEnd len="med" w="med" type="triangle"/>
          </a:ln>
        </p:spPr>
      </p:cxnSp>
      <p:sp>
        <p:nvSpPr>
          <p:cNvPr id="2682" name="Google Shape;2682;p59"/>
          <p:cNvSpPr/>
          <p:nvPr/>
        </p:nvSpPr>
        <p:spPr>
          <a:xfrm>
            <a:off x="5595711" y="1898650"/>
            <a:ext cx="828675"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83" name="Google Shape;2683;p59"/>
          <p:cNvSpPr txBox="1"/>
          <p:nvPr/>
        </p:nvSpPr>
        <p:spPr>
          <a:xfrm>
            <a:off x="6089424" y="1668463"/>
            <a:ext cx="3570287" cy="5635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rdt_rcv(rcvpkt)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notcorrupt(rcvpkt)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&amp;&amp; hasseqnum(rcvpkt,expectedseqnum) </a:t>
            </a:r>
            <a:endParaRPr b="0" i="0" sz="1400" u="none" cap="none" strike="noStrike">
              <a:solidFill>
                <a:srgbClr val="000000"/>
              </a:solidFill>
              <a:latin typeface="Times New Roman"/>
              <a:ea typeface="Times New Roman"/>
              <a:cs typeface="Times New Roman"/>
              <a:sym typeface="Times New Roman"/>
            </a:endParaRPr>
          </a:p>
        </p:txBody>
      </p:sp>
      <p:cxnSp>
        <p:nvCxnSpPr>
          <p:cNvPr id="2684" name="Google Shape;2684;p59"/>
          <p:cNvCxnSpPr/>
          <p:nvPr/>
        </p:nvCxnSpPr>
        <p:spPr>
          <a:xfrm>
            <a:off x="6159274" y="2360613"/>
            <a:ext cx="3175000" cy="1587"/>
          </a:xfrm>
          <a:prstGeom prst="straightConnector1">
            <a:avLst/>
          </a:prstGeom>
          <a:noFill/>
          <a:ln cap="flat" cmpd="sng" w="19050">
            <a:solidFill>
              <a:srgbClr val="000000"/>
            </a:solidFill>
            <a:prstDash val="solid"/>
            <a:round/>
            <a:headEnd len="med" w="med" type="none"/>
            <a:tailEnd len="med" w="med" type="none"/>
          </a:ln>
        </p:spPr>
      </p:cxnSp>
      <p:sp>
        <p:nvSpPr>
          <p:cNvPr id="2685" name="Google Shape;2685;p59"/>
          <p:cNvSpPr txBox="1"/>
          <p:nvPr/>
        </p:nvSpPr>
        <p:spPr>
          <a:xfrm>
            <a:off x="6094186" y="2403475"/>
            <a:ext cx="4314825" cy="8588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extract(rcvpkt,data)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deliver_data(data)</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make_pkt(expectedseqnum,ACK,chksum)</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a:t>
            </a:r>
            <a:endParaRPr b="0" i="0" sz="1400" u="none" cap="none" strike="noStrike">
              <a:solidFill>
                <a:srgbClr val="000000"/>
              </a:solidFill>
              <a:latin typeface="Times New Roman"/>
              <a:ea typeface="Times New Roman"/>
              <a:cs typeface="Times New Roman"/>
              <a:sym typeface="Times New Roman"/>
            </a:endParaRPr>
          </a:p>
        </p:txBody>
      </p:sp>
      <p:grpSp>
        <p:nvGrpSpPr>
          <p:cNvPr id="2686" name="Google Shape;2686;p59"/>
          <p:cNvGrpSpPr/>
          <p:nvPr/>
        </p:nvGrpSpPr>
        <p:grpSpPr>
          <a:xfrm>
            <a:off x="4320949" y="1306513"/>
            <a:ext cx="1701605" cy="884011"/>
            <a:chOff x="4320949" y="1306513"/>
            <a:chExt cx="1701605" cy="884011"/>
          </a:xfrm>
        </p:grpSpPr>
        <p:sp>
          <p:nvSpPr>
            <p:cNvPr id="2687" name="Google Shape;2687;p59"/>
            <p:cNvSpPr txBox="1"/>
            <p:nvPr/>
          </p:nvSpPr>
          <p:spPr>
            <a:xfrm>
              <a:off x="4320949" y="1582738"/>
              <a:ext cx="1617662" cy="314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udt_send(sndpkt)</a:t>
              </a:r>
              <a:endParaRPr b="0" i="0" sz="1400" u="none" cap="none" strike="noStrike">
                <a:solidFill>
                  <a:srgbClr val="000000"/>
                </a:solidFill>
                <a:latin typeface="Times New Roman"/>
                <a:ea typeface="Times New Roman"/>
                <a:cs typeface="Times New Roman"/>
                <a:sym typeface="Times New Roman"/>
              </a:endParaRPr>
            </a:p>
          </p:txBody>
        </p:sp>
        <p:sp>
          <p:nvSpPr>
            <p:cNvPr id="2688" name="Google Shape;2688;p59"/>
            <p:cNvSpPr txBox="1"/>
            <p:nvPr/>
          </p:nvSpPr>
          <p:spPr>
            <a:xfrm>
              <a:off x="4360636" y="1306513"/>
              <a:ext cx="1661918" cy="2476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any other event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2689" name="Google Shape;2689;p59"/>
            <p:cNvCxnSpPr/>
            <p:nvPr/>
          </p:nvCxnSpPr>
          <p:spPr>
            <a:xfrm>
              <a:off x="4441599" y="1603375"/>
              <a:ext cx="815975" cy="0"/>
            </a:xfrm>
            <a:prstGeom prst="straightConnector1">
              <a:avLst/>
            </a:prstGeom>
            <a:noFill/>
            <a:ln cap="flat" cmpd="sng" w="28575">
              <a:solidFill>
                <a:srgbClr val="000000"/>
              </a:solidFill>
              <a:prstDash val="solid"/>
              <a:round/>
              <a:headEnd len="med" w="med" type="none"/>
              <a:tailEnd len="med" w="med" type="none"/>
            </a:ln>
          </p:spPr>
        </p:cxnSp>
        <p:sp>
          <p:nvSpPr>
            <p:cNvPr id="2690" name="Google Shape;2690;p59"/>
            <p:cNvSpPr/>
            <p:nvPr/>
          </p:nvSpPr>
          <p:spPr>
            <a:xfrm flipH="1" rot="5142103">
              <a:off x="5068662" y="1374775"/>
              <a:ext cx="393700" cy="1152525"/>
            </a:xfrm>
            <a:custGeom>
              <a:rect b="b" l="l" r="r" t="t"/>
              <a:pathLst>
                <a:path extrusionOk="0" h="1815" w="619">
                  <a:moveTo>
                    <a:pt x="39" y="1136"/>
                  </a:moveTo>
                  <a:cubicBezTo>
                    <a:pt x="619" y="1815"/>
                    <a:pt x="484" y="0"/>
                    <a:pt x="0" y="773"/>
                  </a:cubicBezTo>
                </a:path>
              </a:pathLst>
            </a:custGeom>
            <a:noFill/>
            <a:ln cap="flat" cmpd="sng" w="1905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cxnSp>
        <p:nvCxnSpPr>
          <p:cNvPr id="2691" name="Google Shape;2691;p59"/>
          <p:cNvCxnSpPr/>
          <p:nvPr/>
        </p:nvCxnSpPr>
        <p:spPr>
          <a:xfrm>
            <a:off x="2547711" y="2408238"/>
            <a:ext cx="1238250" cy="0"/>
          </a:xfrm>
          <a:prstGeom prst="straightConnector1">
            <a:avLst/>
          </a:prstGeom>
          <a:noFill/>
          <a:ln cap="flat" cmpd="sng" w="28575">
            <a:solidFill>
              <a:srgbClr val="000000"/>
            </a:solidFill>
            <a:prstDash val="solid"/>
            <a:round/>
            <a:headEnd len="med" w="med" type="none"/>
            <a:tailEnd len="med" w="med" type="none"/>
          </a:ln>
        </p:spPr>
      </p:cxnSp>
      <p:sp>
        <p:nvSpPr>
          <p:cNvPr id="2692" name="Google Shape;2692;p59"/>
          <p:cNvSpPr txBox="1"/>
          <p:nvPr/>
        </p:nvSpPr>
        <p:spPr>
          <a:xfrm>
            <a:off x="2457224" y="2428875"/>
            <a:ext cx="3641725" cy="98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expectedseqnum=1</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sndpkt =    </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make_pkt(expectedseqnum,ACK,chksum)</a:t>
            </a:r>
            <a:endParaRPr/>
          </a:p>
          <a:p>
            <a:pPr indent="0" lvl="0" marL="0" marR="0" rtl="0" algn="l">
              <a:lnSpc>
                <a:spcPct val="100000"/>
              </a:lnSpc>
              <a:spcBef>
                <a:spcPts val="0"/>
              </a:spcBef>
              <a:spcAft>
                <a:spcPts val="0"/>
              </a:spcAft>
              <a:buClr>
                <a:schemeClr val="dk1"/>
              </a:buClr>
              <a:buSzPts val="1400"/>
              <a:buFont typeface="Tahoma"/>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ahoma"/>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2693" name="Google Shape;2693;p59"/>
          <p:cNvSpPr txBox="1"/>
          <p:nvPr/>
        </p:nvSpPr>
        <p:spPr>
          <a:xfrm>
            <a:off x="2493736" y="2105025"/>
            <a:ext cx="32385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Noto Sans Symbols"/>
              <a:buNone/>
            </a:pPr>
            <a:r>
              <a:rPr b="0" i="0" lang="en-US" sz="1600" u="none" cap="none" strike="noStrike">
                <a:solidFill>
                  <a:srgbClr val="000000"/>
                </a:solidFill>
                <a:latin typeface="Noto Sans Symbols"/>
                <a:ea typeface="Noto Sans Symbols"/>
                <a:cs typeface="Noto Sans Symbols"/>
                <a:sym typeface="Noto Sans Symbols"/>
              </a:rPr>
              <a:t>Λ</a:t>
            </a:r>
            <a:endParaRPr/>
          </a:p>
        </p:txBody>
      </p:sp>
      <p:sp>
        <p:nvSpPr>
          <p:cNvPr id="2694" name="Google Shape;2694;p59"/>
          <p:cNvSpPr txBox="1"/>
          <p:nvPr/>
        </p:nvSpPr>
        <p:spPr>
          <a:xfrm>
            <a:off x="930389" y="3827462"/>
            <a:ext cx="10318069" cy="2854325"/>
          </a:xfrm>
          <a:prstGeom prst="rect">
            <a:avLst/>
          </a:prstGeom>
          <a:noFill/>
          <a:ln>
            <a:noFill/>
          </a:ln>
        </p:spPr>
        <p:txBody>
          <a:bodyPr anchorCtr="0" anchor="t" bIns="45700" lIns="91425" spcFirstLastPara="1" rIns="91425" wrap="square" tIns="45700">
            <a:normAutofit lnSpcReduction="10000"/>
          </a:bodyPr>
          <a:lstStyle/>
          <a:p>
            <a:pPr indent="-222250" lvl="0" marL="352425" marR="0" rtl="0" algn="l">
              <a:lnSpc>
                <a:spcPct val="90000"/>
              </a:lnSpc>
              <a:spcBef>
                <a:spcPts val="0"/>
              </a:spcBef>
              <a:spcAft>
                <a:spcPts val="0"/>
              </a:spcAft>
              <a:buClr>
                <a:srgbClr val="0000A3"/>
              </a:buClr>
              <a:buSzPts val="2800"/>
              <a:buFont typeface="Noto Sans Symbols"/>
              <a:buNone/>
            </a:pPr>
            <a:r>
              <a:rPr b="0" i="0" lang="en-US" sz="2800" u="none" cap="none" strike="noStrike">
                <a:solidFill>
                  <a:srgbClr val="000000"/>
                </a:solidFill>
                <a:latin typeface="Calibri"/>
                <a:ea typeface="Calibri"/>
                <a:cs typeface="Calibri"/>
                <a:sym typeface="Calibri"/>
              </a:rPr>
              <a:t>ACK-only: always send ACK for correctly-received packet with highest </a:t>
            </a:r>
            <a:r>
              <a:rPr b="0" i="1" lang="en-US" sz="2800" u="none" cap="none" strike="noStrike">
                <a:solidFill>
                  <a:srgbClr val="CC0000"/>
                </a:solidFill>
                <a:latin typeface="Calibri"/>
                <a:ea typeface="Calibri"/>
                <a:cs typeface="Calibri"/>
                <a:sym typeface="Calibri"/>
              </a:rPr>
              <a:t>in-order</a:t>
            </a:r>
            <a:r>
              <a:rPr b="0" i="0" lang="en-US" sz="2800" u="none" cap="none" strike="noStrike">
                <a:solidFill>
                  <a:srgbClr val="000000"/>
                </a:solidFill>
                <a:latin typeface="Calibri"/>
                <a:ea typeface="Calibri"/>
                <a:cs typeface="Calibri"/>
                <a:sym typeface="Calibri"/>
              </a:rPr>
              <a:t> seq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may generate duplicate ACKs</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need only remember </a:t>
            </a:r>
            <a:r>
              <a:rPr b="1" i="0" lang="en-US" sz="2400" u="none" cap="none" strike="noStrike">
                <a:solidFill>
                  <a:srgbClr val="000000"/>
                </a:solidFill>
                <a:latin typeface="Courier New"/>
                <a:ea typeface="Courier New"/>
                <a:cs typeface="Courier New"/>
                <a:sym typeface="Courier New"/>
              </a:rPr>
              <a:t>expectedseqnum</a:t>
            </a:r>
            <a:endParaRPr b="1" i="0" sz="2400" u="none" cap="none" strike="noStrike">
              <a:solidFill>
                <a:srgbClr val="000000"/>
              </a:solidFill>
              <a:latin typeface="Courier New"/>
              <a:ea typeface="Courier New"/>
              <a:cs typeface="Courier New"/>
              <a:sym typeface="Courier New"/>
            </a:endParaRPr>
          </a:p>
          <a:p>
            <a:pPr indent="-222250" lvl="0" marL="352425" marR="0" rtl="0" algn="l">
              <a:lnSpc>
                <a:spcPct val="90000"/>
              </a:lnSpc>
              <a:spcBef>
                <a:spcPts val="1000"/>
              </a:spcBef>
              <a:spcAft>
                <a:spcPts val="0"/>
              </a:spcAft>
              <a:buClr>
                <a:srgbClr val="0000A3"/>
              </a:buClr>
              <a:buSzPts val="2800"/>
              <a:buFont typeface="Noto Sans Symbols"/>
              <a:buChar char="▪"/>
            </a:pPr>
            <a:r>
              <a:rPr b="0" i="0" lang="en-US" sz="2800" u="none" cap="none" strike="noStrike">
                <a:solidFill>
                  <a:srgbClr val="000000"/>
                </a:solidFill>
                <a:latin typeface="Calibri"/>
                <a:ea typeface="Calibri"/>
                <a:cs typeface="Calibri"/>
                <a:sym typeface="Calibri"/>
              </a:rPr>
              <a:t>out-of-order packet: </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discard (don’t buffer): </a:t>
            </a:r>
            <a:r>
              <a:rPr b="0" i="1" lang="en-US" sz="2400" u="none" cap="none" strike="noStrike">
                <a:solidFill>
                  <a:srgbClr val="CC0000"/>
                </a:solidFill>
                <a:latin typeface="Calibri"/>
                <a:ea typeface="Calibri"/>
                <a:cs typeface="Calibri"/>
                <a:sym typeface="Calibri"/>
              </a:rPr>
              <a:t>no receiver buffering!</a:t>
            </a:r>
            <a:endParaRPr/>
          </a:p>
          <a:p>
            <a:pPr indent="-231775" lvl="1" marL="695325" marR="0" rtl="0" algn="l">
              <a:lnSpc>
                <a:spcPct val="90000"/>
              </a:lnSpc>
              <a:spcBef>
                <a:spcPts val="500"/>
              </a:spcBef>
              <a:spcAft>
                <a:spcPts val="0"/>
              </a:spcAft>
              <a:buClr>
                <a:srgbClr val="0000A8"/>
              </a:buClr>
              <a:buSzPts val="2400"/>
              <a:buFont typeface="Arial"/>
              <a:buChar char="•"/>
            </a:pPr>
            <a:r>
              <a:rPr b="0" i="0" lang="en-US" sz="2400" u="none" cap="none" strike="noStrike">
                <a:solidFill>
                  <a:srgbClr val="000000"/>
                </a:solidFill>
                <a:latin typeface="Calibri"/>
                <a:ea typeface="Calibri"/>
                <a:cs typeface="Calibri"/>
                <a:sym typeface="Calibri"/>
              </a:rPr>
              <a:t>re-ACK pkt with highest in-order seq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3"/>
                                        </p:tgtEl>
                                        <p:attrNameLst>
                                          <p:attrName>style.visibility</p:attrName>
                                        </p:attrNameLst>
                                      </p:cBhvr>
                                      <p:to>
                                        <p:strVal val="visible"/>
                                      </p:to>
                                    </p:set>
                                    <p:animEffect filter="fade" transition="in">
                                      <p:cBhvr>
                                        <p:cTn dur="500"/>
                                        <p:tgtEl>
                                          <p:spTgt spid="26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5"/>
                                        </p:tgtEl>
                                        <p:attrNameLst>
                                          <p:attrName>style.visibility</p:attrName>
                                        </p:attrNameLst>
                                      </p:cBhvr>
                                      <p:to>
                                        <p:strVal val="visible"/>
                                      </p:to>
                                    </p:set>
                                    <p:animEffect filter="fade" transition="in">
                                      <p:cBhvr>
                                        <p:cTn dur="500"/>
                                        <p:tgtEl>
                                          <p:spTgt spid="26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6"/>
                                        </p:tgtEl>
                                        <p:attrNameLst>
                                          <p:attrName>style.visibility</p:attrName>
                                        </p:attrNameLst>
                                      </p:cBhvr>
                                      <p:to>
                                        <p:strVal val="visible"/>
                                      </p:to>
                                    </p:set>
                                    <p:animEffect filter="fade" transition="in">
                                      <p:cBhvr>
                                        <p:cTn dur="500"/>
                                        <p:tgtEl>
                                          <p:spTgt spid="26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