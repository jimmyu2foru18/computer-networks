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4">
          <p15:clr>
            <a:srgbClr val="A4A3A4"/>
          </p15:clr>
        </p15:guide>
        <p15:guide id="2" pos="2928">
          <p15:clr>
            <a:srgbClr val="A4A3A4"/>
          </p15:clr>
        </p15:guide>
        <p15:guide id="3" orient="horz" pos="1680">
          <p15:clr>
            <a:srgbClr val="A4A3A4"/>
          </p15:clr>
        </p15:guide>
        <p15:guide id="4" pos="7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4" orient="horz"/>
        <p:guide pos="2928"/>
        <p:guide pos="1680" orient="horz"/>
        <p:guide pos="7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regular.fntdata"/><Relationship Id="rId14" Type="http://schemas.openxmlformats.org/officeDocument/2006/relationships/slide" Target="slides/slide9.xml"/><Relationship Id="rId16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By logical communication ,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that from an application’s perspective, it is as if the hosts running the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directly connected; in reality, the hosts may be on opposite sides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planet, connected via numerous routers and a wide range of link types.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use the logical communication provided by the transport layer to send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messages to each other, free from the worry of the details of the physical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carry these messages.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look at each of these three (logical communications, actions, 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28.png"/><Relationship Id="rId22" Type="http://schemas.openxmlformats.org/officeDocument/2006/relationships/image" Target="../media/image35.png"/><Relationship Id="rId10" Type="http://schemas.openxmlformats.org/officeDocument/2006/relationships/image" Target="../media/image4.png"/><Relationship Id="rId21" Type="http://schemas.openxmlformats.org/officeDocument/2006/relationships/image" Target="../media/image23.png"/><Relationship Id="rId13" Type="http://schemas.openxmlformats.org/officeDocument/2006/relationships/image" Target="../media/image6.png"/><Relationship Id="rId12" Type="http://schemas.openxmlformats.org/officeDocument/2006/relationships/image" Target="../media/image8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15" Type="http://schemas.openxmlformats.org/officeDocument/2006/relationships/image" Target="../media/image3.png"/><Relationship Id="rId14" Type="http://schemas.openxmlformats.org/officeDocument/2006/relationships/image" Target="../media/image5.png"/><Relationship Id="rId17" Type="http://schemas.openxmlformats.org/officeDocument/2006/relationships/image" Target="../media/image13.png"/><Relationship Id="rId16" Type="http://schemas.openxmlformats.org/officeDocument/2006/relationships/image" Target="../media/image26.png"/><Relationship Id="rId5" Type="http://schemas.openxmlformats.org/officeDocument/2006/relationships/image" Target="../media/image2.png"/><Relationship Id="rId19" Type="http://schemas.openxmlformats.org/officeDocument/2006/relationships/image" Target="../media/image37.png"/><Relationship Id="rId6" Type="http://schemas.openxmlformats.org/officeDocument/2006/relationships/image" Target="../media/image1.png"/><Relationship Id="rId18" Type="http://schemas.openxmlformats.org/officeDocument/2006/relationships/image" Target="../media/image22.png"/><Relationship Id="rId7" Type="http://schemas.openxmlformats.org/officeDocument/2006/relationships/image" Target="../media/image4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28.png"/><Relationship Id="rId22" Type="http://schemas.openxmlformats.org/officeDocument/2006/relationships/image" Target="../media/image35.png"/><Relationship Id="rId10" Type="http://schemas.openxmlformats.org/officeDocument/2006/relationships/image" Target="../media/image4.png"/><Relationship Id="rId21" Type="http://schemas.openxmlformats.org/officeDocument/2006/relationships/image" Target="../media/image23.png"/><Relationship Id="rId13" Type="http://schemas.openxmlformats.org/officeDocument/2006/relationships/image" Target="../media/image6.png"/><Relationship Id="rId12" Type="http://schemas.openxmlformats.org/officeDocument/2006/relationships/image" Target="../media/image8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15" Type="http://schemas.openxmlformats.org/officeDocument/2006/relationships/image" Target="../media/image3.png"/><Relationship Id="rId14" Type="http://schemas.openxmlformats.org/officeDocument/2006/relationships/image" Target="../media/image5.png"/><Relationship Id="rId17" Type="http://schemas.openxmlformats.org/officeDocument/2006/relationships/image" Target="../media/image13.png"/><Relationship Id="rId16" Type="http://schemas.openxmlformats.org/officeDocument/2006/relationships/image" Target="../media/image26.png"/><Relationship Id="rId5" Type="http://schemas.openxmlformats.org/officeDocument/2006/relationships/image" Target="../media/image2.png"/><Relationship Id="rId19" Type="http://schemas.openxmlformats.org/officeDocument/2006/relationships/image" Target="../media/image37.png"/><Relationship Id="rId6" Type="http://schemas.openxmlformats.org/officeDocument/2006/relationships/image" Target="../media/image1.png"/><Relationship Id="rId18" Type="http://schemas.openxmlformats.org/officeDocument/2006/relationships/image" Target="../media/image22.png"/><Relationship Id="rId7" Type="http://schemas.openxmlformats.org/officeDocument/2006/relationships/image" Target="../media/image4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4.jpg"/><Relationship Id="rId5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Introduction: 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Transport layer: overview</a:t>
            </a:r>
            <a:endParaRPr sz="4400"/>
          </a:p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781763" y="1253331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transport layer services: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multiplexing, demultiplexing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reliable data transfer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flow control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congestion control</a:t>
            </a:r>
            <a:endParaRPr sz="3200"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5968416" y="1815962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learn about Internet transport layer protocols: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UDP: connectionless transport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TCP: connection-oriented reliable transport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TCP congestion control</a:t>
            </a:r>
            <a:endParaRPr sz="2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Transport services and protocols</a:t>
            </a:r>
            <a:endParaRPr sz="4400"/>
          </a:p>
        </p:txBody>
      </p:sp>
      <p:sp>
        <p:nvSpPr>
          <p:cNvPr id="56" name="Google Shape;56;p8"/>
          <p:cNvSpPr txBox="1"/>
          <p:nvPr/>
        </p:nvSpPr>
        <p:spPr>
          <a:xfrm>
            <a:off x="681218" y="1443831"/>
            <a:ext cx="5815703" cy="1621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logical communication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application processes running on different hosts</a:t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" name="Google Shape;59;p8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60" name="Google Shape;60;p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65" name="Google Shape;65;p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68" name="Google Shape;68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" name="Google Shape;76;p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7" name="Google Shape;77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" name="Google Shape;79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5" name="Google Shape;85;p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90" name="Google Shape;90;p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2" name="Google Shape;102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03" name="Google Shape;103;p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04" name="Google Shape;104;p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" name="Google Shape;124;p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" name="Google Shape;125;p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28" name="Google Shape;12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9" name="Google Shape;12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30" name="Google Shape;130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2" name="Google Shape;132;p8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" name="Google Shape;133;p8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34" name="Google Shape;134;p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49" name="Google Shape;14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50" name="Google Shape;15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8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52" name="Google Shape;152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4" name="Google Shape;154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9" name="Google Shape;159;p8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60" name="Google Shape;160;p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2" name="Google Shape;162;p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3" name="Google Shape;163;p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7" name="Google Shape;167;p8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68" name="Google Shape;168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0" name="Google Shape;170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1" name="Google Shape;171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8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76" name="Google Shape;176;p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" name="Google Shape;178;p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79" name="Google Shape;179;p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3" name="Google Shape;183;p8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84" name="Google Shape;184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6" name="Google Shape;186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7" name="Google Shape;187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" name="Google Shape;191;p8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92" name="Google Shape;192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4" name="Google Shape;194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5" name="Google Shape;195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" name="Google Shape;199;p8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00" name="Google Shape;200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2" name="Google Shape;202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08" name="Google Shape;208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0" name="Google Shape;210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1" name="Google Shape;211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" name="Google Shape;215;p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16" name="Google Shape;216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8" name="Google Shape;218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9" name="Google Shape;219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24" name="Google Shape;224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6" name="Google Shape;226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Google Shape;227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" name="Google Shape;231;p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32" name="Google Shape;232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" name="Google Shape;234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Google Shape;235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9" name="Google Shape;239;p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40" name="Google Shape;240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2" name="Google Shape;242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3" name="Google Shape;243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" name="Google Shape;247;p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48" name="Google Shape;248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0" name="Google Shape;250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" name="Google Shape;251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5" name="Google Shape;255;p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56" name="Google Shape;256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8" name="Google Shape;258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3" name="Google Shape;263;p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64" name="Google Shape;264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6" name="Google Shape;266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" name="Google Shape;271;p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72" name="Google Shape;272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4" name="Google Shape;274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" name="Google Shape;279;p8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80" name="Google Shape;280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2" name="Google Shape;282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7" name="Google Shape;287;p8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88" name="Google Shape;288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0" name="Google Shape;290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8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296" name="Google Shape;296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97" name="Google Shape;297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99" name="Google Shape;299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3" name="Google Shape;313;p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8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20" name="Google Shape;320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21" name="Google Shape;321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" name="Google Shape;322;p8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23" name="Google Shape;323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24" name="Google Shape;324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5" name="Google Shape;325;p8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26" name="Google Shape;326;p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27" name="Google Shape;327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28" name="Google Shape;328;p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30" name="Google Shape;330;p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1" name="Google Shape;331;p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7" name="Google Shape;337;p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38" name="Google Shape;338;p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" name="Google Shape;340;p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4" name="Google Shape;344;p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51" name="Google Shape;351;p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2" name="Google Shape;352;p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54" name="Google Shape;354;p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55" name="Google Shape;355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56" name="Google Shape;356;p8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57" name="Google Shape;357;p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58" name="Google Shape;358;p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59" name="Google Shape;359;p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60" name="Google Shape;360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61" name="Google Shape;361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62" name="Google Shape;362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63" name="Google Shape;363;p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64" name="Google Shape;364;p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5" name="Google Shape;365;p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66" name="Google Shape;366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67" name="Google Shape;36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68" name="Google Shape;368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69" name="Google Shape;369;p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70" name="Google Shape;370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373" name="Google Shape;373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74" name="Google Shape;374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76" name="Google Shape;376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3" name="Google Shape;383;p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0" name="Google Shape;390;p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97" name="Google Shape;397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00" name="Google Shape;400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8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03" name="Google Shape;403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4" name="Google Shape;404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6" name="Google Shape;406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3" name="Google Shape;413;p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0" name="Google Shape;420;p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8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8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31" name="Google Shape;431;p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8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35" name="Google Shape;435;p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p8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8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40" name="Google Shape;440;p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p8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" name="Google Shape;443;p8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44" name="Google Shape;444;p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8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58" name="Google Shape;458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8"/>
          <p:cNvSpPr/>
          <p:nvPr/>
        </p:nvSpPr>
        <p:spPr>
          <a:xfrm>
            <a:off x="6801377" y="1474097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1" name="Google Shape;461;p8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62" name="Google Shape;462;p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63" name="Google Shape;463;p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" name="Google Shape;464;p8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65" name="Google Shape;465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0" name="Google Shape;470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71" name="Google Shape;471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" name="Google Shape;473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" name="Google Shape;474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5" name="Google Shape;475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" name="Google Shape;477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80" name="Google Shape;480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2" name="Google Shape;482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3" name="Google Shape;483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84" name="Google Shape;484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6" name="Google Shape;486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8"/>
          <p:cNvGrpSpPr/>
          <p:nvPr/>
        </p:nvGrpSpPr>
        <p:grpSpPr>
          <a:xfrm>
            <a:off x="7680324" y="1137866"/>
            <a:ext cx="3489213" cy="4926975"/>
            <a:chOff x="7680324" y="1137866"/>
            <a:chExt cx="3489213" cy="4926975"/>
          </a:xfrm>
        </p:grpSpPr>
        <p:sp>
          <p:nvSpPr>
            <p:cNvPr id="498" name="Google Shape;498;p8"/>
            <p:cNvSpPr/>
            <p:nvPr/>
          </p:nvSpPr>
          <p:spPr>
            <a:xfrm>
              <a:off x="8005845" y="1190714"/>
              <a:ext cx="304800" cy="942975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10104523" y="4775289"/>
              <a:ext cx="304800" cy="942975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8"/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501" name="Google Shape;501;p8"/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8"/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3" name="Google Shape;503;p8"/>
              <p:cNvGrpSpPr/>
              <p:nvPr/>
            </p:nvGrpSpPr>
            <p:grpSpPr>
              <a:xfrm>
                <a:off x="10288915" y="4742972"/>
                <a:ext cx="880622" cy="861812"/>
                <a:chOff x="10288915" y="4742972"/>
                <a:chExt cx="880622" cy="861812"/>
              </a:xfrm>
            </p:grpSpPr>
            <p:grpSp>
              <p:nvGrpSpPr>
                <p:cNvPr id="504" name="Google Shape;504;p8"/>
                <p:cNvGrpSpPr/>
                <p:nvPr/>
              </p:nvGrpSpPr>
              <p:grpSpPr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505" name="Google Shape;505;p8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8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7" name="Google Shape;507;p8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8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8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10" name="Google Shape;510;p8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511" name="Google Shape;511;p8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12" name="Google Shape;512;p8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13" name="Google Shape;513;p8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14" name="Google Shape;514;p8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515" name="Google Shape;515;p8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16" name="Google Shape;516;p8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17" name="Google Shape;517;p8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8" name="Google Shape;518;p8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19" name="Google Shape;519;p8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520" name="Google Shape;520;p8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21" name="Google Shape;521;p8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22" name="Google Shape;522;p8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23" name="Google Shape;523;p8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524" name="Google Shape;524;p8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25" name="Google Shape;525;p8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26" name="Google Shape;526;p8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" name="Google Shape;527;p8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8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8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8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8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2" name="Google Shape;532;p8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3" name="Google Shape;533;p8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4" name="Google Shape;534;p8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5" name="Google Shape;535;p8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6" name="Google Shape;536;p8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37" name="Google Shape;537;p8"/>
                <p:cNvSpPr/>
                <p:nvPr/>
              </p:nvSpPr>
              <p:spPr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8"/>
                <p:cNvSpPr/>
                <p:nvPr/>
              </p:nvSpPr>
              <p:spPr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9" name="Google Shape;539;p8"/>
                <p:cNvSpPr/>
                <p:nvPr/>
              </p:nvSpPr>
              <p:spPr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0" name="Google Shape;540;p8"/>
                <p:cNvSpPr txBox="1"/>
                <p:nvPr/>
              </p:nvSpPr>
              <p:spPr>
                <a:xfrm>
                  <a:off x="10355149" y="4742972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 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41" name="Google Shape;541;p8"/>
                <p:cNvCxnSpPr/>
                <p:nvPr/>
              </p:nvCxnSpPr>
              <p:spPr>
                <a:xfrm>
                  <a:off x="10418848" y="5119777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2" name="Google Shape;542;p8"/>
                <p:cNvCxnSpPr/>
                <p:nvPr/>
              </p:nvCxnSpPr>
              <p:spPr>
                <a:xfrm>
                  <a:off x="10428373" y="5257889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3" name="Google Shape;543;p8"/>
                <p:cNvCxnSpPr/>
                <p:nvPr/>
              </p:nvCxnSpPr>
              <p:spPr>
                <a:xfrm>
                  <a:off x="10428373" y="5396002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44" name="Google Shape;544;p8"/>
              <p:cNvGrpSpPr/>
              <p:nvPr/>
            </p:nvGrpSpPr>
            <p:grpSpPr>
              <a:xfrm>
                <a:off x="8252702" y="1137866"/>
                <a:ext cx="814388" cy="854075"/>
                <a:chOff x="9791027" y="656358"/>
                <a:chExt cx="814388" cy="854075"/>
              </a:xfrm>
            </p:grpSpPr>
            <p:sp>
              <p:nvSpPr>
                <p:cNvPr id="545" name="Google Shape;545;p8"/>
                <p:cNvSpPr/>
                <p:nvPr/>
              </p:nvSpPr>
              <p:spPr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8"/>
                <p:cNvSpPr/>
                <p:nvPr/>
              </p:nvSpPr>
              <p:spPr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8"/>
                <p:cNvSpPr/>
                <p:nvPr/>
              </p:nvSpPr>
              <p:spPr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" name="Google Shape;548;p8"/>
                <p:cNvSpPr txBox="1"/>
                <p:nvPr/>
              </p:nvSpPr>
              <p:spPr>
                <a:xfrm>
                  <a:off x="9791027" y="656358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 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49" name="Google Shape;549;p8"/>
                <p:cNvCxnSpPr/>
                <p:nvPr/>
              </p:nvCxnSpPr>
              <p:spPr>
                <a:xfrm>
                  <a:off x="9854726" y="1033163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0" name="Google Shape;550;p8"/>
                <p:cNvCxnSpPr/>
                <p:nvPr/>
              </p:nvCxnSpPr>
              <p:spPr>
                <a:xfrm>
                  <a:off x="9864251" y="1171275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1" name="Google Shape;551;p8"/>
                <p:cNvCxnSpPr/>
                <p:nvPr/>
              </p:nvCxnSpPr>
              <p:spPr>
                <a:xfrm>
                  <a:off x="9864251" y="1309388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52" name="Google Shape;552;p8"/>
              <p:cNvSpPr/>
              <p:nvPr/>
            </p:nvSpPr>
            <p:spPr>
              <a:xfrm rot="-1710802">
                <a:off x="9544123" y="1270072"/>
                <a:ext cx="626354" cy="3838406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8"/>
              <p:cNvSpPr txBox="1"/>
              <p:nvPr/>
            </p:nvSpPr>
            <p:spPr>
              <a:xfrm rot="3706861">
                <a:off x="8640694" y="3103268"/>
                <a:ext cx="25504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logical end-end transport</a:t>
                </a:r>
                <a:endParaRPr/>
              </a:p>
            </p:txBody>
          </p:sp>
        </p:grpSp>
      </p:grpSp>
      <p:sp>
        <p:nvSpPr>
          <p:cNvPr id="554" name="Google Shape;554;p8"/>
          <p:cNvSpPr txBox="1"/>
          <p:nvPr/>
        </p:nvSpPr>
        <p:spPr>
          <a:xfrm>
            <a:off x="684691" y="2787535"/>
            <a:ext cx="5815703" cy="2327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protocols actions in end systems: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sender: breaks application messages into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segments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passes to  network layer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receiver: reassembles segments into messages, passes to application layer</a:t>
            </a:r>
            <a:endParaRPr/>
          </a:p>
        </p:txBody>
      </p:sp>
      <p:sp>
        <p:nvSpPr>
          <p:cNvPr id="555" name="Google Shape;555;p8"/>
          <p:cNvSpPr txBox="1"/>
          <p:nvPr/>
        </p:nvSpPr>
        <p:spPr>
          <a:xfrm>
            <a:off x="681217" y="5165099"/>
            <a:ext cx="5815703" cy="144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transport protocols available to Internet 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Transport vs. network layer services and protocols</a:t>
            </a:r>
            <a:endParaRPr/>
          </a:p>
        </p:txBody>
      </p:sp>
      <p:grpSp>
        <p:nvGrpSpPr>
          <p:cNvPr id="562" name="Google Shape;562;p9"/>
          <p:cNvGrpSpPr/>
          <p:nvPr/>
        </p:nvGrpSpPr>
        <p:grpSpPr>
          <a:xfrm>
            <a:off x="6278709" y="1094882"/>
            <a:ext cx="5468536" cy="5077175"/>
            <a:chOff x="6430780" y="1365914"/>
            <a:chExt cx="5468536" cy="5077175"/>
          </a:xfrm>
        </p:grpSpPr>
        <p:sp>
          <p:nvSpPr>
            <p:cNvPr id="563" name="Google Shape;563;p9"/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lt1">
                <a:alpha val="6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6430780" y="1910777"/>
              <a:ext cx="5230917" cy="4409765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9"/>
            <p:cNvSpPr txBox="1"/>
            <p:nvPr/>
          </p:nvSpPr>
          <p:spPr>
            <a:xfrm>
              <a:off x="7104167" y="1686939"/>
              <a:ext cx="3025187" cy="4456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household analogy:</a:t>
              </a:r>
              <a:endParaRPr b="0" i="1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9"/>
            <p:cNvSpPr txBox="1"/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222250" lvl="0" marL="3524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1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 kids in Ann’s house sending letters to 12 kids in Bill’s house:</a:t>
              </a:r>
              <a:endPara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hosts = houses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processes = kids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 messages = letters in envelopes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 protocol = Ann and Bill who demux to in-house siblings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protocol = postal service</a:t>
              </a:r>
              <a:endParaRPr/>
            </a:p>
            <a:p>
              <a:pPr indent="-222250" lvl="0" marL="352425" marR="0" rtl="0" algn="l">
                <a:lnSpc>
                  <a:spcPct val="7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7" name="Google Shape;5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754" y="1415907"/>
            <a:ext cx="3622416" cy="5035158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9"/>
          <p:cNvSpPr/>
          <p:nvPr/>
        </p:nvSpPr>
        <p:spPr>
          <a:xfrm>
            <a:off x="6387844" y="4452079"/>
            <a:ext cx="5121782" cy="1364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Transport vs. network layer services and protocols</a:t>
            </a:r>
            <a:endParaRPr/>
          </a:p>
        </p:txBody>
      </p:sp>
      <p:sp>
        <p:nvSpPr>
          <p:cNvPr id="575" name="Google Shape;575;p10"/>
          <p:cNvSpPr txBox="1"/>
          <p:nvPr/>
        </p:nvSpPr>
        <p:spPr>
          <a:xfrm>
            <a:off x="702363" y="1523857"/>
            <a:ext cx="523091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layer: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logical communication between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logical communication between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relies on, enhances, network layer services</a:t>
            </a:r>
            <a:endParaRPr/>
          </a:p>
        </p:txBody>
      </p:sp>
      <p:grpSp>
        <p:nvGrpSpPr>
          <p:cNvPr id="576" name="Google Shape;576;p10"/>
          <p:cNvGrpSpPr/>
          <p:nvPr/>
        </p:nvGrpSpPr>
        <p:grpSpPr>
          <a:xfrm>
            <a:off x="6278709" y="1094882"/>
            <a:ext cx="5468536" cy="5077175"/>
            <a:chOff x="6430780" y="1365914"/>
            <a:chExt cx="5468536" cy="5077175"/>
          </a:xfrm>
        </p:grpSpPr>
        <p:sp>
          <p:nvSpPr>
            <p:cNvPr id="577" name="Google Shape;577;p10"/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lt1">
                <a:alpha val="6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6430780" y="1910777"/>
              <a:ext cx="5230917" cy="4409765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0"/>
            <p:cNvSpPr txBox="1"/>
            <p:nvPr/>
          </p:nvSpPr>
          <p:spPr>
            <a:xfrm>
              <a:off x="7104167" y="1686939"/>
              <a:ext cx="3025187" cy="4456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household analogy:</a:t>
              </a:r>
              <a:endParaRPr b="0" i="1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0"/>
            <p:cNvSpPr txBox="1"/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222250" lvl="0" marL="3524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1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 kids in Ann’s house sending letters to 12 kids in Bill’s house:</a:t>
              </a:r>
              <a:endPara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hosts = houses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processes = kids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 messages = letters in envelopes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 protocol = Ann and Bill who demux to in-house siblings</a:t>
              </a:r>
              <a:endParaRPr/>
            </a:p>
            <a:p>
              <a:pPr indent="-222250" lvl="0" marL="352425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protocol = postal service</a:t>
              </a:r>
              <a:endParaRPr/>
            </a:p>
            <a:p>
              <a:pPr indent="-222250" lvl="0" marL="352425" marR="0" rtl="0" algn="l">
                <a:lnSpc>
                  <a:spcPct val="7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10"/>
          <p:cNvSpPr/>
          <p:nvPr/>
        </p:nvSpPr>
        <p:spPr>
          <a:xfrm>
            <a:off x="6387844" y="4452079"/>
            <a:ext cx="5121782" cy="1364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11"/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588" name="Google Shape;588;p11"/>
            <p:cNvCxnSpPr/>
            <p:nvPr/>
          </p:nvCxnSpPr>
          <p:spPr>
            <a:xfrm>
              <a:off x="2578811" y="5062556"/>
              <a:ext cx="1582832" cy="3026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9" name="Google Shape;589;p11"/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590" name="Google Shape;590;p11"/>
              <p:cNvCxnSpPr/>
              <p:nvPr/>
            </p:nvCxnSpPr>
            <p:spPr>
              <a:xfrm flipH="1">
                <a:off x="7972023" y="4973372"/>
                <a:ext cx="1473513" cy="47439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91" name="Google Shape;591;p11"/>
              <p:cNvSpPr/>
              <p:nvPr/>
            </p:nvSpPr>
            <p:spPr>
              <a:xfrm>
                <a:off x="4062521" y="4965666"/>
                <a:ext cx="4036903" cy="1028731"/>
              </a:xfrm>
              <a:custGeom>
                <a:rect b="b" l="l" r="r" t="t"/>
                <a:pathLst>
                  <a:path extrusionOk="0" h="917" w="187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</a:t>
                </a:r>
                <a:endParaRPr/>
              </a:p>
            </p:txBody>
          </p:sp>
        </p:grpSp>
      </p:grpSp>
      <p:sp>
        <p:nvSpPr>
          <p:cNvPr id="592" name="Google Shape;592;p11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4" name="Google Shape;594;p11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595" name="Google Shape;595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00" name="Google Shape;600;p1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601" name="Google Shape;601;p1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02" name="Google Shape;602;p11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03" name="Google Shape;603;p11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04" name="Google Shape;604;p11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605" name="Google Shape;605;p11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07" name="Google Shape;607;p11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09" name="Google Shape;609;p11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610" name="Google Shape;610;p11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11" name="Google Shape;611;p11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12" name="Google Shape;612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13" name="Google Shape;613;p1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614" name="Google Shape;614;p1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15" name="Google Shape;615;p11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16" name="Google Shape;616;p11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27" name="Google Shape;627;p11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628" name="Google Shape;628;p11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0" name="Google Shape;630;p11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11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2" name="Google Shape;632;p11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633" name="Google Shape;633;p11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634" name="Google Shape;634;p11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635" name="Google Shape;635;p11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11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7" name="Google Shape;637;p11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638" name="Google Shape;638;p11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639" name="Google Shape;639;p11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1" name="Google Shape;641;p11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11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11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644" name="Google Shape;644;p11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645" name="Google Shape;645;p11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646" name="Google Shape;646;p11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1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8" name="Google Shape;648;p11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sp>
        <p:nvSpPr>
          <p:cNvPr id="649" name="Google Shape;649;p11"/>
          <p:cNvSpPr txBox="1"/>
          <p:nvPr/>
        </p:nvSpPr>
        <p:spPr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grpSp>
        <p:nvGrpSpPr>
          <p:cNvPr id="650" name="Google Shape;650;p11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651" name="Google Shape;65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53" name="Google Shape;65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Google Shape;65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58" name="Google Shape;658;p11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Transport Layer Actions</a:t>
            </a:r>
            <a:endParaRPr/>
          </a:p>
        </p:txBody>
      </p:sp>
      <p:grpSp>
        <p:nvGrpSpPr>
          <p:cNvPr id="659" name="Google Shape;659;p11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660" name="Google Shape;660;p11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64" name="Google Shape;664;p11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665" name="Google Shape;665;p11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69" name="Google Shape;669;p11"/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Sender:</a:t>
            </a:r>
            <a:endParaRPr/>
          </a:p>
          <a:p>
            <a:pPr indent="-92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8071146" y="2078287"/>
            <a:ext cx="2415414" cy="3369475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11"/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672" name="Google Shape;672;p11"/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1"/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app. msg</a:t>
              </a:r>
              <a:endParaRPr/>
            </a:p>
          </p:txBody>
        </p:sp>
      </p:grpSp>
      <p:sp>
        <p:nvSpPr>
          <p:cNvPr id="674" name="Google Shape;674;p11"/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passed an application-layer message</a:t>
            </a:r>
            <a:endParaRPr/>
          </a:p>
        </p:txBody>
      </p:sp>
      <p:sp>
        <p:nvSpPr>
          <p:cNvPr id="675" name="Google Shape;675;p11"/>
          <p:cNvSpPr txBox="1"/>
          <p:nvPr/>
        </p:nvSpPr>
        <p:spPr>
          <a:xfrm>
            <a:off x="4388186" y="2990916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segment header fields values</a:t>
            </a:r>
            <a:endParaRPr/>
          </a:p>
        </p:txBody>
      </p:sp>
      <p:sp>
        <p:nvSpPr>
          <p:cNvPr id="676" name="Google Shape;676;p11"/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segment</a:t>
            </a:r>
            <a:endParaRPr/>
          </a:p>
        </p:txBody>
      </p:sp>
      <p:sp>
        <p:nvSpPr>
          <p:cNvPr id="677" name="Google Shape;677;p11"/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passes segment to IP</a:t>
            </a:r>
            <a:endParaRPr/>
          </a:p>
        </p:txBody>
      </p:sp>
      <p:sp>
        <p:nvSpPr>
          <p:cNvPr id="678" name="Google Shape;678;p11"/>
          <p:cNvSpPr txBox="1"/>
          <p:nvPr/>
        </p:nvSpPr>
        <p:spPr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679" name="Google Shape;679;p11"/>
          <p:cNvSpPr/>
          <p:nvPr/>
        </p:nvSpPr>
        <p:spPr>
          <a:xfrm>
            <a:off x="270781" y="1644192"/>
            <a:ext cx="3715697" cy="4052070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0" name="Google Shape;680;p11"/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681" name="Google Shape;681;p11"/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1"/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T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</p:grpSp>
      <p:grpSp>
        <p:nvGrpSpPr>
          <p:cNvPr id="683" name="Google Shape;683;p11"/>
          <p:cNvGrpSpPr/>
          <p:nvPr/>
        </p:nvGrpSpPr>
        <p:grpSpPr>
          <a:xfrm>
            <a:off x="8549491" y="2999047"/>
            <a:ext cx="1818022" cy="369332"/>
            <a:chOff x="7863122" y="5632673"/>
            <a:chExt cx="1818022" cy="369332"/>
          </a:xfrm>
        </p:grpSpPr>
        <p:grpSp>
          <p:nvGrpSpPr>
            <p:cNvPr id="684" name="Google Shape;684;p11"/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685" name="Google Shape;685;p11"/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1"/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T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</p:grpSp>
        <p:grpSp>
          <p:nvGrpSpPr>
            <p:cNvPr id="687" name="Google Shape;687;p11"/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688" name="Google Shape;688;p11"/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1"/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app. msg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12"/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696" name="Google Shape;696;p12"/>
            <p:cNvCxnSpPr/>
            <p:nvPr/>
          </p:nvCxnSpPr>
          <p:spPr>
            <a:xfrm>
              <a:off x="2578811" y="5062556"/>
              <a:ext cx="1582832" cy="3026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97" name="Google Shape;697;p12"/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698" name="Google Shape;698;p12"/>
              <p:cNvCxnSpPr/>
              <p:nvPr/>
            </p:nvCxnSpPr>
            <p:spPr>
              <a:xfrm flipH="1">
                <a:off x="7972023" y="4973372"/>
                <a:ext cx="1473513" cy="47439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9" name="Google Shape;699;p12"/>
              <p:cNvSpPr/>
              <p:nvPr/>
            </p:nvSpPr>
            <p:spPr>
              <a:xfrm>
                <a:off x="4062521" y="4965666"/>
                <a:ext cx="4036903" cy="1028731"/>
              </a:xfrm>
              <a:custGeom>
                <a:rect b="b" l="l" r="r" t="t"/>
                <a:pathLst>
                  <a:path extrusionOk="0" h="917" w="187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</a:t>
                </a:r>
                <a:endParaRPr/>
              </a:p>
            </p:txBody>
          </p:sp>
        </p:grpSp>
      </p:grpSp>
      <p:sp>
        <p:nvSpPr>
          <p:cNvPr id="700" name="Google Shape;700;p12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02" name="Google Shape;702;p12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703" name="Google Shape;703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4" name="Google Shape;704;p12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5" name="Google Shape;705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6" name="Google Shape;706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7" name="Google Shape;707;p12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08" name="Google Shape;708;p1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709" name="Google Shape;709;p1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10" name="Google Shape;710;p12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11" name="Google Shape;711;p12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12" name="Google Shape;712;p12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713" name="Google Shape;713;p12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14" name="Google Shape;714;p12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15" name="Google Shape;715;p12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6" name="Google Shape;716;p1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17" name="Google Shape;717;p12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718" name="Google Shape;718;p12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19" name="Google Shape;719;p12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20" name="Google Shape;720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21" name="Google Shape;721;p1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722" name="Google Shape;722;p1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23" name="Google Shape;723;p12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24" name="Google Shape;724;p12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5" name="Google Shape;725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6" name="Google Shape;726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7" name="Google Shape;727;p12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8" name="Google Shape;728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9" name="Google Shape;729;p1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0" name="Google Shape;730;p12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1" name="Google Shape;731;p12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2" name="Google Shape;732;p12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2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4" name="Google Shape;734;p12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35" name="Google Shape;735;p12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736" name="Google Shape;736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7" name="Google Shape;737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38" name="Google Shape;738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12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0" name="Google Shape;740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741" name="Google Shape;741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742" name="Google Shape;742;p12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743" name="Google Shape;743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5" name="Google Shape;745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746" name="Google Shape;746;p12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47" name="Google Shape;747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9" name="Google Shape;749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12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1" name="Google Shape;751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752" name="Google Shape;752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753" name="Google Shape;753;p12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754" name="Google Shape;754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6" name="Google Shape;756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sp>
        <p:nvSpPr>
          <p:cNvPr id="757" name="Google Shape;757;p12"/>
          <p:cNvSpPr txBox="1"/>
          <p:nvPr/>
        </p:nvSpPr>
        <p:spPr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grpSp>
        <p:nvGrpSpPr>
          <p:cNvPr id="758" name="Google Shape;758;p12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759" name="Google Shape;75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0" name="Google Shape;76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1" name="Google Shape;76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2" name="Google Shape;76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" name="Google Shape;766;p1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Transport Layer Actions</a:t>
            </a:r>
            <a:endParaRPr/>
          </a:p>
        </p:txBody>
      </p:sp>
      <p:grpSp>
        <p:nvGrpSpPr>
          <p:cNvPr id="767" name="Google Shape;767;p12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768" name="Google Shape;768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9" name="Google Shape;769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0" name="Google Shape;770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1" name="Google Shape;771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72" name="Google Shape;772;p12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773" name="Google Shape;773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4" name="Google Shape;774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5" name="Google Shape;775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6" name="Google Shape;776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77" name="Google Shape;777;p12"/>
          <p:cNvSpPr/>
          <p:nvPr/>
        </p:nvSpPr>
        <p:spPr>
          <a:xfrm>
            <a:off x="8043548" y="2078287"/>
            <a:ext cx="2443011" cy="3369475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2"/>
          <p:cNvSpPr txBox="1"/>
          <p:nvPr/>
        </p:nvSpPr>
        <p:spPr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779" name="Google Shape;779;p12"/>
          <p:cNvSpPr/>
          <p:nvPr/>
        </p:nvSpPr>
        <p:spPr>
          <a:xfrm>
            <a:off x="425009" y="1191386"/>
            <a:ext cx="3666301" cy="4459905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0" name="Google Shape;780;p12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781" name="Google Shape;781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5" name="Google Shape;785;p12"/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Receiver:</a:t>
            </a:r>
            <a:endParaRPr/>
          </a:p>
          <a:p>
            <a:pPr indent="-92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6" name="Google Shape;786;p12"/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787" name="Google Shape;787;p12"/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2"/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app.  msg</a:t>
              </a:r>
              <a:endParaRPr/>
            </a:p>
          </p:txBody>
        </p:sp>
      </p:grpSp>
      <p:sp>
        <p:nvSpPr>
          <p:cNvPr id="789" name="Google Shape;789;p12"/>
          <p:cNvSpPr txBox="1"/>
          <p:nvPr/>
        </p:nvSpPr>
        <p:spPr>
          <a:xfrm>
            <a:off x="4391041" y="3125909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application-layer message</a:t>
            </a:r>
            <a:endParaRPr/>
          </a:p>
        </p:txBody>
      </p:sp>
      <p:sp>
        <p:nvSpPr>
          <p:cNvPr id="790" name="Google Shape;790;p12"/>
          <p:cNvSpPr txBox="1"/>
          <p:nvPr/>
        </p:nvSpPr>
        <p:spPr>
          <a:xfrm>
            <a:off x="4389103" y="2734423"/>
            <a:ext cx="3825456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checks header values</a:t>
            </a:r>
            <a:endParaRPr/>
          </a:p>
        </p:txBody>
      </p:sp>
      <p:sp>
        <p:nvSpPr>
          <p:cNvPr id="791" name="Google Shape;791;p12"/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receives segment from IP</a:t>
            </a:r>
            <a:endParaRPr/>
          </a:p>
        </p:txBody>
      </p:sp>
      <p:grpSp>
        <p:nvGrpSpPr>
          <p:cNvPr id="792" name="Google Shape;792;p12"/>
          <p:cNvGrpSpPr/>
          <p:nvPr/>
        </p:nvGrpSpPr>
        <p:grpSpPr>
          <a:xfrm>
            <a:off x="1745737" y="4814948"/>
            <a:ext cx="1818022" cy="369332"/>
            <a:chOff x="7863122" y="5632673"/>
            <a:chExt cx="1818022" cy="369332"/>
          </a:xfrm>
        </p:grpSpPr>
        <p:grpSp>
          <p:nvGrpSpPr>
            <p:cNvPr id="793" name="Google Shape;793;p12"/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794" name="Google Shape;794;p12"/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2"/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T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</p:grpSp>
        <p:grpSp>
          <p:nvGrpSpPr>
            <p:cNvPr id="796" name="Google Shape;796;p12"/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797" name="Google Shape;797;p12"/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2"/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app. msg</a:t>
                </a:r>
                <a:endParaRPr/>
              </a:p>
            </p:txBody>
          </p:sp>
        </p:grpSp>
      </p:grpSp>
      <p:sp>
        <p:nvSpPr>
          <p:cNvPr id="799" name="Google Shape;799;p12"/>
          <p:cNvSpPr txBox="1"/>
          <p:nvPr/>
        </p:nvSpPr>
        <p:spPr>
          <a:xfrm>
            <a:off x="4395862" y="3809729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demultiplexes message up to application via socket</a:t>
            </a:r>
            <a:endParaRPr/>
          </a:p>
        </p:txBody>
      </p:sp>
      <p:sp>
        <p:nvSpPr>
          <p:cNvPr id="800" name="Google Shape;800;p12"/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cap="flat" cmpd="sng" w="254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3"/>
          <p:cNvSpPr txBox="1"/>
          <p:nvPr>
            <p:ph type="title"/>
          </p:nvPr>
        </p:nvSpPr>
        <p:spPr>
          <a:xfrm>
            <a:off x="768711" y="25934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Two principal Internet transport protocols</a:t>
            </a:r>
            <a:endParaRPr sz="4800"/>
          </a:p>
        </p:txBody>
      </p:sp>
      <p:sp>
        <p:nvSpPr>
          <p:cNvPr id="807" name="Google Shape;807;p13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9" name="Google Shape;809;p13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810" name="Google Shape;810;p13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3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2" name="Google Shape;812;p13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3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814" name="Google Shape;814;p13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815" name="Google Shape;815;p13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816" name="Google Shape;816;p13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7" name="Google Shape;817;p13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18" name="Google Shape;818;p13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20" name="Google Shape;820;p13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1" name="Google Shape;821;p13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2" name="Google Shape;822;p13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3" name="Google Shape;823;p13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4" name="Google Shape;824;p13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5" name="Google Shape;825;p13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26" name="Google Shape;826;p13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827" name="Google Shape;827;p13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13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29" name="Google Shape;829;p13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0" name="Google Shape;830;p13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1" name="Google Shape;831;p13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2" name="Google Shape;832;p13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3" name="Google Shape;833;p13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4" name="Google Shape;834;p13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35" name="Google Shape;835;p13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3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837" name="Google Shape;837;p13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3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839" name="Google Shape;839;p13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840" name="Google Shape;840;p13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13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2" name="Google Shape;842;p13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13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4" name="Google Shape;844;p13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5" name="Google Shape;845;p13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6" name="Google Shape;846;p13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7" name="Google Shape;847;p13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8" name="Google Shape;848;p13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9" name="Google Shape;849;p13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0" name="Google Shape;850;p13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13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2" name="Google Shape;852;p13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853" name="Google Shape;853;p13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854" name="Google Shape;854;p13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" name="Google Shape;855;p13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" name="Google Shape;856;p13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" name="Google Shape;857;p13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" name="Google Shape;858;p13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" name="Google Shape;859;p13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" name="Google Shape;860;p13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" name="Google Shape;861;p13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" name="Google Shape;862;p13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" name="Google Shape;863;p13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" name="Google Shape;864;p13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5" name="Google Shape;865;p13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" name="Google Shape;866;p13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13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3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9" name="Google Shape;869;p13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0" name="Google Shape;870;p13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1" name="Google Shape;871;p13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2" name="Google Shape;872;p13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3" name="Google Shape;873;p13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4" name="Google Shape;874;p13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5" name="Google Shape;875;p13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6" name="Google Shape;876;p13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13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878" name="Google Shape;87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79" name="Google Shape;87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880" name="Google Shape;880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1" name="Google Shape;881;p13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82" name="Google Shape;882;p13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3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884" name="Google Shape;884;p13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13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13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13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13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13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13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13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13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13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13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p13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13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13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13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899" name="Google Shape;8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900" name="Google Shape;9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13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902" name="Google Shape;90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4" name="Google Shape;90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5" name="Google Shape;90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9" name="Google Shape;909;p13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910" name="Google Shape;910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13" name="Google Shape;913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7" name="Google Shape;917;p13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918" name="Google Shape;918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0" name="Google Shape;920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" name="Google Shape;921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5" name="Google Shape;925;p13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926" name="Google Shape;926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" name="Google Shape;928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29" name="Google Shape;929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3" name="Google Shape;933;p13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934" name="Google Shape;934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36" name="Google Shape;936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7" name="Google Shape;937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1" name="Google Shape;941;p13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942" name="Google Shape;94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4" name="Google Shape;94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5" name="Google Shape;94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9" name="Google Shape;949;p13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950" name="Google Shape;950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52" name="Google Shape;952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3" name="Google Shape;953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7" name="Google Shape;957;p13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958" name="Google Shape;958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60" name="Google Shape;960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1" name="Google Shape;961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5" name="Google Shape;965;p13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966" name="Google Shape;966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68" name="Google Shape;968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9" name="Google Shape;969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3" name="Google Shape;973;p13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974" name="Google Shape;974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6" name="Google Shape;976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7" name="Google Shape;977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1" name="Google Shape;981;p13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982" name="Google Shape;98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84" name="Google Shape;98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5" name="Google Shape;98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9" name="Google Shape;989;p13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990" name="Google Shape;990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2" name="Google Shape;992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3" name="Google Shape;993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7" name="Google Shape;997;p13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998" name="Google Shape;998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00" name="Google Shape;1000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1" name="Google Shape;1001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5" name="Google Shape;1005;p13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006" name="Google Shape;1006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08" name="Google Shape;1008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9" name="Google Shape;1009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3" name="Google Shape;1013;p13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014" name="Google Shape;1014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16" name="Google Shape;1016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1" name="Google Shape;1021;p13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022" name="Google Shape;102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4" name="Google Shape;102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5" name="Google Shape;102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9" name="Google Shape;1029;p13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030" name="Google Shape;1030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2" name="Google Shape;1032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3" name="Google Shape;1033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7" name="Google Shape;1037;p13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038" name="Google Shape;1038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0" name="Google Shape;1040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Google Shape;1041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13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046" name="Google Shape;1046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47" name="Google Shape;1047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13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49" name="Google Shape;1049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13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6" name="Google Shape;1056;p13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057" name="Google Shape;1057;p1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1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1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3" name="Google Shape;1063;p13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3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13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070" name="Google Shape;1070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71" name="Google Shape;1071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2" name="Google Shape;1072;p13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073" name="Google Shape;1073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74" name="Google Shape;107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5" name="Google Shape;1075;p13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1076" name="Google Shape;1076;p13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077" name="Google Shape;1077;p1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078" name="Google Shape;1078;p1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9" name="Google Shape;1079;p13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080" name="Google Shape;1080;p1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1" name="Google Shape;1081;p13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3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13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13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3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13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7" name="Google Shape;1087;p13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088" name="Google Shape;1088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4" name="Google Shape;1094;p13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3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13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13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13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13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0" name="Google Shape;1100;p13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101" name="Google Shape;1101;p1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2" name="Google Shape;1102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3" name="Google Shape;1103;p13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104" name="Google Shape;1104;p1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105" name="Google Shape;1105;p1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06" name="Google Shape;1106;p13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107" name="Google Shape;1107;p13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108" name="Google Shape;1108;p13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109" name="Google Shape;1109;p13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110" name="Google Shape;1110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111" name="Google Shape;1111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112" name="Google Shape;1112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13" name="Google Shape;1113;p13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114" name="Google Shape;1114;p13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115" name="Google Shape;1115;p13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116" name="Google Shape;1116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117" name="Google Shape;1117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118" name="Google Shape;1118;p13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119" name="Google Shape;1119;p13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120" name="Google Shape;1120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2" name="Google Shape;1122;p13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123" name="Google Shape;1123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124" name="Google Shape;1124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5" name="Google Shape;1125;p13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126" name="Google Shape;1126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7" name="Google Shape;1127;p13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3" name="Google Shape;1133;p13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134" name="Google Shape;1134;p1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1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1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1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0" name="Google Shape;1140;p13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3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6" name="Google Shape;1146;p13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147" name="Google Shape;1147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9" name="Google Shape;1149;p13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150" name="Google Shape;1150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2" name="Google Shape;1152;p13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153" name="Google Shape;1153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154" name="Google Shape;1154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13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156" name="Google Shape;1156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13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13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3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13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3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13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3" name="Google Shape;1163;p13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164" name="Google Shape;1164;p1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1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1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1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0" name="Google Shape;1170;p13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13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13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13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13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13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6" name="Google Shape;1176;p13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3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13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13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0" name="Google Shape;1180;p13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181" name="Google Shape;1181;p13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3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3" name="Google Shape;1183;p13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4" name="Google Shape;1184;p13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185" name="Google Shape;1185;p13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3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7" name="Google Shape;1187;p13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3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9" name="Google Shape;1189;p13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190" name="Google Shape;1190;p13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2" name="Google Shape;1192;p13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3" name="Google Shape;1193;p13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194" name="Google Shape;1194;p13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6" name="Google Shape;1196;p13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13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13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3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3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13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3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3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3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3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3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7" name="Google Shape;1207;p13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208" name="Google Shape;1208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0" name="Google Shape;1210;p13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1" name="Google Shape;1211;p13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212" name="Google Shape;1212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13" name="Google Shape;1213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4" name="Google Shape;1214;p13"/>
          <p:cNvSpPr/>
          <p:nvPr/>
        </p:nvSpPr>
        <p:spPr>
          <a:xfrm>
            <a:off x="7680324" y="1814171"/>
            <a:ext cx="612303" cy="510069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3"/>
          <p:cNvSpPr/>
          <p:nvPr/>
        </p:nvSpPr>
        <p:spPr>
          <a:xfrm>
            <a:off x="9823450" y="5554772"/>
            <a:ext cx="612303" cy="510069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13"/>
          <p:cNvSpPr/>
          <p:nvPr/>
        </p:nvSpPr>
        <p:spPr>
          <a:xfrm>
            <a:off x="8005845" y="1190714"/>
            <a:ext cx="304800" cy="942975"/>
          </a:xfrm>
          <a:custGeom>
            <a:rect b="b" l="l" r="r" t="t"/>
            <a:pathLst>
              <a:path extrusionOk="0" h="594" w="192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C00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7" name="Google Shape;1217;p13"/>
          <p:cNvGrpSpPr/>
          <p:nvPr/>
        </p:nvGrpSpPr>
        <p:grpSpPr>
          <a:xfrm>
            <a:off x="10288915" y="4742972"/>
            <a:ext cx="880622" cy="861812"/>
            <a:chOff x="10288915" y="4742972"/>
            <a:chExt cx="880622" cy="861812"/>
          </a:xfrm>
        </p:grpSpPr>
        <p:grpSp>
          <p:nvGrpSpPr>
            <p:cNvPr id="1218" name="Google Shape;1218;p13"/>
            <p:cNvGrpSpPr/>
            <p:nvPr/>
          </p:nvGrpSpPr>
          <p:grpSpPr>
            <a:xfrm>
              <a:off x="10288915" y="5273951"/>
              <a:ext cx="177192" cy="330833"/>
              <a:chOff x="4140" y="429"/>
              <a:chExt cx="1425" cy="2396"/>
            </a:xfrm>
          </p:grpSpPr>
          <p:sp>
            <p:nvSpPr>
              <p:cNvPr id="1219" name="Google Shape;1219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1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4" name="Google Shape;1224;p1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225" name="Google Shape;1225;p1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6" name="Google Shape;1226;p1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7" name="Google Shape;1227;p1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8" name="Google Shape;1228;p1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229" name="Google Shape;1229;p1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0" name="Google Shape;1230;p1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31" name="Google Shape;1231;p1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1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3" name="Google Shape;1233;p1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234" name="Google Shape;1234;p1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5" name="Google Shape;1235;p1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36" name="Google Shape;1236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7" name="Google Shape;1237;p1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238" name="Google Shape;1238;p1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9" name="Google Shape;1239;p1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40" name="Google Shape;1240;p1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1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1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1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1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1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1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1" name="Google Shape;1251;p13"/>
            <p:cNvSpPr/>
            <p:nvPr/>
          </p:nvSpPr>
          <p:spPr>
            <a:xfrm>
              <a:off x="10452186" y="4753064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3"/>
            <p:cNvSpPr/>
            <p:nvPr/>
          </p:nvSpPr>
          <p:spPr>
            <a:xfrm>
              <a:off x="10418848" y="4776877"/>
              <a:ext cx="690563" cy="8001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3"/>
            <p:cNvSpPr/>
            <p:nvPr/>
          </p:nvSpPr>
          <p:spPr>
            <a:xfrm>
              <a:off x="10425991" y="4930726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3"/>
            <p:cNvSpPr txBox="1"/>
            <p:nvPr/>
          </p:nvSpPr>
          <p:spPr>
            <a:xfrm>
              <a:off x="10355149" y="4742972"/>
              <a:ext cx="814388" cy="854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5" name="Google Shape;1255;p13"/>
            <p:cNvCxnSpPr/>
            <p:nvPr/>
          </p:nvCxnSpPr>
          <p:spPr>
            <a:xfrm>
              <a:off x="10418848" y="5119777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13"/>
            <p:cNvCxnSpPr/>
            <p:nvPr/>
          </p:nvCxnSpPr>
          <p:spPr>
            <a:xfrm>
              <a:off x="10428373" y="5257889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13"/>
            <p:cNvCxnSpPr/>
            <p:nvPr/>
          </p:nvCxnSpPr>
          <p:spPr>
            <a:xfrm>
              <a:off x="10428373" y="5396002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8" name="Google Shape;1258;p13"/>
          <p:cNvSpPr/>
          <p:nvPr/>
        </p:nvSpPr>
        <p:spPr>
          <a:xfrm>
            <a:off x="10104523" y="4775289"/>
            <a:ext cx="304800" cy="942975"/>
          </a:xfrm>
          <a:custGeom>
            <a:rect b="b" l="l" r="r" t="t"/>
            <a:pathLst>
              <a:path extrusionOk="0" h="594" w="192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C00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9" name="Google Shape;1259;p13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260" name="Google Shape;1260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3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3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3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266" name="Google Shape;1266;p13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3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8" name="Google Shape;1268;p13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9" name="Google Shape;1269;p13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270" name="Google Shape;1270;p13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3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2" name="Google Shape;1272;p13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3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4" name="Google Shape;1274;p13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275" name="Google Shape;1275;p13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3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7" name="Google Shape;1277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8" name="Google Shape;1278;p13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279" name="Google Shape;1279;p13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3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1" name="Google Shape;1281;p13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3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3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3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3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3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3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3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2" name="Google Shape;1292;p13"/>
          <p:cNvGrpSpPr/>
          <p:nvPr/>
        </p:nvGrpSpPr>
        <p:grpSpPr>
          <a:xfrm>
            <a:off x="8252702" y="1137866"/>
            <a:ext cx="814388" cy="854075"/>
            <a:chOff x="9791027" y="656358"/>
            <a:chExt cx="814388" cy="854075"/>
          </a:xfrm>
        </p:grpSpPr>
        <p:sp>
          <p:nvSpPr>
            <p:cNvPr id="1293" name="Google Shape;1293;p13"/>
            <p:cNvSpPr/>
            <p:nvPr/>
          </p:nvSpPr>
          <p:spPr>
            <a:xfrm>
              <a:off x="9888064" y="666450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3"/>
            <p:cNvSpPr/>
            <p:nvPr/>
          </p:nvSpPr>
          <p:spPr>
            <a:xfrm>
              <a:off x="9854726" y="690263"/>
              <a:ext cx="690563" cy="8001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3"/>
            <p:cNvSpPr/>
            <p:nvPr/>
          </p:nvSpPr>
          <p:spPr>
            <a:xfrm>
              <a:off x="9861869" y="844112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3"/>
            <p:cNvSpPr txBox="1"/>
            <p:nvPr/>
          </p:nvSpPr>
          <p:spPr>
            <a:xfrm>
              <a:off x="9791027" y="656358"/>
              <a:ext cx="814388" cy="854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7" name="Google Shape;1297;p13"/>
            <p:cNvCxnSpPr/>
            <p:nvPr/>
          </p:nvCxnSpPr>
          <p:spPr>
            <a:xfrm>
              <a:off x="9854726" y="1033163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13"/>
            <p:cNvCxnSpPr/>
            <p:nvPr/>
          </p:nvCxnSpPr>
          <p:spPr>
            <a:xfrm>
              <a:off x="9864251" y="1171275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9" name="Google Shape;1299;p13"/>
            <p:cNvCxnSpPr/>
            <p:nvPr/>
          </p:nvCxnSpPr>
          <p:spPr>
            <a:xfrm>
              <a:off x="9864251" y="1309388"/>
              <a:ext cx="690563" cy="4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00" name="Google Shape;1300;p13"/>
          <p:cNvSpPr/>
          <p:nvPr/>
        </p:nvSpPr>
        <p:spPr>
          <a:xfrm rot="-1710802">
            <a:off x="9544123" y="1270072"/>
            <a:ext cx="626354" cy="3838406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3"/>
          <p:cNvSpPr txBox="1"/>
          <p:nvPr/>
        </p:nvSpPr>
        <p:spPr>
          <a:xfrm rot="3706861">
            <a:off x="8640694" y="3103268"/>
            <a:ext cx="25504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end-end transport</a:t>
            </a:r>
            <a:endParaRPr/>
          </a:p>
        </p:txBody>
      </p:sp>
      <p:sp>
        <p:nvSpPr>
          <p:cNvPr id="1302" name="Google Shape;1302;p13"/>
          <p:cNvSpPr txBox="1"/>
          <p:nvPr/>
        </p:nvSpPr>
        <p:spPr>
          <a:xfrm>
            <a:off x="736738" y="1365914"/>
            <a:ext cx="6288757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Control Protocol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reliable, in-order delivery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control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control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 setup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Datagram Protocol</a:t>
            </a:r>
            <a:endParaRPr/>
          </a:p>
          <a:p>
            <a:pPr indent="-274638" lvl="1" marL="7477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unreliable, unordered delivery</a:t>
            </a:r>
            <a:endParaRPr/>
          </a:p>
          <a:p>
            <a:pPr indent="-274638" lvl="1" marL="7477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no-frills extension of “best-effort” IP</a:t>
            </a:r>
            <a:endParaRPr/>
          </a:p>
          <a:p>
            <a:pPr indent="-2222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not available: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delay guarantees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bandwidth guarantees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4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1309" name="Google Shape;1309;p14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Introduction: 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1310" name="Google Shape;1310;p14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311" name="Google Shape;131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2" name="Google Shape;1312;p14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313" name="Google Shape;1313;p14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314" name="Google Shape;1314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5" name="Google Shape;1315;p14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6" name="Google Shape;1316;p14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317" name="Google Shape;1317;p14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318" name="Google Shape;1318;p14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319" name="Google Shape;1319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0" name="Google Shape;1320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