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Tahom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8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CE9F55-292F-412B-B5C7-A6960DD71AE4}">
  <a:tblStyle styleId="{E8CE9F55-292F-412B-B5C7-A6960DD71A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80" orient="horz"/>
        <p:guide pos="7392"/>
        <p:guide pos="57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Tahoma-regular.fntdata"/><Relationship Id="rId14" Type="http://schemas.openxmlformats.org/officeDocument/2006/relationships/slide" Target="slides/slide8.xml"/><Relationship Id="rId16" Type="http://schemas.openxmlformats.org/officeDocument/2006/relationships/font" Target="fonts/Tahom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200"/>
              <a:buChar char="▪"/>
            </a:pPr>
            <a:r>
              <a:rPr lang="en-US" sz="3200"/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786960" y="4246880"/>
                <a:ext cx="97522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25500" y="1489243"/>
            <a:ext cx="10515600" cy="987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TCP, UDP: principal transport protocols for 40 years</a:t>
            </a:r>
            <a:endParaRPr sz="2600"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different “flavors” of TCP developed, for specific scenarios:</a:t>
            </a:r>
            <a:endParaRPr sz="2600"/>
          </a:p>
          <a:p>
            <a:pPr indent="0" lvl="1" marL="463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Evolving transport-layer functionality</a:t>
            </a:r>
            <a:endParaRPr b="0" sz="4400"/>
          </a:p>
        </p:txBody>
      </p:sp>
      <p:sp>
        <p:nvSpPr>
          <p:cNvPr id="49" name="Google Shape;49;p7"/>
          <p:cNvSpPr txBox="1"/>
          <p:nvPr/>
        </p:nvSpPr>
        <p:spPr>
          <a:xfrm>
            <a:off x="787400" y="4953000"/>
            <a:ext cx="105156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moving transport–layer functions to application layer, on top of UDP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HTTP/3: QUIC</a:t>
            </a:r>
            <a:endParaRPr/>
          </a:p>
        </p:txBody>
      </p:sp>
      <p:graphicFrame>
        <p:nvGraphicFramePr>
          <p:cNvPr id="50" name="Google Shape;50;p7"/>
          <p:cNvGraphicFramePr/>
          <p:nvPr/>
        </p:nvGraphicFramePr>
        <p:xfrm>
          <a:off x="2124074" y="25915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{E8CE9F55-292F-412B-B5C7-A6960DD71AE4}</a:tableStyleId>
              </a:tblPr>
              <a:tblGrid>
                <a:gridCol w="3451225"/>
                <a:gridCol w="447040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Challenges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Long, fat pipes (large data transfers)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Many packets “in flight”; loss shuts down pipeline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Wireless networks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 due to noisy wireless links, mobility; TCP treat this as congestion loss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Long-delay links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Extremely long RTTs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center networks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Latency sensitive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Background traffic flows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priority, “background” TCP flows 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" type="body"/>
          </p:nvPr>
        </p:nvSpPr>
        <p:spPr>
          <a:xfrm>
            <a:off x="838200" y="1540043"/>
            <a:ext cx="10515600" cy="1419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application-layer protocol, on top of UDP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increase performance of HTTP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deployed on many Google servers, apps (Chrome, mobile YouTube app) 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QUIC: Quick UDP Internet Connections</a:t>
            </a:r>
            <a:endParaRPr b="0" sz="4400"/>
          </a:p>
        </p:txBody>
      </p:sp>
      <p:grpSp>
        <p:nvGrpSpPr>
          <p:cNvPr id="58" name="Google Shape;58;p8"/>
          <p:cNvGrpSpPr/>
          <p:nvPr/>
        </p:nvGrpSpPr>
        <p:grpSpPr>
          <a:xfrm>
            <a:off x="2484036" y="3362958"/>
            <a:ext cx="6857901" cy="2748783"/>
            <a:chOff x="2217336" y="1877058"/>
            <a:chExt cx="6857901" cy="2748783"/>
          </a:xfrm>
        </p:grpSpPr>
        <p:sp>
          <p:nvSpPr>
            <p:cNvPr id="59" name="Google Shape;59;p8"/>
            <p:cNvSpPr/>
            <p:nvPr/>
          </p:nvSpPr>
          <p:spPr>
            <a:xfrm>
              <a:off x="3743058" y="3625405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 txBox="1"/>
            <p:nvPr/>
          </p:nvSpPr>
          <p:spPr>
            <a:xfrm>
              <a:off x="4518545" y="3668766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3744927" y="3054009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8"/>
            <p:cNvSpPr txBox="1"/>
            <p:nvPr/>
          </p:nvSpPr>
          <p:spPr>
            <a:xfrm>
              <a:off x="4434744" y="3100445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>
              <a:off x="3745776" y="247222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8"/>
            <p:cNvSpPr txBox="1"/>
            <p:nvPr/>
          </p:nvSpPr>
          <p:spPr>
            <a:xfrm>
              <a:off x="4435593" y="2518658"/>
              <a:ext cx="5002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TLS</a:t>
              </a:r>
              <a:endParaRPr/>
            </a:p>
          </p:txBody>
        </p:sp>
        <p:grpSp>
          <p:nvGrpSpPr>
            <p:cNvPr id="65" name="Google Shape;65;p8"/>
            <p:cNvGrpSpPr/>
            <p:nvPr/>
          </p:nvGrpSpPr>
          <p:grpSpPr>
            <a:xfrm>
              <a:off x="3743058" y="1887725"/>
              <a:ext cx="1905057" cy="455283"/>
              <a:chOff x="975444" y="4703759"/>
              <a:chExt cx="2128813" cy="498521"/>
            </a:xfrm>
          </p:grpSpPr>
          <p:sp>
            <p:nvSpPr>
              <p:cNvPr id="66" name="Google Shape;66;p8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8"/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HTTP/2</a:t>
                </a:r>
                <a:endParaRPr/>
              </a:p>
            </p:txBody>
          </p:sp>
        </p:grpSp>
        <p:sp>
          <p:nvSpPr>
            <p:cNvPr id="68" name="Google Shape;68;p8"/>
            <p:cNvSpPr/>
            <p:nvPr/>
          </p:nvSpPr>
          <p:spPr>
            <a:xfrm>
              <a:off x="6229839" y="3627880"/>
              <a:ext cx="1905057" cy="45527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8"/>
            <p:cNvSpPr txBox="1"/>
            <p:nvPr/>
          </p:nvSpPr>
          <p:spPr>
            <a:xfrm>
              <a:off x="7005326" y="3671238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6231708" y="3143406"/>
              <a:ext cx="1905057" cy="368352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8"/>
            <p:cNvSpPr txBox="1"/>
            <p:nvPr/>
          </p:nvSpPr>
          <p:spPr>
            <a:xfrm>
              <a:off x="6908533" y="3132142"/>
              <a:ext cx="595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UDP</a:t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6232557" y="2348686"/>
              <a:ext cx="1905057" cy="574888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8"/>
            <p:cNvSpPr txBox="1"/>
            <p:nvPr/>
          </p:nvSpPr>
          <p:spPr>
            <a:xfrm>
              <a:off x="6790903" y="2455138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QUIC</a:t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6229839" y="1877061"/>
              <a:ext cx="1905057" cy="39778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8"/>
            <p:cNvSpPr txBox="1"/>
            <p:nvPr/>
          </p:nvSpPr>
          <p:spPr>
            <a:xfrm>
              <a:off x="6351472" y="1877058"/>
              <a:ext cx="17676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(slimmed)</a:t>
              </a:r>
              <a:endParaRPr/>
            </a:p>
          </p:txBody>
        </p:sp>
        <p:cxnSp>
          <p:nvCxnSpPr>
            <p:cNvPr id="76" name="Google Shape;76;p8"/>
            <p:cNvCxnSpPr/>
            <p:nvPr/>
          </p:nvCxnSpPr>
          <p:spPr>
            <a:xfrm>
              <a:off x="3333329" y="3569813"/>
              <a:ext cx="5147262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8"/>
            <p:cNvCxnSpPr/>
            <p:nvPr/>
          </p:nvCxnSpPr>
          <p:spPr>
            <a:xfrm>
              <a:off x="3352451" y="2994658"/>
              <a:ext cx="5147262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78" name="Google Shape;78;p8"/>
            <p:cNvSpPr txBox="1"/>
            <p:nvPr/>
          </p:nvSpPr>
          <p:spPr>
            <a:xfrm>
              <a:off x="2349067" y="3671237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79" name="Google Shape;79;p8"/>
            <p:cNvSpPr txBox="1"/>
            <p:nvPr/>
          </p:nvSpPr>
          <p:spPr>
            <a:xfrm>
              <a:off x="2355238" y="3077264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  <p:sp>
          <p:nvSpPr>
            <p:cNvPr id="80" name="Google Shape;80;p8"/>
            <p:cNvSpPr txBox="1"/>
            <p:nvPr/>
          </p:nvSpPr>
          <p:spPr>
            <a:xfrm>
              <a:off x="2217336" y="2204824"/>
              <a:ext cx="1379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  <p:sp>
          <p:nvSpPr>
            <p:cNvPr id="81" name="Google Shape;81;p8"/>
            <p:cNvSpPr txBox="1"/>
            <p:nvPr/>
          </p:nvSpPr>
          <p:spPr>
            <a:xfrm>
              <a:off x="3887697" y="4256509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TCP</a:t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8194669" y="1877058"/>
              <a:ext cx="155448" cy="1050444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8"/>
            <p:cNvSpPr txBox="1"/>
            <p:nvPr/>
          </p:nvSpPr>
          <p:spPr>
            <a:xfrm>
              <a:off x="8175178" y="2220885"/>
              <a:ext cx="90005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HTTP/3</a:t>
              </a:r>
              <a:endParaRPr/>
            </a:p>
          </p:txBody>
        </p:sp>
        <p:sp>
          <p:nvSpPr>
            <p:cNvPr id="84" name="Google Shape;84;p8"/>
            <p:cNvSpPr txBox="1"/>
            <p:nvPr/>
          </p:nvSpPr>
          <p:spPr>
            <a:xfrm>
              <a:off x="6183312" y="4220148"/>
              <a:ext cx="28264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QUIC over UDP</a:t>
              </a:r>
              <a:endParaRPr/>
            </a:p>
          </p:txBody>
        </p:sp>
      </p:grpSp>
      <p:sp>
        <p:nvSpPr>
          <p:cNvPr id="85" name="Google Shape;85;p8"/>
          <p:cNvSpPr/>
          <p:nvPr/>
        </p:nvSpPr>
        <p:spPr>
          <a:xfrm>
            <a:off x="6134100" y="3060700"/>
            <a:ext cx="4940300" cy="34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QUIC: Quick UDP Internet Connections</a:t>
            </a:r>
            <a:endParaRPr b="0" sz="4400"/>
          </a:p>
        </p:txBody>
      </p:sp>
      <p:sp>
        <p:nvSpPr>
          <p:cNvPr id="92" name="Google Shape;92;p9"/>
          <p:cNvSpPr txBox="1"/>
          <p:nvPr/>
        </p:nvSpPr>
        <p:spPr>
          <a:xfrm>
            <a:off x="723900" y="1498601"/>
            <a:ext cx="10515600" cy="1028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adopts approaches we’ve studied in this chapter for connection establishment, error control, congestion control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 txBox="1"/>
          <p:nvPr>
            <p:ph idx="1" type="body"/>
          </p:nvPr>
        </p:nvSpPr>
        <p:spPr>
          <a:xfrm>
            <a:off x="806805" y="4750865"/>
            <a:ext cx="10651413" cy="1675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 multiple application-level “streams” multiplexed over single QUIC connection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separate reliable data transfer, security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common congestion control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4" name="Google Shape;94;p9"/>
          <p:cNvSpPr txBox="1"/>
          <p:nvPr/>
        </p:nvSpPr>
        <p:spPr>
          <a:xfrm>
            <a:off x="673100" y="2565401"/>
            <a:ext cx="10515600" cy="2095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error and congestion control: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“Readers familiar with TCP’s loss detection and congestion control will find algorithms here that parallel well-known TCP ones.”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[from QUIC specification]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connection establishment: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reliability, congestion control, authentication, encryption, state established in one RTT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QUIC: Connection establishment</a:t>
            </a:r>
            <a:endParaRPr b="0" sz="4400"/>
          </a:p>
        </p:txBody>
      </p:sp>
      <p:cxnSp>
        <p:nvCxnSpPr>
          <p:cNvPr id="101" name="Google Shape;101;p10"/>
          <p:cNvCxnSpPr/>
          <p:nvPr/>
        </p:nvCxnSpPr>
        <p:spPr>
          <a:xfrm>
            <a:off x="3068451" y="2380850"/>
            <a:ext cx="11746" cy="1766326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0"/>
          <p:cNvCxnSpPr/>
          <p:nvPr/>
        </p:nvCxnSpPr>
        <p:spPr>
          <a:xfrm flipH="1">
            <a:off x="4567707" y="2453875"/>
            <a:ext cx="29506" cy="1738377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0"/>
          <p:cNvCxnSpPr/>
          <p:nvPr/>
        </p:nvCxnSpPr>
        <p:spPr>
          <a:xfrm>
            <a:off x="3112900" y="2485625"/>
            <a:ext cx="1479550" cy="315913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0"/>
          <p:cNvSpPr txBox="1"/>
          <p:nvPr/>
        </p:nvSpPr>
        <p:spPr>
          <a:xfrm>
            <a:off x="1411272" y="2446164"/>
            <a:ext cx="16674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TCP handshake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(transport layer)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5" name="Google Shape;105;p10"/>
          <p:cNvGrpSpPr/>
          <p:nvPr/>
        </p:nvGrpSpPr>
        <p:grpSpPr>
          <a:xfrm>
            <a:off x="2596963" y="1844275"/>
            <a:ext cx="620713" cy="487363"/>
            <a:chOff x="-44" y="1473"/>
            <a:chExt cx="981" cy="1105"/>
          </a:xfrm>
        </p:grpSpPr>
        <p:pic>
          <p:nvPicPr>
            <p:cNvPr descr="desktop_computer_stylized_medium" id="106" name="Google Shape;10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8" name="Google Shape;108;p10"/>
          <p:cNvGrpSpPr/>
          <p:nvPr/>
        </p:nvGrpSpPr>
        <p:grpSpPr>
          <a:xfrm>
            <a:off x="4405125" y="1825225"/>
            <a:ext cx="336550" cy="512763"/>
            <a:chOff x="4140" y="429"/>
            <a:chExt cx="1425" cy="2396"/>
          </a:xfrm>
        </p:grpSpPr>
        <p:sp>
          <p:nvSpPr>
            <p:cNvPr id="109" name="Google Shape;109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4207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14" name="Google Shape;114;p10"/>
            <p:cNvGrpSpPr/>
            <p:nvPr/>
          </p:nvGrpSpPr>
          <p:grpSpPr>
            <a:xfrm>
              <a:off x="4751" y="666"/>
              <a:ext cx="578" cy="148"/>
              <a:chOff x="617" y="2566"/>
              <a:chExt cx="721" cy="142"/>
            </a:xfrm>
          </p:grpSpPr>
          <p:sp>
            <p:nvSpPr>
              <p:cNvPr id="115" name="Google Shape;115;p10"/>
              <p:cNvSpPr/>
              <p:nvPr/>
            </p:nvSpPr>
            <p:spPr>
              <a:xfrm>
                <a:off x="617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6" name="Google Shape;116;p10"/>
              <p:cNvSpPr/>
              <p:nvPr/>
            </p:nvSpPr>
            <p:spPr>
              <a:xfrm>
                <a:off x="634" y="2581"/>
                <a:ext cx="688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17" name="Google Shape;117;p10"/>
            <p:cNvSpPr/>
            <p:nvPr/>
          </p:nvSpPr>
          <p:spPr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18" name="Google Shape;118;p10"/>
            <p:cNvGrpSpPr/>
            <p:nvPr/>
          </p:nvGrpSpPr>
          <p:grpSpPr>
            <a:xfrm>
              <a:off x="4745" y="993"/>
              <a:ext cx="585" cy="134"/>
              <a:chOff x="611" y="2567"/>
              <a:chExt cx="730" cy="139"/>
            </a:xfrm>
          </p:grpSpPr>
          <p:sp>
            <p:nvSpPr>
              <p:cNvPr id="119" name="Google Shape;119;p10"/>
              <p:cNvSpPr/>
              <p:nvPr/>
            </p:nvSpPr>
            <p:spPr>
              <a:xfrm>
                <a:off x="611" y="2567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0" name="Google Shape;120;p10"/>
              <p:cNvSpPr/>
              <p:nvPr/>
            </p:nvSpPr>
            <p:spPr>
              <a:xfrm>
                <a:off x="628" y="2582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1" name="Google Shape;121;p10"/>
            <p:cNvSpPr/>
            <p:nvPr/>
          </p:nvSpPr>
          <p:spPr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2" name="Google Shape;122;p10"/>
            <p:cNvSpPr/>
            <p:nvPr/>
          </p:nvSpPr>
          <p:spPr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3" name="Google Shape;123;p10"/>
            <p:cNvGrpSpPr/>
            <p:nvPr/>
          </p:nvGrpSpPr>
          <p:grpSpPr>
            <a:xfrm>
              <a:off x="4738" y="1630"/>
              <a:ext cx="578" cy="149"/>
              <a:chOff x="618" y="2571"/>
              <a:chExt cx="720" cy="137"/>
            </a:xfrm>
          </p:grpSpPr>
          <p:sp>
            <p:nvSpPr>
              <p:cNvPr id="124" name="Google Shape;124;p10"/>
              <p:cNvSpPr/>
              <p:nvPr/>
            </p:nvSpPr>
            <p:spPr>
              <a:xfrm>
                <a:off x="618" y="2571"/>
                <a:ext cx="720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5" name="Google Shape;125;p10"/>
              <p:cNvSpPr/>
              <p:nvPr/>
            </p:nvSpPr>
            <p:spPr>
              <a:xfrm>
                <a:off x="635" y="2585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6" name="Google Shape;126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7" name="Google Shape;127;p10"/>
            <p:cNvGrpSpPr/>
            <p:nvPr/>
          </p:nvGrpSpPr>
          <p:grpSpPr>
            <a:xfrm>
              <a:off x="4738" y="1327"/>
              <a:ext cx="584" cy="141"/>
              <a:chOff x="613" y="2568"/>
              <a:chExt cx="728" cy="141"/>
            </a:xfrm>
          </p:grpSpPr>
          <p:sp>
            <p:nvSpPr>
              <p:cNvPr id="128" name="Google Shape;128;p10"/>
              <p:cNvSpPr/>
              <p:nvPr/>
            </p:nvSpPr>
            <p:spPr>
              <a:xfrm>
                <a:off x="613" y="2568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9" name="Google Shape;129;p10"/>
              <p:cNvSpPr/>
              <p:nvPr/>
            </p:nvSpPr>
            <p:spPr>
              <a:xfrm>
                <a:off x="630" y="2582"/>
                <a:ext cx="69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0" name="Google Shape;130;p10"/>
            <p:cNvSpPr/>
            <p:nvPr/>
          </p:nvSpPr>
          <p:spPr>
            <a:xfrm>
              <a:off x="5249" y="429"/>
              <a:ext cx="67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" name="Google Shape;133;p10"/>
            <p:cNvSpPr/>
            <p:nvPr/>
          </p:nvSpPr>
          <p:spPr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4140" y="2677"/>
              <a:ext cx="1196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4207" y="2714"/>
              <a:ext cx="1069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7" name="Google Shape;137;p10"/>
            <p:cNvSpPr/>
            <p:nvPr/>
          </p:nvSpPr>
          <p:spPr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8" name="Google Shape;138;p10"/>
            <p:cNvSpPr/>
            <p:nvPr/>
          </p:nvSpPr>
          <p:spPr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0"/>
            <p:cNvSpPr/>
            <p:nvPr/>
          </p:nvSpPr>
          <p:spPr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0" name="Google Shape;140;p10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41" name="Google Shape;141;p10"/>
          <p:cNvCxnSpPr/>
          <p:nvPr/>
        </p:nvCxnSpPr>
        <p:spPr>
          <a:xfrm flipH="1">
            <a:off x="3079562" y="2852337"/>
            <a:ext cx="1479550" cy="315913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0"/>
          <p:cNvCxnSpPr/>
          <p:nvPr/>
        </p:nvCxnSpPr>
        <p:spPr>
          <a:xfrm>
            <a:off x="3091128" y="3182311"/>
            <a:ext cx="1479550" cy="315913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0"/>
          <p:cNvSpPr txBox="1"/>
          <p:nvPr/>
        </p:nvSpPr>
        <p:spPr>
          <a:xfrm>
            <a:off x="1457504" y="3320650"/>
            <a:ext cx="15568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TLS handshake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(security)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44" name="Google Shape;144;p10"/>
          <p:cNvCxnSpPr/>
          <p:nvPr/>
        </p:nvCxnSpPr>
        <p:spPr>
          <a:xfrm flipH="1">
            <a:off x="3057790" y="3549023"/>
            <a:ext cx="1479550" cy="315913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10"/>
          <p:cNvSpPr txBox="1"/>
          <p:nvPr/>
        </p:nvSpPr>
        <p:spPr>
          <a:xfrm>
            <a:off x="1198561" y="4421354"/>
            <a:ext cx="4452939" cy="2093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(reliability, congestion control state)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 TLS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(authentication, crypto state)</a:t>
            </a:r>
            <a:endParaRPr/>
          </a:p>
          <a:p>
            <a:pPr indent="-215900" lvl="0" marL="508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serial handshakes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0"/>
          <p:cNvCxnSpPr/>
          <p:nvPr/>
        </p:nvCxnSpPr>
        <p:spPr>
          <a:xfrm>
            <a:off x="3087500" y="3908025"/>
            <a:ext cx="1479550" cy="3159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10"/>
          <p:cNvSpPr txBox="1"/>
          <p:nvPr/>
        </p:nvSpPr>
        <p:spPr>
          <a:xfrm>
            <a:off x="3505200" y="3860800"/>
            <a:ext cx="599716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grpSp>
        <p:nvGrpSpPr>
          <p:cNvPr id="148" name="Google Shape;148;p10"/>
          <p:cNvGrpSpPr/>
          <p:nvPr/>
        </p:nvGrpSpPr>
        <p:grpSpPr>
          <a:xfrm>
            <a:off x="6354761" y="1850625"/>
            <a:ext cx="5087939" cy="4753374"/>
            <a:chOff x="6354761" y="1850625"/>
            <a:chExt cx="5087939" cy="4753374"/>
          </a:xfrm>
        </p:grpSpPr>
        <p:cxnSp>
          <p:nvCxnSpPr>
            <p:cNvPr id="149" name="Google Shape;149;p10"/>
            <p:cNvCxnSpPr/>
            <p:nvPr/>
          </p:nvCxnSpPr>
          <p:spPr>
            <a:xfrm>
              <a:off x="8046851" y="2406250"/>
              <a:ext cx="11746" cy="1766326"/>
            </a:xfrm>
            <a:prstGeom prst="straightConnector1">
              <a:avLst/>
            </a:prstGeom>
            <a:noFill/>
            <a:ln cap="flat" cmpd="sng" w="9525">
              <a:solidFill>
                <a:srgbClr val="77777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0"/>
            <p:cNvCxnSpPr/>
            <p:nvPr/>
          </p:nvCxnSpPr>
          <p:spPr>
            <a:xfrm flipH="1">
              <a:off x="9546107" y="2479275"/>
              <a:ext cx="29506" cy="1738377"/>
            </a:xfrm>
            <a:prstGeom prst="straightConnector1">
              <a:avLst/>
            </a:prstGeom>
            <a:noFill/>
            <a:ln cap="flat" cmpd="sng" w="9525">
              <a:solidFill>
                <a:srgbClr val="77777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0"/>
            <p:cNvCxnSpPr/>
            <p:nvPr/>
          </p:nvCxnSpPr>
          <p:spPr>
            <a:xfrm>
              <a:off x="8091300" y="2511025"/>
              <a:ext cx="1479550" cy="315913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2" name="Google Shape;152;p10"/>
            <p:cNvSpPr txBox="1"/>
            <p:nvPr/>
          </p:nvSpPr>
          <p:spPr>
            <a:xfrm>
              <a:off x="6385541" y="2649364"/>
              <a:ext cx="17011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QUIC handshake</a:t>
              </a:r>
              <a:endParaRPr/>
            </a:p>
          </p:txBody>
        </p:sp>
        <p:grpSp>
          <p:nvGrpSpPr>
            <p:cNvPr id="153" name="Google Shape;153;p10"/>
            <p:cNvGrpSpPr/>
            <p:nvPr/>
          </p:nvGrpSpPr>
          <p:grpSpPr>
            <a:xfrm>
              <a:off x="7575363" y="1869675"/>
              <a:ext cx="620713" cy="487363"/>
              <a:chOff x="-44" y="1473"/>
              <a:chExt cx="981" cy="1105"/>
            </a:xfrm>
          </p:grpSpPr>
          <p:pic>
            <p:nvPicPr>
              <p:cNvPr descr="desktop_computer_stylized_medium" id="154" name="Google Shape;154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1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56" name="Google Shape;156;p10"/>
            <p:cNvGrpSpPr/>
            <p:nvPr/>
          </p:nvGrpSpPr>
          <p:grpSpPr>
            <a:xfrm>
              <a:off x="9383525" y="1850625"/>
              <a:ext cx="336550" cy="512763"/>
              <a:chOff x="4140" y="429"/>
              <a:chExt cx="1425" cy="2396"/>
            </a:xfrm>
          </p:grpSpPr>
          <p:sp>
            <p:nvSpPr>
              <p:cNvPr id="157" name="Google Shape;157;p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8" name="Google Shape;158;p10"/>
              <p:cNvSpPr/>
              <p:nvPr/>
            </p:nvSpPr>
            <p:spPr>
              <a:xfrm>
                <a:off x="4207" y="429"/>
                <a:ext cx="1049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9" name="Google Shape;159;p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0" name="Google Shape;160;p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1" name="Google Shape;161;p10"/>
              <p:cNvSpPr/>
              <p:nvPr/>
            </p:nvSpPr>
            <p:spPr>
              <a:xfrm>
                <a:off x="4214" y="696"/>
                <a:ext cx="592" cy="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62" name="Google Shape;162;p10"/>
              <p:cNvGrpSpPr/>
              <p:nvPr/>
            </p:nvGrpSpPr>
            <p:grpSpPr>
              <a:xfrm>
                <a:off x="4751" y="666"/>
                <a:ext cx="578" cy="148"/>
                <a:chOff x="617" y="2566"/>
                <a:chExt cx="721" cy="142"/>
              </a:xfrm>
            </p:grpSpPr>
            <p:sp>
              <p:nvSpPr>
                <p:cNvPr id="163" name="Google Shape;163;p10"/>
                <p:cNvSpPr/>
                <p:nvPr/>
              </p:nvSpPr>
              <p:spPr>
                <a:xfrm>
                  <a:off x="617" y="2566"/>
                  <a:ext cx="721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64" name="Google Shape;164;p10"/>
                <p:cNvSpPr/>
                <p:nvPr/>
              </p:nvSpPr>
              <p:spPr>
                <a:xfrm>
                  <a:off x="634" y="2581"/>
                  <a:ext cx="688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65" name="Google Shape;165;p10"/>
              <p:cNvSpPr/>
              <p:nvPr/>
            </p:nvSpPr>
            <p:spPr>
              <a:xfrm>
                <a:off x="4221" y="1022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66" name="Google Shape;166;p10"/>
              <p:cNvGrpSpPr/>
              <p:nvPr/>
            </p:nvGrpSpPr>
            <p:grpSpPr>
              <a:xfrm>
                <a:off x="4745" y="993"/>
                <a:ext cx="585" cy="134"/>
                <a:chOff x="611" y="2567"/>
                <a:chExt cx="730" cy="139"/>
              </a:xfrm>
            </p:grpSpPr>
            <p:sp>
              <p:nvSpPr>
                <p:cNvPr id="167" name="Google Shape;167;p10"/>
                <p:cNvSpPr/>
                <p:nvPr/>
              </p:nvSpPr>
              <p:spPr>
                <a:xfrm>
                  <a:off x="611" y="2567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68" name="Google Shape;168;p10"/>
                <p:cNvSpPr/>
                <p:nvPr/>
              </p:nvSpPr>
              <p:spPr>
                <a:xfrm>
                  <a:off x="628" y="2582"/>
                  <a:ext cx="696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69" name="Google Shape;169;p10"/>
              <p:cNvSpPr/>
              <p:nvPr/>
            </p:nvSpPr>
            <p:spPr>
              <a:xfrm>
                <a:off x="4214" y="1356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227" y="1653"/>
                <a:ext cx="598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71" name="Google Shape;171;p10"/>
              <p:cNvGrpSpPr/>
              <p:nvPr/>
            </p:nvGrpSpPr>
            <p:grpSpPr>
              <a:xfrm>
                <a:off x="4738" y="1630"/>
                <a:ext cx="578" cy="149"/>
                <a:chOff x="618" y="2571"/>
                <a:chExt cx="720" cy="137"/>
              </a:xfrm>
            </p:grpSpPr>
            <p:sp>
              <p:nvSpPr>
                <p:cNvPr id="172" name="Google Shape;172;p10"/>
                <p:cNvSpPr/>
                <p:nvPr/>
              </p:nvSpPr>
              <p:spPr>
                <a:xfrm>
                  <a:off x="618" y="2571"/>
                  <a:ext cx="720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73" name="Google Shape;173;p10"/>
                <p:cNvSpPr/>
                <p:nvPr/>
              </p:nvSpPr>
              <p:spPr>
                <a:xfrm>
                  <a:off x="635" y="2585"/>
                  <a:ext cx="687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74" name="Google Shape;174;p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75" name="Google Shape;175;p10"/>
              <p:cNvGrpSpPr/>
              <p:nvPr/>
            </p:nvGrpSpPr>
            <p:grpSpPr>
              <a:xfrm>
                <a:off x="4738" y="1327"/>
                <a:ext cx="584" cy="141"/>
                <a:chOff x="613" y="2568"/>
                <a:chExt cx="728" cy="141"/>
              </a:xfrm>
            </p:grpSpPr>
            <p:sp>
              <p:nvSpPr>
                <p:cNvPr id="176" name="Google Shape;176;p10"/>
                <p:cNvSpPr/>
                <p:nvPr/>
              </p:nvSpPr>
              <p:spPr>
                <a:xfrm>
                  <a:off x="613" y="2568"/>
                  <a:ext cx="728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77" name="Google Shape;177;p10"/>
                <p:cNvSpPr/>
                <p:nvPr/>
              </p:nvSpPr>
              <p:spPr>
                <a:xfrm>
                  <a:off x="630" y="2582"/>
                  <a:ext cx="695" cy="11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78" name="Google Shape;178;p10"/>
              <p:cNvSpPr/>
              <p:nvPr/>
            </p:nvSpPr>
            <p:spPr>
              <a:xfrm>
                <a:off x="5249" y="429"/>
                <a:ext cx="67" cy="2292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0" name="Google Shape;180;p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1" name="Google Shape;181;p10"/>
              <p:cNvSpPr/>
              <p:nvPr/>
            </p:nvSpPr>
            <p:spPr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2" name="Google Shape;182;p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3" name="Google Shape;183;p10"/>
              <p:cNvSpPr/>
              <p:nvPr/>
            </p:nvSpPr>
            <p:spPr>
              <a:xfrm>
                <a:off x="4140" y="2677"/>
                <a:ext cx="1196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4" name="Google Shape;184;p10"/>
              <p:cNvSpPr/>
              <p:nvPr/>
            </p:nvSpPr>
            <p:spPr>
              <a:xfrm>
                <a:off x="4207" y="2714"/>
                <a:ext cx="1069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5" name="Google Shape;185;p10"/>
              <p:cNvSpPr/>
              <p:nvPr/>
            </p:nvSpPr>
            <p:spPr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6" name="Google Shape;186;p10"/>
              <p:cNvSpPr/>
              <p:nvPr/>
            </p:nvSpPr>
            <p:spPr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0"/>
              <p:cNvSpPr/>
              <p:nvPr/>
            </p:nvSpPr>
            <p:spPr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8" name="Google Shape;188;p10"/>
              <p:cNvSpPr/>
              <p:nvPr/>
            </p:nvSpPr>
            <p:spPr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cxnSp>
          <p:nvCxnSpPr>
            <p:cNvPr id="189" name="Google Shape;189;p10"/>
            <p:cNvCxnSpPr/>
            <p:nvPr/>
          </p:nvCxnSpPr>
          <p:spPr>
            <a:xfrm flipH="1">
              <a:off x="8057962" y="2877737"/>
              <a:ext cx="1479550" cy="315913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" name="Google Shape;190;p10"/>
            <p:cNvCxnSpPr/>
            <p:nvPr/>
          </p:nvCxnSpPr>
          <p:spPr>
            <a:xfrm>
              <a:off x="8078600" y="3222225"/>
              <a:ext cx="1479550" cy="31591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" name="Google Shape;191;p10"/>
            <p:cNvSpPr txBox="1"/>
            <p:nvPr/>
          </p:nvSpPr>
          <p:spPr>
            <a:xfrm>
              <a:off x="8496300" y="3175000"/>
              <a:ext cx="599716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92" name="Google Shape;192;p10"/>
            <p:cNvSpPr txBox="1"/>
            <p:nvPr/>
          </p:nvSpPr>
          <p:spPr>
            <a:xfrm>
              <a:off x="6354761" y="4510254"/>
              <a:ext cx="5087939" cy="2093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QUIC: 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reliability, congestion control, authentication, crypto state</a:t>
              </a:r>
              <a:endParaRPr/>
            </a:p>
            <a:p>
              <a:pPr indent="-228600" lvl="0" marL="508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handshake</a:t>
              </a:r>
              <a:endParaRPr/>
            </a:p>
            <a:p>
              <a:pPr indent="0" lvl="0" marL="1301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QUIC: streams: parallelism, no HOL blocking</a:t>
            </a:r>
            <a:endParaRPr b="0" sz="4400"/>
          </a:p>
        </p:txBody>
      </p:sp>
      <p:sp>
        <p:nvSpPr>
          <p:cNvPr id="199" name="Google Shape;199;p11"/>
          <p:cNvSpPr txBox="1"/>
          <p:nvPr/>
        </p:nvSpPr>
        <p:spPr>
          <a:xfrm>
            <a:off x="2543977" y="6035783"/>
            <a:ext cx="1447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 HTTP 1.1</a:t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1054261" y="1578653"/>
            <a:ext cx="1965566" cy="217520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36173" y="4019150"/>
            <a:ext cx="1965566" cy="1278547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1115624" y="3255550"/>
            <a:ext cx="1829965" cy="44915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1249008" y="3237350"/>
            <a:ext cx="15760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11"/>
          <p:cNvGrpSpPr/>
          <p:nvPr/>
        </p:nvGrpSpPr>
        <p:grpSpPr>
          <a:xfrm>
            <a:off x="1115626" y="4169906"/>
            <a:ext cx="1829965" cy="467357"/>
            <a:chOff x="985206" y="5016160"/>
            <a:chExt cx="1509130" cy="255065"/>
          </a:xfrm>
        </p:grpSpPr>
        <p:sp>
          <p:nvSpPr>
            <p:cNvPr id="205" name="Google Shape;205;p11"/>
            <p:cNvSpPr/>
            <p:nvPr/>
          </p:nvSpPr>
          <p:spPr>
            <a:xfrm>
              <a:off x="985206" y="5016160"/>
              <a:ext cx="1509130" cy="245132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1"/>
            <p:cNvSpPr txBox="1"/>
            <p:nvPr/>
          </p:nvSpPr>
          <p:spPr>
            <a:xfrm>
              <a:off x="1170162" y="5019266"/>
              <a:ext cx="1016851" cy="2519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 RDT</a:t>
              </a:r>
              <a:endParaRPr/>
            </a:p>
          </p:txBody>
        </p:sp>
      </p:grpSp>
      <p:grpSp>
        <p:nvGrpSpPr>
          <p:cNvPr id="207" name="Google Shape;207;p11"/>
          <p:cNvGrpSpPr/>
          <p:nvPr/>
        </p:nvGrpSpPr>
        <p:grpSpPr>
          <a:xfrm>
            <a:off x="1054260" y="4684687"/>
            <a:ext cx="1925319" cy="467355"/>
            <a:chOff x="948938" y="5006227"/>
            <a:chExt cx="1587767" cy="255065"/>
          </a:xfrm>
        </p:grpSpPr>
        <p:sp>
          <p:nvSpPr>
            <p:cNvPr id="208" name="Google Shape;208;p11"/>
            <p:cNvSpPr/>
            <p:nvPr/>
          </p:nvSpPr>
          <p:spPr>
            <a:xfrm>
              <a:off x="985206" y="5016160"/>
              <a:ext cx="1509130" cy="245132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1"/>
            <p:cNvSpPr txBox="1"/>
            <p:nvPr/>
          </p:nvSpPr>
          <p:spPr>
            <a:xfrm>
              <a:off x="948938" y="5006227"/>
              <a:ext cx="1587767" cy="251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Cong. Contr.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1"/>
          <p:cNvSpPr/>
          <p:nvPr/>
        </p:nvSpPr>
        <p:spPr>
          <a:xfrm>
            <a:off x="3680782" y="1557642"/>
            <a:ext cx="1965566" cy="217520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 rot="-5400000">
            <a:off x="-420574" y="4419208"/>
            <a:ext cx="1533142" cy="396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 rot="-5400000">
            <a:off x="-463312" y="2467817"/>
            <a:ext cx="1779056" cy="396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</p:txBody>
      </p:sp>
      <p:cxnSp>
        <p:nvCxnSpPr>
          <p:cNvPr id="213" name="Google Shape;213;p11"/>
          <p:cNvCxnSpPr/>
          <p:nvPr/>
        </p:nvCxnSpPr>
        <p:spPr>
          <a:xfrm>
            <a:off x="1044294" y="3866601"/>
            <a:ext cx="4501961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4" name="Google Shape;214;p11"/>
          <p:cNvSpPr txBox="1"/>
          <p:nvPr/>
        </p:nvSpPr>
        <p:spPr>
          <a:xfrm>
            <a:off x="6775422" y="6025510"/>
            <a:ext cx="424186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(b) HTTP/2 with QUIC: no HOL blocking</a:t>
            </a:r>
            <a:endParaRPr/>
          </a:p>
        </p:txBody>
      </p:sp>
      <p:grpSp>
        <p:nvGrpSpPr>
          <p:cNvPr id="215" name="Google Shape;215;p11"/>
          <p:cNvGrpSpPr/>
          <p:nvPr/>
        </p:nvGrpSpPr>
        <p:grpSpPr>
          <a:xfrm>
            <a:off x="3654226" y="4021737"/>
            <a:ext cx="1965566" cy="1278547"/>
            <a:chOff x="3654226" y="3933249"/>
            <a:chExt cx="1965566" cy="1278547"/>
          </a:xfrm>
        </p:grpSpPr>
        <p:sp>
          <p:nvSpPr>
            <p:cNvPr id="216" name="Google Shape;216;p11"/>
            <p:cNvSpPr/>
            <p:nvPr/>
          </p:nvSpPr>
          <p:spPr>
            <a:xfrm>
              <a:off x="3654226" y="3933249"/>
              <a:ext cx="1965566" cy="1278547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7" name="Google Shape;217;p11"/>
            <p:cNvGrpSpPr/>
            <p:nvPr/>
          </p:nvGrpSpPr>
          <p:grpSpPr>
            <a:xfrm>
              <a:off x="3733679" y="4084005"/>
              <a:ext cx="1829965" cy="467357"/>
              <a:chOff x="985206" y="5016160"/>
              <a:chExt cx="1509130" cy="255065"/>
            </a:xfrm>
          </p:grpSpPr>
          <p:sp>
            <p:nvSpPr>
              <p:cNvPr id="218" name="Google Shape;218;p11"/>
              <p:cNvSpPr/>
              <p:nvPr/>
            </p:nvSpPr>
            <p:spPr>
              <a:xfrm>
                <a:off x="985206" y="5016160"/>
                <a:ext cx="1509130" cy="245132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1"/>
              <p:cNvSpPr txBox="1"/>
              <p:nvPr/>
            </p:nvSpPr>
            <p:spPr>
              <a:xfrm>
                <a:off x="1170162" y="5019266"/>
                <a:ext cx="1016851" cy="2519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 RDT</a:t>
                </a:r>
                <a:endParaRPr/>
              </a:p>
            </p:txBody>
          </p:sp>
        </p:grpSp>
        <p:grpSp>
          <p:nvGrpSpPr>
            <p:cNvPr id="220" name="Google Shape;220;p11"/>
            <p:cNvGrpSpPr/>
            <p:nvPr/>
          </p:nvGrpSpPr>
          <p:grpSpPr>
            <a:xfrm>
              <a:off x="3672313" y="4598786"/>
              <a:ext cx="1925319" cy="467355"/>
              <a:chOff x="948938" y="5006227"/>
              <a:chExt cx="1587767" cy="255065"/>
            </a:xfrm>
          </p:grpSpPr>
          <p:sp>
            <p:nvSpPr>
              <p:cNvPr id="221" name="Google Shape;221;p11"/>
              <p:cNvSpPr/>
              <p:nvPr/>
            </p:nvSpPr>
            <p:spPr>
              <a:xfrm>
                <a:off x="985206" y="5016160"/>
                <a:ext cx="1509130" cy="245132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1"/>
              <p:cNvSpPr txBox="1"/>
              <p:nvPr/>
            </p:nvSpPr>
            <p:spPr>
              <a:xfrm>
                <a:off x="948938" y="5006227"/>
                <a:ext cx="1587767" cy="251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 </a:t>
                </a: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Cong. Contr.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3" name="Google Shape;223;p11"/>
          <p:cNvSpPr/>
          <p:nvPr/>
        </p:nvSpPr>
        <p:spPr>
          <a:xfrm>
            <a:off x="3822817" y="3261240"/>
            <a:ext cx="1829965" cy="44915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3948827" y="3243040"/>
            <a:ext cx="15760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2308647" y="2654627"/>
            <a:ext cx="1710813" cy="2824317"/>
          </a:xfrm>
          <a:custGeom>
            <a:rect b="b" l="l" r="r" t="t"/>
            <a:pathLst>
              <a:path extrusionOk="0" h="2824317" w="1710813">
                <a:moveTo>
                  <a:pt x="0" y="376084"/>
                </a:moveTo>
                <a:lnTo>
                  <a:pt x="0" y="2824317"/>
                </a:lnTo>
                <a:lnTo>
                  <a:pt x="95865" y="2824317"/>
                </a:lnTo>
                <a:lnTo>
                  <a:pt x="1710813" y="2824317"/>
                </a:lnTo>
                <a:lnTo>
                  <a:pt x="1710813" y="2676833"/>
                </a:lnTo>
                <a:lnTo>
                  <a:pt x="1710813" y="0"/>
                </a:lnTo>
              </a:path>
            </a:pathLst>
          </a:custGeom>
          <a:noFill/>
          <a:ln cap="flat" cmpd="sng" w="25400">
            <a:solidFill>
              <a:srgbClr val="0000A3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1947618" y="2410857"/>
            <a:ext cx="2329488" cy="3142699"/>
          </a:xfrm>
          <a:custGeom>
            <a:rect b="b" l="l" r="r" t="t"/>
            <a:pathLst>
              <a:path extrusionOk="0" h="2831690" w="2455606">
                <a:moveTo>
                  <a:pt x="0" y="0"/>
                </a:moveTo>
                <a:lnTo>
                  <a:pt x="0" y="2831690"/>
                </a:lnTo>
                <a:lnTo>
                  <a:pt x="88490" y="2831690"/>
                </a:lnTo>
                <a:lnTo>
                  <a:pt x="2455606" y="2831690"/>
                </a:lnTo>
                <a:lnTo>
                  <a:pt x="2455606" y="1755057"/>
                </a:lnTo>
              </a:path>
            </a:pathLst>
          </a:custGeom>
          <a:noFill/>
          <a:ln cap="flat" cmpd="sng" w="25400">
            <a:solidFill>
              <a:srgbClr val="0000A3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2120129" y="4420139"/>
            <a:ext cx="2284794" cy="1091381"/>
          </a:xfrm>
          <a:custGeom>
            <a:rect b="b" l="l" r="r" t="t"/>
            <a:pathLst>
              <a:path extrusionOk="0" h="1091381" w="2558845">
                <a:moveTo>
                  <a:pt x="2558845" y="0"/>
                </a:moveTo>
                <a:lnTo>
                  <a:pt x="2558845" y="1091381"/>
                </a:lnTo>
                <a:lnTo>
                  <a:pt x="2485103" y="1091381"/>
                </a:lnTo>
                <a:lnTo>
                  <a:pt x="0" y="1091381"/>
                </a:lnTo>
                <a:lnTo>
                  <a:pt x="0" y="582562"/>
                </a:lnTo>
                <a:lnTo>
                  <a:pt x="0" y="14749"/>
                </a:lnTo>
              </a:path>
            </a:pathLst>
          </a:custGeom>
          <a:noFill/>
          <a:ln cap="flat" cmpd="sng" w="25400">
            <a:solidFill>
              <a:srgbClr val="31538F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4018781" y="4262676"/>
            <a:ext cx="638441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error!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2162632" y="2535607"/>
            <a:ext cx="2345388" cy="3023419"/>
          </a:xfrm>
          <a:custGeom>
            <a:rect b="b" l="l" r="r" t="t"/>
            <a:pathLst>
              <a:path extrusionOk="0" h="3023419" w="2573594">
                <a:moveTo>
                  <a:pt x="0" y="1976284"/>
                </a:moveTo>
                <a:lnTo>
                  <a:pt x="0" y="3023419"/>
                </a:lnTo>
                <a:lnTo>
                  <a:pt x="2573594" y="3023419"/>
                </a:lnTo>
                <a:lnTo>
                  <a:pt x="2573594" y="0"/>
                </a:lnTo>
              </a:path>
            </a:pathLst>
          </a:custGeom>
          <a:noFill/>
          <a:ln cap="flat" cmpd="sng" w="25400">
            <a:solidFill>
              <a:srgbClr val="0000A3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714500" y="2240280"/>
            <a:ext cx="3188970" cy="3314700"/>
          </a:xfrm>
          <a:custGeom>
            <a:rect b="b" l="l" r="r" t="t"/>
            <a:pathLst>
              <a:path extrusionOk="0" h="3314700" w="3188970">
                <a:moveTo>
                  <a:pt x="0" y="0"/>
                </a:moveTo>
                <a:lnTo>
                  <a:pt x="0" y="3314700"/>
                </a:lnTo>
                <a:lnTo>
                  <a:pt x="3188970" y="3314700"/>
                </a:lnTo>
                <a:lnTo>
                  <a:pt x="3188970" y="11430"/>
                </a:lnTo>
                <a:lnTo>
                  <a:pt x="3188970" y="11430"/>
                </a:lnTo>
              </a:path>
            </a:pathLst>
          </a:custGeom>
          <a:noFill/>
          <a:ln cap="flat" cmpd="sng" w="25400">
            <a:solidFill>
              <a:srgbClr val="0000A3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" name="Google Shape;231;p11"/>
          <p:cNvGrpSpPr/>
          <p:nvPr/>
        </p:nvGrpSpPr>
        <p:grpSpPr>
          <a:xfrm>
            <a:off x="1247868" y="1815620"/>
            <a:ext cx="1028924" cy="463979"/>
            <a:chOff x="1247868" y="1815620"/>
            <a:chExt cx="1028924" cy="463979"/>
          </a:xfrm>
        </p:grpSpPr>
        <p:sp>
          <p:nvSpPr>
            <p:cNvPr id="232" name="Google Shape;232;p11"/>
            <p:cNvSpPr/>
            <p:nvPr/>
          </p:nvSpPr>
          <p:spPr>
            <a:xfrm>
              <a:off x="1428787" y="1815620"/>
              <a:ext cx="686928" cy="43999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 txBox="1"/>
            <p:nvPr/>
          </p:nvSpPr>
          <p:spPr>
            <a:xfrm>
              <a:off x="1247868" y="1838324"/>
              <a:ext cx="1028924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 </a:t>
              </a:r>
              <a:endParaRPr/>
            </a:p>
          </p:txBody>
        </p:sp>
      </p:grpSp>
      <p:grpSp>
        <p:nvGrpSpPr>
          <p:cNvPr id="234" name="Google Shape;234;p11"/>
          <p:cNvGrpSpPr/>
          <p:nvPr/>
        </p:nvGrpSpPr>
        <p:grpSpPr>
          <a:xfrm>
            <a:off x="1510481" y="2208954"/>
            <a:ext cx="1028924" cy="463979"/>
            <a:chOff x="1549462" y="2216434"/>
            <a:chExt cx="1028924" cy="463979"/>
          </a:xfrm>
        </p:grpSpPr>
        <p:sp>
          <p:nvSpPr>
            <p:cNvPr id="235" name="Google Shape;235;p11"/>
            <p:cNvSpPr/>
            <p:nvPr/>
          </p:nvSpPr>
          <p:spPr>
            <a:xfrm>
              <a:off x="1709684" y="2216434"/>
              <a:ext cx="686928" cy="43999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1"/>
            <p:cNvSpPr txBox="1"/>
            <p:nvPr/>
          </p:nvSpPr>
          <p:spPr>
            <a:xfrm>
              <a:off x="1549462" y="2239138"/>
              <a:ext cx="1028924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 </a:t>
              </a:r>
              <a:endParaRPr/>
            </a:p>
          </p:txBody>
        </p:sp>
      </p:grpSp>
      <p:grpSp>
        <p:nvGrpSpPr>
          <p:cNvPr id="237" name="Google Shape;237;p11"/>
          <p:cNvGrpSpPr/>
          <p:nvPr/>
        </p:nvGrpSpPr>
        <p:grpSpPr>
          <a:xfrm>
            <a:off x="5386202" y="1360556"/>
            <a:ext cx="310294" cy="628857"/>
            <a:chOff x="4140" y="429"/>
            <a:chExt cx="1425" cy="2396"/>
          </a:xfrm>
        </p:grpSpPr>
        <p:sp>
          <p:nvSpPr>
            <p:cNvPr id="238" name="Google Shape;238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9" name="Google Shape;239;p11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43" name="Google Shape;243;p11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244" name="Google Shape;244;p11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46" name="Google Shape;246;p11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47" name="Google Shape;247;p11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248" name="Google Shape;248;p11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50" name="Google Shape;250;p11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52" name="Google Shape;252;p11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253" name="Google Shape;253;p11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4" name="Google Shape;254;p11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55" name="Google Shape;255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56" name="Google Shape;256;p11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257" name="Google Shape;257;p11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59" name="Google Shape;259;p11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70" name="Google Shape;270;p11"/>
          <p:cNvGrpSpPr/>
          <p:nvPr/>
        </p:nvGrpSpPr>
        <p:grpSpPr>
          <a:xfrm>
            <a:off x="773442" y="1418426"/>
            <a:ext cx="525462" cy="434975"/>
            <a:chOff x="-44" y="1473"/>
            <a:chExt cx="981" cy="1105"/>
          </a:xfrm>
        </p:grpSpPr>
        <p:pic>
          <p:nvPicPr>
            <p:cNvPr descr="desktop_computer_stylized_medium" id="271" name="Google Shape;27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73" name="Google Shape;273;p11"/>
          <p:cNvGrpSpPr/>
          <p:nvPr/>
        </p:nvGrpSpPr>
        <p:grpSpPr>
          <a:xfrm>
            <a:off x="1830370" y="2617249"/>
            <a:ext cx="1028924" cy="463397"/>
            <a:chOff x="1830370" y="2617249"/>
            <a:chExt cx="1028924" cy="463397"/>
          </a:xfrm>
        </p:grpSpPr>
        <p:sp>
          <p:nvSpPr>
            <p:cNvPr id="274" name="Google Shape;274;p11"/>
            <p:cNvSpPr/>
            <p:nvPr/>
          </p:nvSpPr>
          <p:spPr>
            <a:xfrm>
              <a:off x="1990582" y="2617249"/>
              <a:ext cx="686928" cy="43999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1"/>
            <p:cNvSpPr txBox="1"/>
            <p:nvPr/>
          </p:nvSpPr>
          <p:spPr>
            <a:xfrm>
              <a:off x="1830370" y="2639371"/>
              <a:ext cx="1028924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 </a:t>
              </a:r>
              <a:endParaRPr/>
            </a:p>
          </p:txBody>
        </p:sp>
      </p:grpSp>
      <p:grpSp>
        <p:nvGrpSpPr>
          <p:cNvPr id="276" name="Google Shape;276;p11"/>
          <p:cNvGrpSpPr/>
          <p:nvPr/>
        </p:nvGrpSpPr>
        <p:grpSpPr>
          <a:xfrm>
            <a:off x="6475440" y="1528391"/>
            <a:ext cx="5173835" cy="3801217"/>
            <a:chOff x="6493941" y="1557642"/>
            <a:chExt cx="5173835" cy="3801217"/>
          </a:xfrm>
        </p:grpSpPr>
        <p:sp>
          <p:nvSpPr>
            <p:cNvPr id="277" name="Google Shape;277;p11"/>
            <p:cNvSpPr/>
            <p:nvPr/>
          </p:nvSpPr>
          <p:spPr>
            <a:xfrm>
              <a:off x="6573113" y="1557642"/>
              <a:ext cx="2247142" cy="2726404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6662258" y="3758046"/>
              <a:ext cx="2070591" cy="40916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1"/>
            <p:cNvSpPr txBox="1"/>
            <p:nvPr/>
          </p:nvSpPr>
          <p:spPr>
            <a:xfrm>
              <a:off x="6493941" y="3752006"/>
              <a:ext cx="2333805" cy="461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QUIC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Cong. Cont.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0" name="Google Shape;280;p11"/>
            <p:cNvGrpSpPr/>
            <p:nvPr/>
          </p:nvGrpSpPr>
          <p:grpSpPr>
            <a:xfrm>
              <a:off x="6549806" y="2804024"/>
              <a:ext cx="2147125" cy="968714"/>
              <a:chOff x="3786573" y="4781422"/>
              <a:chExt cx="1289919" cy="450478"/>
            </a:xfrm>
          </p:grpSpPr>
          <p:grpSp>
            <p:nvGrpSpPr>
              <p:cNvPr id="281" name="Google Shape;281;p11"/>
              <p:cNvGrpSpPr/>
              <p:nvPr/>
            </p:nvGrpSpPr>
            <p:grpSpPr>
              <a:xfrm>
                <a:off x="3786573" y="4781422"/>
                <a:ext cx="535512" cy="197065"/>
                <a:chOff x="3638004" y="4844056"/>
                <a:chExt cx="535512" cy="197065"/>
              </a:xfrm>
            </p:grpSpPr>
            <p:sp>
              <p:nvSpPr>
                <p:cNvPr id="282" name="Google Shape;282;p11"/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600"/>
                    <a:buFont typeface="Calibri"/>
                    <a:buNone/>
                  </a:pPr>
                  <a:r>
                    <a:t/>
                  </a:r>
                  <a:endParaRPr b="0" i="0" sz="3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11"/>
                <p:cNvSpPr txBox="1"/>
                <p:nvPr/>
              </p:nvSpPr>
              <p:spPr>
                <a:xfrm>
                  <a:off x="3638004" y="4844056"/>
                  <a:ext cx="535512" cy="1970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 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Calibri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encrypt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4" name="Google Shape;284;p11"/>
              <p:cNvGrpSpPr/>
              <p:nvPr/>
            </p:nvGrpSpPr>
            <p:grpSpPr>
              <a:xfrm>
                <a:off x="3856579" y="4996013"/>
                <a:ext cx="1219913" cy="235887"/>
                <a:chOff x="3856579" y="4996013"/>
                <a:chExt cx="1219913" cy="235887"/>
              </a:xfrm>
            </p:grpSpPr>
            <p:sp>
              <p:nvSpPr>
                <p:cNvPr id="285" name="Google Shape;285;p11"/>
                <p:cNvSpPr txBox="1"/>
                <p:nvPr/>
              </p:nvSpPr>
              <p:spPr>
                <a:xfrm>
                  <a:off x="3856579" y="4996392"/>
                  <a:ext cx="401776" cy="2290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RDT</a:t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11"/>
                <p:cNvSpPr/>
                <p:nvPr/>
              </p:nvSpPr>
              <p:spPr>
                <a:xfrm>
                  <a:off x="3857961" y="4998499"/>
                  <a:ext cx="393403" cy="190273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600"/>
                    <a:buFont typeface="Calibri"/>
                    <a:buNone/>
                  </a:pPr>
                  <a:r>
                    <a:t/>
                  </a:r>
                  <a:endParaRPr b="0" i="0" sz="3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11"/>
                <p:cNvSpPr txBox="1"/>
                <p:nvPr/>
              </p:nvSpPr>
              <p:spPr>
                <a:xfrm>
                  <a:off x="4263655" y="5002841"/>
                  <a:ext cx="401776" cy="2290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RDT</a:t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11"/>
                <p:cNvSpPr txBox="1"/>
                <p:nvPr/>
              </p:nvSpPr>
              <p:spPr>
                <a:xfrm>
                  <a:off x="4674716" y="4996013"/>
                  <a:ext cx="401776" cy="2290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RDT</a:t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9" name="Google Shape;289;p11"/>
            <p:cNvGrpSpPr/>
            <p:nvPr/>
          </p:nvGrpSpPr>
          <p:grpSpPr>
            <a:xfrm>
              <a:off x="7234288" y="2794928"/>
              <a:ext cx="891382" cy="875971"/>
              <a:chOff x="3774433" y="4781422"/>
              <a:chExt cx="535512" cy="407350"/>
            </a:xfrm>
          </p:grpSpPr>
          <p:grpSp>
            <p:nvGrpSpPr>
              <p:cNvPr id="290" name="Google Shape;290;p11"/>
              <p:cNvGrpSpPr/>
              <p:nvPr/>
            </p:nvGrpSpPr>
            <p:grpSpPr>
              <a:xfrm>
                <a:off x="3774433" y="4781422"/>
                <a:ext cx="535512" cy="207083"/>
                <a:chOff x="3625864" y="4844056"/>
                <a:chExt cx="535512" cy="207083"/>
              </a:xfrm>
            </p:grpSpPr>
            <p:sp>
              <p:nvSpPr>
                <p:cNvPr id="291" name="Google Shape;291;p11"/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600"/>
                    <a:buFont typeface="Calibri"/>
                    <a:buNone/>
                  </a:pPr>
                  <a:r>
                    <a:t/>
                  </a:r>
                  <a:endParaRPr b="0" i="0" sz="3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11"/>
                <p:cNvSpPr txBox="1"/>
                <p:nvPr/>
              </p:nvSpPr>
              <p:spPr>
                <a:xfrm>
                  <a:off x="3625864" y="4844056"/>
                  <a:ext cx="535512" cy="207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 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Calibri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encrypt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3" name="Google Shape;293;p11"/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" name="Google Shape;294;p11"/>
            <p:cNvGrpSpPr/>
            <p:nvPr/>
          </p:nvGrpSpPr>
          <p:grpSpPr>
            <a:xfrm>
              <a:off x="7949081" y="2785831"/>
              <a:ext cx="891382" cy="875971"/>
              <a:chOff x="3780503" y="4781422"/>
              <a:chExt cx="535512" cy="407350"/>
            </a:xfrm>
          </p:grpSpPr>
          <p:grpSp>
            <p:nvGrpSpPr>
              <p:cNvPr id="295" name="Google Shape;295;p11"/>
              <p:cNvGrpSpPr/>
              <p:nvPr/>
            </p:nvGrpSpPr>
            <p:grpSpPr>
              <a:xfrm>
                <a:off x="3780503" y="4781422"/>
                <a:ext cx="535512" cy="207083"/>
                <a:chOff x="3631934" y="4844056"/>
                <a:chExt cx="535512" cy="207083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600"/>
                    <a:buFont typeface="Calibri"/>
                    <a:buNone/>
                  </a:pPr>
                  <a:r>
                    <a:t/>
                  </a:r>
                  <a:endParaRPr b="0" i="0" sz="3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11"/>
                <p:cNvSpPr txBox="1"/>
                <p:nvPr/>
              </p:nvSpPr>
              <p:spPr>
                <a:xfrm>
                  <a:off x="3631934" y="4844056"/>
                  <a:ext cx="535512" cy="207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 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Calibri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encrypt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" name="Google Shape;298;p11"/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" name="Google Shape;299;p11"/>
            <p:cNvGrpSpPr/>
            <p:nvPr/>
          </p:nvGrpSpPr>
          <p:grpSpPr>
            <a:xfrm>
              <a:off x="6584985" y="4775942"/>
              <a:ext cx="2224498" cy="576373"/>
              <a:chOff x="3690830" y="5656622"/>
              <a:chExt cx="1336402" cy="268029"/>
            </a:xfrm>
          </p:grpSpPr>
          <p:sp>
            <p:nvSpPr>
              <p:cNvPr id="300" name="Google Shape;300;p11"/>
              <p:cNvSpPr/>
              <p:nvPr/>
            </p:nvSpPr>
            <p:spPr>
              <a:xfrm>
                <a:off x="3690830" y="5656622"/>
                <a:ext cx="1336402" cy="268029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1"/>
              <p:cNvSpPr/>
              <p:nvPr/>
            </p:nvSpPr>
            <p:spPr>
              <a:xfrm>
                <a:off x="3728029" y="5692526"/>
                <a:ext cx="1243940" cy="190274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1"/>
              <p:cNvSpPr txBox="1"/>
              <p:nvPr/>
            </p:nvSpPr>
            <p:spPr>
              <a:xfrm>
                <a:off x="3722590" y="5683087"/>
                <a:ext cx="1258804" cy="214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UDP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11"/>
            <p:cNvGrpSpPr/>
            <p:nvPr/>
          </p:nvGrpSpPr>
          <p:grpSpPr>
            <a:xfrm>
              <a:off x="9393371" y="4782486"/>
              <a:ext cx="2224498" cy="576373"/>
              <a:chOff x="3690830" y="5656622"/>
              <a:chExt cx="1336402" cy="268029"/>
            </a:xfrm>
          </p:grpSpPr>
          <p:sp>
            <p:nvSpPr>
              <p:cNvPr id="304" name="Google Shape;304;p11"/>
              <p:cNvSpPr/>
              <p:nvPr/>
            </p:nvSpPr>
            <p:spPr>
              <a:xfrm>
                <a:off x="3690830" y="5656622"/>
                <a:ext cx="1336402" cy="268029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1"/>
              <p:cNvSpPr/>
              <p:nvPr/>
            </p:nvSpPr>
            <p:spPr>
              <a:xfrm>
                <a:off x="3728029" y="5692526"/>
                <a:ext cx="1243940" cy="190274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1"/>
              <p:cNvSpPr txBox="1"/>
              <p:nvPr/>
            </p:nvSpPr>
            <p:spPr>
              <a:xfrm>
                <a:off x="3722590" y="5689783"/>
                <a:ext cx="1258804" cy="214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UDP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07" name="Google Shape;307;p11"/>
            <p:cNvCxnSpPr/>
            <p:nvPr/>
          </p:nvCxnSpPr>
          <p:spPr>
            <a:xfrm>
              <a:off x="6637851" y="4424382"/>
              <a:ext cx="5029925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08" name="Google Shape;308;p11"/>
            <p:cNvSpPr/>
            <p:nvPr/>
          </p:nvSpPr>
          <p:spPr>
            <a:xfrm>
              <a:off x="9372262" y="1612419"/>
              <a:ext cx="2247142" cy="2726404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9461407" y="3812823"/>
              <a:ext cx="2070591" cy="40916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1"/>
            <p:cNvSpPr txBox="1"/>
            <p:nvPr/>
          </p:nvSpPr>
          <p:spPr>
            <a:xfrm>
              <a:off x="9293090" y="3806783"/>
              <a:ext cx="2333805" cy="461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QUIC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Cong. Cont.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1" name="Google Shape;311;p11"/>
            <p:cNvGrpSpPr/>
            <p:nvPr/>
          </p:nvGrpSpPr>
          <p:grpSpPr>
            <a:xfrm>
              <a:off x="9348955" y="2858801"/>
              <a:ext cx="2147125" cy="968714"/>
              <a:chOff x="3786573" y="4781422"/>
              <a:chExt cx="1289919" cy="450478"/>
            </a:xfrm>
          </p:grpSpPr>
          <p:grpSp>
            <p:nvGrpSpPr>
              <p:cNvPr id="312" name="Google Shape;312;p11"/>
              <p:cNvGrpSpPr/>
              <p:nvPr/>
            </p:nvGrpSpPr>
            <p:grpSpPr>
              <a:xfrm>
                <a:off x="3786573" y="4781422"/>
                <a:ext cx="535512" cy="197065"/>
                <a:chOff x="3638004" y="4844056"/>
                <a:chExt cx="535512" cy="197065"/>
              </a:xfrm>
            </p:grpSpPr>
            <p:sp>
              <p:nvSpPr>
                <p:cNvPr id="313" name="Google Shape;313;p11"/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600"/>
                    <a:buFont typeface="Calibri"/>
                    <a:buNone/>
                  </a:pPr>
                  <a:r>
                    <a:t/>
                  </a:r>
                  <a:endParaRPr b="0" i="0" sz="3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1"/>
                <p:cNvSpPr txBox="1"/>
                <p:nvPr/>
              </p:nvSpPr>
              <p:spPr>
                <a:xfrm>
                  <a:off x="3638004" y="4844056"/>
                  <a:ext cx="535512" cy="1970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 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Calibri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encrypt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5" name="Google Shape;315;p11"/>
              <p:cNvGrpSpPr/>
              <p:nvPr/>
            </p:nvGrpSpPr>
            <p:grpSpPr>
              <a:xfrm>
                <a:off x="3856579" y="4996013"/>
                <a:ext cx="1219913" cy="235887"/>
                <a:chOff x="3856579" y="4996013"/>
                <a:chExt cx="1219913" cy="235887"/>
              </a:xfrm>
            </p:grpSpPr>
            <p:sp>
              <p:nvSpPr>
                <p:cNvPr id="316" name="Google Shape;316;p11"/>
                <p:cNvSpPr txBox="1"/>
                <p:nvPr/>
              </p:nvSpPr>
              <p:spPr>
                <a:xfrm>
                  <a:off x="3856579" y="4996392"/>
                  <a:ext cx="401776" cy="2290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RDT</a:t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1"/>
                <p:cNvSpPr/>
                <p:nvPr/>
              </p:nvSpPr>
              <p:spPr>
                <a:xfrm>
                  <a:off x="3857961" y="4998499"/>
                  <a:ext cx="393403" cy="190273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600"/>
                    <a:buFont typeface="Calibri"/>
                    <a:buNone/>
                  </a:pPr>
                  <a:r>
                    <a:t/>
                  </a:r>
                  <a:endParaRPr b="0" i="0" sz="3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11"/>
                <p:cNvSpPr txBox="1"/>
                <p:nvPr/>
              </p:nvSpPr>
              <p:spPr>
                <a:xfrm>
                  <a:off x="4263655" y="5002841"/>
                  <a:ext cx="401776" cy="2290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RDT</a:t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11"/>
                <p:cNvSpPr txBox="1"/>
                <p:nvPr/>
              </p:nvSpPr>
              <p:spPr>
                <a:xfrm>
                  <a:off x="4674716" y="4996013"/>
                  <a:ext cx="401776" cy="2290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RDT</a:t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20" name="Google Shape;320;p11"/>
            <p:cNvGrpSpPr/>
            <p:nvPr/>
          </p:nvGrpSpPr>
          <p:grpSpPr>
            <a:xfrm>
              <a:off x="10033437" y="2849705"/>
              <a:ext cx="891382" cy="875971"/>
              <a:chOff x="3774433" y="4781422"/>
              <a:chExt cx="535512" cy="407350"/>
            </a:xfrm>
          </p:grpSpPr>
          <p:grpSp>
            <p:nvGrpSpPr>
              <p:cNvPr id="321" name="Google Shape;321;p11"/>
              <p:cNvGrpSpPr/>
              <p:nvPr/>
            </p:nvGrpSpPr>
            <p:grpSpPr>
              <a:xfrm>
                <a:off x="3774433" y="4781422"/>
                <a:ext cx="535512" cy="207083"/>
                <a:chOff x="3625864" y="4844056"/>
                <a:chExt cx="535512" cy="207083"/>
              </a:xfrm>
            </p:grpSpPr>
            <p:sp>
              <p:nvSpPr>
                <p:cNvPr id="322" name="Google Shape;322;p11"/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600"/>
                    <a:buFont typeface="Calibri"/>
                    <a:buNone/>
                  </a:pPr>
                  <a:r>
                    <a:t/>
                  </a:r>
                  <a:endParaRPr b="0" i="0" sz="3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11"/>
                <p:cNvSpPr txBox="1"/>
                <p:nvPr/>
              </p:nvSpPr>
              <p:spPr>
                <a:xfrm>
                  <a:off x="3625864" y="4844056"/>
                  <a:ext cx="535512" cy="207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 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Calibri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encrypt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4" name="Google Shape;324;p11"/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11"/>
            <p:cNvGrpSpPr/>
            <p:nvPr/>
          </p:nvGrpSpPr>
          <p:grpSpPr>
            <a:xfrm>
              <a:off x="10748230" y="2840608"/>
              <a:ext cx="891382" cy="875971"/>
              <a:chOff x="3780503" y="4781422"/>
              <a:chExt cx="535512" cy="407350"/>
            </a:xfrm>
          </p:grpSpPr>
          <p:grpSp>
            <p:nvGrpSpPr>
              <p:cNvPr id="326" name="Google Shape;326;p11"/>
              <p:cNvGrpSpPr/>
              <p:nvPr/>
            </p:nvGrpSpPr>
            <p:grpSpPr>
              <a:xfrm>
                <a:off x="3780503" y="4781422"/>
                <a:ext cx="535512" cy="207083"/>
                <a:chOff x="3631934" y="4844056"/>
                <a:chExt cx="535512" cy="207083"/>
              </a:xfrm>
            </p:grpSpPr>
            <p:sp>
              <p:nvSpPr>
                <p:cNvPr id="327" name="Google Shape;327;p11"/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600"/>
                    <a:buFont typeface="Calibri"/>
                    <a:buNone/>
                  </a:pPr>
                  <a:r>
                    <a:t/>
                  </a:r>
                  <a:endParaRPr b="0" i="0" sz="3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1"/>
                <p:cNvSpPr txBox="1"/>
                <p:nvPr/>
              </p:nvSpPr>
              <p:spPr>
                <a:xfrm>
                  <a:off x="3631934" y="4844056"/>
                  <a:ext cx="535512" cy="207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QUIC 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Calibri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encrypt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9" name="Google Shape;329;p11"/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0" name="Google Shape;330;p11"/>
          <p:cNvSpPr/>
          <p:nvPr/>
        </p:nvSpPr>
        <p:spPr>
          <a:xfrm>
            <a:off x="8348952" y="2170481"/>
            <a:ext cx="1435304" cy="3314700"/>
          </a:xfrm>
          <a:custGeom>
            <a:rect b="b" l="l" r="r" t="t"/>
            <a:pathLst>
              <a:path extrusionOk="0" h="2824317" w="1710813">
                <a:moveTo>
                  <a:pt x="0" y="376084"/>
                </a:moveTo>
                <a:lnTo>
                  <a:pt x="0" y="2824317"/>
                </a:lnTo>
                <a:lnTo>
                  <a:pt x="95865" y="2824317"/>
                </a:lnTo>
                <a:lnTo>
                  <a:pt x="1710813" y="2824317"/>
                </a:lnTo>
                <a:lnTo>
                  <a:pt x="1710813" y="2676833"/>
                </a:lnTo>
                <a:lnTo>
                  <a:pt x="1710813" y="0"/>
                </a:lnTo>
              </a:path>
            </a:pathLst>
          </a:custGeom>
          <a:noFill/>
          <a:ln cap="flat" cmpd="sng" w="25400">
            <a:solidFill>
              <a:srgbClr val="0000A3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7544680" y="2246396"/>
            <a:ext cx="2790074" cy="3142699"/>
          </a:xfrm>
          <a:custGeom>
            <a:rect b="b" l="l" r="r" t="t"/>
            <a:pathLst>
              <a:path extrusionOk="0" h="2831690" w="2460587">
                <a:moveTo>
                  <a:pt x="0" y="0"/>
                </a:moveTo>
                <a:lnTo>
                  <a:pt x="0" y="2831690"/>
                </a:lnTo>
                <a:lnTo>
                  <a:pt x="88490" y="2831690"/>
                </a:lnTo>
                <a:lnTo>
                  <a:pt x="2455606" y="2831690"/>
                </a:lnTo>
                <a:cubicBezTo>
                  <a:pt x="2457266" y="2289473"/>
                  <a:pt x="2458927" y="1747257"/>
                  <a:pt x="2460587" y="1205040"/>
                </a:cubicBezTo>
              </a:path>
            </a:pathLst>
          </a:custGeom>
          <a:noFill/>
          <a:ln cap="flat" cmpd="sng" w="25400">
            <a:solidFill>
              <a:srgbClr val="0000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7766311" y="3553748"/>
            <a:ext cx="2615553" cy="1938327"/>
          </a:xfrm>
          <a:custGeom>
            <a:rect b="b" l="l" r="r" t="t"/>
            <a:pathLst>
              <a:path extrusionOk="0" h="1091381" w="2558845">
                <a:moveTo>
                  <a:pt x="2558845" y="0"/>
                </a:moveTo>
                <a:lnTo>
                  <a:pt x="2558845" y="1091381"/>
                </a:lnTo>
                <a:lnTo>
                  <a:pt x="2485103" y="1091381"/>
                </a:lnTo>
                <a:lnTo>
                  <a:pt x="0" y="1091381"/>
                </a:lnTo>
                <a:lnTo>
                  <a:pt x="0" y="582562"/>
                </a:lnTo>
                <a:lnTo>
                  <a:pt x="0" y="14749"/>
                </a:lnTo>
              </a:path>
            </a:pathLst>
          </a:custGeom>
          <a:noFill/>
          <a:ln cap="flat" cmpd="sng" w="25400">
            <a:solidFill>
              <a:srgbClr val="31538F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10145437" y="3362319"/>
            <a:ext cx="638441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error!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7650449" y="2146221"/>
            <a:ext cx="2613793" cy="3263616"/>
          </a:xfrm>
          <a:custGeom>
            <a:rect b="b" l="l" r="r" t="t"/>
            <a:pathLst>
              <a:path extrusionOk="0" h="2589048" w="2600836">
                <a:moveTo>
                  <a:pt x="23944" y="1037950"/>
                </a:moveTo>
                <a:lnTo>
                  <a:pt x="0" y="2589048"/>
                </a:lnTo>
                <a:lnTo>
                  <a:pt x="2573594" y="2589048"/>
                </a:lnTo>
                <a:lnTo>
                  <a:pt x="2600836" y="0"/>
                </a:lnTo>
              </a:path>
            </a:pathLst>
          </a:custGeom>
          <a:noFill/>
          <a:ln cap="flat" cmpd="sng" w="25400">
            <a:solidFill>
              <a:srgbClr val="0000A3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6974900" y="2171905"/>
            <a:ext cx="4169952" cy="3314700"/>
          </a:xfrm>
          <a:custGeom>
            <a:rect b="b" l="l" r="r" t="t"/>
            <a:pathLst>
              <a:path extrusionOk="0" h="3314700" w="3188970">
                <a:moveTo>
                  <a:pt x="0" y="0"/>
                </a:moveTo>
                <a:lnTo>
                  <a:pt x="0" y="3314700"/>
                </a:lnTo>
                <a:lnTo>
                  <a:pt x="3188970" y="3314700"/>
                </a:lnTo>
                <a:lnTo>
                  <a:pt x="3188970" y="11430"/>
                </a:lnTo>
                <a:lnTo>
                  <a:pt x="3188970" y="11430"/>
                </a:lnTo>
              </a:path>
            </a:pathLst>
          </a:custGeom>
          <a:noFill/>
          <a:ln cap="flat" cmpd="sng" w="25400">
            <a:solidFill>
              <a:srgbClr val="0000A3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6" name="Google Shape;336;p11"/>
          <p:cNvGrpSpPr/>
          <p:nvPr/>
        </p:nvGrpSpPr>
        <p:grpSpPr>
          <a:xfrm>
            <a:off x="6503169" y="1768807"/>
            <a:ext cx="1028924" cy="463979"/>
            <a:chOff x="1247868" y="1815620"/>
            <a:chExt cx="1028924" cy="463979"/>
          </a:xfrm>
        </p:grpSpPr>
        <p:sp>
          <p:nvSpPr>
            <p:cNvPr id="337" name="Google Shape;337;p11"/>
            <p:cNvSpPr/>
            <p:nvPr/>
          </p:nvSpPr>
          <p:spPr>
            <a:xfrm>
              <a:off x="1428787" y="1815620"/>
              <a:ext cx="686928" cy="43999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1"/>
            <p:cNvSpPr txBox="1"/>
            <p:nvPr/>
          </p:nvSpPr>
          <p:spPr>
            <a:xfrm>
              <a:off x="1247868" y="1838324"/>
              <a:ext cx="1028924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 </a:t>
              </a:r>
              <a:endParaRPr/>
            </a:p>
          </p:txBody>
        </p:sp>
      </p:grpSp>
      <p:grpSp>
        <p:nvGrpSpPr>
          <p:cNvPr id="339" name="Google Shape;339;p11"/>
          <p:cNvGrpSpPr/>
          <p:nvPr/>
        </p:nvGrpSpPr>
        <p:grpSpPr>
          <a:xfrm>
            <a:off x="7197108" y="1926223"/>
            <a:ext cx="1028924" cy="463979"/>
            <a:chOff x="1549462" y="2216434"/>
            <a:chExt cx="1028924" cy="463979"/>
          </a:xfrm>
        </p:grpSpPr>
        <p:sp>
          <p:nvSpPr>
            <p:cNvPr id="340" name="Google Shape;340;p11"/>
            <p:cNvSpPr/>
            <p:nvPr/>
          </p:nvSpPr>
          <p:spPr>
            <a:xfrm>
              <a:off x="1709684" y="2216434"/>
              <a:ext cx="686928" cy="43999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"/>
            <p:cNvSpPr txBox="1"/>
            <p:nvPr/>
          </p:nvSpPr>
          <p:spPr>
            <a:xfrm>
              <a:off x="1549462" y="2239138"/>
              <a:ext cx="1028924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 </a:t>
              </a:r>
              <a:endParaRPr/>
            </a:p>
          </p:txBody>
        </p:sp>
      </p:grpSp>
      <p:grpSp>
        <p:nvGrpSpPr>
          <p:cNvPr id="342" name="Google Shape;342;p11"/>
          <p:cNvGrpSpPr/>
          <p:nvPr/>
        </p:nvGrpSpPr>
        <p:grpSpPr>
          <a:xfrm>
            <a:off x="7867432" y="2206258"/>
            <a:ext cx="1028924" cy="463397"/>
            <a:chOff x="1830370" y="2617249"/>
            <a:chExt cx="1028924" cy="463397"/>
          </a:xfrm>
        </p:grpSpPr>
        <p:sp>
          <p:nvSpPr>
            <p:cNvPr id="343" name="Google Shape;343;p11"/>
            <p:cNvSpPr/>
            <p:nvPr/>
          </p:nvSpPr>
          <p:spPr>
            <a:xfrm>
              <a:off x="1990582" y="2617249"/>
              <a:ext cx="686928" cy="43999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 txBox="1"/>
            <p:nvPr/>
          </p:nvSpPr>
          <p:spPr>
            <a:xfrm>
              <a:off x="1830370" y="2639371"/>
              <a:ext cx="1028924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 </a:t>
              </a:r>
              <a:endParaRPr/>
            </a:p>
          </p:txBody>
        </p:sp>
      </p:grpSp>
      <p:grpSp>
        <p:nvGrpSpPr>
          <p:cNvPr id="345" name="Google Shape;345;p11"/>
          <p:cNvGrpSpPr/>
          <p:nvPr/>
        </p:nvGrpSpPr>
        <p:grpSpPr>
          <a:xfrm>
            <a:off x="11407734" y="1304127"/>
            <a:ext cx="310294" cy="628857"/>
            <a:chOff x="4140" y="429"/>
            <a:chExt cx="1425" cy="2396"/>
          </a:xfrm>
        </p:grpSpPr>
        <p:sp>
          <p:nvSpPr>
            <p:cNvPr id="346" name="Google Shape;346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51" name="Google Shape;351;p11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352" name="Google Shape;352;p11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53" name="Google Shape;353;p11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54" name="Google Shape;354;p11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55" name="Google Shape;355;p11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356" name="Google Shape;356;p11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57" name="Google Shape;357;p11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58" name="Google Shape;358;p11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60" name="Google Shape;360;p11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361" name="Google Shape;361;p11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2" name="Google Shape;362;p11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63" name="Google Shape;363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64" name="Google Shape;364;p11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365" name="Google Shape;365;p11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6" name="Google Shape;366;p11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67" name="Google Shape;367;p11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78" name="Google Shape;378;p11"/>
          <p:cNvGrpSpPr/>
          <p:nvPr/>
        </p:nvGrpSpPr>
        <p:grpSpPr>
          <a:xfrm>
            <a:off x="6313356" y="1297050"/>
            <a:ext cx="525462" cy="434975"/>
            <a:chOff x="-44" y="1473"/>
            <a:chExt cx="981" cy="1105"/>
          </a:xfrm>
        </p:grpSpPr>
        <p:pic>
          <p:nvPicPr>
            <p:cNvPr descr="desktop_computer_stylized_medium" id="379" name="Google Shape;37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81" name="Google Shape;381;p11"/>
          <p:cNvSpPr/>
          <p:nvPr/>
        </p:nvSpPr>
        <p:spPr>
          <a:xfrm>
            <a:off x="6083300" y="1130300"/>
            <a:ext cx="5981700" cy="542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10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"/>
          <p:cNvSpPr txBox="1"/>
          <p:nvPr>
            <p:ph type="title"/>
          </p:nvPr>
        </p:nvSpPr>
        <p:spPr>
          <a:xfrm>
            <a:off x="760590" y="2721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Transport layer: Summary</a:t>
            </a:r>
            <a:endParaRPr b="0" sz="4400"/>
          </a:p>
        </p:txBody>
      </p:sp>
      <p:sp>
        <p:nvSpPr>
          <p:cNvPr id="388" name="Google Shape;388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p12"/>
          <p:cNvSpPr txBox="1"/>
          <p:nvPr/>
        </p:nvSpPr>
        <p:spPr>
          <a:xfrm>
            <a:off x="876300" y="1295400"/>
            <a:ext cx="5626100" cy="5225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3525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behind transport layer services: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multiplexing, demultiplexing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reliable data transfer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control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congestion control</a:t>
            </a:r>
            <a:endParaRPr/>
          </a:p>
          <a:p>
            <a:pPr indent="-263525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instantiation, implementation in the Internet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</p:txBody>
      </p:sp>
      <p:sp>
        <p:nvSpPr>
          <p:cNvPr id="390" name="Google Shape;390;p12"/>
          <p:cNvSpPr txBox="1"/>
          <p:nvPr/>
        </p:nvSpPr>
        <p:spPr>
          <a:xfrm>
            <a:off x="6740842" y="1310640"/>
            <a:ext cx="4732337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Up next:</a:t>
            </a:r>
            <a:endParaRPr/>
          </a:p>
          <a:p>
            <a:pPr indent="-2667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leaving the network “edge”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(application, transport layers)</a:t>
            </a:r>
            <a:endParaRPr/>
          </a:p>
          <a:p>
            <a:pPr indent="-2667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the network “core”</a:t>
            </a:r>
            <a:endParaRPr/>
          </a:p>
          <a:p>
            <a:pPr indent="-2667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network-layer chapters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plane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397" name="Google Shape;397;p13"/>
          <p:cNvSpPr txBox="1"/>
          <p:nvPr>
            <p:ph idx="2" type="body"/>
          </p:nvPr>
        </p:nvSpPr>
        <p:spPr>
          <a:xfrm>
            <a:off x="590430" y="1783836"/>
            <a:ext cx="75375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200"/>
              <a:buChar char="▪"/>
            </a:pPr>
            <a:r>
              <a:rPr lang="en-US" sz="3200"/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398" name="Google Shape;398;p13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399" name="Google Shape;399;p13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400" name="Google Shape;400;p13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401" name="Google Shape;401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2" name="Google Shape;402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03" name="Google Shape;403;p13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404" name="Google Shape;40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13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lang="en-US" sz="2800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406" name="Google Shape;406;p13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7" name="Google Shape;407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0786960" y="4246880"/>
                <a:ext cx="97522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8" name="Google Shape;408;p13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i="1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aseline="30000" i="1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i="1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i="1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