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Tahoma"/>
      <p:regular r:id="rId27"/>
      <p:bold r:id="rId28"/>
    </p:embeddedFont>
    <p:embeddedFont>
      <p:font typeface="Noto Sans Symbols"/>
      <p:regular r:id="rId29"/>
      <p:bold r:id="rId30"/>
    </p:embeddedFon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504">
          <p15:clr>
            <a:srgbClr val="A4A3A4"/>
          </p15:clr>
        </p15:guide>
        <p15:guide id="2" pos="72">
          <p15:clr>
            <a:srgbClr val="A4A3A4"/>
          </p15:clr>
        </p15:guide>
        <p15:guide id="3" orient="horz" pos="1680">
          <p15:clr>
            <a:srgbClr val="A4A3A4"/>
          </p15:clr>
        </p15:guide>
        <p15:guide id="4" pos="1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504" orient="horz"/>
        <p:guide pos="72"/>
        <p:guide pos="1680" orient="horz"/>
        <p:guide pos="1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otoSansSymbol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regular.fntdata"/><Relationship Id="rId30" Type="http://schemas.openxmlformats.org/officeDocument/2006/relationships/font" Target="fonts/NotoSansSymbol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3.jp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11390" y="25815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congestion control: AIMD</a:t>
            </a:r>
            <a:endParaRPr b="0" sz="4400"/>
          </a:p>
        </p:txBody>
      </p:sp>
      <p:sp>
        <p:nvSpPr>
          <p:cNvPr id="48" name="Google Shape;48;p7"/>
          <p:cNvSpPr/>
          <p:nvPr/>
        </p:nvSpPr>
        <p:spPr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senders can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sending rate until packet loss (congestion) occurs, then decrease sending rate on loss event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AIMD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sawtooth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behavior: </a:t>
            </a:r>
            <a:r>
              <a:rPr b="0" i="1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probing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bandwidth</a:t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4717339" y="3774454"/>
            <a:ext cx="6858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1" name="Google Shape;51;p7"/>
          <p:cNvCxnSpPr/>
          <p:nvPr/>
        </p:nvCxnSpPr>
        <p:spPr>
          <a:xfrm flipH="1" rot="10800000">
            <a:off x="3898189" y="5196854"/>
            <a:ext cx="169863" cy="1698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7"/>
          <p:cNvCxnSpPr/>
          <p:nvPr/>
        </p:nvCxnSpPr>
        <p:spPr>
          <a:xfrm>
            <a:off x="4079164" y="5185741"/>
            <a:ext cx="0" cy="6429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7"/>
          <p:cNvCxnSpPr/>
          <p:nvPr/>
        </p:nvCxnSpPr>
        <p:spPr>
          <a:xfrm flipH="1" rot="10800000">
            <a:off x="4068052" y="4869829"/>
            <a:ext cx="982662" cy="9810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7"/>
          <p:cNvCxnSpPr/>
          <p:nvPr/>
        </p:nvCxnSpPr>
        <p:spPr>
          <a:xfrm>
            <a:off x="5039602" y="4871416"/>
            <a:ext cx="0" cy="8016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7"/>
          <p:cNvCxnSpPr/>
          <p:nvPr/>
        </p:nvCxnSpPr>
        <p:spPr>
          <a:xfrm flipH="1" rot="10800000">
            <a:off x="5031664" y="5168279"/>
            <a:ext cx="525463" cy="5238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7"/>
          <p:cNvCxnSpPr/>
          <p:nvPr/>
        </p:nvCxnSpPr>
        <p:spPr>
          <a:xfrm>
            <a:off x="5557127" y="5163516"/>
            <a:ext cx="0" cy="6889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7"/>
          <p:cNvCxnSpPr/>
          <p:nvPr/>
        </p:nvCxnSpPr>
        <p:spPr>
          <a:xfrm flipH="1" rot="10800000">
            <a:off x="5568240" y="4849191"/>
            <a:ext cx="969963" cy="9810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7"/>
          <p:cNvCxnSpPr/>
          <p:nvPr/>
        </p:nvCxnSpPr>
        <p:spPr>
          <a:xfrm>
            <a:off x="6533440" y="4849191"/>
            <a:ext cx="11113" cy="8350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7"/>
          <p:cNvCxnSpPr/>
          <p:nvPr/>
        </p:nvCxnSpPr>
        <p:spPr>
          <a:xfrm flipH="1" rot="10800000">
            <a:off x="6538202" y="5012704"/>
            <a:ext cx="666750" cy="6667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7"/>
          <p:cNvCxnSpPr/>
          <p:nvPr/>
        </p:nvCxnSpPr>
        <p:spPr>
          <a:xfrm>
            <a:off x="7204952" y="4998416"/>
            <a:ext cx="0" cy="7477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7"/>
          <p:cNvCxnSpPr/>
          <p:nvPr/>
        </p:nvCxnSpPr>
        <p:spPr>
          <a:xfrm flipH="1" rot="10800000">
            <a:off x="7195427" y="4746004"/>
            <a:ext cx="876300" cy="10144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" name="Google Shape;62;p7"/>
          <p:cNvGrpSpPr/>
          <p:nvPr/>
        </p:nvGrpSpPr>
        <p:grpSpPr>
          <a:xfrm>
            <a:off x="3439503" y="4254499"/>
            <a:ext cx="4602061" cy="2566367"/>
            <a:chOff x="4099904" y="3937000"/>
            <a:chExt cx="4602061" cy="2566367"/>
          </a:xfrm>
        </p:grpSpPr>
        <p:sp>
          <p:nvSpPr>
            <p:cNvPr id="63" name="Google Shape;63;p7"/>
            <p:cNvSpPr txBox="1"/>
            <p:nvPr/>
          </p:nvSpPr>
          <p:spPr>
            <a:xfrm rot="-5400000">
              <a:off x="3117142" y="4919761"/>
              <a:ext cx="2273300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TCP sender  Sending rate</a:t>
              </a:r>
              <a:endParaRPr/>
            </a:p>
          </p:txBody>
        </p:sp>
        <p:cxnSp>
          <p:nvCxnSpPr>
            <p:cNvPr id="64" name="Google Shape;64;p7"/>
            <p:cNvCxnSpPr/>
            <p:nvPr/>
          </p:nvCxnSpPr>
          <p:spPr>
            <a:xfrm>
              <a:off x="4558589" y="6176341"/>
              <a:ext cx="414337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" name="Google Shape;65;p7"/>
            <p:cNvCxnSpPr/>
            <p:nvPr/>
          </p:nvCxnSpPr>
          <p:spPr>
            <a:xfrm>
              <a:off x="4546600" y="4203700"/>
              <a:ext cx="877" cy="197422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" name="Google Shape;66;p7"/>
            <p:cNvSpPr txBox="1"/>
            <p:nvPr/>
          </p:nvSpPr>
          <p:spPr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time</a:t>
              </a:r>
              <a:endParaRPr/>
            </a:p>
          </p:txBody>
        </p:sp>
      </p:grpSp>
      <p:grpSp>
        <p:nvGrpSpPr>
          <p:cNvPr id="67" name="Google Shape;67;p7"/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68" name="Google Shape;68;p7"/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increase sending rate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by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maximum segment size every RTT until loss detected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dditive </a:t>
              </a: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ncrease</a:t>
              </a:r>
              <a:endParaRPr b="0" i="0" sz="28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71" name="Google Shape;71;p7"/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72" name="Google Shape;72;p7"/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cut sending rate in half at each loss event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ultiplicative </a:t>
              </a: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ecrease</a:t>
              </a:r>
              <a:endParaRPr b="0" i="0" sz="28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75" name="Google Shape;75;p7"/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76" name="Google Shape;76;p7"/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77" name="Google Shape;77;p7"/>
              <p:cNvCxnSpPr/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79" name="Google Shape;79;p7"/>
              <p:cNvCxnSpPr/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3" name="Google Shape;83;p7"/>
              <p:cNvCxnSpPr/>
              <p:nvPr/>
            </p:nvCxnSpPr>
            <p:spPr>
              <a:xfrm>
                <a:off x="3965643" y="4162357"/>
                <a:ext cx="3599234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84" name="Google Shape;84;p7"/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noFill/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85" name="Google Shape;85;p7"/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6" name="Google Shape;86;p7"/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87" name="Google Shape;87;p7"/>
              <p:cNvCxnSpPr/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8" name="Google Shape;88;p7"/>
              <p:cNvCxnSpPr/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9" name="Google Shape;89;p7"/>
              <p:cNvCxnSpPr/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0" name="Google Shape;90;p7"/>
              <p:cNvCxnSpPr/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1" name="Google Shape;91;p7"/>
              <p:cNvCxnSpPr/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92" name="Google Shape;92;p7"/>
            <p:cNvCxnSpPr/>
            <p:nvPr/>
          </p:nvCxnSpPr>
          <p:spPr>
            <a:xfrm rot="10800000">
              <a:off x="7921625" y="3622675"/>
              <a:ext cx="0" cy="3587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811390" y="25815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TCP AIMD: more</a:t>
            </a:r>
            <a:endParaRPr b="0" sz="4400"/>
          </a:p>
        </p:txBody>
      </p:sp>
      <p:sp>
        <p:nvSpPr>
          <p:cNvPr id="99" name="Google Shape;99;p8"/>
          <p:cNvSpPr/>
          <p:nvPr/>
        </p:nvSpPr>
        <p:spPr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Multiplicative decrease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detail:  sending rate is </a:t>
            </a:r>
            <a:endParaRPr/>
          </a:p>
          <a:p>
            <a:pPr indent="-304800" lvl="0" marL="406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 in half on loss detected by triple duplicate ACK (TCP Reno)</a:t>
            </a:r>
            <a:endParaRPr/>
          </a:p>
          <a:p>
            <a:pPr indent="-304800" lvl="0" marL="406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 to 1 MSS (maximum segment size) when loss detected by timeout (TCP Tahoe)</a:t>
            </a:r>
            <a:endParaRPr/>
          </a:p>
          <a:p>
            <a:pPr indent="-127000" lvl="0" marL="406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921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04800" lvl="0" marL="406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AIMD – a distributed, asynchronous algorithm – has been shown to:</a:t>
            </a:r>
            <a:endParaRPr/>
          </a:p>
          <a:p>
            <a:pPr indent="-284163" lvl="1" marL="690563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 congested flow rates network wide!</a:t>
            </a:r>
            <a:endParaRPr/>
          </a:p>
          <a:p>
            <a:pPr indent="-284163" lvl="1" marL="690563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desirable stability properties</a:t>
            </a:r>
            <a:endParaRPr/>
          </a:p>
          <a:p>
            <a:pPr indent="0" lvl="0" marL="1016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921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812800" y="2594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congestion control: details</a:t>
            </a:r>
            <a:endParaRPr b="0" sz="4400"/>
          </a:p>
        </p:txBody>
      </p:sp>
      <p:grpSp>
        <p:nvGrpSpPr>
          <p:cNvPr id="107" name="Google Shape;107;p9"/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08" name="Google Shape;108;p9"/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9"/>
            <p:cNvSpPr txBox="1"/>
            <p:nvPr/>
          </p:nvSpPr>
          <p:spPr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84163" lvl="0" marL="2841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sender limits transmission:</a:t>
              </a:r>
              <a:endParaRPr/>
            </a:p>
            <a:p>
              <a:pPr indent="-284163" lvl="0" marL="284163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cwnd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 dynamically adjusted in response to observed network congestion (implementing TCP congestion control)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6363" lvl="0" marL="284163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10" name="Google Shape;110;p9"/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11" name="Google Shape;111;p9"/>
              <p:cNvSpPr txBox="1"/>
              <p:nvPr/>
            </p:nvSpPr>
            <p:spPr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25425" lvl="0" marL="225425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170"/>
                  <a:buFont typeface="Noto Sans Symbols"/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LastByteSent- LastByteAcked</a:t>
                </a:r>
                <a:endParaRPr b="0" i="0" sz="18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12" name="Google Shape;112;p9"/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13" name="Google Shape;113;p9"/>
                <p:cNvGrpSpPr/>
                <p:nvPr/>
              </p:nvGrpSpPr>
              <p:grpSpPr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14" name="Google Shape;114;p9"/>
                  <p:cNvSpPr txBox="1"/>
                  <p:nvPr/>
                </p:nvSpPr>
                <p:spPr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00"/>
                      <a:buFont typeface="Tahoma"/>
                      <a:buNone/>
                    </a:pPr>
                    <a:r>
                      <a:rPr b="1" i="0" lang="en-US" sz="16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rPr>
                      <a:t>&lt;</a:t>
                    </a:r>
                    <a:endParaRPr/>
                  </a:p>
                </p:txBody>
              </p:sp>
              <p:cxnSp>
                <p:nvCxnSpPr>
                  <p:cNvPr id="115" name="Google Shape;115;p9"/>
                  <p:cNvCxnSpPr/>
                  <p:nvPr/>
                </p:nvCxnSpPr>
                <p:spPr>
                  <a:xfrm>
                    <a:off x="2133" y="2269"/>
                    <a:ext cx="85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16" name="Google Shape;116;p9"/>
                <p:cNvSpPr txBox="1"/>
                <p:nvPr/>
              </p:nvSpPr>
              <p:spPr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ourier New"/>
                    <a:buNone/>
                  </a:pPr>
                  <a:r>
                    <a:rPr b="1" i="0" lang="en-US" sz="1800" u="none" cap="none" strike="noStrike">
                      <a:solidFill>
                        <a:srgbClr val="00000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cwnd</a:t>
                  </a:r>
                  <a:endParaRPr b="1" i="0" sz="1800" u="none" cap="none" strike="noStrik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</p:grpSp>
      <p:sp>
        <p:nvSpPr>
          <p:cNvPr id="117" name="Google Shape;117;p9"/>
          <p:cNvSpPr/>
          <p:nvPr/>
        </p:nvSpPr>
        <p:spPr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8" name="Google Shape;118;p9"/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19" name="Google Shape;119;p9"/>
            <p:cNvSpPr/>
            <p:nvPr/>
          </p:nvSpPr>
          <p:spPr>
            <a:xfrm>
              <a:off x="2369283" y="2849038"/>
              <a:ext cx="187569" cy="464732"/>
            </a:xfrm>
            <a:custGeom>
              <a:rect b="b" l="l" r="r" t="t"/>
              <a:pathLst>
                <a:path extrusionOk="0" h="242" w="91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last byte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ACKed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9"/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22" name="Google Shape;122;p9"/>
            <p:cNvSpPr txBox="1"/>
            <p:nvPr/>
          </p:nvSpPr>
          <p:spPr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last byte sent</a:t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 flipH="1">
              <a:off x="3824084" y="2948877"/>
              <a:ext cx="190240" cy="1102896"/>
            </a:xfrm>
            <a:custGeom>
              <a:rect b="b" l="l" r="r" t="t"/>
              <a:pathLst>
                <a:path extrusionOk="0" h="9938" w="9670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9"/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25" name="Google Shape;125;p9"/>
            <p:cNvSpPr/>
            <p:nvPr/>
          </p:nvSpPr>
          <p:spPr>
            <a:xfrm>
              <a:off x="1370854" y="2034797"/>
              <a:ext cx="86000" cy="752789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5666611" y="2034797"/>
              <a:ext cx="86000" cy="752789"/>
            </a:xfrm>
            <a:prstGeom prst="rect">
              <a:avLst/>
            </a:pr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1" name="Google Shape;161;p9"/>
            <p:cNvSpPr txBox="1"/>
            <p:nvPr/>
          </p:nvSpPr>
          <p:spPr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cwnd</a:t>
              </a:r>
              <a:endParaRPr b="1" i="1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62" name="Google Shape;162;p9"/>
            <p:cNvGrpSpPr/>
            <p:nvPr/>
          </p:nvGrpSpPr>
          <p:grpSpPr>
            <a:xfrm>
              <a:off x="4022141" y="1750580"/>
              <a:ext cx="591506" cy="142108"/>
              <a:chOff x="4250" y="1692"/>
              <a:chExt cx="374" cy="86"/>
            </a:xfrm>
          </p:grpSpPr>
          <p:cxnSp>
            <p:nvCxnSpPr>
              <p:cNvPr id="163" name="Google Shape;163;p9"/>
              <p:cNvCxnSpPr/>
              <p:nvPr/>
            </p:nvCxnSpPr>
            <p:spPr>
              <a:xfrm>
                <a:off x="4250" y="1738"/>
                <a:ext cx="37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4" name="Google Shape;164;p9"/>
              <p:cNvCxnSpPr/>
              <p:nvPr/>
            </p:nvCxnSpPr>
            <p:spPr>
              <a:xfrm>
                <a:off x="4621" y="169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5" name="Google Shape;165;p9"/>
            <p:cNvGrpSpPr/>
            <p:nvPr/>
          </p:nvGrpSpPr>
          <p:grpSpPr>
            <a:xfrm rot="10800000">
              <a:off x="2633863" y="1759691"/>
              <a:ext cx="616676" cy="149790"/>
              <a:chOff x="4260" y="1700"/>
              <a:chExt cx="374" cy="86"/>
            </a:xfrm>
          </p:grpSpPr>
          <p:cxnSp>
            <p:nvCxnSpPr>
              <p:cNvPr id="166" name="Google Shape;166;p9"/>
              <p:cNvCxnSpPr/>
              <p:nvPr/>
            </p:nvCxnSpPr>
            <p:spPr>
              <a:xfrm>
                <a:off x="4260" y="1746"/>
                <a:ext cx="37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7" name="Google Shape;167;p9"/>
              <p:cNvCxnSpPr/>
              <p:nvPr/>
            </p:nvCxnSpPr>
            <p:spPr>
              <a:xfrm>
                <a:off x="4632" y="170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8" name="Google Shape;168;p9"/>
            <p:cNvSpPr txBox="1"/>
            <p:nvPr/>
          </p:nvSpPr>
          <p:spPr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sender sequence number space </a:t>
              </a:r>
              <a:endParaRPr/>
            </a:p>
          </p:txBody>
        </p:sp>
      </p:grpSp>
      <p:cxnSp>
        <p:nvCxnSpPr>
          <p:cNvPr id="169" name="Google Shape;169;p9"/>
          <p:cNvCxnSpPr/>
          <p:nvPr/>
        </p:nvCxnSpPr>
        <p:spPr>
          <a:xfrm>
            <a:off x="3908860" y="2875555"/>
            <a:ext cx="700041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0" name="Google Shape;170;p9"/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71" name="Google Shape;171;p9"/>
            <p:cNvSpPr/>
            <p:nvPr/>
          </p:nvSpPr>
          <p:spPr>
            <a:xfrm flipH="1">
              <a:off x="4204169" y="2959619"/>
              <a:ext cx="190240" cy="549834"/>
            </a:xfrm>
            <a:custGeom>
              <a:rect b="b" l="l" r="r" t="t"/>
              <a:pathLst>
                <a:path extrusionOk="0" h="9938" w="9670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available but not used</a:t>
              </a:r>
              <a:endParaRPr/>
            </a:p>
          </p:txBody>
        </p:sp>
      </p:grpSp>
      <p:grpSp>
        <p:nvGrpSpPr>
          <p:cNvPr id="173" name="Google Shape;173;p9"/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74" name="Google Shape;174;p9"/>
            <p:cNvSpPr txBox="1"/>
            <p:nvPr/>
          </p:nvSpPr>
          <p:spPr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84163" lvl="0" marL="284163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sending behavior:</a:t>
              </a:r>
              <a:endParaRPr/>
            </a:p>
            <a:p>
              <a:pPr indent="-284163" lvl="0" marL="284163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roughly: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send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cwnd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bytes, wait RTT for ACKS, then send more bytes</a:t>
              </a:r>
              <a:endParaRPr/>
            </a:p>
          </p:txBody>
        </p:sp>
        <p:grpSp>
          <p:nvGrpSpPr>
            <p:cNvPr id="175" name="Google Shape;175;p9"/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76" name="Google Shape;176;p9"/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7" name="Google Shape;177;p9"/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78" name="Google Shape;178;p9"/>
                <p:cNvSpPr txBox="1"/>
                <p:nvPr/>
              </p:nvSpPr>
              <p:spPr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TCP rate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9" name="Google Shape;179;p9"/>
                <p:cNvGrpSpPr/>
                <p:nvPr/>
              </p:nvGrpSpPr>
              <p:grpSpPr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80" name="Google Shape;180;p9"/>
                  <p:cNvSpPr txBox="1"/>
                  <p:nvPr/>
                </p:nvSpPr>
                <p:spPr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Tahoma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rPr>
                      <a:t>~</a:t>
                    </a:r>
                    <a:endParaRPr/>
                  </a:p>
                </p:txBody>
              </p:sp>
              <p:sp>
                <p:nvSpPr>
                  <p:cNvPr id="181" name="Google Shape;181;p9"/>
                  <p:cNvSpPr txBox="1"/>
                  <p:nvPr/>
                </p:nvSpPr>
                <p:spPr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Tahoma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rPr>
                      <a:t>~</a:t>
                    </a:r>
                    <a:endParaRPr/>
                  </a:p>
                </p:txBody>
              </p:sp>
            </p:grpSp>
            <p:grpSp>
              <p:nvGrpSpPr>
                <p:cNvPr id="182" name="Google Shape;182;p9"/>
                <p:cNvGrpSpPr/>
                <p:nvPr/>
              </p:nvGrpSpPr>
              <p:grpSpPr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83" name="Google Shape;183;p9"/>
                  <p:cNvSpPr txBox="1"/>
                  <p:nvPr/>
                </p:nvSpPr>
                <p:spPr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Courier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Courier"/>
                        <a:ea typeface="Courier"/>
                        <a:cs typeface="Courier"/>
                        <a:sym typeface="Courier"/>
                      </a:rPr>
                      <a:t>cwnd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ourier"/>
                      <a:ea typeface="Courier"/>
                      <a:cs typeface="Courier"/>
                      <a:sym typeface="Courier"/>
                    </a:endParaRPr>
                  </a:p>
                </p:txBody>
              </p:sp>
              <p:sp>
                <p:nvSpPr>
                  <p:cNvPr id="184" name="Google Shape;184;p9"/>
                  <p:cNvSpPr txBox="1"/>
                  <p:nvPr/>
                </p:nvSpPr>
                <p:spPr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Tahoma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rPr>
                      <a:t>RTT</a:t>
                    </a:r>
                    <a:endParaRPr/>
                  </a:p>
                </p:txBody>
              </p:sp>
              <p:cxnSp>
                <p:nvCxnSpPr>
                  <p:cNvPr id="185" name="Google Shape;185;p9"/>
                  <p:cNvCxnSpPr/>
                  <p:nvPr/>
                </p:nvCxnSpPr>
                <p:spPr>
                  <a:xfrm>
                    <a:off x="4430" y="2763"/>
                    <a:ext cx="384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86" name="Google Shape;186;p9"/>
                <p:cNvSpPr txBox="1"/>
                <p:nvPr/>
              </p:nvSpPr>
              <p:spPr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bytes/sec</a:t>
                  </a:r>
                  <a:endParaRPr/>
                </a:p>
              </p:txBody>
            </p:sp>
          </p:grpSp>
        </p:grpSp>
      </p:grpSp>
      <p:grpSp>
        <p:nvGrpSpPr>
          <p:cNvPr id="187" name="Google Shape;187;p9"/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88" name="Google Shape;188;p9"/>
            <p:cNvSpPr txBox="1"/>
            <p:nvPr/>
          </p:nvSpPr>
          <p:spPr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sent, but not-yet ACKed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(“in-flight”)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9"/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cxnSp>
            <p:nvCxnSpPr>
              <p:cNvPr id="190" name="Google Shape;190;p9"/>
              <p:cNvCxnSpPr/>
              <p:nvPr/>
            </p:nvCxnSpPr>
            <p:spPr>
              <a:xfrm>
                <a:off x="2644060" y="2874003"/>
                <a:ext cx="120188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9"/>
              <p:cNvCxnSpPr/>
              <p:nvPr/>
            </p:nvCxnSpPr>
            <p:spPr>
              <a:xfrm>
                <a:off x="2850877" y="2898008"/>
                <a:ext cx="0" cy="61144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811390" y="259719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slow start </a:t>
            </a:r>
            <a:endParaRPr b="0" sz="4400"/>
          </a:p>
        </p:txBody>
      </p:sp>
      <p:sp>
        <p:nvSpPr>
          <p:cNvPr id="198" name="Google Shape;198;p10"/>
          <p:cNvSpPr txBox="1"/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connection begins, increase rate exponentially until first loss event: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initially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 MSS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double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every RTT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done by incrementing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every ACK received</a:t>
            </a:r>
            <a:endParaRPr/>
          </a:p>
        </p:txBody>
      </p:sp>
      <p:cxnSp>
        <p:nvCxnSpPr>
          <p:cNvPr id="199" name="Google Shape;199;p10"/>
          <p:cNvCxnSpPr/>
          <p:nvPr/>
        </p:nvCxnSpPr>
        <p:spPr>
          <a:xfrm>
            <a:off x="7585075" y="2306590"/>
            <a:ext cx="2505075" cy="3524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10"/>
          <p:cNvSpPr txBox="1"/>
          <p:nvPr/>
        </p:nvSpPr>
        <p:spPr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segment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/>
          </a:p>
        </p:txBody>
      </p:sp>
      <p:cxnSp>
        <p:nvCxnSpPr>
          <p:cNvPr id="203" name="Google Shape;203;p10"/>
          <p:cNvCxnSpPr/>
          <p:nvPr/>
        </p:nvCxnSpPr>
        <p:spPr>
          <a:xfrm>
            <a:off x="7580313" y="2120852"/>
            <a:ext cx="0" cy="3848100"/>
          </a:xfrm>
          <a:prstGeom prst="straightConnector1">
            <a:avLst/>
          </a:prstGeom>
          <a:noFill/>
          <a:ln cap="flat" cmpd="sng" w="19050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0"/>
          <p:cNvCxnSpPr/>
          <p:nvPr/>
        </p:nvCxnSpPr>
        <p:spPr>
          <a:xfrm>
            <a:off x="10094913" y="2158952"/>
            <a:ext cx="0" cy="3848100"/>
          </a:xfrm>
          <a:prstGeom prst="straightConnector1">
            <a:avLst/>
          </a:prstGeom>
          <a:noFill/>
          <a:ln cap="flat" cmpd="sng" w="19050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5" name="Google Shape;205;p10"/>
          <p:cNvGrpSpPr/>
          <p:nvPr/>
        </p:nvGrpSpPr>
        <p:grpSpPr>
          <a:xfrm>
            <a:off x="7254874" y="2270077"/>
            <a:ext cx="304800" cy="830263"/>
            <a:chOff x="7254874" y="2270077"/>
            <a:chExt cx="304800" cy="830263"/>
          </a:xfrm>
        </p:grpSpPr>
        <p:sp>
          <p:nvSpPr>
            <p:cNvPr id="206" name="Google Shape;206;p10"/>
            <p:cNvSpPr txBox="1"/>
            <p:nvPr/>
          </p:nvSpPr>
          <p:spPr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RTT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" name="Google Shape;207;p10"/>
            <p:cNvCxnSpPr/>
            <p:nvPr/>
          </p:nvCxnSpPr>
          <p:spPr>
            <a:xfrm rot="10800000">
              <a:off x="7399338" y="2270077"/>
              <a:ext cx="4762" cy="2190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8" name="Google Shape;208;p10"/>
            <p:cNvCxnSpPr/>
            <p:nvPr/>
          </p:nvCxnSpPr>
          <p:spPr>
            <a:xfrm>
              <a:off x="7408863" y="2876502"/>
              <a:ext cx="4762" cy="2238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09" name="Google Shape;209;p10"/>
          <p:cNvCxnSpPr/>
          <p:nvPr/>
        </p:nvCxnSpPr>
        <p:spPr>
          <a:xfrm flipH="1" rot="10800000">
            <a:off x="7561263" y="2711402"/>
            <a:ext cx="2505075" cy="3524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210" name="Google Shape;210;p10"/>
          <p:cNvGrpSpPr/>
          <p:nvPr/>
        </p:nvGrpSpPr>
        <p:grpSpPr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11" name="Google Shape;211;p10"/>
            <p:cNvSpPr/>
            <p:nvPr/>
          </p:nvSpPr>
          <p:spPr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10"/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cxnSp>
          <p:nvCxnSpPr>
            <p:cNvPr id="214" name="Google Shape;214;p10"/>
            <p:cNvCxnSpPr/>
            <p:nvPr/>
          </p:nvCxnSpPr>
          <p:spPr>
            <a:xfrm>
              <a:off x="7589838" y="3087640"/>
              <a:ext cx="2505075" cy="352425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10"/>
            <p:cNvCxnSpPr/>
            <p:nvPr/>
          </p:nvCxnSpPr>
          <p:spPr>
            <a:xfrm>
              <a:off x="7585075" y="3173365"/>
              <a:ext cx="2505075" cy="352425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6" name="Google Shape;216;p10"/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cxnSp>
          <p:nvCxnSpPr>
            <p:cNvPr id="217" name="Google Shape;217;p10"/>
            <p:cNvCxnSpPr/>
            <p:nvPr/>
          </p:nvCxnSpPr>
          <p:spPr>
            <a:xfrm flipH="1" rot="10800000">
              <a:off x="7585075" y="3697240"/>
              <a:ext cx="2528888" cy="361950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 flipH="1" rot="10800000">
              <a:off x="7558088" y="3957590"/>
              <a:ext cx="2505075" cy="352425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sp>
        <p:nvSpPr>
          <p:cNvPr id="219" name="Google Shape;219;p10"/>
          <p:cNvSpPr txBox="1"/>
          <p:nvPr/>
        </p:nvSpPr>
        <p:spPr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segments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segments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" name="Google Shape;221;p10"/>
          <p:cNvGrpSpPr/>
          <p:nvPr/>
        </p:nvGrpSpPr>
        <p:grpSpPr>
          <a:xfrm>
            <a:off x="7580316" y="4092527"/>
            <a:ext cx="2519363" cy="652463"/>
            <a:chOff x="3954" y="2214"/>
            <a:chExt cx="1587" cy="411"/>
          </a:xfrm>
        </p:grpSpPr>
        <p:cxnSp>
          <p:nvCxnSpPr>
            <p:cNvPr id="222" name="Google Shape;222;p10"/>
            <p:cNvCxnSpPr/>
            <p:nvPr/>
          </p:nvCxnSpPr>
          <p:spPr>
            <a:xfrm>
              <a:off x="3963" y="2214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3954" y="2274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3963" y="2340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3957" y="2403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" name="Google Shape;226;p10"/>
          <p:cNvGrpSpPr/>
          <p:nvPr/>
        </p:nvGrpSpPr>
        <p:grpSpPr>
          <a:xfrm flipH="1" rot="10800000">
            <a:off x="7866063" y="4473527"/>
            <a:ext cx="2228850" cy="604838"/>
            <a:chOff x="3954" y="2214"/>
            <a:chExt cx="1587" cy="411"/>
          </a:xfrm>
        </p:grpSpPr>
        <p:cxnSp>
          <p:nvCxnSpPr>
            <p:cNvPr id="227" name="Google Shape;227;p10"/>
            <p:cNvCxnSpPr/>
            <p:nvPr/>
          </p:nvCxnSpPr>
          <p:spPr>
            <a:xfrm>
              <a:off x="3963" y="2214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3954" y="2274"/>
              <a:ext cx="1578" cy="220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3963" y="2340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3957" y="2403"/>
              <a:ext cx="1578" cy="222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231" name="Google Shape;231;p10"/>
          <p:cNvGrpSpPr/>
          <p:nvPr/>
        </p:nvGrpSpPr>
        <p:grpSpPr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descr="desktop_computer_stylized_medium" id="232" name="Google Shape;23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4" name="Google Shape;234;p10"/>
          <p:cNvGrpSpPr/>
          <p:nvPr/>
        </p:nvGrpSpPr>
        <p:grpSpPr>
          <a:xfrm>
            <a:off x="9877425" y="1506490"/>
            <a:ext cx="382588" cy="547687"/>
            <a:chOff x="4140" y="429"/>
            <a:chExt cx="1425" cy="2396"/>
          </a:xfrm>
        </p:grpSpPr>
        <p:sp>
          <p:nvSpPr>
            <p:cNvPr id="235" name="Google Shape;235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4205" y="429"/>
              <a:ext cx="1047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0" name="Google Shape;240;p10"/>
            <p:cNvGrpSpPr/>
            <p:nvPr/>
          </p:nvGrpSpPr>
          <p:grpSpPr>
            <a:xfrm>
              <a:off x="4749" y="665"/>
              <a:ext cx="579" cy="146"/>
              <a:chOff x="614" y="2565"/>
              <a:chExt cx="723" cy="140"/>
            </a:xfrm>
          </p:grpSpPr>
          <p:sp>
            <p:nvSpPr>
              <p:cNvPr id="241" name="Google Shape;241;p10"/>
              <p:cNvSpPr/>
              <p:nvPr/>
            </p:nvSpPr>
            <p:spPr>
              <a:xfrm>
                <a:off x="614" y="2565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2" name="Google Shape;242;p10"/>
              <p:cNvSpPr/>
              <p:nvPr/>
            </p:nvSpPr>
            <p:spPr>
              <a:xfrm>
                <a:off x="629" y="2579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3" name="Google Shape;243;p10"/>
            <p:cNvSpPr/>
            <p:nvPr/>
          </p:nvSpPr>
          <p:spPr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4" name="Google Shape;244;p10"/>
            <p:cNvGrpSpPr/>
            <p:nvPr/>
          </p:nvGrpSpPr>
          <p:grpSpPr>
            <a:xfrm>
              <a:off x="4749" y="991"/>
              <a:ext cx="579" cy="139"/>
              <a:chOff x="617" y="2565"/>
              <a:chExt cx="723" cy="144"/>
            </a:xfrm>
          </p:grpSpPr>
          <p:sp>
            <p:nvSpPr>
              <p:cNvPr id="245" name="Google Shape;245;p10"/>
              <p:cNvSpPr/>
              <p:nvPr/>
            </p:nvSpPr>
            <p:spPr>
              <a:xfrm>
                <a:off x="617" y="2565"/>
                <a:ext cx="723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6" name="Google Shape;246;p10"/>
              <p:cNvSpPr/>
              <p:nvPr/>
            </p:nvSpPr>
            <p:spPr>
              <a:xfrm>
                <a:off x="631" y="2580"/>
                <a:ext cx="694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7" name="Google Shape;247;p10"/>
            <p:cNvSpPr/>
            <p:nvPr/>
          </p:nvSpPr>
          <p:spPr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9" name="Google Shape;249;p10"/>
            <p:cNvGrpSpPr/>
            <p:nvPr/>
          </p:nvGrpSpPr>
          <p:grpSpPr>
            <a:xfrm>
              <a:off x="4737" y="1630"/>
              <a:ext cx="580" cy="146"/>
              <a:chOff x="617" y="2571"/>
              <a:chExt cx="722" cy="134"/>
            </a:xfrm>
          </p:grpSpPr>
          <p:sp>
            <p:nvSpPr>
              <p:cNvPr id="250" name="Google Shape;250;p10"/>
              <p:cNvSpPr/>
              <p:nvPr/>
            </p:nvSpPr>
            <p:spPr>
              <a:xfrm>
                <a:off x="617" y="2571"/>
                <a:ext cx="72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1" name="Google Shape;251;p10"/>
              <p:cNvSpPr/>
              <p:nvPr/>
            </p:nvSpPr>
            <p:spPr>
              <a:xfrm>
                <a:off x="631" y="2584"/>
                <a:ext cx="692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2" name="Google Shape;252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3" name="Google Shape;253;p10"/>
            <p:cNvGrpSpPr/>
            <p:nvPr/>
          </p:nvGrpSpPr>
          <p:grpSpPr>
            <a:xfrm>
              <a:off x="4737" y="1325"/>
              <a:ext cx="585" cy="139"/>
              <a:chOff x="612" y="2566"/>
              <a:chExt cx="729" cy="139"/>
            </a:xfrm>
          </p:grpSpPr>
          <p:sp>
            <p:nvSpPr>
              <p:cNvPr id="254" name="Google Shape;254;p10"/>
              <p:cNvSpPr/>
              <p:nvPr/>
            </p:nvSpPr>
            <p:spPr>
              <a:xfrm>
                <a:off x="612" y="2566"/>
                <a:ext cx="729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626" y="2580"/>
                <a:ext cx="700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6" name="Google Shape;256;p10"/>
            <p:cNvSpPr/>
            <p:nvPr/>
          </p:nvSpPr>
          <p:spPr>
            <a:xfrm>
              <a:off x="5252" y="429"/>
              <a:ext cx="65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4205" y="2714"/>
              <a:ext cx="1070" cy="7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67" name="Google Shape;267;p10"/>
          <p:cNvSpPr txBox="1"/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summary: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 rate is slow, but ramps up exponentially fast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/>
          <p:nvPr>
            <p:ph type="title"/>
          </p:nvPr>
        </p:nvSpPr>
        <p:spPr>
          <a:xfrm>
            <a:off x="812800" y="2467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TCP: from slow start to congestion avoidance</a:t>
            </a:r>
            <a:endParaRPr b="0" sz="4400"/>
          </a:p>
        </p:txBody>
      </p:sp>
      <p:sp>
        <p:nvSpPr>
          <p:cNvPr id="274" name="Google Shape;274;p11"/>
          <p:cNvSpPr txBox="1"/>
          <p:nvPr/>
        </p:nvSpPr>
        <p:spPr>
          <a:xfrm>
            <a:off x="952500" y="1382665"/>
            <a:ext cx="5054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should the exponential increase switch to linear?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gets to 1/2 of its value before timeout.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952500" y="3528965"/>
            <a:ext cx="4927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Implementation: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loss event,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set to 1/2 of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 before loss event</a:t>
            </a:r>
            <a:endParaRPr/>
          </a:p>
        </p:txBody>
      </p:sp>
      <p:pic>
        <p:nvPicPr>
          <p:cNvPr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 txBox="1"/>
          <p:nvPr/>
        </p:nvSpPr>
        <p:spPr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0300" y="3804496"/>
            <a:ext cx="1003300" cy="23410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 txBox="1"/>
          <p:nvPr>
            <p:ph type="title"/>
          </p:nvPr>
        </p:nvSpPr>
        <p:spPr>
          <a:xfrm>
            <a:off x="812800" y="232962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Summary: TCP congestion control</a:t>
            </a:r>
            <a:endParaRPr b="0" sz="4400"/>
          </a:p>
        </p:txBody>
      </p:sp>
      <p:grpSp>
        <p:nvGrpSpPr>
          <p:cNvPr id="289" name="Google Shape;289;p12"/>
          <p:cNvGrpSpPr/>
          <p:nvPr/>
        </p:nvGrpSpPr>
        <p:grpSpPr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290" name="Google Shape;290;p12"/>
            <p:cNvGrpSpPr/>
            <p:nvPr/>
          </p:nvGrpSpPr>
          <p:grpSpPr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291" name="Google Shape;291;p12"/>
              <p:cNvSpPr txBox="1"/>
              <p:nvPr/>
            </p:nvSpPr>
            <p:spPr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292" name="Google Shape;292;p12"/>
              <p:cNvSpPr txBox="1"/>
              <p:nvPr/>
            </p:nvSpPr>
            <p:spPr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00"/>
                  <a:buFont typeface="Arial"/>
                  <a:buNone/>
                </a:pPr>
                <a:r>
                  <a:rPr b="0" i="1" lang="en-US" sz="10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293" name="Google Shape;293;p12"/>
              <p:cNvCxnSpPr/>
              <p:nvPr/>
            </p:nvCxnSpPr>
            <p:spPr>
              <a:xfrm>
                <a:off x="2491" y="1857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94" name="Google Shape;294;p12"/>
            <p:cNvCxnSpPr/>
            <p:nvPr/>
          </p:nvCxnSpPr>
          <p:spPr>
            <a:xfrm rot="10800000">
              <a:off x="2168" y="1734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95" name="Google Shape;295;p12"/>
          <p:cNvGrpSpPr/>
          <p:nvPr/>
        </p:nvGrpSpPr>
        <p:grpSpPr>
          <a:xfrm>
            <a:off x="5072063" y="2491694"/>
            <a:ext cx="2133600" cy="398463"/>
            <a:chOff x="2187" y="1427"/>
            <a:chExt cx="1344" cy="251"/>
          </a:xfrm>
        </p:grpSpPr>
        <p:cxnSp>
          <p:nvCxnSpPr>
            <p:cNvPr id="296" name="Google Shape;296;p12"/>
            <p:cNvCxnSpPr/>
            <p:nvPr/>
          </p:nvCxnSpPr>
          <p:spPr>
            <a:xfrm rot="10800000">
              <a:off x="2187" y="1673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97" name="Google Shape;297;p12"/>
            <p:cNvSpPr txBox="1"/>
            <p:nvPr/>
          </p:nvSpPr>
          <p:spPr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Noto Sans Symbols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b="0" i="0" sz="12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298" name="Google Shape;298;p12"/>
            <p:cNvCxnSpPr/>
            <p:nvPr/>
          </p:nvCxnSpPr>
          <p:spPr>
            <a:xfrm>
              <a:off x="2572" y="1554"/>
              <a:ext cx="5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99" name="Google Shape;299;p12"/>
            <p:cNvGrpSpPr/>
            <p:nvPr/>
          </p:nvGrpSpPr>
          <p:grpSpPr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300" name="Google Shape;300;p12"/>
              <p:cNvSpPr txBox="1"/>
              <p:nvPr/>
            </p:nvSpPr>
            <p:spPr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&gt; ssthresh</a:t>
                </a:r>
                <a:endParaRPr/>
              </a:p>
            </p:txBody>
          </p:sp>
          <p:cxnSp>
            <p:nvCxnSpPr>
              <p:cNvPr id="301" name="Google Shape;301;p12"/>
              <p:cNvCxnSpPr/>
              <p:nvPr/>
            </p:nvCxnSpPr>
            <p:spPr>
              <a:xfrm>
                <a:off x="2724" y="1557"/>
                <a:ext cx="4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02" name="Google Shape;302;p12"/>
          <p:cNvGrpSpPr/>
          <p:nvPr/>
        </p:nvGrpSpPr>
        <p:grpSpPr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303" name="Google Shape;303;p12"/>
            <p:cNvGrpSpPr/>
            <p:nvPr/>
          </p:nvGrpSpPr>
          <p:grpSpPr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05" name="Google Shape;305;p12"/>
              <p:cNvSpPr txBox="1"/>
              <p:nvPr/>
            </p:nvSpPr>
            <p:spPr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congestion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avoidance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12"/>
            <p:cNvGrpSpPr/>
            <p:nvPr/>
          </p:nvGrpSpPr>
          <p:grpSpPr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307" name="Google Shape;307;p12"/>
              <p:cNvSpPr txBox="1"/>
              <p:nvPr/>
            </p:nvSpPr>
            <p:spPr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    (MSS/cwnd)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8" name="Google Shape;308;p12"/>
              <p:cNvCxnSpPr/>
              <p:nvPr/>
            </p:nvCxnSpPr>
            <p:spPr>
              <a:xfrm>
                <a:off x="3976" y="105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9" name="Google Shape;309;p12"/>
              <p:cNvSpPr txBox="1"/>
              <p:nvPr/>
            </p:nvSpPr>
            <p:spPr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  <p:sp>
            <p:nvSpPr>
              <p:cNvPr id="310" name="Google Shape;310;p12"/>
              <p:cNvSpPr txBox="1"/>
              <p:nvPr/>
            </p:nvSpPr>
            <p:spPr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Times New Roman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</p:grpSp>
        <p:sp>
          <p:nvSpPr>
            <p:cNvPr id="311" name="Google Shape;311;p12"/>
            <p:cNvSpPr/>
            <p:nvPr/>
          </p:nvSpPr>
          <p:spPr>
            <a:xfrm rot="9705213">
              <a:off x="4212" y="1145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12" name="Google Shape;312;p12"/>
            <p:cNvGrpSpPr/>
            <p:nvPr/>
          </p:nvGrpSpPr>
          <p:grpSpPr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313" name="Google Shape;313;p12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4" name="Google Shape;314;p12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5" name="Google Shape;315;p12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316" name="Google Shape;316;p12"/>
            <p:cNvSpPr/>
            <p:nvPr/>
          </p:nvSpPr>
          <p:spPr>
            <a:xfrm rot="-7516021">
              <a:off x="4290" y="1673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17" name="Google Shape;317;p12"/>
          <p:cNvGrpSpPr/>
          <p:nvPr/>
        </p:nvGrpSpPr>
        <p:grpSpPr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319" name="Google Shape;319;p12"/>
              <p:cNvSpPr/>
              <p:nvPr/>
            </p:nvSpPr>
            <p:spPr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20" name="Google Shape;320;p12"/>
              <p:cNvSpPr txBox="1"/>
              <p:nvPr/>
            </p:nvSpPr>
            <p:spPr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2"/>
              <p:cNvSpPr txBox="1"/>
              <p:nvPr/>
            </p:nvSpPr>
            <p:spPr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fast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2" name="Google Shape;322;p12"/>
            <p:cNvSpPr/>
            <p:nvPr/>
          </p:nvSpPr>
          <p:spPr>
            <a:xfrm>
              <a:off x="2775" y="3708"/>
              <a:ext cx="384" cy="161"/>
            </a:xfrm>
            <a:custGeom>
              <a:rect b="b" l="l" r="r" t="t"/>
              <a:pathLst>
                <a:path extrusionOk="0" h="161" w="384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23" name="Google Shape;323;p12"/>
            <p:cNvGrpSpPr/>
            <p:nvPr/>
          </p:nvGrpSpPr>
          <p:grpSpPr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324" name="Google Shape;324;p12"/>
              <p:cNvSpPr txBox="1"/>
              <p:nvPr/>
            </p:nvSpPr>
            <p:spPr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5" name="Google Shape;325;p12"/>
              <p:cNvCxnSpPr/>
              <p:nvPr/>
            </p:nvCxnSpPr>
            <p:spPr>
              <a:xfrm>
                <a:off x="3600" y="364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6" name="Google Shape;326;p12"/>
              <p:cNvSpPr txBox="1"/>
              <p:nvPr/>
            </p:nvSpPr>
            <p:spPr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</p:grpSp>
      <p:grpSp>
        <p:nvGrpSpPr>
          <p:cNvPr id="327" name="Google Shape;327;p12"/>
          <p:cNvGrpSpPr/>
          <p:nvPr/>
        </p:nvGrpSpPr>
        <p:grpSpPr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328" name="Google Shape;328;p12"/>
            <p:cNvGrpSpPr/>
            <p:nvPr/>
          </p:nvGrpSpPr>
          <p:grpSpPr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329" name="Google Shape;329;p12"/>
              <p:cNvSpPr txBox="1"/>
              <p:nvPr/>
            </p:nvSpPr>
            <p:spPr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0" name="Google Shape;330;p12"/>
              <p:cNvCxnSpPr/>
              <p:nvPr/>
            </p:nvCxnSpPr>
            <p:spPr>
              <a:xfrm>
                <a:off x="925" y="2913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1" name="Google Shape;331;p12"/>
              <p:cNvSpPr txBox="1"/>
              <p:nvPr/>
            </p:nvSpPr>
            <p:spPr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grpSp>
          <p:nvGrpSpPr>
            <p:cNvPr id="332" name="Google Shape;332;p12"/>
            <p:cNvGrpSpPr/>
            <p:nvPr/>
          </p:nvGrpSpPr>
          <p:grpSpPr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333" name="Google Shape;333;p12"/>
              <p:cNvSpPr txBox="1"/>
              <p:nvPr/>
            </p:nvSpPr>
            <p:spPr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334" name="Google Shape;334;p12"/>
              <p:cNvSpPr txBox="1"/>
              <p:nvPr/>
            </p:nvSpPr>
            <p:spPr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335" name="Google Shape;335;p12"/>
              <p:cNvCxnSpPr/>
              <p:nvPr/>
            </p:nvCxnSpPr>
            <p:spPr>
              <a:xfrm>
                <a:off x="471" y="3014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6" name="Google Shape;336;p12"/>
            <p:cNvSpPr/>
            <p:nvPr/>
          </p:nvSpPr>
          <p:spPr>
            <a:xfrm>
              <a:off x="1722" y="2129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1791" y="2146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38" name="Google Shape;338;p12"/>
          <p:cNvGrpSpPr/>
          <p:nvPr/>
        </p:nvGrpSpPr>
        <p:grpSpPr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339" name="Google Shape;339;p12"/>
            <p:cNvGrpSpPr/>
            <p:nvPr/>
          </p:nvGrpSpPr>
          <p:grpSpPr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340" name="Google Shape;340;p12"/>
              <p:cNvSpPr txBox="1"/>
              <p:nvPr/>
            </p:nvSpPr>
            <p:spPr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1" name="Google Shape;341;p12"/>
              <p:cNvCxnSpPr/>
              <p:nvPr/>
            </p:nvCxnSpPr>
            <p:spPr>
              <a:xfrm>
                <a:off x="4211" y="2950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2" name="Google Shape;342;p12"/>
              <p:cNvSpPr txBox="1"/>
              <p:nvPr/>
            </p:nvSpPr>
            <p:spPr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sp>
          <p:nvSpPr>
            <p:cNvPr id="343" name="Google Shape;343;p12"/>
            <p:cNvSpPr/>
            <p:nvPr/>
          </p:nvSpPr>
          <p:spPr>
            <a:xfrm flipH="1">
              <a:off x="3371" y="2124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4" name="Google Shape;344;p12"/>
          <p:cNvGrpSpPr/>
          <p:nvPr/>
        </p:nvGrpSpPr>
        <p:grpSpPr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345" name="Google Shape;345;p12"/>
            <p:cNvSpPr/>
            <p:nvPr/>
          </p:nvSpPr>
          <p:spPr>
            <a:xfrm flipH="1">
              <a:off x="3327" y="2140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46" name="Google Shape;346;p12"/>
            <p:cNvGrpSpPr/>
            <p:nvPr/>
          </p:nvGrpSpPr>
          <p:grpSpPr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347" name="Google Shape;347;p12"/>
              <p:cNvSpPr txBox="1"/>
              <p:nvPr/>
            </p:nvSpPr>
            <p:spPr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ahoma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8" name="Google Shape;348;p12"/>
              <p:cNvGrpSpPr/>
              <p:nvPr/>
            </p:nvGrpSpPr>
            <p:grpSpPr>
              <a:xfrm>
                <a:off x="1190" y="3496"/>
                <a:ext cx="582" cy="160"/>
                <a:chOff x="1190" y="3496"/>
                <a:chExt cx="582" cy="160"/>
              </a:xfrm>
            </p:grpSpPr>
            <p:cxnSp>
              <p:nvCxnSpPr>
                <p:cNvPr id="349" name="Google Shape;349;p12"/>
                <p:cNvCxnSpPr/>
                <p:nvPr/>
              </p:nvCxnSpPr>
              <p:spPr>
                <a:xfrm>
                  <a:off x="1190" y="3641"/>
                  <a:ext cx="53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0" name="Google Shape;350;p12"/>
                <p:cNvSpPr txBox="1"/>
                <p:nvPr/>
              </p:nvSpPr>
              <p:spPr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 ACK</a:t>
                  </a:r>
                  <a:endParaRPr/>
                </a:p>
              </p:txBody>
            </p:sp>
          </p:grpSp>
        </p:grpSp>
      </p:grpSp>
      <p:grpSp>
        <p:nvGrpSpPr>
          <p:cNvPr id="351" name="Google Shape;351;p12"/>
          <p:cNvGrpSpPr/>
          <p:nvPr/>
        </p:nvGrpSpPr>
        <p:grpSpPr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352" name="Google Shape;352;p12"/>
            <p:cNvGrpSpPr/>
            <p:nvPr/>
          </p:nvGrpSpPr>
          <p:grpSpPr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353" name="Google Shape;353;p12"/>
              <p:cNvSpPr/>
              <p:nvPr/>
            </p:nvSpPr>
            <p:spPr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4" name="Google Shape;354;p12"/>
              <p:cNvSpPr txBox="1"/>
              <p:nvPr/>
            </p:nvSpPr>
            <p:spPr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slow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/>
              </a:p>
            </p:txBody>
          </p:sp>
        </p:grpSp>
        <p:grpSp>
          <p:nvGrpSpPr>
            <p:cNvPr id="355" name="Google Shape;355;p12"/>
            <p:cNvGrpSpPr/>
            <p:nvPr/>
          </p:nvGrpSpPr>
          <p:grpSpPr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356" name="Google Shape;356;p12"/>
              <p:cNvSpPr txBox="1"/>
              <p:nvPr/>
            </p:nvSpPr>
            <p:spPr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357" name="Google Shape;357;p12"/>
              <p:cNvSpPr txBox="1"/>
              <p:nvPr/>
            </p:nvSpPr>
            <p:spPr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358" name="Google Shape;358;p12"/>
              <p:cNvCxnSpPr/>
              <p:nvPr/>
            </p:nvCxnSpPr>
            <p:spPr>
              <a:xfrm>
                <a:off x="709" y="285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9" name="Google Shape;359;p12"/>
            <p:cNvGrpSpPr/>
            <p:nvPr/>
          </p:nvGrpSpPr>
          <p:grpSpPr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360" name="Google Shape;360;p12"/>
              <p:cNvSpPr txBox="1"/>
              <p:nvPr/>
            </p:nvSpPr>
            <p:spPr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cwnd+MSS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" name="Google Shape;361;p12"/>
              <p:cNvCxnSpPr/>
              <p:nvPr/>
            </p:nvCxnSpPr>
            <p:spPr>
              <a:xfrm>
                <a:off x="2744" y="93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2" name="Google Shape;362;p12"/>
              <p:cNvSpPr txBox="1"/>
              <p:nvPr/>
            </p:nvSpPr>
            <p:spPr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</p:grpSp>
        <p:sp>
          <p:nvSpPr>
            <p:cNvPr id="363" name="Google Shape;363;p12"/>
            <p:cNvSpPr/>
            <p:nvPr/>
          </p:nvSpPr>
          <p:spPr>
            <a:xfrm>
              <a:off x="1601" y="1129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 rot="2575893">
              <a:off x="1950" y="1316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65" name="Google Shape;365;p12"/>
            <p:cNvGrpSpPr/>
            <p:nvPr/>
          </p:nvGrpSpPr>
          <p:grpSpPr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366" name="Google Shape;366;p12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7" name="Google Shape;367;p12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8" name="Google Shape;368;p12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369" name="Google Shape;369;p12"/>
            <p:cNvSpPr/>
            <p:nvPr/>
          </p:nvSpPr>
          <p:spPr>
            <a:xfrm rot="-8222029">
              <a:off x="1204" y="1903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70" name="Google Shape;370;p12"/>
            <p:cNvCxnSpPr/>
            <p:nvPr/>
          </p:nvCxnSpPr>
          <p:spPr>
            <a:xfrm>
              <a:off x="536" y="1649"/>
              <a:ext cx="75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grpSp>
          <p:nvGrpSpPr>
            <p:cNvPr id="371" name="Google Shape;371;p12"/>
            <p:cNvGrpSpPr/>
            <p:nvPr/>
          </p:nvGrpSpPr>
          <p:grpSpPr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372" name="Google Shape;372;p12"/>
              <p:cNvSpPr txBox="1"/>
              <p:nvPr/>
            </p:nvSpPr>
            <p:spPr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  <p:sp>
            <p:nvSpPr>
              <p:cNvPr id="373" name="Google Shape;373;p12"/>
              <p:cNvSpPr txBox="1"/>
              <p:nvPr/>
            </p:nvSpPr>
            <p:spPr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64 KB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4" name="Google Shape;374;p12"/>
              <p:cNvCxnSpPr/>
              <p:nvPr/>
            </p:nvCxnSpPr>
            <p:spPr>
              <a:xfrm>
                <a:off x="641" y="1078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75" name="Google Shape;375;p12"/>
          <p:cNvGrpSpPr/>
          <p:nvPr/>
        </p:nvGrpSpPr>
        <p:grpSpPr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376" name="Google Shape;37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9" name="Google Shape;379;p12"/>
          <p:cNvGrpSpPr/>
          <p:nvPr/>
        </p:nvGrpSpPr>
        <p:grpSpPr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380" name="Google Shape;380;p12"/>
            <p:cNvGrpSpPr/>
            <p:nvPr/>
          </p:nvGrpSpPr>
          <p:grpSpPr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381" name="Google Shape;381;p12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382" name="Google Shape;382;p1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3" name="Google Shape;383;p12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84" name="Google Shape;384;p12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385" name="Google Shape;385;p12"/>
            <p:cNvGrpSpPr/>
            <p:nvPr/>
          </p:nvGrpSpPr>
          <p:grpSpPr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386" name="Google Shape;386;p12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387" name="Google Shape;387;p1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8" name="Google Shape;388;p12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89" name="Google Shape;389;p12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390" name="Google Shape;390;p12"/>
            <p:cNvGrpSpPr/>
            <p:nvPr/>
          </p:nvGrpSpPr>
          <p:grpSpPr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391" name="Google Shape;391;p12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392" name="Google Shape;392;p1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3" name="Google Shape;393;p12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94" name="Google Shape;394;p12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"/>
          <p:cNvSpPr txBox="1"/>
          <p:nvPr>
            <p:ph type="title"/>
          </p:nvPr>
        </p:nvSpPr>
        <p:spPr>
          <a:xfrm>
            <a:off x="798690" y="27695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401" name="Google Shape;401;p13"/>
          <p:cNvSpPr txBox="1"/>
          <p:nvPr/>
        </p:nvSpPr>
        <p:spPr>
          <a:xfrm>
            <a:off x="798690" y="1308100"/>
            <a:ext cx="111641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 better way than AIMD to “probe” for usable bandwidth?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13"/>
          <p:cNvGrpSpPr/>
          <p:nvPr/>
        </p:nvGrpSpPr>
        <p:grpSpPr>
          <a:xfrm>
            <a:off x="1454066" y="4302985"/>
            <a:ext cx="6081713" cy="1998662"/>
            <a:chOff x="73" y="2432"/>
            <a:chExt cx="3831" cy="1259"/>
          </a:xfrm>
        </p:grpSpPr>
        <p:sp>
          <p:nvSpPr>
            <p:cNvPr id="403" name="Google Shape;403;p13"/>
            <p:cNvSpPr/>
            <p:nvPr/>
          </p:nvSpPr>
          <p:spPr>
            <a:xfrm>
              <a:off x="678" y="2556"/>
              <a:ext cx="3226" cy="579"/>
            </a:xfrm>
            <a:custGeom>
              <a:rect b="b" l="l" r="r" t="t"/>
              <a:pathLst>
                <a:path extrusionOk="0" h="579" w="2481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4" name="Google Shape;404;p13"/>
            <p:cNvCxnSpPr/>
            <p:nvPr/>
          </p:nvCxnSpPr>
          <p:spPr>
            <a:xfrm>
              <a:off x="675" y="3685"/>
              <a:ext cx="267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13"/>
            <p:cNvCxnSpPr/>
            <p:nvPr/>
          </p:nvCxnSpPr>
          <p:spPr>
            <a:xfrm>
              <a:off x="682" y="2432"/>
              <a:ext cx="0" cy="125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13"/>
            <p:cNvCxnSpPr/>
            <p:nvPr/>
          </p:nvCxnSpPr>
          <p:spPr>
            <a:xfrm>
              <a:off x="606" y="2571"/>
              <a:ext cx="7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3"/>
            <p:cNvCxnSpPr/>
            <p:nvPr/>
          </p:nvCxnSpPr>
          <p:spPr>
            <a:xfrm>
              <a:off x="606" y="3117"/>
              <a:ext cx="7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8" name="Google Shape;408;p13"/>
            <p:cNvSpPr txBox="1"/>
            <p:nvPr/>
          </p:nvSpPr>
          <p:spPr>
            <a:xfrm>
              <a:off x="171" y="2437"/>
              <a:ext cx="393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endParaRPr b="0" baseline="-2500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9" name="Google Shape;409;p13"/>
            <p:cNvSpPr txBox="1"/>
            <p:nvPr/>
          </p:nvSpPr>
          <p:spPr>
            <a:xfrm>
              <a:off x="73" y="2971"/>
              <a:ext cx="513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/2</a:t>
              </a:r>
              <a:endParaRPr/>
            </a:p>
          </p:txBody>
        </p:sp>
      </p:grpSp>
      <p:grpSp>
        <p:nvGrpSpPr>
          <p:cNvPr id="410" name="Google Shape;410;p13"/>
          <p:cNvGrpSpPr/>
          <p:nvPr/>
        </p:nvGrpSpPr>
        <p:grpSpPr>
          <a:xfrm>
            <a:off x="2427206" y="4523647"/>
            <a:ext cx="842174" cy="851974"/>
            <a:chOff x="4111628" y="4803047"/>
            <a:chExt cx="842174" cy="851974"/>
          </a:xfrm>
        </p:grpSpPr>
        <p:sp>
          <p:nvSpPr>
            <p:cNvPr id="411" name="Google Shape;411;p13"/>
            <p:cNvSpPr/>
            <p:nvPr/>
          </p:nvSpPr>
          <p:spPr>
            <a:xfrm>
              <a:off x="4111628" y="4803047"/>
              <a:ext cx="842174" cy="851974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2" name="Google Shape;412;p13"/>
            <p:cNvCxnSpPr/>
            <p:nvPr/>
          </p:nvCxnSpPr>
          <p:spPr>
            <a:xfrm>
              <a:off x="4953802" y="4803047"/>
              <a:ext cx="0" cy="798802"/>
            </a:xfrm>
            <a:prstGeom prst="straightConnector1">
              <a:avLst/>
            </a:prstGeom>
            <a:noFill/>
            <a:ln cap="flat" cmpd="sng" w="28575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13" name="Google Shape;413;p13"/>
          <p:cNvGrpSpPr/>
          <p:nvPr/>
        </p:nvGrpSpPr>
        <p:grpSpPr>
          <a:xfrm>
            <a:off x="7913115" y="4293106"/>
            <a:ext cx="3050589" cy="1377579"/>
            <a:chOff x="7913115" y="4572506"/>
            <a:chExt cx="3050589" cy="1377579"/>
          </a:xfrm>
        </p:grpSpPr>
        <p:cxnSp>
          <p:nvCxnSpPr>
            <p:cNvPr id="414" name="Google Shape;414;p13"/>
            <p:cNvCxnSpPr/>
            <p:nvPr/>
          </p:nvCxnSpPr>
          <p:spPr>
            <a:xfrm>
              <a:off x="7913115" y="4779235"/>
              <a:ext cx="866274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13"/>
            <p:cNvCxnSpPr/>
            <p:nvPr/>
          </p:nvCxnSpPr>
          <p:spPr>
            <a:xfrm>
              <a:off x="7913115" y="5243961"/>
              <a:ext cx="866274" cy="0"/>
            </a:xfrm>
            <a:prstGeom prst="straightConnector1">
              <a:avLst/>
            </a:prstGeom>
            <a:noFill/>
            <a:ln cap="flat" cmpd="sng" w="381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416" name="Google Shape;416;p13"/>
            <p:cNvSpPr txBox="1"/>
            <p:nvPr/>
          </p:nvSpPr>
          <p:spPr>
            <a:xfrm>
              <a:off x="8779389" y="4572506"/>
              <a:ext cx="11785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TCP</a:t>
              </a:r>
              <a:endParaRPr/>
            </a:p>
          </p:txBody>
        </p:sp>
        <p:sp>
          <p:nvSpPr>
            <p:cNvPr id="417" name="Google Shape;417;p13"/>
            <p:cNvSpPr txBox="1"/>
            <p:nvPr/>
          </p:nvSpPr>
          <p:spPr>
            <a:xfrm>
              <a:off x="8779390" y="5109855"/>
              <a:ext cx="2184314" cy="840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CUBIC - higher throughput in this example</a:t>
              </a:r>
              <a:endParaRPr/>
            </a:p>
          </p:txBody>
        </p:sp>
      </p:grpSp>
      <p:sp>
        <p:nvSpPr>
          <p:cNvPr id="418" name="Google Shape;418;p13"/>
          <p:cNvSpPr txBox="1"/>
          <p:nvPr/>
        </p:nvSpPr>
        <p:spPr>
          <a:xfrm>
            <a:off x="798690" y="1787378"/>
            <a:ext cx="111641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Insight/intuition: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sending rate at which congestion loss was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state of bottleneck link probably (?) hasn’t changed much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13"/>
          <p:cNvGrpSpPr/>
          <p:nvPr/>
        </p:nvGrpSpPr>
        <p:grpSpPr>
          <a:xfrm>
            <a:off x="3268173" y="4514248"/>
            <a:ext cx="4263455" cy="882027"/>
            <a:chOff x="4952595" y="4780948"/>
            <a:chExt cx="4263455" cy="882027"/>
          </a:xfrm>
        </p:grpSpPr>
        <p:grpSp>
          <p:nvGrpSpPr>
            <p:cNvPr id="420" name="Google Shape;420;p13"/>
            <p:cNvGrpSpPr/>
            <p:nvPr/>
          </p:nvGrpSpPr>
          <p:grpSpPr>
            <a:xfrm>
              <a:off x="4952595" y="4811001"/>
              <a:ext cx="842174" cy="851974"/>
              <a:chOff x="4111628" y="4803047"/>
              <a:chExt cx="842174" cy="851974"/>
            </a:xfrm>
          </p:grpSpPr>
          <p:sp>
            <p:nvSpPr>
              <p:cNvPr id="421" name="Google Shape;421;p13"/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2" name="Google Shape;422;p13"/>
              <p:cNvCxnSpPr/>
              <p:nvPr/>
            </p:nvCxnSpPr>
            <p:spPr>
              <a:xfrm>
                <a:off x="4953802" y="4803047"/>
                <a:ext cx="0" cy="79880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23" name="Google Shape;423;p13"/>
            <p:cNvGrpSpPr/>
            <p:nvPr/>
          </p:nvGrpSpPr>
          <p:grpSpPr>
            <a:xfrm>
              <a:off x="5815757" y="4805638"/>
              <a:ext cx="842174" cy="851974"/>
              <a:chOff x="4111628" y="4803047"/>
              <a:chExt cx="842174" cy="851974"/>
            </a:xfrm>
          </p:grpSpPr>
          <p:sp>
            <p:nvSpPr>
              <p:cNvPr id="424" name="Google Shape;424;p13"/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5" name="Google Shape;425;p13"/>
              <p:cNvCxnSpPr/>
              <p:nvPr/>
            </p:nvCxnSpPr>
            <p:spPr>
              <a:xfrm>
                <a:off x="4953802" y="4803047"/>
                <a:ext cx="0" cy="79880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26" name="Google Shape;426;p13"/>
            <p:cNvGrpSpPr/>
            <p:nvPr/>
          </p:nvGrpSpPr>
          <p:grpSpPr>
            <a:xfrm>
              <a:off x="6678918" y="4793293"/>
              <a:ext cx="828566" cy="851974"/>
              <a:chOff x="4111628" y="4803047"/>
              <a:chExt cx="842174" cy="851974"/>
            </a:xfrm>
          </p:grpSpPr>
          <p:sp>
            <p:nvSpPr>
              <p:cNvPr id="427" name="Google Shape;427;p13"/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8" name="Google Shape;428;p13"/>
              <p:cNvCxnSpPr/>
              <p:nvPr/>
            </p:nvCxnSpPr>
            <p:spPr>
              <a:xfrm>
                <a:off x="4953802" y="4803047"/>
                <a:ext cx="0" cy="79880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29" name="Google Shape;429;p13"/>
            <p:cNvGrpSpPr/>
            <p:nvPr/>
          </p:nvGrpSpPr>
          <p:grpSpPr>
            <a:xfrm>
              <a:off x="7533201" y="4780948"/>
              <a:ext cx="828566" cy="851974"/>
              <a:chOff x="4111628" y="4803047"/>
              <a:chExt cx="842174" cy="851974"/>
            </a:xfrm>
          </p:grpSpPr>
          <p:sp>
            <p:nvSpPr>
              <p:cNvPr id="430" name="Google Shape;430;p13"/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31" name="Google Shape;431;p13"/>
              <p:cNvCxnSpPr/>
              <p:nvPr/>
            </p:nvCxnSpPr>
            <p:spPr>
              <a:xfrm>
                <a:off x="4953802" y="4803047"/>
                <a:ext cx="0" cy="79880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32" name="Google Shape;432;p13"/>
            <p:cNvSpPr/>
            <p:nvPr/>
          </p:nvSpPr>
          <p:spPr>
            <a:xfrm>
              <a:off x="8387484" y="4790798"/>
              <a:ext cx="828566" cy="851974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13"/>
          <p:cNvSpPr txBox="1"/>
          <p:nvPr/>
        </p:nvSpPr>
        <p:spPr>
          <a:xfrm>
            <a:off x="785990" y="3009900"/>
            <a:ext cx="11164126" cy="898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cutting rate/window in half on loss, initially ramp to to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then approach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slowly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"/>
          <p:cNvSpPr txBox="1"/>
          <p:nvPr>
            <p:ph type="title"/>
          </p:nvPr>
        </p:nvSpPr>
        <p:spPr>
          <a:xfrm>
            <a:off x="798690" y="27695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440" name="Google Shape;440;p14"/>
          <p:cNvSpPr txBox="1"/>
          <p:nvPr/>
        </p:nvSpPr>
        <p:spPr>
          <a:xfrm>
            <a:off x="798690" y="1308101"/>
            <a:ext cx="11164126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12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K: point in time when TCP window size will reach W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baseline="-2500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8032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itself is tuneable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952087" y="3043946"/>
            <a:ext cx="10287826" cy="99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increases when further away from 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increases (cautious) when nearer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" name="Google Shape;442;p14"/>
          <p:cNvGrpSpPr/>
          <p:nvPr/>
        </p:nvGrpSpPr>
        <p:grpSpPr>
          <a:xfrm>
            <a:off x="5030365" y="2893914"/>
            <a:ext cx="5714572" cy="3644759"/>
            <a:chOff x="5030365" y="2893914"/>
            <a:chExt cx="5714572" cy="3644759"/>
          </a:xfrm>
        </p:grpSpPr>
        <p:sp>
          <p:nvSpPr>
            <p:cNvPr id="443" name="Google Shape;443;p14"/>
            <p:cNvSpPr txBox="1"/>
            <p:nvPr/>
          </p:nvSpPr>
          <p:spPr>
            <a:xfrm>
              <a:off x="5030365" y="5185258"/>
              <a:ext cx="808134" cy="887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sending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rate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4" name="Google Shape;444;p14"/>
            <p:cNvCxnSpPr/>
            <p:nvPr/>
          </p:nvCxnSpPr>
          <p:spPr>
            <a:xfrm>
              <a:off x="5801903" y="6262085"/>
              <a:ext cx="459797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5" name="Google Shape;445;p14"/>
            <p:cNvCxnSpPr/>
            <p:nvPr/>
          </p:nvCxnSpPr>
          <p:spPr>
            <a:xfrm rot="10800000">
              <a:off x="5801904" y="4039871"/>
              <a:ext cx="0" cy="222251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46" name="Google Shape;446;p14"/>
            <p:cNvSpPr/>
            <p:nvPr/>
          </p:nvSpPr>
          <p:spPr>
            <a:xfrm>
              <a:off x="5815989" y="4445300"/>
              <a:ext cx="480875" cy="1811260"/>
            </a:xfrm>
            <a:custGeom>
              <a:rect b="b" l="l" r="r" t="t"/>
              <a:pathLst>
                <a:path extrusionOk="0" h="3160756" w="892239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noFill/>
            <a:ln cap="flat" cmpd="sng" w="12700">
              <a:solidFill>
                <a:srgbClr val="7B7B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" name="Google Shape;447;p14"/>
            <p:cNvCxnSpPr/>
            <p:nvPr/>
          </p:nvCxnSpPr>
          <p:spPr>
            <a:xfrm>
              <a:off x="6296864" y="4404648"/>
              <a:ext cx="277458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448" name="Google Shape;448;p14"/>
            <p:cNvGrpSpPr/>
            <p:nvPr/>
          </p:nvGrpSpPr>
          <p:grpSpPr>
            <a:xfrm>
              <a:off x="6350326" y="4445306"/>
              <a:ext cx="795772" cy="900465"/>
              <a:chOff x="1257299" y="2448186"/>
              <a:chExt cx="919846" cy="1571364"/>
            </a:xfrm>
          </p:grpSpPr>
          <p:cxnSp>
            <p:nvCxnSpPr>
              <p:cNvPr id="449" name="Google Shape;449;p14"/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50" name="Google Shape;450;p14"/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1" name="Google Shape;451;p14"/>
            <p:cNvGrpSpPr/>
            <p:nvPr/>
          </p:nvGrpSpPr>
          <p:grpSpPr>
            <a:xfrm>
              <a:off x="7112500" y="4441667"/>
              <a:ext cx="795772" cy="900465"/>
              <a:chOff x="1257299" y="2448186"/>
              <a:chExt cx="919846" cy="1571364"/>
            </a:xfrm>
          </p:grpSpPr>
          <p:cxnSp>
            <p:nvCxnSpPr>
              <p:cNvPr id="452" name="Google Shape;452;p14"/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53" name="Google Shape;453;p14"/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4" name="Google Shape;454;p14"/>
            <p:cNvGrpSpPr/>
            <p:nvPr/>
          </p:nvGrpSpPr>
          <p:grpSpPr>
            <a:xfrm>
              <a:off x="7915954" y="4439699"/>
              <a:ext cx="795772" cy="900465"/>
              <a:chOff x="1257299" y="2448186"/>
              <a:chExt cx="919846" cy="1571364"/>
            </a:xfrm>
          </p:grpSpPr>
          <p:cxnSp>
            <p:nvCxnSpPr>
              <p:cNvPr id="455" name="Google Shape;455;p14"/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56" name="Google Shape;456;p14"/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" name="Google Shape;457;p14"/>
            <p:cNvGrpSpPr/>
            <p:nvPr/>
          </p:nvGrpSpPr>
          <p:grpSpPr>
            <a:xfrm>
              <a:off x="8750371" y="4432898"/>
              <a:ext cx="795772" cy="900465"/>
              <a:chOff x="1257299" y="2448186"/>
              <a:chExt cx="919846" cy="1571364"/>
            </a:xfrm>
          </p:grpSpPr>
          <p:cxnSp>
            <p:nvCxnSpPr>
              <p:cNvPr id="458" name="Google Shape;458;p14"/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59" name="Google Shape;459;p14"/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" name="Google Shape;460;p14"/>
            <p:cNvGrpSpPr/>
            <p:nvPr/>
          </p:nvGrpSpPr>
          <p:grpSpPr>
            <a:xfrm rot="10800000">
              <a:off x="9544542" y="3096950"/>
              <a:ext cx="1128132" cy="1337145"/>
              <a:chOff x="873118" y="2448184"/>
              <a:chExt cx="1304027" cy="2333396"/>
            </a:xfrm>
          </p:grpSpPr>
          <p:cxnSp>
            <p:nvCxnSpPr>
              <p:cNvPr id="461" name="Google Shape;461;p14"/>
              <p:cNvCxnSpPr/>
              <p:nvPr/>
            </p:nvCxnSpPr>
            <p:spPr>
              <a:xfrm flipH="1">
                <a:off x="873118" y="2448184"/>
                <a:ext cx="1304027" cy="233339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62" name="Google Shape;462;p14"/>
              <p:cNvSpPr/>
              <p:nvPr/>
            </p:nvSpPr>
            <p:spPr>
              <a:xfrm>
                <a:off x="1252647" y="2450273"/>
                <a:ext cx="858729" cy="1600620"/>
              </a:xfrm>
              <a:custGeom>
                <a:rect b="b" l="l" r="r" t="t"/>
                <a:pathLst>
                  <a:path extrusionOk="0" h="2154669" w="1153813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3" name="Google Shape;463;p14"/>
            <p:cNvCxnSpPr/>
            <p:nvPr/>
          </p:nvCxnSpPr>
          <p:spPr>
            <a:xfrm flipH="1">
              <a:off x="10340170" y="2893914"/>
              <a:ext cx="30503" cy="717091"/>
            </a:xfrm>
            <a:prstGeom prst="straightConnector1">
              <a:avLst/>
            </a:prstGeom>
            <a:noFill/>
            <a:ln cap="flat" cmpd="sng" w="254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464" name="Google Shape;464;p14"/>
            <p:cNvSpPr txBox="1"/>
            <p:nvPr/>
          </p:nvSpPr>
          <p:spPr>
            <a:xfrm>
              <a:off x="9881790" y="5941210"/>
              <a:ext cx="5180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 txBox="1"/>
            <p:nvPr/>
          </p:nvSpPr>
          <p:spPr>
            <a:xfrm>
              <a:off x="9472281" y="4611687"/>
              <a:ext cx="1272656" cy="93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 Reno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TCP CUBIC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 txBox="1"/>
            <p:nvPr/>
          </p:nvSpPr>
          <p:spPr>
            <a:xfrm>
              <a:off x="5297976" y="4213131"/>
              <a:ext cx="549173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 txBox="1"/>
            <p:nvPr/>
          </p:nvSpPr>
          <p:spPr>
            <a:xfrm>
              <a:off x="6180953" y="6255332"/>
              <a:ext cx="312906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 txBox="1"/>
            <p:nvPr/>
          </p:nvSpPr>
          <p:spPr>
            <a:xfrm>
              <a:off x="6997088" y="6257827"/>
              <a:ext cx="30546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 txBox="1"/>
            <p:nvPr/>
          </p:nvSpPr>
          <p:spPr>
            <a:xfrm>
              <a:off x="7796251" y="6257147"/>
              <a:ext cx="312906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 txBox="1"/>
            <p:nvPr/>
          </p:nvSpPr>
          <p:spPr>
            <a:xfrm>
              <a:off x="8625086" y="6256467"/>
              <a:ext cx="30546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 txBox="1"/>
            <p:nvPr/>
          </p:nvSpPr>
          <p:spPr>
            <a:xfrm>
              <a:off x="9424249" y="6256467"/>
              <a:ext cx="312906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2" name="Google Shape;472;p14"/>
          <p:cNvSpPr txBox="1"/>
          <p:nvPr/>
        </p:nvSpPr>
        <p:spPr>
          <a:xfrm>
            <a:off x="797674" y="3941197"/>
            <a:ext cx="3455844" cy="2024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CUBIC default in Linux, most popular TCP for popular Web servers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785990" y="2146300"/>
            <a:ext cx="11164126" cy="2024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W as a function of the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cube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distance between current time  and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15"/>
          <p:cNvGrpSpPr/>
          <p:nvPr/>
        </p:nvGrpSpPr>
        <p:grpSpPr>
          <a:xfrm>
            <a:off x="4094463" y="4663823"/>
            <a:ext cx="2885057" cy="1508681"/>
            <a:chOff x="4094463" y="4663823"/>
            <a:chExt cx="2885057" cy="1508681"/>
          </a:xfrm>
        </p:grpSpPr>
        <p:sp>
          <p:nvSpPr>
            <p:cNvPr id="480" name="Google Shape;480;p15"/>
            <p:cNvSpPr/>
            <p:nvPr/>
          </p:nvSpPr>
          <p:spPr>
            <a:xfrm>
              <a:off x="4129957" y="4691367"/>
              <a:ext cx="2849563" cy="1481137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81" name="Google Shape;481;p15"/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482" name="Google Shape;482;p15"/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lt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3" name="Google Shape;483;p15"/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4" name="Google Shape;484;p15"/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85" name="Google Shape;485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9" name="Google Shape;489;p15"/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490" name="Google Shape;490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91" name="Google Shape;491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2" name="Google Shape;492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3" name="Google Shape;493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7" name="Google Shape;497;p15"/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498" name="Google Shape;498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99" name="Google Shape;499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0" name="Google Shape;500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1" name="Google Shape;501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5" name="Google Shape;505;p15"/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506" name="Google Shape;506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8" name="Google Shape;508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9" name="Google Shape;509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3" name="Google Shape;513;p15"/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514" name="Google Shape;514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6" name="Google Shape;516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7" name="Google Shape;517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21" name="Google Shape;521;p15"/>
            <p:cNvSpPr/>
            <p:nvPr/>
          </p:nvSpPr>
          <p:spPr>
            <a:xfrm>
              <a:off x="4581324" y="4994579"/>
              <a:ext cx="542925" cy="295275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5622724" y="4988229"/>
              <a:ext cx="506413" cy="307975"/>
            </a:xfrm>
            <a:custGeom>
              <a:rect b="b" l="l" r="r" t="t"/>
              <a:pathLst>
                <a:path extrusionOk="0" h="194" w="318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4557512" y="5380342"/>
              <a:ext cx="481012" cy="238125"/>
            </a:xfrm>
            <a:custGeom>
              <a:rect b="b" l="l" r="r" t="t"/>
              <a:pathLst>
                <a:path extrusionOk="0" h="174" w="29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5505249" y="5356529"/>
              <a:ext cx="630238" cy="24765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6173587" y="5410504"/>
              <a:ext cx="206375" cy="508000"/>
            </a:xfrm>
            <a:custGeom>
              <a:rect b="b" l="l" r="r" t="t"/>
              <a:pathLst>
                <a:path extrusionOk="0" h="500" w="118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4936923" y="5943904"/>
              <a:ext cx="970395" cy="81756"/>
            </a:xfrm>
            <a:custGeom>
              <a:rect b="b" l="l" r="r" t="t"/>
              <a:pathLst>
                <a:path extrusionOk="0" h="32" w="370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4400349" y="5424888"/>
              <a:ext cx="193675" cy="404716"/>
            </a:xfrm>
            <a:custGeom>
              <a:rect b="b" l="l" r="r" t="t"/>
              <a:pathLst>
                <a:path extrusionOk="0" h="412" w="176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28" name="Google Shape;528;p15"/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529" name="Google Shape;52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1" name="Google Shape;53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2" name="Google Shape;53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36" name="Google Shape;536;p15"/>
            <p:cNvSpPr/>
            <p:nvPr/>
          </p:nvSpPr>
          <p:spPr>
            <a:xfrm flipH="1" rot="10800000">
              <a:off x="4860724" y="5735086"/>
              <a:ext cx="178041" cy="104043"/>
            </a:xfrm>
            <a:custGeom>
              <a:rect b="b" l="l" r="r" t="t"/>
              <a:pathLst>
                <a:path extrusionOk="0" h="194" w="318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 flipH="1" rot="10800000">
              <a:off x="5445456" y="4663823"/>
              <a:ext cx="45719" cy="202880"/>
            </a:xfrm>
            <a:custGeom>
              <a:rect b="b" l="l" r="r" t="t"/>
              <a:pathLst>
                <a:path extrusionOk="0" h="194" w="318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5532311" y="5746564"/>
              <a:ext cx="336683" cy="244860"/>
            </a:xfrm>
            <a:custGeom>
              <a:rect b="b" l="l" r="r" t="t"/>
              <a:pathLst>
                <a:path extrusionOk="0" h="174" w="29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39" name="Google Shape;539;p15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and the congested “bottleneck link”</a:t>
            </a:r>
            <a:endParaRPr b="0" sz="4400"/>
          </a:p>
        </p:txBody>
      </p:sp>
      <p:sp>
        <p:nvSpPr>
          <p:cNvPr id="540" name="Google Shape;540;p15"/>
          <p:cNvSpPr txBox="1"/>
          <p:nvPr/>
        </p:nvSpPr>
        <p:spPr>
          <a:xfrm>
            <a:off x="667043" y="1366203"/>
            <a:ext cx="11177587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(classic, CUBIC) increase TCP’s sending rate until packet loss occurs at some router’s output: the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bottleneck link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1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 flipH="1">
            <a:off x="2481263" y="3925832"/>
            <a:ext cx="326408" cy="1262816"/>
          </a:xfrm>
          <a:custGeom>
            <a:rect b="b" l="l" r="r" t="t"/>
            <a:pathLst>
              <a:path extrusionOk="0" h="10000" w="12213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>
            <a:gsLst>
              <a:gs pos="0">
                <a:srgbClr val="3333CC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45" name="Google Shape;545;p15"/>
          <p:cNvCxnSpPr/>
          <p:nvPr/>
        </p:nvCxnSpPr>
        <p:spPr>
          <a:xfrm>
            <a:off x="2814638" y="4227457"/>
            <a:ext cx="1058862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15"/>
          <p:cNvSpPr txBox="1"/>
          <p:nvPr/>
        </p:nvSpPr>
        <p:spPr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A3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grpSp>
        <p:nvGrpSpPr>
          <p:cNvPr id="547" name="Google Shape;547;p15"/>
          <p:cNvGrpSpPr/>
          <p:nvPr/>
        </p:nvGrpSpPr>
        <p:grpSpPr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descr="desktop_computer_stylized_medium" id="548" name="Google Shape;54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50" name="Google Shape;550;p15"/>
          <p:cNvCxnSpPr/>
          <p:nvPr/>
        </p:nvCxnSpPr>
        <p:spPr>
          <a:xfrm>
            <a:off x="2819400" y="4456057"/>
            <a:ext cx="1058863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15"/>
          <p:cNvCxnSpPr/>
          <p:nvPr/>
        </p:nvCxnSpPr>
        <p:spPr>
          <a:xfrm>
            <a:off x="2824163" y="4684657"/>
            <a:ext cx="1058862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5"/>
          <p:cNvCxnSpPr/>
          <p:nvPr/>
        </p:nvCxnSpPr>
        <p:spPr>
          <a:xfrm>
            <a:off x="2827338" y="4924370"/>
            <a:ext cx="1060450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3" name="Google Shape;553;p15"/>
          <p:cNvGrpSpPr/>
          <p:nvPr/>
        </p:nvGrpSpPr>
        <p:grpSpPr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554" name="Google Shape;554;p15"/>
            <p:cNvSpPr txBox="1"/>
            <p:nvPr/>
          </p:nvSpPr>
          <p:spPr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0" i="1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15"/>
            <p:cNvGrpSpPr/>
            <p:nvPr/>
          </p:nvGrpSpPr>
          <p:grpSpPr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556" name="Google Shape;556;p15"/>
              <p:cNvSpPr/>
              <p:nvPr/>
            </p:nvSpPr>
            <p:spPr>
              <a:xfrm>
                <a:off x="2426569" y="4714561"/>
                <a:ext cx="288261" cy="1290044"/>
              </a:xfrm>
              <a:custGeom>
                <a:rect b="b" l="l" r="r" t="t"/>
                <a:pathLst>
                  <a:path extrusionOk="0" h="1186" w="267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559" name="Google Shape;559;p15"/>
              <p:cNvCxnSpPr/>
              <p:nvPr/>
            </p:nvCxnSpPr>
            <p:spPr>
              <a:xfrm>
                <a:off x="1341249" y="50313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0" name="Google Shape;560;p15"/>
              <p:cNvSpPr txBox="1"/>
              <p:nvPr/>
            </p:nvSpPr>
            <p:spPr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0000A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grpSp>
            <p:nvGrpSpPr>
              <p:cNvPr id="561" name="Google Shape;561;p15"/>
              <p:cNvGrpSpPr/>
              <p:nvPr/>
            </p:nvGrpSpPr>
            <p:grpSpPr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descr="desktop_computer_stylized_medium" id="562" name="Google Shape;562;p1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3" name="Google Shape;563;p1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cxnSp>
            <p:nvCxnSpPr>
              <p:cNvPr id="564" name="Google Shape;564;p15"/>
              <p:cNvCxnSpPr/>
              <p:nvPr/>
            </p:nvCxnSpPr>
            <p:spPr>
              <a:xfrm>
                <a:off x="1345720" y="52602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15"/>
              <p:cNvCxnSpPr/>
              <p:nvPr/>
            </p:nvCxnSpPr>
            <p:spPr>
              <a:xfrm>
                <a:off x="1350191" y="54891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15"/>
              <p:cNvCxnSpPr/>
              <p:nvPr/>
            </p:nvCxnSpPr>
            <p:spPr>
              <a:xfrm>
                <a:off x="1354662" y="57282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67" name="Google Shape;567;p15"/>
          <p:cNvSpPr/>
          <p:nvPr/>
        </p:nvSpPr>
        <p:spPr>
          <a:xfrm>
            <a:off x="3329610" y="4423976"/>
            <a:ext cx="5073926" cy="1202035"/>
          </a:xfrm>
          <a:custGeom>
            <a:rect b="b" l="l" r="r" t="t"/>
            <a:pathLst>
              <a:path extrusionOk="0" h="1443677" w="5156094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387547" y="1150854"/>
                </a:lnTo>
                <a:lnTo>
                  <a:pt x="1832629" y="1440196"/>
                </a:lnTo>
                <a:lnTo>
                  <a:pt x="2063570" y="1443677"/>
                </a:lnTo>
                <a:lnTo>
                  <a:pt x="2809732" y="1093074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cap="flat" cmpd="sng" w="222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8" name="Google Shape;568;p15"/>
          <p:cNvSpPr txBox="1"/>
          <p:nvPr/>
        </p:nvSpPr>
        <p:spPr>
          <a:xfrm>
            <a:off x="4692557" y="6277338"/>
            <a:ext cx="31813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ottleneck link (almost always busy)</a:t>
            </a:r>
            <a:endParaRPr b="0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15"/>
          <p:cNvCxnSpPr/>
          <p:nvPr/>
        </p:nvCxnSpPr>
        <p:spPr>
          <a:xfrm>
            <a:off x="5609507" y="5767851"/>
            <a:ext cx="0" cy="566274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70" name="Google Shape;570;p15"/>
          <p:cNvGrpSpPr/>
          <p:nvPr/>
        </p:nvGrpSpPr>
        <p:grpSpPr>
          <a:xfrm>
            <a:off x="860107" y="5151058"/>
            <a:ext cx="4764459" cy="830997"/>
            <a:chOff x="703842" y="5262044"/>
            <a:chExt cx="4764459" cy="830997"/>
          </a:xfrm>
        </p:grpSpPr>
        <p:sp>
          <p:nvSpPr>
            <p:cNvPr id="571" name="Google Shape;571;p15"/>
            <p:cNvSpPr txBox="1"/>
            <p:nvPr/>
          </p:nvSpPr>
          <p:spPr>
            <a:xfrm>
              <a:off x="703842" y="5262044"/>
              <a:ext cx="233026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queue almost never empty, sometimes overflows packet (loss)</a:t>
              </a:r>
              <a:endParaRPr b="0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2" name="Google Shape;572;p15"/>
            <p:cNvGrpSpPr/>
            <p:nvPr/>
          </p:nvGrpSpPr>
          <p:grpSpPr>
            <a:xfrm>
              <a:off x="4921820" y="5505951"/>
              <a:ext cx="546481" cy="385934"/>
              <a:chOff x="4621648" y="3046041"/>
              <a:chExt cx="1120964" cy="768758"/>
            </a:xfrm>
          </p:grpSpPr>
          <p:grpSp>
            <p:nvGrpSpPr>
              <p:cNvPr id="573" name="Google Shape;573;p15"/>
              <p:cNvGrpSpPr/>
              <p:nvPr/>
            </p:nvGrpSpPr>
            <p:grpSpPr>
              <a:xfrm>
                <a:off x="5247312" y="3046041"/>
                <a:ext cx="495300" cy="760413"/>
                <a:chOff x="333961" y="4406169"/>
                <a:chExt cx="1255305" cy="2136353"/>
              </a:xfrm>
            </p:grpSpPr>
            <p:sp>
              <p:nvSpPr>
                <p:cNvPr id="574" name="Google Shape;574;p15"/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rect b="b" l="l" r="r" t="t"/>
                  <a:pathLst>
                    <a:path extrusionOk="0" h="2138362" w="966787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5"/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rect b="b" l="l" r="r" t="t"/>
                  <a:pathLst>
                    <a:path extrusionOk="0" h="757496" w="1238250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15"/>
                <p:cNvSpPr/>
                <p:nvPr/>
              </p:nvSpPr>
              <p:spPr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7" name="Google Shape;577;p15"/>
              <p:cNvGrpSpPr/>
              <p:nvPr/>
            </p:nvGrpSpPr>
            <p:grpSpPr>
              <a:xfrm>
                <a:off x="5041006" y="3051076"/>
                <a:ext cx="495300" cy="760413"/>
                <a:chOff x="333961" y="4406169"/>
                <a:chExt cx="1255305" cy="2136353"/>
              </a:xfrm>
            </p:grpSpPr>
            <p:sp>
              <p:nvSpPr>
                <p:cNvPr id="578" name="Google Shape;578;p15"/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rect b="b" l="l" r="r" t="t"/>
                  <a:pathLst>
                    <a:path extrusionOk="0" h="2138362" w="966787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15"/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rect b="b" l="l" r="r" t="t"/>
                  <a:pathLst>
                    <a:path extrusionOk="0" h="757496" w="1238250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15"/>
                <p:cNvSpPr/>
                <p:nvPr/>
              </p:nvSpPr>
              <p:spPr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1" name="Google Shape;581;p15"/>
              <p:cNvGrpSpPr/>
              <p:nvPr/>
            </p:nvGrpSpPr>
            <p:grpSpPr>
              <a:xfrm>
                <a:off x="4816091" y="3050224"/>
                <a:ext cx="493712" cy="760412"/>
                <a:chOff x="335231" y="4406992"/>
                <a:chExt cx="1251280" cy="2136350"/>
              </a:xfrm>
            </p:grpSpPr>
            <p:sp>
              <p:nvSpPr>
                <p:cNvPr id="582" name="Google Shape;582;p15"/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rect b="b" l="l" r="r" t="t"/>
                  <a:pathLst>
                    <a:path extrusionOk="0" h="2138362" w="966787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15"/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rect b="b" l="l" r="r" t="t"/>
                  <a:pathLst>
                    <a:path extrusionOk="0" h="757496" w="1238250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15"/>
                <p:cNvSpPr/>
                <p:nvPr/>
              </p:nvSpPr>
              <p:spPr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5" name="Google Shape;585;p15"/>
              <p:cNvGrpSpPr/>
              <p:nvPr/>
            </p:nvGrpSpPr>
            <p:grpSpPr>
              <a:xfrm>
                <a:off x="4621648" y="3054387"/>
                <a:ext cx="493712" cy="760412"/>
                <a:chOff x="335231" y="4406992"/>
                <a:chExt cx="1251280" cy="2136350"/>
              </a:xfrm>
            </p:grpSpPr>
            <p:sp>
              <p:nvSpPr>
                <p:cNvPr id="586" name="Google Shape;586;p15"/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rect b="b" l="l" r="r" t="t"/>
                  <a:pathLst>
                    <a:path extrusionOk="0" h="2138362" w="966787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15"/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rect b="b" l="l" r="r" t="t"/>
                  <a:pathLst>
                    <a:path extrusionOk="0" h="757496" w="1238250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15"/>
                <p:cNvSpPr/>
                <p:nvPr/>
              </p:nvSpPr>
              <p:spPr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589" name="Google Shape;589;p15"/>
            <p:cNvCxnSpPr/>
            <p:nvPr/>
          </p:nvCxnSpPr>
          <p:spPr>
            <a:xfrm rot="10800000">
              <a:off x="2972773" y="5696183"/>
              <a:ext cx="19316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90" name="Google Shape;590;p15"/>
          <p:cNvGrpSpPr/>
          <p:nvPr/>
        </p:nvGrpSpPr>
        <p:grpSpPr>
          <a:xfrm>
            <a:off x="5397500" y="4063641"/>
            <a:ext cx="609600" cy="628987"/>
            <a:chOff x="5486400" y="4101741"/>
            <a:chExt cx="609600" cy="628987"/>
          </a:xfrm>
        </p:grpSpPr>
        <p:sp>
          <p:nvSpPr>
            <p:cNvPr id="591" name="Google Shape;591;p15"/>
            <p:cNvSpPr/>
            <p:nvPr/>
          </p:nvSpPr>
          <p:spPr>
            <a:xfrm flipH="1">
              <a:off x="5658360" y="4102100"/>
              <a:ext cx="176916" cy="454025"/>
            </a:xfrm>
            <a:custGeom>
              <a:rect b="b" l="l" r="r" t="t"/>
              <a:pathLst>
                <a:path extrusionOk="0" h="7743" w="12711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Calibri"/>
                <a:buNone/>
              </a:pPr>
              <a:r>
                <a:t/>
              </a:r>
              <a:endParaRPr b="0" i="0" sz="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92" name="Google Shape;592;p15"/>
            <p:cNvGrpSpPr/>
            <p:nvPr/>
          </p:nvGrpSpPr>
          <p:grpSpPr>
            <a:xfrm flipH="1">
              <a:off x="5486400" y="4355542"/>
              <a:ext cx="350533" cy="375186"/>
              <a:chOff x="-44" y="1473"/>
              <a:chExt cx="981" cy="1105"/>
            </a:xfrm>
          </p:grpSpPr>
          <p:pic>
            <p:nvPicPr>
              <p:cNvPr descr="desktop_computer_stylized_medium" id="593" name="Google Shape;593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4" name="Google Shape;594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"/>
                  <a:buFont typeface="Calibri"/>
                  <a:buNone/>
                </a:pPr>
                <a:r>
                  <a:t/>
                </a:r>
                <a:endParaRPr b="0" i="0" sz="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595" name="Google Shape;595;p15"/>
            <p:cNvGrpSpPr/>
            <p:nvPr/>
          </p:nvGrpSpPr>
          <p:grpSpPr>
            <a:xfrm>
              <a:off x="5831973" y="4101741"/>
              <a:ext cx="264027" cy="451210"/>
              <a:chOff x="5831973" y="4101740"/>
              <a:chExt cx="295777" cy="502587"/>
            </a:xfrm>
          </p:grpSpPr>
          <p:sp>
            <p:nvSpPr>
              <p:cNvPr id="596" name="Google Shape;596;p15"/>
              <p:cNvSpPr/>
              <p:nvPr/>
            </p:nvSpPr>
            <p:spPr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"/>
                  <a:buFont typeface="Tahoma"/>
                  <a:buNone/>
                </a:pPr>
                <a:r>
                  <a:t/>
                </a:r>
                <a:endParaRPr b="0" i="0" sz="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97" name="Google Shape;597;p15"/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598" name="Google Shape;598;p15"/>
                <p:cNvCxnSpPr/>
                <p:nvPr/>
              </p:nvCxnSpPr>
              <p:spPr>
                <a:xfrm>
                  <a:off x="5835650" y="430530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99" name="Google Shape;599;p15"/>
                <p:cNvCxnSpPr/>
                <p:nvPr/>
              </p:nvCxnSpPr>
              <p:spPr>
                <a:xfrm>
                  <a:off x="5835650" y="419735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0" name="Google Shape;600;p15"/>
                <p:cNvCxnSpPr/>
                <p:nvPr/>
              </p:nvCxnSpPr>
              <p:spPr>
                <a:xfrm>
                  <a:off x="5832475" y="441325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1" name="Google Shape;601;p15"/>
                <p:cNvCxnSpPr/>
                <p:nvPr/>
              </p:nvCxnSpPr>
              <p:spPr>
                <a:xfrm>
                  <a:off x="5832475" y="4505325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602" name="Google Shape;602;p15"/>
          <p:cNvGrpSpPr/>
          <p:nvPr/>
        </p:nvGrpSpPr>
        <p:grpSpPr>
          <a:xfrm>
            <a:off x="3630569" y="5751891"/>
            <a:ext cx="719335" cy="546078"/>
            <a:chOff x="6454273" y="3133725"/>
            <a:chExt cx="719335" cy="546078"/>
          </a:xfrm>
        </p:grpSpPr>
        <p:sp>
          <p:nvSpPr>
            <p:cNvPr id="603" name="Google Shape;603;p15"/>
            <p:cNvSpPr/>
            <p:nvPr/>
          </p:nvSpPr>
          <p:spPr>
            <a:xfrm>
              <a:off x="6709285" y="3133725"/>
              <a:ext cx="176916" cy="454025"/>
            </a:xfrm>
            <a:custGeom>
              <a:rect b="b" l="l" r="r" t="t"/>
              <a:pathLst>
                <a:path extrusionOk="0" h="7743" w="12711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Calibri"/>
                <a:buNone/>
              </a:pPr>
              <a:r>
                <a:t/>
              </a:r>
              <a:endParaRPr b="0" i="0" sz="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04" name="Google Shape;604;p15"/>
            <p:cNvGrpSpPr/>
            <p:nvPr/>
          </p:nvGrpSpPr>
          <p:grpSpPr>
            <a:xfrm flipH="1">
              <a:off x="6823075" y="3304617"/>
              <a:ext cx="350533" cy="375186"/>
              <a:chOff x="-44" y="1473"/>
              <a:chExt cx="981" cy="1105"/>
            </a:xfrm>
          </p:grpSpPr>
          <p:pic>
            <p:nvPicPr>
              <p:cNvPr descr="desktop_computer_stylized_medium" id="605" name="Google Shape;605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6" name="Google Shape;606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"/>
                  <a:buFont typeface="Calibri"/>
                  <a:buNone/>
                </a:pPr>
                <a:r>
                  <a:t/>
                </a:r>
                <a:endParaRPr b="0" i="0" sz="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07" name="Google Shape;607;p15"/>
            <p:cNvGrpSpPr/>
            <p:nvPr/>
          </p:nvGrpSpPr>
          <p:grpSpPr>
            <a:xfrm>
              <a:off x="6454273" y="3142891"/>
              <a:ext cx="264027" cy="451210"/>
              <a:chOff x="5831973" y="4101740"/>
              <a:chExt cx="295777" cy="502587"/>
            </a:xfrm>
          </p:grpSpPr>
          <p:sp>
            <p:nvSpPr>
              <p:cNvPr id="608" name="Google Shape;608;p15"/>
              <p:cNvSpPr/>
              <p:nvPr/>
            </p:nvSpPr>
            <p:spPr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"/>
                  <a:buFont typeface="Tahoma"/>
                  <a:buNone/>
                </a:pPr>
                <a:r>
                  <a:t/>
                </a:r>
                <a:endParaRPr b="0" i="0" sz="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09" name="Google Shape;609;p15"/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610" name="Google Shape;610;p15"/>
                <p:cNvCxnSpPr/>
                <p:nvPr/>
              </p:nvCxnSpPr>
              <p:spPr>
                <a:xfrm>
                  <a:off x="5835650" y="430530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1" name="Google Shape;611;p15"/>
                <p:cNvCxnSpPr/>
                <p:nvPr/>
              </p:nvCxnSpPr>
              <p:spPr>
                <a:xfrm>
                  <a:off x="5835650" y="419735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2" name="Google Shape;612;p15"/>
                <p:cNvCxnSpPr/>
                <p:nvPr/>
              </p:nvCxnSpPr>
              <p:spPr>
                <a:xfrm>
                  <a:off x="5832475" y="4413250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3" name="Google Shape;613;p15"/>
                <p:cNvCxnSpPr/>
                <p:nvPr/>
              </p:nvCxnSpPr>
              <p:spPr>
                <a:xfrm>
                  <a:off x="5832475" y="4505325"/>
                  <a:ext cx="292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614" name="Google Shape;614;p15"/>
          <p:cNvSpPr/>
          <p:nvPr/>
        </p:nvSpPr>
        <p:spPr>
          <a:xfrm>
            <a:off x="4223838" y="4617911"/>
            <a:ext cx="1958882" cy="1476814"/>
          </a:xfrm>
          <a:custGeom>
            <a:rect b="b" l="l" r="r" t="t"/>
            <a:pathLst>
              <a:path extrusionOk="0" h="1476814" w="1958882">
                <a:moveTo>
                  <a:pt x="0" y="1476814"/>
                </a:moveTo>
                <a:cubicBezTo>
                  <a:pt x="192094" y="1377658"/>
                  <a:pt x="706525" y="1132479"/>
                  <a:pt x="887619" y="1048308"/>
                </a:cubicBezTo>
                <a:lnTo>
                  <a:pt x="1235779" y="1055960"/>
                </a:lnTo>
                <a:lnTo>
                  <a:pt x="1947405" y="780492"/>
                </a:lnTo>
                <a:lnTo>
                  <a:pt x="1958882" y="623629"/>
                </a:lnTo>
                <a:lnTo>
                  <a:pt x="1285517" y="218079"/>
                </a:lnTo>
                <a:lnTo>
                  <a:pt x="1327602" y="0"/>
                </a:lnTo>
              </a:path>
            </a:pathLst>
          </a:custGeom>
          <a:noFill/>
          <a:ln cap="flat" cmpd="sng" w="1905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5543550" y="5391150"/>
            <a:ext cx="133350" cy="371475"/>
          </a:xfrm>
          <a:prstGeom prst="ellipse">
            <a:avLst/>
          </a:prstGeom>
          <a:noFill/>
          <a:ln cap="flat" cmpd="sng" w="22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16"/>
          <p:cNvGrpSpPr/>
          <p:nvPr/>
        </p:nvGrpSpPr>
        <p:grpSpPr>
          <a:xfrm>
            <a:off x="4094463" y="4691367"/>
            <a:ext cx="2885057" cy="1481137"/>
            <a:chOff x="4094463" y="4691367"/>
            <a:chExt cx="2885057" cy="1481137"/>
          </a:xfrm>
        </p:grpSpPr>
        <p:sp>
          <p:nvSpPr>
            <p:cNvPr id="622" name="Google Shape;622;p16"/>
            <p:cNvSpPr/>
            <p:nvPr/>
          </p:nvSpPr>
          <p:spPr>
            <a:xfrm>
              <a:off x="4129957" y="4691367"/>
              <a:ext cx="2849563" cy="1481137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23" name="Google Shape;623;p16"/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624" name="Google Shape;624;p16"/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lt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5" name="Google Shape;625;p16"/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6" name="Google Shape;626;p16"/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627" name="Google Shape;627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1" name="Google Shape;631;p16"/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632" name="Google Shape;632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33" name="Google Shape;633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34" name="Google Shape;634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35" name="Google Shape;635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9" name="Google Shape;639;p16"/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640" name="Google Shape;640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41" name="Google Shape;641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42" name="Google Shape;642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43" name="Google Shape;643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16"/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648" name="Google Shape;648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49" name="Google Shape;649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50" name="Google Shape;650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51" name="Google Shape;651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55" name="Google Shape;655;p16"/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656" name="Google Shape;656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58" name="Google Shape;658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59" name="Google Shape;659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3" name="Google Shape;663;p16"/>
            <p:cNvSpPr/>
            <p:nvPr/>
          </p:nvSpPr>
          <p:spPr>
            <a:xfrm>
              <a:off x="4581324" y="4994579"/>
              <a:ext cx="542925" cy="295275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5622724" y="4988229"/>
              <a:ext cx="506413" cy="307975"/>
            </a:xfrm>
            <a:custGeom>
              <a:rect b="b" l="l" r="r" t="t"/>
              <a:pathLst>
                <a:path extrusionOk="0" h="194" w="318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4557512" y="5380342"/>
              <a:ext cx="481012" cy="238125"/>
            </a:xfrm>
            <a:custGeom>
              <a:rect b="b" l="l" r="r" t="t"/>
              <a:pathLst>
                <a:path extrusionOk="0" h="174" w="29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5505249" y="5356529"/>
              <a:ext cx="630238" cy="24765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6173587" y="5410504"/>
              <a:ext cx="206375" cy="508000"/>
            </a:xfrm>
            <a:custGeom>
              <a:rect b="b" l="l" r="r" t="t"/>
              <a:pathLst>
                <a:path extrusionOk="0" h="500" w="118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936923" y="5943904"/>
              <a:ext cx="970395" cy="81756"/>
            </a:xfrm>
            <a:custGeom>
              <a:rect b="b" l="l" r="r" t="t"/>
              <a:pathLst>
                <a:path extrusionOk="0" h="32" w="370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400349" y="5424888"/>
              <a:ext cx="193675" cy="404716"/>
            </a:xfrm>
            <a:custGeom>
              <a:rect b="b" l="l" r="r" t="t"/>
              <a:pathLst>
                <a:path extrusionOk="0" h="412" w="176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70" name="Google Shape;670;p16"/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671" name="Google Shape;671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3" name="Google Shape;673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4" name="Google Shape;674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78" name="Google Shape;678;p16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and the congested “bottleneck link”</a:t>
            </a:r>
            <a:endParaRPr b="0" sz="4400"/>
          </a:p>
        </p:txBody>
      </p:sp>
      <p:sp>
        <p:nvSpPr>
          <p:cNvPr id="679" name="Google Shape;679;p16"/>
          <p:cNvSpPr txBox="1"/>
          <p:nvPr/>
        </p:nvSpPr>
        <p:spPr>
          <a:xfrm>
            <a:off x="667043" y="1366203"/>
            <a:ext cx="11177587" cy="915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(classic, CUBIC) increase TCP’s sending rate until packet loss occurs at some router’s output: the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bottleneck link</a:t>
            </a:r>
            <a:endParaRPr/>
          </a:p>
        </p:txBody>
      </p:sp>
      <p:sp>
        <p:nvSpPr>
          <p:cNvPr id="680" name="Google Shape;680;p16"/>
          <p:cNvSpPr txBox="1"/>
          <p:nvPr/>
        </p:nvSpPr>
        <p:spPr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1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6"/>
          <p:cNvSpPr/>
          <p:nvPr/>
        </p:nvSpPr>
        <p:spPr>
          <a:xfrm flipH="1">
            <a:off x="2481263" y="3925832"/>
            <a:ext cx="326408" cy="1262816"/>
          </a:xfrm>
          <a:custGeom>
            <a:rect b="b" l="l" r="r" t="t"/>
            <a:pathLst>
              <a:path extrusionOk="0" h="10000" w="12213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>
            <a:gsLst>
              <a:gs pos="0">
                <a:srgbClr val="3333CC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3" name="Google Shape;683;p16"/>
          <p:cNvSpPr/>
          <p:nvPr/>
        </p:nvSpPr>
        <p:spPr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84" name="Google Shape;684;p16"/>
          <p:cNvCxnSpPr/>
          <p:nvPr/>
        </p:nvCxnSpPr>
        <p:spPr>
          <a:xfrm>
            <a:off x="2814638" y="4227457"/>
            <a:ext cx="1058862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16"/>
          <p:cNvSpPr txBox="1"/>
          <p:nvPr/>
        </p:nvSpPr>
        <p:spPr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A3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grpSp>
        <p:nvGrpSpPr>
          <p:cNvPr id="686" name="Google Shape;686;p16"/>
          <p:cNvGrpSpPr/>
          <p:nvPr/>
        </p:nvGrpSpPr>
        <p:grpSpPr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descr="desktop_computer_stylized_medium" id="687" name="Google Shape;68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689" name="Google Shape;689;p16"/>
          <p:cNvCxnSpPr/>
          <p:nvPr/>
        </p:nvCxnSpPr>
        <p:spPr>
          <a:xfrm>
            <a:off x="2819400" y="4456057"/>
            <a:ext cx="1058863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16"/>
          <p:cNvCxnSpPr/>
          <p:nvPr/>
        </p:nvCxnSpPr>
        <p:spPr>
          <a:xfrm>
            <a:off x="2824163" y="4684657"/>
            <a:ext cx="1058862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16"/>
          <p:cNvCxnSpPr/>
          <p:nvPr/>
        </p:nvCxnSpPr>
        <p:spPr>
          <a:xfrm>
            <a:off x="2827338" y="4924370"/>
            <a:ext cx="1060450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2" name="Google Shape;692;p16"/>
          <p:cNvGrpSpPr/>
          <p:nvPr/>
        </p:nvGrpSpPr>
        <p:grpSpPr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693" name="Google Shape;693;p16"/>
            <p:cNvSpPr txBox="1"/>
            <p:nvPr/>
          </p:nvSpPr>
          <p:spPr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0" i="1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" name="Google Shape;694;p16"/>
            <p:cNvGrpSpPr/>
            <p:nvPr/>
          </p:nvGrpSpPr>
          <p:grpSpPr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695" name="Google Shape;695;p16"/>
              <p:cNvSpPr/>
              <p:nvPr/>
            </p:nvSpPr>
            <p:spPr>
              <a:xfrm>
                <a:off x="2426569" y="4714561"/>
                <a:ext cx="288261" cy="1290044"/>
              </a:xfrm>
              <a:custGeom>
                <a:rect b="b" l="l" r="r" t="t"/>
                <a:pathLst>
                  <a:path extrusionOk="0" h="1186" w="267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97" name="Google Shape;697;p16"/>
              <p:cNvSpPr/>
              <p:nvPr/>
            </p:nvSpPr>
            <p:spPr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698" name="Google Shape;698;p16"/>
              <p:cNvCxnSpPr/>
              <p:nvPr/>
            </p:nvCxnSpPr>
            <p:spPr>
              <a:xfrm>
                <a:off x="1341249" y="50313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9" name="Google Shape;699;p16"/>
              <p:cNvSpPr txBox="1"/>
              <p:nvPr/>
            </p:nvSpPr>
            <p:spPr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0000A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grpSp>
            <p:nvGrpSpPr>
              <p:cNvPr id="700" name="Google Shape;700;p16"/>
              <p:cNvGrpSpPr/>
              <p:nvPr/>
            </p:nvGrpSpPr>
            <p:grpSpPr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descr="desktop_computer_stylized_medium" id="701" name="Google Shape;701;p1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02" name="Google Shape;702;p1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cxnSp>
            <p:nvCxnSpPr>
              <p:cNvPr id="703" name="Google Shape;703;p16"/>
              <p:cNvCxnSpPr/>
              <p:nvPr/>
            </p:nvCxnSpPr>
            <p:spPr>
              <a:xfrm>
                <a:off x="1345720" y="52602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" name="Google Shape;704;p16"/>
              <p:cNvCxnSpPr/>
              <p:nvPr/>
            </p:nvCxnSpPr>
            <p:spPr>
              <a:xfrm>
                <a:off x="1350191" y="54891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" name="Google Shape;705;p16"/>
              <p:cNvCxnSpPr/>
              <p:nvPr/>
            </p:nvCxnSpPr>
            <p:spPr>
              <a:xfrm>
                <a:off x="1354662" y="5728213"/>
                <a:ext cx="1059231" cy="288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06" name="Google Shape;706;p16"/>
          <p:cNvSpPr/>
          <p:nvPr/>
        </p:nvSpPr>
        <p:spPr>
          <a:xfrm>
            <a:off x="3329610" y="4423977"/>
            <a:ext cx="5073926" cy="1298611"/>
          </a:xfrm>
          <a:custGeom>
            <a:rect b="b" l="l" r="r" t="t"/>
            <a:pathLst>
              <a:path extrusionOk="0" h="1559667" w="5156094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824854" y="1559667"/>
                </a:lnTo>
                <a:lnTo>
                  <a:pt x="2145216" y="1553959"/>
                </a:lnTo>
                <a:lnTo>
                  <a:pt x="2930257" y="1152811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cap="flat" cmpd="sng" w="222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7" name="Google Shape;707;p16"/>
          <p:cNvSpPr txBox="1"/>
          <p:nvPr/>
        </p:nvSpPr>
        <p:spPr>
          <a:xfrm>
            <a:off x="640467" y="2288196"/>
            <a:ext cx="11177587" cy="915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congestion: useful to focus on congested bottleneck link</a:t>
            </a:r>
            <a:endParaRPr/>
          </a:p>
        </p:txBody>
      </p:sp>
      <p:grpSp>
        <p:nvGrpSpPr>
          <p:cNvPr id="708" name="Google Shape;708;p16"/>
          <p:cNvGrpSpPr/>
          <p:nvPr/>
        </p:nvGrpSpPr>
        <p:grpSpPr>
          <a:xfrm>
            <a:off x="4839045" y="5517878"/>
            <a:ext cx="876995" cy="403711"/>
            <a:chOff x="5033182" y="4091488"/>
            <a:chExt cx="876995" cy="403711"/>
          </a:xfrm>
        </p:grpSpPr>
        <p:cxnSp>
          <p:nvCxnSpPr>
            <p:cNvPr id="709" name="Google Shape;709;p16"/>
            <p:cNvCxnSpPr/>
            <p:nvPr/>
          </p:nvCxnSpPr>
          <p:spPr>
            <a:xfrm>
              <a:off x="5518407" y="4289261"/>
              <a:ext cx="869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0" name="Google Shape;710;p16"/>
            <p:cNvSpPr/>
            <p:nvPr/>
          </p:nvSpPr>
          <p:spPr>
            <a:xfrm>
              <a:off x="5150875" y="4091488"/>
              <a:ext cx="382771" cy="403711"/>
            </a:xfrm>
            <a:prstGeom prst="rect">
              <a:avLst/>
            </a:prstGeom>
            <a:solidFill>
              <a:srgbClr val="E4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5565439" y="4115310"/>
              <a:ext cx="344738" cy="344738"/>
            </a:xfrm>
            <a:prstGeom prst="ellipse">
              <a:avLst/>
            </a:prstGeom>
            <a:solidFill>
              <a:srgbClr val="E4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16"/>
            <p:cNvCxnSpPr/>
            <p:nvPr/>
          </p:nvCxnSpPr>
          <p:spPr>
            <a:xfrm>
              <a:off x="5427947" y="4125482"/>
              <a:ext cx="0" cy="328557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16"/>
            <p:cNvCxnSpPr/>
            <p:nvPr/>
          </p:nvCxnSpPr>
          <p:spPr>
            <a:xfrm>
              <a:off x="5330094" y="4125482"/>
              <a:ext cx="0" cy="328557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16"/>
            <p:cNvCxnSpPr/>
            <p:nvPr/>
          </p:nvCxnSpPr>
          <p:spPr>
            <a:xfrm>
              <a:off x="5238591" y="4125482"/>
              <a:ext cx="0" cy="328557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5" name="Google Shape;715;p16"/>
            <p:cNvSpPr/>
            <p:nvPr/>
          </p:nvSpPr>
          <p:spPr>
            <a:xfrm>
              <a:off x="5033182" y="4091488"/>
              <a:ext cx="112907" cy="40371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16"/>
          <p:cNvGrpSpPr/>
          <p:nvPr/>
        </p:nvGrpSpPr>
        <p:grpSpPr>
          <a:xfrm>
            <a:off x="3613959" y="3330565"/>
            <a:ext cx="4288552" cy="1038257"/>
            <a:chOff x="3613959" y="3330565"/>
            <a:chExt cx="4288552" cy="1038257"/>
          </a:xfrm>
        </p:grpSpPr>
        <p:sp>
          <p:nvSpPr>
            <p:cNvPr id="717" name="Google Shape;717;p16"/>
            <p:cNvSpPr txBox="1"/>
            <p:nvPr/>
          </p:nvSpPr>
          <p:spPr>
            <a:xfrm>
              <a:off x="3932559" y="3330565"/>
              <a:ext cx="3969952" cy="840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60375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insight: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increasing TCP sending rate will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increase end-end throughout with congested bottleneck</a:t>
              </a:r>
              <a:endParaRPr/>
            </a:p>
          </p:txBody>
        </p:sp>
        <p:cxnSp>
          <p:nvCxnSpPr>
            <p:cNvPr id="718" name="Google Shape;718;p16"/>
            <p:cNvCxnSpPr/>
            <p:nvPr/>
          </p:nvCxnSpPr>
          <p:spPr>
            <a:xfrm flipH="1">
              <a:off x="3613959" y="3751185"/>
              <a:ext cx="738967" cy="6176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9" name="Google Shape;719;p16"/>
          <p:cNvGrpSpPr/>
          <p:nvPr/>
        </p:nvGrpSpPr>
        <p:grpSpPr>
          <a:xfrm>
            <a:off x="477143" y="5329279"/>
            <a:ext cx="4243986" cy="840230"/>
            <a:chOff x="477143" y="5329279"/>
            <a:chExt cx="4243986" cy="840230"/>
          </a:xfrm>
        </p:grpSpPr>
        <p:sp>
          <p:nvSpPr>
            <p:cNvPr id="720" name="Google Shape;720;p16"/>
            <p:cNvSpPr txBox="1"/>
            <p:nvPr/>
          </p:nvSpPr>
          <p:spPr>
            <a:xfrm>
              <a:off x="477143" y="5329279"/>
              <a:ext cx="2818708" cy="840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60375" lvl="0" marL="460375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insight: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increasing TCP sending rate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will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increase measured RTT</a:t>
              </a:r>
              <a:endParaRPr/>
            </a:p>
          </p:txBody>
        </p:sp>
        <p:cxnSp>
          <p:nvCxnSpPr>
            <p:cNvPr id="721" name="Google Shape;721;p16"/>
            <p:cNvCxnSpPr/>
            <p:nvPr/>
          </p:nvCxnSpPr>
          <p:spPr>
            <a:xfrm>
              <a:off x="3375025" y="5714069"/>
              <a:ext cx="134610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22" name="Google Shape;722;p16"/>
          <p:cNvCxnSpPr/>
          <p:nvPr/>
        </p:nvCxnSpPr>
        <p:spPr>
          <a:xfrm>
            <a:off x="3375025" y="6443089"/>
            <a:ext cx="502851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23" name="Google Shape;723;p16"/>
          <p:cNvSpPr txBox="1"/>
          <p:nvPr/>
        </p:nvSpPr>
        <p:spPr>
          <a:xfrm>
            <a:off x="4970635" y="6269341"/>
            <a:ext cx="53501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sp>
        <p:nvSpPr>
          <p:cNvPr id="724" name="Google Shape;724;p16"/>
          <p:cNvSpPr txBox="1"/>
          <p:nvPr/>
        </p:nvSpPr>
        <p:spPr>
          <a:xfrm>
            <a:off x="5618466" y="5874964"/>
            <a:ext cx="758440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87375" lvl="0" marL="587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“keep the end-end pipe just full, but not fuller”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7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Delay-based TCP </a:t>
            </a:r>
            <a:r>
              <a:rPr lang="en-US"/>
              <a:t>c</a:t>
            </a:r>
            <a:r>
              <a:rPr lang="en-US" sz="4400"/>
              <a:t>ongestion </a:t>
            </a:r>
            <a:r>
              <a:rPr lang="en-US"/>
              <a:t>c</a:t>
            </a:r>
            <a:r>
              <a:rPr lang="en-US" sz="4400"/>
              <a:t>ontrol</a:t>
            </a:r>
            <a:endParaRPr b="0" sz="4400"/>
          </a:p>
        </p:txBody>
      </p:sp>
      <p:sp>
        <p:nvSpPr>
          <p:cNvPr id="731" name="Google Shape;731;p17"/>
          <p:cNvSpPr txBox="1"/>
          <p:nvPr/>
        </p:nvSpPr>
        <p:spPr>
          <a:xfrm>
            <a:off x="630271" y="1334752"/>
            <a:ext cx="11639957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Keeping sender-to-receiver pipe “just full enough, but no fuller”: keep bottleneck link busy transmitting, but avoid high delays/buffering</a:t>
            </a:r>
            <a:endParaRPr/>
          </a:p>
        </p:txBody>
      </p:sp>
      <p:grpSp>
        <p:nvGrpSpPr>
          <p:cNvPr id="732" name="Google Shape;732;p17"/>
          <p:cNvGrpSpPr/>
          <p:nvPr/>
        </p:nvGrpSpPr>
        <p:grpSpPr>
          <a:xfrm>
            <a:off x="1216626" y="2508955"/>
            <a:ext cx="5802008" cy="918937"/>
            <a:chOff x="2365663" y="2430127"/>
            <a:chExt cx="5802008" cy="918937"/>
          </a:xfrm>
        </p:grpSpPr>
        <p:grpSp>
          <p:nvGrpSpPr>
            <p:cNvPr id="733" name="Google Shape;733;p17"/>
            <p:cNvGrpSpPr/>
            <p:nvPr/>
          </p:nvGrpSpPr>
          <p:grpSpPr>
            <a:xfrm flipH="1">
              <a:off x="2365663" y="2430127"/>
              <a:ext cx="673100" cy="701675"/>
              <a:chOff x="-44" y="1473"/>
              <a:chExt cx="981" cy="1105"/>
            </a:xfrm>
          </p:grpSpPr>
          <p:pic>
            <p:nvPicPr>
              <p:cNvPr descr="desktop_computer_stylized_medium" id="734" name="Google Shape;734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5" name="Google Shape;735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36" name="Google Shape;736;p17"/>
            <p:cNvGrpSpPr/>
            <p:nvPr/>
          </p:nvGrpSpPr>
          <p:grpSpPr>
            <a:xfrm flipH="1">
              <a:off x="7493993" y="2467744"/>
              <a:ext cx="673678" cy="702006"/>
              <a:chOff x="-44" y="1473"/>
              <a:chExt cx="981" cy="1105"/>
            </a:xfrm>
          </p:grpSpPr>
          <p:pic>
            <p:nvPicPr>
              <p:cNvPr descr="desktop_computer_stylized_medium" id="737" name="Google Shape;737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8" name="Google Shape;738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39" name="Google Shape;739;p17"/>
            <p:cNvGrpSpPr/>
            <p:nvPr/>
          </p:nvGrpSpPr>
          <p:grpSpPr>
            <a:xfrm>
              <a:off x="5227521" y="2574515"/>
              <a:ext cx="876995" cy="403711"/>
              <a:chOff x="5033182" y="4091488"/>
              <a:chExt cx="876995" cy="403711"/>
            </a:xfrm>
          </p:grpSpPr>
          <p:cxnSp>
            <p:nvCxnSpPr>
              <p:cNvPr id="740" name="Google Shape;740;p17"/>
              <p:cNvCxnSpPr/>
              <p:nvPr/>
            </p:nvCxnSpPr>
            <p:spPr>
              <a:xfrm>
                <a:off x="5518407" y="4289261"/>
                <a:ext cx="869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41" name="Google Shape;741;p17"/>
              <p:cNvSpPr/>
              <p:nvPr/>
            </p:nvSpPr>
            <p:spPr>
              <a:xfrm>
                <a:off x="5150875" y="4091488"/>
                <a:ext cx="382771" cy="403711"/>
              </a:xfrm>
              <a:prstGeom prst="rect">
                <a:avLst/>
              </a:prstGeom>
              <a:solidFill>
                <a:srgbClr val="E4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7"/>
              <p:cNvSpPr/>
              <p:nvPr/>
            </p:nvSpPr>
            <p:spPr>
              <a:xfrm>
                <a:off x="5565439" y="4115310"/>
                <a:ext cx="344738" cy="344738"/>
              </a:xfrm>
              <a:prstGeom prst="ellipse">
                <a:avLst/>
              </a:prstGeom>
              <a:solidFill>
                <a:srgbClr val="E4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3" name="Google Shape;743;p17"/>
              <p:cNvCxnSpPr/>
              <p:nvPr/>
            </p:nvCxnSpPr>
            <p:spPr>
              <a:xfrm>
                <a:off x="5427947" y="4125482"/>
                <a:ext cx="0" cy="328557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17"/>
              <p:cNvCxnSpPr/>
              <p:nvPr/>
            </p:nvCxnSpPr>
            <p:spPr>
              <a:xfrm>
                <a:off x="5330094" y="4125482"/>
                <a:ext cx="0" cy="328557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17"/>
              <p:cNvCxnSpPr/>
              <p:nvPr/>
            </p:nvCxnSpPr>
            <p:spPr>
              <a:xfrm>
                <a:off x="5238591" y="4125482"/>
                <a:ext cx="0" cy="328557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46" name="Google Shape;746;p17"/>
              <p:cNvSpPr/>
              <p:nvPr/>
            </p:nvSpPr>
            <p:spPr>
              <a:xfrm>
                <a:off x="5033182" y="4091488"/>
                <a:ext cx="112907" cy="403711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17"/>
            <p:cNvGrpSpPr/>
            <p:nvPr/>
          </p:nvGrpSpPr>
          <p:grpSpPr>
            <a:xfrm>
              <a:off x="3067072" y="2776371"/>
              <a:ext cx="4456450" cy="344905"/>
              <a:chOff x="3391522" y="3946678"/>
              <a:chExt cx="4456450" cy="344905"/>
            </a:xfrm>
          </p:grpSpPr>
          <p:cxnSp>
            <p:nvCxnSpPr>
              <p:cNvPr id="748" name="Google Shape;748;p17"/>
              <p:cNvCxnSpPr/>
              <p:nvPr/>
            </p:nvCxnSpPr>
            <p:spPr>
              <a:xfrm>
                <a:off x="3391522" y="3946678"/>
                <a:ext cx="445645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749" name="Google Shape;749;p17"/>
              <p:cNvCxnSpPr/>
              <p:nvPr/>
            </p:nvCxnSpPr>
            <p:spPr>
              <a:xfrm>
                <a:off x="3391522" y="4291583"/>
                <a:ext cx="445645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cxnSp>
            <p:nvCxnSpPr>
              <p:cNvPr id="750" name="Google Shape;750;p17"/>
              <p:cNvCxnSpPr/>
              <p:nvPr/>
            </p:nvCxnSpPr>
            <p:spPr>
              <a:xfrm>
                <a:off x="7847972" y="3946678"/>
                <a:ext cx="0" cy="344905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51" name="Google Shape;751;p17"/>
            <p:cNvSpPr txBox="1"/>
            <p:nvPr/>
          </p:nvSpPr>
          <p:spPr>
            <a:xfrm>
              <a:off x="3454066" y="2887399"/>
              <a:ext cx="1465722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RTT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measured</a:t>
              </a:r>
              <a:endParaRPr b="0" baseline="-2500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2" name="Google Shape;752;p17"/>
          <p:cNvSpPr txBox="1"/>
          <p:nvPr/>
        </p:nvSpPr>
        <p:spPr>
          <a:xfrm>
            <a:off x="750855" y="3728780"/>
            <a:ext cx="11639957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Delay-based approach:</a:t>
            </a:r>
            <a:endParaRPr/>
          </a:p>
          <a:p>
            <a:pPr indent="-282575" lvl="0" marL="5238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minimum observed RTT (uncongested path)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5238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uncongested throughput with congestion window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cwnd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cwnd/RTT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 txBox="1"/>
          <p:nvPr/>
        </p:nvSpPr>
        <p:spPr>
          <a:xfrm>
            <a:off x="2305029" y="5206661"/>
            <a:ext cx="755583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measured throughput “very close” to  uncongested throughput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increase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cwnd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linearly                /* since path not congested */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 if measured throughput “far below” uncongested throughout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decrease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cwnd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since path is congested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4" name="Google Shape;754;p17"/>
          <p:cNvGrpSpPr/>
          <p:nvPr/>
        </p:nvGrpSpPr>
        <p:grpSpPr>
          <a:xfrm>
            <a:off x="7368304" y="2588834"/>
            <a:ext cx="3548062" cy="1114151"/>
            <a:chOff x="7481866" y="2350865"/>
            <a:chExt cx="3548062" cy="1114151"/>
          </a:xfrm>
        </p:grpSpPr>
        <p:sp>
          <p:nvSpPr>
            <p:cNvPr id="755" name="Google Shape;755;p17"/>
            <p:cNvSpPr txBox="1"/>
            <p:nvPr/>
          </p:nvSpPr>
          <p:spPr>
            <a:xfrm>
              <a:off x="9172199" y="2941796"/>
              <a:ext cx="1675523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RTT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measured</a:t>
              </a:r>
              <a:endParaRPr b="0" baseline="-2500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6" name="Google Shape;756;p17"/>
            <p:cNvGrpSpPr/>
            <p:nvPr/>
          </p:nvGrpSpPr>
          <p:grpSpPr>
            <a:xfrm>
              <a:off x="7481866" y="2350865"/>
              <a:ext cx="3548062" cy="923986"/>
              <a:chOff x="7519640" y="2453981"/>
              <a:chExt cx="3548062" cy="923986"/>
            </a:xfrm>
          </p:grpSpPr>
          <p:sp>
            <p:nvSpPr>
              <p:cNvPr id="757" name="Google Shape;757;p17"/>
              <p:cNvSpPr txBox="1"/>
              <p:nvPr/>
            </p:nvSpPr>
            <p:spPr>
              <a:xfrm>
                <a:off x="7519640" y="2731636"/>
                <a:ext cx="137159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measured </a:t>
                </a:r>
                <a:endParaRPr/>
              </a:p>
              <a:p>
                <a:pPr indent="0" lvl="0" marL="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throughput</a:t>
                </a:r>
                <a:endParaRPr/>
              </a:p>
            </p:txBody>
          </p:sp>
          <p:cxnSp>
            <p:nvCxnSpPr>
              <p:cNvPr id="758" name="Google Shape;758;p17"/>
              <p:cNvCxnSpPr/>
              <p:nvPr/>
            </p:nvCxnSpPr>
            <p:spPr>
              <a:xfrm>
                <a:off x="9284574" y="3075516"/>
                <a:ext cx="914400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59" name="Google Shape;759;p17"/>
              <p:cNvSpPr txBox="1"/>
              <p:nvPr/>
            </p:nvSpPr>
            <p:spPr>
              <a:xfrm>
                <a:off x="8852626" y="2855966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</a:t>
                </a:r>
                <a:endParaRPr/>
              </a:p>
            </p:txBody>
          </p:sp>
          <p:sp>
            <p:nvSpPr>
              <p:cNvPr id="760" name="Google Shape;760;p17"/>
              <p:cNvSpPr txBox="1"/>
              <p:nvPr/>
            </p:nvSpPr>
            <p:spPr>
              <a:xfrm>
                <a:off x="9209973" y="2453981"/>
                <a:ext cx="185772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# bytes sent in last RTT interval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8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Delay-based TCP </a:t>
            </a:r>
            <a:r>
              <a:rPr lang="en-US"/>
              <a:t>c</a:t>
            </a:r>
            <a:r>
              <a:rPr lang="en-US" sz="4400"/>
              <a:t>ongestion </a:t>
            </a:r>
            <a:r>
              <a:rPr lang="en-US"/>
              <a:t>c</a:t>
            </a:r>
            <a:r>
              <a:rPr lang="en-US" sz="4400"/>
              <a:t>ontrol</a:t>
            </a:r>
            <a:endParaRPr b="0" sz="4400"/>
          </a:p>
        </p:txBody>
      </p:sp>
      <p:sp>
        <p:nvSpPr>
          <p:cNvPr id="767" name="Google Shape;767;p18"/>
          <p:cNvSpPr txBox="1"/>
          <p:nvPr/>
        </p:nvSpPr>
        <p:spPr>
          <a:xfrm>
            <a:off x="574392" y="1614177"/>
            <a:ext cx="1138842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523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control without inducing/forcing loss</a:t>
            </a:r>
            <a:endParaRPr/>
          </a:p>
          <a:p>
            <a:pPr indent="-282575" lvl="0" marL="5238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maximizing throughout (“keeping the just pipe full… ”) while keeping delay low (“…but not fuller”)</a:t>
            </a:r>
            <a:endParaRPr/>
          </a:p>
        </p:txBody>
      </p:sp>
      <p:sp>
        <p:nvSpPr>
          <p:cNvPr id="768" name="Google Shape;768;p18"/>
          <p:cNvSpPr txBox="1"/>
          <p:nvPr/>
        </p:nvSpPr>
        <p:spPr>
          <a:xfrm>
            <a:off x="561692" y="2960377"/>
            <a:ext cx="1138842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523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number of deployed TCPs take a delay-based approach</a:t>
            </a:r>
            <a:endParaRPr/>
          </a:p>
          <a:p>
            <a:pPr indent="-282575" lvl="1" marL="866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BBR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deployed on Google’s (internal) backbone network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19"/>
          <p:cNvGrpSpPr/>
          <p:nvPr/>
        </p:nvGrpSpPr>
        <p:grpSpPr>
          <a:xfrm>
            <a:off x="2250281" y="3864630"/>
            <a:ext cx="7691437" cy="2578459"/>
            <a:chOff x="2151063" y="3594045"/>
            <a:chExt cx="7691437" cy="2578459"/>
          </a:xfrm>
        </p:grpSpPr>
        <p:sp>
          <p:nvSpPr>
            <p:cNvPr id="775" name="Google Shape;775;p19"/>
            <p:cNvSpPr/>
            <p:nvPr/>
          </p:nvSpPr>
          <p:spPr>
            <a:xfrm>
              <a:off x="4129957" y="4691367"/>
              <a:ext cx="2849563" cy="1481137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76" name="Google Shape;776;p19"/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777" name="Google Shape;777;p19"/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lt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78" name="Google Shape;778;p19"/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79" name="Google Shape;779;p19"/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780" name="Google Shape;780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84" name="Google Shape;784;p19"/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785" name="Google Shape;785;p1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87" name="Google Shape;787;p1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88" name="Google Shape;788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92" name="Google Shape;792;p19"/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793" name="Google Shape;793;p1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95" name="Google Shape;795;p1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96" name="Google Shape;796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00" name="Google Shape;800;p19"/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801" name="Google Shape;801;p1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02" name="Google Shape;802;p1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03" name="Google Shape;803;p1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04" name="Google Shape;804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08" name="Google Shape;808;p19"/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809" name="Google Shape;809;p1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11" name="Google Shape;811;p1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12" name="Google Shape;812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16" name="Google Shape;816;p19"/>
            <p:cNvSpPr txBox="1"/>
            <p:nvPr/>
          </p:nvSpPr>
          <p:spPr>
            <a:xfrm>
              <a:off x="3019425" y="3594045"/>
              <a:ext cx="711200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0" i="1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9"/>
            <p:cNvSpPr/>
            <p:nvPr/>
          </p:nvSpPr>
          <p:spPr>
            <a:xfrm flipH="1">
              <a:off x="2481263" y="3925832"/>
              <a:ext cx="326408" cy="1262816"/>
            </a:xfrm>
            <a:custGeom>
              <a:rect b="b" l="l" r="r" t="t"/>
              <a:pathLst>
                <a:path extrusionOk="0" h="10000" w="12213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18" name="Google Shape;818;p19"/>
            <p:cNvSpPr/>
            <p:nvPr/>
          </p:nvSpPr>
          <p:spPr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19" name="Google Shape;819;p19"/>
            <p:cNvSpPr/>
            <p:nvPr/>
          </p:nvSpPr>
          <p:spPr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820" name="Google Shape;820;p19"/>
            <p:cNvCxnSpPr/>
            <p:nvPr/>
          </p:nvCxnSpPr>
          <p:spPr>
            <a:xfrm>
              <a:off x="2814638" y="4227457"/>
              <a:ext cx="1058862" cy="31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1" name="Google Shape;821;p19"/>
            <p:cNvSpPr txBox="1"/>
            <p:nvPr/>
          </p:nvSpPr>
          <p:spPr>
            <a:xfrm>
              <a:off x="2773604" y="3957054"/>
              <a:ext cx="1104900" cy="1274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A3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</p:txBody>
        </p:sp>
        <p:grpSp>
          <p:nvGrpSpPr>
            <p:cNvPr id="822" name="Google Shape;822;p19"/>
            <p:cNvGrpSpPr/>
            <p:nvPr/>
          </p:nvGrpSpPr>
          <p:grpSpPr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descr="desktop_computer_stylized_medium" id="823" name="Google Shape;823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4" name="Google Shape;824;p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825" name="Google Shape;825;p19"/>
            <p:cNvCxnSpPr/>
            <p:nvPr/>
          </p:nvCxnSpPr>
          <p:spPr>
            <a:xfrm>
              <a:off x="2819400" y="4456057"/>
              <a:ext cx="1058863" cy="31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19"/>
            <p:cNvCxnSpPr/>
            <p:nvPr/>
          </p:nvCxnSpPr>
          <p:spPr>
            <a:xfrm>
              <a:off x="2824163" y="4684657"/>
              <a:ext cx="1058862" cy="31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19"/>
            <p:cNvCxnSpPr/>
            <p:nvPr/>
          </p:nvCxnSpPr>
          <p:spPr>
            <a:xfrm>
              <a:off x="2827338" y="4924370"/>
              <a:ext cx="1060450" cy="31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28" name="Google Shape;828;p19"/>
            <p:cNvGrpSpPr/>
            <p:nvPr/>
          </p:nvGrpSpPr>
          <p:grpSpPr>
            <a:xfrm>
              <a:off x="7794625" y="3673978"/>
              <a:ext cx="2047875" cy="1620287"/>
              <a:chOff x="4882752" y="4007261"/>
              <a:chExt cx="2046816" cy="1619544"/>
            </a:xfrm>
          </p:grpSpPr>
          <p:sp>
            <p:nvSpPr>
              <p:cNvPr id="829" name="Google Shape;829;p19"/>
              <p:cNvSpPr txBox="1"/>
              <p:nvPr/>
            </p:nvSpPr>
            <p:spPr>
              <a:xfrm>
                <a:off x="4882752" y="4007261"/>
                <a:ext cx="12260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destination</a:t>
                </a:r>
                <a:endParaRPr b="0" i="1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" name="Google Shape;830;p19"/>
              <p:cNvGrpSpPr/>
              <p:nvPr/>
            </p:nvGrpSpPr>
            <p:grpSpPr>
              <a:xfrm>
                <a:off x="4927179" y="4319856"/>
                <a:ext cx="2002389" cy="1306949"/>
                <a:chOff x="1305623" y="4714561"/>
                <a:chExt cx="2002389" cy="1306949"/>
              </a:xfrm>
            </p:grpSpPr>
            <p:sp>
              <p:nvSpPr>
                <p:cNvPr id="831" name="Google Shape;831;p19"/>
                <p:cNvSpPr/>
                <p:nvPr/>
              </p:nvSpPr>
              <p:spPr>
                <a:xfrm>
                  <a:off x="2426569" y="4714561"/>
                  <a:ext cx="288261" cy="1290044"/>
                </a:xfrm>
                <a:custGeom>
                  <a:rect b="b" l="l" r="r" t="t"/>
                  <a:pathLst>
                    <a:path extrusionOk="0" h="1186" w="267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32" name="Google Shape;832;p19"/>
                <p:cNvSpPr/>
                <p:nvPr/>
              </p:nvSpPr>
              <p:spPr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Tahoma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33" name="Google Shape;833;p19"/>
                <p:cNvSpPr/>
                <p:nvPr/>
              </p:nvSpPr>
              <p:spPr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Tahoma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834" name="Google Shape;834;p19"/>
                <p:cNvCxnSpPr/>
                <p:nvPr/>
              </p:nvCxnSpPr>
              <p:spPr>
                <a:xfrm>
                  <a:off x="1341249" y="5031313"/>
                  <a:ext cx="1059231" cy="28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35" name="Google Shape;835;p19"/>
                <p:cNvSpPr txBox="1"/>
                <p:nvPr/>
              </p:nvSpPr>
              <p:spPr>
                <a:xfrm>
                  <a:off x="1305623" y="4747333"/>
                  <a:ext cx="1104329" cy="12741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FBFB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BFBFB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/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3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0000A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TCP</a:t>
                  </a:r>
                  <a:endParaRPr/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FBFB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BFBFB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FBFB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BFBFB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FBFB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BFBFB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/>
                </a:p>
              </p:txBody>
            </p:sp>
            <p:grpSp>
              <p:nvGrpSpPr>
                <p:cNvPr id="836" name="Google Shape;836;p19"/>
                <p:cNvGrpSpPr/>
                <p:nvPr/>
              </p:nvGrpSpPr>
              <p:grpSpPr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descr="desktop_computer_stylized_medium" id="837" name="Google Shape;837;p1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38" name="Google Shape;838;p1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</p:grpSp>
            <p:cxnSp>
              <p:nvCxnSpPr>
                <p:cNvPr id="839" name="Google Shape;839;p19"/>
                <p:cNvCxnSpPr/>
                <p:nvPr/>
              </p:nvCxnSpPr>
              <p:spPr>
                <a:xfrm>
                  <a:off x="1345720" y="5260213"/>
                  <a:ext cx="1059231" cy="28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0" name="Google Shape;840;p19"/>
                <p:cNvCxnSpPr/>
                <p:nvPr/>
              </p:nvCxnSpPr>
              <p:spPr>
                <a:xfrm>
                  <a:off x="1350191" y="5489113"/>
                  <a:ext cx="1059231" cy="28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1" name="Google Shape;841;p19"/>
                <p:cNvCxnSpPr/>
                <p:nvPr/>
              </p:nvCxnSpPr>
              <p:spPr>
                <a:xfrm>
                  <a:off x="1354662" y="5728213"/>
                  <a:ext cx="1059231" cy="28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42" name="Google Shape;842;p19"/>
            <p:cNvSpPr/>
            <p:nvPr/>
          </p:nvSpPr>
          <p:spPr>
            <a:xfrm>
              <a:off x="4581324" y="4994579"/>
              <a:ext cx="542925" cy="295275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5622724" y="4988229"/>
              <a:ext cx="506413" cy="307975"/>
            </a:xfrm>
            <a:custGeom>
              <a:rect b="b" l="l" r="r" t="t"/>
              <a:pathLst>
                <a:path extrusionOk="0" h="194" w="318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4557512" y="5380342"/>
              <a:ext cx="481012" cy="238125"/>
            </a:xfrm>
            <a:custGeom>
              <a:rect b="b" l="l" r="r" t="t"/>
              <a:pathLst>
                <a:path extrusionOk="0" h="174" w="29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5505249" y="5356529"/>
              <a:ext cx="630238" cy="24765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6173587" y="5410504"/>
              <a:ext cx="206375" cy="508000"/>
            </a:xfrm>
            <a:custGeom>
              <a:rect b="b" l="l" r="r" t="t"/>
              <a:pathLst>
                <a:path extrusionOk="0" h="500" w="118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4936923" y="5943904"/>
              <a:ext cx="970395" cy="81756"/>
            </a:xfrm>
            <a:custGeom>
              <a:rect b="b" l="l" r="r" t="t"/>
              <a:pathLst>
                <a:path extrusionOk="0" h="32" w="370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4400349" y="5424888"/>
              <a:ext cx="193675" cy="404716"/>
            </a:xfrm>
            <a:custGeom>
              <a:rect b="b" l="l" r="r" t="t"/>
              <a:pathLst>
                <a:path extrusionOk="0" h="412" w="176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3329610" y="4423977"/>
              <a:ext cx="5073926" cy="1298611"/>
            </a:xfrm>
            <a:custGeom>
              <a:rect b="b" l="l" r="r" t="t"/>
              <a:pathLst>
                <a:path extrusionOk="0" h="1559667" w="5156094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cap="flat" cmpd="sng" w="22225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50" name="Google Shape;850;p19"/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851" name="Google Shape;851;p1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52" name="Google Shape;852;p1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53" name="Google Shape;853;p1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54" name="Google Shape;854;p1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1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1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1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58" name="Google Shape;858;p19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Explicit congestion notification </a:t>
            </a:r>
            <a:r>
              <a:rPr lang="en-US" sz="3600"/>
              <a:t>(ECN)</a:t>
            </a:r>
            <a:endParaRPr b="0" sz="4400"/>
          </a:p>
        </p:txBody>
      </p:sp>
      <p:sp>
        <p:nvSpPr>
          <p:cNvPr id="859" name="Google Shape;859;p19"/>
          <p:cNvSpPr txBox="1"/>
          <p:nvPr/>
        </p:nvSpPr>
        <p:spPr>
          <a:xfrm>
            <a:off x="719638" y="1274465"/>
            <a:ext cx="11177587" cy="2620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deployments often implement</a:t>
            </a:r>
            <a:r>
              <a:rPr b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network-assisted </a:t>
            </a:r>
            <a:r>
              <a:rPr b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bits in IP header (ToS field) marked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by network router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indicate congestion</a:t>
            </a:r>
            <a:endParaRPr/>
          </a:p>
          <a:p>
            <a:pPr indent="-215900" lvl="1" marL="8001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determine marking chosen by network operator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indication carried to destination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sets ECE bit on ACK segment to notify sender of congestion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involves both IP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(IP header ECN bit marking)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TCP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(TCP header C,E bit marking)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0" name="Google Shape;860;p19"/>
          <p:cNvGrpSpPr/>
          <p:nvPr/>
        </p:nvGrpSpPr>
        <p:grpSpPr>
          <a:xfrm>
            <a:off x="3226593" y="5686054"/>
            <a:ext cx="1493838" cy="307975"/>
            <a:chOff x="1502428" y="5844331"/>
            <a:chExt cx="1493249" cy="307777"/>
          </a:xfrm>
        </p:grpSpPr>
        <p:grpSp>
          <p:nvGrpSpPr>
            <p:cNvPr id="861" name="Google Shape;861;p19"/>
            <p:cNvGrpSpPr/>
            <p:nvPr/>
          </p:nvGrpSpPr>
          <p:grpSpPr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862" name="Google Shape;862;p19"/>
              <p:cNvGrpSpPr/>
              <p:nvPr/>
            </p:nvGrpSpPr>
            <p:grpSpPr>
              <a:xfrm>
                <a:off x="3999308" y="5783870"/>
                <a:ext cx="821517" cy="260606"/>
                <a:chOff x="-2975522" y="4129762"/>
                <a:chExt cx="1281721" cy="456281"/>
              </a:xfrm>
            </p:grpSpPr>
            <p:sp>
              <p:nvSpPr>
                <p:cNvPr id="863" name="Google Shape;863;p19"/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12700">
                  <a:solidFill>
                    <a:srgbClr val="00664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64" name="Google Shape;864;p19"/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12700">
                  <a:solidFill>
                    <a:srgbClr val="00664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65" name="Google Shape;865;p19"/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rect b="b" l="l" r="r" t="t"/>
                  <a:pathLst>
                    <a:path extrusionOk="0" h="93730" w="1223105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32936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66" name="Google Shape;866;p19"/>
                <p:cNvSpPr/>
                <p:nvPr/>
              </p:nvSpPr>
              <p:spPr>
                <a:xfrm flipH="1" rot="10411447">
                  <a:off x="-1853972" y="4146428"/>
                  <a:ext cx="136170" cy="433318"/>
                </a:xfrm>
                <a:custGeom>
                  <a:rect b="b" l="l" r="r" t="t"/>
                  <a:pathLst>
                    <a:path extrusionOk="0" h="891908" w="136342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32936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867" name="Google Shape;867;p19"/>
              <p:cNvSpPr txBox="1"/>
              <p:nvPr/>
            </p:nvSpPr>
            <p:spPr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ECN=10</a:t>
                </a:r>
                <a:endParaRPr/>
              </a:p>
            </p:txBody>
          </p:sp>
        </p:grpSp>
        <p:cxnSp>
          <p:nvCxnSpPr>
            <p:cNvPr id="868" name="Google Shape;868;p19"/>
            <p:cNvCxnSpPr/>
            <p:nvPr/>
          </p:nvCxnSpPr>
          <p:spPr>
            <a:xfrm flipH="1" rot="10800000">
              <a:off x="2150568" y="6133267"/>
              <a:ext cx="612066" cy="1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69" name="Google Shape;869;p19"/>
          <p:cNvGrpSpPr/>
          <p:nvPr/>
        </p:nvGrpSpPr>
        <p:grpSpPr>
          <a:xfrm>
            <a:off x="5345906" y="5617791"/>
            <a:ext cx="1493837" cy="358775"/>
            <a:chOff x="3621632" y="5775938"/>
            <a:chExt cx="1493249" cy="357723"/>
          </a:xfrm>
        </p:grpSpPr>
        <p:grpSp>
          <p:nvGrpSpPr>
            <p:cNvPr id="870" name="Google Shape;870;p19"/>
            <p:cNvGrpSpPr/>
            <p:nvPr/>
          </p:nvGrpSpPr>
          <p:grpSpPr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871" name="Google Shape;871;p19"/>
              <p:cNvGrpSpPr/>
              <p:nvPr/>
            </p:nvGrpSpPr>
            <p:grpSpPr>
              <a:xfrm>
                <a:off x="3999308" y="5783852"/>
                <a:ext cx="821480" cy="260019"/>
                <a:chOff x="-2975522" y="4129732"/>
                <a:chExt cx="1281665" cy="455254"/>
              </a:xfrm>
            </p:grpSpPr>
            <p:sp>
              <p:nvSpPr>
                <p:cNvPr id="872" name="Google Shape;872;p19"/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12700">
                  <a:solidFill>
                    <a:srgbClr val="00664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73" name="Google Shape;873;p19"/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12700">
                  <a:solidFill>
                    <a:srgbClr val="00664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74" name="Google Shape;874;p19"/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rect b="b" l="l" r="r" t="t"/>
                  <a:pathLst>
                    <a:path extrusionOk="0" h="93730" w="1223105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32936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75" name="Google Shape;875;p19"/>
                <p:cNvSpPr/>
                <p:nvPr/>
              </p:nvSpPr>
              <p:spPr>
                <a:xfrm flipH="1" rot="10411447">
                  <a:off x="-1853974" y="4146360"/>
                  <a:ext cx="136171" cy="432326"/>
                </a:xfrm>
                <a:custGeom>
                  <a:rect b="b" l="l" r="r" t="t"/>
                  <a:pathLst>
                    <a:path extrusionOk="0" h="891908" w="136342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32936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876" name="Google Shape;876;p19"/>
              <p:cNvSpPr txBox="1"/>
              <p:nvPr/>
            </p:nvSpPr>
            <p:spPr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ECN=</a:t>
                </a:r>
                <a:r>
                  <a:rPr lang="en-US" sz="1400">
                    <a:solidFill>
                      <a:srgbClr val="FF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1</a:t>
                </a:r>
                <a:r>
                  <a:rPr b="0" i="0" lang="en-US" sz="1400" u="none" cap="none" strike="noStrike">
                    <a:solidFill>
                      <a:srgbClr val="FF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1</a:t>
                </a:r>
                <a:endParaRPr/>
              </a:p>
            </p:txBody>
          </p:sp>
        </p:grpSp>
        <p:cxnSp>
          <p:nvCxnSpPr>
            <p:cNvPr id="877" name="Google Shape;877;p19"/>
            <p:cNvCxnSpPr/>
            <p:nvPr/>
          </p:nvCxnSpPr>
          <p:spPr>
            <a:xfrm flipH="1" rot="10800000">
              <a:off x="4483694" y="5949896"/>
              <a:ext cx="457353" cy="183765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78" name="Google Shape;878;p19"/>
          <p:cNvGrpSpPr/>
          <p:nvPr/>
        </p:nvGrpSpPr>
        <p:grpSpPr>
          <a:xfrm>
            <a:off x="4058443" y="4376366"/>
            <a:ext cx="3983038" cy="379413"/>
            <a:chOff x="2334273" y="4534486"/>
            <a:chExt cx="3981995" cy="378689"/>
          </a:xfrm>
        </p:grpSpPr>
        <p:grpSp>
          <p:nvGrpSpPr>
            <p:cNvPr id="879" name="Google Shape;879;p19"/>
            <p:cNvGrpSpPr/>
            <p:nvPr/>
          </p:nvGrpSpPr>
          <p:grpSpPr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880" name="Google Shape;880;p19"/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cap="flat" cmpd="sng" w="12700">
                <a:solidFill>
                  <a:srgbClr val="00664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cap="flat" cmpd="sng" w="127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3859775" y="4425511"/>
                <a:ext cx="783947" cy="53534"/>
              </a:xfrm>
              <a:custGeom>
                <a:rect b="b" l="l" r="r" t="t"/>
                <a:pathLst>
                  <a:path extrusionOk="0" h="93730" w="1223105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 flipH="1" rot="10411447">
                <a:off x="4579084" y="4434448"/>
                <a:ext cx="87388" cy="248479"/>
              </a:xfrm>
              <a:custGeom>
                <a:rect b="b" l="l" r="r" t="t"/>
                <a:pathLst>
                  <a:path extrusionOk="0" h="891908" w="136342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4" name="Google Shape;884;p19"/>
              <p:cNvSpPr txBox="1"/>
              <p:nvPr/>
            </p:nvSpPr>
            <p:spPr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ECE=</a:t>
                </a:r>
                <a:r>
                  <a:rPr b="0" i="0" lang="en-US" sz="1400" u="none" cap="none" strike="noStrike">
                    <a:solidFill>
                      <a:srgbClr val="FF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1</a:t>
                </a:r>
                <a:endParaRPr/>
              </a:p>
            </p:txBody>
          </p:sp>
        </p:grpSp>
        <p:cxnSp>
          <p:nvCxnSpPr>
            <p:cNvPr id="885" name="Google Shape;885;p19"/>
            <p:cNvCxnSpPr/>
            <p:nvPr/>
          </p:nvCxnSpPr>
          <p:spPr>
            <a:xfrm rot="10800000">
              <a:off x="3801047" y="4905427"/>
              <a:ext cx="697737" cy="7748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86" name="Google Shape;886;p19"/>
            <p:cNvCxnSpPr/>
            <p:nvPr/>
          </p:nvCxnSpPr>
          <p:spPr>
            <a:xfrm rot="10800000">
              <a:off x="2334273" y="4839428"/>
              <a:ext cx="3981995" cy="0"/>
            </a:xfrm>
            <a:prstGeom prst="straightConnector1">
              <a:avLst/>
            </a:prstGeom>
            <a:noFill/>
            <a:ln cap="flat" cmpd="sng" w="12700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87" name="Google Shape;887;p19"/>
          <p:cNvGrpSpPr/>
          <p:nvPr/>
        </p:nvGrpSpPr>
        <p:grpSpPr>
          <a:xfrm>
            <a:off x="2626518" y="6003554"/>
            <a:ext cx="1160463" cy="461962"/>
            <a:chOff x="902416" y="6160831"/>
            <a:chExt cx="1160369" cy="462226"/>
          </a:xfrm>
        </p:grpSpPr>
        <p:sp>
          <p:nvSpPr>
            <p:cNvPr id="888" name="Google Shape;888;p19"/>
            <p:cNvSpPr txBox="1"/>
            <p:nvPr/>
          </p:nvSpPr>
          <p:spPr>
            <a:xfrm>
              <a:off x="902416" y="6315280"/>
              <a:ext cx="11603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IP datagram</a:t>
              </a:r>
              <a:endParaRPr/>
            </a:p>
          </p:txBody>
        </p:sp>
        <p:cxnSp>
          <p:nvCxnSpPr>
            <p:cNvPr id="889" name="Google Shape;889;p19"/>
            <p:cNvCxnSpPr/>
            <p:nvPr/>
          </p:nvCxnSpPr>
          <p:spPr>
            <a:xfrm flipH="1">
              <a:off x="1785033" y="6160831"/>
              <a:ext cx="274620" cy="24025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90" name="Google Shape;890;p19"/>
          <p:cNvGrpSpPr/>
          <p:nvPr/>
        </p:nvGrpSpPr>
        <p:grpSpPr>
          <a:xfrm>
            <a:off x="6257131" y="3838204"/>
            <a:ext cx="1620837" cy="515937"/>
            <a:chOff x="4531899" y="3996483"/>
            <a:chExt cx="1620957" cy="514832"/>
          </a:xfrm>
        </p:grpSpPr>
        <p:sp>
          <p:nvSpPr>
            <p:cNvPr id="891" name="Google Shape;891;p19"/>
            <p:cNvSpPr txBox="1"/>
            <p:nvPr/>
          </p:nvSpPr>
          <p:spPr>
            <a:xfrm>
              <a:off x="4531899" y="3996483"/>
              <a:ext cx="16209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TCP ACK segment</a:t>
              </a:r>
              <a:endParaRPr/>
            </a:p>
          </p:txBody>
        </p:sp>
        <p:cxnSp>
          <p:nvCxnSpPr>
            <p:cNvPr id="892" name="Google Shape;892;p19"/>
            <p:cNvCxnSpPr/>
            <p:nvPr/>
          </p:nvCxnSpPr>
          <p:spPr>
            <a:xfrm flipH="1">
              <a:off x="4632144" y="4271060"/>
              <a:ext cx="274620" cy="24025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20"/>
          <p:cNvGrpSpPr/>
          <p:nvPr/>
        </p:nvGrpSpPr>
        <p:grpSpPr>
          <a:xfrm>
            <a:off x="7593761" y="3434252"/>
            <a:ext cx="1100814" cy="719137"/>
            <a:chOff x="7493876" y="2774731"/>
            <a:chExt cx="1481958" cy="894622"/>
          </a:xfrm>
        </p:grpSpPr>
        <p:sp>
          <p:nvSpPr>
            <p:cNvPr id="899" name="Google Shape;899;p2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1" name="Google Shape;901;p2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2" name="Google Shape;902;p2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2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2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2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6" name="Google Shape;906;p20"/>
          <p:cNvGrpSpPr/>
          <p:nvPr/>
        </p:nvGrpSpPr>
        <p:grpSpPr>
          <a:xfrm>
            <a:off x="5720127" y="3438633"/>
            <a:ext cx="1100814" cy="719137"/>
            <a:chOff x="7493876" y="2774731"/>
            <a:chExt cx="1481958" cy="894622"/>
          </a:xfrm>
        </p:grpSpPr>
        <p:sp>
          <p:nvSpPr>
            <p:cNvPr id="907" name="Google Shape;907;p2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9" name="Google Shape;909;p2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0" name="Google Shape;910;p2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2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2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4" name="Google Shape;914;p20"/>
          <p:cNvSpPr txBox="1"/>
          <p:nvPr>
            <p:ph type="title"/>
          </p:nvPr>
        </p:nvSpPr>
        <p:spPr>
          <a:xfrm>
            <a:off x="798719" y="271755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fairness</a:t>
            </a:r>
            <a:endParaRPr b="0" sz="4400"/>
          </a:p>
        </p:txBody>
      </p:sp>
      <p:sp>
        <p:nvSpPr>
          <p:cNvPr id="915" name="Google Shape;915;p20"/>
          <p:cNvSpPr txBox="1"/>
          <p:nvPr/>
        </p:nvSpPr>
        <p:spPr>
          <a:xfrm>
            <a:off x="876300" y="1271325"/>
            <a:ext cx="10174288" cy="108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Fairness 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sessions share same bottleneck link of bandwidth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each should have average rate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R/K</a:t>
            </a:r>
            <a:endParaRPr/>
          </a:p>
        </p:txBody>
      </p:sp>
      <p:cxnSp>
        <p:nvCxnSpPr>
          <p:cNvPr id="916" name="Google Shape;916;p20"/>
          <p:cNvCxnSpPr/>
          <p:nvPr/>
        </p:nvCxnSpPr>
        <p:spPr>
          <a:xfrm flipH="1" rot="10800000">
            <a:off x="6816123" y="3752849"/>
            <a:ext cx="819151" cy="8919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20"/>
          <p:cNvSpPr/>
          <p:nvPr/>
        </p:nvSpPr>
        <p:spPr>
          <a:xfrm>
            <a:off x="6986588" y="3552825"/>
            <a:ext cx="147637" cy="200025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8" name="Google Shape;918;p20"/>
          <p:cNvSpPr/>
          <p:nvPr/>
        </p:nvSpPr>
        <p:spPr>
          <a:xfrm>
            <a:off x="6296025" y="3614738"/>
            <a:ext cx="147638" cy="200025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6586538" y="3552825"/>
            <a:ext cx="147637" cy="200025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0" name="Google Shape;920;p20"/>
          <p:cNvSpPr txBox="1"/>
          <p:nvPr/>
        </p:nvSpPr>
        <p:spPr>
          <a:xfrm>
            <a:off x="2370566" y="2468215"/>
            <a:ext cx="23382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1</a:t>
            </a:r>
            <a:endParaRPr/>
          </a:p>
        </p:txBody>
      </p:sp>
      <p:sp>
        <p:nvSpPr>
          <p:cNvPr id="921" name="Google Shape;921;p20"/>
          <p:cNvSpPr txBox="1"/>
          <p:nvPr/>
        </p:nvSpPr>
        <p:spPr>
          <a:xfrm>
            <a:off x="5510979" y="4275418"/>
            <a:ext cx="1518813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 R</a:t>
            </a:r>
            <a:endParaRPr/>
          </a:p>
        </p:txBody>
      </p:sp>
      <p:sp>
        <p:nvSpPr>
          <p:cNvPr id="922" name="Google Shape;922;p20"/>
          <p:cNvSpPr/>
          <p:nvPr/>
        </p:nvSpPr>
        <p:spPr>
          <a:xfrm>
            <a:off x="4765675" y="2967952"/>
            <a:ext cx="4227323" cy="719138"/>
          </a:xfrm>
          <a:custGeom>
            <a:rect b="b" l="l" r="r" t="t"/>
            <a:pathLst>
              <a:path extrusionOk="0" h="453" w="2412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cap="flat" cmpd="sng" w="38100">
            <a:solidFill>
              <a:srgbClr val="00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3" name="Google Shape;923;p20"/>
          <p:cNvSpPr/>
          <p:nvPr/>
        </p:nvSpPr>
        <p:spPr>
          <a:xfrm>
            <a:off x="6457950" y="361473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4" name="Google Shape;924;p20"/>
          <p:cNvSpPr/>
          <p:nvPr/>
        </p:nvSpPr>
        <p:spPr>
          <a:xfrm>
            <a:off x="4724400" y="3763963"/>
            <a:ext cx="4268598" cy="719137"/>
          </a:xfrm>
          <a:custGeom>
            <a:rect b="b" l="l" r="r" t="t"/>
            <a:pathLst>
              <a:path extrusionOk="0" h="453" w="2412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cap="flat" cmpd="sng" w="381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5" name="Google Shape;925;p20"/>
          <p:cNvSpPr txBox="1"/>
          <p:nvPr/>
        </p:nvSpPr>
        <p:spPr>
          <a:xfrm>
            <a:off x="2354381" y="4692948"/>
            <a:ext cx="23382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2</a:t>
            </a:r>
            <a:endParaRPr/>
          </a:p>
        </p:txBody>
      </p:sp>
      <p:grpSp>
        <p:nvGrpSpPr>
          <p:cNvPr id="926" name="Google Shape;926;p20"/>
          <p:cNvGrpSpPr/>
          <p:nvPr/>
        </p:nvGrpSpPr>
        <p:grpSpPr>
          <a:xfrm>
            <a:off x="3975100" y="2860675"/>
            <a:ext cx="766763" cy="704850"/>
            <a:chOff x="-44" y="1473"/>
            <a:chExt cx="981" cy="1105"/>
          </a:xfrm>
        </p:grpSpPr>
        <p:pic>
          <p:nvPicPr>
            <p:cNvPr descr="desktop_computer_stylized_medium" id="927" name="Google Shape;92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29" name="Google Shape;929;p20"/>
          <p:cNvGrpSpPr/>
          <p:nvPr/>
        </p:nvGrpSpPr>
        <p:grpSpPr>
          <a:xfrm>
            <a:off x="3978275" y="4106863"/>
            <a:ext cx="766763" cy="704850"/>
            <a:chOff x="-44" y="1473"/>
            <a:chExt cx="981" cy="1105"/>
          </a:xfrm>
        </p:grpSpPr>
        <p:pic>
          <p:nvPicPr>
            <p:cNvPr descr="desktop_computer_stylized_medium" id="930" name="Google Shape;93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1"/>
          <p:cNvSpPr txBox="1"/>
          <p:nvPr>
            <p:ph type="title"/>
          </p:nvPr>
        </p:nvSpPr>
        <p:spPr>
          <a:xfrm>
            <a:off x="798690" y="234526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Q: is TCP Fair?</a:t>
            </a:r>
            <a:endParaRPr b="0" sz="4400"/>
          </a:p>
        </p:txBody>
      </p:sp>
      <p:sp>
        <p:nvSpPr>
          <p:cNvPr id="938" name="Google Shape;938;p21"/>
          <p:cNvSpPr txBox="1"/>
          <p:nvPr/>
        </p:nvSpPr>
        <p:spPr>
          <a:xfrm>
            <a:off x="1028116" y="1209675"/>
            <a:ext cx="1064318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two competing TCP sessions: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additive increase gives slope of 1, as throughout increases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multiplicative decrease decreases throughput proportionally </a:t>
            </a:r>
            <a:endParaRPr/>
          </a:p>
        </p:txBody>
      </p:sp>
      <p:cxnSp>
        <p:nvCxnSpPr>
          <p:cNvPr id="939" name="Google Shape;939;p21"/>
          <p:cNvCxnSpPr/>
          <p:nvPr/>
        </p:nvCxnSpPr>
        <p:spPr>
          <a:xfrm>
            <a:off x="1701800" y="6091237"/>
            <a:ext cx="363855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21"/>
          <p:cNvCxnSpPr/>
          <p:nvPr/>
        </p:nvCxnSpPr>
        <p:spPr>
          <a:xfrm rot="10800000">
            <a:off x="1701800" y="2995612"/>
            <a:ext cx="0" cy="308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21"/>
          <p:cNvCxnSpPr/>
          <p:nvPr/>
        </p:nvCxnSpPr>
        <p:spPr>
          <a:xfrm rot="7861895">
            <a:off x="1095375" y="4730750"/>
            <a:ext cx="3560763" cy="142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21"/>
          <p:cNvCxnSpPr/>
          <p:nvPr/>
        </p:nvCxnSpPr>
        <p:spPr>
          <a:xfrm>
            <a:off x="1682750" y="3243262"/>
            <a:ext cx="2819400" cy="2809875"/>
          </a:xfrm>
          <a:prstGeom prst="straightConnector1">
            <a:avLst/>
          </a:prstGeom>
          <a:noFill/>
          <a:ln cap="flat" cmpd="sng" w="381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21"/>
          <p:cNvSpPr txBox="1"/>
          <p:nvPr/>
        </p:nvSpPr>
        <p:spPr>
          <a:xfrm>
            <a:off x="1331913" y="3071812"/>
            <a:ext cx="4032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1"/>
          <p:cNvSpPr txBox="1"/>
          <p:nvPr/>
        </p:nvSpPr>
        <p:spPr>
          <a:xfrm>
            <a:off x="4284663" y="6119812"/>
            <a:ext cx="4032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1"/>
          <p:cNvSpPr txBox="1"/>
          <p:nvPr/>
        </p:nvSpPr>
        <p:spPr>
          <a:xfrm>
            <a:off x="2560638" y="3062287"/>
            <a:ext cx="3546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bandwidth share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1"/>
          <p:cNvSpPr txBox="1"/>
          <p:nvPr/>
        </p:nvSpPr>
        <p:spPr>
          <a:xfrm>
            <a:off x="1141413" y="6100762"/>
            <a:ext cx="3546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1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1"/>
          <p:cNvSpPr txBox="1"/>
          <p:nvPr/>
        </p:nvSpPr>
        <p:spPr>
          <a:xfrm rot="-5396642">
            <a:off x="-273844" y="4639469"/>
            <a:ext cx="3546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2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8" name="Google Shape;948;p21"/>
          <p:cNvCxnSpPr/>
          <p:nvPr/>
        </p:nvCxnSpPr>
        <p:spPr>
          <a:xfrm rot="7861895">
            <a:off x="2805112" y="5348288"/>
            <a:ext cx="1293813" cy="476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9" name="Google Shape;949;p21"/>
          <p:cNvSpPr txBox="1"/>
          <p:nvPr/>
        </p:nvSpPr>
        <p:spPr>
          <a:xfrm>
            <a:off x="3475038" y="4919662"/>
            <a:ext cx="45370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0" name="Google Shape;950;p21"/>
          <p:cNvCxnSpPr/>
          <p:nvPr/>
        </p:nvCxnSpPr>
        <p:spPr>
          <a:xfrm flipH="1">
            <a:off x="2692400" y="4881562"/>
            <a:ext cx="1171575" cy="63182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1" name="Google Shape;951;p21"/>
          <p:cNvSpPr txBox="1"/>
          <p:nvPr/>
        </p:nvSpPr>
        <p:spPr>
          <a:xfrm>
            <a:off x="4006850" y="4675187"/>
            <a:ext cx="3460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p21"/>
          <p:cNvCxnSpPr/>
          <p:nvPr/>
        </p:nvCxnSpPr>
        <p:spPr>
          <a:xfrm rot="7861895">
            <a:off x="2484438" y="5021262"/>
            <a:ext cx="1303337" cy="23813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53" name="Google Shape;953;p21"/>
          <p:cNvSpPr txBox="1"/>
          <p:nvPr/>
        </p:nvSpPr>
        <p:spPr>
          <a:xfrm>
            <a:off x="3189288" y="4433887"/>
            <a:ext cx="45370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21"/>
          <p:cNvCxnSpPr/>
          <p:nvPr/>
        </p:nvCxnSpPr>
        <p:spPr>
          <a:xfrm flipH="1">
            <a:off x="2549525" y="4595812"/>
            <a:ext cx="981075" cy="76517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5" name="Google Shape;955;p21"/>
          <p:cNvSpPr txBox="1"/>
          <p:nvPr/>
        </p:nvSpPr>
        <p:spPr>
          <a:xfrm>
            <a:off x="3606800" y="4227512"/>
            <a:ext cx="3460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6" name="Google Shape;956;p21"/>
          <p:cNvCxnSpPr/>
          <p:nvPr/>
        </p:nvCxnSpPr>
        <p:spPr>
          <a:xfrm rot="7861895">
            <a:off x="2340769" y="4874419"/>
            <a:ext cx="1279525" cy="1428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57" name="Google Shape;957;p21"/>
          <p:cNvCxnSpPr/>
          <p:nvPr/>
        </p:nvCxnSpPr>
        <p:spPr>
          <a:xfrm flipH="1">
            <a:off x="2482850" y="4414837"/>
            <a:ext cx="911225" cy="8890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8" name="Google Shape;958;p21"/>
          <p:cNvCxnSpPr/>
          <p:nvPr/>
        </p:nvCxnSpPr>
        <p:spPr>
          <a:xfrm rot="7861895">
            <a:off x="2261394" y="4810919"/>
            <a:ext cx="1279525" cy="1428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59" name="Google Shape;959;p21"/>
          <p:cNvGrpSpPr/>
          <p:nvPr/>
        </p:nvGrpSpPr>
        <p:grpSpPr>
          <a:xfrm>
            <a:off x="7983110" y="3205277"/>
            <a:ext cx="3864041" cy="2713458"/>
            <a:chOff x="7983110" y="3205277"/>
            <a:chExt cx="3864041" cy="2713458"/>
          </a:xfrm>
        </p:grpSpPr>
        <p:sp>
          <p:nvSpPr>
            <p:cNvPr id="960" name="Google Shape;960;p21"/>
            <p:cNvSpPr txBox="1"/>
            <p:nvPr/>
          </p:nvSpPr>
          <p:spPr>
            <a:xfrm>
              <a:off x="8130707" y="3671674"/>
              <a:ext cx="3703160" cy="219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Yes, under idealized assumptions: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same RTT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fixed number of sessions only in congestion avoidance </a:t>
              </a: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7983110" y="3468687"/>
              <a:ext cx="3864041" cy="2450048"/>
            </a:xfrm>
            <a:prstGeom prst="rect">
              <a:avLst/>
            </a:prstGeom>
            <a:noFill/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8338252" y="3328994"/>
              <a:ext cx="1762727" cy="2555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21"/>
            <p:cNvSpPr txBox="1"/>
            <p:nvPr/>
          </p:nvSpPr>
          <p:spPr>
            <a:xfrm>
              <a:off x="8332482" y="3205277"/>
              <a:ext cx="176849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Is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TCP fair?</a:t>
              </a:r>
              <a:endParaRPr/>
            </a:p>
          </p:txBody>
        </p:sp>
      </p:grpSp>
      <p:sp>
        <p:nvSpPr>
          <p:cNvPr id="964" name="Google Shape;964;p21"/>
          <p:cNvSpPr/>
          <p:nvPr/>
        </p:nvSpPr>
        <p:spPr>
          <a:xfrm>
            <a:off x="2998274" y="5695379"/>
            <a:ext cx="166255" cy="1662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2"/>
          <p:cNvSpPr txBox="1"/>
          <p:nvPr>
            <p:ph type="title"/>
          </p:nvPr>
        </p:nvSpPr>
        <p:spPr>
          <a:xfrm>
            <a:off x="780345" y="261078"/>
            <a:ext cx="108345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Fairness: must all network apps be “fair”?</a:t>
            </a:r>
            <a:endParaRPr b="0" sz="4400"/>
          </a:p>
        </p:txBody>
      </p:sp>
      <p:sp>
        <p:nvSpPr>
          <p:cNvPr id="971" name="Google Shape;971;p22"/>
          <p:cNvSpPr txBox="1"/>
          <p:nvPr/>
        </p:nvSpPr>
        <p:spPr>
          <a:xfrm>
            <a:off x="749300" y="1219200"/>
            <a:ext cx="5207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 and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multimedia apps often do not use TCP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want rate throttled by congestion control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 use UDP: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audio/video at constant rate, tolerate packet loss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“Internet police” policing use of congestion control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2"/>
          <p:cNvSpPr txBox="1"/>
          <p:nvPr/>
        </p:nvSpPr>
        <p:spPr>
          <a:xfrm>
            <a:off x="6210301" y="1193800"/>
            <a:ext cx="557530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Fairness, parallel TCP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 can open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parallel connections between two hosts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browsers do this 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link of rate R with 9 existing connections: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 TCP, gets rate R/10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11 TCPs, gets R/2 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3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979" name="Google Shape;979;p23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980" name="Google Shape;980;p23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981" name="Google Shape;98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2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lang="en-US" sz="2800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983" name="Google Shape;983;p2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984" name="Google Shape;984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85" name="Google Shape;985;p2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aseline="30000"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i="1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6" name="Google Shape;986;p23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987" name="Google Shape;987;p23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988" name="Google Shape;988;p23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989" name="Google Shape;989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0" name="Google Shape;990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Backup slides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5"/>
          <p:cNvSpPr txBox="1"/>
          <p:nvPr>
            <p:ph type="title"/>
          </p:nvPr>
        </p:nvSpPr>
        <p:spPr>
          <a:xfrm>
            <a:off x="798690" y="27695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throughput</a:t>
            </a:r>
            <a:endParaRPr b="0" sz="4400"/>
          </a:p>
        </p:txBody>
      </p:sp>
      <p:sp>
        <p:nvSpPr>
          <p:cNvPr id="1002" name="Google Shape;1002;p25"/>
          <p:cNvSpPr txBox="1"/>
          <p:nvPr/>
        </p:nvSpPr>
        <p:spPr>
          <a:xfrm>
            <a:off x="1143000" y="1235075"/>
            <a:ext cx="10680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avg. TCP thruput as function of window size, RTT?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ignore slow start, assume there is always data to send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W: window size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(measured in bytes)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where loss occurs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avg. window size (# in-flight bytes) is ¾ W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avg. thruput is 3/4W per RTT</a:t>
            </a:r>
            <a:endParaRPr/>
          </a:p>
        </p:txBody>
      </p:sp>
      <p:grpSp>
        <p:nvGrpSpPr>
          <p:cNvPr id="1003" name="Google Shape;1003;p25"/>
          <p:cNvGrpSpPr/>
          <p:nvPr/>
        </p:nvGrpSpPr>
        <p:grpSpPr>
          <a:xfrm>
            <a:off x="2360613" y="4173538"/>
            <a:ext cx="4873625" cy="1998662"/>
            <a:chOff x="279" y="2432"/>
            <a:chExt cx="3070" cy="1259"/>
          </a:xfrm>
        </p:grpSpPr>
        <p:sp>
          <p:nvSpPr>
            <p:cNvPr id="1004" name="Google Shape;1004;p25"/>
            <p:cNvSpPr/>
            <p:nvPr/>
          </p:nvSpPr>
          <p:spPr>
            <a:xfrm>
              <a:off x="678" y="2556"/>
              <a:ext cx="2481" cy="579"/>
            </a:xfrm>
            <a:custGeom>
              <a:rect b="b" l="l" r="r" t="t"/>
              <a:pathLst>
                <a:path extrusionOk="0" h="579" w="2481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5" name="Google Shape;1005;p25"/>
            <p:cNvCxnSpPr/>
            <p:nvPr/>
          </p:nvCxnSpPr>
          <p:spPr>
            <a:xfrm>
              <a:off x="675" y="3685"/>
              <a:ext cx="267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25"/>
            <p:cNvCxnSpPr/>
            <p:nvPr/>
          </p:nvCxnSpPr>
          <p:spPr>
            <a:xfrm>
              <a:off x="682" y="2432"/>
              <a:ext cx="0" cy="125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25"/>
            <p:cNvCxnSpPr/>
            <p:nvPr/>
          </p:nvCxnSpPr>
          <p:spPr>
            <a:xfrm>
              <a:off x="606" y="2571"/>
              <a:ext cx="7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25"/>
            <p:cNvCxnSpPr/>
            <p:nvPr/>
          </p:nvCxnSpPr>
          <p:spPr>
            <a:xfrm>
              <a:off x="606" y="3117"/>
              <a:ext cx="7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9" name="Google Shape;1009;p25"/>
            <p:cNvSpPr txBox="1"/>
            <p:nvPr/>
          </p:nvSpPr>
          <p:spPr>
            <a:xfrm>
              <a:off x="380" y="2453"/>
              <a:ext cx="23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endParaRPr/>
            </a:p>
          </p:txBody>
        </p:sp>
        <p:sp>
          <p:nvSpPr>
            <p:cNvPr id="1010" name="Google Shape;1010;p25"/>
            <p:cNvSpPr txBox="1"/>
            <p:nvPr/>
          </p:nvSpPr>
          <p:spPr>
            <a:xfrm>
              <a:off x="279" y="3008"/>
              <a:ext cx="35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W/2</a:t>
              </a:r>
              <a:endParaRPr/>
            </a:p>
          </p:txBody>
        </p:sp>
      </p:grpSp>
      <p:grpSp>
        <p:nvGrpSpPr>
          <p:cNvPr id="1011" name="Google Shape;1011;p25"/>
          <p:cNvGrpSpPr/>
          <p:nvPr/>
        </p:nvGrpSpPr>
        <p:grpSpPr>
          <a:xfrm>
            <a:off x="3136901" y="3552826"/>
            <a:ext cx="3795713" cy="620712"/>
            <a:chOff x="1722" y="2139"/>
            <a:chExt cx="2391" cy="391"/>
          </a:xfrm>
        </p:grpSpPr>
        <p:sp>
          <p:nvSpPr>
            <p:cNvPr id="1012" name="Google Shape;1012;p25"/>
            <p:cNvSpPr txBox="1"/>
            <p:nvPr/>
          </p:nvSpPr>
          <p:spPr>
            <a:xfrm>
              <a:off x="1722" y="2219"/>
              <a:ext cx="134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avg TCP thruput = </a:t>
              </a:r>
              <a:endParaRPr/>
            </a:p>
          </p:txBody>
        </p:sp>
        <p:grpSp>
          <p:nvGrpSpPr>
            <p:cNvPr id="1013" name="Google Shape;1013;p25"/>
            <p:cNvGrpSpPr/>
            <p:nvPr/>
          </p:nvGrpSpPr>
          <p:grpSpPr>
            <a:xfrm>
              <a:off x="2986" y="2139"/>
              <a:ext cx="1127" cy="391"/>
              <a:chOff x="3498" y="2153"/>
              <a:chExt cx="1127" cy="391"/>
            </a:xfrm>
          </p:grpSpPr>
          <p:sp>
            <p:nvSpPr>
              <p:cNvPr id="1014" name="Google Shape;1014;p25"/>
              <p:cNvSpPr txBox="1"/>
              <p:nvPr/>
            </p:nvSpPr>
            <p:spPr>
              <a:xfrm>
                <a:off x="3501" y="2153"/>
                <a:ext cx="195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3</a:t>
                </a:r>
                <a:endParaRPr/>
              </a:p>
            </p:txBody>
          </p:sp>
          <p:sp>
            <p:nvSpPr>
              <p:cNvPr id="1015" name="Google Shape;1015;p25"/>
              <p:cNvSpPr txBox="1"/>
              <p:nvPr/>
            </p:nvSpPr>
            <p:spPr>
              <a:xfrm>
                <a:off x="3498" y="2313"/>
                <a:ext cx="195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4</a:t>
                </a:r>
                <a:endParaRPr/>
              </a:p>
            </p:txBody>
          </p:sp>
          <p:cxnSp>
            <p:nvCxnSpPr>
              <p:cNvPr id="1016" name="Google Shape;1016;p25"/>
              <p:cNvCxnSpPr/>
              <p:nvPr/>
            </p:nvCxnSpPr>
            <p:spPr>
              <a:xfrm>
                <a:off x="3550" y="2352"/>
                <a:ext cx="88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7" name="Google Shape;1017;p25"/>
              <p:cNvSpPr txBox="1"/>
              <p:nvPr/>
            </p:nvSpPr>
            <p:spPr>
              <a:xfrm>
                <a:off x="3702" y="2157"/>
                <a:ext cx="24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W</a:t>
                </a:r>
                <a:endParaRPr/>
              </a:p>
            </p:txBody>
          </p:sp>
          <p:sp>
            <p:nvSpPr>
              <p:cNvPr id="1018" name="Google Shape;1018;p25"/>
              <p:cNvSpPr txBox="1"/>
              <p:nvPr/>
            </p:nvSpPr>
            <p:spPr>
              <a:xfrm>
                <a:off x="3658" y="2309"/>
                <a:ext cx="373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RTT</a:t>
                </a:r>
                <a:endParaRPr/>
              </a:p>
            </p:txBody>
          </p:sp>
          <p:cxnSp>
            <p:nvCxnSpPr>
              <p:cNvPr id="1019" name="Google Shape;1019;p25"/>
              <p:cNvCxnSpPr/>
              <p:nvPr/>
            </p:nvCxnSpPr>
            <p:spPr>
              <a:xfrm>
                <a:off x="3726" y="2352"/>
                <a:ext cx="21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0" name="Google Shape;1020;p25"/>
              <p:cNvSpPr txBox="1"/>
              <p:nvPr/>
            </p:nvSpPr>
            <p:spPr>
              <a:xfrm>
                <a:off x="3975" y="2243"/>
                <a:ext cx="65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Tahoma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bytes/sec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6"/>
          <p:cNvSpPr txBox="1"/>
          <p:nvPr>
            <p:ph idx="1" type="body"/>
          </p:nvPr>
        </p:nvSpPr>
        <p:spPr>
          <a:xfrm>
            <a:off x="799699" y="157002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000"/>
              <a:t>“Classic” TCP: loss-based, end-end </a:t>
            </a:r>
            <a:endParaRPr/>
          </a:p>
          <a:p>
            <a:pPr indent="-395288" lvl="0" marL="8080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600"/>
              <a:t>additive increase, multiplicative decrease</a:t>
            </a:r>
            <a:endParaRPr/>
          </a:p>
          <a:p>
            <a:pPr indent="-395288" lvl="0" marL="8080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600"/>
              <a:t>“slow” start</a:t>
            </a:r>
            <a:endParaRPr/>
          </a:p>
          <a:p>
            <a:pPr indent="-395288" lvl="0" marL="8080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600"/>
              <a:t>CUBIC</a:t>
            </a:r>
            <a:endParaRPr/>
          </a:p>
          <a:p>
            <a:pPr indent="-334963" lvl="0" marL="4651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4000"/>
              <a:t>Enhanced TCPs:</a:t>
            </a:r>
            <a:endParaRPr/>
          </a:p>
          <a:p>
            <a:pPr indent="-285750" lvl="1" marL="9842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600"/>
              <a:t>delay-based congestion control TCP</a:t>
            </a:r>
            <a:endParaRPr/>
          </a:p>
          <a:p>
            <a:pPr indent="-285750" lvl="1" marL="9842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600"/>
              <a:t>explicit congestion notification</a:t>
            </a:r>
            <a:endParaRPr/>
          </a:p>
          <a:p>
            <a:pPr indent="-346075" lvl="0" marL="4603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4000"/>
              <a:t>TCP fairness</a:t>
            </a:r>
            <a:endParaRPr/>
          </a:p>
        </p:txBody>
      </p:sp>
      <p:sp>
        <p:nvSpPr>
          <p:cNvPr id="1027" name="Google Shape;1027;p2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TCP Congestion Control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