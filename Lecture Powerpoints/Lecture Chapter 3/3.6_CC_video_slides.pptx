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Tahoma"/>
      <p:regular r:id="rId25"/>
      <p:bold r:id="rId26"/>
    </p:embeddedFont>
    <p:embeddedFont>
      <p:font typeface="Noto Sans Symbols"/>
      <p:regular r:id="rId27"/>
      <p:bold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80">
          <p15:clr>
            <a:srgbClr val="A4A3A4"/>
          </p15:clr>
        </p15:guide>
        <p15:guide id="2" pos="4920">
          <p15:clr>
            <a:srgbClr val="A4A3A4"/>
          </p15:clr>
        </p15:guide>
        <p15:guide id="3" orient="horz" pos="1680">
          <p15:clr>
            <a:srgbClr val="A4A3A4"/>
          </p15:clr>
        </p15:guide>
        <p15:guide id="4" pos="6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80" orient="horz"/>
        <p:guide pos="4920"/>
        <p:guide pos="1680" orient="horz"/>
        <p:guide pos="6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28" Type="http://schemas.openxmlformats.org/officeDocument/2006/relationships/font" Target="fonts/NotoSansSymbols-bold.fntdata"/><Relationship Id="rId27" Type="http://schemas.openxmlformats.org/officeDocument/2006/relationships/font" Target="fonts/NotoSansSymbol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4" name="Google Shape;15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6" name="Google Shape;15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8" name="Google Shape;17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4" name="Google Shape;18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7" name="Google Shape;18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0" name="Google Shape;20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9.jp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/>
        </p:nvSpPr>
        <p:spPr>
          <a:xfrm>
            <a:off x="721660" y="1411941"/>
            <a:ext cx="1097728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Congestion:</a:t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informally: “too many sources sending too much data too fast for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handle”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manifestations: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delays (queueing in router buffers)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loss (buffer overflow at routers)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722672" y="3776599"/>
            <a:ext cx="10977282" cy="1016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from flow control!</a:t>
            </a:r>
            <a:endParaRPr/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773290" y="289325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Principles of congestion control</a:t>
            </a:r>
            <a:endParaRPr b="0" sz="4400"/>
          </a:p>
        </p:txBody>
      </p:sp>
      <p:grpSp>
        <p:nvGrpSpPr>
          <p:cNvPr id="50" name="Google Shape;50;p7"/>
          <p:cNvGrpSpPr/>
          <p:nvPr/>
        </p:nvGrpSpPr>
        <p:grpSpPr>
          <a:xfrm>
            <a:off x="8686805" y="2737463"/>
            <a:ext cx="2772697" cy="2732213"/>
            <a:chOff x="8878529" y="2737463"/>
            <a:chExt cx="2772697" cy="2732213"/>
          </a:xfrm>
        </p:grpSpPr>
        <p:pic>
          <p:nvPicPr>
            <p:cNvPr descr="Why traffic apps make congestion worse | Berkeley News" id="51" name="Google Shape;5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78529" y="2737463"/>
              <a:ext cx="2595716" cy="1730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7"/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congestion control: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too many senders, sending too fast</a:t>
              </a:r>
              <a:endParaRPr/>
            </a:p>
          </p:txBody>
        </p:sp>
      </p:grpSp>
      <p:grpSp>
        <p:nvGrpSpPr>
          <p:cNvPr id="53" name="Google Shape;53;p7"/>
          <p:cNvGrpSpPr/>
          <p:nvPr/>
        </p:nvGrpSpPr>
        <p:grpSpPr>
          <a:xfrm>
            <a:off x="5737126" y="4424520"/>
            <a:ext cx="5860024" cy="1952948"/>
            <a:chOff x="5869858" y="4586748"/>
            <a:chExt cx="5860024" cy="1952948"/>
          </a:xfrm>
        </p:grpSpPr>
        <p:grpSp>
          <p:nvGrpSpPr>
            <p:cNvPr id="54" name="Google Shape;54;p7"/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descr="Drinking from the Firehose: How VividCortex Compresses its Metrics" id="55" name="Google Shape;55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Drinking From the Information Firehose" id="56" name="Google Shape;56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" name="Google Shape;57;p7"/>
            <p:cNvSpPr txBox="1"/>
            <p:nvPr/>
          </p:nvSpPr>
          <p:spPr>
            <a:xfrm>
              <a:off x="8794953" y="5801032"/>
              <a:ext cx="29349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flow control: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one sender too fast for one receiver</a:t>
              </a:r>
              <a:endParaRPr/>
            </a:p>
          </p:txBody>
        </p:sp>
      </p:grpSp>
      <p:sp>
        <p:nvSpPr>
          <p:cNvPr id="58" name="Google Shape;58;p7"/>
          <p:cNvSpPr txBox="1"/>
          <p:nvPr/>
        </p:nvSpPr>
        <p:spPr>
          <a:xfrm>
            <a:off x="727588" y="4852219"/>
            <a:ext cx="4758812" cy="580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top-10 problem!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0005476" y="2888415"/>
            <a:ext cx="250825" cy="930275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5" name="Google Shape;65;p8"/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66" name="Google Shape;66;p8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" name="Google Shape;67;p8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" name="Google Shape;68;p8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" name="Google Shape;69;p8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" name="Google Shape;71;p8"/>
          <p:cNvSpPr/>
          <p:nvPr/>
        </p:nvSpPr>
        <p:spPr>
          <a:xfrm flipH="1">
            <a:off x="5851590" y="1746530"/>
            <a:ext cx="430143" cy="90046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2" name="Google Shape;72;p8"/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73" name="Google Shape;73;p8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" name="Google Shape;74;p8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8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8" name="Google Shape;78;p8"/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79" name="Google Shape;79;p8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" name="Google Shape;80;p8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" name="Google Shape;84;p8"/>
          <p:cNvSpPr/>
          <p:nvPr/>
        </p:nvSpPr>
        <p:spPr>
          <a:xfrm>
            <a:off x="10381714" y="1887018"/>
            <a:ext cx="250825" cy="930275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86" name="Google Shape;86;p8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8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8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8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8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1" name="Google Shape;91;p8"/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92" name="Google Shape;92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" name="Google Shape;94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" name="Google Shape;99;p8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1 </a:t>
            </a:r>
            <a:endParaRPr b="0" sz="4400"/>
          </a:p>
        </p:txBody>
      </p:sp>
      <p:grpSp>
        <p:nvGrpSpPr>
          <p:cNvPr id="100" name="Google Shape;100;p8"/>
          <p:cNvGrpSpPr/>
          <p:nvPr/>
        </p:nvGrpSpPr>
        <p:grpSpPr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descr="desktop_computer_stylized_medium" id="101" name="Google Shape;10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03" name="Google Shape;103;p8"/>
          <p:cNvSpPr/>
          <p:nvPr/>
        </p:nvSpPr>
        <p:spPr>
          <a:xfrm flipH="1">
            <a:off x="5146139" y="2637590"/>
            <a:ext cx="250825" cy="930275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Simplest scenario: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maximum per-connection throughput: R/2</a:t>
            </a:r>
            <a:endParaRPr/>
          </a:p>
        </p:txBody>
      </p:sp>
      <p:cxnSp>
        <p:nvCxnSpPr>
          <p:cNvPr id="106" name="Google Shape;106;p8"/>
          <p:cNvCxnSpPr/>
          <p:nvPr/>
        </p:nvCxnSpPr>
        <p:spPr>
          <a:xfrm flipH="1">
            <a:off x="6308189" y="2770940"/>
            <a:ext cx="923925" cy="866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8"/>
          <p:cNvSpPr txBox="1"/>
          <p:nvPr/>
        </p:nvSpPr>
        <p:spPr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9" name="Google Shape;109;p8"/>
          <p:cNvCxnSpPr/>
          <p:nvPr/>
        </p:nvCxnSpPr>
        <p:spPr>
          <a:xfrm rot="10800000">
            <a:off x="6793964" y="3170990"/>
            <a:ext cx="60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8"/>
          <p:cNvCxnSpPr/>
          <p:nvPr/>
        </p:nvCxnSpPr>
        <p:spPr>
          <a:xfrm rot="10800000">
            <a:off x="8413214" y="3170990"/>
            <a:ext cx="609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8"/>
          <p:cNvCxnSpPr/>
          <p:nvPr/>
        </p:nvCxnSpPr>
        <p:spPr>
          <a:xfrm flipH="1">
            <a:off x="8537039" y="2770940"/>
            <a:ext cx="923925" cy="866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8"/>
          <p:cNvCxnSpPr/>
          <p:nvPr/>
        </p:nvCxnSpPr>
        <p:spPr>
          <a:xfrm rot="10800000">
            <a:off x="9458935" y="2771087"/>
            <a:ext cx="43973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3" name="Google Shape;113;p8"/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114" name="Google Shape;114;p8"/>
            <p:cNvSpPr txBox="1"/>
            <p:nvPr/>
          </p:nvSpPr>
          <p:spPr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throughput: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2400" u="none" cap="none" strike="noStrike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15" name="Google Shape;115;p8"/>
            <p:cNvCxnSpPr/>
            <p:nvPr/>
          </p:nvCxnSpPr>
          <p:spPr>
            <a:xfrm>
              <a:off x="9460964" y="1675565"/>
              <a:ext cx="549310" cy="29761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6" name="Google Shape;116;p8"/>
          <p:cNvSpPr/>
          <p:nvPr/>
        </p:nvSpPr>
        <p:spPr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 delays as arrival rate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approaches capacity</a:t>
            </a:r>
            <a:endParaRPr/>
          </a:p>
        </p:txBody>
      </p:sp>
      <p:grpSp>
        <p:nvGrpSpPr>
          <p:cNvPr id="117" name="Google Shape;117;p8"/>
          <p:cNvGrpSpPr/>
          <p:nvPr/>
        </p:nvGrpSpPr>
        <p:grpSpPr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118" name="Google Shape;118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6" name="Google Shape;126;p8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0" name="Google Shape;130;p8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2" name="Google Shape;132;p8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33" name="Google Shape;133;p8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5" name="Google Shape;135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6" name="Google Shape;136;p8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37" name="Google Shape;137;p8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9" name="Google Shape;139;p8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0" name="Google Shape;150;p8"/>
          <p:cNvGrpSpPr/>
          <p:nvPr/>
        </p:nvGrpSpPr>
        <p:grpSpPr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descr="desktop_computer_stylized_medium" id="151" name="Google Shape;1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3" name="Google Shape;153;p8"/>
          <p:cNvGrpSpPr/>
          <p:nvPr/>
        </p:nvGrpSpPr>
        <p:grpSpPr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154" name="Google Shape;154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59" name="Google Shape;159;p8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60" name="Google Shape;160;p8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2" name="Google Shape;162;p8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63" name="Google Shape;163;p8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64" name="Google Shape;164;p8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6" name="Google Shape;166;p8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68" name="Google Shape;168;p8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69" name="Google Shape;169;p8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1" name="Google Shape;171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2" name="Google Shape;172;p8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73" name="Google Shape;173;p8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5" name="Google Shape;175;p8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86" name="Google Shape;186;p8"/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arrival rate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1" lang="en-US" sz="28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approaches R/2? </a:t>
            </a:r>
            <a:endParaRPr/>
          </a:p>
        </p:txBody>
      </p:sp>
      <p:grpSp>
        <p:nvGrpSpPr>
          <p:cNvPr id="187" name="Google Shape;187;p8"/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188" name="Google Shape;188;p8"/>
            <p:cNvSpPr/>
            <p:nvPr/>
          </p:nvSpPr>
          <p:spPr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8"/>
            <p:cNvCxnSpPr/>
            <p:nvPr/>
          </p:nvCxnSpPr>
          <p:spPr>
            <a:xfrm>
              <a:off x="6158964" y="1588252"/>
              <a:ext cx="369887" cy="2524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0" name="Google Shape;190;p8"/>
            <p:cNvSpPr txBox="1"/>
            <p:nvPr/>
          </p:nvSpPr>
          <p:spPr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original data: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1" name="Google Shape;191;p8"/>
          <p:cNvCxnSpPr/>
          <p:nvPr/>
        </p:nvCxnSpPr>
        <p:spPr>
          <a:xfrm rot="10800000">
            <a:off x="8546879" y="3636250"/>
            <a:ext cx="82220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8"/>
          <p:cNvCxnSpPr/>
          <p:nvPr/>
        </p:nvCxnSpPr>
        <p:spPr>
          <a:xfrm rot="10800000">
            <a:off x="6793108" y="2768743"/>
            <a:ext cx="43973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8"/>
          <p:cNvCxnSpPr/>
          <p:nvPr/>
        </p:nvCxnSpPr>
        <p:spPr>
          <a:xfrm rot="10800000">
            <a:off x="5871674" y="3638595"/>
            <a:ext cx="43973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8"/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2238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flows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2238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router, infinite buffers </a:t>
            </a:r>
            <a:endParaRPr/>
          </a:p>
          <a:p>
            <a:pPr indent="-223838" lvl="0" marL="2238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nput, output link capacity: R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97" name="Google Shape;197;p8"/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198" name="Google Shape;198;p8"/>
            <p:cNvSpPr txBox="1"/>
            <p:nvPr/>
          </p:nvSpPr>
          <p:spPr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199" name="Google Shape;199;p8"/>
            <p:cNvCxnSpPr/>
            <p:nvPr/>
          </p:nvCxnSpPr>
          <p:spPr>
            <a:xfrm flipH="1">
              <a:off x="8308075" y="2647114"/>
              <a:ext cx="238488" cy="37586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200" name="Google Shape;200;p8"/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201" name="Google Shape;201;p8"/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rgbClr val="757070"/>
                  </a:gs>
                  <a:gs pos="100000">
                    <a:srgbClr val="D8D8D8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2" name="Google Shape;202;p8"/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203" name="Google Shape;203;p8"/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204" name="Google Shape;204;p8"/>
                  <p:cNvCxnSpPr/>
                  <p:nvPr/>
                </p:nvCxnSpPr>
                <p:spPr>
                  <a:xfrm rot="10800000">
                    <a:off x="8402417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5" name="Google Shape;205;p8"/>
                  <p:cNvCxnSpPr/>
                  <p:nvPr/>
                </p:nvCxnSpPr>
                <p:spPr>
                  <a:xfrm rot="10800000">
                    <a:off x="8351102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" name="Google Shape;206;p8"/>
                  <p:cNvCxnSpPr/>
                  <p:nvPr/>
                </p:nvCxnSpPr>
                <p:spPr>
                  <a:xfrm rot="10800000">
                    <a:off x="8299787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7" name="Google Shape;207;p8"/>
                  <p:cNvCxnSpPr/>
                  <p:nvPr/>
                </p:nvCxnSpPr>
                <p:spPr>
                  <a:xfrm rot="10800000">
                    <a:off x="8248473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8" name="Google Shape;208;p8"/>
                  <p:cNvCxnSpPr/>
                  <p:nvPr/>
                </p:nvCxnSpPr>
                <p:spPr>
                  <a:xfrm rot="10800000">
                    <a:off x="8197158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9" name="Google Shape;209;p8"/>
                  <p:cNvCxnSpPr/>
                  <p:nvPr/>
                </p:nvCxnSpPr>
                <p:spPr>
                  <a:xfrm rot="10800000">
                    <a:off x="8145843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" name="Google Shape;210;p8"/>
                  <p:cNvCxnSpPr/>
                  <p:nvPr/>
                </p:nvCxnSpPr>
                <p:spPr>
                  <a:xfrm rot="10800000">
                    <a:off x="8094529" y="3437940"/>
                    <a:ext cx="0" cy="1557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11" name="Google Shape;211;p8"/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212" name="Google Shape;212;p8"/>
                  <p:cNvCxnSpPr/>
                  <p:nvPr/>
                </p:nvCxnSpPr>
                <p:spPr>
                  <a:xfrm>
                    <a:off x="8110664" y="3810000"/>
                    <a:ext cx="94126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3" name="Google Shape;213;p8"/>
                  <p:cNvCxnSpPr/>
                  <p:nvPr/>
                </p:nvCxnSpPr>
                <p:spPr>
                  <a:xfrm>
                    <a:off x="8103973" y="4060825"/>
                    <a:ext cx="947952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4" name="Google Shape;214;p8"/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15" name="Google Shape;215;p8"/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8"/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8"/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8"/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19" name="Google Shape;219;p8"/>
          <p:cNvSpPr/>
          <p:nvPr/>
        </p:nvSpPr>
        <p:spPr>
          <a:xfrm>
            <a:off x="6632039" y="1856540"/>
            <a:ext cx="3429000" cy="1276350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0" name="Google Shape;220;p8"/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21" name="Google Shape;221;p8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23" name="Google Shape;223;p8"/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2238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retransmissions needed</a:t>
            </a:r>
            <a:endParaRPr/>
          </a:p>
          <a:p>
            <a:pPr indent="-106363" lvl="0" marL="284163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5" name="Google Shape;225;p8"/>
          <p:cNvGrpSpPr/>
          <p:nvPr/>
        </p:nvGrpSpPr>
        <p:grpSpPr>
          <a:xfrm>
            <a:off x="7949626" y="4325522"/>
            <a:ext cx="1778902" cy="1635125"/>
            <a:chOff x="7949627" y="4325522"/>
            <a:chExt cx="1778902" cy="1635125"/>
          </a:xfrm>
        </p:grpSpPr>
        <p:cxnSp>
          <p:nvCxnSpPr>
            <p:cNvPr id="226" name="Google Shape;226;p8"/>
            <p:cNvCxnSpPr/>
            <p:nvPr/>
          </p:nvCxnSpPr>
          <p:spPr>
            <a:xfrm>
              <a:off x="8321896" y="4325522"/>
              <a:ext cx="0" cy="12763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9455371" y="4465222"/>
              <a:ext cx="0" cy="11049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8"/>
            <p:cNvSpPr/>
            <p:nvPr/>
          </p:nvSpPr>
          <p:spPr>
            <a:xfrm>
              <a:off x="8315546" y="4439822"/>
              <a:ext cx="1106488" cy="1152525"/>
            </a:xfrm>
            <a:custGeom>
              <a:rect b="b" l="l" r="r" t="t"/>
              <a:pathLst>
                <a:path extrusionOk="0" h="10000" w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9" name="Google Shape;229;p8"/>
            <p:cNvCxnSpPr/>
            <p:nvPr/>
          </p:nvCxnSpPr>
          <p:spPr>
            <a:xfrm>
              <a:off x="9452196" y="5601872"/>
              <a:ext cx="0" cy="920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8"/>
            <p:cNvSpPr txBox="1"/>
            <p:nvPr/>
          </p:nvSpPr>
          <p:spPr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231" name="Google Shape;231;p8"/>
            <p:cNvSpPr txBox="1"/>
            <p:nvPr/>
          </p:nvSpPr>
          <p:spPr>
            <a:xfrm rot="-54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 b="0" baseline="-2500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/>
            </a:p>
          </p:txBody>
        </p:sp>
        <p:cxnSp>
          <p:nvCxnSpPr>
            <p:cNvPr id="233" name="Google Shape;233;p8"/>
            <p:cNvCxnSpPr/>
            <p:nvPr/>
          </p:nvCxnSpPr>
          <p:spPr>
            <a:xfrm>
              <a:off x="8312683" y="5594801"/>
              <a:ext cx="14158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4" name="Google Shape;234;p8"/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R/2</a:t>
            </a:r>
            <a:endParaRPr/>
          </a:p>
        </p:txBody>
      </p:sp>
      <p:cxnSp>
        <p:nvCxnSpPr>
          <p:cNvPr id="237" name="Google Shape;237;p8"/>
          <p:cNvCxnSpPr/>
          <p:nvPr/>
        </p:nvCxnSpPr>
        <p:spPr>
          <a:xfrm>
            <a:off x="12776717" y="4095473"/>
            <a:ext cx="0" cy="186902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8"/>
          <p:cNvCxnSpPr/>
          <p:nvPr/>
        </p:nvCxnSpPr>
        <p:spPr>
          <a:xfrm>
            <a:off x="12771096" y="6018207"/>
            <a:ext cx="0" cy="15575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9" name="Google Shape;239;p8"/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240" name="Google Shape;240;p8"/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cxnSp>
            <p:nvCxnSpPr>
              <p:cNvPr id="241" name="Google Shape;241;p8"/>
              <p:cNvCxnSpPr/>
              <p:nvPr/>
            </p:nvCxnSpPr>
            <p:spPr>
              <a:xfrm>
                <a:off x="5126158" y="4323936"/>
                <a:ext cx="0" cy="127635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8"/>
              <p:cNvCxnSpPr/>
              <p:nvPr/>
            </p:nvCxnSpPr>
            <p:spPr>
              <a:xfrm>
                <a:off x="6259633" y="4463636"/>
                <a:ext cx="0" cy="1104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3" name="Google Shape;243;p8"/>
              <p:cNvSpPr/>
              <p:nvPr/>
            </p:nvSpPr>
            <p:spPr>
              <a:xfrm>
                <a:off x="5119808" y="4428711"/>
                <a:ext cx="1857375" cy="1162050"/>
              </a:xfrm>
              <a:custGeom>
                <a:rect b="b" l="l" r="r" t="t"/>
                <a:pathLst>
                  <a:path extrusionOk="0" h="732" w="1170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44" name="Google Shape;244;p8"/>
              <p:cNvCxnSpPr/>
              <p:nvPr/>
            </p:nvCxnSpPr>
            <p:spPr>
              <a:xfrm>
                <a:off x="5043608" y="4428711"/>
                <a:ext cx="7937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" name="Google Shape;245;p8"/>
              <p:cNvCxnSpPr/>
              <p:nvPr/>
            </p:nvCxnSpPr>
            <p:spPr>
              <a:xfrm>
                <a:off x="6256458" y="5600286"/>
                <a:ext cx="0" cy="920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6" name="Google Shape;246;p8"/>
              <p:cNvSpPr txBox="1"/>
              <p:nvPr/>
            </p:nvSpPr>
            <p:spPr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R/2</a:t>
                </a:r>
                <a:endParaRPr/>
              </a:p>
            </p:txBody>
          </p:sp>
          <p:sp>
            <p:nvSpPr>
              <p:cNvPr id="247" name="Google Shape;247;p8"/>
              <p:cNvSpPr txBox="1"/>
              <p:nvPr/>
            </p:nvSpPr>
            <p:spPr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R/2</a:t>
                </a:r>
                <a:endParaRPr/>
              </a:p>
            </p:txBody>
          </p:sp>
          <p:sp>
            <p:nvSpPr>
              <p:cNvPr id="248" name="Google Shape;248;p8"/>
              <p:cNvSpPr txBox="1"/>
              <p:nvPr/>
            </p:nvSpPr>
            <p:spPr>
              <a:xfrm rot="-54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Noto Sans Symbol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out</a:t>
                </a:r>
                <a:endParaRPr/>
              </a:p>
            </p:txBody>
          </p:sp>
          <p:sp>
            <p:nvSpPr>
              <p:cNvPr id="249" name="Google Shape;249;p8"/>
              <p:cNvSpPr txBox="1"/>
              <p:nvPr/>
            </p:nvSpPr>
            <p:spPr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Noto Sans Symbol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/>
              </a:p>
            </p:txBody>
          </p:sp>
          <p:cxnSp>
            <p:nvCxnSpPr>
              <p:cNvPr id="250" name="Google Shape;250;p8"/>
              <p:cNvCxnSpPr/>
              <p:nvPr/>
            </p:nvCxnSpPr>
            <p:spPr>
              <a:xfrm>
                <a:off x="5145208" y="4430299"/>
                <a:ext cx="1039813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8"/>
              <p:cNvCxnSpPr/>
              <p:nvPr/>
            </p:nvCxnSpPr>
            <p:spPr>
              <a:xfrm>
                <a:off x="5119903" y="5598611"/>
                <a:ext cx="1415845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52" name="Google Shape;252;p8"/>
            <p:cNvSpPr txBox="1"/>
            <p:nvPr/>
          </p:nvSpPr>
          <p:spPr>
            <a:xfrm rot="-5400000">
              <a:off x="4435687" y="5176433"/>
              <a:ext cx="9692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throughput: </a:t>
              </a:r>
              <a:endParaRPr/>
            </a:p>
          </p:txBody>
        </p:sp>
      </p:grpSp>
      <p:sp>
        <p:nvSpPr>
          <p:cNvPr id="253" name="Google Shape;253;p8"/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6946976" y="5009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0" name="Google Shape;260;p9"/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261" name="Google Shape;261;p9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2" name="Google Shape;262;p9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9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9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66" name="Google Shape;266;p9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sp>
        <p:nvSpPr>
          <p:cNvPr id="267" name="Google Shape;267;p9"/>
          <p:cNvSpPr txBox="1"/>
          <p:nvPr/>
        </p:nvSpPr>
        <p:spPr>
          <a:xfrm>
            <a:off x="634964" y="1182473"/>
            <a:ext cx="9710831" cy="502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router,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finite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buffers 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 flipH="1">
            <a:off x="1844721" y="3515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9" name="Google Shape;269;p9"/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70" name="Google Shape;270;p9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" name="Google Shape;271;p9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9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9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9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9"/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76" name="Google Shape;276;p9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" name="Google Shape;277;p9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9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" name="Google Shape;279;p9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" name="Google Shape;280;p9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81" name="Google Shape;281;p9"/>
          <p:cNvSpPr/>
          <p:nvPr/>
        </p:nvSpPr>
        <p:spPr>
          <a:xfrm>
            <a:off x="7409112" y="3699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2" name="Google Shape;282;p9"/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3" name="Google Shape;283;p9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4" name="Google Shape;284;p9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" name="Google Shape;285;p9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9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" name="Google Shape;287;p9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8" name="Google Shape;288;p9"/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89" name="Google Shape;289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1" name="Google Shape;291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6" name="Google Shape;296;p9"/>
          <p:cNvGrpSpPr/>
          <p:nvPr/>
        </p:nvGrpSpPr>
        <p:grpSpPr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descr="desktop_computer_stylized_medium" id="297" name="Google Shape;29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99" name="Google Shape;299;p9"/>
          <p:cNvSpPr/>
          <p:nvPr/>
        </p:nvSpPr>
        <p:spPr>
          <a:xfrm flipH="1">
            <a:off x="978210" y="4681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 flipH="1">
            <a:off x="2405566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9"/>
          <p:cNvSpPr txBox="1"/>
          <p:nvPr/>
        </p:nvSpPr>
        <p:spPr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 rot="10800000">
            <a:off x="3002248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9"/>
          <p:cNvCxnSpPr/>
          <p:nvPr/>
        </p:nvCxnSpPr>
        <p:spPr>
          <a:xfrm rot="10800000">
            <a:off x="4991187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9"/>
          <p:cNvCxnSpPr/>
          <p:nvPr/>
        </p:nvCxnSpPr>
        <p:spPr>
          <a:xfrm flipH="1">
            <a:off x="5143282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9"/>
          <p:cNvCxnSpPr/>
          <p:nvPr/>
        </p:nvCxnSpPr>
        <p:spPr>
          <a:xfrm rot="10800000">
            <a:off x="6275655" y="4856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" name="Google Shape;307;p9"/>
          <p:cNvGrpSpPr/>
          <p:nvPr/>
        </p:nvGrpSpPr>
        <p:grpSpPr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08" name="Google Shape;308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13" name="Google Shape;313;p9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16" name="Google Shape;316;p9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17" name="Google Shape;317;p9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318" name="Google Shape;318;p9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20" name="Google Shape;320;p9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22" name="Google Shape;322;p9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323" name="Google Shape;323;p9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24" name="Google Shape;324;p9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25" name="Google Shape;325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26" name="Google Shape;326;p9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327" name="Google Shape;327;p9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29" name="Google Shape;329;p9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0" name="Google Shape;340;p9"/>
          <p:cNvGrpSpPr/>
          <p:nvPr/>
        </p:nvGrpSpPr>
        <p:grpSpPr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descr="desktop_computer_stylized_medium" id="341" name="Google Shape;34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3" name="Google Shape;343;p9"/>
          <p:cNvGrpSpPr/>
          <p:nvPr/>
        </p:nvGrpSpPr>
        <p:grpSpPr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4" name="Google Shape;344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49" name="Google Shape;349;p9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52" name="Google Shape;352;p9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53" name="Google Shape;353;p9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56" name="Google Shape;356;p9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58" name="Google Shape;358;p9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359" name="Google Shape;359;p9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61" name="Google Shape;361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62" name="Google Shape;362;p9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376" name="Google Shape;376;p9"/>
          <p:cNvCxnSpPr/>
          <p:nvPr/>
        </p:nvCxnSpPr>
        <p:spPr>
          <a:xfrm rot="10800000">
            <a:off x="5155368" y="5988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9"/>
          <p:cNvCxnSpPr/>
          <p:nvPr/>
        </p:nvCxnSpPr>
        <p:spPr>
          <a:xfrm rot="10800000">
            <a:off x="3001196" y="4853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9"/>
          <p:cNvCxnSpPr/>
          <p:nvPr/>
        </p:nvCxnSpPr>
        <p:spPr>
          <a:xfrm rot="10800000">
            <a:off x="1869391" y="5991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9" name="Google Shape;379;p9"/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80" name="Google Shape;380;p9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82" name="Google Shape;382;p9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83" name="Google Shape;383;p9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9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85" name="Google Shape;385;p9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86" name="Google Shape;386;p9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387" name="Google Shape;387;p9"/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88" name="Google Shape;388;p9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389" name="Google Shape;389;p9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390" name="Google Shape;390;p9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91" name="Google Shape;391;p9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2" name="Google Shape;392;p9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9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9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9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9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9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9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99" name="Google Shape;399;p9"/>
          <p:cNvSpPr/>
          <p:nvPr/>
        </p:nvSpPr>
        <p:spPr>
          <a:xfrm>
            <a:off x="2803354" y="3659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0" name="Google Shape;400;p9"/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401" name="Google Shape;401;p9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03" name="Google Shape;403;p9"/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404" name="Google Shape;404;p9"/>
            <p:cNvGrpSpPr/>
            <p:nvPr/>
          </p:nvGrpSpPr>
          <p:grpSpPr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405" name="Google Shape;405;p9"/>
              <p:cNvSpPr/>
              <p:nvPr/>
            </p:nvSpPr>
            <p:spPr>
              <a:xfrm>
                <a:off x="176" y="3986"/>
                <a:ext cx="49" cy="48"/>
              </a:xfrm>
              <a:custGeom>
                <a:rect b="b" l="l" r="r" t="t"/>
                <a:pathLst>
                  <a:path extrusionOk="0" h="62" w="49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lt1"/>
              </a:solidFill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6" name="Google Shape;406;p9"/>
              <p:cNvCxnSpPr/>
              <p:nvPr/>
            </p:nvCxnSpPr>
            <p:spPr>
              <a:xfrm>
                <a:off x="174" y="4048"/>
                <a:ext cx="46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7" name="Google Shape;407;p9"/>
            <p:cNvSpPr txBox="1"/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sender retransmits lost, timed-out packet</a:t>
              </a:r>
              <a:endParaRPr/>
            </a:p>
            <a:p>
              <a:pPr indent="-2317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application-layer input = application-layer output: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λ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  <a:p>
              <a:pPr indent="-2317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input includes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retransmissions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λ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b="0" i="1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44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44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9"/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09" name="Google Shape;409;p9"/>
            <p:cNvSpPr txBox="1"/>
            <p:nvPr/>
          </p:nvSpPr>
          <p:spPr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20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410" name="Google Shape;410;p9"/>
            <p:cNvCxnSpPr/>
            <p:nvPr/>
          </p:nvCxnSpPr>
          <p:spPr>
            <a:xfrm>
              <a:off x="7116763" y="38354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411" name="Google Shape;411;p9"/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12" name="Google Shape;412;p9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413" name="Google Shape;413;p9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/>
          <p:nvPr/>
        </p:nvSpPr>
        <p:spPr>
          <a:xfrm>
            <a:off x="6946976" y="5009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0" name="Google Shape;420;p10"/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21" name="Google Shape;421;p10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2" name="Google Shape;422;p10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10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" name="Google Shape;424;p10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p10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6" name="Google Shape;426;p10"/>
          <p:cNvSpPr/>
          <p:nvPr/>
        </p:nvSpPr>
        <p:spPr>
          <a:xfrm flipH="1">
            <a:off x="1844721" y="3515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7" name="Google Shape;427;p10"/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28" name="Google Shape;428;p10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9" name="Google Shape;429;p10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" name="Google Shape;430;p10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" name="Google Shape;431;p10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" name="Google Shape;432;p10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33" name="Google Shape;433;p10"/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Google Shape;434;p10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5" name="Google Shape;435;p10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" name="Google Shape;436;p10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" name="Google Shape;437;p10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8" name="Google Shape;438;p10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9" name="Google Shape;439;p10"/>
          <p:cNvSpPr/>
          <p:nvPr/>
        </p:nvSpPr>
        <p:spPr>
          <a:xfrm>
            <a:off x="7409112" y="3699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40" name="Google Shape;440;p10"/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1" name="Google Shape;441;p10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2" name="Google Shape;442;p10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" name="Google Shape;443;p10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" name="Google Shape;444;p10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" name="Google Shape;445;p10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6" name="Google Shape;446;p10"/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7" name="Google Shape;44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9" name="Google Shape;44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" name="Google Shape;454;p10"/>
          <p:cNvGrpSpPr/>
          <p:nvPr/>
        </p:nvGrpSpPr>
        <p:grpSpPr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descr="desktop_computer_stylized_medium" id="455" name="Google Shape;45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57" name="Google Shape;457;p10"/>
          <p:cNvSpPr/>
          <p:nvPr/>
        </p:nvSpPr>
        <p:spPr>
          <a:xfrm flipH="1">
            <a:off x="978210" y="4681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58" name="Google Shape;458;p10"/>
          <p:cNvCxnSpPr/>
          <p:nvPr/>
        </p:nvCxnSpPr>
        <p:spPr>
          <a:xfrm flipH="1">
            <a:off x="2405566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10"/>
          <p:cNvSpPr txBox="1"/>
          <p:nvPr/>
        </p:nvSpPr>
        <p:spPr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0" name="Google Shape;460;p10"/>
          <p:cNvSpPr txBox="1"/>
          <p:nvPr/>
        </p:nvSpPr>
        <p:spPr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61" name="Google Shape;461;p10"/>
          <p:cNvCxnSpPr/>
          <p:nvPr/>
        </p:nvCxnSpPr>
        <p:spPr>
          <a:xfrm rot="10800000">
            <a:off x="3002248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10"/>
          <p:cNvCxnSpPr/>
          <p:nvPr/>
        </p:nvCxnSpPr>
        <p:spPr>
          <a:xfrm rot="10800000">
            <a:off x="4991187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10"/>
          <p:cNvCxnSpPr/>
          <p:nvPr/>
        </p:nvCxnSpPr>
        <p:spPr>
          <a:xfrm flipH="1">
            <a:off x="5143282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10"/>
          <p:cNvCxnSpPr/>
          <p:nvPr/>
        </p:nvCxnSpPr>
        <p:spPr>
          <a:xfrm rot="10800000">
            <a:off x="6275655" y="4856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5" name="Google Shape;465;p10"/>
          <p:cNvGrpSpPr/>
          <p:nvPr/>
        </p:nvGrpSpPr>
        <p:grpSpPr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66" name="Google Shape;466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9" name="Google Shape;469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71" name="Google Shape;471;p10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472" name="Google Shape;472;p10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74" name="Google Shape;474;p10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75" name="Google Shape;475;p10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476" name="Google Shape;476;p10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78" name="Google Shape;478;p10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80" name="Google Shape;480;p10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481" name="Google Shape;481;p10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83" name="Google Shape;483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84" name="Google Shape;484;p10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485" name="Google Shape;485;p10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87" name="Google Shape;487;p10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98" name="Google Shape;498;p10"/>
          <p:cNvGrpSpPr/>
          <p:nvPr/>
        </p:nvGrpSpPr>
        <p:grpSpPr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descr="desktop_computer_stylized_medium" id="499" name="Google Shape;49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01" name="Google Shape;501;p10"/>
          <p:cNvGrpSpPr/>
          <p:nvPr/>
        </p:nvGrpSpPr>
        <p:grpSpPr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502" name="Google Shape;502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07" name="Google Shape;507;p10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508" name="Google Shape;508;p10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09" name="Google Shape;509;p10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10" name="Google Shape;510;p10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11" name="Google Shape;511;p10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512" name="Google Shape;512;p10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13" name="Google Shape;513;p10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14" name="Google Shape;514;p10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16" name="Google Shape;516;p10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517" name="Google Shape;517;p10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18" name="Google Shape;518;p10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19" name="Google Shape;519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20" name="Google Shape;520;p10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521" name="Google Shape;521;p10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22" name="Google Shape;522;p10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23" name="Google Shape;523;p10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534" name="Google Shape;534;p10"/>
          <p:cNvCxnSpPr/>
          <p:nvPr/>
        </p:nvCxnSpPr>
        <p:spPr>
          <a:xfrm rot="10800000">
            <a:off x="5155368" y="5988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10"/>
          <p:cNvCxnSpPr/>
          <p:nvPr/>
        </p:nvCxnSpPr>
        <p:spPr>
          <a:xfrm rot="10800000">
            <a:off x="3001196" y="4853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10"/>
          <p:cNvCxnSpPr/>
          <p:nvPr/>
        </p:nvCxnSpPr>
        <p:spPr>
          <a:xfrm rot="10800000">
            <a:off x="1869391" y="5991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7" name="Google Shape;537;p10"/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538" name="Google Shape;538;p10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40" name="Google Shape;540;p10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41" name="Google Shape;541;p10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2" name="Google Shape;542;p10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543" name="Google Shape;543;p10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44" name="Google Shape;544;p10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545" name="Google Shape;545;p10"/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546" name="Google Shape;546;p10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547" name="Google Shape;547;p10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548" name="Google Shape;548;p10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549" name="Google Shape;549;p10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0" name="Google Shape;550;p10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0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0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0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0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0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0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557" name="Google Shape;557;p10"/>
          <p:cNvSpPr/>
          <p:nvPr/>
        </p:nvSpPr>
        <p:spPr>
          <a:xfrm>
            <a:off x="2803354" y="3659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58" name="Google Shape;558;p10"/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559" name="Google Shape;559;p10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61" name="Google Shape;561;p10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sp>
        <p:nvSpPr>
          <p:cNvPr id="562" name="Google Shape;562;p10"/>
          <p:cNvSpPr/>
          <p:nvPr/>
        </p:nvSpPr>
        <p:spPr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6" name="Google Shape;566;p10"/>
          <p:cNvSpPr txBox="1"/>
          <p:nvPr/>
        </p:nvSpPr>
        <p:spPr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sp>
        <p:nvSpPr>
          <p:cNvPr id="567" name="Google Shape;567;p10"/>
          <p:cNvSpPr txBox="1"/>
          <p:nvPr/>
        </p:nvSpPr>
        <p:spPr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free buffer space!</a:t>
            </a:r>
            <a:endParaRPr/>
          </a:p>
        </p:txBody>
      </p:sp>
      <p:sp>
        <p:nvSpPr>
          <p:cNvPr id="568" name="Google Shape;568;p10"/>
          <p:cNvSpPr txBox="1"/>
          <p:nvPr/>
        </p:nvSpPr>
        <p:spPr>
          <a:xfrm>
            <a:off x="592471" y="1287763"/>
            <a:ext cx="7623176" cy="143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Idealization: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perfect knowledge</a:t>
            </a:r>
            <a:endParaRPr/>
          </a:p>
          <a:p>
            <a:pPr indent="-227013" lvl="0" marL="4667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sends only when router buffers available </a:t>
            </a:r>
            <a:endParaRPr/>
          </a:p>
          <a:p>
            <a:pPr indent="-698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 txBox="1"/>
          <p:nvPr/>
        </p:nvSpPr>
        <p:spPr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2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570" name="Google Shape;570;p10"/>
          <p:cNvCxnSpPr/>
          <p:nvPr/>
        </p:nvCxnSpPr>
        <p:spPr>
          <a:xfrm>
            <a:off x="7116763" y="3835400"/>
            <a:ext cx="51435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571" name="Google Shape;571;p10"/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572" name="Google Shape;572;p10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573" name="Google Shape;573;p10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574" name="Google Shape;574;p10"/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575" name="Google Shape;575;p10"/>
            <p:cNvSpPr txBox="1"/>
            <p:nvPr/>
          </p:nvSpPr>
          <p:spPr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576" name="Google Shape;576;p10"/>
            <p:cNvSpPr txBox="1"/>
            <p:nvPr/>
          </p:nvSpPr>
          <p:spPr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/>
            </a:p>
          </p:txBody>
        </p:sp>
        <p:cxnSp>
          <p:nvCxnSpPr>
            <p:cNvPr id="577" name="Google Shape;577;p10"/>
            <p:cNvCxnSpPr/>
            <p:nvPr/>
          </p:nvCxnSpPr>
          <p:spPr>
            <a:xfrm>
              <a:off x="8219134" y="1260338"/>
              <a:ext cx="0" cy="21590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10"/>
            <p:cNvCxnSpPr/>
            <p:nvPr/>
          </p:nvCxnSpPr>
          <p:spPr>
            <a:xfrm>
              <a:off x="10226022" y="1496652"/>
              <a:ext cx="0" cy="18690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79" name="Google Shape;579;p10"/>
            <p:cNvSpPr/>
            <p:nvPr/>
          </p:nvSpPr>
          <p:spPr>
            <a:xfrm>
              <a:off x="8207891" y="1437573"/>
              <a:ext cx="2023753" cy="1965701"/>
            </a:xfrm>
            <a:custGeom>
              <a:rect b="b" l="l" r="r" t="t"/>
              <a:pathLst>
                <a:path extrusionOk="0" h="732" w="720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0" name="Google Shape;580;p10"/>
            <p:cNvCxnSpPr/>
            <p:nvPr/>
          </p:nvCxnSpPr>
          <p:spPr>
            <a:xfrm>
              <a:off x="8072974" y="1437573"/>
              <a:ext cx="14053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10"/>
            <p:cNvCxnSpPr/>
            <p:nvPr/>
          </p:nvCxnSpPr>
          <p:spPr>
            <a:xfrm>
              <a:off x="10220401" y="3419386"/>
              <a:ext cx="0" cy="15575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2" name="Google Shape;582;p10"/>
            <p:cNvSpPr txBox="1"/>
            <p:nvPr/>
          </p:nvSpPr>
          <p:spPr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583" name="Google Shape;583;p10"/>
            <p:cNvSpPr txBox="1"/>
            <p:nvPr/>
          </p:nvSpPr>
          <p:spPr>
            <a:xfrm rot="-54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  <p:cxnSp>
          <p:nvCxnSpPr>
            <p:cNvPr id="584" name="Google Shape;584;p10"/>
            <p:cNvCxnSpPr/>
            <p:nvPr/>
          </p:nvCxnSpPr>
          <p:spPr>
            <a:xfrm>
              <a:off x="8252864" y="1440259"/>
              <a:ext cx="1841053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10"/>
            <p:cNvCxnSpPr/>
            <p:nvPr/>
          </p:nvCxnSpPr>
          <p:spPr>
            <a:xfrm>
              <a:off x="8229601" y="3397718"/>
              <a:ext cx="21656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6" name="Google Shape;586;p10"/>
            <p:cNvSpPr txBox="1"/>
            <p:nvPr/>
          </p:nvSpPr>
          <p:spPr>
            <a:xfrm rot="-5400000">
              <a:off x="7392763" y="2479458"/>
              <a:ext cx="123450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throughput: </a:t>
              </a:r>
              <a:endParaRPr/>
            </a:p>
          </p:txBody>
        </p:sp>
        <p:sp>
          <p:nvSpPr>
            <p:cNvPr id="587" name="Google Shape;587;p10"/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rbage_can" id="593" name="Google Shape;5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1"/>
          <p:cNvSpPr/>
          <p:nvPr/>
        </p:nvSpPr>
        <p:spPr>
          <a:xfrm>
            <a:off x="6946976" y="5009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5" name="Google Shape;595;p11"/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596" name="Google Shape;596;p11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7" name="Google Shape;597;p11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8" name="Google Shape;598;p11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9" name="Google Shape;599;p11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0" name="Google Shape;600;p11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01" name="Google Shape;601;p11"/>
          <p:cNvSpPr/>
          <p:nvPr/>
        </p:nvSpPr>
        <p:spPr>
          <a:xfrm flipH="1">
            <a:off x="1844721" y="3515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02" name="Google Shape;602;p11"/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603" name="Google Shape;603;p11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4" name="Google Shape;604;p11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5" name="Google Shape;605;p11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p11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7" name="Google Shape;607;p11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8" name="Google Shape;608;p11"/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609" name="Google Shape;609;p11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1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11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1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1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4" name="Google Shape;614;p11"/>
          <p:cNvSpPr/>
          <p:nvPr/>
        </p:nvSpPr>
        <p:spPr>
          <a:xfrm>
            <a:off x="7409112" y="3699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15" name="Google Shape;615;p11"/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616" name="Google Shape;616;p11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7" name="Google Shape;617;p11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8" name="Google Shape;618;p11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9" name="Google Shape;619;p11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0" name="Google Shape;620;p11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21" name="Google Shape;621;p11"/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622" name="Google Shape;622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24" name="Google Shape;624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5" name="Google Shape;625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9" name="Google Shape;629;p11"/>
          <p:cNvGrpSpPr/>
          <p:nvPr/>
        </p:nvGrpSpPr>
        <p:grpSpPr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descr="desktop_computer_stylized_medium" id="630" name="Google Shape;63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32" name="Google Shape;632;p11"/>
          <p:cNvSpPr/>
          <p:nvPr/>
        </p:nvSpPr>
        <p:spPr>
          <a:xfrm flipH="1">
            <a:off x="978210" y="4681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33" name="Google Shape;633;p11"/>
          <p:cNvCxnSpPr/>
          <p:nvPr/>
        </p:nvCxnSpPr>
        <p:spPr>
          <a:xfrm flipH="1">
            <a:off x="2405566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11"/>
          <p:cNvSpPr txBox="1"/>
          <p:nvPr/>
        </p:nvSpPr>
        <p:spPr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5" name="Google Shape;635;p11"/>
          <p:cNvSpPr txBox="1"/>
          <p:nvPr/>
        </p:nvSpPr>
        <p:spPr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36" name="Google Shape;636;p11"/>
          <p:cNvCxnSpPr/>
          <p:nvPr/>
        </p:nvCxnSpPr>
        <p:spPr>
          <a:xfrm rot="10800000">
            <a:off x="3002248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11"/>
          <p:cNvCxnSpPr/>
          <p:nvPr/>
        </p:nvCxnSpPr>
        <p:spPr>
          <a:xfrm rot="10800000">
            <a:off x="4991187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11"/>
          <p:cNvCxnSpPr/>
          <p:nvPr/>
        </p:nvCxnSpPr>
        <p:spPr>
          <a:xfrm flipH="1">
            <a:off x="5143282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11"/>
          <p:cNvCxnSpPr/>
          <p:nvPr/>
        </p:nvCxnSpPr>
        <p:spPr>
          <a:xfrm rot="10800000">
            <a:off x="6275655" y="4856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0" name="Google Shape;640;p11"/>
          <p:cNvGrpSpPr/>
          <p:nvPr/>
        </p:nvGrpSpPr>
        <p:grpSpPr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641" name="Google Shape;641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46" name="Google Shape;646;p11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647" name="Google Shape;647;p11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48" name="Google Shape;648;p11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49" name="Google Shape;649;p11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50" name="Google Shape;650;p11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651" name="Google Shape;651;p11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53" name="Google Shape;653;p11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55" name="Google Shape;655;p11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656" name="Google Shape;656;p11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58" name="Google Shape;658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59" name="Google Shape;659;p11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660" name="Google Shape;660;p11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62" name="Google Shape;662;p11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3" name="Google Shape;673;p11"/>
          <p:cNvGrpSpPr/>
          <p:nvPr/>
        </p:nvGrpSpPr>
        <p:grpSpPr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descr="desktop_computer_stylized_medium" id="674" name="Google Shape;67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5" name="Google Shape;675;p1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6" name="Google Shape;676;p11"/>
          <p:cNvGrpSpPr/>
          <p:nvPr/>
        </p:nvGrpSpPr>
        <p:grpSpPr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677" name="Google Shape;67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82" name="Google Shape;682;p11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683" name="Google Shape;683;p11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84" name="Google Shape;684;p11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85" name="Google Shape;685;p11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86" name="Google Shape;686;p11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687" name="Google Shape;687;p11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88" name="Google Shape;688;p11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89" name="Google Shape;689;p11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91" name="Google Shape;691;p11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692" name="Google Shape;692;p11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93" name="Google Shape;693;p11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94" name="Google Shape;69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95" name="Google Shape;695;p11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696" name="Google Shape;696;p11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98" name="Google Shape;698;p11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3" name="Google Shape;703;p11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1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09" name="Google Shape;709;p11"/>
          <p:cNvCxnSpPr/>
          <p:nvPr/>
        </p:nvCxnSpPr>
        <p:spPr>
          <a:xfrm rot="10800000">
            <a:off x="5155368" y="5988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11"/>
          <p:cNvCxnSpPr/>
          <p:nvPr/>
        </p:nvCxnSpPr>
        <p:spPr>
          <a:xfrm rot="10800000">
            <a:off x="3001196" y="4853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11"/>
          <p:cNvCxnSpPr/>
          <p:nvPr/>
        </p:nvCxnSpPr>
        <p:spPr>
          <a:xfrm rot="10800000">
            <a:off x="1869391" y="5991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2" name="Google Shape;712;p11"/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713" name="Google Shape;713;p11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14" name="Google Shape;714;p11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715" name="Google Shape;715;p11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16" name="Google Shape;716;p11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7" name="Google Shape;717;p11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718" name="Google Shape;718;p11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719" name="Google Shape;719;p11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720" name="Google Shape;720;p11"/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721" name="Google Shape;721;p11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722" name="Google Shape;722;p11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723" name="Google Shape;723;p11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724" name="Google Shape;724;p11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5" name="Google Shape;725;p11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6" name="Google Shape;726;p11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11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11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9" name="Google Shape;729;p11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0" name="Google Shape;730;p11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1" name="Google Shape;731;p11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732" name="Google Shape;732;p11"/>
          <p:cNvSpPr/>
          <p:nvPr/>
        </p:nvSpPr>
        <p:spPr>
          <a:xfrm>
            <a:off x="2803354" y="3659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33" name="Google Shape;733;p11"/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734" name="Google Shape;734;p11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5" name="Google Shape;735;p11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36" name="Google Shape;736;p11"/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737" name="Google Shape;737;p11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738" name="Google Shape;738;p11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sp>
        <p:nvSpPr>
          <p:cNvPr id="739" name="Google Shape;739;p11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sp>
        <p:nvSpPr>
          <p:cNvPr id="740" name="Google Shape;740;p11"/>
          <p:cNvSpPr/>
          <p:nvPr/>
        </p:nvSpPr>
        <p:spPr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p11"/>
          <p:cNvSpPr/>
          <p:nvPr/>
        </p:nvSpPr>
        <p:spPr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2" name="Google Shape;742;p11"/>
          <p:cNvSpPr txBox="1"/>
          <p:nvPr/>
        </p:nvSpPr>
        <p:spPr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sp>
        <p:nvSpPr>
          <p:cNvPr id="743" name="Google Shape;743;p11"/>
          <p:cNvSpPr txBox="1"/>
          <p:nvPr/>
        </p:nvSpPr>
        <p:spPr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no buffer space!</a:t>
            </a:r>
            <a:endParaRPr/>
          </a:p>
        </p:txBody>
      </p:sp>
      <p:sp>
        <p:nvSpPr>
          <p:cNvPr id="744" name="Google Shape;744;p11"/>
          <p:cNvSpPr txBox="1"/>
          <p:nvPr/>
        </p:nvSpPr>
        <p:spPr>
          <a:xfrm>
            <a:off x="600313" y="1223059"/>
            <a:ext cx="5915913" cy="2132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Idealization: </a:t>
            </a:r>
            <a:r>
              <a:rPr b="0" i="1" lang="en-US" sz="3000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perfect knowledge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packets can be lost (dropped at router) due  to full buffers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knows when packet has been dropped: only resends if packet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be lost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"/>
          <p:cNvSpPr/>
          <p:nvPr/>
        </p:nvSpPr>
        <p:spPr>
          <a:xfrm>
            <a:off x="6946976" y="5009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51" name="Google Shape;751;p12"/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752" name="Google Shape;752;p12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3" name="Google Shape;753;p12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4" name="Google Shape;754;p12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5" name="Google Shape;755;p12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6" name="Google Shape;756;p12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57" name="Google Shape;757;p12"/>
          <p:cNvSpPr/>
          <p:nvPr/>
        </p:nvSpPr>
        <p:spPr>
          <a:xfrm flipH="1">
            <a:off x="1844721" y="3515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58" name="Google Shape;758;p12"/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759" name="Google Shape;759;p12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0" name="Google Shape;760;p12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1" name="Google Shape;761;p12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2" name="Google Shape;762;p12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3" name="Google Shape;763;p12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4" name="Google Shape;764;p12"/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765" name="Google Shape;765;p12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6" name="Google Shape;766;p12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7" name="Google Shape;767;p12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8" name="Google Shape;768;p12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9" name="Google Shape;769;p12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70" name="Google Shape;770;p12"/>
          <p:cNvSpPr/>
          <p:nvPr/>
        </p:nvSpPr>
        <p:spPr>
          <a:xfrm>
            <a:off x="7409112" y="3699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71" name="Google Shape;771;p12"/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772" name="Google Shape;772;p12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3" name="Google Shape;773;p12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4" name="Google Shape;774;p12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5" name="Google Shape;775;p12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6" name="Google Shape;776;p12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77" name="Google Shape;777;p12"/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778" name="Google Shape;778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0" name="Google Shape;780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1" name="Google Shape;781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5" name="Google Shape;785;p12"/>
          <p:cNvGrpSpPr/>
          <p:nvPr/>
        </p:nvGrpSpPr>
        <p:grpSpPr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descr="desktop_computer_stylized_medium" id="786" name="Google Shape;78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8" name="Google Shape;788;p12"/>
          <p:cNvSpPr/>
          <p:nvPr/>
        </p:nvSpPr>
        <p:spPr>
          <a:xfrm flipH="1">
            <a:off x="978210" y="4681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789" name="Google Shape;789;p12"/>
          <p:cNvCxnSpPr/>
          <p:nvPr/>
        </p:nvCxnSpPr>
        <p:spPr>
          <a:xfrm flipH="1">
            <a:off x="2405566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12"/>
          <p:cNvSpPr txBox="1"/>
          <p:nvPr/>
        </p:nvSpPr>
        <p:spPr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1" name="Google Shape;791;p12"/>
          <p:cNvSpPr txBox="1"/>
          <p:nvPr/>
        </p:nvSpPr>
        <p:spPr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92" name="Google Shape;792;p12"/>
          <p:cNvCxnSpPr/>
          <p:nvPr/>
        </p:nvCxnSpPr>
        <p:spPr>
          <a:xfrm rot="10800000">
            <a:off x="3002248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12"/>
          <p:cNvCxnSpPr/>
          <p:nvPr/>
        </p:nvCxnSpPr>
        <p:spPr>
          <a:xfrm rot="10800000">
            <a:off x="4991187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12"/>
          <p:cNvCxnSpPr/>
          <p:nvPr/>
        </p:nvCxnSpPr>
        <p:spPr>
          <a:xfrm flipH="1">
            <a:off x="5143282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12"/>
          <p:cNvCxnSpPr/>
          <p:nvPr/>
        </p:nvCxnSpPr>
        <p:spPr>
          <a:xfrm rot="10800000">
            <a:off x="6275655" y="4856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6" name="Google Shape;796;p12"/>
          <p:cNvGrpSpPr/>
          <p:nvPr/>
        </p:nvGrpSpPr>
        <p:grpSpPr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797" name="Google Shape;797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8" name="Google Shape;798;p12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9" name="Google Shape;799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00" name="Google Shape;800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01" name="Google Shape;801;p12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02" name="Google Shape;802;p12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803" name="Google Shape;803;p12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4" name="Google Shape;804;p12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05" name="Google Shape;805;p12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06" name="Google Shape;806;p12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807" name="Google Shape;807;p12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8" name="Google Shape;808;p12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09" name="Google Shape;809;p12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10" name="Google Shape;810;p12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11" name="Google Shape;811;p12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812" name="Google Shape;812;p12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3" name="Google Shape;813;p12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14" name="Google Shape;814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15" name="Google Shape;815;p12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816" name="Google Shape;816;p12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7" name="Google Shape;817;p12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18" name="Google Shape;818;p12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19" name="Google Shape;819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0" name="Google Shape;820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1" name="Google Shape;821;p12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2" name="Google Shape;822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3" name="Google Shape;823;p12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4" name="Google Shape;824;p12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5" name="Google Shape;825;p12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6" name="Google Shape;826;p12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2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8" name="Google Shape;828;p12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29" name="Google Shape;829;p12"/>
          <p:cNvGrpSpPr/>
          <p:nvPr/>
        </p:nvGrpSpPr>
        <p:grpSpPr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descr="desktop_computer_stylized_medium" id="830" name="Google Shape;83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32" name="Google Shape;832;p12"/>
          <p:cNvGrpSpPr/>
          <p:nvPr/>
        </p:nvGrpSpPr>
        <p:grpSpPr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833" name="Google Shape;833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34" name="Google Shape;834;p12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35" name="Google Shape;835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36" name="Google Shape;836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37" name="Google Shape;837;p12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38" name="Google Shape;838;p12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839" name="Google Shape;839;p12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40" name="Google Shape;840;p12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41" name="Google Shape;841;p12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42" name="Google Shape;842;p12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843" name="Google Shape;843;p12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44" name="Google Shape;844;p12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45" name="Google Shape;845;p12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6" name="Google Shape;846;p12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47" name="Google Shape;847;p12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848" name="Google Shape;848;p12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49" name="Google Shape;849;p12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50" name="Google Shape;850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51" name="Google Shape;851;p12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852" name="Google Shape;852;p12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53" name="Google Shape;853;p12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54" name="Google Shape;854;p12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5" name="Google Shape;855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6" name="Google Shape;856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7" name="Google Shape;857;p12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8" name="Google Shape;858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9" name="Google Shape;859;p12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0" name="Google Shape;860;p12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1" name="Google Shape;861;p12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2" name="Google Shape;862;p12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2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4" name="Google Shape;864;p12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865" name="Google Shape;865;p12"/>
          <p:cNvCxnSpPr/>
          <p:nvPr/>
        </p:nvCxnSpPr>
        <p:spPr>
          <a:xfrm rot="10800000">
            <a:off x="5155368" y="5988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12"/>
          <p:cNvCxnSpPr/>
          <p:nvPr/>
        </p:nvCxnSpPr>
        <p:spPr>
          <a:xfrm rot="10800000">
            <a:off x="3001196" y="4853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12"/>
          <p:cNvCxnSpPr/>
          <p:nvPr/>
        </p:nvCxnSpPr>
        <p:spPr>
          <a:xfrm rot="10800000">
            <a:off x="1869391" y="5991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8" name="Google Shape;868;p12"/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869" name="Google Shape;869;p12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70" name="Google Shape;870;p12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871" name="Google Shape;871;p12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72" name="Google Shape;872;p12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73" name="Google Shape;873;p12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874" name="Google Shape;874;p12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75" name="Google Shape;875;p12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876" name="Google Shape;876;p12"/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877" name="Google Shape;877;p12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878" name="Google Shape;878;p12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879" name="Google Shape;879;p12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880" name="Google Shape;880;p12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1" name="Google Shape;881;p12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2" name="Google Shape;882;p12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3" name="Google Shape;883;p12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4" name="Google Shape;884;p12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5" name="Google Shape;885;p12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6" name="Google Shape;886;p12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7" name="Google Shape;887;p12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888" name="Google Shape;888;p12"/>
          <p:cNvSpPr/>
          <p:nvPr/>
        </p:nvSpPr>
        <p:spPr>
          <a:xfrm>
            <a:off x="2803354" y="3659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89" name="Google Shape;889;p12"/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890" name="Google Shape;890;p12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1" name="Google Shape;891;p12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92" name="Google Shape;892;p12"/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893" name="Google Shape;893;p12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894" name="Google Shape;894;p12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sp>
        <p:nvSpPr>
          <p:cNvPr id="895" name="Google Shape;895;p12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sp>
        <p:nvSpPr>
          <p:cNvPr id="896" name="Google Shape;896;p12"/>
          <p:cNvSpPr/>
          <p:nvPr/>
        </p:nvSpPr>
        <p:spPr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7" name="Google Shape;897;p12"/>
          <p:cNvSpPr txBox="1"/>
          <p:nvPr/>
        </p:nvSpPr>
        <p:spPr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free buffer space!</a:t>
            </a:r>
            <a:endParaRPr/>
          </a:p>
        </p:txBody>
      </p:sp>
      <p:sp>
        <p:nvSpPr>
          <p:cNvPr id="898" name="Google Shape;898;p12"/>
          <p:cNvSpPr/>
          <p:nvPr/>
        </p:nvSpPr>
        <p:spPr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9" name="Google Shape;899;p12"/>
          <p:cNvSpPr txBox="1"/>
          <p:nvPr/>
        </p:nvSpPr>
        <p:spPr>
          <a:xfrm>
            <a:off x="600313" y="1223059"/>
            <a:ext cx="5915913" cy="2132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Idealization: </a:t>
            </a:r>
            <a:r>
              <a:rPr b="0" i="1" lang="en-US" sz="3000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perfect knowledge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packets can be lost (dropped at router) due  to full buffers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knows when packet has been dropped: only resends if packet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be lost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0" name="Google Shape;900;p12"/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901" name="Google Shape;901;p12"/>
            <p:cNvSpPr txBox="1"/>
            <p:nvPr/>
          </p:nvSpPr>
          <p:spPr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when sending at R/2, some packets are needed retransmissions</a:t>
              </a:r>
              <a:endParaRPr/>
            </a:p>
          </p:txBody>
        </p:sp>
        <p:cxnSp>
          <p:nvCxnSpPr>
            <p:cNvPr id="902" name="Google Shape;902;p12"/>
            <p:cNvCxnSpPr/>
            <p:nvPr/>
          </p:nvCxnSpPr>
          <p:spPr>
            <a:xfrm rot="10800000">
              <a:off x="10039611" y="1800903"/>
              <a:ext cx="423050" cy="35515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03" name="Google Shape;903;p12"/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904" name="Google Shape;904;p12"/>
            <p:cNvSpPr/>
            <p:nvPr/>
          </p:nvSpPr>
          <p:spPr>
            <a:xfrm>
              <a:off x="11260180" y="2035401"/>
              <a:ext cx="2024019" cy="1604948"/>
            </a:xfrm>
            <a:custGeom>
              <a:rect b="b" l="l" r="r" t="t"/>
              <a:pathLst>
                <a:path extrusionOk="0" h="10000" w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5" name="Google Shape;905;p12"/>
            <p:cNvGrpSpPr/>
            <p:nvPr/>
          </p:nvGrpSpPr>
          <p:grpSpPr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906" name="Google Shape;906;p12"/>
              <p:cNvSpPr txBox="1"/>
              <p:nvPr/>
            </p:nvSpPr>
            <p:spPr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Noto Sans Symbol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b="0" baseline="-2500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7" name="Google Shape;907;p12"/>
              <p:cNvCxnSpPr/>
              <p:nvPr/>
            </p:nvCxnSpPr>
            <p:spPr>
              <a:xfrm flipH="1" rot="10800000">
                <a:off x="3726" y="1834"/>
                <a:ext cx="24" cy="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08" name="Google Shape;908;p12"/>
            <p:cNvCxnSpPr/>
            <p:nvPr/>
          </p:nvCxnSpPr>
          <p:spPr>
            <a:xfrm>
              <a:off x="11267134" y="1488938"/>
              <a:ext cx="0" cy="21590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12"/>
            <p:cNvCxnSpPr/>
            <p:nvPr/>
          </p:nvCxnSpPr>
          <p:spPr>
            <a:xfrm>
              <a:off x="13274022" y="1725252"/>
              <a:ext cx="0" cy="18690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10" name="Google Shape;910;p12"/>
            <p:cNvSpPr/>
            <p:nvPr/>
          </p:nvSpPr>
          <p:spPr>
            <a:xfrm>
              <a:off x="11255891" y="1666173"/>
              <a:ext cx="2023753" cy="1965701"/>
            </a:xfrm>
            <a:custGeom>
              <a:rect b="b" l="l" r="r" t="t"/>
              <a:pathLst>
                <a:path extrusionOk="0" h="732" w="720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1" name="Google Shape;911;p12"/>
            <p:cNvCxnSpPr/>
            <p:nvPr/>
          </p:nvCxnSpPr>
          <p:spPr>
            <a:xfrm>
              <a:off x="11120974" y="1666173"/>
              <a:ext cx="14053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12"/>
            <p:cNvCxnSpPr/>
            <p:nvPr/>
          </p:nvCxnSpPr>
          <p:spPr>
            <a:xfrm>
              <a:off x="13268401" y="3647986"/>
              <a:ext cx="0" cy="15575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3" name="Google Shape;913;p12"/>
            <p:cNvSpPr txBox="1"/>
            <p:nvPr/>
          </p:nvSpPr>
          <p:spPr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914" name="Google Shape;914;p12"/>
            <p:cNvSpPr txBox="1"/>
            <p:nvPr/>
          </p:nvSpPr>
          <p:spPr>
            <a:xfrm rot="-54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  <p:cxnSp>
          <p:nvCxnSpPr>
            <p:cNvPr id="915" name="Google Shape;915;p12"/>
            <p:cNvCxnSpPr/>
            <p:nvPr/>
          </p:nvCxnSpPr>
          <p:spPr>
            <a:xfrm>
              <a:off x="11300864" y="1668859"/>
              <a:ext cx="1841053" cy="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12"/>
            <p:cNvCxnSpPr/>
            <p:nvPr/>
          </p:nvCxnSpPr>
          <p:spPr>
            <a:xfrm>
              <a:off x="11277601" y="3626318"/>
              <a:ext cx="21656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7" name="Google Shape;917;p12"/>
            <p:cNvSpPr txBox="1"/>
            <p:nvPr/>
          </p:nvSpPr>
          <p:spPr>
            <a:xfrm rot="-5400000">
              <a:off x="10440763" y="2708058"/>
              <a:ext cx="123450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throughput: </a:t>
              </a:r>
              <a:endParaRPr/>
            </a:p>
          </p:txBody>
        </p:sp>
        <p:sp>
          <p:nvSpPr>
            <p:cNvPr id="918" name="Google Shape;918;p12"/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2"/>
            <p:cNvSpPr txBox="1"/>
            <p:nvPr/>
          </p:nvSpPr>
          <p:spPr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920" name="Google Shape;920;p12"/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21" name="Google Shape;921;p12"/>
            <p:cNvCxnSpPr/>
            <p:nvPr/>
          </p:nvCxnSpPr>
          <p:spPr>
            <a:xfrm>
              <a:off x="11261558" y="2061890"/>
              <a:ext cx="197500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922" name="Google Shape;922;p12"/>
          <p:cNvSpPr/>
          <p:nvPr/>
        </p:nvSpPr>
        <p:spPr>
          <a:xfrm rot="-2408713">
            <a:off x="7883091" y="2781701"/>
            <a:ext cx="1203158" cy="529390"/>
          </a:xfrm>
          <a:prstGeom prst="ellipse">
            <a:avLst/>
          </a:prstGeom>
          <a:noFill/>
          <a:ln cap="flat" cmpd="sng" w="2540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2"/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cap="flat" cmpd="sng" w="28575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4" name="Google Shape;924;p12"/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</p:grpSpPr>
        <p:sp>
          <p:nvSpPr>
            <p:cNvPr id="925" name="Google Shape;925;p12"/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>
                <a:gd fmla="val 8333" name="adj1"/>
                <a:gd fmla="val 50000" name="adj2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2"/>
            <p:cNvSpPr txBox="1"/>
            <p:nvPr/>
          </p:nvSpPr>
          <p:spPr>
            <a:xfrm>
              <a:off x="10148612" y="1376173"/>
              <a:ext cx="1815591" cy="4801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“wasted” capacity due to retransmissions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3"/>
          <p:cNvSpPr/>
          <p:nvPr/>
        </p:nvSpPr>
        <p:spPr>
          <a:xfrm>
            <a:off x="6946976" y="5009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33" name="Google Shape;933;p13"/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934" name="Google Shape;934;p1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5" name="Google Shape;935;p1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6" name="Google Shape;936;p1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7" name="Google Shape;937;p1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8" name="Google Shape;938;p1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39" name="Google Shape;939;p13"/>
          <p:cNvSpPr/>
          <p:nvPr/>
        </p:nvSpPr>
        <p:spPr>
          <a:xfrm flipH="1">
            <a:off x="1844721" y="3515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40" name="Google Shape;940;p13"/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941" name="Google Shape;941;p1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2" name="Google Shape;942;p1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3" name="Google Shape;943;p1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4" name="Google Shape;944;p1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" name="Google Shape;945;p1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6" name="Google Shape;946;p13"/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947" name="Google Shape;947;p1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8" name="Google Shape;948;p1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9" name="Google Shape;949;p1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0" name="Google Shape;950;p1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1" name="Google Shape;951;p1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52" name="Google Shape;952;p13"/>
          <p:cNvSpPr/>
          <p:nvPr/>
        </p:nvSpPr>
        <p:spPr>
          <a:xfrm>
            <a:off x="7409112" y="3699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53" name="Google Shape;953;p13"/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954" name="Google Shape;954;p1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5" name="Google Shape;955;p1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6" name="Google Shape;956;p1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7" name="Google Shape;957;p1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" name="Google Shape;958;p1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9" name="Google Shape;959;p13"/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960" name="Google Shape;960;p1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62" name="Google Shape;962;p1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3" name="Google Shape;963;p1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7" name="Google Shape;967;p13"/>
          <p:cNvGrpSpPr/>
          <p:nvPr/>
        </p:nvGrpSpPr>
        <p:grpSpPr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descr="desktop_computer_stylized_medium" id="968" name="Google Shape;96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70" name="Google Shape;970;p13"/>
          <p:cNvSpPr/>
          <p:nvPr/>
        </p:nvSpPr>
        <p:spPr>
          <a:xfrm flipH="1">
            <a:off x="978210" y="4681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71" name="Google Shape;971;p13"/>
          <p:cNvCxnSpPr/>
          <p:nvPr/>
        </p:nvCxnSpPr>
        <p:spPr>
          <a:xfrm flipH="1">
            <a:off x="2405566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13"/>
          <p:cNvSpPr txBox="1"/>
          <p:nvPr/>
        </p:nvSpPr>
        <p:spPr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3" name="Google Shape;973;p13"/>
          <p:cNvSpPr txBox="1"/>
          <p:nvPr/>
        </p:nvSpPr>
        <p:spPr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74" name="Google Shape;974;p13"/>
          <p:cNvCxnSpPr/>
          <p:nvPr/>
        </p:nvCxnSpPr>
        <p:spPr>
          <a:xfrm rot="10800000">
            <a:off x="3002248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13"/>
          <p:cNvCxnSpPr/>
          <p:nvPr/>
        </p:nvCxnSpPr>
        <p:spPr>
          <a:xfrm rot="10800000">
            <a:off x="4991187" y="5379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13"/>
          <p:cNvCxnSpPr/>
          <p:nvPr/>
        </p:nvCxnSpPr>
        <p:spPr>
          <a:xfrm flipH="1">
            <a:off x="5143282" y="4856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13"/>
          <p:cNvCxnSpPr/>
          <p:nvPr/>
        </p:nvCxnSpPr>
        <p:spPr>
          <a:xfrm rot="10800000">
            <a:off x="6275655" y="4856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8" name="Google Shape;978;p13"/>
          <p:cNvGrpSpPr/>
          <p:nvPr/>
        </p:nvGrpSpPr>
        <p:grpSpPr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979" name="Google Shape;979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984" name="Google Shape;984;p13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985" name="Google Shape;985;p13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86" name="Google Shape;986;p13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87" name="Google Shape;987;p13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988" name="Google Shape;988;p13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989" name="Google Shape;989;p13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0" name="Google Shape;990;p13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91" name="Google Shape;991;p13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993" name="Google Shape;993;p13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994" name="Google Shape;994;p13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5" name="Google Shape;995;p13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96" name="Google Shape;996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997" name="Google Shape;997;p13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998" name="Google Shape;998;p13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9" name="Google Shape;999;p13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00" name="Google Shape;1000;p13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11" name="Google Shape;1011;p13"/>
          <p:cNvGrpSpPr/>
          <p:nvPr/>
        </p:nvGrpSpPr>
        <p:grpSpPr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descr="desktop_computer_stylized_medium" id="1012" name="Google Shape;101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14" name="Google Shape;1014;p13"/>
          <p:cNvGrpSpPr/>
          <p:nvPr/>
        </p:nvGrpSpPr>
        <p:grpSpPr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015" name="Google Shape;1015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020" name="Google Shape;1020;p13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021" name="Google Shape;1021;p13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23" name="Google Shape;1023;p13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024" name="Google Shape;1024;p13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025" name="Google Shape;1025;p13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27" name="Google Shape;1027;p13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029" name="Google Shape;1029;p13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030" name="Google Shape;1030;p13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32" name="Google Shape;1032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033" name="Google Shape;1033;p13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034" name="Google Shape;1034;p13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36" name="Google Shape;1036;p13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8" name="Google Shape;1038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0" name="Google Shape;1040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1" name="Google Shape;1041;p13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047" name="Google Shape;1047;p13"/>
          <p:cNvCxnSpPr/>
          <p:nvPr/>
        </p:nvCxnSpPr>
        <p:spPr>
          <a:xfrm rot="10800000">
            <a:off x="5155368" y="5988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13"/>
          <p:cNvCxnSpPr/>
          <p:nvPr/>
        </p:nvCxnSpPr>
        <p:spPr>
          <a:xfrm rot="10800000">
            <a:off x="3001196" y="4853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13"/>
          <p:cNvCxnSpPr/>
          <p:nvPr/>
        </p:nvCxnSpPr>
        <p:spPr>
          <a:xfrm rot="10800000">
            <a:off x="1869391" y="5991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0" name="Google Shape;1050;p13"/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1051" name="Google Shape;1051;p13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053" name="Google Shape;1053;p13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054" name="Google Shape;1054;p13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5" name="Google Shape;1055;p13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056" name="Google Shape;1056;p13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057" name="Google Shape;1057;p13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1058" name="Google Shape;1058;p13"/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059" name="Google Shape;1059;p13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1060" name="Google Shape;1060;p13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1061" name="Google Shape;1061;p13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1062" name="Google Shape;1062;p13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63" name="Google Shape;1063;p13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4" name="Google Shape;1064;p13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5" name="Google Shape;1065;p13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6" name="Google Shape;1066;p13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7" name="Google Shape;1067;p13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8" name="Google Shape;1068;p13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9" name="Google Shape;1069;p13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070" name="Google Shape;1070;p13"/>
          <p:cNvSpPr/>
          <p:nvPr/>
        </p:nvSpPr>
        <p:spPr>
          <a:xfrm>
            <a:off x="2803354" y="3659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71" name="Google Shape;1071;p13"/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1072" name="Google Shape;1072;p13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3" name="Google Shape;1073;p13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74" name="Google Shape;1074;p13"/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075" name="Google Shape;1075;p13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1076" name="Google Shape;1076;p13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sp>
        <p:nvSpPr>
          <p:cNvPr id="1077" name="Google Shape;1077;p13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cxnSp>
        <p:nvCxnSpPr>
          <p:cNvPr id="1078" name="Google Shape;1078;p13"/>
          <p:cNvCxnSpPr/>
          <p:nvPr/>
        </p:nvCxnSpPr>
        <p:spPr>
          <a:xfrm flipH="1">
            <a:off x="3021013" y="4878388"/>
            <a:ext cx="538162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13"/>
          <p:cNvSpPr/>
          <p:nvPr/>
        </p:nvSpPr>
        <p:spPr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0" name="Google Shape;1080;p13"/>
          <p:cNvSpPr/>
          <p:nvPr/>
        </p:nvSpPr>
        <p:spPr>
          <a:xfrm>
            <a:off x="2822575" y="3698875"/>
            <a:ext cx="4210050" cy="1646238"/>
          </a:xfrm>
          <a:custGeom>
            <a:rect b="b" l="l" r="r" t="t"/>
            <a:pathLst>
              <a:path extrusionOk="0" h="2010" w="540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1" name="Google Shape;1081;p13"/>
          <p:cNvSpPr/>
          <p:nvPr/>
        </p:nvSpPr>
        <p:spPr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2" name="Google Shape;1082;p13"/>
          <p:cNvSpPr/>
          <p:nvPr/>
        </p:nvSpPr>
        <p:spPr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3" name="Google Shape;1083;p13"/>
          <p:cNvSpPr/>
          <p:nvPr/>
        </p:nvSpPr>
        <p:spPr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4" name="Google Shape;1084;p13"/>
          <p:cNvSpPr txBox="1"/>
          <p:nvPr/>
        </p:nvSpPr>
        <p:spPr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grpSp>
        <p:nvGrpSpPr>
          <p:cNvPr id="1085" name="Google Shape;1085;p13"/>
          <p:cNvGrpSpPr/>
          <p:nvPr/>
        </p:nvGrpSpPr>
        <p:grpSpPr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1086" name="Google Shape;1086;p13"/>
            <p:cNvGrpSpPr/>
            <p:nvPr/>
          </p:nvGrpSpPr>
          <p:grpSpPr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1087" name="Google Shape;1087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8" name="Google Shape;1088;p13"/>
              <p:cNvSpPr/>
              <p:nvPr/>
            </p:nvSpPr>
            <p:spPr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089" name="Google Shape;1089;p13"/>
            <p:cNvSpPr txBox="1"/>
            <p:nvPr/>
          </p:nvSpPr>
          <p:spPr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200"/>
                <a:buFont typeface="Comic Sans MS"/>
                <a:buNone/>
              </a:pPr>
              <a:r>
                <a:rPr b="1" i="1" lang="en-US" sz="1200" u="none" cap="none" strike="noStrike">
                  <a:solidFill>
                    <a:srgbClr val="3333CC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timeout</a:t>
              </a:r>
              <a:endParaRPr/>
            </a:p>
          </p:txBody>
        </p:sp>
        <p:pic>
          <p:nvPicPr>
            <p:cNvPr id="1090" name="Google Shape;1090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1" name="Google Shape;1091;p13"/>
          <p:cNvSpPr/>
          <p:nvPr/>
        </p:nvSpPr>
        <p:spPr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Realistic scenario: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un-needed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921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packets can be lost, dropped at router due  to full buffers – requiring retransmissions</a:t>
            </a:r>
            <a:endParaRPr/>
          </a:p>
          <a:p>
            <a:pPr indent="-241300" lvl="0" marL="2921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sender times can time out prematurely, sending </a:t>
            </a:r>
            <a:r>
              <a:rPr b="0" i="1" lang="en-US" sz="2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copies, </a:t>
            </a:r>
            <a:r>
              <a:rPr b="0" i="1" lang="en-US" sz="22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which are delivered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2" name="Google Shape;1092;p13"/>
          <p:cNvSpPr txBox="1"/>
          <p:nvPr/>
        </p:nvSpPr>
        <p:spPr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free buffer space!</a:t>
            </a:r>
            <a:endParaRPr/>
          </a:p>
        </p:txBody>
      </p:sp>
      <p:grpSp>
        <p:nvGrpSpPr>
          <p:cNvPr id="1093" name="Google Shape;1093;p13"/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094" name="Google Shape;1094;p13"/>
            <p:cNvSpPr txBox="1"/>
            <p:nvPr/>
          </p:nvSpPr>
          <p:spPr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when sending at R/2, some packets are retransmissions, including needed and </a:t>
              </a:r>
              <a:r>
                <a:rPr b="0" i="1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un-needed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duplicates, that are delivered!</a:t>
              </a:r>
              <a:endParaRPr/>
            </a:p>
          </p:txBody>
        </p:sp>
        <p:cxnSp>
          <p:nvCxnSpPr>
            <p:cNvPr id="1095" name="Google Shape;1095;p13"/>
            <p:cNvCxnSpPr/>
            <p:nvPr/>
          </p:nvCxnSpPr>
          <p:spPr>
            <a:xfrm rot="10800000">
              <a:off x="10022277" y="2034920"/>
              <a:ext cx="423050" cy="35515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96" name="Google Shape;1096;p13"/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1097" name="Google Shape;1097;p13"/>
            <p:cNvSpPr txBox="1"/>
            <p:nvPr/>
          </p:nvSpPr>
          <p:spPr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“wasted” capacity due to un-needed retransmissions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9" name="Google Shape;1099;p13"/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1100" name="Google Shape;1100;p13"/>
            <p:cNvSpPr/>
            <p:nvPr/>
          </p:nvSpPr>
          <p:spPr>
            <a:xfrm>
              <a:off x="7958715" y="1967477"/>
              <a:ext cx="2024019" cy="1384114"/>
            </a:xfrm>
            <a:custGeom>
              <a:rect b="b" l="l" r="r" t="t"/>
              <a:pathLst>
                <a:path extrusionOk="0" h="10000" w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1" name="Google Shape;1101;p13"/>
            <p:cNvGrpSpPr/>
            <p:nvPr/>
          </p:nvGrpSpPr>
          <p:grpSpPr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1102" name="Google Shape;1102;p13"/>
              <p:cNvSpPr txBox="1"/>
              <p:nvPr/>
            </p:nvSpPr>
            <p:spPr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Noto Sans Symbol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b="0" baseline="-2500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03" name="Google Shape;1103;p13"/>
              <p:cNvCxnSpPr/>
              <p:nvPr/>
            </p:nvCxnSpPr>
            <p:spPr>
              <a:xfrm flipH="1" rot="10800000">
                <a:off x="3726" y="1834"/>
                <a:ext cx="24" cy="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04" name="Google Shape;1104;p13"/>
            <p:cNvCxnSpPr/>
            <p:nvPr/>
          </p:nvCxnSpPr>
          <p:spPr>
            <a:xfrm>
              <a:off x="7965669" y="1200180"/>
              <a:ext cx="0" cy="21590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5" name="Google Shape;1105;p13"/>
            <p:cNvCxnSpPr/>
            <p:nvPr/>
          </p:nvCxnSpPr>
          <p:spPr>
            <a:xfrm>
              <a:off x="9972557" y="1436494"/>
              <a:ext cx="0" cy="18690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06" name="Google Shape;1106;p13"/>
            <p:cNvSpPr/>
            <p:nvPr/>
          </p:nvSpPr>
          <p:spPr>
            <a:xfrm>
              <a:off x="7954426" y="1377415"/>
              <a:ext cx="2023753" cy="1965701"/>
            </a:xfrm>
            <a:custGeom>
              <a:rect b="b" l="l" r="r" t="t"/>
              <a:pathLst>
                <a:path extrusionOk="0" h="732" w="720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7" name="Google Shape;1107;p13"/>
            <p:cNvCxnSpPr/>
            <p:nvPr/>
          </p:nvCxnSpPr>
          <p:spPr>
            <a:xfrm>
              <a:off x="7819509" y="1377415"/>
              <a:ext cx="14053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8" name="Google Shape;1108;p13"/>
            <p:cNvCxnSpPr/>
            <p:nvPr/>
          </p:nvCxnSpPr>
          <p:spPr>
            <a:xfrm>
              <a:off x="9966936" y="3359228"/>
              <a:ext cx="0" cy="15575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9" name="Google Shape;1109;p13"/>
            <p:cNvSpPr txBox="1"/>
            <p:nvPr/>
          </p:nvSpPr>
          <p:spPr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1110" name="Google Shape;1110;p13"/>
            <p:cNvSpPr txBox="1"/>
            <p:nvPr/>
          </p:nvSpPr>
          <p:spPr>
            <a:xfrm rot="-54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  <p:cxnSp>
          <p:nvCxnSpPr>
            <p:cNvPr id="1111" name="Google Shape;1111;p13"/>
            <p:cNvCxnSpPr/>
            <p:nvPr/>
          </p:nvCxnSpPr>
          <p:spPr>
            <a:xfrm>
              <a:off x="7999399" y="1380101"/>
              <a:ext cx="1841053" cy="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12" name="Google Shape;1112;p13"/>
            <p:cNvCxnSpPr/>
            <p:nvPr/>
          </p:nvCxnSpPr>
          <p:spPr>
            <a:xfrm>
              <a:off x="7976136" y="3337560"/>
              <a:ext cx="21656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13" name="Google Shape;1113;p13"/>
            <p:cNvSpPr txBox="1"/>
            <p:nvPr/>
          </p:nvSpPr>
          <p:spPr>
            <a:xfrm rot="-5400000">
              <a:off x="7139298" y="2419300"/>
              <a:ext cx="123450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throughput: </a:t>
              </a:r>
              <a:endParaRPr/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3"/>
            <p:cNvSpPr txBox="1"/>
            <p:nvPr/>
          </p:nvSpPr>
          <p:spPr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7" name="Google Shape;1117;p13"/>
            <p:cNvCxnSpPr/>
            <p:nvPr/>
          </p:nvCxnSpPr>
          <p:spPr>
            <a:xfrm>
              <a:off x="7960093" y="1773132"/>
              <a:ext cx="1975007" cy="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18" name="Google Shape;1118;p13"/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9" name="Google Shape;1119;p13"/>
            <p:cNvCxnSpPr/>
            <p:nvPr/>
          </p:nvCxnSpPr>
          <p:spPr>
            <a:xfrm>
              <a:off x="7995485" y="1986203"/>
              <a:ext cx="197500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4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2</a:t>
            </a:r>
            <a:endParaRPr b="0" sz="4400"/>
          </a:p>
        </p:txBody>
      </p:sp>
      <p:sp>
        <p:nvSpPr>
          <p:cNvPr id="1126" name="Google Shape;1126;p14"/>
          <p:cNvSpPr/>
          <p:nvPr/>
        </p:nvSpPr>
        <p:spPr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“costs” of congestion: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work (retransmission) for given receiver throughput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unneeded retransmissions: link carries multiple copies of a packet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decreasing maximum achievable throughput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7" name="Google Shape;1127;p14"/>
          <p:cNvSpPr/>
          <p:nvPr/>
        </p:nvSpPr>
        <p:spPr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Realistic scenario: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un-needed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921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packets can be lost, dropped at router due  to full buffers – requiring retransmissions</a:t>
            </a:r>
            <a:endParaRPr/>
          </a:p>
          <a:p>
            <a:pPr indent="-241300" lvl="0" marL="2921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sender times can time out prematurely, sending </a:t>
            </a:r>
            <a:r>
              <a:rPr b="0" i="1" lang="en-US" sz="2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copies, </a:t>
            </a:r>
            <a:r>
              <a:rPr b="0" i="1" lang="en-US" sz="22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which are delivered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28" name="Google Shape;1128;p14"/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129" name="Google Shape;1129;p14"/>
            <p:cNvSpPr txBox="1"/>
            <p:nvPr/>
          </p:nvSpPr>
          <p:spPr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when sending at R/2, some packets are retransmissions, including needed and </a:t>
              </a:r>
              <a:r>
                <a:rPr b="0" i="1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un-needed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duplicates, that are delivered!</a:t>
              </a:r>
              <a:endParaRPr/>
            </a:p>
          </p:txBody>
        </p:sp>
        <p:cxnSp>
          <p:nvCxnSpPr>
            <p:cNvPr id="1130" name="Google Shape;1130;p14"/>
            <p:cNvCxnSpPr/>
            <p:nvPr/>
          </p:nvCxnSpPr>
          <p:spPr>
            <a:xfrm rot="10800000">
              <a:off x="10022277" y="2034920"/>
              <a:ext cx="423050" cy="35515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31" name="Google Shape;1131;p14"/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1132" name="Google Shape;1132;p14"/>
            <p:cNvSpPr txBox="1"/>
            <p:nvPr/>
          </p:nvSpPr>
          <p:spPr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“wasted” capacity due to un-needed retransmissions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4" name="Google Shape;1134;p14"/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1135" name="Google Shape;1135;p14"/>
            <p:cNvSpPr/>
            <p:nvPr/>
          </p:nvSpPr>
          <p:spPr>
            <a:xfrm>
              <a:off x="7958715" y="1967477"/>
              <a:ext cx="2024019" cy="1384114"/>
            </a:xfrm>
            <a:custGeom>
              <a:rect b="b" l="l" r="r" t="t"/>
              <a:pathLst>
                <a:path extrusionOk="0" h="10000" w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6" name="Google Shape;1136;p14"/>
            <p:cNvGrpSpPr/>
            <p:nvPr/>
          </p:nvGrpSpPr>
          <p:grpSpPr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1137" name="Google Shape;1137;p14"/>
              <p:cNvSpPr txBox="1"/>
              <p:nvPr/>
            </p:nvSpPr>
            <p:spPr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Noto Sans Symbol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b="0" baseline="-2500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8" name="Google Shape;1138;p14"/>
              <p:cNvCxnSpPr/>
              <p:nvPr/>
            </p:nvCxnSpPr>
            <p:spPr>
              <a:xfrm flipH="1" rot="10800000">
                <a:off x="3726" y="1834"/>
                <a:ext cx="24" cy="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139" name="Google Shape;1139;p14"/>
            <p:cNvCxnSpPr/>
            <p:nvPr/>
          </p:nvCxnSpPr>
          <p:spPr>
            <a:xfrm>
              <a:off x="7965669" y="1200180"/>
              <a:ext cx="0" cy="21590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14"/>
            <p:cNvCxnSpPr/>
            <p:nvPr/>
          </p:nvCxnSpPr>
          <p:spPr>
            <a:xfrm>
              <a:off x="9972557" y="1436494"/>
              <a:ext cx="0" cy="18690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41" name="Google Shape;1141;p14"/>
            <p:cNvSpPr/>
            <p:nvPr/>
          </p:nvSpPr>
          <p:spPr>
            <a:xfrm>
              <a:off x="7954426" y="1377415"/>
              <a:ext cx="2023753" cy="1965701"/>
            </a:xfrm>
            <a:custGeom>
              <a:rect b="b" l="l" r="r" t="t"/>
              <a:pathLst>
                <a:path extrusionOk="0" h="732" w="720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2" name="Google Shape;1142;p14"/>
            <p:cNvCxnSpPr/>
            <p:nvPr/>
          </p:nvCxnSpPr>
          <p:spPr>
            <a:xfrm>
              <a:off x="7819509" y="1377415"/>
              <a:ext cx="14053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14"/>
            <p:cNvCxnSpPr/>
            <p:nvPr/>
          </p:nvCxnSpPr>
          <p:spPr>
            <a:xfrm>
              <a:off x="9966936" y="3359228"/>
              <a:ext cx="0" cy="15575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4" name="Google Shape;1144;p14"/>
            <p:cNvSpPr txBox="1"/>
            <p:nvPr/>
          </p:nvSpPr>
          <p:spPr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1145" name="Google Shape;1145;p14"/>
            <p:cNvSpPr txBox="1"/>
            <p:nvPr/>
          </p:nvSpPr>
          <p:spPr>
            <a:xfrm rot="-54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  <p:cxnSp>
          <p:nvCxnSpPr>
            <p:cNvPr id="1146" name="Google Shape;1146;p14"/>
            <p:cNvCxnSpPr/>
            <p:nvPr/>
          </p:nvCxnSpPr>
          <p:spPr>
            <a:xfrm>
              <a:off x="7999399" y="1380101"/>
              <a:ext cx="1841053" cy="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14"/>
            <p:cNvCxnSpPr/>
            <p:nvPr/>
          </p:nvCxnSpPr>
          <p:spPr>
            <a:xfrm>
              <a:off x="7976136" y="3337560"/>
              <a:ext cx="216568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48" name="Google Shape;1148;p14"/>
            <p:cNvSpPr txBox="1"/>
            <p:nvPr/>
          </p:nvSpPr>
          <p:spPr>
            <a:xfrm rot="-5400000">
              <a:off x="7139298" y="2419300"/>
              <a:ext cx="123450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throughput: </a:t>
              </a:r>
              <a:endParaRPr/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4"/>
            <p:cNvSpPr txBox="1"/>
            <p:nvPr/>
          </p:nvSpPr>
          <p:spPr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R/2</a:t>
              </a:r>
              <a:endParaRPr/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2" name="Google Shape;1152;p14"/>
            <p:cNvCxnSpPr/>
            <p:nvPr/>
          </p:nvCxnSpPr>
          <p:spPr>
            <a:xfrm>
              <a:off x="7960093" y="1773132"/>
              <a:ext cx="1975007" cy="0"/>
            </a:xfrm>
            <a:prstGeom prst="straightConnector1">
              <a:avLst/>
            </a:prstGeom>
            <a:noFill/>
            <a:ln cap="flat" cmpd="sng" w="12700">
              <a:solidFill>
                <a:srgbClr val="BFBFB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53" name="Google Shape;1153;p14"/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4" name="Google Shape;1154;p14"/>
            <p:cNvCxnSpPr/>
            <p:nvPr/>
          </p:nvCxnSpPr>
          <p:spPr>
            <a:xfrm>
              <a:off x="7995485" y="1986203"/>
              <a:ext cx="197500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5"/>
          <p:cNvSpPr/>
          <p:nvPr/>
        </p:nvSpPr>
        <p:spPr>
          <a:xfrm flipH="1">
            <a:off x="3903164" y="3127613"/>
            <a:ext cx="169456" cy="1042731"/>
          </a:xfrm>
          <a:custGeom>
            <a:rect b="b" l="l" r="r" t="t"/>
            <a:pathLst>
              <a:path extrusionOk="0" h="11173" w="10000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61" name="Google Shape;1161;p15"/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1162" name="Google Shape;1162;p15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3" name="Google Shape;1163;p15"/>
            <p:cNvCxnSpPr/>
            <p:nvPr/>
          </p:nvCxnSpPr>
          <p:spPr>
            <a:xfrm>
              <a:off x="10910964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4" name="Google Shape;1164;p15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5" name="Google Shape;1165;p15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6" name="Google Shape;1166;p15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67" name="Google Shape;1167;p15"/>
          <p:cNvSpPr/>
          <p:nvPr/>
        </p:nvSpPr>
        <p:spPr>
          <a:xfrm flipH="1">
            <a:off x="1898724" y="5081691"/>
            <a:ext cx="195993" cy="1005421"/>
          </a:xfrm>
          <a:custGeom>
            <a:rect b="b" l="l" r="r" t="t"/>
            <a:pathLst>
              <a:path extrusionOk="0" h="9490" w="1074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68" name="Google Shape;1168;p15"/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1169" name="Google Shape;1169;p15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0" name="Google Shape;1170;p15"/>
            <p:cNvCxnSpPr/>
            <p:nvPr/>
          </p:nvCxnSpPr>
          <p:spPr>
            <a:xfrm>
              <a:off x="10910964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1" name="Google Shape;1171;p15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2" name="Google Shape;1172;p15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3" name="Google Shape;1173;p15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4" name="Google Shape;1174;p15"/>
          <p:cNvSpPr/>
          <p:nvPr/>
        </p:nvSpPr>
        <p:spPr>
          <a:xfrm>
            <a:off x="8102599" y="5226097"/>
            <a:ext cx="168983" cy="1122548"/>
          </a:xfrm>
          <a:custGeom>
            <a:rect b="b" l="l" r="r" t="t"/>
            <a:pathLst>
              <a:path extrusionOk="0" h="11066" w="7144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75" name="Google Shape;1175;p15"/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1176" name="Google Shape;1176;p15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7" name="Google Shape;1177;p15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8" name="Google Shape;1178;p15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9" name="Google Shape;1179;p15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0" name="Google Shape;1180;p15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81" name="Google Shape;1181;p15"/>
          <p:cNvSpPr/>
          <p:nvPr/>
        </p:nvSpPr>
        <p:spPr>
          <a:xfrm>
            <a:off x="8572023" y="3216064"/>
            <a:ext cx="223031" cy="1244178"/>
          </a:xfrm>
          <a:custGeom>
            <a:rect b="b" l="l" r="r" t="t"/>
            <a:pathLst>
              <a:path extrusionOk="0" h="12265" w="10000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2" name="Google Shape;1182;p15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3</a:t>
            </a:r>
            <a:endParaRPr b="0" sz="4400"/>
          </a:p>
        </p:txBody>
      </p:sp>
      <p:sp>
        <p:nvSpPr>
          <p:cNvPr id="1183" name="Google Shape;1183;p15"/>
          <p:cNvSpPr txBox="1"/>
          <p:nvPr/>
        </p:nvSpPr>
        <p:spPr>
          <a:xfrm>
            <a:off x="936625" y="1320799"/>
            <a:ext cx="37877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multi-hop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paths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timeout/retransmit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15"/>
          <p:cNvSpPr/>
          <p:nvPr/>
        </p:nvSpPr>
        <p:spPr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1" baseline="30000" i="0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5"/>
          <p:cNvSpPr/>
          <p:nvPr/>
        </p:nvSpPr>
        <p:spPr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red 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0" baseline="30000" i="0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increases, all arriving blue pkts at upper queue are dropped, blue throughput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15"/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187" name="Google Shape;118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9" name="Google Shape;118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0" name="Google Shape;119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4" name="Google Shape;1194;p15"/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195" name="Google Shape;1195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97" name="Google Shape;1197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98" name="Google Shape;1198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2" name="Google Shape;1202;p15"/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203" name="Google Shape;120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05" name="Google Shape;120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06" name="Google Shape;120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10" name="Google Shape;1210;p15"/>
          <p:cNvSpPr txBox="1"/>
          <p:nvPr/>
        </p:nvSpPr>
        <p:spPr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finite shared output link buffers</a:t>
            </a:r>
            <a:endParaRPr/>
          </a:p>
        </p:txBody>
      </p:sp>
      <p:cxnSp>
        <p:nvCxnSpPr>
          <p:cNvPr id="1211" name="Google Shape;1211;p15"/>
          <p:cNvCxnSpPr/>
          <p:nvPr/>
        </p:nvCxnSpPr>
        <p:spPr>
          <a:xfrm flipH="1">
            <a:off x="4151313" y="4113259"/>
            <a:ext cx="923925" cy="8667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15"/>
          <p:cNvSpPr txBox="1"/>
          <p:nvPr/>
        </p:nvSpPr>
        <p:spPr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/>
          </a:p>
        </p:txBody>
      </p:sp>
      <p:cxnSp>
        <p:nvCxnSpPr>
          <p:cNvPr id="1213" name="Google Shape;1213;p15"/>
          <p:cNvCxnSpPr/>
          <p:nvPr/>
        </p:nvCxnSpPr>
        <p:spPr>
          <a:xfrm rot="10800000">
            <a:off x="1868129" y="6103982"/>
            <a:ext cx="246257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4" name="Google Shape;1214;p15"/>
          <p:cNvCxnSpPr/>
          <p:nvPr/>
        </p:nvCxnSpPr>
        <p:spPr>
          <a:xfrm rot="10800000">
            <a:off x="4637088" y="4543472"/>
            <a:ext cx="1357312" cy="174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15"/>
          <p:cNvCxnSpPr/>
          <p:nvPr/>
        </p:nvCxnSpPr>
        <p:spPr>
          <a:xfrm rot="10800000">
            <a:off x="6302375" y="4560933"/>
            <a:ext cx="895350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15"/>
          <p:cNvCxnSpPr/>
          <p:nvPr/>
        </p:nvCxnSpPr>
        <p:spPr>
          <a:xfrm flipH="1">
            <a:off x="6361112" y="4073832"/>
            <a:ext cx="1337545" cy="135387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15"/>
          <p:cNvCxnSpPr/>
          <p:nvPr/>
        </p:nvCxnSpPr>
        <p:spPr>
          <a:xfrm rot="10800000">
            <a:off x="7687685" y="4077626"/>
            <a:ext cx="43973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18" name="Google Shape;1218;p15"/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1219" name="Google Shape;1219;p15"/>
            <p:cNvSpPr txBox="1"/>
            <p:nvPr/>
          </p:nvSpPr>
          <p:spPr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20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220" name="Google Shape;1220;p15"/>
            <p:cNvCxnSpPr/>
            <p:nvPr/>
          </p:nvCxnSpPr>
          <p:spPr>
            <a:xfrm>
              <a:off x="7464991" y="5195577"/>
              <a:ext cx="200025" cy="219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221" name="Google Shape;1221;p15"/>
          <p:cNvCxnSpPr/>
          <p:nvPr/>
        </p:nvCxnSpPr>
        <p:spPr>
          <a:xfrm flipH="1">
            <a:off x="6249988" y="4162002"/>
            <a:ext cx="7937" cy="2433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2" name="Google Shape;1222;p15"/>
          <p:cNvCxnSpPr/>
          <p:nvPr/>
        </p:nvCxnSpPr>
        <p:spPr>
          <a:xfrm>
            <a:off x="6465888" y="3475084"/>
            <a:ext cx="276225" cy="158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15"/>
          <p:cNvCxnSpPr/>
          <p:nvPr/>
        </p:nvCxnSpPr>
        <p:spPr>
          <a:xfrm rot="10800000">
            <a:off x="4637087" y="6084932"/>
            <a:ext cx="2876307" cy="2248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15"/>
          <p:cNvCxnSpPr/>
          <p:nvPr/>
        </p:nvCxnSpPr>
        <p:spPr>
          <a:xfrm flipH="1">
            <a:off x="5711825" y="5461837"/>
            <a:ext cx="604176" cy="63262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25" name="Google Shape;1225;p15"/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226" name="Google Shape;1226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28" name="Google Shape;1228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9" name="Google Shape;1229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233" name="Google Shape;1233;p15"/>
          <p:cNvCxnSpPr/>
          <p:nvPr/>
        </p:nvCxnSpPr>
        <p:spPr>
          <a:xfrm flipH="1" rot="10800000">
            <a:off x="4047728" y="4957809"/>
            <a:ext cx="195171" cy="155510"/>
          </a:xfrm>
          <a:prstGeom prst="straightConnector1">
            <a:avLst/>
          </a:prstGeom>
          <a:noFill/>
          <a:ln cap="flat" cmpd="sng" w="28575">
            <a:solidFill>
              <a:srgbClr val="96969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15"/>
          <p:cNvCxnSpPr/>
          <p:nvPr/>
        </p:nvCxnSpPr>
        <p:spPr>
          <a:xfrm flipH="1">
            <a:off x="2987674" y="5113320"/>
            <a:ext cx="1031875" cy="98272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5" name="Google Shape;1235;p15"/>
          <p:cNvSpPr txBox="1"/>
          <p:nvPr/>
        </p:nvSpPr>
        <p:spPr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/>
          </a:p>
        </p:txBody>
      </p:sp>
      <p:sp>
        <p:nvSpPr>
          <p:cNvPr id="1236" name="Google Shape;1236;p15"/>
          <p:cNvSpPr txBox="1"/>
          <p:nvPr/>
        </p:nvSpPr>
        <p:spPr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</a:t>
            </a:r>
            <a:endParaRPr/>
          </a:p>
        </p:txBody>
      </p:sp>
      <p:sp>
        <p:nvSpPr>
          <p:cNvPr id="1237" name="Google Shape;1237;p15"/>
          <p:cNvSpPr txBox="1"/>
          <p:nvPr/>
        </p:nvSpPr>
        <p:spPr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D</a:t>
            </a:r>
            <a:endParaRPr/>
          </a:p>
        </p:txBody>
      </p:sp>
      <p:grpSp>
        <p:nvGrpSpPr>
          <p:cNvPr id="1238" name="Google Shape;1238;p15"/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cxnSp>
          <p:nvCxnSpPr>
            <p:cNvPr id="1239" name="Google Shape;1239;p15"/>
            <p:cNvCxnSpPr/>
            <p:nvPr/>
          </p:nvCxnSpPr>
          <p:spPr>
            <a:xfrm flipH="1">
              <a:off x="4541838" y="3055984"/>
              <a:ext cx="295275" cy="1047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0" name="Google Shape;1240;p15"/>
            <p:cNvSpPr/>
            <p:nvPr/>
          </p:nvSpPr>
          <p:spPr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1" name="Google Shape;1241;p15"/>
            <p:cNvSpPr txBox="1"/>
            <p:nvPr/>
          </p:nvSpPr>
          <p:spPr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original data</a:t>
              </a:r>
              <a:endParaRPr/>
            </a:p>
          </p:txBody>
        </p:sp>
      </p:grpSp>
      <p:cxnSp>
        <p:nvCxnSpPr>
          <p:cNvPr id="1242" name="Google Shape;1242;p15"/>
          <p:cNvCxnSpPr/>
          <p:nvPr/>
        </p:nvCxnSpPr>
        <p:spPr>
          <a:xfrm>
            <a:off x="6305550" y="3389359"/>
            <a:ext cx="33972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243" name="Google Shape;1243;p15"/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1244" name="Google Shape;1244;p15"/>
            <p:cNvSpPr/>
            <p:nvPr/>
          </p:nvSpPr>
          <p:spPr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245" name="Google Shape;1245;p15"/>
            <p:cNvCxnSpPr/>
            <p:nvPr/>
          </p:nvCxnSpPr>
          <p:spPr>
            <a:xfrm flipH="1">
              <a:off x="4551363" y="3322684"/>
              <a:ext cx="304800" cy="38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6" name="Google Shape;1246;p15"/>
            <p:cNvSpPr txBox="1"/>
            <p:nvPr/>
          </p:nvSpPr>
          <p:spPr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retransmitted data</a:t>
              </a:r>
              <a:endParaRPr/>
            </a:p>
          </p:txBody>
        </p:sp>
      </p:grpSp>
      <p:grpSp>
        <p:nvGrpSpPr>
          <p:cNvPr id="1247" name="Google Shape;1247;p15"/>
          <p:cNvGrpSpPr/>
          <p:nvPr/>
        </p:nvGrpSpPr>
        <p:grpSpPr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1248" name="Google Shape;1248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53" name="Google Shape;1253;p15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254" name="Google Shape;1254;p15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55" name="Google Shape;1255;p15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56" name="Google Shape;1256;p15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57" name="Google Shape;1257;p15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258" name="Google Shape;1258;p15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59" name="Google Shape;1259;p15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60" name="Google Shape;1260;p15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62" name="Google Shape;1262;p15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263" name="Google Shape;1263;p15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4" name="Google Shape;1264;p15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65" name="Google Shape;1265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66" name="Google Shape;1266;p15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267" name="Google Shape;1267;p15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8" name="Google Shape;1268;p15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69" name="Google Shape;1269;p15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80" name="Google Shape;1280;p15"/>
          <p:cNvGrpSpPr/>
          <p:nvPr/>
        </p:nvGrpSpPr>
        <p:grpSpPr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1281" name="Google Shape;1281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86" name="Google Shape;1286;p15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287" name="Google Shape;1287;p15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8" name="Google Shape;1288;p15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89" name="Google Shape;1289;p15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90" name="Google Shape;1290;p15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291" name="Google Shape;1291;p15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2" name="Google Shape;1292;p15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93" name="Google Shape;1293;p15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95" name="Google Shape;1295;p15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296" name="Google Shape;1296;p15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7" name="Google Shape;1297;p15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298" name="Google Shape;1298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99" name="Google Shape;1299;p15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300" name="Google Shape;1300;p15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01" name="Google Shape;1301;p15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02" name="Google Shape;1302;p15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13" name="Google Shape;1313;p15"/>
          <p:cNvGrpSpPr/>
          <p:nvPr/>
        </p:nvGrpSpPr>
        <p:grpSpPr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1314" name="Google Shape;1314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19" name="Google Shape;1319;p15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320" name="Google Shape;1320;p15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21" name="Google Shape;1321;p15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22" name="Google Shape;1322;p15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23" name="Google Shape;1323;p15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324" name="Google Shape;1324;p15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25" name="Google Shape;1325;p15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26" name="Google Shape;1326;p15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28" name="Google Shape;1328;p15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329" name="Google Shape;1329;p15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30" name="Google Shape;1330;p15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31" name="Google Shape;1331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32" name="Google Shape;1332;p15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333" name="Google Shape;1333;p15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34" name="Google Shape;1334;p15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35" name="Google Shape;1335;p15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46" name="Google Shape;1346;p15"/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1347" name="Google Shape;1347;p15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8" name="Google Shape;1348;p15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9" name="Google Shape;1349;p15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0" name="Google Shape;1350;p15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1" name="Google Shape;1351;p15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52" name="Google Shape;1352;p15"/>
          <p:cNvCxnSpPr/>
          <p:nvPr/>
        </p:nvCxnSpPr>
        <p:spPr>
          <a:xfrm>
            <a:off x="3769031" y="4119717"/>
            <a:ext cx="130769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53" name="Google Shape;1353;p15"/>
          <p:cNvGrpSpPr/>
          <p:nvPr/>
        </p:nvGrpSpPr>
        <p:grpSpPr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1354" name="Google Shape;1354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59" name="Google Shape;1359;p15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360" name="Google Shape;1360;p15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61" name="Google Shape;1361;p15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62" name="Google Shape;1362;p15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63" name="Google Shape;1363;p15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364" name="Google Shape;1364;p15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65" name="Google Shape;1365;p15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66" name="Google Shape;1366;p15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68" name="Google Shape;1368;p15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369" name="Google Shape;1369;p15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70" name="Google Shape;1370;p15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71" name="Google Shape;1371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372" name="Google Shape;1372;p15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373" name="Google Shape;1373;p15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74" name="Google Shape;1374;p15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375" name="Google Shape;1375;p15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86" name="Google Shape;1386;p15"/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1387" name="Google Shape;1387;p15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8" name="Google Shape;1388;p15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9" name="Google Shape;1389;p15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0" name="Google Shape;1390;p15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1" name="Google Shape;1391;p15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2" name="Google Shape;1392;p15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3" name="Google Shape;1393;p15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4" name="Google Shape;1394;p15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95" name="Google Shape;1395;p15"/>
          <p:cNvGrpSpPr/>
          <p:nvPr/>
        </p:nvGrpSpPr>
        <p:grpSpPr>
          <a:xfrm rot="-262218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1396" name="Google Shape;1396;p15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97" name="Google Shape;1397;p15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8" name="Google Shape;1398;p15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9" name="Google Shape;1399;p15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0" name="Google Shape;1400;p15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1" name="Google Shape;1401;p15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2" name="Google Shape;1402;p15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3" name="Google Shape;1403;p15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04" name="Google Shape;1404;p15"/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1405" name="Google Shape;1405;p15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06" name="Google Shape;1406;p15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7" name="Google Shape;1407;p15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8" name="Google Shape;1408;p15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9" name="Google Shape;1409;p15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0" name="Google Shape;1410;p15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1" name="Google Shape;1411;p15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2" name="Google Shape;1412;p15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13" name="Google Shape;1413;p15"/>
          <p:cNvGrpSpPr/>
          <p:nvPr/>
        </p:nvGrpSpPr>
        <p:grpSpPr>
          <a:xfrm rot="-2742359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1414" name="Google Shape;1414;p15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5" name="Google Shape;1415;p15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6" name="Google Shape;1416;p15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7" name="Google Shape;1417;p15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8" name="Google Shape;1418;p15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9" name="Google Shape;1419;p15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0" name="Google Shape;1420;p15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1" name="Google Shape;1421;p15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22" name="Google Shape;1422;p15"/>
          <p:cNvSpPr/>
          <p:nvPr/>
        </p:nvSpPr>
        <p:spPr>
          <a:xfrm>
            <a:off x="4455129" y="3198255"/>
            <a:ext cx="3305175" cy="2857500"/>
          </a:xfrm>
          <a:custGeom>
            <a:rect b="b" l="l" r="r" t="t"/>
            <a:pathLst>
              <a:path extrusionOk="0" h="10000" w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23" name="Google Shape;1423;p15"/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1424" name="Google Shape;1424;p15"/>
            <p:cNvGrpSpPr/>
            <p:nvPr/>
          </p:nvGrpSpPr>
          <p:grpSpPr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1425" name="Google Shape;1425;p15"/>
              <p:cNvSpPr/>
              <p:nvPr/>
            </p:nvSpPr>
            <p:spPr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26" name="Google Shape;1426;p15"/>
              <p:cNvSpPr/>
              <p:nvPr/>
            </p:nvSpPr>
            <p:spPr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427" name="Google Shape;1427;p15"/>
            <p:cNvSpPr/>
            <p:nvPr/>
          </p:nvSpPr>
          <p:spPr>
            <a:xfrm>
              <a:off x="2825750" y="3227434"/>
              <a:ext cx="5067300" cy="2933700"/>
            </a:xfrm>
            <a:custGeom>
              <a:rect b="b" l="l" r="r" t="t"/>
              <a:pathLst>
                <a:path extrusionOk="0" h="10000" w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28" name="Google Shape;1428;p15"/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1429" name="Google Shape;1429;p15"/>
            <p:cNvGrpSpPr/>
            <p:nvPr/>
          </p:nvGrpSpPr>
          <p:grpSpPr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1430" name="Google Shape;1430;p15"/>
              <p:cNvSpPr/>
              <p:nvPr/>
            </p:nvSpPr>
            <p:spPr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31" name="Google Shape;1431;p15"/>
              <p:cNvSpPr/>
              <p:nvPr/>
            </p:nvSpPr>
            <p:spPr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432" name="Google Shape;1432;p15"/>
            <p:cNvSpPr/>
            <p:nvPr/>
          </p:nvSpPr>
          <p:spPr>
            <a:xfrm>
              <a:off x="2479226" y="3327145"/>
              <a:ext cx="5743575" cy="2890693"/>
            </a:xfrm>
            <a:custGeom>
              <a:rect b="b" l="l" r="r" t="t"/>
              <a:pathLst>
                <a:path extrusionOk="0" h="10016" w="10000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33" name="Google Shape;1433;p15"/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1434" name="Google Shape;1434;p15"/>
            <p:cNvSpPr/>
            <p:nvPr/>
          </p:nvSpPr>
          <p:spPr>
            <a:xfrm>
              <a:off x="2549524" y="3370309"/>
              <a:ext cx="5787725" cy="2667000"/>
            </a:xfrm>
            <a:custGeom>
              <a:rect b="b" l="l" r="r" t="t"/>
              <a:pathLst>
                <a:path extrusionOk="0" h="10000" w="9994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5" name="Google Shape;1435;p15"/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5"/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7" name="Google Shape;1437;p15"/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15"/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16"/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45" name="Google Shape;1445;p16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46" name="Google Shape;1446;p16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7" name="Google Shape;1447;p16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8" name="Google Shape;1448;p16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9" name="Google Shape;1449;p16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50" name="Google Shape;1450;p16"/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51" name="Google Shape;1451;p16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2" name="Google Shape;1452;p16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3" name="Google Shape;1453;p16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4" name="Google Shape;1454;p16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5" name="Google Shape;1455;p16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56" name="Google Shape;1456;p16"/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457" name="Google Shape;1457;p16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8" name="Google Shape;1458;p16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9" name="Google Shape;1459;p16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0" name="Google Shape;1460;p16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1" name="Google Shape;1461;p16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462" name="Google Shape;1462;p16"/>
          <p:cNvCxnSpPr/>
          <p:nvPr/>
        </p:nvCxnSpPr>
        <p:spPr>
          <a:xfrm rot="10800000">
            <a:off x="9257399" y="2242311"/>
            <a:ext cx="260376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3" name="Google Shape;1463;p16"/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464" name="Google Shape;1464;p16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5" name="Google Shape;1465;p16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6" name="Google Shape;1466;p16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7" name="Google Shape;1467;p16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8" name="Google Shape;1468;p16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69" name="Google Shape;1469;p16"/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1470" name="Google Shape;1470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71" name="Google Shape;1471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2" name="Google Shape;1472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3" name="Google Shape;1473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7" name="Google Shape;1477;p16"/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1478" name="Google Shape;1478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79" name="Google Shape;1479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0" name="Google Shape;1480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1" name="Google Shape;1481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5" name="Google Shape;1485;p16"/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1486" name="Google Shape;1486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87" name="Google Shape;1487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8" name="Google Shape;1488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9" name="Google Shape;1489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3" name="Google Shape;1493;p16"/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1494" name="Google Shape;1494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95" name="Google Shape;1495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96" name="Google Shape;1496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7" name="Google Shape;1497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01" name="Google Shape;1501;p16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3</a:t>
            </a:r>
            <a:endParaRPr b="0" sz="4400"/>
          </a:p>
        </p:txBody>
      </p:sp>
      <p:sp>
        <p:nvSpPr>
          <p:cNvPr id="1502" name="Google Shape;1502;p16"/>
          <p:cNvSpPr/>
          <p:nvPr/>
        </p:nvSpPr>
        <p:spPr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03" name="Google Shape;1503;p16"/>
          <p:cNvSpPr/>
          <p:nvPr/>
        </p:nvSpPr>
        <p:spPr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another “cost” of congestion: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packet dropped, any upstream transmission capacity and buffering used for that packet was wasted!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4" name="Google Shape;1504;p16"/>
          <p:cNvCxnSpPr/>
          <p:nvPr/>
        </p:nvCxnSpPr>
        <p:spPr>
          <a:xfrm flipH="1">
            <a:off x="7206675" y="2219117"/>
            <a:ext cx="546573" cy="5508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16"/>
          <p:cNvCxnSpPr/>
          <p:nvPr/>
        </p:nvCxnSpPr>
        <p:spPr>
          <a:xfrm rot="10800000">
            <a:off x="7492872" y="2219117"/>
            <a:ext cx="260376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16"/>
          <p:cNvCxnSpPr/>
          <p:nvPr/>
        </p:nvCxnSpPr>
        <p:spPr>
          <a:xfrm flipH="1">
            <a:off x="6404029" y="3477375"/>
            <a:ext cx="865049" cy="773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16"/>
          <p:cNvCxnSpPr/>
          <p:nvPr/>
        </p:nvCxnSpPr>
        <p:spPr>
          <a:xfrm rot="10800000">
            <a:off x="7492872" y="2491642"/>
            <a:ext cx="43037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8" name="Google Shape;1508;p16"/>
          <p:cNvCxnSpPr/>
          <p:nvPr/>
        </p:nvCxnSpPr>
        <p:spPr>
          <a:xfrm rot="10800000">
            <a:off x="8549437" y="2503239"/>
            <a:ext cx="460499" cy="5799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9" name="Google Shape;1509;p16"/>
          <p:cNvCxnSpPr/>
          <p:nvPr/>
        </p:nvCxnSpPr>
        <p:spPr>
          <a:xfrm flipH="1">
            <a:off x="8515007" y="2230714"/>
            <a:ext cx="768214" cy="82337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10" name="Google Shape;1510;p16"/>
          <p:cNvGrpSpPr/>
          <p:nvPr/>
        </p:nvGrpSpPr>
        <p:grpSpPr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1511" name="Google Shape;1511;p16"/>
            <p:cNvSpPr/>
            <p:nvPr/>
          </p:nvSpPr>
          <p:spPr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12" name="Google Shape;1512;p16"/>
            <p:cNvCxnSpPr/>
            <p:nvPr/>
          </p:nvCxnSpPr>
          <p:spPr>
            <a:xfrm>
              <a:off x="1168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16"/>
            <p:cNvCxnSpPr/>
            <p:nvPr/>
          </p:nvCxnSpPr>
          <p:spPr>
            <a:xfrm>
              <a:off x="11621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16"/>
            <p:cNvCxnSpPr/>
            <p:nvPr/>
          </p:nvCxnSpPr>
          <p:spPr>
            <a:xfrm>
              <a:off x="1155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16"/>
            <p:cNvCxnSpPr/>
            <p:nvPr/>
          </p:nvCxnSpPr>
          <p:spPr>
            <a:xfrm>
              <a:off x="11491" y="10495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16"/>
            <p:cNvCxnSpPr/>
            <p:nvPr/>
          </p:nvCxnSpPr>
          <p:spPr>
            <a:xfrm>
              <a:off x="11426" y="10495"/>
              <a:ext cx="2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7" name="Google Shape;1517;p16"/>
            <p:cNvCxnSpPr/>
            <p:nvPr/>
          </p:nvCxnSpPr>
          <p:spPr>
            <a:xfrm>
              <a:off x="11360" y="10495"/>
              <a:ext cx="3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18" name="Google Shape;1518;p16"/>
          <p:cNvCxnSpPr/>
          <p:nvPr/>
        </p:nvCxnSpPr>
        <p:spPr>
          <a:xfrm>
            <a:off x="8577410" y="1813227"/>
            <a:ext cx="163542" cy="1932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519" name="Google Shape;1519;p16"/>
          <p:cNvGrpSpPr/>
          <p:nvPr/>
        </p:nvGrpSpPr>
        <p:grpSpPr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1520" name="Google Shape;1520;p16"/>
            <p:cNvSpPr/>
            <p:nvPr/>
          </p:nvSpPr>
          <p:spPr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21" name="Google Shape;1521;p16"/>
            <p:cNvSpPr/>
            <p:nvPr/>
          </p:nvSpPr>
          <p:spPr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22" name="Google Shape;1522;p16"/>
          <p:cNvGrpSpPr/>
          <p:nvPr/>
        </p:nvGrpSpPr>
        <p:grpSpPr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1523" name="Google Shape;1523;p16"/>
            <p:cNvSpPr/>
            <p:nvPr/>
          </p:nvSpPr>
          <p:spPr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24" name="Google Shape;1524;p16"/>
            <p:cNvCxnSpPr/>
            <p:nvPr/>
          </p:nvCxnSpPr>
          <p:spPr>
            <a:xfrm>
              <a:off x="1168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16"/>
            <p:cNvCxnSpPr/>
            <p:nvPr/>
          </p:nvCxnSpPr>
          <p:spPr>
            <a:xfrm>
              <a:off x="11621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6" name="Google Shape;1526;p16"/>
            <p:cNvCxnSpPr/>
            <p:nvPr/>
          </p:nvCxnSpPr>
          <p:spPr>
            <a:xfrm>
              <a:off x="1155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7" name="Google Shape;1527;p16"/>
            <p:cNvCxnSpPr/>
            <p:nvPr/>
          </p:nvCxnSpPr>
          <p:spPr>
            <a:xfrm>
              <a:off x="11491" y="10495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8" name="Google Shape;1528;p16"/>
            <p:cNvCxnSpPr/>
            <p:nvPr/>
          </p:nvCxnSpPr>
          <p:spPr>
            <a:xfrm>
              <a:off x="11426" y="10495"/>
              <a:ext cx="2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16"/>
            <p:cNvCxnSpPr/>
            <p:nvPr/>
          </p:nvCxnSpPr>
          <p:spPr>
            <a:xfrm>
              <a:off x="11360" y="10495"/>
              <a:ext cx="3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30" name="Google Shape;1530;p16"/>
          <p:cNvCxnSpPr/>
          <p:nvPr/>
        </p:nvCxnSpPr>
        <p:spPr>
          <a:xfrm rot="10800000">
            <a:off x="7764006" y="3471578"/>
            <a:ext cx="1172766" cy="1159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16"/>
          <p:cNvCxnSpPr/>
          <p:nvPr/>
        </p:nvCxnSpPr>
        <p:spPr>
          <a:xfrm flipH="1">
            <a:off x="8129823" y="3059889"/>
            <a:ext cx="367969" cy="4174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16"/>
          <p:cNvSpPr/>
          <p:nvPr/>
        </p:nvSpPr>
        <p:spPr>
          <a:xfrm>
            <a:off x="7391735" y="1631543"/>
            <a:ext cx="1956042" cy="1814908"/>
          </a:xfrm>
          <a:custGeom>
            <a:rect b="b" l="l" r="r" t="t"/>
            <a:pathLst>
              <a:path extrusionOk="0" h="4500" w="5205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33" name="Google Shape;1533;p16"/>
          <p:cNvGrpSpPr/>
          <p:nvPr/>
        </p:nvGrpSpPr>
        <p:grpSpPr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1534" name="Google Shape;1534;p16"/>
            <p:cNvSpPr/>
            <p:nvPr/>
          </p:nvSpPr>
          <p:spPr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35" name="Google Shape;1535;p16"/>
            <p:cNvCxnSpPr/>
            <p:nvPr/>
          </p:nvCxnSpPr>
          <p:spPr>
            <a:xfrm>
              <a:off x="1168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6" name="Google Shape;1536;p16"/>
            <p:cNvCxnSpPr/>
            <p:nvPr/>
          </p:nvCxnSpPr>
          <p:spPr>
            <a:xfrm>
              <a:off x="11621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7" name="Google Shape;1537;p16"/>
            <p:cNvCxnSpPr/>
            <p:nvPr/>
          </p:nvCxnSpPr>
          <p:spPr>
            <a:xfrm>
              <a:off x="1155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8" name="Google Shape;1538;p16"/>
            <p:cNvCxnSpPr/>
            <p:nvPr/>
          </p:nvCxnSpPr>
          <p:spPr>
            <a:xfrm>
              <a:off x="11491" y="10495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9" name="Google Shape;1539;p16"/>
            <p:cNvCxnSpPr/>
            <p:nvPr/>
          </p:nvCxnSpPr>
          <p:spPr>
            <a:xfrm>
              <a:off x="11426" y="10495"/>
              <a:ext cx="2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0" name="Google Shape;1540;p16"/>
            <p:cNvCxnSpPr/>
            <p:nvPr/>
          </p:nvCxnSpPr>
          <p:spPr>
            <a:xfrm>
              <a:off x="11360" y="10495"/>
              <a:ext cx="3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41" name="Google Shape;1541;p16"/>
          <p:cNvCxnSpPr/>
          <p:nvPr/>
        </p:nvCxnSpPr>
        <p:spPr>
          <a:xfrm flipH="1">
            <a:off x="6515926" y="2963248"/>
            <a:ext cx="514296" cy="51412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2" name="Google Shape;1542;p16"/>
          <p:cNvGrpSpPr/>
          <p:nvPr/>
        </p:nvGrpSpPr>
        <p:grpSpPr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1543" name="Google Shape;1543;p16"/>
            <p:cNvSpPr/>
            <p:nvPr/>
          </p:nvSpPr>
          <p:spPr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44" name="Google Shape;1544;p16"/>
            <p:cNvCxnSpPr/>
            <p:nvPr/>
          </p:nvCxnSpPr>
          <p:spPr>
            <a:xfrm>
              <a:off x="1168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5" name="Google Shape;1545;p16"/>
            <p:cNvCxnSpPr/>
            <p:nvPr/>
          </p:nvCxnSpPr>
          <p:spPr>
            <a:xfrm>
              <a:off x="11621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6" name="Google Shape;1546;p16"/>
            <p:cNvCxnSpPr/>
            <p:nvPr/>
          </p:nvCxnSpPr>
          <p:spPr>
            <a:xfrm>
              <a:off x="11556" y="10502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16"/>
            <p:cNvCxnSpPr/>
            <p:nvPr/>
          </p:nvCxnSpPr>
          <p:spPr>
            <a:xfrm>
              <a:off x="11491" y="10495"/>
              <a:ext cx="1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8" name="Google Shape;1548;p16"/>
            <p:cNvCxnSpPr/>
            <p:nvPr/>
          </p:nvCxnSpPr>
          <p:spPr>
            <a:xfrm>
              <a:off x="11426" y="10495"/>
              <a:ext cx="2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9" name="Google Shape;1549;p16"/>
            <p:cNvCxnSpPr/>
            <p:nvPr/>
          </p:nvCxnSpPr>
          <p:spPr>
            <a:xfrm>
              <a:off x="11360" y="10495"/>
              <a:ext cx="3" cy="23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0" name="Google Shape;1550;p16"/>
          <p:cNvSpPr/>
          <p:nvPr/>
        </p:nvSpPr>
        <p:spPr>
          <a:xfrm>
            <a:off x="6421244" y="1656669"/>
            <a:ext cx="2999696" cy="1863229"/>
          </a:xfrm>
          <a:custGeom>
            <a:rect b="b" l="l" r="r" t="t"/>
            <a:pathLst>
              <a:path extrusionOk="0" h="4620" w="798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1" name="Google Shape;1551;p16"/>
          <p:cNvSpPr/>
          <p:nvPr/>
        </p:nvSpPr>
        <p:spPr>
          <a:xfrm>
            <a:off x="6184539" y="1716586"/>
            <a:ext cx="3399942" cy="1832304"/>
          </a:xfrm>
          <a:custGeom>
            <a:rect b="b" l="l" r="r" t="t"/>
            <a:pathLst>
              <a:path extrusionOk="0" h="4545" w="90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2" name="Google Shape;1552;p16"/>
          <p:cNvSpPr/>
          <p:nvPr/>
        </p:nvSpPr>
        <p:spPr>
          <a:xfrm>
            <a:off x="6257703" y="1747511"/>
            <a:ext cx="3430069" cy="1693141"/>
          </a:xfrm>
          <a:custGeom>
            <a:rect b="b" l="l" r="r" t="t"/>
            <a:pathLst>
              <a:path extrusionOk="0" h="4201" w="9120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cap="flat" cmpd="sng" w="38100">
            <a:solidFill>
              <a:srgbClr val="00B05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53" name="Google Shape;1553;p16"/>
          <p:cNvGrpSpPr/>
          <p:nvPr/>
        </p:nvGrpSpPr>
        <p:grpSpPr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1554" name="Google Shape;1554;p16"/>
            <p:cNvSpPr/>
            <p:nvPr/>
          </p:nvSpPr>
          <p:spPr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5" name="Google Shape;1555;p16"/>
            <p:cNvSpPr/>
            <p:nvPr/>
          </p:nvSpPr>
          <p:spPr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56" name="Google Shape;1556;p16"/>
          <p:cNvGrpSpPr/>
          <p:nvPr/>
        </p:nvGrpSpPr>
        <p:grpSpPr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1557" name="Google Shape;1557;p16"/>
            <p:cNvSpPr/>
            <p:nvPr/>
          </p:nvSpPr>
          <p:spPr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8" name="Google Shape;1558;p16"/>
            <p:cNvSpPr/>
            <p:nvPr/>
          </p:nvSpPr>
          <p:spPr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59" name="Google Shape;1559;p16"/>
          <p:cNvGrpSpPr/>
          <p:nvPr/>
        </p:nvGrpSpPr>
        <p:grpSpPr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1560" name="Google Shape;1560;p16"/>
            <p:cNvSpPr/>
            <p:nvPr/>
          </p:nvSpPr>
          <p:spPr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1" name="Google Shape;1561;p16"/>
            <p:cNvSpPr/>
            <p:nvPr/>
          </p:nvSpPr>
          <p:spPr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62" name="Google Shape;1562;p16"/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cxnSp>
          <p:nvCxnSpPr>
            <p:cNvPr id="1563" name="Google Shape;1563;p16"/>
            <p:cNvCxnSpPr/>
            <p:nvPr/>
          </p:nvCxnSpPr>
          <p:spPr>
            <a:xfrm>
              <a:off x="2143125" y="1520825"/>
              <a:ext cx="0" cy="18605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4" name="Google Shape;1564;p16"/>
            <p:cNvCxnSpPr/>
            <p:nvPr/>
          </p:nvCxnSpPr>
          <p:spPr>
            <a:xfrm flipH="1" rot="10800000">
              <a:off x="2127250" y="3373438"/>
              <a:ext cx="2333625" cy="476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5" name="Google Shape;1565;p16"/>
            <p:cNvSpPr/>
            <p:nvPr/>
          </p:nvSpPr>
          <p:spPr>
            <a:xfrm>
              <a:off x="2132013" y="2607303"/>
              <a:ext cx="2489200" cy="759348"/>
            </a:xfrm>
            <a:custGeom>
              <a:rect b="b" l="l" r="r" t="t"/>
              <a:pathLst>
                <a:path extrusionOk="0" h="10001" w="10000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566" name="Google Shape;1566;p16"/>
            <p:cNvCxnSpPr/>
            <p:nvPr/>
          </p:nvCxnSpPr>
          <p:spPr>
            <a:xfrm>
              <a:off x="2011363" y="1673225"/>
              <a:ext cx="125412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7" name="Google Shape;1567;p16"/>
            <p:cNvCxnSpPr/>
            <p:nvPr/>
          </p:nvCxnSpPr>
          <p:spPr>
            <a:xfrm>
              <a:off x="3944938" y="3381375"/>
              <a:ext cx="0" cy="1349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8" name="Google Shape;1568;p16"/>
            <p:cNvSpPr txBox="1"/>
            <p:nvPr/>
          </p:nvSpPr>
          <p:spPr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lang="en-US" sz="1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/2</a:t>
              </a:r>
              <a:endParaRPr/>
            </a:p>
          </p:txBody>
        </p:sp>
        <p:sp>
          <p:nvSpPr>
            <p:cNvPr id="1569" name="Google Shape;1569;p16"/>
            <p:cNvSpPr txBox="1"/>
            <p:nvPr/>
          </p:nvSpPr>
          <p:spPr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lang="en-US" sz="1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R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/2</a:t>
              </a:r>
              <a:endParaRPr/>
            </a:p>
          </p:txBody>
        </p:sp>
        <p:sp>
          <p:nvSpPr>
            <p:cNvPr id="1570" name="Google Shape;1570;p16"/>
            <p:cNvSpPr txBox="1"/>
            <p:nvPr/>
          </p:nvSpPr>
          <p:spPr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/>
            </a:p>
          </p:txBody>
        </p:sp>
        <p:sp>
          <p:nvSpPr>
            <p:cNvPr id="1571" name="Google Shape;1571;p16"/>
            <p:cNvSpPr txBox="1"/>
            <p:nvPr/>
          </p:nvSpPr>
          <p:spPr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30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baseline="3000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7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insights</a:t>
            </a:r>
            <a:endParaRPr b="0" sz="4400"/>
          </a:p>
        </p:txBody>
      </p:sp>
      <p:grpSp>
        <p:nvGrpSpPr>
          <p:cNvPr id="1578" name="Google Shape;1578;p17"/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1579" name="Google Shape;1579;p17"/>
            <p:cNvSpPr/>
            <p:nvPr/>
          </p:nvSpPr>
          <p:spPr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0" name="Google Shape;1580;p17"/>
            <p:cNvSpPr/>
            <p:nvPr/>
          </p:nvSpPr>
          <p:spPr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transmission capacity / buffering wasted for packets lost downstream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1" name="Google Shape;158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2" name="Google Shape;1582;p17"/>
          <p:cNvGrpSpPr/>
          <p:nvPr/>
        </p:nvGrpSpPr>
        <p:grpSpPr>
          <a:xfrm>
            <a:off x="1028700" y="2052023"/>
            <a:ext cx="10080734" cy="1334789"/>
            <a:chOff x="1028700" y="1860299"/>
            <a:chExt cx="10080734" cy="1334789"/>
          </a:xfrm>
        </p:grpSpPr>
        <p:sp>
          <p:nvSpPr>
            <p:cNvPr id="1583" name="Google Shape;1583;p17"/>
            <p:cNvSpPr/>
            <p:nvPr/>
          </p:nvSpPr>
          <p:spPr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 increases as capacity approached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id="1584" name="Google Shape;158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5" name="Google Shape;1585;p17"/>
          <p:cNvGrpSpPr/>
          <p:nvPr/>
        </p:nvGrpSpPr>
        <p:grpSpPr>
          <a:xfrm>
            <a:off x="1041400" y="4167737"/>
            <a:ext cx="9952137" cy="1463041"/>
            <a:chOff x="1041400" y="4167737"/>
            <a:chExt cx="9952137" cy="1463041"/>
          </a:xfrm>
        </p:grpSpPr>
        <p:sp>
          <p:nvSpPr>
            <p:cNvPr id="1586" name="Google Shape;1586;p17"/>
            <p:cNvSpPr/>
            <p:nvPr/>
          </p:nvSpPr>
          <p:spPr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un-needed duplicates further decreases effective throughput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7" name="Google Shape;158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8" name="Google Shape;1588;p17"/>
          <p:cNvGrpSpPr/>
          <p:nvPr/>
        </p:nvGrpSpPr>
        <p:grpSpPr>
          <a:xfrm>
            <a:off x="1041400" y="2983830"/>
            <a:ext cx="8301120" cy="1447533"/>
            <a:chOff x="1041400" y="2983830"/>
            <a:chExt cx="8301120" cy="1447533"/>
          </a:xfrm>
        </p:grpSpPr>
        <p:sp>
          <p:nvSpPr>
            <p:cNvPr id="1589" name="Google Shape;1589;p17"/>
            <p:cNvSpPr/>
            <p:nvPr/>
          </p:nvSpPr>
          <p:spPr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loss/retransmission decreases effective throughput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90" name="Google Shape;159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1" name="Google Shape;1591;p17"/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1592" name="Google Shape;1592;p17"/>
            <p:cNvSpPr/>
            <p:nvPr/>
          </p:nvSpPr>
          <p:spPr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throughput c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 never exceed capacity </a:t>
              </a:r>
              <a:endParaRPr/>
            </a:p>
          </p:txBody>
        </p:sp>
        <p:pic>
          <p:nvPicPr>
            <p:cNvPr id="1593" name="Google Shape;1593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9" name="Google Shape;1599;p18"/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600" name="Google Shape;1600;p18"/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01" name="Google Shape;1601;p18"/>
            <p:cNvCxnSpPr/>
            <p:nvPr/>
          </p:nvCxnSpPr>
          <p:spPr>
            <a:xfrm>
              <a:off x="7664720" y="3029172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2" name="Google Shape;1602;p18"/>
            <p:cNvCxnSpPr/>
            <p:nvPr/>
          </p:nvCxnSpPr>
          <p:spPr>
            <a:xfrm>
              <a:off x="7668839" y="3266304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3" name="Google Shape;1603;p18"/>
            <p:cNvCxnSpPr/>
            <p:nvPr/>
          </p:nvCxnSpPr>
          <p:spPr>
            <a:xfrm>
              <a:off x="7680018" y="3499906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4" name="Google Shape;1604;p18"/>
            <p:cNvCxnSpPr/>
            <p:nvPr/>
          </p:nvCxnSpPr>
          <p:spPr>
            <a:xfrm>
              <a:off x="7670015" y="3726448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05" name="Google Shape;1605;p18"/>
          <p:cNvSpPr/>
          <p:nvPr/>
        </p:nvSpPr>
        <p:spPr>
          <a:xfrm flipH="1">
            <a:off x="6810066" y="2305050"/>
            <a:ext cx="250825" cy="120173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06" name="Google Shape;1606;p18"/>
          <p:cNvGrpSpPr/>
          <p:nvPr/>
        </p:nvGrpSpPr>
        <p:grpSpPr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descr="desktop_computer_stylized_medium" id="1607" name="Google Shape;160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8" name="Google Shape;1608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09" name="Google Shape;1609;p18"/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610" name="Google Shape;1610;p18"/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11" name="Google Shape;1611;p18"/>
            <p:cNvCxnSpPr/>
            <p:nvPr/>
          </p:nvCxnSpPr>
          <p:spPr>
            <a:xfrm>
              <a:off x="7664720" y="3029172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2" name="Google Shape;1612;p18"/>
            <p:cNvCxnSpPr/>
            <p:nvPr/>
          </p:nvCxnSpPr>
          <p:spPr>
            <a:xfrm>
              <a:off x="7668839" y="3266304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3" name="Google Shape;1613;p18"/>
            <p:cNvCxnSpPr/>
            <p:nvPr/>
          </p:nvCxnSpPr>
          <p:spPr>
            <a:xfrm>
              <a:off x="7680018" y="3499906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4" name="Google Shape;1614;p18"/>
            <p:cNvCxnSpPr/>
            <p:nvPr/>
          </p:nvCxnSpPr>
          <p:spPr>
            <a:xfrm>
              <a:off x="7670015" y="3726448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15" name="Google Shape;1615;p18"/>
          <p:cNvSpPr txBox="1"/>
          <p:nvPr>
            <p:ph idx="1" type="body"/>
          </p:nvPr>
        </p:nvSpPr>
        <p:spPr>
          <a:xfrm>
            <a:off x="884903" y="1939313"/>
            <a:ext cx="5562600" cy="253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</a:rPr>
              <a:t>End-end congestion control: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no explicit feedback from network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congestion </a:t>
            </a:r>
            <a:r>
              <a:rPr i="1" lang="en-US" sz="3200">
                <a:solidFill>
                  <a:srgbClr val="C00000"/>
                </a:solidFill>
              </a:rPr>
              <a:t>inferred</a:t>
            </a:r>
            <a:r>
              <a:rPr lang="en-US" sz="3200"/>
              <a:t> from observed loss, delay</a:t>
            </a:r>
            <a:endParaRPr/>
          </a:p>
        </p:txBody>
      </p:sp>
      <p:sp>
        <p:nvSpPr>
          <p:cNvPr id="1616" name="Google Shape;1616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Approaches towards congestion control</a:t>
            </a:r>
            <a:endParaRPr sz="5400"/>
          </a:p>
        </p:txBody>
      </p:sp>
      <p:sp>
        <p:nvSpPr>
          <p:cNvPr id="1617" name="Google Shape;1617;p18"/>
          <p:cNvSpPr/>
          <p:nvPr/>
        </p:nvSpPr>
        <p:spPr>
          <a:xfrm>
            <a:off x="7675918" y="3459066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8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8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18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8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18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18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18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5" name="Google Shape;1625;p18"/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1626" name="Google Shape;162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27" name="Google Shape;162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28" name="Google Shape;162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29" name="Google Shape;162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33" name="Google Shape;1633;p18"/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1634" name="Google Shape;163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35" name="Google Shape;163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36" name="Google Shape;163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37" name="Google Shape;163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1" name="Google Shape;1641;p18"/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1642" name="Google Shape;164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43" name="Google Shape;164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44" name="Google Shape;164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45" name="Google Shape;164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9" name="Google Shape;1649;p18"/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1650" name="Google Shape;165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51" name="Google Shape;165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52" name="Google Shape;165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3" name="Google Shape;165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57" name="Google Shape;1657;p18"/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658" name="Google Shape;165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59" name="Google Shape;165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60" name="Google Shape;166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61" name="Google Shape;166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5" name="Google Shape;1665;p18"/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666" name="Google Shape;166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67" name="Google Shape;166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68" name="Google Shape;166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69" name="Google Shape;166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73" name="Google Shape;1673;p18"/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1674" name="Google Shape;1674;p18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5" name="Google Shape;1675;p18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6" name="Google Shape;1676;p18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7" name="Google Shape;1677;p18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8" name="Google Shape;1678;p18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9" name="Google Shape;1679;p18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0" name="Google Shape;1680;p18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1" name="Google Shape;1681;p18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82" name="Google Shape;1682;p18"/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683" name="Google Shape;1683;p18"/>
            <p:cNvSpPr/>
            <p:nvPr/>
          </p:nvSpPr>
          <p:spPr>
            <a:xfrm>
              <a:off x="9335149" y="2701273"/>
              <a:ext cx="1406838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8"/>
            <p:cNvSpPr/>
            <p:nvPr/>
          </p:nvSpPr>
          <p:spPr>
            <a:xfrm>
              <a:off x="7473006" y="2677315"/>
              <a:ext cx="1446868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8"/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686" name="Google Shape;1686;p18"/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1687" name="Google Shape;1687;p18"/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688" name="Google Shape;1688;p18"/>
            <p:cNvSpPr/>
            <p:nvPr/>
          </p:nvSpPr>
          <p:spPr>
            <a:xfrm>
              <a:off x="7353946" y="2691243"/>
              <a:ext cx="3498244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18"/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1690" name="Google Shape;1690;p18"/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1691" name="Google Shape;1691;p18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92" name="Google Shape;1692;p18"/>
          <p:cNvGrpSpPr/>
          <p:nvPr/>
        </p:nvGrpSpPr>
        <p:grpSpPr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693" name="Google Shape;1693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4" name="Google Shape;1694;p18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5" name="Google Shape;1695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6" name="Google Shape;1696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7" name="Google Shape;1697;p18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698" name="Google Shape;1698;p18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699" name="Google Shape;1699;p18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00" name="Google Shape;1700;p18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01" name="Google Shape;1701;p18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02" name="Google Shape;1702;p18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703" name="Google Shape;1703;p18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04" name="Google Shape;1704;p18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05" name="Google Shape;1705;p18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6" name="Google Shape;1706;p18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07" name="Google Shape;1707;p18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708" name="Google Shape;1708;p18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09" name="Google Shape;1709;p18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10" name="Google Shape;1710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11" name="Google Shape;1711;p18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712" name="Google Shape;1712;p18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13" name="Google Shape;1713;p18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14" name="Google Shape;1714;p18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5" name="Google Shape;1715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6" name="Google Shape;1716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7" name="Google Shape;1717;p1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8" name="Google Shape;1718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9" name="Google Shape;1719;p18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0" name="Google Shape;1720;p18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1" name="Google Shape;1721;p18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2" name="Google Shape;1722;p18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8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4" name="Google Shape;1724;p18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725" name="Google Shape;1725;p18"/>
          <p:cNvSpPr txBox="1"/>
          <p:nvPr/>
        </p:nvSpPr>
        <p:spPr>
          <a:xfrm>
            <a:off x="921800" y="4257398"/>
            <a:ext cx="5562600" cy="632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 taken by TCP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9"/>
          <p:cNvSpPr txBox="1"/>
          <p:nvPr>
            <p:ph idx="1" type="body"/>
          </p:nvPr>
        </p:nvSpPr>
        <p:spPr>
          <a:xfrm>
            <a:off x="718945" y="5640403"/>
            <a:ext cx="5781368" cy="736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3000"/>
              <a:t>TCP ECN, ATM, DECbit protocols</a:t>
            </a:r>
            <a:endParaRPr sz="3500"/>
          </a:p>
        </p:txBody>
      </p:sp>
      <p:sp>
        <p:nvSpPr>
          <p:cNvPr id="1732" name="Google Shape;1732;p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Approaches towards congestion control</a:t>
            </a:r>
            <a:endParaRPr sz="5400"/>
          </a:p>
        </p:txBody>
      </p:sp>
      <p:sp>
        <p:nvSpPr>
          <p:cNvPr id="1733" name="Google Shape;1733;p19"/>
          <p:cNvSpPr/>
          <p:nvPr/>
        </p:nvSpPr>
        <p:spPr>
          <a:xfrm>
            <a:off x="7675918" y="3459066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19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9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19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9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9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9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9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1" name="Google Shape;1741;p19"/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1742" name="Google Shape;1742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43" name="Google Shape;1743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44" name="Google Shape;1744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45" name="Google Shape;1745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49" name="Google Shape;1749;p19"/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1750" name="Google Shape;1750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51" name="Google Shape;1751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52" name="Google Shape;1752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3" name="Google Shape;1753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7" name="Google Shape;1757;p19"/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1758" name="Google Shape;1758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59" name="Google Shape;1759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60" name="Google Shape;1760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1" name="Google Shape;1761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5" name="Google Shape;1765;p19"/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1766" name="Google Shape;1766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67" name="Google Shape;1767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68" name="Google Shape;1768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9" name="Google Shape;1769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73" name="Google Shape;1773;p19"/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774" name="Google Shape;1774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75" name="Google Shape;1775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76" name="Google Shape;1776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77" name="Google Shape;1777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1" name="Google Shape;1781;p19"/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782" name="Google Shape;1782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83" name="Google Shape;1783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84" name="Google Shape;1784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85" name="Google Shape;1785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9" name="Google Shape;1789;p19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90" name="Google Shape;1790;p19"/>
          <p:cNvGrpSpPr/>
          <p:nvPr/>
        </p:nvGrpSpPr>
        <p:grpSpPr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791" name="Google Shape;1791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2" name="Google Shape;1792;p19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3" name="Google Shape;1793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4" name="Google Shape;1794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5" name="Google Shape;1795;p19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96" name="Google Shape;1796;p19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797" name="Google Shape;1797;p19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98" name="Google Shape;1798;p19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99" name="Google Shape;1799;p19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00" name="Google Shape;1800;p19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801" name="Google Shape;1801;p19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02" name="Google Shape;1802;p19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803" name="Google Shape;1803;p19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04" name="Google Shape;1804;p19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05" name="Google Shape;1805;p19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806" name="Google Shape;1806;p19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07" name="Google Shape;1807;p19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808" name="Google Shape;1808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09" name="Google Shape;1809;p19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810" name="Google Shape;1810;p19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11" name="Google Shape;1811;p19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812" name="Google Shape;1812;p19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3" name="Google Shape;1813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4" name="Google Shape;1814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5" name="Google Shape;1815;p19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6" name="Google Shape;1816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7" name="Google Shape;1817;p19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8" name="Google Shape;1818;p19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9" name="Google Shape;1819;p19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0" name="Google Shape;1820;p19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9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2" name="Google Shape;1822;p19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823" name="Google Shape;1823;p19"/>
          <p:cNvSpPr/>
          <p:nvPr/>
        </p:nvSpPr>
        <p:spPr>
          <a:xfrm flipH="1">
            <a:off x="6810066" y="2305050"/>
            <a:ext cx="250825" cy="120173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24" name="Google Shape;1824;p19"/>
          <p:cNvGrpSpPr/>
          <p:nvPr/>
        </p:nvGrpSpPr>
        <p:grpSpPr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descr="desktop_computer_stylized_medium" id="1825" name="Google Shape;182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827" name="Google Shape;1827;p19"/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828" name="Google Shape;1828;p19"/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29" name="Google Shape;1829;p19"/>
            <p:cNvCxnSpPr/>
            <p:nvPr/>
          </p:nvCxnSpPr>
          <p:spPr>
            <a:xfrm>
              <a:off x="7664720" y="3029172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0" name="Google Shape;1830;p19"/>
            <p:cNvCxnSpPr/>
            <p:nvPr/>
          </p:nvCxnSpPr>
          <p:spPr>
            <a:xfrm>
              <a:off x="7668839" y="3266304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1" name="Google Shape;1831;p19"/>
            <p:cNvCxnSpPr/>
            <p:nvPr/>
          </p:nvCxnSpPr>
          <p:spPr>
            <a:xfrm>
              <a:off x="7680018" y="3499906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2" name="Google Shape;1832;p19"/>
            <p:cNvCxnSpPr/>
            <p:nvPr/>
          </p:nvCxnSpPr>
          <p:spPr>
            <a:xfrm>
              <a:off x="7670015" y="3726448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33" name="Google Shape;1833;p19"/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834" name="Google Shape;1834;p19"/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5" name="Google Shape;1835;p19"/>
            <p:cNvCxnSpPr/>
            <p:nvPr/>
          </p:nvCxnSpPr>
          <p:spPr>
            <a:xfrm>
              <a:off x="7664720" y="3029172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6" name="Google Shape;1836;p19"/>
            <p:cNvCxnSpPr/>
            <p:nvPr/>
          </p:nvCxnSpPr>
          <p:spPr>
            <a:xfrm>
              <a:off x="7668839" y="3266304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7" name="Google Shape;1837;p19"/>
            <p:cNvCxnSpPr/>
            <p:nvPr/>
          </p:nvCxnSpPr>
          <p:spPr>
            <a:xfrm>
              <a:off x="7680018" y="3499906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8" name="Google Shape;1838;p19"/>
            <p:cNvCxnSpPr/>
            <p:nvPr/>
          </p:nvCxnSpPr>
          <p:spPr>
            <a:xfrm>
              <a:off x="7670015" y="3726448"/>
              <a:ext cx="70257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39" name="Google Shape;1839;p19"/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1840" name="Google Shape;1840;p19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1" name="Google Shape;1841;p19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2" name="Google Shape;1842;p19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3" name="Google Shape;1843;p19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4" name="Google Shape;1844;p19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5" name="Google Shape;1845;p19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6" name="Google Shape;1846;p19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7" name="Google Shape;1847;p19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48" name="Google Shape;1848;p19"/>
          <p:cNvGrpSpPr/>
          <p:nvPr/>
        </p:nvGrpSpPr>
        <p:grpSpPr>
          <a:xfrm>
            <a:off x="7552398" y="2762175"/>
            <a:ext cx="3061681" cy="1433307"/>
            <a:chOff x="7552398" y="2762175"/>
            <a:chExt cx="3061681" cy="1433307"/>
          </a:xfrm>
        </p:grpSpPr>
        <p:sp>
          <p:nvSpPr>
            <p:cNvPr id="1849" name="Google Shape;1849;p19"/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19"/>
            <p:cNvSpPr/>
            <p:nvPr/>
          </p:nvSpPr>
          <p:spPr>
            <a:xfrm>
              <a:off x="7552398" y="2762175"/>
              <a:ext cx="1509408" cy="1424343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1" name="Google Shape;1851;p19"/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852" name="Google Shape;1852;p19"/>
            <p:cNvSpPr/>
            <p:nvPr/>
          </p:nvSpPr>
          <p:spPr>
            <a:xfrm>
              <a:off x="9335149" y="2701273"/>
              <a:ext cx="1406838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19"/>
            <p:cNvSpPr/>
            <p:nvPr/>
          </p:nvSpPr>
          <p:spPr>
            <a:xfrm>
              <a:off x="7473006" y="2677315"/>
              <a:ext cx="1446868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19"/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855" name="Google Shape;1855;p19"/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1856" name="Google Shape;1856;p19"/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857" name="Google Shape;1857;p19"/>
            <p:cNvSpPr/>
            <p:nvPr/>
          </p:nvSpPr>
          <p:spPr>
            <a:xfrm>
              <a:off x="7353946" y="2691243"/>
              <a:ext cx="3498244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19"/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1859" name="Google Shape;1859;p19"/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1860" name="Google Shape;1860;p19"/>
          <p:cNvSpPr txBox="1"/>
          <p:nvPr/>
        </p:nvSpPr>
        <p:spPr>
          <a:xfrm>
            <a:off x="8061221" y="2622756"/>
            <a:ext cx="209551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explicit congestion info</a:t>
            </a:r>
            <a:endParaRPr/>
          </a:p>
        </p:txBody>
      </p:sp>
      <p:sp>
        <p:nvSpPr>
          <p:cNvPr id="1861" name="Google Shape;1861;p19"/>
          <p:cNvSpPr txBox="1"/>
          <p:nvPr/>
        </p:nvSpPr>
        <p:spPr>
          <a:xfrm>
            <a:off x="698090" y="1818967"/>
            <a:ext cx="5781368" cy="382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5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Network-assisted congestion control:</a:t>
            </a:r>
            <a:endParaRPr/>
          </a:p>
          <a:p>
            <a:pPr indent="-277813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provide </a:t>
            </a:r>
            <a:r>
              <a:rPr i="1"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feedback to sending/receiving hosts with flows passing through congested router</a:t>
            </a:r>
            <a:endParaRPr/>
          </a:p>
          <a:p>
            <a:pPr indent="-277813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indicate congestion level or explicitly set sending rate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20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1868" name="Google Shape;1868;p20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1869" name="Google Shape;1869;p20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870" name="Google Shape;187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1" name="Google Shape;1871;p20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lang="en-US" sz="2800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872" name="Google Shape;1872;p20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873" name="Google Shape;1873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4" name="Google Shape;1874;p20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aseline="30000"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i="1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i="1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5" name="Google Shape;1875;p20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876" name="Google Shape;1876;p20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877" name="Google Shape;1877;p20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878" name="Google Shape;1878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79" name="Google Shape;1879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Backup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2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3" lvl="0" marL="465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▪"/>
            </a:pPr>
            <a:r>
              <a:rPr lang="en-US" sz="4000"/>
              <a:t>Causes and costs of congestion: three scenarios</a:t>
            </a:r>
            <a:endParaRPr/>
          </a:p>
          <a:p>
            <a:pPr indent="-334963" lvl="0" marL="4651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Char char="▪"/>
            </a:pPr>
            <a:r>
              <a:rPr lang="en-US" sz="4000"/>
              <a:t>Approaches towards congestion control:</a:t>
            </a:r>
            <a:endParaRPr/>
          </a:p>
          <a:p>
            <a:pPr indent="-285750" lvl="1" marL="9842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Char char="•"/>
            </a:pPr>
            <a:r>
              <a:rPr lang="en-US" sz="3600"/>
              <a:t>end-end congestion control</a:t>
            </a:r>
            <a:endParaRPr/>
          </a:p>
          <a:p>
            <a:pPr indent="-285750" lvl="1" marL="9842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Char char="•"/>
            </a:pPr>
            <a:r>
              <a:rPr lang="en-US" sz="3600"/>
              <a:t>network-assisted congestion control</a:t>
            </a:r>
            <a:endParaRPr/>
          </a:p>
        </p:txBody>
      </p:sp>
      <p:sp>
        <p:nvSpPr>
          <p:cNvPr id="1891" name="Google Shape;1891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Principles of Congestion Control</a:t>
            </a:r>
            <a:endParaRPr/>
          </a:p>
        </p:txBody>
      </p:sp>
      <p:sp>
        <p:nvSpPr>
          <p:cNvPr id="1892" name="Google Shape;1892;p22"/>
          <p:cNvSpPr txBox="1"/>
          <p:nvPr/>
        </p:nvSpPr>
        <p:spPr>
          <a:xfrm>
            <a:off x="1489166" y="5982789"/>
            <a:ext cx="479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arbage_can" id="1898" name="Google Shape;18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113" y="4632325"/>
            <a:ext cx="487362" cy="6492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23"/>
          <p:cNvSpPr/>
          <p:nvPr/>
        </p:nvSpPr>
        <p:spPr>
          <a:xfrm>
            <a:off x="7023176" y="3866814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0" name="Google Shape;1900;p23"/>
          <p:cNvGrpSpPr/>
          <p:nvPr/>
        </p:nvGrpSpPr>
        <p:grpSpPr>
          <a:xfrm>
            <a:off x="6316713" y="3873599"/>
            <a:ext cx="720732" cy="1182930"/>
            <a:chOff x="10910965" y="2513124"/>
            <a:chExt cx="586768" cy="904023"/>
          </a:xfrm>
        </p:grpSpPr>
        <p:sp>
          <p:nvSpPr>
            <p:cNvPr id="1901" name="Google Shape;1901;p2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02" name="Google Shape;1902;p2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3" name="Google Shape;1903;p2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4" name="Google Shape;1904;p2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5" name="Google Shape;1905;p2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06" name="Google Shape;1906;p23"/>
          <p:cNvSpPr/>
          <p:nvPr/>
        </p:nvSpPr>
        <p:spPr>
          <a:xfrm flipH="1">
            <a:off x="1920921" y="2372638"/>
            <a:ext cx="528348" cy="1178279"/>
          </a:xfrm>
          <a:custGeom>
            <a:rect b="b" l="l" r="r" t="t"/>
            <a:pathLst>
              <a:path extrusionOk="0" h="10765" w="10000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7" name="Google Shape;1907;p23"/>
          <p:cNvGrpSpPr/>
          <p:nvPr/>
        </p:nvGrpSpPr>
        <p:grpSpPr>
          <a:xfrm>
            <a:off x="1354878" y="3540698"/>
            <a:ext cx="720732" cy="1182930"/>
            <a:chOff x="10910965" y="2513124"/>
            <a:chExt cx="586768" cy="904023"/>
          </a:xfrm>
        </p:grpSpPr>
        <p:sp>
          <p:nvSpPr>
            <p:cNvPr id="1908" name="Google Shape;1908;p2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09" name="Google Shape;1909;p2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0" name="Google Shape;1910;p2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1" name="Google Shape;1911;p2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2" name="Google Shape;1912;p2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13" name="Google Shape;1913;p23"/>
          <p:cNvGrpSpPr/>
          <p:nvPr/>
        </p:nvGrpSpPr>
        <p:grpSpPr>
          <a:xfrm>
            <a:off x="2431244" y="2378091"/>
            <a:ext cx="720732" cy="1182930"/>
            <a:chOff x="10910965" y="2513124"/>
            <a:chExt cx="586768" cy="904023"/>
          </a:xfrm>
        </p:grpSpPr>
        <p:sp>
          <p:nvSpPr>
            <p:cNvPr id="1914" name="Google Shape;1914;p2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5" name="Google Shape;1915;p2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6" name="Google Shape;1916;p2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7" name="Google Shape;1917;p2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8" name="Google Shape;1918;p2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19" name="Google Shape;1919;p23"/>
          <p:cNvSpPr/>
          <p:nvPr/>
        </p:nvSpPr>
        <p:spPr>
          <a:xfrm>
            <a:off x="7485312" y="2556469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20" name="Google Shape;1920;p23"/>
          <p:cNvGrpSpPr/>
          <p:nvPr/>
        </p:nvGrpSpPr>
        <p:grpSpPr>
          <a:xfrm>
            <a:off x="6775118" y="2524889"/>
            <a:ext cx="720732" cy="1182930"/>
            <a:chOff x="10910965" y="2513124"/>
            <a:chExt cx="586768" cy="904023"/>
          </a:xfrm>
        </p:grpSpPr>
        <p:sp>
          <p:nvSpPr>
            <p:cNvPr id="1921" name="Google Shape;1921;p23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22" name="Google Shape;1922;p23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3" name="Google Shape;1923;p23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4" name="Google Shape;1924;p23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5" name="Google Shape;1925;p23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26" name="Google Shape;1926;p23"/>
          <p:cNvGrpSpPr/>
          <p:nvPr/>
        </p:nvGrpSpPr>
        <p:grpSpPr>
          <a:xfrm>
            <a:off x="3846896" y="3890645"/>
            <a:ext cx="1286871" cy="734927"/>
            <a:chOff x="7493876" y="2774731"/>
            <a:chExt cx="1481958" cy="894622"/>
          </a:xfrm>
        </p:grpSpPr>
        <p:sp>
          <p:nvSpPr>
            <p:cNvPr id="1927" name="Google Shape;1927;p2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29" name="Google Shape;1929;p2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30" name="Google Shape;1930;p2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34" name="Google Shape;1934;p23"/>
          <p:cNvGrpSpPr/>
          <p:nvPr/>
        </p:nvGrpSpPr>
        <p:grpSpPr>
          <a:xfrm>
            <a:off x="1393621" y="2734120"/>
            <a:ext cx="645431" cy="569172"/>
            <a:chOff x="-44" y="1473"/>
            <a:chExt cx="981" cy="1105"/>
          </a:xfrm>
        </p:grpSpPr>
        <p:pic>
          <p:nvPicPr>
            <p:cNvPr descr="desktop_computer_stylized_medium" id="1935" name="Google Shape;193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6" name="Google Shape;1936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937" name="Google Shape;1937;p23"/>
          <p:cNvSpPr/>
          <p:nvPr/>
        </p:nvSpPr>
        <p:spPr>
          <a:xfrm flipH="1">
            <a:off x="1054410" y="3538606"/>
            <a:ext cx="308091" cy="1217281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938" name="Google Shape;1938;p23"/>
          <p:cNvCxnSpPr/>
          <p:nvPr/>
        </p:nvCxnSpPr>
        <p:spPr>
          <a:xfrm flipH="1">
            <a:off x="2481766" y="3713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9" name="Google Shape;1939;p23"/>
          <p:cNvSpPr txBox="1"/>
          <p:nvPr/>
        </p:nvSpPr>
        <p:spPr>
          <a:xfrm>
            <a:off x="1164816" y="2386817"/>
            <a:ext cx="1122503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 b="0" i="0" sz="4000" u="none" cap="none" strike="noStrike">
              <a:solidFill>
                <a:srgbClr val="C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40" name="Google Shape;1940;p23"/>
          <p:cNvSpPr txBox="1"/>
          <p:nvPr/>
        </p:nvSpPr>
        <p:spPr>
          <a:xfrm>
            <a:off x="1159635" y="4910488"/>
            <a:ext cx="981577" cy="317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3A3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 b="0" i="0" sz="4000" u="none" cap="none" strike="noStrike">
              <a:solidFill>
                <a:srgbClr val="0013A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941" name="Google Shape;1941;p23"/>
          <p:cNvCxnSpPr/>
          <p:nvPr/>
        </p:nvCxnSpPr>
        <p:spPr>
          <a:xfrm rot="10800000">
            <a:off x="3078448" y="4236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2" name="Google Shape;1942;p23"/>
          <p:cNvCxnSpPr/>
          <p:nvPr/>
        </p:nvCxnSpPr>
        <p:spPr>
          <a:xfrm rot="10800000">
            <a:off x="5067387" y="4236569"/>
            <a:ext cx="74877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3" name="Google Shape;1943;p23"/>
          <p:cNvCxnSpPr/>
          <p:nvPr/>
        </p:nvCxnSpPr>
        <p:spPr>
          <a:xfrm flipH="1">
            <a:off x="5219482" y="3713096"/>
            <a:ext cx="1134865" cy="113419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4" name="Google Shape;1944;p23"/>
          <p:cNvCxnSpPr/>
          <p:nvPr/>
        </p:nvCxnSpPr>
        <p:spPr>
          <a:xfrm rot="10800000">
            <a:off x="6351855" y="3713289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45" name="Google Shape;1945;p23"/>
          <p:cNvGrpSpPr/>
          <p:nvPr/>
        </p:nvGrpSpPr>
        <p:grpSpPr>
          <a:xfrm>
            <a:off x="7608158" y="3330878"/>
            <a:ext cx="284691" cy="577481"/>
            <a:chOff x="4140" y="429"/>
            <a:chExt cx="1425" cy="2396"/>
          </a:xfrm>
        </p:grpSpPr>
        <p:sp>
          <p:nvSpPr>
            <p:cNvPr id="1946" name="Google Shape;1946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51" name="Google Shape;1951;p23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952" name="Google Shape;1952;p23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3" name="Google Shape;1953;p23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54" name="Google Shape;1954;p23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55" name="Google Shape;1955;p23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956" name="Google Shape;1956;p23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7" name="Google Shape;1957;p23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58" name="Google Shape;1958;p23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60" name="Google Shape;1960;p23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961" name="Google Shape;1961;p23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2" name="Google Shape;1962;p23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63" name="Google Shape;1963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64" name="Google Shape;1964;p23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1965" name="Google Shape;1965;p23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6" name="Google Shape;1966;p23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67" name="Google Shape;1967;p23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78" name="Google Shape;1978;p23"/>
          <p:cNvGrpSpPr/>
          <p:nvPr/>
        </p:nvGrpSpPr>
        <p:grpSpPr>
          <a:xfrm>
            <a:off x="661496" y="4512276"/>
            <a:ext cx="645431" cy="569172"/>
            <a:chOff x="-44" y="1473"/>
            <a:chExt cx="981" cy="1105"/>
          </a:xfrm>
        </p:grpSpPr>
        <p:pic>
          <p:nvPicPr>
            <p:cNvPr descr="desktop_computer_stylized_medium" id="1979" name="Google Shape;197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0" name="Google Shape;1980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981" name="Google Shape;1981;p23"/>
          <p:cNvGrpSpPr/>
          <p:nvPr/>
        </p:nvGrpSpPr>
        <p:grpSpPr>
          <a:xfrm>
            <a:off x="7218170" y="4593859"/>
            <a:ext cx="284691" cy="577481"/>
            <a:chOff x="4140" y="429"/>
            <a:chExt cx="1425" cy="2396"/>
          </a:xfrm>
        </p:grpSpPr>
        <p:sp>
          <p:nvSpPr>
            <p:cNvPr id="1982" name="Google Shape;1982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87" name="Google Shape;1987;p23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1988" name="Google Shape;1988;p23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9" name="Google Shape;1989;p23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90" name="Google Shape;1990;p23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91" name="Google Shape;1991;p23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1992" name="Google Shape;1992;p23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3" name="Google Shape;1993;p23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94" name="Google Shape;1994;p23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996" name="Google Shape;1996;p23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1997" name="Google Shape;1997;p23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8" name="Google Shape;1998;p23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99" name="Google Shape;1999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000" name="Google Shape;2000;p23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001" name="Google Shape;2001;p23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2" name="Google Shape;2002;p23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003" name="Google Shape;2003;p23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2014" name="Google Shape;2014;p23"/>
          <p:cNvCxnSpPr/>
          <p:nvPr/>
        </p:nvCxnSpPr>
        <p:spPr>
          <a:xfrm rot="10800000">
            <a:off x="5231568" y="4845369"/>
            <a:ext cx="1009919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5" name="Google Shape;2015;p23"/>
          <p:cNvCxnSpPr/>
          <p:nvPr/>
        </p:nvCxnSpPr>
        <p:spPr>
          <a:xfrm rot="10800000">
            <a:off x="3077396" y="3710221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23"/>
          <p:cNvCxnSpPr/>
          <p:nvPr/>
        </p:nvCxnSpPr>
        <p:spPr>
          <a:xfrm rot="10800000">
            <a:off x="1945591" y="4848438"/>
            <a:ext cx="54013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17" name="Google Shape;2017;p23"/>
          <p:cNvGrpSpPr/>
          <p:nvPr/>
        </p:nvGrpSpPr>
        <p:grpSpPr>
          <a:xfrm>
            <a:off x="2825290" y="2284413"/>
            <a:ext cx="2851610" cy="946150"/>
            <a:chOff x="2749090" y="3427413"/>
            <a:chExt cx="2851610" cy="946150"/>
          </a:xfrm>
        </p:grpSpPr>
        <p:sp>
          <p:nvSpPr>
            <p:cNvPr id="2018" name="Google Shape;2018;p23"/>
            <p:cNvSpPr txBox="1"/>
            <p:nvPr/>
          </p:nvSpPr>
          <p:spPr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original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020" name="Google Shape;2020;p23"/>
            <p:cNvCxnSpPr/>
            <p:nvPr/>
          </p:nvCxnSpPr>
          <p:spPr>
            <a:xfrm>
              <a:off x="4845050" y="3995738"/>
              <a:ext cx="339725" cy="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021" name="Google Shape;2021;p23"/>
            <p:cNvSpPr/>
            <p:nvPr/>
          </p:nvSpPr>
          <p:spPr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2" name="Google Shape;2022;p23"/>
            <p:cNvSpPr txBox="1"/>
            <p:nvPr/>
          </p:nvSpPr>
          <p:spPr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retransmitted data</a:t>
              </a:r>
              <a:endParaRPr b="0" i="0" sz="16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2023" name="Google Shape;2023;p23"/>
            <p:cNvCxnSpPr/>
            <p:nvPr/>
          </p:nvCxnSpPr>
          <p:spPr>
            <a:xfrm>
              <a:off x="2909888" y="3916363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024" name="Google Shape;2024;p23"/>
            <p:cNvCxnSpPr/>
            <p:nvPr/>
          </p:nvCxnSpPr>
          <p:spPr>
            <a:xfrm>
              <a:off x="2905125" y="3683000"/>
              <a:ext cx="51435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grpSp>
        <p:nvGrpSpPr>
          <p:cNvPr id="2025" name="Google Shape;2025;p23"/>
          <p:cNvGrpSpPr/>
          <p:nvPr/>
        </p:nvGrpSpPr>
        <p:grpSpPr>
          <a:xfrm>
            <a:off x="2989690" y="4075953"/>
            <a:ext cx="1938730" cy="1300181"/>
            <a:chOff x="2913490" y="5218953"/>
            <a:chExt cx="1938730" cy="1300181"/>
          </a:xfrm>
        </p:grpSpPr>
        <p:sp>
          <p:nvSpPr>
            <p:cNvPr id="2026" name="Google Shape;2026;p23"/>
            <p:cNvSpPr txBox="1"/>
            <p:nvPr/>
          </p:nvSpPr>
          <p:spPr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1" i="1" lang="en-US" sz="1600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finite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shared output link buffers</a:t>
              </a:r>
              <a:endParaRPr/>
            </a:p>
          </p:txBody>
        </p:sp>
        <p:cxnSp>
          <p:nvCxnSpPr>
            <p:cNvPr id="2027" name="Google Shape;2027;p23"/>
            <p:cNvCxnSpPr/>
            <p:nvPr/>
          </p:nvCxnSpPr>
          <p:spPr>
            <a:xfrm flipH="1">
              <a:off x="4292190" y="5608320"/>
              <a:ext cx="295050" cy="50845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sm" w="sm" type="none"/>
            </a:ln>
          </p:spPr>
        </p:cxnSp>
        <p:grpSp>
          <p:nvGrpSpPr>
            <p:cNvPr id="2028" name="Google Shape;2028;p23"/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2029" name="Google Shape;2029;p23"/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0" name="Google Shape;2030;p23"/>
              <p:cNvCxnSpPr/>
              <p:nvPr/>
            </p:nvCxnSpPr>
            <p:spPr>
              <a:xfrm rot="10800000">
                <a:off x="724911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1" name="Google Shape;2031;p23"/>
              <p:cNvCxnSpPr/>
              <p:nvPr/>
            </p:nvCxnSpPr>
            <p:spPr>
              <a:xfrm rot="10800000">
                <a:off x="7197800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2" name="Google Shape;2032;p23"/>
              <p:cNvCxnSpPr/>
              <p:nvPr/>
            </p:nvCxnSpPr>
            <p:spPr>
              <a:xfrm rot="10800000">
                <a:off x="7146485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3" name="Google Shape;2033;p23"/>
              <p:cNvCxnSpPr/>
              <p:nvPr/>
            </p:nvCxnSpPr>
            <p:spPr>
              <a:xfrm rot="10800000">
                <a:off x="709517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4" name="Google Shape;2034;p23"/>
              <p:cNvCxnSpPr/>
              <p:nvPr/>
            </p:nvCxnSpPr>
            <p:spPr>
              <a:xfrm rot="10800000">
                <a:off x="7043856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5" name="Google Shape;2035;p23"/>
              <p:cNvCxnSpPr/>
              <p:nvPr/>
            </p:nvCxnSpPr>
            <p:spPr>
              <a:xfrm rot="10800000">
                <a:off x="6992541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6" name="Google Shape;2036;p23"/>
              <p:cNvCxnSpPr/>
              <p:nvPr/>
            </p:nvCxnSpPr>
            <p:spPr>
              <a:xfrm rot="10800000">
                <a:off x="6941227" y="5189971"/>
                <a:ext cx="0" cy="15575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037" name="Google Shape;2037;p23"/>
          <p:cNvSpPr/>
          <p:nvPr/>
        </p:nvSpPr>
        <p:spPr>
          <a:xfrm>
            <a:off x="2879554" y="2516588"/>
            <a:ext cx="4211870" cy="1670126"/>
          </a:xfrm>
          <a:custGeom>
            <a:rect b="b" l="l" r="r" t="t"/>
            <a:pathLst>
              <a:path extrusionOk="0" h="804" w="2160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38" name="Google Shape;2038;p23"/>
          <p:cNvGrpSpPr/>
          <p:nvPr/>
        </p:nvGrpSpPr>
        <p:grpSpPr>
          <a:xfrm>
            <a:off x="1662791" y="3600924"/>
            <a:ext cx="4913849" cy="1346072"/>
            <a:chOff x="5641439" y="2685215"/>
            <a:chExt cx="4000500" cy="1028700"/>
          </a:xfrm>
        </p:grpSpPr>
        <p:sp>
          <p:nvSpPr>
            <p:cNvPr id="2039" name="Google Shape;2039;p23"/>
            <p:cNvSpPr/>
            <p:nvPr/>
          </p:nvSpPr>
          <p:spPr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cap="flat" cmpd="sng" w="9525">
              <a:solidFill>
                <a:srgbClr val="001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689064" y="2761415"/>
              <a:ext cx="3952875" cy="952500"/>
            </a:xfrm>
            <a:custGeom>
              <a:rect b="b" l="l" r="r" t="t"/>
              <a:pathLst>
                <a:path extrusionOk="0" h="1501" w="6225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cap="flat" cmpd="sng" w="38100">
              <a:solidFill>
                <a:srgbClr val="0013A3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41" name="Google Shape;2041;p23"/>
          <p:cNvGrpSpPr/>
          <p:nvPr/>
        </p:nvGrpSpPr>
        <p:grpSpPr>
          <a:xfrm>
            <a:off x="3365850" y="4193775"/>
            <a:ext cx="2124396" cy="604097"/>
            <a:chOff x="3289650" y="5336775"/>
            <a:chExt cx="2124396" cy="604097"/>
          </a:xfrm>
        </p:grpSpPr>
        <p:sp>
          <p:nvSpPr>
            <p:cNvPr id="2042" name="Google Shape;2042;p23"/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2043" name="Google Shape;2043;p23"/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sp>
        <p:nvSpPr>
          <p:cNvPr id="2044" name="Google Shape;2044;p23"/>
          <p:cNvSpPr/>
          <p:nvPr/>
        </p:nvSpPr>
        <p:spPr>
          <a:xfrm>
            <a:off x="2787650" y="2470150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5" name="Google Shape;2045;p23"/>
          <p:cNvSpPr/>
          <p:nvPr/>
        </p:nvSpPr>
        <p:spPr>
          <a:xfrm>
            <a:off x="2457450" y="2703513"/>
            <a:ext cx="244475" cy="15557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6" name="Google Shape;2046;p23"/>
          <p:cNvSpPr txBox="1"/>
          <p:nvPr/>
        </p:nvSpPr>
        <p:spPr>
          <a:xfrm>
            <a:off x="1833563" y="2593975"/>
            <a:ext cx="6127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/>
          </a:p>
        </p:txBody>
      </p:sp>
      <p:sp>
        <p:nvSpPr>
          <p:cNvPr id="2047" name="Google Shape;2047;p23"/>
          <p:cNvSpPr txBox="1"/>
          <p:nvPr/>
        </p:nvSpPr>
        <p:spPr>
          <a:xfrm>
            <a:off x="3862388" y="3618119"/>
            <a:ext cx="1643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no buffer space!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24"/>
          <p:cNvSpPr/>
          <p:nvPr/>
        </p:nvSpPr>
        <p:spPr>
          <a:xfrm flipH="1">
            <a:off x="3903164" y="3127613"/>
            <a:ext cx="169456" cy="1042731"/>
          </a:xfrm>
          <a:custGeom>
            <a:rect b="b" l="l" r="r" t="t"/>
            <a:pathLst>
              <a:path extrusionOk="0" h="11173" w="10000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54" name="Google Shape;2054;p24"/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2055" name="Google Shape;2055;p24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6" name="Google Shape;2056;p24"/>
            <p:cNvCxnSpPr/>
            <p:nvPr/>
          </p:nvCxnSpPr>
          <p:spPr>
            <a:xfrm>
              <a:off x="10910964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7" name="Google Shape;2057;p24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8" name="Google Shape;2058;p24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9" name="Google Shape;2059;p24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60" name="Google Shape;2060;p24"/>
          <p:cNvSpPr/>
          <p:nvPr/>
        </p:nvSpPr>
        <p:spPr>
          <a:xfrm flipH="1">
            <a:off x="1898724" y="5081691"/>
            <a:ext cx="195993" cy="1005421"/>
          </a:xfrm>
          <a:custGeom>
            <a:rect b="b" l="l" r="r" t="t"/>
            <a:pathLst>
              <a:path extrusionOk="0" h="9490" w="1074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61" name="Google Shape;2061;p24"/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2062" name="Google Shape;2062;p24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3" name="Google Shape;2063;p24"/>
            <p:cNvCxnSpPr/>
            <p:nvPr/>
          </p:nvCxnSpPr>
          <p:spPr>
            <a:xfrm>
              <a:off x="10910964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4" name="Google Shape;2064;p24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24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24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67" name="Google Shape;2067;p24"/>
          <p:cNvSpPr/>
          <p:nvPr/>
        </p:nvSpPr>
        <p:spPr>
          <a:xfrm>
            <a:off x="8102599" y="5226097"/>
            <a:ext cx="168983" cy="1122548"/>
          </a:xfrm>
          <a:custGeom>
            <a:rect b="b" l="l" r="r" t="t"/>
            <a:pathLst>
              <a:path extrusionOk="0" h="11066" w="7144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68" name="Google Shape;2068;p24"/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2069" name="Google Shape;2069;p24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70" name="Google Shape;2070;p24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1" name="Google Shape;2071;p24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2" name="Google Shape;2072;p24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3" name="Google Shape;2073;p24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74" name="Google Shape;2074;p24"/>
          <p:cNvSpPr/>
          <p:nvPr/>
        </p:nvSpPr>
        <p:spPr>
          <a:xfrm>
            <a:off x="8572023" y="3216064"/>
            <a:ext cx="223031" cy="1244178"/>
          </a:xfrm>
          <a:custGeom>
            <a:rect b="b" l="l" r="r" t="t"/>
            <a:pathLst>
              <a:path extrusionOk="0" h="12265" w="10000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5" name="Google Shape;2075;p24"/>
          <p:cNvSpPr txBox="1"/>
          <p:nvPr>
            <p:ph type="title"/>
          </p:nvPr>
        </p:nvSpPr>
        <p:spPr>
          <a:xfrm>
            <a:off x="798690" y="208643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Causes/costs of congestion: scenario 3</a:t>
            </a:r>
            <a:endParaRPr b="0" sz="4400"/>
          </a:p>
        </p:txBody>
      </p:sp>
      <p:sp>
        <p:nvSpPr>
          <p:cNvPr id="2076" name="Google Shape;2076;p24"/>
          <p:cNvSpPr txBox="1"/>
          <p:nvPr/>
        </p:nvSpPr>
        <p:spPr>
          <a:xfrm>
            <a:off x="936625" y="1320799"/>
            <a:ext cx="37877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multi-hop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paths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timeout/retransmit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24"/>
          <p:cNvSpPr/>
          <p:nvPr/>
        </p:nvSpPr>
        <p:spPr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</a:t>
            </a:r>
            <a:r>
              <a:rPr b="1" baseline="30000" i="0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8" name="Google Shape;2078;p24"/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2079" name="Google Shape;2079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81" name="Google Shape;2081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82" name="Google Shape;2082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6" name="Google Shape;2086;p24"/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2087" name="Google Shape;2087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89" name="Google Shape;2089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0" name="Google Shape;2090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94" name="Google Shape;2094;p24"/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2095" name="Google Shape;2095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97" name="Google Shape;2097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8" name="Google Shape;2098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102" name="Google Shape;2102;p24"/>
          <p:cNvCxnSpPr/>
          <p:nvPr/>
        </p:nvCxnSpPr>
        <p:spPr>
          <a:xfrm flipH="1">
            <a:off x="4151313" y="4113259"/>
            <a:ext cx="923925" cy="8667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3" name="Google Shape;2103;p24"/>
          <p:cNvSpPr txBox="1"/>
          <p:nvPr/>
        </p:nvSpPr>
        <p:spPr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A</a:t>
            </a:r>
            <a:endParaRPr/>
          </a:p>
        </p:txBody>
      </p:sp>
      <p:cxnSp>
        <p:nvCxnSpPr>
          <p:cNvPr id="2104" name="Google Shape;2104;p24"/>
          <p:cNvCxnSpPr/>
          <p:nvPr/>
        </p:nvCxnSpPr>
        <p:spPr>
          <a:xfrm rot="10800000">
            <a:off x="1868129" y="6103982"/>
            <a:ext cx="246257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24"/>
          <p:cNvCxnSpPr/>
          <p:nvPr/>
        </p:nvCxnSpPr>
        <p:spPr>
          <a:xfrm rot="10800000">
            <a:off x="4637088" y="4543472"/>
            <a:ext cx="1357312" cy="174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6" name="Google Shape;2106;p24"/>
          <p:cNvCxnSpPr/>
          <p:nvPr/>
        </p:nvCxnSpPr>
        <p:spPr>
          <a:xfrm rot="10800000">
            <a:off x="6302375" y="4560933"/>
            <a:ext cx="895350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7" name="Google Shape;2107;p24"/>
          <p:cNvCxnSpPr/>
          <p:nvPr/>
        </p:nvCxnSpPr>
        <p:spPr>
          <a:xfrm flipH="1">
            <a:off x="6361112" y="4073832"/>
            <a:ext cx="1337545" cy="135387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8" name="Google Shape;2108;p24"/>
          <p:cNvCxnSpPr/>
          <p:nvPr/>
        </p:nvCxnSpPr>
        <p:spPr>
          <a:xfrm rot="10800000">
            <a:off x="7687685" y="4077626"/>
            <a:ext cx="43973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9" name="Google Shape;2109;p24"/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2110" name="Google Shape;2110;p24"/>
            <p:cNvSpPr txBox="1"/>
            <p:nvPr/>
          </p:nvSpPr>
          <p:spPr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b="0" i="0" sz="20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2111" name="Google Shape;2111;p24"/>
            <p:cNvCxnSpPr/>
            <p:nvPr/>
          </p:nvCxnSpPr>
          <p:spPr>
            <a:xfrm>
              <a:off x="7464991" y="5195577"/>
              <a:ext cx="200025" cy="219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112" name="Google Shape;2112;p24"/>
          <p:cNvCxnSpPr/>
          <p:nvPr/>
        </p:nvCxnSpPr>
        <p:spPr>
          <a:xfrm>
            <a:off x="6465888" y="3475084"/>
            <a:ext cx="276225" cy="158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24"/>
          <p:cNvCxnSpPr/>
          <p:nvPr/>
        </p:nvCxnSpPr>
        <p:spPr>
          <a:xfrm rot="10800000">
            <a:off x="4637087" y="6084932"/>
            <a:ext cx="2876307" cy="2248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24"/>
          <p:cNvCxnSpPr/>
          <p:nvPr/>
        </p:nvCxnSpPr>
        <p:spPr>
          <a:xfrm flipH="1">
            <a:off x="5711825" y="5461837"/>
            <a:ext cx="604176" cy="63262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15" name="Google Shape;2115;p24"/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2116" name="Google Shape;2116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17" name="Google Shape;2117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8" name="Google Shape;2118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19" name="Google Shape;2119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0" name="Google Shape;2120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123" name="Google Shape;2123;p24"/>
          <p:cNvCxnSpPr/>
          <p:nvPr/>
        </p:nvCxnSpPr>
        <p:spPr>
          <a:xfrm flipH="1" rot="10800000">
            <a:off x="4047728" y="4957809"/>
            <a:ext cx="195171" cy="155510"/>
          </a:xfrm>
          <a:prstGeom prst="straightConnector1">
            <a:avLst/>
          </a:prstGeom>
          <a:noFill/>
          <a:ln cap="flat" cmpd="sng" w="28575">
            <a:solidFill>
              <a:srgbClr val="96969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24"/>
          <p:cNvCxnSpPr/>
          <p:nvPr/>
        </p:nvCxnSpPr>
        <p:spPr>
          <a:xfrm flipH="1">
            <a:off x="2987674" y="5113320"/>
            <a:ext cx="1031875" cy="98272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24"/>
          <p:cNvSpPr txBox="1"/>
          <p:nvPr/>
        </p:nvSpPr>
        <p:spPr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</a:t>
            </a:r>
            <a:endParaRPr/>
          </a:p>
        </p:txBody>
      </p:sp>
      <p:sp>
        <p:nvSpPr>
          <p:cNvPr id="2126" name="Google Shape;2126;p24"/>
          <p:cNvSpPr txBox="1"/>
          <p:nvPr/>
        </p:nvSpPr>
        <p:spPr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C</a:t>
            </a:r>
            <a:endParaRPr/>
          </a:p>
        </p:txBody>
      </p:sp>
      <p:sp>
        <p:nvSpPr>
          <p:cNvPr id="2127" name="Google Shape;2127;p24"/>
          <p:cNvSpPr txBox="1"/>
          <p:nvPr/>
        </p:nvSpPr>
        <p:spPr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D</a:t>
            </a:r>
            <a:endParaRPr/>
          </a:p>
        </p:txBody>
      </p:sp>
      <p:grpSp>
        <p:nvGrpSpPr>
          <p:cNvPr id="2128" name="Google Shape;2128;p24"/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cxnSp>
          <p:nvCxnSpPr>
            <p:cNvPr id="2129" name="Google Shape;2129;p24"/>
            <p:cNvCxnSpPr/>
            <p:nvPr/>
          </p:nvCxnSpPr>
          <p:spPr>
            <a:xfrm flipH="1">
              <a:off x="4541838" y="3055984"/>
              <a:ext cx="295275" cy="1047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0" name="Google Shape;2130;p24"/>
            <p:cNvSpPr/>
            <p:nvPr/>
          </p:nvSpPr>
          <p:spPr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1" name="Google Shape;2131;p24"/>
            <p:cNvSpPr txBox="1"/>
            <p:nvPr/>
          </p:nvSpPr>
          <p:spPr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baseline="-2500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original data</a:t>
              </a:r>
              <a:endParaRPr/>
            </a:p>
          </p:txBody>
        </p:sp>
      </p:grpSp>
      <p:cxnSp>
        <p:nvCxnSpPr>
          <p:cNvPr id="2132" name="Google Shape;2132;p24"/>
          <p:cNvCxnSpPr/>
          <p:nvPr/>
        </p:nvCxnSpPr>
        <p:spPr>
          <a:xfrm>
            <a:off x="6305550" y="3389359"/>
            <a:ext cx="33972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133" name="Google Shape;2133;p24"/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2134" name="Google Shape;2134;p24"/>
            <p:cNvSpPr/>
            <p:nvPr/>
          </p:nvSpPr>
          <p:spPr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135" name="Google Shape;2135;p24"/>
            <p:cNvCxnSpPr/>
            <p:nvPr/>
          </p:nvCxnSpPr>
          <p:spPr>
            <a:xfrm flipH="1">
              <a:off x="4551363" y="3322684"/>
              <a:ext cx="304800" cy="38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6" name="Google Shape;2136;p24"/>
            <p:cNvSpPr txBox="1"/>
            <p:nvPr/>
          </p:nvSpPr>
          <p:spPr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b="0" i="0" lang="en-US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original data, </a:t>
              </a:r>
              <a:r>
                <a:rPr b="0" i="1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plus</a:t>
              </a:r>
              <a:r>
                <a:rPr b="0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retransmitted data</a:t>
              </a:r>
              <a:endParaRPr/>
            </a:p>
          </p:txBody>
        </p:sp>
      </p:grpSp>
      <p:grpSp>
        <p:nvGrpSpPr>
          <p:cNvPr id="2137" name="Google Shape;2137;p24"/>
          <p:cNvGrpSpPr/>
          <p:nvPr/>
        </p:nvGrpSpPr>
        <p:grpSpPr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2138" name="Google Shape;2138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43" name="Google Shape;2143;p24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2144" name="Google Shape;2144;p24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5" name="Google Shape;2145;p24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46" name="Google Shape;2146;p24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47" name="Google Shape;2147;p24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2148" name="Google Shape;2148;p24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9" name="Google Shape;2149;p24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50" name="Google Shape;2150;p24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52" name="Google Shape;2152;p24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2153" name="Google Shape;2153;p24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4" name="Google Shape;2154;p24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55" name="Google Shape;2155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56" name="Google Shape;2156;p24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157" name="Google Shape;2157;p24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8" name="Google Shape;2158;p24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59" name="Google Shape;2159;p24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70" name="Google Shape;2170;p24"/>
          <p:cNvGrpSpPr/>
          <p:nvPr/>
        </p:nvGrpSpPr>
        <p:grpSpPr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2171" name="Google Shape;2171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76" name="Google Shape;2176;p24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2177" name="Google Shape;2177;p24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8" name="Google Shape;2178;p24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79" name="Google Shape;2179;p24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80" name="Google Shape;2180;p24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2181" name="Google Shape;2181;p24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82" name="Google Shape;2182;p24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83" name="Google Shape;2183;p24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85" name="Google Shape;2185;p24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2186" name="Google Shape;2186;p24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87" name="Google Shape;2187;p24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88" name="Google Shape;2188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189" name="Google Shape;2189;p24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190" name="Google Shape;2190;p24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1" name="Google Shape;2191;p24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92" name="Google Shape;2192;p24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2" name="Google Shape;2202;p24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03" name="Google Shape;2203;p24"/>
          <p:cNvGrpSpPr/>
          <p:nvPr/>
        </p:nvGrpSpPr>
        <p:grpSpPr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2204" name="Google Shape;2204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5" name="Google Shape;2205;p24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6" name="Google Shape;2206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7" name="Google Shape;2207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8" name="Google Shape;2208;p24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09" name="Google Shape;2209;p24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2210" name="Google Shape;2210;p24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1" name="Google Shape;2211;p24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12" name="Google Shape;2212;p24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13" name="Google Shape;2213;p24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2214" name="Google Shape;2214;p24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5" name="Google Shape;2215;p24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16" name="Google Shape;2216;p24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17" name="Google Shape;2217;p24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18" name="Google Shape;2218;p24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2219" name="Google Shape;2219;p24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0" name="Google Shape;2220;p24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21" name="Google Shape;2221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22" name="Google Shape;2222;p24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223" name="Google Shape;2223;p24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4" name="Google Shape;2224;p24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25" name="Google Shape;2225;p24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6" name="Google Shape;2226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7" name="Google Shape;2227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8" name="Google Shape;2228;p24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9" name="Google Shape;2229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0" name="Google Shape;2230;p24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1" name="Google Shape;2231;p24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2" name="Google Shape;2232;p24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3" name="Google Shape;2233;p24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24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5" name="Google Shape;2235;p24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36" name="Google Shape;2236;p24"/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2237" name="Google Shape;2237;p24"/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chemeClr val="dk1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8" name="Google Shape;2238;p24"/>
            <p:cNvCxnSpPr/>
            <p:nvPr/>
          </p:nvCxnSpPr>
          <p:spPr>
            <a:xfrm>
              <a:off x="10910965" y="2696064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9" name="Google Shape;2239;p24"/>
            <p:cNvCxnSpPr/>
            <p:nvPr/>
          </p:nvCxnSpPr>
          <p:spPr>
            <a:xfrm>
              <a:off x="10914332" y="288175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0" name="Google Shape;2240;p24"/>
            <p:cNvCxnSpPr/>
            <p:nvPr/>
          </p:nvCxnSpPr>
          <p:spPr>
            <a:xfrm>
              <a:off x="10923469" y="3064677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24"/>
            <p:cNvCxnSpPr/>
            <p:nvPr/>
          </p:nvCxnSpPr>
          <p:spPr>
            <a:xfrm>
              <a:off x="10915293" y="3242073"/>
              <a:ext cx="57426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242" name="Google Shape;2242;p24"/>
          <p:cNvCxnSpPr/>
          <p:nvPr/>
        </p:nvCxnSpPr>
        <p:spPr>
          <a:xfrm>
            <a:off x="3769031" y="4119717"/>
            <a:ext cx="130769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43" name="Google Shape;2243;p24"/>
          <p:cNvGrpSpPr/>
          <p:nvPr/>
        </p:nvGrpSpPr>
        <p:grpSpPr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2244" name="Google Shape;2244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5" name="Google Shape;2245;p24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6" name="Google Shape;2246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7" name="Google Shape;2247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8" name="Google Shape;2248;p24"/>
            <p:cNvSpPr/>
            <p:nvPr/>
          </p:nvSpPr>
          <p:spPr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49" name="Google Shape;2249;p24"/>
            <p:cNvGrpSpPr/>
            <p:nvPr/>
          </p:nvGrpSpPr>
          <p:grpSpPr>
            <a:xfrm>
              <a:off x="4745" y="670"/>
              <a:ext cx="586" cy="146"/>
              <a:chOff x="609" y="2570"/>
              <a:chExt cx="731" cy="140"/>
            </a:xfrm>
          </p:grpSpPr>
          <p:sp>
            <p:nvSpPr>
              <p:cNvPr id="2250" name="Google Shape;2250;p24"/>
              <p:cNvSpPr/>
              <p:nvPr/>
            </p:nvSpPr>
            <p:spPr>
              <a:xfrm>
                <a:off x="609" y="2570"/>
                <a:ext cx="73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51" name="Google Shape;2251;p24"/>
              <p:cNvSpPr/>
              <p:nvPr/>
            </p:nvSpPr>
            <p:spPr>
              <a:xfrm>
                <a:off x="621" y="2587"/>
                <a:ext cx="70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52" name="Google Shape;2252;p24"/>
            <p:cNvSpPr/>
            <p:nvPr/>
          </p:nvSpPr>
          <p:spPr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53" name="Google Shape;2253;p24"/>
            <p:cNvGrpSpPr/>
            <p:nvPr/>
          </p:nvGrpSpPr>
          <p:grpSpPr>
            <a:xfrm>
              <a:off x="4745" y="998"/>
              <a:ext cx="586" cy="129"/>
              <a:chOff x="612" y="2572"/>
              <a:chExt cx="731" cy="134"/>
            </a:xfrm>
          </p:grpSpPr>
          <p:sp>
            <p:nvSpPr>
              <p:cNvPr id="2254" name="Google Shape;2254;p24"/>
              <p:cNvSpPr/>
              <p:nvPr/>
            </p:nvSpPr>
            <p:spPr>
              <a:xfrm>
                <a:off x="612" y="2572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55" name="Google Shape;2255;p24"/>
              <p:cNvSpPr/>
              <p:nvPr/>
            </p:nvSpPr>
            <p:spPr>
              <a:xfrm>
                <a:off x="624" y="2590"/>
                <a:ext cx="706" cy="9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56" name="Google Shape;2256;p24"/>
            <p:cNvSpPr/>
            <p:nvPr/>
          </p:nvSpPr>
          <p:spPr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57" name="Google Shape;2257;p24"/>
            <p:cNvSpPr/>
            <p:nvPr/>
          </p:nvSpPr>
          <p:spPr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58" name="Google Shape;2258;p24"/>
            <p:cNvGrpSpPr/>
            <p:nvPr/>
          </p:nvGrpSpPr>
          <p:grpSpPr>
            <a:xfrm>
              <a:off x="4735" y="1627"/>
              <a:ext cx="586" cy="215"/>
              <a:chOff x="614" y="2568"/>
              <a:chExt cx="730" cy="198"/>
            </a:xfrm>
          </p:grpSpPr>
          <p:sp>
            <p:nvSpPr>
              <p:cNvPr id="2259" name="Google Shape;2259;p24"/>
              <p:cNvSpPr/>
              <p:nvPr/>
            </p:nvSpPr>
            <p:spPr>
              <a:xfrm>
                <a:off x="614" y="2568"/>
                <a:ext cx="730" cy="19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60" name="Google Shape;2260;p24"/>
              <p:cNvSpPr/>
              <p:nvPr/>
            </p:nvSpPr>
            <p:spPr>
              <a:xfrm>
                <a:off x="627" y="2584"/>
                <a:ext cx="70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61" name="Google Shape;2261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262" name="Google Shape;2262;p24"/>
            <p:cNvGrpSpPr/>
            <p:nvPr/>
          </p:nvGrpSpPr>
          <p:grpSpPr>
            <a:xfrm>
              <a:off x="4735" y="1325"/>
              <a:ext cx="586" cy="138"/>
              <a:chOff x="609" y="2566"/>
              <a:chExt cx="730" cy="138"/>
            </a:xfrm>
          </p:grpSpPr>
          <p:sp>
            <p:nvSpPr>
              <p:cNvPr id="2263" name="Google Shape;2263;p24"/>
              <p:cNvSpPr/>
              <p:nvPr/>
            </p:nvSpPr>
            <p:spPr>
              <a:xfrm>
                <a:off x="609" y="2566"/>
                <a:ext cx="730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64" name="Google Shape;2264;p24"/>
              <p:cNvSpPr/>
              <p:nvPr/>
            </p:nvSpPr>
            <p:spPr>
              <a:xfrm>
                <a:off x="622" y="2584"/>
                <a:ext cx="70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65" name="Google Shape;2265;p24"/>
            <p:cNvSpPr/>
            <p:nvPr/>
          </p:nvSpPr>
          <p:spPr>
            <a:xfrm>
              <a:off x="5253" y="429"/>
              <a:ext cx="68" cy="2293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6" name="Google Shape;2266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7" name="Google Shape;2267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8" name="Google Shape;2268;p24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9" name="Google Shape;2269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0" name="Google Shape;2270;p24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1" name="Google Shape;2271;p24"/>
            <p:cNvSpPr/>
            <p:nvPr/>
          </p:nvSpPr>
          <p:spPr>
            <a:xfrm>
              <a:off x="4208" y="2713"/>
              <a:ext cx="1064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2" name="Google Shape;2272;p24"/>
            <p:cNvSpPr/>
            <p:nvPr/>
          </p:nvSpPr>
          <p:spPr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3" name="Google Shape;2273;p24"/>
            <p:cNvSpPr/>
            <p:nvPr/>
          </p:nvSpPr>
          <p:spPr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4"/>
            <p:cNvSpPr/>
            <p:nvPr/>
          </p:nvSpPr>
          <p:spPr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5" name="Google Shape;2275;p24"/>
            <p:cNvSpPr/>
            <p:nvPr/>
          </p:nvSpPr>
          <p:spPr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76" name="Google Shape;2276;p24"/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2277" name="Google Shape;2277;p24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78" name="Google Shape;2278;p24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9" name="Google Shape;2279;p24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0" name="Google Shape;2280;p24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1" name="Google Shape;2281;p24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2" name="Google Shape;2282;p24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3" name="Google Shape;2283;p24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4" name="Google Shape;2284;p24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85" name="Google Shape;2285;p24"/>
          <p:cNvGrpSpPr/>
          <p:nvPr/>
        </p:nvGrpSpPr>
        <p:grpSpPr>
          <a:xfrm rot="-262218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2286" name="Google Shape;2286;p24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87" name="Google Shape;2287;p24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8" name="Google Shape;2288;p24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9" name="Google Shape;2289;p24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0" name="Google Shape;2290;p24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1" name="Google Shape;2291;p24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2" name="Google Shape;2292;p24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3" name="Google Shape;2293;p24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94" name="Google Shape;2294;p24"/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2295" name="Google Shape;2295;p24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96" name="Google Shape;2296;p24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7" name="Google Shape;2297;p24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8" name="Google Shape;2298;p24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9" name="Google Shape;2299;p24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0" name="Google Shape;2300;p24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1" name="Google Shape;2301;p24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2" name="Google Shape;2302;p24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03" name="Google Shape;2303;p24"/>
          <p:cNvGrpSpPr/>
          <p:nvPr/>
        </p:nvGrpSpPr>
        <p:grpSpPr>
          <a:xfrm rot="-2742359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2304" name="Google Shape;2304;p24"/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05" name="Google Shape;2305;p24"/>
            <p:cNvCxnSpPr/>
            <p:nvPr/>
          </p:nvCxnSpPr>
          <p:spPr>
            <a:xfrm rot="10800000">
              <a:off x="724911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6" name="Google Shape;2306;p24"/>
            <p:cNvCxnSpPr/>
            <p:nvPr/>
          </p:nvCxnSpPr>
          <p:spPr>
            <a:xfrm rot="10800000">
              <a:off x="7197800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7" name="Google Shape;2307;p24"/>
            <p:cNvCxnSpPr/>
            <p:nvPr/>
          </p:nvCxnSpPr>
          <p:spPr>
            <a:xfrm rot="10800000">
              <a:off x="7146485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8" name="Google Shape;2308;p24"/>
            <p:cNvCxnSpPr/>
            <p:nvPr/>
          </p:nvCxnSpPr>
          <p:spPr>
            <a:xfrm rot="10800000">
              <a:off x="709517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9" name="Google Shape;2309;p24"/>
            <p:cNvCxnSpPr/>
            <p:nvPr/>
          </p:nvCxnSpPr>
          <p:spPr>
            <a:xfrm rot="10800000">
              <a:off x="7043856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0" name="Google Shape;2310;p24"/>
            <p:cNvCxnSpPr/>
            <p:nvPr/>
          </p:nvCxnSpPr>
          <p:spPr>
            <a:xfrm rot="10800000">
              <a:off x="6992541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1" name="Google Shape;2311;p24"/>
            <p:cNvCxnSpPr/>
            <p:nvPr/>
          </p:nvCxnSpPr>
          <p:spPr>
            <a:xfrm rot="10800000">
              <a:off x="6941227" y="5189971"/>
              <a:ext cx="0" cy="155752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12" name="Google Shape;2312;p24"/>
          <p:cNvSpPr/>
          <p:nvPr/>
        </p:nvSpPr>
        <p:spPr>
          <a:xfrm>
            <a:off x="4455129" y="3198255"/>
            <a:ext cx="3305175" cy="2857500"/>
          </a:xfrm>
          <a:custGeom>
            <a:rect b="b" l="l" r="r" t="t"/>
            <a:pathLst>
              <a:path extrusionOk="0" h="10000" w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13" name="Google Shape;2313;p24"/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2314" name="Google Shape;2314;p24"/>
            <p:cNvGrpSpPr/>
            <p:nvPr/>
          </p:nvGrpSpPr>
          <p:grpSpPr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2315" name="Google Shape;2315;p24"/>
              <p:cNvSpPr/>
              <p:nvPr/>
            </p:nvSpPr>
            <p:spPr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16" name="Google Shape;2316;p24"/>
              <p:cNvSpPr/>
              <p:nvPr/>
            </p:nvSpPr>
            <p:spPr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317" name="Google Shape;2317;p24"/>
            <p:cNvSpPr/>
            <p:nvPr/>
          </p:nvSpPr>
          <p:spPr>
            <a:xfrm>
              <a:off x="2825750" y="3227434"/>
              <a:ext cx="5067300" cy="2933700"/>
            </a:xfrm>
            <a:custGeom>
              <a:rect b="b" l="l" r="r" t="t"/>
              <a:pathLst>
                <a:path extrusionOk="0" h="10000" w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cap="flat" cmpd="sng" w="38100">
              <a:solidFill>
                <a:srgbClr val="FF00FF">
                  <a:alpha val="24705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18" name="Google Shape;2318;p24"/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2319" name="Google Shape;2319;p24"/>
            <p:cNvGrpSpPr/>
            <p:nvPr/>
          </p:nvGrpSpPr>
          <p:grpSpPr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2320" name="Google Shape;2320;p24"/>
              <p:cNvSpPr/>
              <p:nvPr/>
            </p:nvSpPr>
            <p:spPr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21" name="Google Shape;2321;p24"/>
              <p:cNvSpPr/>
              <p:nvPr/>
            </p:nvSpPr>
            <p:spPr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322" name="Google Shape;2322;p24"/>
            <p:cNvSpPr/>
            <p:nvPr/>
          </p:nvSpPr>
          <p:spPr>
            <a:xfrm>
              <a:off x="2479226" y="3327145"/>
              <a:ext cx="5743575" cy="2890693"/>
            </a:xfrm>
            <a:custGeom>
              <a:rect b="b" l="l" r="r" t="t"/>
              <a:pathLst>
                <a:path extrusionOk="0" h="10016" w="10000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323" name="Google Shape;2323;p24"/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2324" name="Google Shape;2324;p24"/>
            <p:cNvSpPr/>
            <p:nvPr/>
          </p:nvSpPr>
          <p:spPr>
            <a:xfrm>
              <a:off x="2549524" y="3370309"/>
              <a:ext cx="5787725" cy="2667000"/>
            </a:xfrm>
            <a:custGeom>
              <a:rect b="b" l="l" r="r" t="t"/>
              <a:pathLst>
                <a:path extrusionOk="0" h="10000" w="9994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5" name="Google Shape;2325;p24"/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24"/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7" name="Google Shape;2327;p24"/>
          <p:cNvSpPr/>
          <p:nvPr/>
        </p:nvSpPr>
        <p:spPr>
          <a:xfrm>
            <a:off x="3089709" y="2964581"/>
            <a:ext cx="6391175" cy="3465095"/>
          </a:xfrm>
          <a:custGeom>
            <a:rect b="b" l="l" r="r" t="t"/>
            <a:pathLst>
              <a:path extrusionOk="0" h="3465095" w="6391175">
                <a:moveTo>
                  <a:pt x="6391175" y="0"/>
                </a:moveTo>
                <a:lnTo>
                  <a:pt x="4389120" y="0"/>
                </a:lnTo>
                <a:lnTo>
                  <a:pt x="3667226" y="1511166"/>
                </a:lnTo>
                <a:lnTo>
                  <a:pt x="3647975" y="1819175"/>
                </a:lnTo>
                <a:lnTo>
                  <a:pt x="2945331" y="2050181"/>
                </a:lnTo>
                <a:lnTo>
                  <a:pt x="1732548" y="1876926"/>
                </a:lnTo>
                <a:lnTo>
                  <a:pt x="1424539" y="2531444"/>
                </a:lnTo>
                <a:lnTo>
                  <a:pt x="943276" y="2464067"/>
                </a:lnTo>
                <a:lnTo>
                  <a:pt x="0" y="3388093"/>
                </a:lnTo>
                <a:lnTo>
                  <a:pt x="5813659" y="3465095"/>
                </a:lnTo>
                <a:lnTo>
                  <a:pt x="6391175" y="0"/>
                </a:lnTo>
                <a:close/>
              </a:path>
            </a:pathLst>
          </a:custGeom>
          <a:solidFill>
            <a:schemeClr val="lt1">
              <a:alpha val="9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24"/>
          <p:cNvSpPr/>
          <p:nvPr/>
        </p:nvSpPr>
        <p:spPr>
          <a:xfrm>
            <a:off x="304800" y="1056640"/>
            <a:ext cx="11216640" cy="1534160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24"/>
          <p:cNvSpPr/>
          <p:nvPr/>
        </p:nvSpPr>
        <p:spPr>
          <a:xfrm>
            <a:off x="4450080" y="3495040"/>
            <a:ext cx="1615440" cy="1005840"/>
          </a:xfrm>
          <a:custGeom>
            <a:rect b="b" l="l" r="r" t="t"/>
            <a:pathLst>
              <a:path extrusionOk="0" h="1005840" w="1615440">
                <a:moveTo>
                  <a:pt x="0" y="0"/>
                </a:moveTo>
                <a:lnTo>
                  <a:pt x="10160" y="548640"/>
                </a:lnTo>
                <a:lnTo>
                  <a:pt x="762000" y="558800"/>
                </a:lnTo>
                <a:lnTo>
                  <a:pt x="335280" y="995680"/>
                </a:lnTo>
                <a:lnTo>
                  <a:pt x="1615440" y="1005840"/>
                </a:lnTo>
              </a:path>
            </a:pathLst>
          </a:custGeom>
          <a:noFill/>
          <a:ln cap="flat" cmpd="sng" w="730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24"/>
          <p:cNvSpPr/>
          <p:nvPr/>
        </p:nvSpPr>
        <p:spPr>
          <a:xfrm>
            <a:off x="2397760" y="4632960"/>
            <a:ext cx="3698240" cy="1605280"/>
          </a:xfrm>
          <a:custGeom>
            <a:rect b="b" l="l" r="r" t="t"/>
            <a:pathLst>
              <a:path extrusionOk="0" h="1605280" w="3698240">
                <a:moveTo>
                  <a:pt x="0" y="833120"/>
                </a:moveTo>
                <a:lnTo>
                  <a:pt x="0" y="1605280"/>
                </a:lnTo>
                <a:lnTo>
                  <a:pt x="558800" y="1584960"/>
                </a:lnTo>
                <a:lnTo>
                  <a:pt x="2245360" y="0"/>
                </a:lnTo>
                <a:lnTo>
                  <a:pt x="3698240" y="0"/>
                </a:lnTo>
              </a:path>
            </a:pathLst>
          </a:custGeom>
          <a:noFill/>
          <a:ln cap="flat" cmpd="sng" w="76200">
            <a:solidFill>
              <a:srgbClr val="043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24"/>
          <p:cNvSpPr txBox="1"/>
          <p:nvPr/>
        </p:nvSpPr>
        <p:spPr>
          <a:xfrm>
            <a:off x="5140960" y="4094480"/>
            <a:ext cx="977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first-hop</a:t>
            </a:r>
            <a:endParaRPr/>
          </a:p>
        </p:txBody>
      </p:sp>
      <p:sp>
        <p:nvSpPr>
          <p:cNvPr id="2332" name="Google Shape;2332;p24"/>
          <p:cNvSpPr txBox="1"/>
          <p:nvPr/>
        </p:nvSpPr>
        <p:spPr>
          <a:xfrm>
            <a:off x="4582160" y="4643120"/>
            <a:ext cx="12615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432FF"/>
                </a:solidFill>
                <a:latin typeface="Calibri"/>
                <a:ea typeface="Calibri"/>
                <a:cs typeface="Calibri"/>
                <a:sym typeface="Calibri"/>
              </a:rPr>
              <a:t>second-hop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