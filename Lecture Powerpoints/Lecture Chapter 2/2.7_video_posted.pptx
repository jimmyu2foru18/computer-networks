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Tahoma"/>
      <p:regular r:id="rId21"/>
      <p:bold r:id="rId22"/>
    </p:embeddedFont>
    <p:embeddedFont>
      <p:font typeface="Gill Sans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0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0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Tahoma-bold.fntdata"/><Relationship Id="rId10" Type="http://schemas.openxmlformats.org/officeDocument/2006/relationships/slide" Target="slides/slide4.xml"/><Relationship Id="rId21" Type="http://schemas.openxmlformats.org/officeDocument/2006/relationships/font" Target="fonts/Tahoma-regular.fntdata"/><Relationship Id="rId13" Type="http://schemas.openxmlformats.org/officeDocument/2006/relationships/slide" Target="slides/slide7.xml"/><Relationship Id="rId24" Type="http://schemas.openxmlformats.org/officeDocument/2006/relationships/font" Target="fonts/GillSans-bold.fntdata"/><Relationship Id="rId12" Type="http://schemas.openxmlformats.org/officeDocument/2006/relationships/slide" Target="slides/slide6.xml"/><Relationship Id="rId23" Type="http://schemas.openxmlformats.org/officeDocument/2006/relationships/font" Target="fonts/GillSans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580529" y="650420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Application Layer</a:t>
            </a:r>
            <a:endParaRPr sz="6000"/>
          </a:p>
        </p:txBody>
      </p:sp>
      <p:grpSp>
        <p:nvGrpSpPr>
          <p:cNvPr id="55" name="Google Shape;55;p11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56" name="Google Shape;56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Google Shape;57;p11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58" name="Google Shape;58;p11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59" name="Google Shape;59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" name="Google Shape;60;p11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1" name="Google Shape;61;p11"/>
          <p:cNvSpPr txBox="1"/>
          <p:nvPr/>
        </p:nvSpPr>
        <p:spPr>
          <a:xfrm>
            <a:off x="809241" y="1870563"/>
            <a:ext cx="703205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663" lvl="0" marL="3476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Web and HTTP </a:t>
            </a:r>
            <a:endParaRPr b="0" i="0" sz="2400" u="none" cap="none" strike="noStrik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The Domain Name System: 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video streaming, CDNs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1984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Socket programming </a:t>
            </a:r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838200" y="1446842"/>
            <a:ext cx="11124616" cy="153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learn how to build client/server applications that communicate using sockets</a:t>
            </a:r>
            <a:endParaRPr b="0" i="1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socket: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door between application process and end-end-transport protocol </a:t>
            </a:r>
            <a:endParaRPr/>
          </a:p>
        </p:txBody>
      </p:sp>
      <p:sp>
        <p:nvSpPr>
          <p:cNvPr id="69" name="Google Shape;69;p12"/>
          <p:cNvSpPr/>
          <p:nvPr/>
        </p:nvSpPr>
        <p:spPr>
          <a:xfrm>
            <a:off x="8379242" y="3598233"/>
            <a:ext cx="736600" cy="1998662"/>
          </a:xfrm>
          <a:custGeom>
            <a:rect b="b" l="l" r="r" t="t"/>
            <a:pathLst>
              <a:path extrusionOk="0" h="1259" w="464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2F5496"/>
              </a:gs>
            </a:gsLst>
            <a:lin ang="1080000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/>
          <p:nvPr/>
        </p:nvSpPr>
        <p:spPr>
          <a:xfrm>
            <a:off x="5064542" y="4895220"/>
            <a:ext cx="1808162" cy="1031875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2"/>
          <p:cNvSpPr txBox="1"/>
          <p:nvPr/>
        </p:nvSpPr>
        <p:spPr>
          <a:xfrm>
            <a:off x="5502692" y="5026983"/>
            <a:ext cx="8747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/>
          </a:p>
        </p:txBody>
      </p:sp>
      <p:cxnSp>
        <p:nvCxnSpPr>
          <p:cNvPr id="72" name="Google Shape;72;p12"/>
          <p:cNvCxnSpPr/>
          <p:nvPr/>
        </p:nvCxnSpPr>
        <p:spPr>
          <a:xfrm>
            <a:off x="4823242" y="5438145"/>
            <a:ext cx="221138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3" name="Google Shape;73;p12"/>
          <p:cNvSpPr txBox="1"/>
          <p:nvPr/>
        </p:nvSpPr>
        <p:spPr>
          <a:xfrm>
            <a:off x="8844379" y="4663445"/>
            <a:ext cx="1063625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controlled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by 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2"/>
          <p:cNvSpPr txBox="1"/>
          <p:nvPr/>
        </p:nvSpPr>
        <p:spPr>
          <a:xfrm>
            <a:off x="8822154" y="3763333"/>
            <a:ext cx="14700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controlled by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app developer</a:t>
            </a:r>
            <a:endParaRPr/>
          </a:p>
        </p:txBody>
      </p:sp>
      <p:sp>
        <p:nvSpPr>
          <p:cNvPr id="75" name="Google Shape;75;p12"/>
          <p:cNvSpPr/>
          <p:nvPr/>
        </p:nvSpPr>
        <p:spPr>
          <a:xfrm>
            <a:off x="2638842" y="3661733"/>
            <a:ext cx="758825" cy="1997075"/>
          </a:xfrm>
          <a:custGeom>
            <a:rect b="b" l="l" r="r" t="t"/>
            <a:pathLst>
              <a:path extrusionOk="0" h="1258" w="47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2F5496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2"/>
          <p:cNvSpPr/>
          <p:nvPr/>
        </p:nvSpPr>
        <p:spPr>
          <a:xfrm>
            <a:off x="3442117" y="3617283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2"/>
          <p:cNvSpPr/>
          <p:nvPr/>
        </p:nvSpPr>
        <p:spPr>
          <a:xfrm>
            <a:off x="3404017" y="3671258"/>
            <a:ext cx="1273175" cy="19796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8" name="Google Shape;78;p12"/>
          <p:cNvCxnSpPr/>
          <p:nvPr/>
        </p:nvCxnSpPr>
        <p:spPr>
          <a:xfrm>
            <a:off x="3413542" y="4431670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12"/>
          <p:cNvSpPr txBox="1"/>
          <p:nvPr/>
        </p:nvSpPr>
        <p:spPr>
          <a:xfrm>
            <a:off x="3370679" y="4414208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80" name="Google Shape;80;p12"/>
          <p:cNvCxnSpPr/>
          <p:nvPr/>
        </p:nvCxnSpPr>
        <p:spPr>
          <a:xfrm>
            <a:off x="3421479" y="4752345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2"/>
          <p:cNvCxnSpPr/>
          <p:nvPr/>
        </p:nvCxnSpPr>
        <p:spPr>
          <a:xfrm>
            <a:off x="3407192" y="5061908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2"/>
          <p:cNvCxnSpPr/>
          <p:nvPr/>
        </p:nvCxnSpPr>
        <p:spPr>
          <a:xfrm>
            <a:off x="3407192" y="5347658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12"/>
          <p:cNvSpPr txBox="1"/>
          <p:nvPr/>
        </p:nvSpPr>
        <p:spPr>
          <a:xfrm>
            <a:off x="3405604" y="3661733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84" name="Google Shape;84;p12"/>
          <p:cNvSpPr txBox="1"/>
          <p:nvPr/>
        </p:nvSpPr>
        <p:spPr>
          <a:xfrm>
            <a:off x="3361154" y="5319083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85" name="Google Shape;85;p12"/>
          <p:cNvSpPr txBox="1"/>
          <p:nvPr/>
        </p:nvSpPr>
        <p:spPr>
          <a:xfrm>
            <a:off x="3380204" y="5033333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3370679" y="4738058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87" name="Google Shape;87;p12"/>
          <p:cNvSpPr/>
          <p:nvPr/>
        </p:nvSpPr>
        <p:spPr>
          <a:xfrm>
            <a:off x="3538954" y="3936370"/>
            <a:ext cx="990600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/>
          </a:p>
        </p:txBody>
      </p:sp>
      <p:sp>
        <p:nvSpPr>
          <p:cNvPr id="88" name="Google Shape;88;p12"/>
          <p:cNvSpPr/>
          <p:nvPr/>
        </p:nvSpPr>
        <p:spPr>
          <a:xfrm>
            <a:off x="7104479" y="3588708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2"/>
          <p:cNvSpPr/>
          <p:nvPr/>
        </p:nvSpPr>
        <p:spPr>
          <a:xfrm>
            <a:off x="7066379" y="3642683"/>
            <a:ext cx="1273175" cy="19796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0" name="Google Shape;90;p12"/>
          <p:cNvCxnSpPr/>
          <p:nvPr/>
        </p:nvCxnSpPr>
        <p:spPr>
          <a:xfrm>
            <a:off x="7075904" y="4403095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" name="Google Shape;91;p12"/>
          <p:cNvSpPr txBox="1"/>
          <p:nvPr/>
        </p:nvSpPr>
        <p:spPr>
          <a:xfrm>
            <a:off x="7033042" y="4385633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92" name="Google Shape;92;p12"/>
          <p:cNvCxnSpPr/>
          <p:nvPr/>
        </p:nvCxnSpPr>
        <p:spPr>
          <a:xfrm>
            <a:off x="7083842" y="4723770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2"/>
          <p:cNvCxnSpPr/>
          <p:nvPr/>
        </p:nvCxnSpPr>
        <p:spPr>
          <a:xfrm>
            <a:off x="7069554" y="5033333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2"/>
          <p:cNvCxnSpPr/>
          <p:nvPr/>
        </p:nvCxnSpPr>
        <p:spPr>
          <a:xfrm>
            <a:off x="7069554" y="5319083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2"/>
          <p:cNvSpPr txBox="1"/>
          <p:nvPr/>
        </p:nvSpPr>
        <p:spPr>
          <a:xfrm>
            <a:off x="7067967" y="3633158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96" name="Google Shape;96;p12"/>
          <p:cNvSpPr txBox="1"/>
          <p:nvPr/>
        </p:nvSpPr>
        <p:spPr>
          <a:xfrm>
            <a:off x="7023517" y="5290508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97" name="Google Shape;97;p12"/>
          <p:cNvSpPr txBox="1"/>
          <p:nvPr/>
        </p:nvSpPr>
        <p:spPr>
          <a:xfrm>
            <a:off x="7042567" y="5004758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98" name="Google Shape;98;p12"/>
          <p:cNvSpPr txBox="1"/>
          <p:nvPr/>
        </p:nvSpPr>
        <p:spPr>
          <a:xfrm>
            <a:off x="7033042" y="4709483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99" name="Google Shape;99;p12"/>
          <p:cNvSpPr/>
          <p:nvPr/>
        </p:nvSpPr>
        <p:spPr>
          <a:xfrm>
            <a:off x="7201317" y="3907795"/>
            <a:ext cx="990600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/>
          </a:p>
        </p:txBody>
      </p:sp>
      <p:cxnSp>
        <p:nvCxnSpPr>
          <p:cNvPr id="100" name="Google Shape;100;p12"/>
          <p:cNvCxnSpPr/>
          <p:nvPr/>
        </p:nvCxnSpPr>
        <p:spPr>
          <a:xfrm rot="10800000">
            <a:off x="8258592" y="4039558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2"/>
          <p:cNvCxnSpPr/>
          <p:nvPr/>
        </p:nvCxnSpPr>
        <p:spPr>
          <a:xfrm>
            <a:off x="8484017" y="4465008"/>
            <a:ext cx="0" cy="102235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2"/>
          <p:cNvCxnSpPr/>
          <p:nvPr/>
        </p:nvCxnSpPr>
        <p:spPr>
          <a:xfrm rot="10800000">
            <a:off x="8507829" y="4965070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3" name="Google Shape;103;p12"/>
          <p:cNvGrpSpPr/>
          <p:nvPr/>
        </p:nvGrpSpPr>
        <p:grpSpPr>
          <a:xfrm>
            <a:off x="3786604" y="3720470"/>
            <a:ext cx="4208463" cy="801688"/>
            <a:chOff x="3786604" y="3720470"/>
            <a:chExt cx="4208463" cy="801688"/>
          </a:xfrm>
        </p:grpSpPr>
        <p:grpSp>
          <p:nvGrpSpPr>
            <p:cNvPr id="104" name="Google Shape;104;p12"/>
            <p:cNvGrpSpPr/>
            <p:nvPr/>
          </p:nvGrpSpPr>
          <p:grpSpPr>
            <a:xfrm>
              <a:off x="3786604" y="4296733"/>
              <a:ext cx="546100" cy="225425"/>
              <a:chOff x="1287" y="2524"/>
              <a:chExt cx="260" cy="100"/>
            </a:xfrm>
          </p:grpSpPr>
          <p:sp>
            <p:nvSpPr>
              <p:cNvPr id="105" name="Google Shape;105;p12"/>
              <p:cNvSpPr/>
              <p:nvPr/>
            </p:nvSpPr>
            <p:spPr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C96B72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12"/>
              <p:cNvSpPr/>
              <p:nvPr/>
            </p:nvSpPr>
            <p:spPr>
              <a:xfrm>
                <a:off x="1338" y="2537"/>
                <a:ext cx="156" cy="7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12"/>
              <p:cNvSpPr/>
              <p:nvPr/>
            </p:nvSpPr>
            <p:spPr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12"/>
              <p:cNvSpPr/>
              <p:nvPr/>
            </p:nvSpPr>
            <p:spPr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9" name="Google Shape;109;p12"/>
            <p:cNvGrpSpPr/>
            <p:nvPr/>
          </p:nvGrpSpPr>
          <p:grpSpPr>
            <a:xfrm>
              <a:off x="7448967" y="4268158"/>
              <a:ext cx="546100" cy="225425"/>
              <a:chOff x="1287" y="2524"/>
              <a:chExt cx="260" cy="100"/>
            </a:xfrm>
          </p:grpSpPr>
          <p:sp>
            <p:nvSpPr>
              <p:cNvPr id="110" name="Google Shape;110;p12"/>
              <p:cNvSpPr/>
              <p:nvPr/>
            </p:nvSpPr>
            <p:spPr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C96B7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12"/>
              <p:cNvSpPr/>
              <p:nvPr/>
            </p:nvSpPr>
            <p:spPr>
              <a:xfrm>
                <a:off x="1338" y="2537"/>
                <a:ext cx="156" cy="7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12"/>
              <p:cNvSpPr/>
              <p:nvPr/>
            </p:nvSpPr>
            <p:spPr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12"/>
              <p:cNvSpPr/>
              <p:nvPr/>
            </p:nvSpPr>
            <p:spPr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" name="Google Shape;114;p12"/>
            <p:cNvSpPr txBox="1"/>
            <p:nvPr/>
          </p:nvSpPr>
          <p:spPr>
            <a:xfrm>
              <a:off x="5421729" y="3720470"/>
              <a:ext cx="917575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socket</a:t>
              </a:r>
              <a:endParaRPr/>
            </a:p>
          </p:txBody>
        </p:sp>
        <p:cxnSp>
          <p:nvCxnSpPr>
            <p:cNvPr id="115" name="Google Shape;115;p12"/>
            <p:cNvCxnSpPr/>
            <p:nvPr/>
          </p:nvCxnSpPr>
          <p:spPr>
            <a:xfrm flipH="1" rot="10800000">
              <a:off x="4424779" y="3920495"/>
              <a:ext cx="968375" cy="434975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" name="Google Shape;116;p12"/>
            <p:cNvCxnSpPr/>
            <p:nvPr/>
          </p:nvCxnSpPr>
          <p:spPr>
            <a:xfrm rot="10800000">
              <a:off x="6359942" y="3909383"/>
              <a:ext cx="968375" cy="434975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7" name="Google Shape;117;p12"/>
          <p:cNvGrpSpPr/>
          <p:nvPr/>
        </p:nvGrpSpPr>
        <p:grpSpPr>
          <a:xfrm>
            <a:off x="2214979" y="4974595"/>
            <a:ext cx="719138" cy="773113"/>
            <a:chOff x="-44" y="1473"/>
            <a:chExt cx="981" cy="1105"/>
          </a:xfrm>
        </p:grpSpPr>
        <p:pic>
          <p:nvPicPr>
            <p:cNvPr descr="desktop_computer_stylized_medium" id="118" name="Google Shape;118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12"/>
          <p:cNvGrpSpPr/>
          <p:nvPr/>
        </p:nvGrpSpPr>
        <p:grpSpPr>
          <a:xfrm flipH="1">
            <a:off x="8911054" y="5169858"/>
            <a:ext cx="719138" cy="773112"/>
            <a:chOff x="-44" y="1473"/>
            <a:chExt cx="981" cy="1105"/>
          </a:xfrm>
        </p:grpSpPr>
        <p:pic>
          <p:nvPicPr>
            <p:cNvPr descr="desktop_computer_stylized_medium" id="121" name="Google Shape;12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Socket programming </a:t>
            </a:r>
            <a:endParaRPr/>
          </a:p>
        </p:txBody>
      </p:sp>
      <p:sp>
        <p:nvSpPr>
          <p:cNvPr id="129" name="Google Shape;129;p13"/>
          <p:cNvSpPr txBox="1"/>
          <p:nvPr>
            <p:ph idx="1" type="body"/>
          </p:nvPr>
        </p:nvSpPr>
        <p:spPr>
          <a:xfrm>
            <a:off x="838199" y="1513591"/>
            <a:ext cx="10798277" cy="1742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1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rPr lang="en-US" sz="3200">
                <a:solidFill>
                  <a:srgbClr val="22228B"/>
                </a:solidFill>
              </a:rPr>
              <a:t>Two socket types for two transport services:</a:t>
            </a:r>
            <a:endParaRPr/>
          </a:p>
          <a:p>
            <a:pPr indent="-457200" lvl="1" marL="6318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Font typeface="Noto Sans Symbols"/>
              <a:buChar char="▪"/>
            </a:pPr>
            <a:r>
              <a:rPr i="1" lang="en-US" sz="3200">
                <a:solidFill>
                  <a:srgbClr val="CC0000"/>
                </a:solidFill>
              </a:rPr>
              <a:t>UDP:</a:t>
            </a:r>
            <a:r>
              <a:rPr lang="en-US" sz="3200">
                <a:solidFill>
                  <a:srgbClr val="000000"/>
                </a:solidFill>
              </a:rPr>
              <a:t> </a:t>
            </a:r>
            <a:r>
              <a:rPr lang="en-US" sz="3200"/>
              <a:t>unreliable datagram </a:t>
            </a:r>
            <a:endParaRPr/>
          </a:p>
          <a:p>
            <a:pPr indent="-457200" lvl="1" marL="6318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Font typeface="Noto Sans Symbols"/>
              <a:buChar char="▪"/>
            </a:pPr>
            <a:r>
              <a:rPr i="1" lang="en-US" sz="3200">
                <a:solidFill>
                  <a:srgbClr val="CC0000"/>
                </a:solidFill>
              </a:rPr>
              <a:t>TCP:</a:t>
            </a:r>
            <a:r>
              <a:rPr lang="en-US" sz="3200"/>
              <a:t> reliable, byte stream-oriented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878760" y="3291529"/>
            <a:ext cx="10798277" cy="3481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Application Example:</a:t>
            </a:r>
            <a:endParaRPr/>
          </a:p>
          <a:p>
            <a:pPr indent="-287338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reads a line of characters (data) from its keyboard and sends data to server</a:t>
            </a:r>
            <a:endParaRPr/>
          </a:p>
          <a:p>
            <a:pPr indent="-287338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receives the data and converts characters to uppercase</a:t>
            </a:r>
            <a:endParaRPr/>
          </a:p>
          <a:p>
            <a:pPr indent="-287338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sends modified data to client</a:t>
            </a:r>
            <a:endParaRPr/>
          </a:p>
          <a:p>
            <a:pPr indent="-287338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receives modified data and displays line on its screen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>
            <p:ph type="title"/>
          </p:nvPr>
        </p:nvSpPr>
        <p:spPr>
          <a:xfrm>
            <a:off x="804333" y="33328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Socket programming with UDP </a:t>
            </a:r>
            <a:endParaRPr/>
          </a:p>
        </p:txBody>
      </p:sp>
      <p:sp>
        <p:nvSpPr>
          <p:cNvPr id="137" name="Google Shape;137;p14"/>
          <p:cNvSpPr txBox="1"/>
          <p:nvPr>
            <p:ph idx="1" type="body"/>
          </p:nvPr>
        </p:nvSpPr>
        <p:spPr>
          <a:xfrm>
            <a:off x="714803" y="1318820"/>
            <a:ext cx="6363331" cy="4853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</a:rPr>
              <a:t>UDP: </a:t>
            </a:r>
            <a:r>
              <a:rPr lang="en-US" sz="3200">
                <a:solidFill>
                  <a:srgbClr val="0000A3"/>
                </a:solidFill>
              </a:rPr>
              <a:t>no “connection” between client and server:</a:t>
            </a:r>
            <a:endParaRPr/>
          </a:p>
          <a:p>
            <a:pPr indent="-292100" lvl="0" marL="4667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no handshaking before sending data</a:t>
            </a:r>
            <a:endParaRPr/>
          </a:p>
          <a:p>
            <a:pPr indent="-292100" lvl="0" marL="4667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sender explicitly attaches IP destination address and port # to each packet</a:t>
            </a:r>
            <a:endParaRPr/>
          </a:p>
          <a:p>
            <a:pPr indent="-292100" lvl="0" marL="4667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receiver extracts sender IP address and port# from received packet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680936" y="4553087"/>
            <a:ext cx="10352496" cy="2177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UDP: </a:t>
            </a:r>
            <a:r>
              <a:rPr b="0" i="0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transmitted data may be lost or received out-of-order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Application viewpoint:</a:t>
            </a:r>
            <a:endParaRPr/>
          </a:p>
          <a:p>
            <a:pPr indent="-292100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086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UDP provides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unreliable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transfer  of groups of bytes (“datagrams”)  between client and server processes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0" st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20" st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1" st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21" st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2" st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22" st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3" st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23" st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4" st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24" st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Client/server socket interaction: UDP</a:t>
            </a:r>
            <a:endParaRPr/>
          </a:p>
        </p:txBody>
      </p:sp>
      <p:grpSp>
        <p:nvGrpSpPr>
          <p:cNvPr id="145" name="Google Shape;145;p15"/>
          <p:cNvGrpSpPr/>
          <p:nvPr/>
        </p:nvGrpSpPr>
        <p:grpSpPr>
          <a:xfrm>
            <a:off x="7008229" y="4140035"/>
            <a:ext cx="2211387" cy="2200275"/>
            <a:chOff x="3485" y="2494"/>
            <a:chExt cx="1393" cy="1386"/>
          </a:xfrm>
        </p:grpSpPr>
        <p:grpSp>
          <p:nvGrpSpPr>
            <p:cNvPr id="146" name="Google Shape;146;p15"/>
            <p:cNvGrpSpPr/>
            <p:nvPr/>
          </p:nvGrpSpPr>
          <p:grpSpPr>
            <a:xfrm>
              <a:off x="3485" y="2964"/>
              <a:ext cx="1393" cy="916"/>
              <a:chOff x="3485" y="2964"/>
              <a:chExt cx="1393" cy="916"/>
            </a:xfrm>
          </p:grpSpPr>
          <p:sp>
            <p:nvSpPr>
              <p:cNvPr id="147" name="Google Shape;147;p15"/>
              <p:cNvSpPr txBox="1"/>
              <p:nvPr/>
            </p:nvSpPr>
            <p:spPr>
              <a:xfrm>
                <a:off x="3509" y="3473"/>
                <a:ext cx="900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close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clientSocke</a:t>
                </a:r>
                <a:r>
                  <a:rPr b="0" i="0" lang="en-US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 b="0" i="0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48" name="Google Shape;148;p15"/>
              <p:cNvCxnSpPr/>
              <p:nvPr/>
            </p:nvCxnSpPr>
            <p:spPr>
              <a:xfrm>
                <a:off x="3867" y="3335"/>
                <a:ext cx="0" cy="20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99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49" name="Google Shape;149;p15"/>
              <p:cNvSpPr txBox="1"/>
              <p:nvPr/>
            </p:nvSpPr>
            <p:spPr>
              <a:xfrm>
                <a:off x="3485" y="2964"/>
                <a:ext cx="139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read datagram from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clientSocket</a:t>
                </a:r>
                <a:endParaRPr b="0" i="0" sz="1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50" name="Google Shape;150;p15"/>
            <p:cNvCxnSpPr/>
            <p:nvPr/>
          </p:nvCxnSpPr>
          <p:spPr>
            <a:xfrm>
              <a:off x="3864" y="2494"/>
              <a:ext cx="0" cy="522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51" name="Google Shape;151;p15"/>
          <p:cNvSpPr txBox="1"/>
          <p:nvPr/>
        </p:nvSpPr>
        <p:spPr>
          <a:xfrm>
            <a:off x="7165392" y="1480972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2" name="Google Shape;152;p15"/>
          <p:cNvGrpSpPr/>
          <p:nvPr/>
        </p:nvGrpSpPr>
        <p:grpSpPr>
          <a:xfrm>
            <a:off x="6878054" y="2115972"/>
            <a:ext cx="4198939" cy="2055813"/>
            <a:chOff x="6878054" y="2115972"/>
            <a:chExt cx="4198939" cy="2055813"/>
          </a:xfrm>
        </p:grpSpPr>
        <p:grpSp>
          <p:nvGrpSpPr>
            <p:cNvPr id="153" name="Google Shape;153;p15"/>
            <p:cNvGrpSpPr/>
            <p:nvPr/>
          </p:nvGrpSpPr>
          <p:grpSpPr>
            <a:xfrm>
              <a:off x="6890754" y="2115972"/>
              <a:ext cx="3635376" cy="971550"/>
              <a:chOff x="3241" y="1750"/>
              <a:chExt cx="2290" cy="612"/>
            </a:xfrm>
          </p:grpSpPr>
          <p:sp>
            <p:nvSpPr>
              <p:cNvPr id="154" name="Google Shape;154;p15"/>
              <p:cNvSpPr txBox="1"/>
              <p:nvPr/>
            </p:nvSpPr>
            <p:spPr>
              <a:xfrm>
                <a:off x="3241" y="1750"/>
                <a:ext cx="1021" cy="4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create socket: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5" name="Google Shape;155;p15"/>
              <p:cNvSpPr txBox="1"/>
              <p:nvPr/>
            </p:nvSpPr>
            <p:spPr>
              <a:xfrm>
                <a:off x="3241" y="1944"/>
                <a:ext cx="2290" cy="4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11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clientSocket =</a:t>
                </a:r>
                <a:endParaRPr/>
              </a:p>
              <a:p>
                <a:pPr indent="0" lvl="0" marL="0" marR="0" rtl="0" algn="l">
                  <a:lnSpc>
                    <a:spcPct val="111111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socket(AF_INET,SOCK_DGRAM)</a:t>
                </a:r>
                <a:endParaRPr b="0" i="0" sz="18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56" name="Google Shape;156;p15"/>
            <p:cNvSpPr txBox="1"/>
            <p:nvPr/>
          </p:nvSpPr>
          <p:spPr>
            <a:xfrm>
              <a:off x="6878054" y="3247860"/>
              <a:ext cx="4198939" cy="923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Create datagram with serverIP address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And port=x; send datagram via</a:t>
              </a:r>
              <a:br>
                <a:rPr b="0" i="0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clientSocket</a:t>
              </a:r>
              <a:endParaRPr b="0" i="0" sz="18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57" name="Google Shape;157;p15"/>
            <p:cNvCxnSpPr/>
            <p:nvPr/>
          </p:nvCxnSpPr>
          <p:spPr>
            <a:xfrm>
              <a:off x="7574967" y="3052597"/>
              <a:ext cx="0" cy="323850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158" name="Google Shape;158;p15"/>
          <p:cNvCxnSpPr/>
          <p:nvPr/>
        </p:nvCxnSpPr>
        <p:spPr>
          <a:xfrm flipH="1">
            <a:off x="4498391" y="3652672"/>
            <a:ext cx="2409826" cy="4000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15"/>
          <p:cNvSpPr txBox="1"/>
          <p:nvPr/>
        </p:nvSpPr>
        <p:spPr>
          <a:xfrm>
            <a:off x="2318754" y="2335047"/>
            <a:ext cx="2462212" cy="36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socket, port= x: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2331454" y="2630322"/>
            <a:ext cx="3635375" cy="663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serverSocket =</a:t>
            </a:r>
            <a:endParaRPr/>
          </a:p>
          <a:p>
            <a:pPr indent="0" lvl="0" marL="0" marR="0" rtl="0" algn="l">
              <a:lnSpc>
                <a:spcPct val="111111"/>
              </a:lnSpc>
              <a:spcBef>
                <a:spcPts val="36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socket(AF_INET,SOCK_DGRAM)</a:t>
            </a:r>
            <a:endParaRPr b="0" i="0" sz="1800" u="none" cap="none" strike="noStrike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1" name="Google Shape;161;p15"/>
          <p:cNvGrpSpPr/>
          <p:nvPr/>
        </p:nvGrpSpPr>
        <p:grpSpPr>
          <a:xfrm>
            <a:off x="2344154" y="3293897"/>
            <a:ext cx="2211387" cy="1109663"/>
            <a:chOff x="589" y="1982"/>
            <a:chExt cx="1393" cy="699"/>
          </a:xfrm>
        </p:grpSpPr>
        <p:cxnSp>
          <p:nvCxnSpPr>
            <p:cNvPr id="162" name="Google Shape;162;p15"/>
            <p:cNvCxnSpPr/>
            <p:nvPr/>
          </p:nvCxnSpPr>
          <p:spPr>
            <a:xfrm>
              <a:off x="1276" y="1982"/>
              <a:ext cx="0" cy="366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3" name="Google Shape;163;p15"/>
            <p:cNvSpPr txBox="1"/>
            <p:nvPr/>
          </p:nvSpPr>
          <p:spPr>
            <a:xfrm>
              <a:off x="589" y="2274"/>
              <a:ext cx="1393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read datagram from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serverSocke</a:t>
              </a: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4" name="Google Shape;164;p15"/>
          <p:cNvGrpSpPr/>
          <p:nvPr/>
        </p:nvGrpSpPr>
        <p:grpSpPr>
          <a:xfrm>
            <a:off x="2607679" y="4405147"/>
            <a:ext cx="4202112" cy="1698625"/>
            <a:chOff x="755" y="2696"/>
            <a:chExt cx="2647" cy="1070"/>
          </a:xfrm>
        </p:grpSpPr>
        <p:sp>
          <p:nvSpPr>
            <p:cNvPr id="165" name="Google Shape;165;p15"/>
            <p:cNvSpPr txBox="1"/>
            <p:nvPr/>
          </p:nvSpPr>
          <p:spPr>
            <a:xfrm>
              <a:off x="755" y="2835"/>
              <a:ext cx="1062" cy="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write reply to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serverSocket</a:t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specifying </a:t>
              </a:r>
              <a:b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client address,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port number</a:t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66" name="Google Shape;166;p15"/>
            <p:cNvCxnSpPr/>
            <p:nvPr/>
          </p:nvCxnSpPr>
          <p:spPr>
            <a:xfrm>
              <a:off x="1278" y="2696"/>
              <a:ext cx="0" cy="198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7" name="Google Shape;167;p15"/>
            <p:cNvCxnSpPr/>
            <p:nvPr/>
          </p:nvCxnSpPr>
          <p:spPr>
            <a:xfrm>
              <a:off x="1866" y="2970"/>
              <a:ext cx="1536" cy="18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68" name="Google Shape;168;p15"/>
          <p:cNvSpPr txBox="1"/>
          <p:nvPr/>
        </p:nvSpPr>
        <p:spPr>
          <a:xfrm>
            <a:off x="2036195" y="1465007"/>
            <a:ext cx="3286092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(running on serverIP)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6840313" y="1416392"/>
            <a:ext cx="1101007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/>
          </a:p>
        </p:txBody>
      </p:sp>
      <p:grpSp>
        <p:nvGrpSpPr>
          <p:cNvPr id="170" name="Google Shape;170;p15"/>
          <p:cNvGrpSpPr/>
          <p:nvPr/>
        </p:nvGrpSpPr>
        <p:grpSpPr>
          <a:xfrm>
            <a:off x="1534349" y="1399326"/>
            <a:ext cx="422275" cy="685800"/>
            <a:chOff x="4140" y="429"/>
            <a:chExt cx="1425" cy="2396"/>
          </a:xfrm>
        </p:grpSpPr>
        <p:sp>
          <p:nvSpPr>
            <p:cNvPr id="171" name="Google Shape;171;p1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4204" y="429"/>
              <a:ext cx="1050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4210" y="695"/>
              <a:ext cx="600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6" name="Google Shape;176;p15"/>
            <p:cNvGrpSpPr/>
            <p:nvPr/>
          </p:nvGrpSpPr>
          <p:grpSpPr>
            <a:xfrm>
              <a:off x="4751" y="668"/>
              <a:ext cx="579" cy="144"/>
              <a:chOff x="616" y="2568"/>
              <a:chExt cx="722" cy="138"/>
            </a:xfrm>
          </p:grpSpPr>
          <p:sp>
            <p:nvSpPr>
              <p:cNvPr id="177" name="Google Shape;177;p15"/>
              <p:cNvSpPr/>
              <p:nvPr/>
            </p:nvSpPr>
            <p:spPr>
              <a:xfrm>
                <a:off x="616" y="2568"/>
                <a:ext cx="722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15"/>
              <p:cNvSpPr/>
              <p:nvPr/>
            </p:nvSpPr>
            <p:spPr>
              <a:xfrm>
                <a:off x="630" y="2583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9" name="Google Shape;179;p15"/>
            <p:cNvSpPr/>
            <p:nvPr/>
          </p:nvSpPr>
          <p:spPr>
            <a:xfrm>
              <a:off x="4226" y="1017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0" name="Google Shape;180;p15"/>
            <p:cNvGrpSpPr/>
            <p:nvPr/>
          </p:nvGrpSpPr>
          <p:grpSpPr>
            <a:xfrm>
              <a:off x="4745" y="995"/>
              <a:ext cx="584" cy="133"/>
              <a:chOff x="612" y="2569"/>
              <a:chExt cx="729" cy="138"/>
            </a:xfrm>
          </p:grpSpPr>
          <p:sp>
            <p:nvSpPr>
              <p:cNvPr id="181" name="Google Shape;181;p15"/>
              <p:cNvSpPr/>
              <p:nvPr/>
            </p:nvSpPr>
            <p:spPr>
              <a:xfrm>
                <a:off x="612" y="2569"/>
                <a:ext cx="72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5"/>
              <p:cNvSpPr/>
              <p:nvPr/>
            </p:nvSpPr>
            <p:spPr>
              <a:xfrm>
                <a:off x="625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3" name="Google Shape;183;p15"/>
            <p:cNvSpPr/>
            <p:nvPr/>
          </p:nvSpPr>
          <p:spPr>
            <a:xfrm>
              <a:off x="4215" y="13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4226" y="16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5" name="Google Shape;185;p15"/>
            <p:cNvGrpSpPr/>
            <p:nvPr/>
          </p:nvGrpSpPr>
          <p:grpSpPr>
            <a:xfrm>
              <a:off x="4735" y="1627"/>
              <a:ext cx="584" cy="150"/>
              <a:chOff x="614" y="2568"/>
              <a:chExt cx="727" cy="138"/>
            </a:xfrm>
          </p:grpSpPr>
          <p:sp>
            <p:nvSpPr>
              <p:cNvPr id="186" name="Google Shape;186;p15"/>
              <p:cNvSpPr/>
              <p:nvPr/>
            </p:nvSpPr>
            <p:spPr>
              <a:xfrm>
                <a:off x="614" y="2568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5"/>
              <p:cNvSpPr/>
              <p:nvPr/>
            </p:nvSpPr>
            <p:spPr>
              <a:xfrm>
                <a:off x="627" y="2583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8" name="Google Shape;188;p1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9" name="Google Shape;189;p15"/>
            <p:cNvGrpSpPr/>
            <p:nvPr/>
          </p:nvGrpSpPr>
          <p:grpSpPr>
            <a:xfrm>
              <a:off x="4740" y="1327"/>
              <a:ext cx="579" cy="139"/>
              <a:chOff x="615" y="2568"/>
              <a:chExt cx="721" cy="139"/>
            </a:xfrm>
          </p:grpSpPr>
          <p:sp>
            <p:nvSpPr>
              <p:cNvPr id="190" name="Google Shape;190;p15"/>
              <p:cNvSpPr/>
              <p:nvPr/>
            </p:nvSpPr>
            <p:spPr>
              <a:xfrm>
                <a:off x="615" y="2568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5"/>
              <p:cNvSpPr/>
              <p:nvPr/>
            </p:nvSpPr>
            <p:spPr>
              <a:xfrm>
                <a:off x="629" y="2585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2" name="Google Shape;192;p15"/>
            <p:cNvSpPr/>
            <p:nvPr/>
          </p:nvSpPr>
          <p:spPr>
            <a:xfrm>
              <a:off x="5249" y="429"/>
              <a:ext cx="70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4140" y="2675"/>
              <a:ext cx="1200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4204" y="2709"/>
              <a:ext cx="1071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15"/>
          <p:cNvGrpSpPr/>
          <p:nvPr/>
        </p:nvGrpSpPr>
        <p:grpSpPr>
          <a:xfrm>
            <a:off x="7841666" y="1346443"/>
            <a:ext cx="742950" cy="742950"/>
            <a:chOff x="-44" y="1473"/>
            <a:chExt cx="981" cy="1105"/>
          </a:xfrm>
        </p:grpSpPr>
        <p:pic>
          <p:nvPicPr>
            <p:cNvPr descr="desktop_computer_stylized_medium" id="204" name="Google Shape;20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1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99"/>
                </a:solidFill>
              </a:rPr>
              <a:t>Example app: UDP client</a:t>
            </a:r>
            <a:endParaRPr sz="5400">
              <a:solidFill>
                <a:srgbClr val="000099"/>
              </a:solidFill>
            </a:endParaRPr>
          </a:p>
        </p:txBody>
      </p:sp>
      <p:sp>
        <p:nvSpPr>
          <p:cNvPr id="212" name="Google Shape;212;p16"/>
          <p:cNvSpPr txBox="1"/>
          <p:nvPr/>
        </p:nvSpPr>
        <p:spPr>
          <a:xfrm>
            <a:off x="5404044" y="1906313"/>
            <a:ext cx="5894388" cy="4960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socket import *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serverName = ‘hostname’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serverPort = 12000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clientSocket = socket(AF_INET,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SOCK_DGRAM)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message = raw_input(’Input lowercase sentence:’)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clientSocket.sendto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(message.encode(),</a:t>
            </a:r>
            <a:endParaRPr/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(serverName, serverPort))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modifiedMessage, serverAddress =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clientSocket.recvfrom(2048)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 modifiedMessage.decode()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clientSocket.close()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5416744" y="1423713"/>
            <a:ext cx="2741613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Python UDPClient</a:t>
            </a:r>
            <a:endParaRPr/>
          </a:p>
        </p:txBody>
      </p:sp>
      <p:grpSp>
        <p:nvGrpSpPr>
          <p:cNvPr id="214" name="Google Shape;214;p16"/>
          <p:cNvGrpSpPr/>
          <p:nvPr/>
        </p:nvGrpSpPr>
        <p:grpSpPr>
          <a:xfrm>
            <a:off x="2456662" y="1963666"/>
            <a:ext cx="3023734" cy="297517"/>
            <a:chOff x="-242132" y="1766968"/>
            <a:chExt cx="3023579" cy="298280"/>
          </a:xfrm>
        </p:grpSpPr>
        <p:sp>
          <p:nvSpPr>
            <p:cNvPr id="215" name="Google Shape;215;p16"/>
            <p:cNvSpPr txBox="1"/>
            <p:nvPr/>
          </p:nvSpPr>
          <p:spPr>
            <a:xfrm>
              <a:off x="-242132" y="1766968"/>
              <a:ext cx="3023579" cy="298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include Python’s socket library</a:t>
              </a:r>
              <a:endParaRPr/>
            </a:p>
          </p:txBody>
        </p:sp>
        <p:cxnSp>
          <p:nvCxnSpPr>
            <p:cNvPr id="216" name="Google Shape;216;p16"/>
            <p:cNvCxnSpPr/>
            <p:nvPr/>
          </p:nvCxnSpPr>
          <p:spPr>
            <a:xfrm>
              <a:off x="2309371" y="1930400"/>
              <a:ext cx="370329" cy="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17" name="Google Shape;217;p16"/>
          <p:cNvGrpSpPr/>
          <p:nvPr/>
        </p:nvGrpSpPr>
        <p:grpSpPr>
          <a:xfrm>
            <a:off x="2536716" y="2998275"/>
            <a:ext cx="2943680" cy="523875"/>
            <a:chOff x="588094" y="2905531"/>
            <a:chExt cx="2271818" cy="523220"/>
          </a:xfrm>
        </p:grpSpPr>
        <p:sp>
          <p:nvSpPr>
            <p:cNvPr id="218" name="Google Shape;218;p16"/>
            <p:cNvSpPr txBox="1"/>
            <p:nvPr/>
          </p:nvSpPr>
          <p:spPr>
            <a:xfrm>
              <a:off x="588094" y="2905531"/>
              <a:ext cx="227181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create UDP socket for server</a:t>
              </a:r>
              <a:endParaRPr/>
            </a:p>
          </p:txBody>
        </p:sp>
        <p:cxnSp>
          <p:nvCxnSpPr>
            <p:cNvPr id="219" name="Google Shape;219;p16"/>
            <p:cNvCxnSpPr/>
            <p:nvPr/>
          </p:nvCxnSpPr>
          <p:spPr>
            <a:xfrm>
              <a:off x="2488965" y="3080272"/>
              <a:ext cx="288707" cy="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20" name="Google Shape;220;p16"/>
          <p:cNvGrpSpPr/>
          <p:nvPr/>
        </p:nvGrpSpPr>
        <p:grpSpPr>
          <a:xfrm>
            <a:off x="2988803" y="3664103"/>
            <a:ext cx="2943680" cy="297517"/>
            <a:chOff x="320502" y="3822598"/>
            <a:chExt cx="2944213" cy="297415"/>
          </a:xfrm>
        </p:grpSpPr>
        <p:sp>
          <p:nvSpPr>
            <p:cNvPr id="221" name="Google Shape;221;p16"/>
            <p:cNvSpPr txBox="1"/>
            <p:nvPr/>
          </p:nvSpPr>
          <p:spPr>
            <a:xfrm>
              <a:off x="320502" y="3822598"/>
              <a:ext cx="2944213" cy="2974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get user keyboard input </a:t>
              </a:r>
              <a:endParaRPr/>
            </a:p>
          </p:txBody>
        </p:sp>
        <p:cxnSp>
          <p:nvCxnSpPr>
            <p:cNvPr id="222" name="Google Shape;222;p16"/>
            <p:cNvCxnSpPr/>
            <p:nvPr/>
          </p:nvCxnSpPr>
          <p:spPr>
            <a:xfrm>
              <a:off x="2340360" y="3968752"/>
              <a:ext cx="381069" cy="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23" name="Google Shape;223;p16"/>
          <p:cNvGrpSpPr/>
          <p:nvPr/>
        </p:nvGrpSpPr>
        <p:grpSpPr>
          <a:xfrm>
            <a:off x="589926" y="4010877"/>
            <a:ext cx="4778572" cy="307777"/>
            <a:chOff x="-2057015" y="4094341"/>
            <a:chExt cx="4779099" cy="307008"/>
          </a:xfrm>
        </p:grpSpPr>
        <p:sp>
          <p:nvSpPr>
            <p:cNvPr id="224" name="Google Shape;224;p16"/>
            <p:cNvSpPr txBox="1"/>
            <p:nvPr/>
          </p:nvSpPr>
          <p:spPr>
            <a:xfrm>
              <a:off x="-2057015" y="4094341"/>
              <a:ext cx="4723287" cy="307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attach server name, port to message; send into socket</a:t>
              </a:r>
              <a:endParaRPr/>
            </a:p>
          </p:txBody>
        </p:sp>
        <p:cxnSp>
          <p:nvCxnSpPr>
            <p:cNvPr id="225" name="Google Shape;225;p16"/>
            <p:cNvCxnSpPr/>
            <p:nvPr/>
          </p:nvCxnSpPr>
          <p:spPr>
            <a:xfrm flipH="1" rot="10800000">
              <a:off x="2360668" y="4261938"/>
              <a:ext cx="361416" cy="557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26" name="Google Shape;226;p16"/>
          <p:cNvGrpSpPr/>
          <p:nvPr/>
        </p:nvGrpSpPr>
        <p:grpSpPr>
          <a:xfrm>
            <a:off x="1645918" y="5411634"/>
            <a:ext cx="3787622" cy="307776"/>
            <a:chOff x="-1061954" y="5487008"/>
            <a:chExt cx="3788048" cy="307391"/>
          </a:xfrm>
        </p:grpSpPr>
        <p:sp>
          <p:nvSpPr>
            <p:cNvPr id="227" name="Google Shape;227;p16"/>
            <p:cNvSpPr txBox="1"/>
            <p:nvPr/>
          </p:nvSpPr>
          <p:spPr>
            <a:xfrm>
              <a:off x="-1061954" y="5487008"/>
              <a:ext cx="3684841" cy="3073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print out received string and close socket</a:t>
              </a:r>
              <a:endParaRPr/>
            </a:p>
          </p:txBody>
        </p:sp>
        <p:cxnSp>
          <p:nvCxnSpPr>
            <p:cNvPr id="228" name="Google Shape;228;p16"/>
            <p:cNvCxnSpPr/>
            <p:nvPr/>
          </p:nvCxnSpPr>
          <p:spPr>
            <a:xfrm>
              <a:off x="2309661" y="5657831"/>
              <a:ext cx="416433" cy="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29" name="Google Shape;229;p16"/>
          <p:cNvGrpSpPr/>
          <p:nvPr/>
        </p:nvGrpSpPr>
        <p:grpSpPr>
          <a:xfrm>
            <a:off x="1389301" y="4571818"/>
            <a:ext cx="4091095" cy="421119"/>
            <a:chOff x="-1241909" y="4530536"/>
            <a:chExt cx="4090757" cy="421402"/>
          </a:xfrm>
        </p:grpSpPr>
        <p:sp>
          <p:nvSpPr>
            <p:cNvPr id="230" name="Google Shape;230;p16"/>
            <p:cNvSpPr txBox="1"/>
            <p:nvPr/>
          </p:nvSpPr>
          <p:spPr>
            <a:xfrm>
              <a:off x="-1241909" y="4643955"/>
              <a:ext cx="4090757" cy="307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read reply characters from socket into string</a:t>
              </a:r>
              <a:endParaRPr/>
            </a:p>
          </p:txBody>
        </p:sp>
        <p:cxnSp>
          <p:nvCxnSpPr>
            <p:cNvPr id="231" name="Google Shape;231;p16"/>
            <p:cNvCxnSpPr/>
            <p:nvPr/>
          </p:nvCxnSpPr>
          <p:spPr>
            <a:xfrm flipH="1" rot="10800000">
              <a:off x="2415586" y="4830837"/>
              <a:ext cx="327418" cy="416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2" name="Google Shape;232;p16"/>
            <p:cNvSpPr txBox="1"/>
            <p:nvPr/>
          </p:nvSpPr>
          <p:spPr>
            <a:xfrm>
              <a:off x="-157119" y="4530536"/>
              <a:ext cx="1846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99"/>
                </a:solidFill>
              </a:rPr>
              <a:t>Example app: UDP server</a:t>
            </a:r>
            <a:endParaRPr sz="5400">
              <a:solidFill>
                <a:srgbClr val="000099"/>
              </a:solidFill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5416744" y="1423713"/>
            <a:ext cx="27863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Python UDPServer</a:t>
            </a:r>
            <a:endParaRPr b="0" i="1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7"/>
          <p:cNvSpPr txBox="1"/>
          <p:nvPr/>
        </p:nvSpPr>
        <p:spPr>
          <a:xfrm>
            <a:off x="5416744" y="1962946"/>
            <a:ext cx="6143625" cy="4002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socket import *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serverPort = 12000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serverSocket = socket(AF_INET, SOCK_DGRAM)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serverSocket.bind(('', serverPort))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 (“</a:t>
            </a:r>
            <a:r>
              <a:rPr b="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server is ready to receive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 True:</a:t>
            </a:r>
            <a:endParaRPr/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message, clientAddress = serverSocket.recvfrom(2048)</a:t>
            </a:r>
            <a:endParaRPr/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modifiedMessage = message.decode().upper()</a:t>
            </a:r>
            <a:endParaRPr/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serverSocket.sendto(modifiedMessage.encode(),</a:t>
            </a:r>
            <a:endParaRPr/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clientAddress)</a:t>
            </a:r>
            <a:endParaRPr/>
          </a:p>
        </p:txBody>
      </p:sp>
      <p:grpSp>
        <p:nvGrpSpPr>
          <p:cNvPr id="241" name="Google Shape;241;p17"/>
          <p:cNvGrpSpPr/>
          <p:nvPr/>
        </p:nvGrpSpPr>
        <p:grpSpPr>
          <a:xfrm>
            <a:off x="3352917" y="2744875"/>
            <a:ext cx="2558753" cy="307975"/>
            <a:chOff x="732830" y="2581901"/>
            <a:chExt cx="2559082" cy="307777"/>
          </a:xfrm>
        </p:grpSpPr>
        <p:sp>
          <p:nvSpPr>
            <p:cNvPr id="242" name="Google Shape;242;p17"/>
            <p:cNvSpPr txBox="1"/>
            <p:nvPr/>
          </p:nvSpPr>
          <p:spPr>
            <a:xfrm>
              <a:off x="732830" y="2581901"/>
              <a:ext cx="255908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create UDP socket</a:t>
              </a:r>
              <a:endParaRPr/>
            </a:p>
          </p:txBody>
        </p:sp>
        <p:cxnSp>
          <p:nvCxnSpPr>
            <p:cNvPr id="243" name="Google Shape;243;p17"/>
            <p:cNvCxnSpPr/>
            <p:nvPr/>
          </p:nvCxnSpPr>
          <p:spPr>
            <a:xfrm>
              <a:off x="2394178" y="2749550"/>
              <a:ext cx="358094" cy="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44" name="Google Shape;244;p17"/>
          <p:cNvGrpSpPr/>
          <p:nvPr/>
        </p:nvGrpSpPr>
        <p:grpSpPr>
          <a:xfrm>
            <a:off x="1773888" y="3108924"/>
            <a:ext cx="3605785" cy="307777"/>
            <a:chOff x="-896820" y="3018353"/>
            <a:chExt cx="3607385" cy="307392"/>
          </a:xfrm>
        </p:grpSpPr>
        <p:sp>
          <p:nvSpPr>
            <p:cNvPr id="245" name="Google Shape;245;p17"/>
            <p:cNvSpPr txBox="1"/>
            <p:nvPr/>
          </p:nvSpPr>
          <p:spPr>
            <a:xfrm>
              <a:off x="-896820" y="3018353"/>
              <a:ext cx="3607385" cy="307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bind socket to local port number 12000</a:t>
              </a:r>
              <a:endParaRPr/>
            </a:p>
          </p:txBody>
        </p:sp>
        <p:cxnSp>
          <p:nvCxnSpPr>
            <p:cNvPr id="246" name="Google Shape;246;p17"/>
            <p:cNvCxnSpPr/>
            <p:nvPr/>
          </p:nvCxnSpPr>
          <p:spPr>
            <a:xfrm>
              <a:off x="2375948" y="3171825"/>
              <a:ext cx="334255" cy="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47" name="Google Shape;247;p17"/>
          <p:cNvGrpSpPr/>
          <p:nvPr/>
        </p:nvGrpSpPr>
        <p:grpSpPr>
          <a:xfrm>
            <a:off x="3884090" y="3825856"/>
            <a:ext cx="1488056" cy="298450"/>
            <a:chOff x="1222134" y="3803733"/>
            <a:chExt cx="1488522" cy="299227"/>
          </a:xfrm>
        </p:grpSpPr>
        <p:sp>
          <p:nvSpPr>
            <p:cNvPr id="248" name="Google Shape;248;p17"/>
            <p:cNvSpPr txBox="1"/>
            <p:nvPr/>
          </p:nvSpPr>
          <p:spPr>
            <a:xfrm>
              <a:off x="1222134" y="3803733"/>
              <a:ext cx="1194763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loop forever</a:t>
              </a:r>
              <a:endParaRPr/>
            </a:p>
          </p:txBody>
        </p:sp>
        <p:cxnSp>
          <p:nvCxnSpPr>
            <p:cNvPr id="249" name="Google Shape;249;p17"/>
            <p:cNvCxnSpPr/>
            <p:nvPr/>
          </p:nvCxnSpPr>
          <p:spPr>
            <a:xfrm>
              <a:off x="2367604" y="3964781"/>
              <a:ext cx="343052" cy="1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50" name="Google Shape;250;p17"/>
          <p:cNvGrpSpPr/>
          <p:nvPr/>
        </p:nvGrpSpPr>
        <p:grpSpPr>
          <a:xfrm>
            <a:off x="1304089" y="4147117"/>
            <a:ext cx="4068011" cy="502702"/>
            <a:chOff x="-1394433" y="3835897"/>
            <a:chExt cx="4067973" cy="502591"/>
          </a:xfrm>
        </p:grpSpPr>
        <p:sp>
          <p:nvSpPr>
            <p:cNvPr id="251" name="Google Shape;251;p17"/>
            <p:cNvSpPr txBox="1"/>
            <p:nvPr/>
          </p:nvSpPr>
          <p:spPr>
            <a:xfrm>
              <a:off x="-1394433" y="3835897"/>
              <a:ext cx="3841634" cy="502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Read from UDP socket into message, getting client’s address (client IP and port)</a:t>
              </a:r>
              <a:endParaRPr/>
            </a:p>
          </p:txBody>
        </p:sp>
        <p:cxnSp>
          <p:nvCxnSpPr>
            <p:cNvPr id="252" name="Google Shape;252;p17"/>
            <p:cNvCxnSpPr/>
            <p:nvPr/>
          </p:nvCxnSpPr>
          <p:spPr>
            <a:xfrm>
              <a:off x="2330643" y="3987004"/>
              <a:ext cx="342897" cy="1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53" name="Google Shape;253;p17"/>
          <p:cNvGrpSpPr/>
          <p:nvPr/>
        </p:nvGrpSpPr>
        <p:grpSpPr>
          <a:xfrm>
            <a:off x="1619318" y="4783930"/>
            <a:ext cx="3841670" cy="307777"/>
            <a:chOff x="-1179917" y="4521468"/>
            <a:chExt cx="3842964" cy="307392"/>
          </a:xfrm>
        </p:grpSpPr>
        <p:sp>
          <p:nvSpPr>
            <p:cNvPr id="254" name="Google Shape;254;p17"/>
            <p:cNvSpPr txBox="1"/>
            <p:nvPr/>
          </p:nvSpPr>
          <p:spPr>
            <a:xfrm>
              <a:off x="-1179917" y="4521468"/>
              <a:ext cx="3842964" cy="307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send upper case string back to this client</a:t>
              </a:r>
              <a:endParaRPr/>
            </a:p>
          </p:txBody>
        </p:sp>
        <p:cxnSp>
          <p:nvCxnSpPr>
            <p:cNvPr id="255" name="Google Shape;255;p17"/>
            <p:cNvCxnSpPr/>
            <p:nvPr/>
          </p:nvCxnSpPr>
          <p:spPr>
            <a:xfrm>
              <a:off x="2217617" y="4675165"/>
              <a:ext cx="356512" cy="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99"/>
                </a:solidFill>
              </a:rPr>
              <a:t>Socket programming </a:t>
            </a:r>
            <a:r>
              <a:rPr lang="en-US" sz="4400">
                <a:solidFill>
                  <a:srgbClr val="C00000"/>
                </a:solidFill>
              </a:rPr>
              <a:t>with TCP</a:t>
            </a:r>
            <a:endParaRPr sz="5400">
              <a:solidFill>
                <a:srgbClr val="C00000"/>
              </a:solidFill>
            </a:endParaRPr>
          </a:p>
        </p:txBody>
      </p:sp>
      <p:sp>
        <p:nvSpPr>
          <p:cNvPr id="262" name="Google Shape;262;p18"/>
          <p:cNvSpPr txBox="1"/>
          <p:nvPr>
            <p:ph idx="1" type="body"/>
          </p:nvPr>
        </p:nvSpPr>
        <p:spPr>
          <a:xfrm>
            <a:off x="661829" y="1455785"/>
            <a:ext cx="5074444" cy="5090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lang="en-US">
                <a:solidFill>
                  <a:srgbClr val="CC0000"/>
                </a:solidFill>
              </a:rPr>
              <a:t>Client must contact server</a:t>
            </a:r>
            <a:endParaRPr/>
          </a:p>
          <a:p>
            <a:pPr indent="-233363" lvl="0" marL="4667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server process must first be running</a:t>
            </a:r>
            <a:endParaRPr/>
          </a:p>
          <a:p>
            <a:pPr indent="-233363" lvl="0" marL="4667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server must have created socket (door) that welcomes client’s contact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lang="en-US">
                <a:solidFill>
                  <a:srgbClr val="CC0000"/>
                </a:solidFill>
              </a:rPr>
              <a:t>Client contacts server by:</a:t>
            </a:r>
            <a:endParaRPr/>
          </a:p>
          <a:p>
            <a:pPr indent="-292100" lvl="0" marL="4667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Creating TCP socket, specifying IP address, port number of server process</a:t>
            </a:r>
            <a:endParaRPr/>
          </a:p>
          <a:p>
            <a:pPr indent="-233363" lvl="0" marL="4667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i="1" lang="en-US" sz="2400">
                <a:solidFill>
                  <a:srgbClr val="CC0000"/>
                </a:solidFill>
              </a:rPr>
              <a:t>when client creates socket:</a:t>
            </a:r>
            <a:r>
              <a:rPr lang="en-US" sz="2400"/>
              <a:t> client TCP establishes connection to server TCP</a:t>
            </a:r>
            <a:endParaRPr sz="2200"/>
          </a:p>
          <a:p>
            <a:pPr indent="-95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3" name="Google Shape;263;p18"/>
          <p:cNvSpPr txBox="1"/>
          <p:nvPr/>
        </p:nvSpPr>
        <p:spPr>
          <a:xfrm>
            <a:off x="5735469" y="1426964"/>
            <a:ext cx="5724832" cy="300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contacted by client,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 TCP creates new socket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server process to communicate with that particular client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allows server to talk with multiple clients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port numbers used to distinguish clients (more in Chap 3)</a:t>
            </a:r>
            <a:endParaRPr b="0" i="1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" name="Google Shape;264;p18"/>
          <p:cNvGrpSpPr/>
          <p:nvPr/>
        </p:nvGrpSpPr>
        <p:grpSpPr>
          <a:xfrm>
            <a:off x="6267640" y="4602113"/>
            <a:ext cx="4660490" cy="1933598"/>
            <a:chOff x="5928853" y="4608645"/>
            <a:chExt cx="4660490" cy="1933598"/>
          </a:xfrm>
        </p:grpSpPr>
        <p:sp>
          <p:nvSpPr>
            <p:cNvPr id="265" name="Google Shape;265;p18"/>
            <p:cNvSpPr/>
            <p:nvPr/>
          </p:nvSpPr>
          <p:spPr>
            <a:xfrm>
              <a:off x="5928853" y="4896465"/>
              <a:ext cx="4660490" cy="1645778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8"/>
            <p:cNvSpPr txBox="1"/>
            <p:nvPr/>
          </p:nvSpPr>
          <p:spPr>
            <a:xfrm>
              <a:off x="6273124" y="5097182"/>
              <a:ext cx="4091065" cy="13508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TCP provides reliable, in-order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byte-stream transfer (“pipe”) 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between client and server processes</a:t>
              </a:r>
              <a:endParaRPr/>
            </a:p>
          </p:txBody>
        </p:sp>
        <p:grpSp>
          <p:nvGrpSpPr>
            <p:cNvPr id="267" name="Google Shape;267;p18"/>
            <p:cNvGrpSpPr/>
            <p:nvPr/>
          </p:nvGrpSpPr>
          <p:grpSpPr>
            <a:xfrm>
              <a:off x="6141246" y="4608645"/>
              <a:ext cx="3452811" cy="550863"/>
              <a:chOff x="-195" y="3766"/>
              <a:chExt cx="2175" cy="347"/>
            </a:xfrm>
          </p:grpSpPr>
          <p:sp>
            <p:nvSpPr>
              <p:cNvPr id="268" name="Google Shape;268;p18"/>
              <p:cNvSpPr/>
              <p:nvPr/>
            </p:nvSpPr>
            <p:spPr>
              <a:xfrm>
                <a:off x="96" y="3825"/>
                <a:ext cx="116" cy="28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269" name="Google Shape;269;p18"/>
              <p:cNvSpPr txBox="1"/>
              <p:nvPr/>
            </p:nvSpPr>
            <p:spPr>
              <a:xfrm>
                <a:off x="-195" y="3766"/>
                <a:ext cx="2175" cy="33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Application viewpoint</a:t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Client/server socket interaction: TCP</a:t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2435141" y="1421154"/>
            <a:ext cx="3107324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(running on hostid)</a:t>
            </a:r>
            <a:endParaRPr/>
          </a:p>
        </p:txBody>
      </p:sp>
      <p:sp>
        <p:nvSpPr>
          <p:cNvPr id="277" name="Google Shape;277;p19"/>
          <p:cNvSpPr txBox="1"/>
          <p:nvPr/>
        </p:nvSpPr>
        <p:spPr>
          <a:xfrm>
            <a:off x="6840313" y="1416392"/>
            <a:ext cx="1101007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/>
          </a:p>
        </p:txBody>
      </p:sp>
      <p:grpSp>
        <p:nvGrpSpPr>
          <p:cNvPr id="278" name="Google Shape;278;p19"/>
          <p:cNvGrpSpPr/>
          <p:nvPr/>
        </p:nvGrpSpPr>
        <p:grpSpPr>
          <a:xfrm>
            <a:off x="1947735" y="1365879"/>
            <a:ext cx="422275" cy="685800"/>
            <a:chOff x="4140" y="429"/>
            <a:chExt cx="1425" cy="2396"/>
          </a:xfrm>
        </p:grpSpPr>
        <p:sp>
          <p:nvSpPr>
            <p:cNvPr id="279" name="Google Shape;279;p1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4204" y="429"/>
              <a:ext cx="1050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4210" y="695"/>
              <a:ext cx="600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4" name="Google Shape;284;p19"/>
            <p:cNvGrpSpPr/>
            <p:nvPr/>
          </p:nvGrpSpPr>
          <p:grpSpPr>
            <a:xfrm>
              <a:off x="4751" y="668"/>
              <a:ext cx="579" cy="144"/>
              <a:chOff x="616" y="2568"/>
              <a:chExt cx="722" cy="138"/>
            </a:xfrm>
          </p:grpSpPr>
          <p:sp>
            <p:nvSpPr>
              <p:cNvPr id="285" name="Google Shape;285;p19"/>
              <p:cNvSpPr/>
              <p:nvPr/>
            </p:nvSpPr>
            <p:spPr>
              <a:xfrm>
                <a:off x="616" y="2568"/>
                <a:ext cx="722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9"/>
              <p:cNvSpPr/>
              <p:nvPr/>
            </p:nvSpPr>
            <p:spPr>
              <a:xfrm>
                <a:off x="630" y="2583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7" name="Google Shape;287;p19"/>
            <p:cNvSpPr/>
            <p:nvPr/>
          </p:nvSpPr>
          <p:spPr>
            <a:xfrm>
              <a:off x="4226" y="1017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8" name="Google Shape;288;p19"/>
            <p:cNvGrpSpPr/>
            <p:nvPr/>
          </p:nvGrpSpPr>
          <p:grpSpPr>
            <a:xfrm>
              <a:off x="4745" y="995"/>
              <a:ext cx="584" cy="133"/>
              <a:chOff x="612" y="2569"/>
              <a:chExt cx="729" cy="138"/>
            </a:xfrm>
          </p:grpSpPr>
          <p:sp>
            <p:nvSpPr>
              <p:cNvPr id="289" name="Google Shape;289;p19"/>
              <p:cNvSpPr/>
              <p:nvPr/>
            </p:nvSpPr>
            <p:spPr>
              <a:xfrm>
                <a:off x="612" y="2569"/>
                <a:ext cx="72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9"/>
              <p:cNvSpPr/>
              <p:nvPr/>
            </p:nvSpPr>
            <p:spPr>
              <a:xfrm>
                <a:off x="625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1" name="Google Shape;291;p19"/>
            <p:cNvSpPr/>
            <p:nvPr/>
          </p:nvSpPr>
          <p:spPr>
            <a:xfrm>
              <a:off x="4215" y="13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4226" y="16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3" name="Google Shape;293;p19"/>
            <p:cNvGrpSpPr/>
            <p:nvPr/>
          </p:nvGrpSpPr>
          <p:grpSpPr>
            <a:xfrm>
              <a:off x="4735" y="1627"/>
              <a:ext cx="584" cy="150"/>
              <a:chOff x="614" y="2568"/>
              <a:chExt cx="727" cy="138"/>
            </a:xfrm>
          </p:grpSpPr>
          <p:sp>
            <p:nvSpPr>
              <p:cNvPr id="294" name="Google Shape;294;p19"/>
              <p:cNvSpPr/>
              <p:nvPr/>
            </p:nvSpPr>
            <p:spPr>
              <a:xfrm>
                <a:off x="614" y="2568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>
                <a:off x="627" y="2583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6" name="Google Shape;296;p1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7" name="Google Shape;297;p19"/>
            <p:cNvGrpSpPr/>
            <p:nvPr/>
          </p:nvGrpSpPr>
          <p:grpSpPr>
            <a:xfrm>
              <a:off x="4740" y="1327"/>
              <a:ext cx="579" cy="139"/>
              <a:chOff x="615" y="2568"/>
              <a:chExt cx="721" cy="139"/>
            </a:xfrm>
          </p:grpSpPr>
          <p:sp>
            <p:nvSpPr>
              <p:cNvPr id="298" name="Google Shape;298;p19"/>
              <p:cNvSpPr/>
              <p:nvPr/>
            </p:nvSpPr>
            <p:spPr>
              <a:xfrm>
                <a:off x="615" y="2568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>
                <a:off x="629" y="2585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0" name="Google Shape;300;p19"/>
            <p:cNvSpPr/>
            <p:nvPr/>
          </p:nvSpPr>
          <p:spPr>
            <a:xfrm>
              <a:off x="5249" y="429"/>
              <a:ext cx="70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4140" y="2675"/>
              <a:ext cx="1200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9"/>
            <p:cNvSpPr/>
            <p:nvPr/>
          </p:nvSpPr>
          <p:spPr>
            <a:xfrm>
              <a:off x="4204" y="2709"/>
              <a:ext cx="1071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9"/>
            <p:cNvSpPr/>
            <p:nvPr/>
          </p:nvSpPr>
          <p:spPr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9"/>
            <p:cNvSpPr/>
            <p:nvPr/>
          </p:nvSpPr>
          <p:spPr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9"/>
            <p:cNvSpPr/>
            <p:nvPr/>
          </p:nvSpPr>
          <p:spPr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9"/>
            <p:cNvSpPr/>
            <p:nvPr/>
          </p:nvSpPr>
          <p:spPr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311;p19"/>
          <p:cNvGrpSpPr/>
          <p:nvPr/>
        </p:nvGrpSpPr>
        <p:grpSpPr>
          <a:xfrm>
            <a:off x="7841666" y="1346443"/>
            <a:ext cx="742950" cy="742950"/>
            <a:chOff x="-44" y="1473"/>
            <a:chExt cx="981" cy="1105"/>
          </a:xfrm>
        </p:grpSpPr>
        <p:pic>
          <p:nvPicPr>
            <p:cNvPr descr="desktop_computer_stylized_medium" id="312" name="Google Shape;312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" name="Google Shape;313;p1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4" name="Google Shape;314;p19"/>
          <p:cNvGrpSpPr/>
          <p:nvPr/>
        </p:nvGrpSpPr>
        <p:grpSpPr>
          <a:xfrm>
            <a:off x="3761300" y="3384960"/>
            <a:ext cx="1931987" cy="930275"/>
            <a:chOff x="827" y="2027"/>
            <a:chExt cx="1217" cy="586"/>
          </a:xfrm>
        </p:grpSpPr>
        <p:sp>
          <p:nvSpPr>
            <p:cNvPr id="315" name="Google Shape;315;p19"/>
            <p:cNvSpPr txBox="1"/>
            <p:nvPr/>
          </p:nvSpPr>
          <p:spPr>
            <a:xfrm>
              <a:off x="827" y="2027"/>
              <a:ext cx="1059" cy="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incoming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connection request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6" name="Google Shape;316;p19"/>
            <p:cNvSpPr txBox="1"/>
            <p:nvPr/>
          </p:nvSpPr>
          <p:spPr>
            <a:xfrm>
              <a:off x="828" y="2283"/>
              <a:ext cx="1216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connectionSocket =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serverSocket.accept()</a:t>
              </a:r>
              <a:endParaRPr b="0" i="0" sz="24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7" name="Google Shape;317;p19"/>
          <p:cNvGrpSpPr/>
          <p:nvPr/>
        </p:nvGrpSpPr>
        <p:grpSpPr>
          <a:xfrm>
            <a:off x="3742250" y="2145123"/>
            <a:ext cx="2357437" cy="1317625"/>
            <a:chOff x="821" y="1246"/>
            <a:chExt cx="1485" cy="830"/>
          </a:xfrm>
        </p:grpSpPr>
        <p:grpSp>
          <p:nvGrpSpPr>
            <p:cNvPr id="318" name="Google Shape;318;p19"/>
            <p:cNvGrpSpPr/>
            <p:nvPr/>
          </p:nvGrpSpPr>
          <p:grpSpPr>
            <a:xfrm>
              <a:off x="821" y="1246"/>
              <a:ext cx="1485" cy="586"/>
              <a:chOff x="329" y="1270"/>
              <a:chExt cx="1485" cy="586"/>
            </a:xfrm>
          </p:grpSpPr>
          <p:sp>
            <p:nvSpPr>
              <p:cNvPr id="319" name="Google Shape;319;p19"/>
              <p:cNvSpPr txBox="1"/>
              <p:nvPr/>
            </p:nvSpPr>
            <p:spPr>
              <a:xfrm>
                <a:off x="329" y="1270"/>
                <a:ext cx="1213" cy="4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create socket,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port=</a:t>
                </a:r>
                <a:r>
                  <a:rPr b="1" i="0" lang="en-US" sz="1400" u="none" cap="none" strike="noStrike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x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, for incoming request: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0" name="Google Shape;320;p19"/>
              <p:cNvSpPr txBox="1"/>
              <p:nvPr/>
            </p:nvSpPr>
            <p:spPr>
              <a:xfrm>
                <a:off x="333" y="1662"/>
                <a:ext cx="1481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serverSocket = socket()</a:t>
                </a:r>
                <a:endParaRPr b="0" i="0" sz="24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321" name="Google Shape;321;p19"/>
            <p:cNvCxnSpPr/>
            <p:nvPr/>
          </p:nvCxnSpPr>
          <p:spPr>
            <a:xfrm>
              <a:off x="1284" y="1872"/>
              <a:ext cx="0" cy="204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22" name="Google Shape;322;p19"/>
          <p:cNvGrpSpPr/>
          <p:nvPr/>
        </p:nvGrpSpPr>
        <p:grpSpPr>
          <a:xfrm>
            <a:off x="7539550" y="3389723"/>
            <a:ext cx="2357437" cy="731837"/>
            <a:chOff x="3333" y="1202"/>
            <a:chExt cx="1485" cy="461"/>
          </a:xfrm>
        </p:grpSpPr>
        <p:sp>
          <p:nvSpPr>
            <p:cNvPr id="323" name="Google Shape;323;p19"/>
            <p:cNvSpPr txBox="1"/>
            <p:nvPr/>
          </p:nvSpPr>
          <p:spPr>
            <a:xfrm>
              <a:off x="3335" y="1202"/>
              <a:ext cx="1468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create socket,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connect to </a:t>
              </a:r>
              <a:r>
                <a:rPr b="1" i="0" lang="en-US" sz="1400" u="none" cap="none" strike="noStrik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hostid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port=</a:t>
              </a:r>
              <a:r>
                <a:rPr b="1" i="0" lang="en-US" sz="1400" u="none" cap="none" strike="noStrik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4" name="Google Shape;324;p19"/>
            <p:cNvSpPr txBox="1"/>
            <p:nvPr/>
          </p:nvSpPr>
          <p:spPr>
            <a:xfrm>
              <a:off x="3333" y="1469"/>
              <a:ext cx="1485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clientSocket = socket()</a:t>
              </a:r>
              <a:endParaRPr b="0" i="0" sz="24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5" name="Google Shape;325;p19"/>
          <p:cNvGrpSpPr/>
          <p:nvPr/>
        </p:nvGrpSpPr>
        <p:grpSpPr>
          <a:xfrm>
            <a:off x="5382137" y="4177123"/>
            <a:ext cx="4062413" cy="1371600"/>
            <a:chOff x="1848" y="2526"/>
            <a:chExt cx="2559" cy="864"/>
          </a:xfrm>
        </p:grpSpPr>
        <p:cxnSp>
          <p:nvCxnSpPr>
            <p:cNvPr id="326" name="Google Shape;326;p19"/>
            <p:cNvCxnSpPr/>
            <p:nvPr/>
          </p:nvCxnSpPr>
          <p:spPr>
            <a:xfrm flipH="1">
              <a:off x="3792" y="2964"/>
              <a:ext cx="6" cy="426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327" name="Google Shape;327;p19"/>
            <p:cNvGrpSpPr/>
            <p:nvPr/>
          </p:nvGrpSpPr>
          <p:grpSpPr>
            <a:xfrm>
              <a:off x="1848" y="2526"/>
              <a:ext cx="2559" cy="516"/>
              <a:chOff x="1848" y="2526"/>
              <a:chExt cx="2559" cy="516"/>
            </a:xfrm>
          </p:grpSpPr>
          <p:sp>
            <p:nvSpPr>
              <p:cNvPr id="328" name="Google Shape;328;p19"/>
              <p:cNvSpPr txBox="1"/>
              <p:nvPr/>
            </p:nvSpPr>
            <p:spPr>
              <a:xfrm>
                <a:off x="3335" y="2673"/>
                <a:ext cx="1072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send request using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clientSocket</a:t>
                </a:r>
                <a:endParaRPr b="0" i="0" sz="24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29" name="Google Shape;329;p19"/>
              <p:cNvCxnSpPr/>
              <p:nvPr/>
            </p:nvCxnSpPr>
            <p:spPr>
              <a:xfrm>
                <a:off x="3792" y="2526"/>
                <a:ext cx="0" cy="20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99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30" name="Google Shape;330;p19"/>
              <p:cNvCxnSpPr/>
              <p:nvPr/>
            </p:nvCxnSpPr>
            <p:spPr>
              <a:xfrm flipH="1">
                <a:off x="1848" y="2790"/>
                <a:ext cx="1518" cy="25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331" name="Google Shape;331;p19"/>
          <p:cNvGrpSpPr/>
          <p:nvPr/>
        </p:nvGrpSpPr>
        <p:grpSpPr>
          <a:xfrm>
            <a:off x="3751775" y="4272373"/>
            <a:ext cx="4097337" cy="1490662"/>
            <a:chOff x="821" y="2586"/>
            <a:chExt cx="2581" cy="939"/>
          </a:xfrm>
        </p:grpSpPr>
        <p:sp>
          <p:nvSpPr>
            <p:cNvPr id="332" name="Google Shape;332;p19"/>
            <p:cNvSpPr txBox="1"/>
            <p:nvPr/>
          </p:nvSpPr>
          <p:spPr>
            <a:xfrm>
              <a:off x="821" y="2787"/>
              <a:ext cx="1013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read request from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connectionSocke</a:t>
              </a:r>
              <a:r>
                <a:rPr b="0" i="0" lang="en-US" sz="1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" name="Google Shape;333;p19"/>
            <p:cNvSpPr txBox="1"/>
            <p:nvPr/>
          </p:nvSpPr>
          <p:spPr>
            <a:xfrm>
              <a:off x="851" y="3195"/>
              <a:ext cx="1013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write reply to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connectionSocket</a:t>
              </a:r>
              <a:endParaRPr b="0" i="0" sz="24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34" name="Google Shape;334;p19"/>
            <p:cNvCxnSpPr/>
            <p:nvPr/>
          </p:nvCxnSpPr>
          <p:spPr>
            <a:xfrm>
              <a:off x="1278" y="2586"/>
              <a:ext cx="0" cy="240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35" name="Google Shape;335;p19"/>
            <p:cNvCxnSpPr/>
            <p:nvPr/>
          </p:nvCxnSpPr>
          <p:spPr>
            <a:xfrm flipH="1">
              <a:off x="1284" y="3090"/>
              <a:ext cx="6" cy="156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36" name="Google Shape;336;p19"/>
            <p:cNvCxnSpPr/>
            <p:nvPr/>
          </p:nvCxnSpPr>
          <p:spPr>
            <a:xfrm>
              <a:off x="1866" y="3306"/>
              <a:ext cx="1536" cy="18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37" name="Google Shape;337;p19"/>
          <p:cNvGrpSpPr/>
          <p:nvPr/>
        </p:nvGrpSpPr>
        <p:grpSpPr>
          <a:xfrm>
            <a:off x="5371025" y="3472273"/>
            <a:ext cx="2200275" cy="587375"/>
            <a:chOff x="3043" y="1189"/>
            <a:chExt cx="1386" cy="370"/>
          </a:xfrm>
        </p:grpSpPr>
        <p:cxnSp>
          <p:nvCxnSpPr>
            <p:cNvPr id="338" name="Google Shape;338;p19"/>
            <p:cNvCxnSpPr/>
            <p:nvPr/>
          </p:nvCxnSpPr>
          <p:spPr>
            <a:xfrm>
              <a:off x="3043" y="1372"/>
              <a:ext cx="1386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dash"/>
              <a:round/>
              <a:headEnd len="med" w="med" type="triangle"/>
              <a:tailEnd len="med" w="med" type="triangle"/>
            </a:ln>
          </p:spPr>
        </p:cxnSp>
        <p:sp>
          <p:nvSpPr>
            <p:cNvPr id="339" name="Google Shape;339;p19"/>
            <p:cNvSpPr txBox="1"/>
            <p:nvPr/>
          </p:nvSpPr>
          <p:spPr>
            <a:xfrm>
              <a:off x="3106" y="1189"/>
              <a:ext cx="1204" cy="3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TCP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connection setup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0" name="Google Shape;340;p19"/>
          <p:cNvGrpSpPr/>
          <p:nvPr/>
        </p:nvGrpSpPr>
        <p:grpSpPr>
          <a:xfrm>
            <a:off x="3702562" y="4620035"/>
            <a:ext cx="5457825" cy="1954213"/>
            <a:chOff x="832" y="2713"/>
            <a:chExt cx="3438" cy="1231"/>
          </a:xfrm>
        </p:grpSpPr>
        <p:sp>
          <p:nvSpPr>
            <p:cNvPr id="341" name="Google Shape;341;p19"/>
            <p:cNvSpPr txBox="1"/>
            <p:nvPr/>
          </p:nvSpPr>
          <p:spPr>
            <a:xfrm>
              <a:off x="867" y="3512"/>
              <a:ext cx="1013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close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connectionSocket</a:t>
              </a:r>
              <a:endParaRPr b="0" i="0" sz="24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42" name="Google Shape;342;p19"/>
            <p:cNvCxnSpPr/>
            <p:nvPr/>
          </p:nvCxnSpPr>
          <p:spPr>
            <a:xfrm>
              <a:off x="1318" y="3437"/>
              <a:ext cx="0" cy="204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43" name="Google Shape;343;p19"/>
            <p:cNvSpPr/>
            <p:nvPr/>
          </p:nvSpPr>
          <p:spPr>
            <a:xfrm>
              <a:off x="832" y="2713"/>
              <a:ext cx="492" cy="306"/>
            </a:xfrm>
            <a:custGeom>
              <a:rect b="b" l="l" r="r" t="t"/>
              <a:pathLst>
                <a:path extrusionOk="0" h="2112" w="492">
                  <a:moveTo>
                    <a:pt x="492" y="1968"/>
                  </a:moveTo>
                  <a:lnTo>
                    <a:pt x="492" y="2112"/>
                  </a:lnTo>
                  <a:lnTo>
                    <a:pt x="0" y="2112"/>
                  </a:lnTo>
                  <a:lnTo>
                    <a:pt x="0" y="0"/>
                  </a:lnTo>
                  <a:lnTo>
                    <a:pt x="402" y="0"/>
                  </a:lnTo>
                </a:path>
              </a:pathLst>
            </a:cu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4" name="Google Shape;344;p19"/>
            <p:cNvGrpSpPr/>
            <p:nvPr/>
          </p:nvGrpSpPr>
          <p:grpSpPr>
            <a:xfrm>
              <a:off x="3393" y="3248"/>
              <a:ext cx="877" cy="696"/>
              <a:chOff x="3365" y="3375"/>
              <a:chExt cx="877" cy="696"/>
            </a:xfrm>
          </p:grpSpPr>
          <p:sp>
            <p:nvSpPr>
              <p:cNvPr id="345" name="Google Shape;345;p19"/>
              <p:cNvSpPr txBox="1"/>
              <p:nvPr/>
            </p:nvSpPr>
            <p:spPr>
              <a:xfrm>
                <a:off x="3365" y="3375"/>
                <a:ext cx="877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read reply from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clientSocket</a:t>
                </a:r>
                <a:endParaRPr b="0" i="0" sz="24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6" name="Google Shape;346;p19"/>
              <p:cNvSpPr txBox="1"/>
              <p:nvPr/>
            </p:nvSpPr>
            <p:spPr>
              <a:xfrm>
                <a:off x="3389" y="3741"/>
                <a:ext cx="730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close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clientSocket</a:t>
                </a:r>
                <a:endParaRPr b="0" i="0" sz="2400" u="none" cap="none" strike="noStrik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47" name="Google Shape;347;p19"/>
              <p:cNvCxnSpPr/>
              <p:nvPr/>
            </p:nvCxnSpPr>
            <p:spPr>
              <a:xfrm>
                <a:off x="3816" y="3690"/>
                <a:ext cx="0" cy="20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99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99"/>
                </a:solidFill>
              </a:rPr>
              <a:t>Example app: TCP client</a:t>
            </a:r>
            <a:endParaRPr sz="5400">
              <a:solidFill>
                <a:srgbClr val="000099"/>
              </a:solidFill>
            </a:endParaRPr>
          </a:p>
        </p:txBody>
      </p:sp>
      <p:sp>
        <p:nvSpPr>
          <p:cNvPr id="354" name="Google Shape;354;p20"/>
          <p:cNvSpPr txBox="1"/>
          <p:nvPr/>
        </p:nvSpPr>
        <p:spPr>
          <a:xfrm>
            <a:off x="5153332" y="2021516"/>
            <a:ext cx="5894388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socket import *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serverName = ’servername’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serverPort = 12000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clientSocket = socket(AF_INET, SOCK_STREAM)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clientSocket.connect((serverName,serverPort))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sentence = raw_input(‘Input lowercase sentence:’)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clientSocket.send(sentence.encode())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modifiedSentence = clientSocket.recv(1024)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 (‘From Server:’, modifiedSentence.decode())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clientSocket.close()</a:t>
            </a:r>
            <a:endParaRPr/>
          </a:p>
        </p:txBody>
      </p:sp>
      <p:sp>
        <p:nvSpPr>
          <p:cNvPr id="355" name="Google Shape;355;p20"/>
          <p:cNvSpPr txBox="1"/>
          <p:nvPr/>
        </p:nvSpPr>
        <p:spPr>
          <a:xfrm>
            <a:off x="5166032" y="1538916"/>
            <a:ext cx="270668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Python TCPClient</a:t>
            </a:r>
            <a:endParaRPr/>
          </a:p>
        </p:txBody>
      </p:sp>
      <p:grpSp>
        <p:nvGrpSpPr>
          <p:cNvPr id="356" name="Google Shape;356;p20"/>
          <p:cNvGrpSpPr/>
          <p:nvPr/>
        </p:nvGrpSpPr>
        <p:grpSpPr>
          <a:xfrm>
            <a:off x="1656643" y="3166108"/>
            <a:ext cx="3481226" cy="584775"/>
            <a:chOff x="-792500" y="2796587"/>
            <a:chExt cx="3481672" cy="584044"/>
          </a:xfrm>
        </p:grpSpPr>
        <p:sp>
          <p:nvSpPr>
            <p:cNvPr id="357" name="Google Shape;357;p20"/>
            <p:cNvSpPr txBox="1"/>
            <p:nvPr/>
          </p:nvSpPr>
          <p:spPr>
            <a:xfrm>
              <a:off x="-792500" y="2796587"/>
              <a:ext cx="2888177" cy="5840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create TCP socket for server, remote port 12000</a:t>
              </a:r>
              <a:endParaRPr/>
            </a:p>
          </p:txBody>
        </p:sp>
        <p:cxnSp>
          <p:nvCxnSpPr>
            <p:cNvPr id="358" name="Google Shape;358;p20"/>
            <p:cNvCxnSpPr/>
            <p:nvPr/>
          </p:nvCxnSpPr>
          <p:spPr>
            <a:xfrm>
              <a:off x="1961643" y="2959715"/>
              <a:ext cx="727529" cy="2721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59" name="Google Shape;359;p20"/>
          <p:cNvSpPr/>
          <p:nvPr/>
        </p:nvSpPr>
        <p:spPr>
          <a:xfrm>
            <a:off x="8760541" y="2993923"/>
            <a:ext cx="2133599" cy="589517"/>
          </a:xfrm>
          <a:prstGeom prst="ellipse">
            <a:avLst/>
          </a:prstGeom>
          <a:noFill/>
          <a:ln cap="flat" cmpd="sng" w="19050">
            <a:solidFill>
              <a:srgbClr val="000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60" name="Google Shape;360;p20"/>
          <p:cNvGrpSpPr/>
          <p:nvPr/>
        </p:nvGrpSpPr>
        <p:grpSpPr>
          <a:xfrm>
            <a:off x="970933" y="4616284"/>
            <a:ext cx="4182811" cy="338554"/>
            <a:chOff x="-1495096" y="3006031"/>
            <a:chExt cx="4184250" cy="337708"/>
          </a:xfrm>
        </p:grpSpPr>
        <p:sp>
          <p:nvSpPr>
            <p:cNvPr id="361" name="Google Shape;361;p20"/>
            <p:cNvSpPr txBox="1"/>
            <p:nvPr/>
          </p:nvSpPr>
          <p:spPr>
            <a:xfrm>
              <a:off x="-1495096" y="3006031"/>
              <a:ext cx="3779615" cy="337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No need to attach server name, port </a:t>
              </a:r>
              <a:endParaRPr/>
            </a:p>
          </p:txBody>
        </p:sp>
        <p:cxnSp>
          <p:nvCxnSpPr>
            <p:cNvPr id="362" name="Google Shape;362;p20"/>
            <p:cNvCxnSpPr/>
            <p:nvPr/>
          </p:nvCxnSpPr>
          <p:spPr>
            <a:xfrm>
              <a:off x="1961625" y="3165929"/>
              <a:ext cx="727529" cy="2721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99"/>
                </a:solidFill>
              </a:rPr>
              <a:t>Example app: TCP server</a:t>
            </a:r>
            <a:endParaRPr sz="5400">
              <a:solidFill>
                <a:srgbClr val="000099"/>
              </a:solidFill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5184060" y="1922450"/>
            <a:ext cx="6292850" cy="5200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from socket import *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serverPort = 12000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serverSocket = socket(AF_INET,SOCK_STREAM)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serverSocket.bind((‘’,serverPort))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serverSocket.listen(1)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 ‘The server is ready to receive’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 True: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connectionSocket, addr = serverSocket.accept()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sentence = connectionSocket.recv(1024).decode()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capitalizedSentence = sentence.upper()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connectionSocket.send(capitalizedSentence.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encode())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connectionSocket.close()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5184060" y="1439850"/>
            <a:ext cx="2827338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Python TCPServer</a:t>
            </a:r>
            <a:endParaRPr b="0" i="1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" name="Google Shape;371;p21"/>
          <p:cNvGrpSpPr/>
          <p:nvPr/>
        </p:nvGrpSpPr>
        <p:grpSpPr>
          <a:xfrm>
            <a:off x="1724351" y="2556715"/>
            <a:ext cx="3374285" cy="338554"/>
            <a:chOff x="-749058" y="2414108"/>
            <a:chExt cx="3374330" cy="338257"/>
          </a:xfrm>
        </p:grpSpPr>
        <p:sp>
          <p:nvSpPr>
            <p:cNvPr id="372" name="Google Shape;372;p21"/>
            <p:cNvSpPr txBox="1"/>
            <p:nvPr/>
          </p:nvSpPr>
          <p:spPr>
            <a:xfrm>
              <a:off x="-749058" y="2414108"/>
              <a:ext cx="3062331" cy="3382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create TCP welcoming socket</a:t>
              </a:r>
              <a:endParaRPr/>
            </a:p>
          </p:txBody>
        </p:sp>
        <p:cxnSp>
          <p:nvCxnSpPr>
            <p:cNvPr id="373" name="Google Shape;373;p21"/>
            <p:cNvCxnSpPr/>
            <p:nvPr/>
          </p:nvCxnSpPr>
          <p:spPr>
            <a:xfrm>
              <a:off x="2136730" y="2597150"/>
              <a:ext cx="488542" cy="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74" name="Google Shape;374;p21"/>
          <p:cNvGrpSpPr/>
          <p:nvPr/>
        </p:nvGrpSpPr>
        <p:grpSpPr>
          <a:xfrm>
            <a:off x="2080634" y="3063061"/>
            <a:ext cx="3036870" cy="584775"/>
            <a:chOff x="-1667664" y="2908339"/>
            <a:chExt cx="4371910" cy="584044"/>
          </a:xfrm>
        </p:grpSpPr>
        <p:sp>
          <p:nvSpPr>
            <p:cNvPr id="375" name="Google Shape;375;p21"/>
            <p:cNvSpPr txBox="1"/>
            <p:nvPr/>
          </p:nvSpPr>
          <p:spPr>
            <a:xfrm>
              <a:off x="-1667664" y="2908339"/>
              <a:ext cx="4139198" cy="5840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server begins listening for  incoming TCP requests</a:t>
              </a:r>
              <a:endParaRPr/>
            </a:p>
          </p:txBody>
        </p:sp>
        <p:cxnSp>
          <p:nvCxnSpPr>
            <p:cNvPr id="376" name="Google Shape;376;p21"/>
            <p:cNvCxnSpPr/>
            <p:nvPr/>
          </p:nvCxnSpPr>
          <p:spPr>
            <a:xfrm>
              <a:off x="1967825" y="3217286"/>
              <a:ext cx="736421" cy="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77" name="Google Shape;377;p21"/>
          <p:cNvGrpSpPr/>
          <p:nvPr/>
        </p:nvGrpSpPr>
        <p:grpSpPr>
          <a:xfrm>
            <a:off x="3328500" y="3824136"/>
            <a:ext cx="1858624" cy="297517"/>
            <a:chOff x="905004" y="3819988"/>
            <a:chExt cx="1859872" cy="298292"/>
          </a:xfrm>
        </p:grpSpPr>
        <p:sp>
          <p:nvSpPr>
            <p:cNvPr id="378" name="Google Shape;378;p21"/>
            <p:cNvSpPr txBox="1"/>
            <p:nvPr/>
          </p:nvSpPr>
          <p:spPr>
            <a:xfrm>
              <a:off x="905004" y="3819988"/>
              <a:ext cx="1859872" cy="298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loop forever</a:t>
              </a:r>
              <a:endParaRPr/>
            </a:p>
          </p:txBody>
        </p:sp>
        <p:cxnSp>
          <p:nvCxnSpPr>
            <p:cNvPr id="379" name="Google Shape;379;p21"/>
            <p:cNvCxnSpPr/>
            <p:nvPr/>
          </p:nvCxnSpPr>
          <p:spPr>
            <a:xfrm>
              <a:off x="2187464" y="3964782"/>
              <a:ext cx="523192" cy="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80" name="Google Shape;380;p21"/>
          <p:cNvGrpSpPr/>
          <p:nvPr/>
        </p:nvGrpSpPr>
        <p:grpSpPr>
          <a:xfrm>
            <a:off x="906051" y="4140995"/>
            <a:ext cx="4273089" cy="502702"/>
            <a:chOff x="-812680" y="4044670"/>
            <a:chExt cx="3634217" cy="502843"/>
          </a:xfrm>
        </p:grpSpPr>
        <p:sp>
          <p:nvSpPr>
            <p:cNvPr id="381" name="Google Shape;381;p21"/>
            <p:cNvSpPr txBox="1"/>
            <p:nvPr/>
          </p:nvSpPr>
          <p:spPr>
            <a:xfrm>
              <a:off x="-812680" y="4044670"/>
              <a:ext cx="3634217" cy="502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server waits on accept() for incoming requests, new socket created on return</a:t>
              </a:r>
              <a:endParaRPr/>
            </a:p>
          </p:txBody>
        </p:sp>
        <p:cxnSp>
          <p:nvCxnSpPr>
            <p:cNvPr id="382" name="Google Shape;382;p21"/>
            <p:cNvCxnSpPr/>
            <p:nvPr/>
          </p:nvCxnSpPr>
          <p:spPr>
            <a:xfrm>
              <a:off x="2337575" y="4188416"/>
              <a:ext cx="435213" cy="1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83" name="Google Shape;383;p21"/>
          <p:cNvGrpSpPr/>
          <p:nvPr/>
        </p:nvGrpSpPr>
        <p:grpSpPr>
          <a:xfrm>
            <a:off x="1951002" y="4771416"/>
            <a:ext cx="3154397" cy="584775"/>
            <a:chOff x="-463314" y="4140337"/>
            <a:chExt cx="3153124" cy="585085"/>
          </a:xfrm>
        </p:grpSpPr>
        <p:sp>
          <p:nvSpPr>
            <p:cNvPr id="384" name="Google Shape;384;p21"/>
            <p:cNvSpPr txBox="1"/>
            <p:nvPr/>
          </p:nvSpPr>
          <p:spPr>
            <a:xfrm>
              <a:off x="-463314" y="4140337"/>
              <a:ext cx="2746043" cy="5850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read bytes from socket (but not address as in UDP)</a:t>
              </a:r>
              <a:endParaRPr/>
            </a:p>
          </p:txBody>
        </p:sp>
        <p:cxnSp>
          <p:nvCxnSpPr>
            <p:cNvPr id="385" name="Google Shape;385;p21"/>
            <p:cNvCxnSpPr/>
            <p:nvPr/>
          </p:nvCxnSpPr>
          <p:spPr>
            <a:xfrm>
              <a:off x="2194710" y="4288764"/>
              <a:ext cx="495100" cy="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86" name="Google Shape;386;p21"/>
          <p:cNvGrpSpPr/>
          <p:nvPr/>
        </p:nvGrpSpPr>
        <p:grpSpPr>
          <a:xfrm>
            <a:off x="1026276" y="5902558"/>
            <a:ext cx="4079124" cy="584775"/>
            <a:chOff x="-1411416" y="4686923"/>
            <a:chExt cx="4079374" cy="585153"/>
          </a:xfrm>
        </p:grpSpPr>
        <p:sp>
          <p:nvSpPr>
            <p:cNvPr id="387" name="Google Shape;387;p21"/>
            <p:cNvSpPr txBox="1"/>
            <p:nvPr/>
          </p:nvSpPr>
          <p:spPr>
            <a:xfrm>
              <a:off x="-1411416" y="4686923"/>
              <a:ext cx="3902071" cy="5851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close connection to this client (but </a:t>
              </a:r>
              <a:r>
                <a:rPr b="0" i="1" lang="en-US" sz="16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not</a:t>
              </a:r>
              <a:r>
                <a:rPr b="0" i="0" lang="en-US" sz="16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 welcoming socket)</a:t>
              </a:r>
              <a:endParaRPr/>
            </a:p>
          </p:txBody>
        </p:sp>
        <p:cxnSp>
          <p:nvCxnSpPr>
            <p:cNvPr id="388" name="Google Shape;388;p21"/>
            <p:cNvCxnSpPr/>
            <p:nvPr/>
          </p:nvCxnSpPr>
          <p:spPr>
            <a:xfrm>
              <a:off x="2172628" y="4843734"/>
              <a:ext cx="495330" cy="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99"/>
                </a:solidFill>
              </a:rPr>
              <a:t>Chapter 2: Summary</a:t>
            </a:r>
            <a:endParaRPr sz="5400">
              <a:solidFill>
                <a:srgbClr val="000099"/>
              </a:solidFill>
            </a:endParaRPr>
          </a:p>
        </p:txBody>
      </p:sp>
      <p:sp>
        <p:nvSpPr>
          <p:cNvPr id="395" name="Google Shape;395;p22"/>
          <p:cNvSpPr txBox="1"/>
          <p:nvPr>
            <p:ph idx="1" type="body"/>
          </p:nvPr>
        </p:nvSpPr>
        <p:spPr>
          <a:xfrm>
            <a:off x="838200" y="2094161"/>
            <a:ext cx="5710084" cy="4194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application architectures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client-server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P2P</a:t>
            </a:r>
            <a:endParaRPr/>
          </a:p>
          <a:p>
            <a:pPr indent="-28733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application service requirements:</a:t>
            </a:r>
            <a:endParaRPr/>
          </a:p>
          <a:p>
            <a:pPr indent="-228600" lvl="1" marL="6826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reliability, bandwidth, delay</a:t>
            </a:r>
            <a:endParaRPr/>
          </a:p>
          <a:p>
            <a:pPr indent="-28733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Internet transport service model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connection-oriented, reliable: TCP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unreliable, datagrams: UDP</a:t>
            </a:r>
            <a:endParaRPr sz="2000"/>
          </a:p>
        </p:txBody>
      </p:sp>
      <p:sp>
        <p:nvSpPr>
          <p:cNvPr id="396" name="Google Shape;396;p22"/>
          <p:cNvSpPr txBox="1"/>
          <p:nvPr/>
        </p:nvSpPr>
        <p:spPr>
          <a:xfrm>
            <a:off x="704849" y="1392072"/>
            <a:ext cx="10208957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our study of network application layer is now complete!</a:t>
            </a:r>
            <a:endParaRPr/>
          </a:p>
        </p:txBody>
      </p:sp>
      <p:sp>
        <p:nvSpPr>
          <p:cNvPr id="397" name="Google Shape;397;p22"/>
          <p:cNvSpPr/>
          <p:nvPr/>
        </p:nvSpPr>
        <p:spPr>
          <a:xfrm>
            <a:off x="7310006" y="2054984"/>
            <a:ext cx="4652810" cy="3676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specific protocols: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SMTP, IMAP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P2P: BitTorrent</a:t>
            </a:r>
            <a:endParaRPr/>
          </a:p>
          <a:p>
            <a:pPr indent="-287338" lvl="0" marL="2873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streaming, CDNs</a:t>
            </a:r>
            <a:endParaRPr/>
          </a:p>
          <a:p>
            <a:pPr indent="-287338" lvl="0" marL="2873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socket programming: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TCP, UDP sockets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99"/>
                </a:solidFill>
              </a:rPr>
              <a:t>Chapter 2: Summary</a:t>
            </a:r>
            <a:endParaRPr sz="5400">
              <a:solidFill>
                <a:srgbClr val="000099"/>
              </a:solidFill>
            </a:endParaRPr>
          </a:p>
        </p:txBody>
      </p:sp>
      <p:sp>
        <p:nvSpPr>
          <p:cNvPr id="404" name="Google Shape;404;p23"/>
          <p:cNvSpPr txBox="1"/>
          <p:nvPr/>
        </p:nvSpPr>
        <p:spPr>
          <a:xfrm>
            <a:off x="704849" y="1392072"/>
            <a:ext cx="10208957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Most importantly: learned about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protocols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405" name="Google Shape;405;p23"/>
          <p:cNvSpPr txBox="1"/>
          <p:nvPr>
            <p:ph idx="1" type="body"/>
          </p:nvPr>
        </p:nvSpPr>
        <p:spPr>
          <a:xfrm>
            <a:off x="838200" y="2069589"/>
            <a:ext cx="569533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typical request/reply message exchange: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client requests info or service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server responds with data, status code</a:t>
            </a:r>
            <a:endParaRPr/>
          </a:p>
          <a:p>
            <a:pPr indent="-28733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message formats: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i="1" lang="en-US">
                <a:solidFill>
                  <a:srgbClr val="000090"/>
                </a:solidFill>
              </a:rPr>
              <a:t>headers</a:t>
            </a:r>
            <a:r>
              <a:rPr lang="en-US"/>
              <a:t>: fields giving info about data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i="1" lang="en-US">
                <a:solidFill>
                  <a:srgbClr val="000090"/>
                </a:solidFill>
              </a:rPr>
              <a:t>data: </a:t>
            </a:r>
            <a:r>
              <a:rPr lang="en-US"/>
              <a:t>info(payload)  being communicated</a:t>
            </a:r>
            <a:endParaRPr/>
          </a:p>
        </p:txBody>
      </p:sp>
      <p:sp>
        <p:nvSpPr>
          <p:cNvPr id="406" name="Google Shape;406;p23"/>
          <p:cNvSpPr/>
          <p:nvPr/>
        </p:nvSpPr>
        <p:spPr>
          <a:xfrm>
            <a:off x="6832343" y="2015039"/>
            <a:ext cx="4654808" cy="3676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7013" lvl="0" marL="2270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important themes:</a:t>
            </a:r>
            <a:r>
              <a:rPr b="0" i="0" lang="en-US" sz="24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19075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centralized vs. decentralized </a:t>
            </a:r>
            <a:endParaRPr/>
          </a:p>
          <a:p>
            <a:pPr indent="-219075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stateless vs. stateful</a:t>
            </a:r>
            <a:endParaRPr/>
          </a:p>
          <a:p>
            <a:pPr indent="-219075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/>
          </a:p>
          <a:p>
            <a:pPr indent="-219075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reliable vs. unreliable message transfer </a:t>
            </a:r>
            <a:endParaRPr/>
          </a:p>
          <a:p>
            <a:pPr indent="-219075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“complexity at network edge”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oogle Shape;412;p24"/>
          <p:cNvGrpSpPr/>
          <p:nvPr/>
        </p:nvGrpSpPr>
        <p:grpSpPr>
          <a:xfrm>
            <a:off x="7421880" y="45382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413" name="Google Shape;413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24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415" name="Google Shape;415;p24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416" name="Google Shape;416;p2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7" name="Google Shape;417;p24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8" name="Google Shape;418;p24"/>
          <p:cNvGrpSpPr/>
          <p:nvPr/>
        </p:nvGrpSpPr>
        <p:grpSpPr>
          <a:xfrm>
            <a:off x="5108787" y="6105145"/>
            <a:ext cx="6892924" cy="461665"/>
            <a:chOff x="5108787" y="6105145"/>
            <a:chExt cx="6892924" cy="461665"/>
          </a:xfrm>
        </p:grpSpPr>
        <p:sp>
          <p:nvSpPr>
            <p:cNvPr id="419" name="Google Shape;419;p24"/>
            <p:cNvSpPr txBox="1"/>
            <p:nvPr/>
          </p:nvSpPr>
          <p:spPr>
            <a:xfrm>
              <a:off x="5108787" y="6105145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2020, J.F. Kurose, All Rights Reserved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1996-2020, J.F. Kurose, K.W. Ross, All Rights Reserved</a:t>
              </a:r>
              <a:endParaRPr/>
            </a:p>
          </p:txBody>
        </p:sp>
        <p:pic>
          <p:nvPicPr>
            <p:cNvPr id="420" name="Google Shape;420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028246" y="6178318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1" name="Google Shape;421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56647" y="6354452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2" name="Google Shape;422;p24"/>
          <p:cNvSpPr txBox="1"/>
          <p:nvPr/>
        </p:nvSpPr>
        <p:spPr>
          <a:xfrm>
            <a:off x="724908" y="518072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Application Layer</a:t>
            </a:r>
            <a:endParaRPr b="1" i="0" sz="60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4"/>
          <p:cNvSpPr txBox="1"/>
          <p:nvPr/>
        </p:nvSpPr>
        <p:spPr>
          <a:xfrm>
            <a:off x="809241" y="1870563"/>
            <a:ext cx="703205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663" lvl="0" marL="3476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Web and HTTP </a:t>
            </a:r>
            <a:endParaRPr b="0" i="0" sz="2400" u="none" cap="none" strike="noStrik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The Domain Name System: 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video streaming, CDNs</a:t>
            </a:r>
            <a:endParaRPr/>
          </a:p>
          <a:p>
            <a:pPr indent="-34766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1984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