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55" name="Google Shape;55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6" name="Google Shape;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8" name="Google Shape;58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59" name="Google Shape;5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60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" name="Google Shape;61;p11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b="0" i="0" sz="24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Domain Name System</a:t>
            </a:r>
            <a:endParaRPr sz="4400"/>
          </a:p>
        </p:txBody>
      </p:sp>
      <p:sp>
        <p:nvSpPr>
          <p:cNvPr id="68" name="Google Shape;68;p12"/>
          <p:cNvSpPr txBox="1"/>
          <p:nvPr/>
        </p:nvSpPr>
        <p:spPr>
          <a:xfrm>
            <a:off x="753721" y="1340962"/>
            <a:ext cx="490197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people: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many identifiers: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SSN, name, passport #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Internet hosts, routers: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 (32 bit) - used for addressing datagrams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“name”, e.g., cs.umass.edu - used by humans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to map between IP address and name, and vice versa ?</a:t>
            </a:r>
            <a:endParaRPr/>
          </a:p>
        </p:txBody>
      </p:sp>
      <p:sp>
        <p:nvSpPr>
          <p:cNvPr id="69" name="Google Shape;69;p12"/>
          <p:cNvSpPr txBox="1"/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Domain Name System (DNS):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implemented in hierarchy of many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name servers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application-layer protocol: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hosts, DNS servers communicate to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resolve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 (address/name translation)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Internet function,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implemented as application-layer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complexity at network’s “edge”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services, structure</a:t>
            </a:r>
            <a:endParaRPr sz="4400"/>
          </a:p>
        </p:txBody>
      </p:sp>
      <p:sp>
        <p:nvSpPr>
          <p:cNvPr id="76" name="Google Shape;76;p13"/>
          <p:cNvSpPr txBox="1"/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Why not centralize DNS?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volume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distant centralized database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731837" y="1300163"/>
            <a:ext cx="580866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services: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hostname-to-IP-address translation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aliasing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canonical, alias names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 aliasing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distribution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replicated Web servers: many IP addresses correspond to one name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1788" lvl="0" marL="346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doesn‘t scale!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Comcast DNS servers alone: 600B DNS queries/day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 DNS servers alone: 2.2T DNS queries/day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85" name="Google Shape;85;p14"/>
          <p:cNvSpPr txBox="1"/>
          <p:nvPr/>
        </p:nvSpPr>
        <p:spPr>
          <a:xfrm>
            <a:off x="731837" y="1300163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716718" y="228108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16717" y="443230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750584" y="5871634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a distributed, hierarchical </a:t>
            </a:r>
            <a:r>
              <a:rPr lang="en-US"/>
              <a:t>d</a:t>
            </a:r>
            <a:r>
              <a:rPr lang="en-US" sz="4400"/>
              <a:t>atabase</a:t>
            </a:r>
            <a:endParaRPr sz="4400"/>
          </a:p>
        </p:txBody>
      </p:sp>
      <p:sp>
        <p:nvSpPr>
          <p:cNvPr id="96" name="Google Shape;96;p15"/>
          <p:cNvSpPr txBox="1"/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 wants IP address for 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; 1</a:t>
            </a:r>
            <a:r>
              <a:rPr b="0" baseline="3000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approximation: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root server to find .com 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.com DNS server to get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 to get 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.com DNS servers</a:t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.org DNS servers</a:t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.edu DNS servers</a:t>
              </a:r>
              <a:endParaRPr/>
            </a:p>
          </p:txBody>
        </p:sp>
        <p:cxnSp>
          <p:nvCxnSpPr>
            <p:cNvPr id="101" name="Google Shape;101;p15"/>
            <p:cNvCxnSpPr/>
            <p:nvPr/>
          </p:nvCxnSpPr>
          <p:spPr>
            <a:xfrm flipH="1">
              <a:off x="2538547" y="1831861"/>
              <a:ext cx="2075302" cy="60110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15"/>
            <p:cNvCxnSpPr/>
            <p:nvPr/>
          </p:nvCxnSpPr>
          <p:spPr>
            <a:xfrm>
              <a:off x="4901588" y="1815164"/>
              <a:ext cx="0" cy="61640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5257908" y="1831861"/>
              <a:ext cx="2146864" cy="6011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" name="Google Shape;104;p15"/>
            <p:cNvSpPr txBox="1"/>
            <p:nvPr/>
          </p:nvSpPr>
          <p:spPr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Top Level Domain</a:t>
              </a:r>
              <a:endParaRPr/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/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11" name="Google Shape;111;p15"/>
            <p:cNvSpPr txBox="1"/>
            <p:nvPr/>
          </p:nvSpPr>
          <p:spPr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nyu.edu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13" name="Google Shape;113;p15"/>
            <p:cNvCxnSpPr/>
            <p:nvPr/>
          </p:nvCxnSpPr>
          <p:spPr>
            <a:xfrm flipH="1">
              <a:off x="6774130" y="2766905"/>
              <a:ext cx="559079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" name="Google Shape;114;p15"/>
            <p:cNvCxnSpPr/>
            <p:nvPr/>
          </p:nvCxnSpPr>
          <p:spPr>
            <a:xfrm>
              <a:off x="7762582" y="2766905"/>
              <a:ext cx="500935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" name="Google Shape;115;p15"/>
            <p:cNvSpPr txBox="1"/>
            <p:nvPr/>
          </p:nvSpPr>
          <p:spPr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17" name="Google Shape;117;p15"/>
            <p:cNvCxnSpPr/>
            <p:nvPr/>
          </p:nvCxnSpPr>
          <p:spPr>
            <a:xfrm flipH="1">
              <a:off x="1666383" y="2773863"/>
              <a:ext cx="369738" cy="41325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5"/>
            <p:cNvCxnSpPr/>
            <p:nvPr/>
          </p:nvCxnSpPr>
          <p:spPr>
            <a:xfrm>
              <a:off x="2538547" y="2773863"/>
              <a:ext cx="429373" cy="4257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" name="Google Shape;119;p15"/>
            <p:cNvSpPr txBox="1"/>
            <p:nvPr/>
          </p:nvSpPr>
          <p:spPr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pbs.org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20" name="Google Shape;120;p15"/>
            <p:cNvCxnSpPr/>
            <p:nvPr/>
          </p:nvCxnSpPr>
          <p:spPr>
            <a:xfrm>
              <a:off x="4904570" y="2766905"/>
              <a:ext cx="0" cy="41743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" name="Google Shape;121;p15"/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Authoritative</a:t>
              </a: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464" y="1529543"/>
            <a:ext cx="7122656" cy="21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34" name="Google Shape;134;p16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00" y="2856025"/>
            <a:ext cx="62611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DNSSEC – provides security (authentication, message integrity)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2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50" name="Google Shape;150;p18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authoritative DNS servers: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3122476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8"/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154" name="Google Shape;154;p18"/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5" name="Google Shape;155;p18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56" name="Google Shape;156;p18"/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157" name="Google Shape;157;p18"/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8" name="Google Shape;158;p18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Local DNS name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65" name="Google Shape;165;p19"/>
          <p:cNvSpPr txBox="1"/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host makes DNS query, it is sent to its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returns reply, answering: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its local cache of recent name-to-address translation pairs (possibly out of date!)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forwarding request into DNS hierarchy for resolution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 b="0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doesn’t strictly belong to hierarchy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iterated query</a:t>
            </a:r>
            <a:endParaRPr sz="4400"/>
          </a:p>
        </p:txBody>
      </p:sp>
      <p:sp>
        <p:nvSpPr>
          <p:cNvPr id="172" name="Google Shape;172;p20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0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0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0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0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0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3" name="Google Shape;183;p20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4" name="Google Shape;184;p20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20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199" name="Google Shape;19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202" name="Google Shape;20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5" name="Google Shape;205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20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11" name="Google Shape;211;p20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3" name="Google Shape;213;p20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" name="Google Shape;214;p20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15" name="Google Shape;215;p20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7" name="Google Shape;217;p20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" name="Google Shape;219;p20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20" name="Google Shape;220;p20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" name="Google Shape;222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" name="Google Shape;223;p20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24" name="Google Shape;224;p20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6" name="Google Shape;226;p20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20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8" name="Google Shape;238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20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44" name="Google Shape;244;p20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20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20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" name="Google Shape;250;p20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2" name="Google Shape;252;p20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53" name="Google Shape;253;p20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0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" name="Google Shape;259;p20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20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71" name="Google Shape;271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" name="Google Shape;276;p20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77" name="Google Shape;277;p20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Google Shape;279;p20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0" name="Google Shape;280;p20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20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" name="Google Shape;285;p20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0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" name="Google Shape;288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" name="Google Shape;289;p20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90" name="Google Shape;290;p20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0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" name="Google Shape;292;p20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20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4" name="Google Shape;304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9" name="Google Shape;309;p20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310" name="Google Shape;310;p20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" name="Google Shape;312;p20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" name="Google Shape;313;p20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314" name="Google Shape;314;p20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6" name="Google Shape;316;p20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20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319" name="Google Shape;319;p20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0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" name="Google Shape;322;p20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323" name="Google Shape;323;p20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0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" name="Google Shape;325;p20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recursive query</a:t>
            </a:r>
            <a:endParaRPr sz="4400"/>
          </a:p>
        </p:txBody>
      </p:sp>
      <p:sp>
        <p:nvSpPr>
          <p:cNvPr id="342" name="Google Shape;342;p21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21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21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21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21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21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21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51" name="Google Shape;351;p21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352" name="Google Shape;352;p21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1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21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21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21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21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21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367" name="Google Shape;36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21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370" name="Google Shape;37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21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373" name="Google Shape;373;p2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" name="Google Shape;378;p2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379" name="Google Shape;379;p2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1" name="Google Shape;381;p2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" name="Google Shape;382;p2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383" name="Google Shape;383;p2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5" name="Google Shape;385;p2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7" name="Google Shape;387;p2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388" name="Google Shape;388;p2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0" name="Google Shape;390;p2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1" name="Google Shape;391;p2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392" name="Google Shape;392;p2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21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4" name="Google Shape;394;p2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21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406" name="Google Shape;406;p2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1" name="Google Shape;411;p2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12" name="Google Shape;412;p2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21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2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5" name="Google Shape;415;p2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16" name="Google Shape;416;p2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8" name="Google Shape;418;p2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0" name="Google Shape;420;p2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21" name="Google Shape;421;p2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2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" name="Google Shape;423;p2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4" name="Google Shape;424;p2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25" name="Google Shape;425;p2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7" name="Google Shape;427;p2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21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439" name="Google Shape;439;p2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" name="Google Shape;444;p2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45" name="Google Shape;445;p2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" name="Google Shape;447;p2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" name="Google Shape;448;p2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49" name="Google Shape;449;p2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" name="Google Shape;451;p2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" name="Google Shape;453;p2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6" name="Google Shape;456;p2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" name="Google Shape;457;p2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58" name="Google Shape;458;p2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" name="Google Shape;460;p2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21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472" name="Google Shape;472;p2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" name="Google Shape;477;p21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78" name="Google Shape;478;p21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0" name="Google Shape;480;p21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1" name="Google Shape;481;p21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2" name="Google Shape;482;p21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21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" name="Google Shape;484;p21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6" name="Google Shape;486;p21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7" name="Google Shape;487;p21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21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" name="Google Shape;489;p2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0" name="Google Shape;490;p21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1" name="Google Shape;491;p21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3" name="Google Shape;493;p21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21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05" name="Google Shape;505;p21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Caching DNS Information</a:t>
            </a:r>
            <a:endParaRPr sz="4400"/>
          </a:p>
        </p:txBody>
      </p:sp>
      <p:sp>
        <p:nvSpPr>
          <p:cNvPr id="512" name="Google Shape;512;p22"/>
          <p:cNvSpPr txBox="1"/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(any) name server learns mapping, it 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caches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mapping, and i</a:t>
            </a: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mmediately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returns a cached mapping in response to a query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caching improves response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entries timeout (disappear) after some time (TTL)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TLD servers typically cached in local name servers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cached entries may be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out-of-date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named host changes IP address, may not be known Internet-wide until all TTLs expire!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best-effort name-to-address translation!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3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records</a:t>
            </a:r>
            <a:endParaRPr sz="4400"/>
          </a:p>
        </p:txBody>
      </p:sp>
      <p:sp>
        <p:nvSpPr>
          <p:cNvPr id="519" name="Google Shape;519;p23"/>
          <p:cNvSpPr txBox="1"/>
          <p:nvPr/>
        </p:nvSpPr>
        <p:spPr>
          <a:xfrm>
            <a:off x="1347787" y="1358900"/>
            <a:ext cx="95742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distributed database storing resource records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(RR)</a:t>
            </a:r>
            <a:endParaRPr/>
          </a:p>
        </p:txBody>
      </p:sp>
      <p:sp>
        <p:nvSpPr>
          <p:cNvPr id="520" name="Google Shape;520;p23"/>
          <p:cNvSpPr txBox="1"/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type=NS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domain (e.g., foo.com)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hostname of authoritative name server for this domain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 format: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name, value, type, ttl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type=A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hostname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IP address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type=CNAME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alias name for some “canonical” (the real) 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www.ibm.com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really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servereast.backup2.ibm.com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canonical 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type=MX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name of SMTP mail server associated with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4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32" name="Google Shape;532;p24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" name="Google Shape;533;p24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4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4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4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4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4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4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0" name="Google Shape;540;p24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41" name="Google Shape;541;p24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42" name="Google Shape;542;p24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43" name="Google Shape;543;p24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44" name="Google Shape;544;p24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45" name="Google Shape;545;p24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46" name="Google Shape;546;p24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47" name="Google Shape;547;p24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48" name="Google Shape;548;p24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49" name="Google Shape;549;p24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50" name="Google Shape;550;p24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51" name="Google Shape;551;p24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52" name="Google Shape;552;p24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3" name="Google Shape;553;p24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54" name="Google Shape;554;p24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55" name="Google Shape;555;p24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56" name="Google Shape;556;p24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7" name="Google Shape;557;p24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58" name="Google Shape;558;p24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59" name="Google Shape;559;p24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 header: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identification: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16 bit # for query, reply to query uses same #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flags: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or reply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desired 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available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reply is authoritative</a:t>
            </a:r>
            <a:endParaRPr/>
          </a:p>
        </p:txBody>
      </p:sp>
      <p:cxnSp>
        <p:nvCxnSpPr>
          <p:cNvPr id="561" name="Google Shape;561;p24"/>
          <p:cNvCxnSpPr/>
          <p:nvPr/>
        </p:nvCxnSpPr>
        <p:spPr>
          <a:xfrm flipH="1" rot="10800000">
            <a:off x="3710672" y="2610864"/>
            <a:ext cx="2902854" cy="295274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24"/>
          <p:cNvCxnSpPr/>
          <p:nvPr/>
        </p:nvCxnSpPr>
        <p:spPr>
          <a:xfrm flipH="1" rot="10800000">
            <a:off x="2352675" y="2590227"/>
            <a:ext cx="6383337" cy="1208088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25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69" name="Google Shape;569;p25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25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5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25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25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p25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25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25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7" name="Google Shape;577;p25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78" name="Google Shape;578;p25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79" name="Google Shape;579;p25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80" name="Google Shape;580;p25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81" name="Google Shape;581;p25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82" name="Google Shape;582;p25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83" name="Google Shape;583;p25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84" name="Google Shape;584;p25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85" name="Google Shape;585;p25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86" name="Google Shape;586;p25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87" name="Google Shape;587;p25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88" name="Google Shape;588;p25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89" name="Google Shape;589;p25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90" name="Google Shape;590;p25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91" name="Google Shape;591;p25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92" name="Google Shape;592;p25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93" name="Google Shape;593;p25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94" name="Google Shape;594;p25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95" name="Google Shape;595;p25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5"/>
          <p:cNvSpPr txBox="1"/>
          <p:nvPr/>
        </p:nvSpPr>
        <p:spPr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name, type fields for a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RRs in response to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for authoritative servers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“ helpful” info that may be used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25"/>
          <p:cNvCxnSpPr/>
          <p:nvPr/>
        </p:nvCxnSpPr>
        <p:spPr>
          <a:xfrm rot="10800000">
            <a:off x="5070475" y="6126704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25"/>
          <p:cNvCxnSpPr/>
          <p:nvPr/>
        </p:nvCxnSpPr>
        <p:spPr>
          <a:xfrm rot="10800000">
            <a:off x="5078413" y="54678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25"/>
          <p:cNvCxnSpPr/>
          <p:nvPr/>
        </p:nvCxnSpPr>
        <p:spPr>
          <a:xfrm rot="10800000">
            <a:off x="5086350" y="4809079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25"/>
          <p:cNvCxnSpPr/>
          <p:nvPr/>
        </p:nvCxnSpPr>
        <p:spPr>
          <a:xfrm rot="10800000">
            <a:off x="5072063" y="40835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25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6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Getting your info into the DNS</a:t>
            </a:r>
            <a:endParaRPr sz="4400"/>
          </a:p>
        </p:txBody>
      </p:sp>
      <p:sp>
        <p:nvSpPr>
          <p:cNvPr id="611" name="Google Shape;611;p26"/>
          <p:cNvSpPr txBox="1"/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new startup “Network Utopia”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name networkuptopia.com at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registrar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Network Solutions)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names, IP addresses of authoritative name server (primary and secondary)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 inserts NS, A RRs into .com TLD server: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(networkutopia.com, dns1.networkutopia.com, 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Noto Sans Symbol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(dns1.networkutopia.com, 212.212.212.1, A)</a:t>
            </a:r>
            <a:endParaRPr b="0" i="0" sz="2200" u="none" cap="none" strike="noStrike">
              <a:solidFill>
                <a:srgbClr val="ED7D3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authoritative server locally with IP address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212.212.212.1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A record for www.networkuptopia.com</a:t>
            </a:r>
            <a:endParaRPr/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MX record for networkutopia.com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security</a:t>
            </a:r>
            <a:endParaRPr sz="4400"/>
          </a:p>
        </p:txBody>
      </p:sp>
      <p:sp>
        <p:nvSpPr>
          <p:cNvPr id="618" name="Google Shape;618;p27"/>
          <p:cNvSpPr txBox="1"/>
          <p:nvPr/>
        </p:nvSpPr>
        <p:spPr>
          <a:xfrm>
            <a:off x="838200" y="1526094"/>
            <a:ext cx="502557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DDoS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root servers with traffic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successful to date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filtering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servers cache IPs of TLD servers, allowing root server bypass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TLD servers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potentially more dangerous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omic Sans M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9" name="Google Shape;619;p27"/>
          <p:cNvSpPr txBox="1"/>
          <p:nvPr/>
        </p:nvSpPr>
        <p:spPr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1218A"/>
                </a:solidFill>
                <a:latin typeface="Calibri"/>
                <a:ea typeface="Calibri"/>
                <a:cs typeface="Calibri"/>
                <a:sym typeface="Calibri"/>
              </a:rPr>
              <a:t>Spoofing  attacks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intercept DNS queries, returning bogus replies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cache poisoning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4033: DNSSEC authentication services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28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26" name="Google Shape;62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" name="Google Shape;627;p28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28" name="Google Shape;628;p28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29" name="Google Shape;629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0" name="Google Shape;630;p28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1" name="Google Shape;631;p28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632" name="Google Shape;632;p28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633" name="Google Shape;633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4" name="Google Shape;634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5" name="Google Shape;635;p28"/>
          <p:cNvSpPr txBox="1"/>
          <p:nvPr/>
        </p:nvSpPr>
        <p:spPr>
          <a:xfrm>
            <a:off x="724908" y="518072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6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b="0" i="0" sz="24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