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Tahoma-bold.fntdata"/><Relationship Id="rId12" Type="http://schemas.openxmlformats.org/officeDocument/2006/relationships/slide" Target="slides/slide6.xml"/><Relationship Id="rId23" Type="http://schemas.openxmlformats.org/officeDocument/2006/relationships/font" Target="fonts/Tahom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8" name="Google Shape;15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0" name="Google Shape;15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0" name="Google Shape;16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9" name="Google Shape;16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7" name="Google Shape;16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7" name="Google Shape;16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3" name="Google Shape;16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9" name="Google Shape;17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3.png"/><Relationship Id="rId11" Type="http://schemas.openxmlformats.org/officeDocument/2006/relationships/image" Target="../media/image25.png"/><Relationship Id="rId22" Type="http://schemas.openxmlformats.org/officeDocument/2006/relationships/image" Target="../media/image27.png"/><Relationship Id="rId10" Type="http://schemas.openxmlformats.org/officeDocument/2006/relationships/image" Target="../media/image7.png"/><Relationship Id="rId21" Type="http://schemas.openxmlformats.org/officeDocument/2006/relationships/image" Target="../media/image29.png"/><Relationship Id="rId13" Type="http://schemas.openxmlformats.org/officeDocument/2006/relationships/image" Target="../media/image15.png"/><Relationship Id="rId12" Type="http://schemas.openxmlformats.org/officeDocument/2006/relationships/image" Target="../media/image9.png"/><Relationship Id="rId23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5" Type="http://schemas.openxmlformats.org/officeDocument/2006/relationships/image" Target="../media/image19.png"/><Relationship Id="rId14" Type="http://schemas.openxmlformats.org/officeDocument/2006/relationships/image" Target="../media/image13.png"/><Relationship Id="rId17" Type="http://schemas.openxmlformats.org/officeDocument/2006/relationships/image" Target="../media/image16.png"/><Relationship Id="rId16" Type="http://schemas.openxmlformats.org/officeDocument/2006/relationships/image" Target="../media/image14.png"/><Relationship Id="rId5" Type="http://schemas.openxmlformats.org/officeDocument/2006/relationships/image" Target="../media/image6.png"/><Relationship Id="rId19" Type="http://schemas.openxmlformats.org/officeDocument/2006/relationships/image" Target="../media/image31.png"/><Relationship Id="rId6" Type="http://schemas.openxmlformats.org/officeDocument/2006/relationships/image" Target="../media/image2.png"/><Relationship Id="rId18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3.png"/><Relationship Id="rId11" Type="http://schemas.openxmlformats.org/officeDocument/2006/relationships/image" Target="../media/image25.png"/><Relationship Id="rId22" Type="http://schemas.openxmlformats.org/officeDocument/2006/relationships/image" Target="../media/image27.png"/><Relationship Id="rId10" Type="http://schemas.openxmlformats.org/officeDocument/2006/relationships/image" Target="../media/image7.png"/><Relationship Id="rId21" Type="http://schemas.openxmlformats.org/officeDocument/2006/relationships/image" Target="../media/image29.png"/><Relationship Id="rId13" Type="http://schemas.openxmlformats.org/officeDocument/2006/relationships/image" Target="../media/image15.png"/><Relationship Id="rId12" Type="http://schemas.openxmlformats.org/officeDocument/2006/relationships/image" Target="../media/image9.png"/><Relationship Id="rId23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5" Type="http://schemas.openxmlformats.org/officeDocument/2006/relationships/image" Target="../media/image19.png"/><Relationship Id="rId14" Type="http://schemas.openxmlformats.org/officeDocument/2006/relationships/image" Target="../media/image13.png"/><Relationship Id="rId17" Type="http://schemas.openxmlformats.org/officeDocument/2006/relationships/image" Target="../media/image16.png"/><Relationship Id="rId16" Type="http://schemas.openxmlformats.org/officeDocument/2006/relationships/image" Target="../media/image14.png"/><Relationship Id="rId5" Type="http://schemas.openxmlformats.org/officeDocument/2006/relationships/image" Target="../media/image6.png"/><Relationship Id="rId19" Type="http://schemas.openxmlformats.org/officeDocument/2006/relationships/image" Target="../media/image31.png"/><Relationship Id="rId6" Type="http://schemas.openxmlformats.org/officeDocument/2006/relationships/image" Target="../media/image2.png"/><Relationship Id="rId18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png"/><Relationship Id="rId11" Type="http://schemas.openxmlformats.org/officeDocument/2006/relationships/image" Target="../media/image9.png"/><Relationship Id="rId22" Type="http://schemas.openxmlformats.org/officeDocument/2006/relationships/image" Target="../media/image25.png"/><Relationship Id="rId10" Type="http://schemas.openxmlformats.org/officeDocument/2006/relationships/image" Target="../media/image7.png"/><Relationship Id="rId21" Type="http://schemas.openxmlformats.org/officeDocument/2006/relationships/image" Target="../media/image22.png"/><Relationship Id="rId13" Type="http://schemas.openxmlformats.org/officeDocument/2006/relationships/image" Target="../media/image13.png"/><Relationship Id="rId12" Type="http://schemas.openxmlformats.org/officeDocument/2006/relationships/image" Target="../media/image15.png"/><Relationship Id="rId23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5" Type="http://schemas.openxmlformats.org/officeDocument/2006/relationships/image" Target="../media/image16.png"/><Relationship Id="rId14" Type="http://schemas.openxmlformats.org/officeDocument/2006/relationships/image" Target="../media/image14.png"/><Relationship Id="rId17" Type="http://schemas.openxmlformats.org/officeDocument/2006/relationships/image" Target="../media/image31.png"/><Relationship Id="rId16" Type="http://schemas.openxmlformats.org/officeDocument/2006/relationships/image" Target="../media/image23.png"/><Relationship Id="rId5" Type="http://schemas.openxmlformats.org/officeDocument/2006/relationships/image" Target="../media/image6.png"/><Relationship Id="rId19" Type="http://schemas.openxmlformats.org/officeDocument/2006/relationships/image" Target="../media/image29.png"/><Relationship Id="rId6" Type="http://schemas.openxmlformats.org/officeDocument/2006/relationships/image" Target="../media/image2.png"/><Relationship Id="rId18" Type="http://schemas.openxmlformats.org/officeDocument/2006/relationships/image" Target="../media/image33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3.jpg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55" name="Google Shape;55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6" name="Google Shape;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8" name="Google Shape;58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59" name="Google Shape;5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60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" name="Google Shape;61;p11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</a:t>
            </a:r>
            <a:r>
              <a:rPr lang="en-US"/>
              <a:t>l</a:t>
            </a:r>
            <a:r>
              <a:rPr lang="en-US" sz="4400"/>
              <a:t>ayer: overview</a:t>
            </a:r>
            <a:endParaRPr sz="4400"/>
          </a:p>
        </p:txBody>
      </p:sp>
      <p:sp>
        <p:nvSpPr>
          <p:cNvPr id="68" name="Google Shape;68;p12"/>
          <p:cNvSpPr txBox="1"/>
          <p:nvPr/>
        </p:nvSpPr>
        <p:spPr>
          <a:xfrm>
            <a:off x="747307" y="1406319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Our goals: </a:t>
            </a:r>
            <a:endParaRPr/>
          </a:p>
          <a:p>
            <a:pPr indent="-346075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implementation aspects of application-layer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transport-layer service models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client-server paradigm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peer-to-peer paradigm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about protocols by examining popular application-layer protocols and infrastructure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 systems, CDNs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 network applications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API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Some </a:t>
            </a:r>
            <a:r>
              <a:rPr lang="en-US"/>
              <a:t>n</a:t>
            </a:r>
            <a:r>
              <a:rPr lang="en-US" sz="4400"/>
              <a:t>etwork apps</a:t>
            </a:r>
            <a:endParaRPr sz="4400"/>
          </a:p>
        </p:txBody>
      </p:sp>
      <p:sp>
        <p:nvSpPr>
          <p:cNvPr id="76" name="Google Shape;76;p13"/>
          <p:cNvSpPr txBox="1"/>
          <p:nvPr/>
        </p:nvSpPr>
        <p:spPr>
          <a:xfrm>
            <a:off x="914400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social networking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multi-user network games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stored video (YouTube, Hulu, Netflix) 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 file sharing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IP (e.g., Skype)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video conferencing (e.g., Zoom)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search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login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6946490" y="5161935"/>
            <a:ext cx="35987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1" lang="en-US" sz="36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your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favorites?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4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87" name="Google Shape;87;p14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4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95" name="Google Shape;95;p14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" name="Google Shape;97;p14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" name="Google Shape;98;p14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" name="Google Shape;99;p14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" name="Google Shape;100;p14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14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" name="Google Shape;102;p14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3" name="Google Shape;103;p14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04" name="Google Shape;104;p14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" name="Google Shape;106;p14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" name="Google Shape;107;p14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" name="Google Shape;108;p14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" name="Google Shape;109;p14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" name="Google Shape;110;p14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2" name="Google Shape;112;p14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4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" name="Google Shape;119;p14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p14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14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14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4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14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14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14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14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9" name="Google Shape;129;p14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30" name="Google Shape;130;p14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31" name="Google Shape;131;p14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4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4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4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" name="Google Shape;153;p14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" name="Google Shape;154;p14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55" name="Google Shape;15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6" name="Google Shape;15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57" name="Google Shape;15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4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9" name="Google Shape;159;p14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0" name="Google Shape;160;p14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61" name="Google Shape;161;p14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4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4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4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4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14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14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14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4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14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4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14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14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14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14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76" name="Google Shape;17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77" name="Google Shape;17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4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79" name="Google Shape;17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1" name="Google Shape;18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2" name="Google Shape;18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6" name="Google Shape;186;p14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87" name="Google Shape;187;p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0" name="Google Shape;190;p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" name="Google Shape;194;p14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95" name="Google Shape;195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7" name="Google Shape;197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8" name="Google Shape;198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" name="Google Shape;202;p14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203" name="Google Shape;203;p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" name="Google Shape;205;p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06" name="Google Shape;206;p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0" name="Google Shape;210;p14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211" name="Google Shape;211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8" name="Google Shape;218;p14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219" name="Google Shape;21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1" name="Google Shape;22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" name="Google Shape;22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6" name="Google Shape;226;p14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227" name="Google Shape;227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" name="Google Shape;229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" name="Google Shape;230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" name="Google Shape;234;p14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35" name="Google Shape;235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" name="Google Shape;237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8" name="Google Shape;238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2" name="Google Shape;242;p14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43" name="Google Shape;243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5" name="Google Shape;245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" name="Google Shape;246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0" name="Google Shape;250;p14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51" name="Google Shape;251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3" name="Google Shape;253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4" name="Google Shape;254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" name="Google Shape;258;p14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59" name="Google Shape;25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1" name="Google Shape;26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2" name="Google Shape;26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6" name="Google Shape;266;p14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67" name="Google Shape;267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9" name="Google Shape;269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0" name="Google Shape;270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4" name="Google Shape;274;p14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75" name="Google Shape;275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" name="Google Shape;277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Google Shape;278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" name="Google Shape;282;p14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83" name="Google Shape;283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5" name="Google Shape;285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6" name="Google Shape;286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0" name="Google Shape;290;p14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91" name="Google Shape;291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3" name="Google Shape;293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4" name="Google Shape;294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8" name="Google Shape;298;p14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99" name="Google Shape;29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1" name="Google Shape;30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2" name="Google Shape;30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6" name="Google Shape;306;p14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307" name="Google Shape;307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9" name="Google Shape;309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0" name="Google Shape;310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4" name="Google Shape;314;p14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315" name="Google Shape;315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7" name="Google Shape;317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" name="Google Shape;322;p14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323" name="Google Shape;323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24" name="Google Shape;324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14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26" name="Google Shape;326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14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" name="Google Shape;333;p14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34" name="Google Shape;334;p1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0" name="Google Shape;340;p14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14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347" name="Google Shape;347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48" name="Google Shape;34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" name="Google Shape;349;p14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350" name="Google Shape;350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51" name="Google Shape;351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14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353" name="Google Shape;353;p14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354" name="Google Shape;354;p1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55" name="Google Shape;355;p14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6" name="Google Shape;356;p14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57" name="Google Shape;357;p1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8" name="Google Shape;358;p14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4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4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4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4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4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4" name="Google Shape;364;p14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65" name="Google Shape;365;p14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1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14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14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14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14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1" name="Google Shape;371;p14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4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4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4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14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78" name="Google Shape;378;p1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" name="Google Shape;379;p1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4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81" name="Google Shape;381;p1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82" name="Google Shape;382;p1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3" name="Google Shape;383;p14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84" name="Google Shape;384;p14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85" name="Google Shape;385;p14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6" name="Google Shape;386;p14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87" name="Google Shape;387;p1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8" name="Google Shape;388;p1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9" name="Google Shape;389;p1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90" name="Google Shape;390;p14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1" name="Google Shape;391;p14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92" name="Google Shape;392;p14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93" name="Google Shape;393;p1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94" name="Google Shape;394;p1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95" name="Google Shape;395;p1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96" name="Google Shape;396;p14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97" name="Google Shape;397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2" name="Google Shape;402;p14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03" name="Google Shape;403;p14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4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5" name="Google Shape;405;p14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6" name="Google Shape;406;p14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07" name="Google Shape;407;p14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4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9" name="Google Shape;409;p14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1" name="Google Shape;411;p14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12" name="Google Shape;412;p14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4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5" name="Google Shape;415;p14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16" name="Google Shape;416;p14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8" name="Google Shape;418;p14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14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30" name="Google Shape;430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1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4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433" name="Google Shape;433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34" name="Google Shape;434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1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36" name="Google Shape;436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1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" name="Google Shape;443;p1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44" name="Google Shape;444;p1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0" name="Google Shape;450;p1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14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57" name="Google Shape;457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1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14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60" name="Google Shape;460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1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4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463" name="Google Shape;463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64" name="Google Shape;464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1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66" name="Google Shape;466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7" name="Google Shape;467;p1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" name="Google Shape;473;p1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74" name="Google Shape;474;p1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0" name="Google Shape;480;p1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14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14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491" name="Google Shape;491;p14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3" name="Google Shape;493;p14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14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495" name="Google Shape;495;p14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14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14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500" name="Google Shape;500;p14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p14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3" name="Google Shape;503;p14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504" name="Google Shape;504;p14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" name="Google Shape;506;p14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8" name="Google Shape;518;p14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519" name="Google Shape;519;p14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520" name="Google Shape;520;p14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21" name="Google Shape;521;p14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2" name="Google Shape;522;p14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523" name="Google Shape;523;p14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4" name="Google Shape;524;p1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5" name="Google Shape;525;p14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8" name="Google Shape;528;p14"/>
          <p:cNvGrpSpPr/>
          <p:nvPr/>
        </p:nvGrpSpPr>
        <p:grpSpPr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29" name="Google Shape;529;p14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4"/>
            <p:cNvSpPr txBox="1"/>
            <p:nvPr/>
          </p:nvSpPr>
          <p:spPr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" name="Google Shape;533;p14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14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14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6" name="Google Shape;536;p14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7" name="Google Shape;537;p14"/>
          <p:cNvGrpSpPr/>
          <p:nvPr/>
        </p:nvGrpSpPr>
        <p:grpSpPr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538" name="Google Shape;538;p14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4"/>
            <p:cNvSpPr txBox="1"/>
            <p:nvPr/>
          </p:nvSpPr>
          <p:spPr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2" name="Google Shape;542;p14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14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14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5" name="Google Shape;545;p14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p14"/>
          <p:cNvGrpSpPr/>
          <p:nvPr/>
        </p:nvGrpSpPr>
        <p:grpSpPr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547" name="Google Shape;547;p14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4"/>
            <p:cNvSpPr txBox="1"/>
            <p:nvPr/>
          </p:nvSpPr>
          <p:spPr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1" name="Google Shape;551;p14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14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14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4" name="Google Shape;554;p14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5" name="Google Shape;555;p14"/>
          <p:cNvCxnSpPr/>
          <p:nvPr/>
        </p:nvCxnSpPr>
        <p:spPr>
          <a:xfrm>
            <a:off x="8998030" y="4451439"/>
            <a:ext cx="1290637" cy="54133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56" name="Google Shape;556;p14"/>
          <p:cNvCxnSpPr/>
          <p:nvPr/>
        </p:nvCxnSpPr>
        <p:spPr>
          <a:xfrm>
            <a:off x="9093280" y="1325651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7" name="Google Shape;55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Creating a network </a:t>
            </a:r>
            <a:r>
              <a:rPr lang="en-US"/>
              <a:t>a</a:t>
            </a:r>
            <a:r>
              <a:rPr lang="en-US" sz="4400"/>
              <a:t>pp</a:t>
            </a:r>
            <a:endParaRPr sz="4400"/>
          </a:p>
        </p:txBody>
      </p:sp>
      <p:sp>
        <p:nvSpPr>
          <p:cNvPr id="558" name="Google Shape;558;p14"/>
          <p:cNvSpPr txBox="1"/>
          <p:nvPr/>
        </p:nvSpPr>
        <p:spPr>
          <a:xfrm>
            <a:off x="889178" y="1334086"/>
            <a:ext cx="5309184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write programs that: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on (different) end systems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communicate over network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web server software communicates with browser software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need to write software for network-core devices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network-core devices do not run user applications 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on end systems  allows for rapid app development, propagation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9" name="Google Shape;559;p14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60" name="Google Shape;560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4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5" name="Google Shape;565;p14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66" name="Google Shape;566;p14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8" name="Google Shape;568;p14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14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70" name="Google Shape;570;p14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2" name="Google Shape;572;p14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4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4" name="Google Shape;574;p14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75" name="Google Shape;575;p14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7" name="Google Shape;577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8" name="Google Shape;578;p14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79" name="Google Shape;579;p14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1" name="Google Shape;581;p14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4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4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4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4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4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p15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600" name="Google Shape;600;p15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p15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604" name="Google Shape;604;p15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605" name="Google Shape;605;p15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15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608" name="Google Shape;608;p1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1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1" name="Google Shape;611;p1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1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1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4" name="Google Shape;614;p1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" name="Google Shape;615;p1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16" name="Google Shape;616;p15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617" name="Google Shape;617;p1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9" name="Google Shape;619;p1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0" name="Google Shape;620;p1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1" name="Google Shape;621;p1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2" name="Google Shape;622;p1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3" name="Google Shape;623;p1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4" name="Google Shape;624;p1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25" name="Google Shape;625;p15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629" name="Google Shape;629;p15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630" name="Google Shape;630;p15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1" name="Google Shape;631;p15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15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3" name="Google Shape;633;p15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4" name="Google Shape;634;p15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5" name="Google Shape;635;p15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6" name="Google Shape;636;p15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7" name="Google Shape;637;p15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8" name="Google Shape;638;p15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9" name="Google Shape;639;p15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0" name="Google Shape;640;p15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1" name="Google Shape;641;p15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42" name="Google Shape;642;p15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643" name="Google Shape;643;p15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644" name="Google Shape;644;p15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15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15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15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15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15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" name="Google Shape;650;p15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15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15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15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15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15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15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15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15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9" name="Google Shape;659;p15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0" name="Google Shape;660;p15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1" name="Google Shape;661;p15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2" name="Google Shape;662;p15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3" name="Google Shape;663;p15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4" name="Google Shape;664;p15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5" name="Google Shape;665;p15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6" name="Google Shape;666;p15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" name="Google Shape;667;p15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668" name="Google Shape;66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69" name="Google Shape;66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670" name="Google Shape;67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15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72" name="Google Shape;672;p15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3" name="Google Shape;673;p15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674" name="Google Shape;674;p15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15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15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15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15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15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15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15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15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15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15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15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15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p15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Google Shape;688;p15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689" name="Google Shape;68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690" name="Google Shape;6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1" name="Google Shape;691;p15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692" name="Google Shape;692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4" name="Google Shape;694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5" name="Google Shape;695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" name="Google Shape;699;p15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700" name="Google Shape;700;p1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2" name="Google Shape;702;p1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3" name="Google Shape;703;p1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" name="Google Shape;707;p15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708" name="Google Shape;708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0" name="Google Shape;710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1" name="Google Shape;711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5" name="Google Shape;715;p15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716" name="Google Shape;716;p1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8" name="Google Shape;718;p1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9" name="Google Shape;719;p1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3" name="Google Shape;723;p15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724" name="Google Shape;724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6" name="Google Shape;726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" name="Google Shape;727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1" name="Google Shape;731;p15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732" name="Google Shape;732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4" name="Google Shape;734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5" name="Google Shape;735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9" name="Google Shape;739;p15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740" name="Google Shape;740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2" name="Google Shape;742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3" name="Google Shape;743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7" name="Google Shape;747;p15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748" name="Google Shape;748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0" name="Google Shape;750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1" name="Google Shape;751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5" name="Google Shape;755;p15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756" name="Google Shape;756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8" name="Google Shape;758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9" name="Google Shape;759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3" name="Google Shape;763;p15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764" name="Google Shape;764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5" name="Google Shape;765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6" name="Google Shape;766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7" name="Google Shape;767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1" name="Google Shape;771;p15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772" name="Google Shape;772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" name="Google Shape;773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4" name="Google Shape;774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9" name="Google Shape;779;p15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780" name="Google Shape;780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1" name="Google Shape;781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2" name="Google Shape;782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3" name="Google Shape;783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7" name="Google Shape;787;p15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788" name="Google Shape;788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9" name="Google Shape;789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" name="Google Shape;790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" name="Google Shape;791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5" name="Google Shape;795;p15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796" name="Google Shape;796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7" name="Google Shape;797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8" name="Google Shape;798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9" name="Google Shape;799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3" name="Google Shape;803;p15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804" name="Google Shape;804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5" name="Google Shape;805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6" name="Google Shape;806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" name="Google Shape;807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1" name="Google Shape;811;p15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812" name="Google Shape;812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3" name="Google Shape;813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4" name="Google Shape;814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9" name="Google Shape;819;p15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820" name="Google Shape;820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1" name="Google Shape;821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2" name="Google Shape;822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3" name="Google Shape;823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7" name="Google Shape;827;p15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828" name="Google Shape;828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0" name="Google Shape;830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1" name="Google Shape;831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5" name="Google Shape;835;p15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836" name="Google Shape;83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37" name="Google Shape;837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15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39" name="Google Shape;839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15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6" name="Google Shape;846;p15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47" name="Google Shape;847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3" name="Google Shape;853;p15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5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9" name="Google Shape;859;p15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860" name="Google Shape;860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61" name="Google Shape;861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2" name="Google Shape;862;p15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863" name="Google Shape;863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64" name="Google Shape;864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5" name="Google Shape;865;p15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866" name="Google Shape;866;p15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67" name="Google Shape;867;p1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68" name="Google Shape;868;p1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9" name="Google Shape;869;p15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70" name="Google Shape;870;p1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1" name="Google Shape;871;p15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15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15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5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5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5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77" name="Google Shape;877;p15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78" name="Google Shape;878;p1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1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1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15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15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1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4" name="Google Shape;884;p15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15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5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5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15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15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0" name="Google Shape;890;p15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91" name="Google Shape;891;p15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2" name="Google Shape;892;p1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3" name="Google Shape;893;p15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94" name="Google Shape;894;p1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95" name="Google Shape;895;p1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96" name="Google Shape;896;p15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897" name="Google Shape;897;p15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98" name="Google Shape;898;p1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9" name="Google Shape;899;p1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00" name="Google Shape;900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01" name="Google Shape;901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02" name="Google Shape;902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03" name="Google Shape;903;p15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904" name="Google Shape;904;p1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05" name="Google Shape;905;p1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06" name="Google Shape;906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07" name="Google Shape;907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08" name="Google Shape;908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09" name="Google Shape;909;p15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910" name="Google Shape;910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1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1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16" name="Google Shape;916;p1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" name="Google Shape;918;p1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9" name="Google Shape;919;p1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20" name="Google Shape;920;p1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1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2" name="Google Shape;922;p1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" name="Google Shape;924;p1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25" name="Google Shape;925;p1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1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7" name="Google Shape;927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" name="Google Shape;928;p1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29" name="Google Shape;929;p1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1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1" name="Google Shape;931;p1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2" name="Google Shape;942;p15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943" name="Google Shape;943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" name="Google Shape;945;p15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946" name="Google Shape;946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47" name="Google Shape;947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15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49" name="Google Shape;949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15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5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5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5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5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5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" name="Google Shape;956;p15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57" name="Google Shape;957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3" name="Google Shape;963;p15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5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15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15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15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15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9" name="Google Shape;969;p15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970" name="Google Shape;970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2" name="Google Shape;972;p15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973" name="Google Shape;973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5" name="Google Shape;975;p15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976" name="Google Shape;976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77" name="Google Shape;977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8" name="Google Shape;978;p15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79" name="Google Shape;979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0" name="Google Shape;980;p15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5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15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5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5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6" name="Google Shape;986;p15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87" name="Google Shape;987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3" name="Google Shape;993;p15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5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15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15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5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9" name="Google Shape;999;p15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5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5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5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3" name="Google Shape;1003;p15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004" name="Google Shape;1004;p15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5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" name="Google Shape;1006;p15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7" name="Google Shape;1007;p15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008" name="Google Shape;1008;p15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5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15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5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2" name="Google Shape;1012;p15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013" name="Google Shape;1013;p15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5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5" name="Google Shape;1015;p15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6" name="Google Shape;1016;p15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017" name="Google Shape;1017;p15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5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9" name="Google Shape;1019;p15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5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5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5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5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5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5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5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5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15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15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5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1" name="Google Shape;1031;p15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1032" name="Google Shape;1032;p15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033" name="Google Shape;1033;p1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034" name="Google Shape;1034;p15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35" name="Google Shape;1035;p15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036" name="Google Shape;1036;p1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7" name="Google Shape;1037;p1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8" name="Google Shape;1038;p15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5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41" name="Google Shape;1041;p15"/>
          <p:cNvCxnSpPr/>
          <p:nvPr/>
        </p:nvCxnSpPr>
        <p:spPr>
          <a:xfrm rot="10800000">
            <a:off x="8310623" y="5474824"/>
            <a:ext cx="1423686" cy="28936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2" name="Google Shape;1042;p15"/>
          <p:cNvCxnSpPr/>
          <p:nvPr/>
        </p:nvCxnSpPr>
        <p:spPr>
          <a:xfrm>
            <a:off x="8370450" y="2297968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3" name="Google Shape;1043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</a:t>
            </a:r>
            <a:r>
              <a:rPr lang="en-US"/>
              <a:t>p</a:t>
            </a:r>
            <a:r>
              <a:rPr lang="en-US" sz="4400"/>
              <a:t>aradigm</a:t>
            </a:r>
            <a:endParaRPr sz="4400"/>
          </a:p>
        </p:txBody>
      </p:sp>
      <p:sp>
        <p:nvSpPr>
          <p:cNvPr id="1044" name="Google Shape;1044;p15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 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always-on host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permanent IP address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in data centers, for scaling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clients: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contact, communicate with server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be intermittently connected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dynamic IP addresses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communicate directly with each other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HTTP, IMAP, FTP</a:t>
            </a:r>
            <a:endParaRPr/>
          </a:p>
        </p:txBody>
      </p:sp>
      <p:grpSp>
        <p:nvGrpSpPr>
          <p:cNvPr id="1045" name="Google Shape;1045;p15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046" name="Google Shape;1046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1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1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1" name="Google Shape;1051;p1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52" name="Google Shape;1052;p1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" name="Google Shape;1054;p1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5" name="Google Shape;1055;p1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56" name="Google Shape;1056;p1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1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0" name="Google Shape;1060;p1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61" name="Google Shape;1061;p1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3" name="Google Shape;1063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4" name="Google Shape;1064;p1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65" name="Google Shape;1065;p1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7" name="Google Shape;1067;p1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1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1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6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6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6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6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6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6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089" name="Google Shape;1089;p16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090" name="Google Shape;1090;p16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091" name="Google Shape;1091;p16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2" name="Google Shape;1092;p16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093" name="Google Shape;1093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5" name="Google Shape;1095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6" name="Google Shape;1096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8" name="Google Shape;1098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01" name="Google Shape;1101;p16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102" name="Google Shape;1102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4" name="Google Shape;1104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5" name="Google Shape;1105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6" name="Google Shape;1106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7" name="Google Shape;1107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8" name="Google Shape;1108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9" name="Google Shape;1109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10" name="Google Shape;1110;p16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16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112" name="Google Shape;1112;p16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16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114" name="Google Shape;1114;p16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115" name="Google Shape;1115;p16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6" name="Google Shape;1116;p16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16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16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9" name="Google Shape;1119;p16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0" name="Google Shape;1120;p16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16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2" name="Google Shape;1122;p16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3" name="Google Shape;1123;p16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4" name="Google Shape;1124;p16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5" name="Google Shape;1125;p16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6" name="Google Shape;1126;p16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27" name="Google Shape;1127;p16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128" name="Google Shape;1128;p16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129" name="Google Shape;1129;p16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" name="Google Shape;1130;p16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16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" name="Google Shape;1132;p16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" name="Google Shape;1133;p16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6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6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16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16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8" name="Google Shape;1138;p16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" name="Google Shape;1139;p16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" name="Google Shape;1140;p16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" name="Google Shape;1141;p16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16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16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4" name="Google Shape;1144;p16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5" name="Google Shape;1145;p16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6" name="Google Shape;1146;p16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7" name="Google Shape;1147;p16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8" name="Google Shape;1148;p16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9" name="Google Shape;1149;p16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0" name="Google Shape;1150;p16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1" name="Google Shape;1151;p16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" name="Google Shape;1152;p16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153" name="Google Shape;115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154" name="Google Shape;115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155" name="Google Shape;115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6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57" name="Google Shape;1157;p16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16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159" name="Google Shape;1159;p16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16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16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16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16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16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16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16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16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8" name="Google Shape;1168;p16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16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16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16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16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16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174" name="Google Shape;11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175" name="Google Shape;117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6" name="Google Shape;1176;p16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177" name="Google Shape;117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9" name="Google Shape;117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0" name="Google Shape;118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4" name="Google Shape;1184;p16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85" name="Google Shape;1185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7" name="Google Shape;1187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88" name="Google Shape;1188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2" name="Google Shape;1192;p16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193" name="Google Shape;119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95" name="Google Shape;119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96" name="Google Shape;119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16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201" name="Google Shape;1201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3" name="Google Shape;1203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04" name="Google Shape;1204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8" name="Google Shape;1208;p16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209" name="Google Shape;120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1" name="Google Shape;121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12" name="Google Shape;121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16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217" name="Google Shape;121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9" name="Google Shape;121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0" name="Google Shape;122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4" name="Google Shape;1224;p16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225" name="Google Shape;122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27" name="Google Shape;122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8" name="Google Shape;122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2" name="Google Shape;1232;p16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233" name="Google Shape;123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5" name="Google Shape;123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6" name="Google Shape;123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0" name="Google Shape;1240;p16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241" name="Google Shape;124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43" name="Google Shape;124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4" name="Google Shape;124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8" name="Google Shape;1248;p16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249" name="Google Shape;124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1" name="Google Shape;125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2" name="Google Shape;125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6" name="Google Shape;1256;p16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257" name="Google Shape;125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9" name="Google Shape;125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0" name="Google Shape;126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4" name="Google Shape;1264;p16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265" name="Google Shape;126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67" name="Google Shape;126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8" name="Google Shape;126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2" name="Google Shape;1272;p16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273" name="Google Shape;127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75" name="Google Shape;127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6" name="Google Shape;127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0" name="Google Shape;1280;p16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281" name="Google Shape;128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83" name="Google Shape;128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84" name="Google Shape;128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8" name="Google Shape;1288;p16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289" name="Google Shape;128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1" name="Google Shape;129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92" name="Google Shape;129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6" name="Google Shape;1296;p16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297" name="Google Shape;129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9" name="Google Shape;129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0" name="Google Shape;130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4" name="Google Shape;1304;p16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305" name="Google Shape;130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07" name="Google Shape;130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8" name="Google Shape;130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2" name="Google Shape;1312;p16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313" name="Google Shape;131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15" name="Google Shape;131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6" name="Google Shape;131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0" name="Google Shape;1320;p16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321" name="Google Shape;1321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22" name="Google Shape;1322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24" name="Google Shape;1324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1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1" name="Google Shape;1331;p1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332" name="Google Shape;1332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8" name="Google Shape;1338;p1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4" name="Google Shape;1344;p16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345" name="Google Shape;1345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46" name="Google Shape;1346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7" name="Google Shape;1347;p16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1348" name="Google Shape;1348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49" name="Google Shape;1349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6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51" name="Google Shape;1351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2" name="Google Shape;1352;p16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8" name="Google Shape;1358;p16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359" name="Google Shape;1359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5" name="Google Shape;1365;p16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6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1" name="Google Shape;1371;p16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1372" name="Google Shape;1372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73" name="Google Shape;1373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4" name="Google Shape;1374;p16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375" name="Google Shape;1375;p16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76" name="Google Shape;1376;p16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77" name="Google Shape;1377;p16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8" name="Google Shape;1378;p16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9" name="Google Shape;1379;p16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80" name="Google Shape;1380;p16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81" name="Google Shape;1381;p16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82" name="Google Shape;1382;p16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83" name="Google Shape;1383;p16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84" name="Google Shape;1384;p16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85" name="Google Shape;1385;p16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86" name="Google Shape;1386;p16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87" name="Google Shape;1387;p16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388" name="Google Shape;1388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3" name="Google Shape;1393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94" name="Google Shape;1394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6" name="Google Shape;1396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7" name="Google Shape;1397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98" name="Google Shape;1398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0" name="Google Shape;1400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2" name="Google Shape;1402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03" name="Google Shape;1403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5" name="Google Shape;1405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06" name="Google Shape;1406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07" name="Google Shape;1407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9" name="Google Shape;1409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0" name="Google Shape;1420;p16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421" name="Google Shape;1421;p1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2" name="Google Shape;1422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3" name="Google Shape;1423;p16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424" name="Google Shape;1424;p1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5" name="Google Shape;1425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6" name="Google Shape;1426;p16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427" name="Google Shape;1427;p1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8" name="Google Shape;1428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9" name="Google Shape;1429;p16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1430" name="Google Shape;1430;p1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31" name="Google Shape;1431;p1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16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33" name="Google Shape;1433;p1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4" name="Google Shape;1434;p16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0" name="Google Shape;1440;p16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41" name="Google Shape;1441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7" name="Google Shape;1447;p16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16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3" name="Google Shape;1453;p16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6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16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16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7" name="Google Shape;1457;p16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458" name="Google Shape;1458;p16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6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0" name="Google Shape;1460;p16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1" name="Google Shape;1461;p16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462" name="Google Shape;1462;p16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6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4" name="Google Shape;1464;p16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16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6" name="Google Shape;1466;p16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467" name="Google Shape;1467;p16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6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9" name="Google Shape;1469;p16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0" name="Google Shape;1470;p16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471" name="Google Shape;1471;p16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6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3" name="Google Shape;1473;p16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6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6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16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16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6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16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6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6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16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16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Peer-peer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1485" name="Google Shape;1485;p16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as well as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P2P file sharing</a:t>
            </a:r>
            <a:endParaRPr/>
          </a:p>
        </p:txBody>
      </p:sp>
      <p:grpSp>
        <p:nvGrpSpPr>
          <p:cNvPr id="1486" name="Google Shape;1486;p16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487" name="Google Shape;1487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2" name="Google Shape;1492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93" name="Google Shape;1493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5" name="Google Shape;1495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6" name="Google Shape;1496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97" name="Google Shape;1497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9" name="Google Shape;1499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1" name="Google Shape;1501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502" name="Google Shape;1502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4" name="Google Shape;1504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05" name="Google Shape;1505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506" name="Google Shape;1506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8" name="Google Shape;1508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9" name="Google Shape;1519;p16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0" name="Google Shape;1520;p16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1521" name="Google Shape;1521;p16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16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3" name="Google Shape;1523;p16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24" name="Google Shape;1524;p16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25" name="Google Shape;1525;p16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6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6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8" name="Google Shape;1528;p16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29" name="Google Shape;1529;p16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30" name="Google Shape;1530;p16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531" name="Google Shape;1531;p1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32" name="Google Shape;1532;p1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3" name="Google Shape;1533;p16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534" name="Google Shape;1534;p1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35" name="Google Shape;153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6" name="Google Shape;1536;p16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1537" name="Google Shape;1537;p1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8" name="Google Shape;1538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9" name="Google Shape;1539;p16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540" name="Google Shape;1540;p1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1" name="Google Shape;1541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2" name="Google Shape;1542;p16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1543" name="Google Shape;1543;p1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544" name="Google Shape;1544;p1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5" name="Google Shape;1545;p16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546" name="Google Shape;1546;p1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7" name="Google Shape;1547;p16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6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16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16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6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6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3" name="Google Shape;1553;p16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54" name="Google Shape;1554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0" name="Google Shape;1560;p16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16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16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6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6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6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Processes communicating</a:t>
            </a:r>
            <a:endParaRPr sz="4400"/>
          </a:p>
        </p:txBody>
      </p:sp>
      <p:sp>
        <p:nvSpPr>
          <p:cNvPr id="1572" name="Google Shape;1572;p17"/>
          <p:cNvSpPr txBox="1"/>
          <p:nvPr/>
        </p:nvSpPr>
        <p:spPr>
          <a:xfrm>
            <a:off x="606042" y="1565977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running within a host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 same host, two processes communicate using 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inter-process communication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(defined by OS)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in different hosts communicate by exchanging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17"/>
          <p:cNvSpPr/>
          <p:nvPr/>
        </p:nvSpPr>
        <p:spPr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applications with P2P architectures have client processes &amp; server processes</a:t>
            </a:r>
            <a:endParaRPr/>
          </a:p>
        </p:txBody>
      </p:sp>
      <p:grpSp>
        <p:nvGrpSpPr>
          <p:cNvPr id="1574" name="Google Shape;1574;p17"/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1575" name="Google Shape;1575;p17"/>
            <p:cNvSpPr txBox="1"/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initiates communication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server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waits to be contacted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7"/>
            <p:cNvSpPr/>
            <p:nvPr/>
          </p:nvSpPr>
          <p:spPr>
            <a:xfrm>
              <a:off x="6974010" y="1786951"/>
              <a:ext cx="4092575" cy="206216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17"/>
            <p:cNvSpPr txBox="1"/>
            <p:nvPr/>
          </p:nvSpPr>
          <p:spPr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clients, servers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Sockets</a:t>
            </a:r>
            <a:endParaRPr sz="4400"/>
          </a:p>
        </p:txBody>
      </p:sp>
      <p:sp>
        <p:nvSpPr>
          <p:cNvPr id="1584" name="Google Shape;1584;p18"/>
          <p:cNvSpPr txBox="1"/>
          <p:nvPr/>
        </p:nvSpPr>
        <p:spPr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sends/receives messages to/from its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analogous to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shoves message out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relies on transport infrastructure on other side of door to deliver message to socket at receiving process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sockets involved: one on each side</a:t>
            </a:r>
            <a:endParaRPr/>
          </a:p>
        </p:txBody>
      </p:sp>
      <p:sp>
        <p:nvSpPr>
          <p:cNvPr id="1585" name="Google Shape;1585;p18"/>
          <p:cNvSpPr/>
          <p:nvPr/>
        </p:nvSpPr>
        <p:spPr>
          <a:xfrm>
            <a:off x="8482481" y="4098352"/>
            <a:ext cx="736600" cy="1998662"/>
          </a:xfrm>
          <a:custGeom>
            <a:rect b="b" l="l" r="r" t="t"/>
            <a:pathLst>
              <a:path extrusionOk="0" h="1259" w="464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8"/>
          <p:cNvSpPr/>
          <p:nvPr/>
        </p:nvSpPr>
        <p:spPr>
          <a:xfrm>
            <a:off x="5167781" y="5395339"/>
            <a:ext cx="1808162" cy="103187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18"/>
          <p:cNvSpPr txBox="1"/>
          <p:nvPr/>
        </p:nvSpPr>
        <p:spPr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cxnSp>
        <p:nvCxnSpPr>
          <p:cNvPr id="1588" name="Google Shape;1588;p18"/>
          <p:cNvCxnSpPr/>
          <p:nvPr/>
        </p:nvCxnSpPr>
        <p:spPr>
          <a:xfrm>
            <a:off x="4926481" y="5938264"/>
            <a:ext cx="22113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9" name="Google Shape;1589;p18"/>
          <p:cNvSpPr txBox="1"/>
          <p:nvPr/>
        </p:nvSpPr>
        <p:spPr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by 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0" name="Google Shape;1590;p18"/>
          <p:cNvSpPr txBox="1"/>
          <p:nvPr/>
        </p:nvSpPr>
        <p:spPr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 by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app developer</a:t>
            </a:r>
            <a:endParaRPr/>
          </a:p>
        </p:txBody>
      </p:sp>
      <p:sp>
        <p:nvSpPr>
          <p:cNvPr id="1591" name="Google Shape;1591;p18"/>
          <p:cNvSpPr/>
          <p:nvPr/>
        </p:nvSpPr>
        <p:spPr>
          <a:xfrm>
            <a:off x="2742081" y="4161852"/>
            <a:ext cx="758825" cy="1997075"/>
          </a:xfrm>
          <a:custGeom>
            <a:rect b="b" l="l" r="r" t="t"/>
            <a:pathLst>
              <a:path extrusionOk="0" h="1258" w="47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18"/>
          <p:cNvSpPr/>
          <p:nvPr/>
        </p:nvSpPr>
        <p:spPr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3" name="Google Shape;1593;p18"/>
          <p:cNvSpPr/>
          <p:nvPr/>
        </p:nvSpPr>
        <p:spPr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94" name="Google Shape;1594;p18"/>
          <p:cNvCxnSpPr/>
          <p:nvPr/>
        </p:nvCxnSpPr>
        <p:spPr>
          <a:xfrm>
            <a:off x="3516781" y="49317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5" name="Google Shape;1595;p18"/>
          <p:cNvSpPr txBox="1"/>
          <p:nvPr/>
        </p:nvSpPr>
        <p:spPr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596" name="Google Shape;1596;p18"/>
          <p:cNvCxnSpPr/>
          <p:nvPr/>
        </p:nvCxnSpPr>
        <p:spPr>
          <a:xfrm>
            <a:off x="3524718" y="52524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18"/>
          <p:cNvCxnSpPr/>
          <p:nvPr/>
        </p:nvCxnSpPr>
        <p:spPr>
          <a:xfrm>
            <a:off x="3510431" y="556202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18"/>
          <p:cNvCxnSpPr/>
          <p:nvPr/>
        </p:nvCxnSpPr>
        <p:spPr>
          <a:xfrm>
            <a:off x="3510431" y="58477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9" name="Google Shape;1599;p18"/>
          <p:cNvSpPr txBox="1"/>
          <p:nvPr/>
        </p:nvSpPr>
        <p:spPr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600" name="Google Shape;1600;p18"/>
          <p:cNvSpPr txBox="1"/>
          <p:nvPr/>
        </p:nvSpPr>
        <p:spPr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601" name="Google Shape;1601;p18"/>
          <p:cNvSpPr txBox="1"/>
          <p:nvPr/>
        </p:nvSpPr>
        <p:spPr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602" name="Google Shape;1602;p18"/>
          <p:cNvSpPr txBox="1"/>
          <p:nvPr/>
        </p:nvSpPr>
        <p:spPr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603" name="Google Shape;1603;p18"/>
          <p:cNvSpPr/>
          <p:nvPr/>
        </p:nvSpPr>
        <p:spPr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604" name="Google Shape;1604;p18"/>
          <p:cNvGrpSpPr/>
          <p:nvPr/>
        </p:nvGrpSpPr>
        <p:grpSpPr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1605" name="Google Shape;1605;p18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8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8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8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9" name="Google Shape;1609;p18"/>
          <p:cNvSpPr/>
          <p:nvPr/>
        </p:nvSpPr>
        <p:spPr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0" name="Google Shape;1610;p18"/>
          <p:cNvSpPr/>
          <p:nvPr/>
        </p:nvSpPr>
        <p:spPr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11" name="Google Shape;1611;p18"/>
          <p:cNvCxnSpPr/>
          <p:nvPr/>
        </p:nvCxnSpPr>
        <p:spPr>
          <a:xfrm>
            <a:off x="7179143" y="49032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2" name="Google Shape;1612;p18"/>
          <p:cNvSpPr txBox="1"/>
          <p:nvPr/>
        </p:nvSpPr>
        <p:spPr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613" name="Google Shape;1613;p18"/>
          <p:cNvCxnSpPr/>
          <p:nvPr/>
        </p:nvCxnSpPr>
        <p:spPr>
          <a:xfrm>
            <a:off x="7187081" y="52238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18"/>
          <p:cNvCxnSpPr/>
          <p:nvPr/>
        </p:nvCxnSpPr>
        <p:spPr>
          <a:xfrm>
            <a:off x="7172793" y="55334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18"/>
          <p:cNvCxnSpPr/>
          <p:nvPr/>
        </p:nvCxnSpPr>
        <p:spPr>
          <a:xfrm>
            <a:off x="7172793" y="5819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6" name="Google Shape;1616;p18"/>
          <p:cNvSpPr txBox="1"/>
          <p:nvPr/>
        </p:nvSpPr>
        <p:spPr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617" name="Google Shape;1617;p18"/>
          <p:cNvSpPr txBox="1"/>
          <p:nvPr/>
        </p:nvSpPr>
        <p:spPr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618" name="Google Shape;1618;p18"/>
          <p:cNvSpPr txBox="1"/>
          <p:nvPr/>
        </p:nvSpPr>
        <p:spPr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619" name="Google Shape;1619;p18"/>
          <p:cNvSpPr txBox="1"/>
          <p:nvPr/>
        </p:nvSpPr>
        <p:spPr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620" name="Google Shape;1620;p18"/>
          <p:cNvSpPr/>
          <p:nvPr/>
        </p:nvSpPr>
        <p:spPr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621" name="Google Shape;1621;p18"/>
          <p:cNvGrpSpPr/>
          <p:nvPr/>
        </p:nvGrpSpPr>
        <p:grpSpPr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622" name="Google Shape;1622;p18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8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8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8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26" name="Google Shape;1626;p18"/>
          <p:cNvCxnSpPr/>
          <p:nvPr/>
        </p:nvCxnSpPr>
        <p:spPr>
          <a:xfrm rot="10800000">
            <a:off x="8361831" y="45396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18"/>
          <p:cNvCxnSpPr/>
          <p:nvPr/>
        </p:nvCxnSpPr>
        <p:spPr>
          <a:xfrm>
            <a:off x="8587256" y="4965127"/>
            <a:ext cx="0" cy="102235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18"/>
          <p:cNvCxnSpPr/>
          <p:nvPr/>
        </p:nvCxnSpPr>
        <p:spPr>
          <a:xfrm rot="10800000">
            <a:off x="8611068" y="5465189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9" name="Google Shape;1629;p18"/>
          <p:cNvSpPr txBox="1"/>
          <p:nvPr/>
        </p:nvSpPr>
        <p:spPr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socket</a:t>
            </a:r>
            <a:endParaRPr/>
          </a:p>
        </p:txBody>
      </p:sp>
      <p:cxnSp>
        <p:nvCxnSpPr>
          <p:cNvPr id="1630" name="Google Shape;1630;p18"/>
          <p:cNvCxnSpPr/>
          <p:nvPr/>
        </p:nvCxnSpPr>
        <p:spPr>
          <a:xfrm flipH="1" rot="10800000">
            <a:off x="4528018" y="4420614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18"/>
          <p:cNvCxnSpPr/>
          <p:nvPr/>
        </p:nvCxnSpPr>
        <p:spPr>
          <a:xfrm rot="10800000">
            <a:off x="6463181" y="4409502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32" name="Google Shape;1632;p18"/>
          <p:cNvGrpSpPr/>
          <p:nvPr/>
        </p:nvGrpSpPr>
        <p:grpSpPr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descr="desktop_computer_stylized_medium" id="1633" name="Google Shape;163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4" name="Google Shape;1634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5" name="Google Shape;1635;p18"/>
          <p:cNvGrpSpPr/>
          <p:nvPr/>
        </p:nvGrpSpPr>
        <p:grpSpPr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descr="desktop_computer_stylized_medium" id="1636" name="Google Shape;163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7" name="Google Shape;1637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Addressing processes</a:t>
            </a:r>
            <a:endParaRPr sz="4400"/>
          </a:p>
        </p:txBody>
      </p:sp>
      <p:sp>
        <p:nvSpPr>
          <p:cNvPr id="1644" name="Google Shape;1644;p19"/>
          <p:cNvSpPr txBox="1"/>
          <p:nvPr/>
        </p:nvSpPr>
        <p:spPr>
          <a:xfrm>
            <a:off x="695101" y="1464896"/>
            <a:ext cx="496447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receive messages, process  must have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device has unique 32-bit IP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 IP address of host on which process runs suffice for identifying the process?</a:t>
            </a:r>
            <a:endParaRPr/>
          </a:p>
        </p:txBody>
      </p:sp>
      <p:sp>
        <p:nvSpPr>
          <p:cNvPr id="1645" name="Google Shape;1645;p19"/>
          <p:cNvSpPr txBox="1"/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both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associated with process on host.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port numbers: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server: 80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server: 25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message to gaia.cs.umass.edu web 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128.119.245.12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shortly…</a:t>
            </a:r>
            <a:endParaRPr/>
          </a:p>
        </p:txBody>
      </p:sp>
      <p:sp>
        <p:nvSpPr>
          <p:cNvPr id="1646" name="Google Shape;1646;p19"/>
          <p:cNvSpPr/>
          <p:nvPr/>
        </p:nvSpPr>
        <p:spPr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processes can be running on same host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An application-layer </a:t>
            </a:r>
            <a:r>
              <a:rPr lang="en-US"/>
              <a:t>p</a:t>
            </a:r>
            <a:r>
              <a:rPr lang="en-US" sz="4400"/>
              <a:t>rotocol </a:t>
            </a:r>
            <a:r>
              <a:rPr lang="en-US"/>
              <a:t>d</a:t>
            </a:r>
            <a:r>
              <a:rPr lang="en-US" sz="4400"/>
              <a:t>efines:</a:t>
            </a:r>
            <a:endParaRPr sz="4400"/>
          </a:p>
        </p:txBody>
      </p:sp>
      <p:sp>
        <p:nvSpPr>
          <p:cNvPr id="1653" name="Google Shape;1653;p20"/>
          <p:cNvSpPr txBox="1"/>
          <p:nvPr/>
        </p:nvSpPr>
        <p:spPr>
          <a:xfrm>
            <a:off x="759182" y="1464838"/>
            <a:ext cx="52973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types of messages exchanged,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request, response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syntax: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fields in messages &amp; how fields are delineated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semantics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information in fields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when and how processes send &amp; respond to messages</a:t>
            </a:r>
            <a:endParaRPr/>
          </a:p>
        </p:txBody>
      </p:sp>
      <p:sp>
        <p:nvSpPr>
          <p:cNvPr id="1654" name="Google Shape;1654;p20"/>
          <p:cNvSpPr txBox="1"/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in RFCs, everyone has access to protocol definition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for interoperability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HTTP,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proprietary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Skype, Zoom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What </a:t>
            </a:r>
            <a:r>
              <a:rPr lang="en-US"/>
              <a:t>t</a:t>
            </a:r>
            <a:r>
              <a:rPr lang="en-US" sz="4400"/>
              <a:t>ransport </a:t>
            </a:r>
            <a:r>
              <a:rPr lang="en-US"/>
              <a:t>s</a:t>
            </a:r>
            <a:r>
              <a:rPr lang="en-US" sz="4400"/>
              <a:t>ervice does an </a:t>
            </a:r>
            <a:r>
              <a:rPr lang="en-US"/>
              <a:t>a</a:t>
            </a:r>
            <a:r>
              <a:rPr lang="en-US" sz="4400"/>
              <a:t>pp need?</a:t>
            </a:r>
            <a:endParaRPr sz="4400"/>
          </a:p>
        </p:txBody>
      </p:sp>
      <p:sp>
        <p:nvSpPr>
          <p:cNvPr id="1661" name="Google Shape;1661;p21"/>
          <p:cNvSpPr txBox="1"/>
          <p:nvPr/>
        </p:nvSpPr>
        <p:spPr>
          <a:xfrm>
            <a:off x="676025" y="1406872"/>
            <a:ext cx="4972505" cy="279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file transfer, web transactions) require 100% reliable data transfer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(e.g., audio) can tolerate some loss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21"/>
          <p:cNvSpPr txBox="1"/>
          <p:nvPr/>
        </p:nvSpPr>
        <p:spPr>
          <a:xfrm>
            <a:off x="544999" y="4365808"/>
            <a:ext cx="5572612" cy="24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Internet telephony, interactive games) require low delay to be “effective”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21"/>
          <p:cNvSpPr/>
          <p:nvPr/>
        </p:nvSpPr>
        <p:spPr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multimedia) require minimum amount of throughput to be “effective”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(“elastic apps”) make use of whatever throughput they get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21"/>
          <p:cNvSpPr/>
          <p:nvPr/>
        </p:nvSpPr>
        <p:spPr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encryption, data integrity,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400"/>
              <a:t>Transport </a:t>
            </a:r>
            <a:r>
              <a:rPr lang="en-US"/>
              <a:t>s</a:t>
            </a:r>
            <a:r>
              <a:rPr lang="en-US" sz="4400"/>
              <a:t>ervice </a:t>
            </a:r>
            <a:r>
              <a:rPr lang="en-US"/>
              <a:t>r</a:t>
            </a:r>
            <a:r>
              <a:rPr lang="en-US" sz="4400"/>
              <a:t>equirements: common apps</a:t>
            </a:r>
            <a:endParaRPr sz="4400"/>
          </a:p>
        </p:txBody>
      </p:sp>
      <p:sp>
        <p:nvSpPr>
          <p:cNvPr id="1671" name="Google Shape;1671;p22"/>
          <p:cNvSpPr txBox="1"/>
          <p:nvPr/>
        </p:nvSpPr>
        <p:spPr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22"/>
          <p:cNvSpPr txBox="1"/>
          <p:nvPr/>
        </p:nvSpPr>
        <p:spPr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loss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22"/>
          <p:cNvSpPr txBox="1"/>
          <p:nvPr/>
        </p:nvSpPr>
        <p:spPr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audio: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5Kbps-1Mbps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10Kbps-5Mbps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as above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Kbps+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</p:txBody>
      </p:sp>
      <p:sp>
        <p:nvSpPr>
          <p:cNvPr id="1674" name="Google Shape;1674;p22"/>
          <p:cNvSpPr txBox="1"/>
          <p:nvPr/>
        </p:nvSpPr>
        <p:spPr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sensitive?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few secs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 and no</a:t>
            </a:r>
            <a:endParaRPr/>
          </a:p>
        </p:txBody>
      </p:sp>
      <p:cxnSp>
        <p:nvCxnSpPr>
          <p:cNvPr id="1675" name="Google Shape;1675;p22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6" name="Google Shape;1676;p22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7" name="Google Shape;1677;p22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8" name="Google Shape;1678;p22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9" name="Google Shape;1679;p22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80" name="Google Shape;1680;p22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81" name="Google Shape;1681;p22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</a:t>
            </a:r>
            <a:r>
              <a:rPr lang="en-US"/>
              <a:t>t</a:t>
            </a:r>
            <a:r>
              <a:rPr lang="en-US" sz="4400"/>
              <a:t>ransport protocols services</a:t>
            </a:r>
            <a:endParaRPr sz="4400"/>
          </a:p>
        </p:txBody>
      </p:sp>
      <p:sp>
        <p:nvSpPr>
          <p:cNvPr id="1688" name="Google Shape;1688;p23"/>
          <p:cNvSpPr txBox="1"/>
          <p:nvPr/>
        </p:nvSpPr>
        <p:spPr>
          <a:xfrm>
            <a:off x="753320" y="1383910"/>
            <a:ext cx="6016137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TCP service: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transport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won’t overwhelm receiver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congestion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throttle sender when network overloaded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connection-oriented: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 required between client and server processes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timing, minimum throughput guarantee, security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23"/>
          <p:cNvSpPr txBox="1"/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UDP service: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 data transfer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reliability, flow control, congestion control, timing, throughput guarantee, security, or connection setup.</a:t>
            </a:r>
            <a:endParaRPr/>
          </a:p>
        </p:txBody>
      </p:sp>
      <p:sp>
        <p:nvSpPr>
          <p:cNvPr id="1690" name="Google Shape;1690;p23"/>
          <p:cNvSpPr txBox="1"/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bother?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there a UDP?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applications, and transport protocols</a:t>
            </a:r>
            <a:endParaRPr sz="4400"/>
          </a:p>
        </p:txBody>
      </p:sp>
      <p:sp>
        <p:nvSpPr>
          <p:cNvPr id="1697" name="Google Shape;1697;p24"/>
          <p:cNvSpPr txBox="1"/>
          <p:nvPr/>
        </p:nvSpPr>
        <p:spPr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telephony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</p:txBody>
      </p:sp>
      <p:cxnSp>
        <p:nvCxnSpPr>
          <p:cNvPr id="1698" name="Google Shape;1698;p24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9" name="Google Shape;1699;p24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0" name="Google Shape;1700;p24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1" name="Google Shape;1701;p24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2" name="Google Shape;1702;p24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3" name="Google Shape;1703;p24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4" name="Google Shape;1704;p24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5" name="Google Shape;1705;p24"/>
          <p:cNvSpPr txBox="1"/>
          <p:nvPr/>
        </p:nvSpPr>
        <p:spPr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 [RFC 959]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[RFC 5321]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 [RFC 7320]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SIP [RFC 3261], RTP [RFC 3550], or proprietary HTTP [RFC 7320], DASH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WOW, FPS (proprietary)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24"/>
          <p:cNvSpPr txBox="1"/>
          <p:nvPr/>
        </p:nvSpPr>
        <p:spPr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or UDP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or TCP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2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A8"/>
                </a:solidFill>
              </a:rPr>
              <a:t>Securing TCP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713" name="Google Shape;1713;p25"/>
          <p:cNvSpPr txBox="1"/>
          <p:nvPr/>
        </p:nvSpPr>
        <p:spPr>
          <a:xfrm>
            <a:off x="753320" y="1383910"/>
            <a:ext cx="595719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Vanilla TCP &amp; UDP sockets: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passwords sent into socket traverse Internet  in cleartext (!)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Layer Security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(TLS) 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encrypted TCP connections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end-point authenticatio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25"/>
          <p:cNvSpPr txBox="1"/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TSL implemented in application layer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apps use TSL libraries, that use TCP in turn</a:t>
            </a:r>
            <a:endParaRPr b="0" i="0" sz="3200" u="none" cap="none" strike="noStrike">
              <a:solidFill>
                <a:srgbClr val="2222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sent into “socket”  traverse Internet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more: Chapter 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0" name="Google Shape;1720;p2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721" name="Google Shape;172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2" name="Google Shape;1722;p2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723" name="Google Shape;1723;p2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724" name="Google Shape;1724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5" name="Google Shape;1725;p2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6" name="Google Shape;1726;p26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1727" name="Google Shape;1727;p26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1728" name="Google Shape;172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9" name="Google Shape;1729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0" name="Google Shape;1730;p26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26"/>
          <p:cNvSpPr txBox="1"/>
          <p:nvPr>
            <p:ph type="title"/>
          </p:nvPr>
        </p:nvSpPr>
        <p:spPr>
          <a:xfrm>
            <a:off x="580529" y="518073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