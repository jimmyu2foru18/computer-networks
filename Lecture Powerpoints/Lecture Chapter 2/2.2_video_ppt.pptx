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6858000" cx="12192000"/>
  <p:notesSz cx="6858000" cy="9144000"/>
  <p:embeddedFontLst>
    <p:embeddedFont>
      <p:font typeface="Gill Sans"/>
      <p:regular r:id="rId40"/>
      <p:bold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GillSans-regular.fntdata"/><Relationship Id="rId20" Type="http://schemas.openxmlformats.org/officeDocument/2006/relationships/slide" Target="slides/slide15.xml"/><Relationship Id="rId41" Type="http://schemas.openxmlformats.org/officeDocument/2006/relationships/font" Target="fonts/GillSans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472" name="Google Shape;47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4" name="Google Shape;56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565" name="Google Shape;56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" name="Google Shape;57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573" name="Google Shape;57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6" name="Google Shape;66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667" name="Google Shape;66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6" name="Google Shape;67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3" name="Google Shape;69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6" name="Google Shape;70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707" name="Google Shape;707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9" name="Google Shape;80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re: poor content providers – like in real-estate, location is everything.  servers want to be close to clients.</a:t>
            </a:r>
            <a:endParaRPr/>
          </a:p>
        </p:txBody>
      </p:sp>
      <p:sp>
        <p:nvSpPr>
          <p:cNvPr id="810" name="Google Shape;810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1" name="Google Shape;82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why minutes (recall earlier delay versus arrival rate curve from Chapter 1)</a:t>
            </a:r>
            <a:endParaRPr/>
          </a:p>
        </p:txBody>
      </p:sp>
      <p:sp>
        <p:nvSpPr>
          <p:cNvPr id="822" name="Google Shape;822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0" name="Google Shape;104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1041" name="Google Shape;1041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2" name="Google Shape;127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1273" name="Google Shape;1273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4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Google Shape;152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6" name="Google Shape;1526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1527" name="Google Shape;1527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8" name="Shape 1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Google Shape;1779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0" name="Google Shape;178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1781" name="Google Shape;1781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7" name="Shape 1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8" name="Google Shape;1838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9" name="Google Shape;1839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1840" name="Google Shape;1840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5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7" name="Google Shape;1847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1848" name="Google Shape;1848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3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5" name="Google Shape;1855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1856" name="Google Shape;1856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7" name="Shape 1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" name="Google Shape;1948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9" name="Google Shape;1949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shortest job first: decreased average delay!</a:t>
            </a:r>
            <a:endParaRPr/>
          </a:p>
        </p:txBody>
      </p:sp>
      <p:sp>
        <p:nvSpPr>
          <p:cNvPr id="1950" name="Google Shape;1950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7" name="Shape 2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" name="Google Shape;2068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9" name="Google Shape;2069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2070" name="Google Shape;2070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4" name="Shape 2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5" name="Google Shape;2075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6" name="Google Shape;2076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7" name="Google Shape;2077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000"/>
              <a:buFont typeface="Calibri"/>
              <a:buNone/>
              <a:defRPr b="1" i="0" sz="40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19.jpg"/><Relationship Id="rId5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19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Relationship Id="rId4" Type="http://schemas.openxmlformats.org/officeDocument/2006/relationships/image" Target="../media/image19.jp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580529" y="650420"/>
            <a:ext cx="6551791" cy="1116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 sz="6000"/>
              <a:t>Application Layer</a:t>
            </a:r>
            <a:endParaRPr sz="6000"/>
          </a:p>
        </p:txBody>
      </p:sp>
      <p:grpSp>
        <p:nvGrpSpPr>
          <p:cNvPr id="35" name="Google Shape;35;p6"/>
          <p:cNvGrpSpPr/>
          <p:nvPr/>
        </p:nvGrpSpPr>
        <p:grpSpPr>
          <a:xfrm>
            <a:off x="7421880" y="79248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36" name="Google Shape;36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" name="Google Shape;37;p6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38" name="Google Shape;38;p6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39" name="Google Shape;39;p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Google Shape;40;p6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1" name="Google Shape;41;p6"/>
          <p:cNvSpPr txBox="1"/>
          <p:nvPr/>
        </p:nvSpPr>
        <p:spPr>
          <a:xfrm>
            <a:off x="809241" y="1870563"/>
            <a:ext cx="703205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7663" lvl="0" marL="3476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Principles of network applications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and HTTP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(part 1)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E-mail, SMTP, IMAP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The Domain Name System: DNS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P2P applications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video streaming, CDNs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socket programming with UDP and TCP</a:t>
            </a:r>
            <a:endParaRPr/>
          </a:p>
          <a:p>
            <a:pPr indent="-1984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Web and HTTP</a:t>
            </a:r>
            <a:endParaRPr sz="4400"/>
          </a:p>
        </p:txBody>
      </p:sp>
      <p:sp>
        <p:nvSpPr>
          <p:cNvPr id="48" name="Google Shape;48;p7"/>
          <p:cNvSpPr txBox="1"/>
          <p:nvPr/>
        </p:nvSpPr>
        <p:spPr>
          <a:xfrm>
            <a:off x="669395" y="1559756"/>
            <a:ext cx="10774192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First, a quick review…</a:t>
            </a:r>
            <a:endParaRPr/>
          </a:p>
          <a:p>
            <a:pPr indent="-330200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page consists of </a:t>
            </a: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objects, 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of</a:t>
            </a: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can be stored on different Web servers</a:t>
            </a:r>
            <a:endParaRPr/>
          </a:p>
          <a:p>
            <a:pPr indent="-330200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 can be HTML file, JPEG image, Java applet, audio file,…</a:t>
            </a:r>
            <a:endParaRPr/>
          </a:p>
          <a:p>
            <a:pPr indent="-330200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page consists of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base HTML-file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which includes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several referenced objects, each 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addressable by a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URL, 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" name="Google Shape;49;p7"/>
          <p:cNvGrpSpPr/>
          <p:nvPr/>
        </p:nvGrpSpPr>
        <p:grpSpPr>
          <a:xfrm>
            <a:off x="2463366" y="4853073"/>
            <a:ext cx="6835775" cy="1144588"/>
            <a:chOff x="788" y="2955"/>
            <a:chExt cx="4306" cy="721"/>
          </a:xfrm>
        </p:grpSpPr>
        <p:sp>
          <p:nvSpPr>
            <p:cNvPr id="50" name="Google Shape;50;p7"/>
            <p:cNvSpPr txBox="1"/>
            <p:nvPr/>
          </p:nvSpPr>
          <p:spPr>
            <a:xfrm>
              <a:off x="788" y="2955"/>
              <a:ext cx="4188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urier New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www.someschool.edu/someDept/pic.gif</a:t>
              </a:r>
              <a:endParaRPr b="0" i="0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1821" y="2281"/>
              <a:ext cx="57" cy="2083"/>
            </a:xfrm>
            <a:prstGeom prst="leftBrace">
              <a:avLst>
                <a:gd fmla="val 304532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7"/>
            <p:cNvSpPr txBox="1"/>
            <p:nvPr/>
          </p:nvSpPr>
          <p:spPr>
            <a:xfrm>
              <a:off x="838" y="3288"/>
              <a:ext cx="1981" cy="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53" name="Google Shape;53;p7"/>
            <p:cNvSpPr/>
            <p:nvPr/>
          </p:nvSpPr>
          <p:spPr>
            <a:xfrm rot="-5400000">
              <a:off x="4024" y="2277"/>
              <a:ext cx="57" cy="2083"/>
            </a:xfrm>
            <a:prstGeom prst="leftBrace">
              <a:avLst>
                <a:gd fmla="val 304532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7"/>
            <p:cNvSpPr txBox="1"/>
            <p:nvPr/>
          </p:nvSpPr>
          <p:spPr>
            <a:xfrm>
              <a:off x="3038" y="3288"/>
              <a:ext cx="1981" cy="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55" name="Google Shape;55;p7"/>
            <p:cNvSpPr txBox="1"/>
            <p:nvPr/>
          </p:nvSpPr>
          <p:spPr>
            <a:xfrm>
              <a:off x="1389" y="3388"/>
              <a:ext cx="101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host name</a:t>
              </a:r>
              <a:endParaRPr/>
            </a:p>
          </p:txBody>
        </p:sp>
        <p:sp>
          <p:nvSpPr>
            <p:cNvPr id="56" name="Google Shape;56;p7"/>
            <p:cNvSpPr txBox="1"/>
            <p:nvPr/>
          </p:nvSpPr>
          <p:spPr>
            <a:xfrm>
              <a:off x="3485" y="3338"/>
              <a:ext cx="1028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path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name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 overview</a:t>
            </a:r>
            <a:endParaRPr sz="4400"/>
          </a:p>
        </p:txBody>
      </p:sp>
      <p:sp>
        <p:nvSpPr>
          <p:cNvPr id="63" name="Google Shape;63;p8"/>
          <p:cNvSpPr txBox="1"/>
          <p:nvPr/>
        </p:nvSpPr>
        <p:spPr>
          <a:xfrm>
            <a:off x="791849" y="1608374"/>
            <a:ext cx="5988172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HTTP: hypertext transfer protocol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Web’s application-layer protocol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client/server model: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r>
              <a:rPr b="0" i="1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browser that requests, receives, (using HTTP protocol) and “displays” Web objects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server: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Web server sends (using HTTP protocol) objects in response to requests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4" name="Google Shape;64;p8"/>
          <p:cNvGrpSpPr/>
          <p:nvPr/>
        </p:nvGrpSpPr>
        <p:grpSpPr>
          <a:xfrm>
            <a:off x="8129954" y="2271493"/>
            <a:ext cx="2101850" cy="1065774"/>
            <a:chOff x="3640" y="1271"/>
            <a:chExt cx="1324" cy="671"/>
          </a:xfrm>
        </p:grpSpPr>
        <p:cxnSp>
          <p:nvCxnSpPr>
            <p:cNvPr id="65" name="Google Shape;65;p8"/>
            <p:cNvCxnSpPr/>
            <p:nvPr/>
          </p:nvCxnSpPr>
          <p:spPr>
            <a:xfrm>
              <a:off x="3640" y="1346"/>
              <a:ext cx="1324" cy="596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6" name="Google Shape;66;p8"/>
            <p:cNvSpPr txBox="1"/>
            <p:nvPr/>
          </p:nvSpPr>
          <p:spPr>
            <a:xfrm rot="1422049">
              <a:off x="3860" y="1445"/>
              <a:ext cx="912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HTTP request</a:t>
              </a:r>
              <a:endParaRPr b="0" i="0" sz="2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" name="Google Shape;67;p8"/>
          <p:cNvGrpSpPr/>
          <p:nvPr/>
        </p:nvGrpSpPr>
        <p:grpSpPr>
          <a:xfrm>
            <a:off x="8241079" y="2599080"/>
            <a:ext cx="1971675" cy="1138193"/>
            <a:chOff x="4141" y="394"/>
            <a:chExt cx="1242" cy="717"/>
          </a:xfrm>
        </p:grpSpPr>
        <p:cxnSp>
          <p:nvCxnSpPr>
            <p:cNvPr id="68" name="Google Shape;68;p8"/>
            <p:cNvCxnSpPr/>
            <p:nvPr/>
          </p:nvCxnSpPr>
          <p:spPr>
            <a:xfrm rot="10800000">
              <a:off x="4141" y="394"/>
              <a:ext cx="1242" cy="57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9" name="Google Shape;69;p8"/>
            <p:cNvSpPr txBox="1"/>
            <p:nvPr/>
          </p:nvSpPr>
          <p:spPr>
            <a:xfrm rot="1411598">
              <a:off x="4304" y="706"/>
              <a:ext cx="101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HTTP response</a:t>
              </a:r>
              <a:endParaRPr b="0" i="0" sz="2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70;p8"/>
          <p:cNvGrpSpPr/>
          <p:nvPr/>
        </p:nvGrpSpPr>
        <p:grpSpPr>
          <a:xfrm rot="-3183056">
            <a:off x="8058342" y="3789190"/>
            <a:ext cx="2101850" cy="1065774"/>
            <a:chOff x="3640" y="1271"/>
            <a:chExt cx="1324" cy="671"/>
          </a:xfrm>
        </p:grpSpPr>
        <p:cxnSp>
          <p:nvCxnSpPr>
            <p:cNvPr id="71" name="Google Shape;71;p8"/>
            <p:cNvCxnSpPr/>
            <p:nvPr/>
          </p:nvCxnSpPr>
          <p:spPr>
            <a:xfrm>
              <a:off x="3640" y="1346"/>
              <a:ext cx="1324" cy="596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2" name="Google Shape;72;p8"/>
            <p:cNvSpPr txBox="1"/>
            <p:nvPr/>
          </p:nvSpPr>
          <p:spPr>
            <a:xfrm rot="1422049">
              <a:off x="3860" y="1445"/>
              <a:ext cx="912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HTTP request</a:t>
              </a:r>
              <a:endParaRPr b="0" i="0" sz="2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" name="Google Shape;73;p8"/>
          <p:cNvGrpSpPr/>
          <p:nvPr/>
        </p:nvGrpSpPr>
        <p:grpSpPr>
          <a:xfrm rot="-3264937">
            <a:off x="8247053" y="4075892"/>
            <a:ext cx="1971675" cy="1138193"/>
            <a:chOff x="4141" y="394"/>
            <a:chExt cx="1242" cy="717"/>
          </a:xfrm>
        </p:grpSpPr>
        <p:cxnSp>
          <p:nvCxnSpPr>
            <p:cNvPr id="74" name="Google Shape;74;p8"/>
            <p:cNvCxnSpPr/>
            <p:nvPr/>
          </p:nvCxnSpPr>
          <p:spPr>
            <a:xfrm rot="10800000">
              <a:off x="4141" y="394"/>
              <a:ext cx="1242" cy="57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5" name="Google Shape;75;p8"/>
            <p:cNvSpPr txBox="1"/>
            <p:nvPr/>
          </p:nvSpPr>
          <p:spPr>
            <a:xfrm rot="1411598">
              <a:off x="4304" y="706"/>
              <a:ext cx="101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HTTP response</a:t>
              </a:r>
              <a:endParaRPr b="0" i="0" sz="2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76;p8"/>
          <p:cNvGrpSpPr/>
          <p:nvPr/>
        </p:nvGrpSpPr>
        <p:grpSpPr>
          <a:xfrm>
            <a:off x="7046475" y="4540592"/>
            <a:ext cx="2210665" cy="1578194"/>
            <a:chOff x="7046475" y="4540592"/>
            <a:chExt cx="2210665" cy="1578194"/>
          </a:xfrm>
        </p:grpSpPr>
        <p:sp>
          <p:nvSpPr>
            <p:cNvPr id="77" name="Google Shape;77;p8"/>
            <p:cNvSpPr txBox="1"/>
            <p:nvPr/>
          </p:nvSpPr>
          <p:spPr>
            <a:xfrm>
              <a:off x="7046475" y="5472455"/>
              <a:ext cx="2210665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iPhone running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Safari browser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iphone_stylized_small" id="78" name="Google Shape;78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44179" y="4540592"/>
              <a:ext cx="382588" cy="9175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9" name="Google Shape;79;p8"/>
          <p:cNvGrpSpPr/>
          <p:nvPr/>
        </p:nvGrpSpPr>
        <p:grpSpPr>
          <a:xfrm>
            <a:off x="6584832" y="1722780"/>
            <a:ext cx="2270564" cy="1610628"/>
            <a:chOff x="6584832" y="1722780"/>
            <a:chExt cx="2270564" cy="1610628"/>
          </a:xfrm>
        </p:grpSpPr>
        <p:sp>
          <p:nvSpPr>
            <p:cNvPr id="80" name="Google Shape;80;p8"/>
            <p:cNvSpPr txBox="1"/>
            <p:nvPr/>
          </p:nvSpPr>
          <p:spPr>
            <a:xfrm>
              <a:off x="6584832" y="2687077"/>
              <a:ext cx="2270564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PC running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Firefox browser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1" name="Google Shape;81;p8"/>
            <p:cNvGrpSpPr/>
            <p:nvPr/>
          </p:nvGrpSpPr>
          <p:grpSpPr>
            <a:xfrm>
              <a:off x="7109192" y="1722780"/>
              <a:ext cx="1066800" cy="1079500"/>
              <a:chOff x="-44" y="1473"/>
              <a:chExt cx="981" cy="1105"/>
            </a:xfrm>
          </p:grpSpPr>
          <p:pic>
            <p:nvPicPr>
              <p:cNvPr descr="desktop_computer_stylized_medium" id="82" name="Google Shape;82;p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3" name="Google Shape;83;p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4" name="Google Shape;84;p8"/>
          <p:cNvGrpSpPr/>
          <p:nvPr/>
        </p:nvGrpSpPr>
        <p:grpSpPr>
          <a:xfrm>
            <a:off x="9655810" y="2888005"/>
            <a:ext cx="2414547" cy="2197950"/>
            <a:chOff x="9655810" y="2888005"/>
            <a:chExt cx="2414547" cy="2197950"/>
          </a:xfrm>
        </p:grpSpPr>
        <p:sp>
          <p:nvSpPr>
            <p:cNvPr id="85" name="Google Shape;85;p8"/>
            <p:cNvSpPr txBox="1"/>
            <p:nvPr/>
          </p:nvSpPr>
          <p:spPr>
            <a:xfrm>
              <a:off x="9655810" y="4162625"/>
              <a:ext cx="2414547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 running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Apache Web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6" name="Google Shape;86;p8"/>
            <p:cNvGrpSpPr/>
            <p:nvPr/>
          </p:nvGrpSpPr>
          <p:grpSpPr>
            <a:xfrm>
              <a:off x="10230217" y="2888005"/>
              <a:ext cx="695325" cy="1282700"/>
              <a:chOff x="4140" y="429"/>
              <a:chExt cx="1425" cy="2396"/>
            </a:xfrm>
          </p:grpSpPr>
          <p:sp>
            <p:nvSpPr>
              <p:cNvPr id="87" name="Google Shape;87;p8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8"/>
              <p:cNvSpPr/>
              <p:nvPr/>
            </p:nvSpPr>
            <p:spPr>
              <a:xfrm>
                <a:off x="4205" y="429"/>
                <a:ext cx="1048" cy="2283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8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8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8"/>
              <p:cNvSpPr/>
              <p:nvPr/>
            </p:nvSpPr>
            <p:spPr>
              <a:xfrm>
                <a:off x="4212" y="693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2" name="Google Shape;92;p8"/>
              <p:cNvGrpSpPr/>
              <p:nvPr/>
            </p:nvGrpSpPr>
            <p:grpSpPr>
              <a:xfrm>
                <a:off x="4748" y="669"/>
                <a:ext cx="583" cy="140"/>
                <a:chOff x="613" y="2569"/>
                <a:chExt cx="727" cy="134"/>
              </a:xfrm>
            </p:grpSpPr>
            <p:sp>
              <p:nvSpPr>
                <p:cNvPr id="93" name="Google Shape;93;p8"/>
                <p:cNvSpPr/>
                <p:nvPr/>
              </p:nvSpPr>
              <p:spPr>
                <a:xfrm>
                  <a:off x="613" y="2569"/>
                  <a:ext cx="727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4" name="Google Shape;94;p8"/>
                <p:cNvSpPr/>
                <p:nvPr/>
              </p:nvSpPr>
              <p:spPr>
                <a:xfrm>
                  <a:off x="629" y="2586"/>
                  <a:ext cx="694" cy="9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5" name="Google Shape;95;p8"/>
              <p:cNvSpPr/>
              <p:nvPr/>
            </p:nvSpPr>
            <p:spPr>
              <a:xfrm>
                <a:off x="4225" y="1019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6" name="Google Shape;96;p8"/>
              <p:cNvGrpSpPr/>
              <p:nvPr/>
            </p:nvGrpSpPr>
            <p:grpSpPr>
              <a:xfrm>
                <a:off x="4749" y="995"/>
                <a:ext cx="579" cy="133"/>
                <a:chOff x="616" y="2569"/>
                <a:chExt cx="723" cy="138"/>
              </a:xfrm>
            </p:grpSpPr>
            <p:sp>
              <p:nvSpPr>
                <p:cNvPr id="97" name="Google Shape;97;p8"/>
                <p:cNvSpPr/>
                <p:nvPr/>
              </p:nvSpPr>
              <p:spPr>
                <a:xfrm>
                  <a:off x="616" y="2569"/>
                  <a:ext cx="723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" name="Google Shape;98;p8"/>
                <p:cNvSpPr/>
                <p:nvPr/>
              </p:nvSpPr>
              <p:spPr>
                <a:xfrm>
                  <a:off x="632" y="2588"/>
                  <a:ext cx="690" cy="102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9" name="Google Shape;99;p8"/>
              <p:cNvSpPr/>
              <p:nvPr/>
            </p:nvSpPr>
            <p:spPr>
              <a:xfrm>
                <a:off x="4218" y="1357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00;p8"/>
              <p:cNvSpPr/>
              <p:nvPr/>
            </p:nvSpPr>
            <p:spPr>
              <a:xfrm>
                <a:off x="4228" y="1654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1" name="Google Shape;101;p8"/>
              <p:cNvGrpSpPr/>
              <p:nvPr/>
            </p:nvGrpSpPr>
            <p:grpSpPr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02" name="Google Shape;102;p8"/>
                <p:cNvSpPr/>
                <p:nvPr/>
              </p:nvSpPr>
              <p:spPr>
                <a:xfrm>
                  <a:off x="614" y="2568"/>
                  <a:ext cx="725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" name="Google Shape;103;p8"/>
                <p:cNvSpPr/>
                <p:nvPr/>
              </p:nvSpPr>
              <p:spPr>
                <a:xfrm>
                  <a:off x="631" y="2584"/>
                  <a:ext cx="693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4" name="Google Shape;104;p8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5" name="Google Shape;105;p8"/>
              <p:cNvGrpSpPr/>
              <p:nvPr/>
            </p:nvGrpSpPr>
            <p:grpSpPr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06" name="Google Shape;106;p8"/>
                <p:cNvSpPr/>
                <p:nvPr/>
              </p:nvSpPr>
              <p:spPr>
                <a:xfrm>
                  <a:off x="614" y="2568"/>
                  <a:ext cx="725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" name="Google Shape;107;p8"/>
                <p:cNvSpPr/>
                <p:nvPr/>
              </p:nvSpPr>
              <p:spPr>
                <a:xfrm>
                  <a:off x="630" y="2583"/>
                  <a:ext cx="693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8" name="Google Shape;108;p8"/>
              <p:cNvSpPr/>
              <p:nvPr/>
            </p:nvSpPr>
            <p:spPr>
              <a:xfrm>
                <a:off x="5249" y="432"/>
                <a:ext cx="68" cy="2286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8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8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8"/>
              <p:cNvSpPr/>
              <p:nvPr/>
            </p:nvSpPr>
            <p:spPr>
              <a:xfrm>
                <a:off x="5516" y="2611"/>
                <a:ext cx="49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8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8"/>
              <p:cNvSpPr/>
              <p:nvPr/>
            </p:nvSpPr>
            <p:spPr>
              <a:xfrm>
                <a:off x="4140" y="2677"/>
                <a:ext cx="1201" cy="148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8"/>
              <p:cNvSpPr/>
              <p:nvPr/>
            </p:nvSpPr>
            <p:spPr>
              <a:xfrm>
                <a:off x="4205" y="2712"/>
                <a:ext cx="1070" cy="8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8"/>
              <p:cNvSpPr/>
              <p:nvPr/>
            </p:nvSpPr>
            <p:spPr>
              <a:xfrm>
                <a:off x="4309" y="2383"/>
                <a:ext cx="156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>
                <a:off x="4485" y="2383"/>
                <a:ext cx="163" cy="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>
                <a:off x="4661" y="2380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8"/>
              <p:cNvSpPr/>
              <p:nvPr/>
            </p:nvSpPr>
            <p:spPr>
              <a:xfrm>
                <a:off x="5061" y="1835"/>
                <a:ext cx="88" cy="762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 overview (continued)</a:t>
            </a:r>
            <a:endParaRPr sz="4400"/>
          </a:p>
        </p:txBody>
      </p:sp>
      <p:sp>
        <p:nvSpPr>
          <p:cNvPr id="125" name="Google Shape;125;p9"/>
          <p:cNvSpPr txBox="1"/>
          <p:nvPr/>
        </p:nvSpPr>
        <p:spPr>
          <a:xfrm>
            <a:off x="947614" y="1548630"/>
            <a:ext cx="5551487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HTTP uses TCP: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 initiates TCP connection (creates socket) to server,  port 80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 accepts TCP connection from client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 messages (application-layer protocol messages) exchanged between browser (HTTP client) and Web server (HTTP server)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TCP connection closed</a:t>
            </a:r>
            <a:endParaRPr/>
          </a:p>
        </p:txBody>
      </p:sp>
      <p:sp>
        <p:nvSpPr>
          <p:cNvPr id="126" name="Google Shape;126;p9"/>
          <p:cNvSpPr txBox="1"/>
          <p:nvPr/>
        </p:nvSpPr>
        <p:spPr>
          <a:xfrm>
            <a:off x="6909801" y="1582098"/>
            <a:ext cx="5053013" cy="1705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HTTP is “stateless”</a:t>
            </a:r>
            <a:endParaRPr b="0" i="1" sz="32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 maintains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information about past client requests</a:t>
            </a:r>
            <a:endParaRPr/>
          </a:p>
        </p:txBody>
      </p:sp>
      <p:grpSp>
        <p:nvGrpSpPr>
          <p:cNvPr id="127" name="Google Shape;127;p9"/>
          <p:cNvGrpSpPr/>
          <p:nvPr/>
        </p:nvGrpSpPr>
        <p:grpSpPr>
          <a:xfrm>
            <a:off x="6909802" y="3209500"/>
            <a:ext cx="5282198" cy="3248103"/>
            <a:chOff x="6909802" y="3209500"/>
            <a:chExt cx="5282198" cy="3248103"/>
          </a:xfrm>
        </p:grpSpPr>
        <p:sp>
          <p:nvSpPr>
            <p:cNvPr id="128" name="Google Shape;128;p9"/>
            <p:cNvSpPr/>
            <p:nvPr/>
          </p:nvSpPr>
          <p:spPr>
            <a:xfrm>
              <a:off x="10186403" y="3383184"/>
              <a:ext cx="828675" cy="2952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9"/>
            <p:cNvSpPr/>
            <p:nvPr/>
          </p:nvSpPr>
          <p:spPr>
            <a:xfrm>
              <a:off x="6909802" y="3449212"/>
              <a:ext cx="5053013" cy="2847974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9"/>
            <p:cNvSpPr/>
            <p:nvPr/>
          </p:nvSpPr>
          <p:spPr>
            <a:xfrm>
              <a:off x="9795878" y="3287287"/>
              <a:ext cx="828675" cy="2952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9"/>
            <p:cNvSpPr/>
            <p:nvPr/>
          </p:nvSpPr>
          <p:spPr>
            <a:xfrm>
              <a:off x="7138987" y="3609628"/>
              <a:ext cx="5053013" cy="2847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protocols that maintain “state” are complex!</a:t>
              </a:r>
              <a:endParaRPr/>
            </a:p>
            <a:p>
              <a:pPr indent="-342900" lvl="0" marL="34290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past history (state) must be maintained</a:t>
              </a:r>
              <a:endParaRPr/>
            </a:p>
            <a:p>
              <a:pPr indent="-342900" lvl="0" marL="34290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server/client crashes, their views of “state” may be inconsistent, must be reconciled</a:t>
              </a:r>
              <a:endParaRPr/>
            </a:p>
            <a:p>
              <a:pPr indent="-213359" lvl="0" marL="342900" marR="0" rtl="0" algn="l">
                <a:spcBef>
                  <a:spcPts val="48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9"/>
            <p:cNvSpPr txBox="1"/>
            <p:nvPr/>
          </p:nvSpPr>
          <p:spPr>
            <a:xfrm>
              <a:off x="9716532" y="3209500"/>
              <a:ext cx="94609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aside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 connections: two types</a:t>
            </a:r>
            <a:endParaRPr sz="4400"/>
          </a:p>
        </p:txBody>
      </p:sp>
      <p:sp>
        <p:nvSpPr>
          <p:cNvPr id="139" name="Google Shape;139;p10"/>
          <p:cNvSpPr txBox="1"/>
          <p:nvPr/>
        </p:nvSpPr>
        <p:spPr>
          <a:xfrm>
            <a:off x="798690" y="1543086"/>
            <a:ext cx="5039401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Non-persistent HTTP</a:t>
            </a:r>
            <a:endParaRPr/>
          </a:p>
          <a:p>
            <a:pPr indent="-514350" lvl="0" marL="6445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Calibri"/>
              <a:buAutoNum type="arabicPeriod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TCP connection opened</a:t>
            </a:r>
            <a:endParaRPr/>
          </a:p>
          <a:p>
            <a:pPr indent="-514350" lvl="0" marL="6445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Calibri"/>
              <a:buAutoNum type="arabicPeriod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most one object sent over TCP connection</a:t>
            </a:r>
            <a:endParaRPr/>
          </a:p>
          <a:p>
            <a:pPr indent="-514350" lvl="0" marL="6445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Calibri"/>
              <a:buAutoNum type="arabicPeriod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TCP connection closed</a:t>
            </a:r>
            <a:endParaRPr/>
          </a:p>
          <a:p>
            <a:pPr indent="0" lvl="0" marL="130175" marR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downloading multiple objects required multiple connections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0"/>
          <p:cNvSpPr txBox="1"/>
          <p:nvPr/>
        </p:nvSpPr>
        <p:spPr>
          <a:xfrm>
            <a:off x="6781215" y="1543086"/>
            <a:ext cx="5039401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Persistent HTTP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TCP connection opened to a server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 objects can be sent over </a:t>
            </a:r>
            <a:r>
              <a:rPr b="0" i="1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single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TCP connection between client, and that server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TCP connection closed</a:t>
            </a:r>
            <a:endParaRPr/>
          </a:p>
          <a:p>
            <a:pPr indent="-190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Non-persistent HTTP: example</a:t>
            </a:r>
            <a:endParaRPr sz="4400"/>
          </a:p>
        </p:txBody>
      </p:sp>
      <p:cxnSp>
        <p:nvCxnSpPr>
          <p:cNvPr id="147" name="Google Shape;147;p11"/>
          <p:cNvCxnSpPr/>
          <p:nvPr/>
        </p:nvCxnSpPr>
        <p:spPr>
          <a:xfrm>
            <a:off x="798691" y="2868166"/>
            <a:ext cx="10658" cy="3480471"/>
          </a:xfrm>
          <a:prstGeom prst="straightConnector1">
            <a:avLst/>
          </a:prstGeom>
          <a:noFill/>
          <a:ln cap="flat" cmpd="sng" w="19050">
            <a:solidFill>
              <a:srgbClr val="A5A5A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" name="Google Shape;148;p11"/>
          <p:cNvSpPr/>
          <p:nvPr/>
        </p:nvSpPr>
        <p:spPr>
          <a:xfrm>
            <a:off x="490358" y="5641558"/>
            <a:ext cx="657225" cy="2952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1"/>
          <p:cNvSpPr txBox="1"/>
          <p:nvPr/>
        </p:nvSpPr>
        <p:spPr>
          <a:xfrm>
            <a:off x="809349" y="1351435"/>
            <a:ext cx="7942262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enters URL:</a:t>
            </a:r>
            <a:endParaRPr/>
          </a:p>
        </p:txBody>
      </p:sp>
      <p:sp>
        <p:nvSpPr>
          <p:cNvPr id="150" name="Google Shape;150;p11"/>
          <p:cNvSpPr txBox="1"/>
          <p:nvPr/>
        </p:nvSpPr>
        <p:spPr>
          <a:xfrm>
            <a:off x="944384" y="2447251"/>
            <a:ext cx="4850242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1a</a:t>
            </a:r>
            <a:r>
              <a:rPr b="0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HTTP client initiates TCP connection to HTTP server (process) at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www.someSchool.edu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port 80</a:t>
            </a:r>
            <a:endParaRPr/>
          </a:p>
        </p:txBody>
      </p:sp>
      <p:sp>
        <p:nvSpPr>
          <p:cNvPr id="151" name="Google Shape;151;p11"/>
          <p:cNvSpPr/>
          <p:nvPr/>
        </p:nvSpPr>
        <p:spPr>
          <a:xfrm>
            <a:off x="1172983" y="4077834"/>
            <a:ext cx="4216535" cy="1076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HTTP client sends HTTP </a:t>
            </a:r>
            <a:r>
              <a:rPr b="0" i="1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request message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(containing URL) into TCP connection socket. Message indicates that client wants object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someDepartment/home.index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1"/>
          <p:cNvSpPr/>
          <p:nvPr/>
        </p:nvSpPr>
        <p:spPr>
          <a:xfrm>
            <a:off x="6717018" y="2733157"/>
            <a:ext cx="5389528" cy="1504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1b</a:t>
            </a:r>
            <a:r>
              <a:rPr b="0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HTTP server at host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www.someSchool.edu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waiting for TCP connection at port 80  “accepts” connection, notifying client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1"/>
          <p:cNvSpPr/>
          <p:nvPr/>
        </p:nvSpPr>
        <p:spPr>
          <a:xfrm>
            <a:off x="6843976" y="4739906"/>
            <a:ext cx="539487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 server receives request message, forms </a:t>
            </a:r>
            <a:r>
              <a:rPr b="0" i="1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response message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containing requested object, and sends message into its socket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p11"/>
          <p:cNvCxnSpPr/>
          <p:nvPr/>
        </p:nvCxnSpPr>
        <p:spPr>
          <a:xfrm>
            <a:off x="5102530" y="4961816"/>
            <a:ext cx="1800180" cy="601955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" name="Google Shape;155;p11"/>
          <p:cNvCxnSpPr/>
          <p:nvPr/>
        </p:nvCxnSpPr>
        <p:spPr>
          <a:xfrm flipH="1">
            <a:off x="5389517" y="5671992"/>
            <a:ext cx="1410287" cy="891868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" name="Google Shape;156;p11"/>
          <p:cNvSpPr txBox="1"/>
          <p:nvPr/>
        </p:nvSpPr>
        <p:spPr>
          <a:xfrm>
            <a:off x="499883" y="5563771"/>
            <a:ext cx="673100" cy="406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  <p:cxnSp>
        <p:nvCxnSpPr>
          <p:cNvPr id="157" name="Google Shape;157;p11"/>
          <p:cNvCxnSpPr/>
          <p:nvPr/>
        </p:nvCxnSpPr>
        <p:spPr>
          <a:xfrm>
            <a:off x="5156851" y="2779258"/>
            <a:ext cx="1551025" cy="523875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" name="Google Shape;158;p11"/>
          <p:cNvCxnSpPr/>
          <p:nvPr/>
        </p:nvCxnSpPr>
        <p:spPr>
          <a:xfrm flipH="1">
            <a:off x="5102530" y="3366635"/>
            <a:ext cx="1551026" cy="1006986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" name="Google Shape;159;p11"/>
          <p:cNvSpPr txBox="1"/>
          <p:nvPr/>
        </p:nvSpPr>
        <p:spPr>
          <a:xfrm>
            <a:off x="4677390" y="1660654"/>
            <a:ext cx="63784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(containing text, references to 10 jpeg images)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1"/>
          <p:cNvSpPr/>
          <p:nvPr/>
        </p:nvSpPr>
        <p:spPr>
          <a:xfrm>
            <a:off x="3508021" y="1414937"/>
            <a:ext cx="7942263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300"/>
              <a:buFont typeface="Noto Sans Symbols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www.someSchool.edu/someDepartment/home.index</a:t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61" name="Google Shape;161;p11"/>
          <p:cNvGrpSpPr/>
          <p:nvPr/>
        </p:nvGrpSpPr>
        <p:grpSpPr>
          <a:xfrm>
            <a:off x="371687" y="2060763"/>
            <a:ext cx="784845" cy="730423"/>
            <a:chOff x="-44" y="1473"/>
            <a:chExt cx="981" cy="1105"/>
          </a:xfrm>
        </p:grpSpPr>
        <p:pic>
          <p:nvPicPr>
            <p:cNvPr descr="desktop_computer_stylized_medium" id="162" name="Google Shape;162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63;p1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4" name="Google Shape;164;p11"/>
          <p:cNvGrpSpPr/>
          <p:nvPr/>
        </p:nvGrpSpPr>
        <p:grpSpPr>
          <a:xfrm>
            <a:off x="6367322" y="2347016"/>
            <a:ext cx="286234" cy="640019"/>
            <a:chOff x="4140" y="429"/>
            <a:chExt cx="1425" cy="2396"/>
          </a:xfrm>
        </p:grpSpPr>
        <p:sp>
          <p:nvSpPr>
            <p:cNvPr id="165" name="Google Shape;165;p1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1"/>
            <p:cNvSpPr/>
            <p:nvPr/>
          </p:nvSpPr>
          <p:spPr>
            <a:xfrm>
              <a:off x="4205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1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1"/>
            <p:cNvSpPr/>
            <p:nvPr/>
          </p:nvSpPr>
          <p:spPr>
            <a:xfrm>
              <a:off x="4212" y="693"/>
              <a:ext cx="595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0" name="Google Shape;170;p11"/>
            <p:cNvGrpSpPr/>
            <p:nvPr/>
          </p:nvGrpSpPr>
          <p:grpSpPr>
            <a:xfrm>
              <a:off x="4748" y="669"/>
              <a:ext cx="583" cy="140"/>
              <a:chOff x="613" y="2569"/>
              <a:chExt cx="727" cy="134"/>
            </a:xfrm>
          </p:grpSpPr>
          <p:sp>
            <p:nvSpPr>
              <p:cNvPr id="171" name="Google Shape;171;p11"/>
              <p:cNvSpPr/>
              <p:nvPr/>
            </p:nvSpPr>
            <p:spPr>
              <a:xfrm>
                <a:off x="613" y="2569"/>
                <a:ext cx="727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>
                <a:off x="629" y="2586"/>
                <a:ext cx="694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3" name="Google Shape;173;p11"/>
            <p:cNvSpPr/>
            <p:nvPr/>
          </p:nvSpPr>
          <p:spPr>
            <a:xfrm>
              <a:off x="4225" y="1019"/>
              <a:ext cx="595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4" name="Google Shape;174;p11"/>
            <p:cNvGrpSpPr/>
            <p:nvPr/>
          </p:nvGrpSpPr>
          <p:grpSpPr>
            <a:xfrm>
              <a:off x="4749" y="995"/>
              <a:ext cx="579" cy="133"/>
              <a:chOff x="616" y="2569"/>
              <a:chExt cx="723" cy="138"/>
            </a:xfrm>
          </p:grpSpPr>
          <p:sp>
            <p:nvSpPr>
              <p:cNvPr id="175" name="Google Shape;175;p11"/>
              <p:cNvSpPr/>
              <p:nvPr/>
            </p:nvSpPr>
            <p:spPr>
              <a:xfrm>
                <a:off x="616" y="2569"/>
                <a:ext cx="723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>
                <a:off x="632" y="2588"/>
                <a:ext cx="690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7" name="Google Shape;177;p11"/>
            <p:cNvSpPr/>
            <p:nvPr/>
          </p:nvSpPr>
          <p:spPr>
            <a:xfrm>
              <a:off x="4218" y="1357"/>
              <a:ext cx="595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1"/>
            <p:cNvSpPr/>
            <p:nvPr/>
          </p:nvSpPr>
          <p:spPr>
            <a:xfrm>
              <a:off x="4228" y="1654"/>
              <a:ext cx="595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9" name="Google Shape;179;p11"/>
            <p:cNvGrpSpPr/>
            <p:nvPr/>
          </p:nvGrpSpPr>
          <p:grpSpPr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80" name="Google Shape;180;p11"/>
              <p:cNvSpPr/>
              <p:nvPr/>
            </p:nvSpPr>
            <p:spPr>
              <a:xfrm>
                <a:off x="614" y="2568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>
                <a:off x="631" y="2584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2" name="Google Shape;182;p1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3" name="Google Shape;183;p11"/>
            <p:cNvGrpSpPr/>
            <p:nvPr/>
          </p:nvGrpSpPr>
          <p:grpSpPr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84" name="Google Shape;184;p11"/>
              <p:cNvSpPr/>
              <p:nvPr/>
            </p:nvSpPr>
            <p:spPr>
              <a:xfrm>
                <a:off x="614" y="2568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11"/>
              <p:cNvSpPr/>
              <p:nvPr/>
            </p:nvSpPr>
            <p:spPr>
              <a:xfrm>
                <a:off x="630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6" name="Google Shape;186;p11"/>
            <p:cNvSpPr/>
            <p:nvPr/>
          </p:nvSpPr>
          <p:spPr>
            <a:xfrm>
              <a:off x="5249" y="432"/>
              <a:ext cx="68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1"/>
            <p:cNvSpPr/>
            <p:nvPr/>
          </p:nvSpPr>
          <p:spPr>
            <a:xfrm>
              <a:off x="5516" y="2611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1"/>
            <p:cNvSpPr/>
            <p:nvPr/>
          </p:nvSpPr>
          <p:spPr>
            <a:xfrm>
              <a:off x="4140" y="2677"/>
              <a:ext cx="1201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1"/>
            <p:cNvSpPr/>
            <p:nvPr/>
          </p:nvSpPr>
          <p:spPr>
            <a:xfrm>
              <a:off x="4205" y="2712"/>
              <a:ext cx="1070" cy="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1"/>
            <p:cNvSpPr/>
            <p:nvPr/>
          </p:nvSpPr>
          <p:spPr>
            <a:xfrm>
              <a:off x="4309" y="2383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1"/>
            <p:cNvSpPr/>
            <p:nvPr/>
          </p:nvSpPr>
          <p:spPr>
            <a:xfrm>
              <a:off x="4485" y="2383"/>
              <a:ext cx="163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11"/>
            <p:cNvSpPr/>
            <p:nvPr/>
          </p:nvSpPr>
          <p:spPr>
            <a:xfrm>
              <a:off x="4661" y="2380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1"/>
            <p:cNvSpPr/>
            <p:nvPr/>
          </p:nvSpPr>
          <p:spPr>
            <a:xfrm>
              <a:off x="5061" y="1835"/>
              <a:ext cx="88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Non-persistent HTTP: example (cont.)</a:t>
            </a:r>
            <a:endParaRPr sz="4400"/>
          </a:p>
        </p:txBody>
      </p:sp>
      <p:sp>
        <p:nvSpPr>
          <p:cNvPr id="203" name="Google Shape;203;p12"/>
          <p:cNvSpPr txBox="1"/>
          <p:nvPr/>
        </p:nvSpPr>
        <p:spPr>
          <a:xfrm>
            <a:off x="809349" y="1351435"/>
            <a:ext cx="7942262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enters URL:</a:t>
            </a:r>
            <a:endParaRPr/>
          </a:p>
        </p:txBody>
      </p:sp>
      <p:sp>
        <p:nvSpPr>
          <p:cNvPr id="204" name="Google Shape;204;p12"/>
          <p:cNvSpPr txBox="1"/>
          <p:nvPr/>
        </p:nvSpPr>
        <p:spPr>
          <a:xfrm>
            <a:off x="4677390" y="1660654"/>
            <a:ext cx="63784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(containing text, references to 10 jpeg images)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3508021" y="1414937"/>
            <a:ext cx="7942263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300"/>
              <a:buFont typeface="Noto Sans Symbols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www.someSchool.edu/someDepartment/home.index</a:t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06" name="Google Shape;206;p12"/>
          <p:cNvGrpSpPr/>
          <p:nvPr/>
        </p:nvGrpSpPr>
        <p:grpSpPr>
          <a:xfrm>
            <a:off x="371687" y="2060763"/>
            <a:ext cx="784845" cy="730423"/>
            <a:chOff x="-44" y="1473"/>
            <a:chExt cx="981" cy="1105"/>
          </a:xfrm>
        </p:grpSpPr>
        <p:pic>
          <p:nvPicPr>
            <p:cNvPr descr="desktop_computer_stylized_medium" id="207" name="Google Shape;207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8" name="Google Shape;208;p1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9" name="Google Shape;209;p12"/>
          <p:cNvGrpSpPr/>
          <p:nvPr/>
        </p:nvGrpSpPr>
        <p:grpSpPr>
          <a:xfrm>
            <a:off x="6367322" y="2347016"/>
            <a:ext cx="286234" cy="640019"/>
            <a:chOff x="4140" y="429"/>
            <a:chExt cx="1425" cy="2396"/>
          </a:xfrm>
        </p:grpSpPr>
        <p:sp>
          <p:nvSpPr>
            <p:cNvPr id="210" name="Google Shape;210;p1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2"/>
            <p:cNvSpPr/>
            <p:nvPr/>
          </p:nvSpPr>
          <p:spPr>
            <a:xfrm>
              <a:off x="4205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2"/>
            <p:cNvSpPr/>
            <p:nvPr/>
          </p:nvSpPr>
          <p:spPr>
            <a:xfrm>
              <a:off x="4212" y="693"/>
              <a:ext cx="595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5" name="Google Shape;215;p12"/>
            <p:cNvGrpSpPr/>
            <p:nvPr/>
          </p:nvGrpSpPr>
          <p:grpSpPr>
            <a:xfrm>
              <a:off x="4748" y="669"/>
              <a:ext cx="583" cy="140"/>
              <a:chOff x="613" y="2569"/>
              <a:chExt cx="727" cy="134"/>
            </a:xfrm>
          </p:grpSpPr>
          <p:sp>
            <p:nvSpPr>
              <p:cNvPr id="216" name="Google Shape;216;p12"/>
              <p:cNvSpPr/>
              <p:nvPr/>
            </p:nvSpPr>
            <p:spPr>
              <a:xfrm>
                <a:off x="613" y="2569"/>
                <a:ext cx="727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12"/>
              <p:cNvSpPr/>
              <p:nvPr/>
            </p:nvSpPr>
            <p:spPr>
              <a:xfrm>
                <a:off x="629" y="2586"/>
                <a:ext cx="694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8" name="Google Shape;218;p12"/>
            <p:cNvSpPr/>
            <p:nvPr/>
          </p:nvSpPr>
          <p:spPr>
            <a:xfrm>
              <a:off x="4225" y="1019"/>
              <a:ext cx="595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9" name="Google Shape;219;p12"/>
            <p:cNvGrpSpPr/>
            <p:nvPr/>
          </p:nvGrpSpPr>
          <p:grpSpPr>
            <a:xfrm>
              <a:off x="4749" y="995"/>
              <a:ext cx="579" cy="133"/>
              <a:chOff x="616" y="2569"/>
              <a:chExt cx="723" cy="138"/>
            </a:xfrm>
          </p:grpSpPr>
          <p:sp>
            <p:nvSpPr>
              <p:cNvPr id="220" name="Google Shape;220;p12"/>
              <p:cNvSpPr/>
              <p:nvPr/>
            </p:nvSpPr>
            <p:spPr>
              <a:xfrm>
                <a:off x="616" y="2569"/>
                <a:ext cx="723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12"/>
              <p:cNvSpPr/>
              <p:nvPr/>
            </p:nvSpPr>
            <p:spPr>
              <a:xfrm>
                <a:off x="632" y="2588"/>
                <a:ext cx="690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2" name="Google Shape;222;p12"/>
            <p:cNvSpPr/>
            <p:nvPr/>
          </p:nvSpPr>
          <p:spPr>
            <a:xfrm>
              <a:off x="4218" y="1357"/>
              <a:ext cx="595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2"/>
            <p:cNvSpPr/>
            <p:nvPr/>
          </p:nvSpPr>
          <p:spPr>
            <a:xfrm>
              <a:off x="4228" y="1654"/>
              <a:ext cx="595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4" name="Google Shape;224;p12"/>
            <p:cNvGrpSpPr/>
            <p:nvPr/>
          </p:nvGrpSpPr>
          <p:grpSpPr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25" name="Google Shape;225;p12"/>
              <p:cNvSpPr/>
              <p:nvPr/>
            </p:nvSpPr>
            <p:spPr>
              <a:xfrm>
                <a:off x="614" y="2568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12"/>
              <p:cNvSpPr/>
              <p:nvPr/>
            </p:nvSpPr>
            <p:spPr>
              <a:xfrm>
                <a:off x="631" y="2584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7" name="Google Shape;227;p1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8" name="Google Shape;228;p12"/>
            <p:cNvGrpSpPr/>
            <p:nvPr/>
          </p:nvGrpSpPr>
          <p:grpSpPr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29" name="Google Shape;229;p12"/>
              <p:cNvSpPr/>
              <p:nvPr/>
            </p:nvSpPr>
            <p:spPr>
              <a:xfrm>
                <a:off x="614" y="2568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12"/>
              <p:cNvSpPr/>
              <p:nvPr/>
            </p:nvSpPr>
            <p:spPr>
              <a:xfrm>
                <a:off x="630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1" name="Google Shape;231;p12"/>
            <p:cNvSpPr/>
            <p:nvPr/>
          </p:nvSpPr>
          <p:spPr>
            <a:xfrm>
              <a:off x="5249" y="432"/>
              <a:ext cx="68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1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12"/>
            <p:cNvSpPr/>
            <p:nvPr/>
          </p:nvSpPr>
          <p:spPr>
            <a:xfrm>
              <a:off x="5516" y="2611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1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12"/>
            <p:cNvSpPr/>
            <p:nvPr/>
          </p:nvSpPr>
          <p:spPr>
            <a:xfrm>
              <a:off x="4140" y="2677"/>
              <a:ext cx="1201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12"/>
            <p:cNvSpPr/>
            <p:nvPr/>
          </p:nvSpPr>
          <p:spPr>
            <a:xfrm>
              <a:off x="4205" y="2712"/>
              <a:ext cx="1070" cy="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2"/>
            <p:cNvSpPr/>
            <p:nvPr/>
          </p:nvSpPr>
          <p:spPr>
            <a:xfrm>
              <a:off x="4309" y="2383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12"/>
            <p:cNvSpPr/>
            <p:nvPr/>
          </p:nvSpPr>
          <p:spPr>
            <a:xfrm>
              <a:off x="4485" y="2383"/>
              <a:ext cx="163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12"/>
            <p:cNvSpPr/>
            <p:nvPr/>
          </p:nvSpPr>
          <p:spPr>
            <a:xfrm>
              <a:off x="4661" y="2380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12"/>
            <p:cNvSpPr/>
            <p:nvPr/>
          </p:nvSpPr>
          <p:spPr>
            <a:xfrm>
              <a:off x="5061" y="1835"/>
              <a:ext cx="88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2" name="Google Shape;242;p12"/>
          <p:cNvSpPr txBox="1"/>
          <p:nvPr/>
        </p:nvSpPr>
        <p:spPr>
          <a:xfrm>
            <a:off x="798691" y="3200188"/>
            <a:ext cx="5085273" cy="2010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HTTP client receives response message containing html file, displays html.  Parsing html file, finds 10 referenced jpeg  objects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2"/>
          <p:cNvSpPr/>
          <p:nvPr/>
        </p:nvSpPr>
        <p:spPr>
          <a:xfrm>
            <a:off x="970480" y="4851930"/>
            <a:ext cx="3810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6.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Steps 1-5 repeated for each of 10 jpeg objects</a:t>
            </a:r>
            <a:endParaRPr/>
          </a:p>
        </p:txBody>
      </p:sp>
      <p:sp>
        <p:nvSpPr>
          <p:cNvPr id="244" name="Google Shape;244;p12"/>
          <p:cNvSpPr/>
          <p:nvPr/>
        </p:nvSpPr>
        <p:spPr>
          <a:xfrm>
            <a:off x="6706580" y="2782360"/>
            <a:ext cx="381000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HTTP server closes TCP connection. </a:t>
            </a:r>
            <a:endParaRPr/>
          </a:p>
        </p:txBody>
      </p:sp>
      <p:cxnSp>
        <p:nvCxnSpPr>
          <p:cNvPr id="245" name="Google Shape;245;p12"/>
          <p:cNvCxnSpPr/>
          <p:nvPr/>
        </p:nvCxnSpPr>
        <p:spPr>
          <a:xfrm flipH="1">
            <a:off x="5587465" y="3200187"/>
            <a:ext cx="1095375" cy="523875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6" name="Google Shape;246;p12"/>
          <p:cNvCxnSpPr/>
          <p:nvPr/>
        </p:nvCxnSpPr>
        <p:spPr>
          <a:xfrm>
            <a:off x="798691" y="2868166"/>
            <a:ext cx="10658" cy="3480471"/>
          </a:xfrm>
          <a:prstGeom prst="straightConnector1">
            <a:avLst/>
          </a:prstGeom>
          <a:noFill/>
          <a:ln cap="flat" cmpd="sng" w="19050">
            <a:solidFill>
              <a:srgbClr val="A5A5A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7" name="Google Shape;247;p12"/>
          <p:cNvSpPr/>
          <p:nvPr/>
        </p:nvSpPr>
        <p:spPr>
          <a:xfrm>
            <a:off x="490358" y="5641558"/>
            <a:ext cx="657225" cy="2952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 txBox="1"/>
          <p:nvPr/>
        </p:nvSpPr>
        <p:spPr>
          <a:xfrm>
            <a:off x="499883" y="5563771"/>
            <a:ext cx="673100" cy="406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Non-persistent HTTP: response time</a:t>
            </a:r>
            <a:endParaRPr sz="4400"/>
          </a:p>
        </p:txBody>
      </p:sp>
      <p:sp>
        <p:nvSpPr>
          <p:cNvPr id="255" name="Google Shape;255;p13"/>
          <p:cNvSpPr txBox="1"/>
          <p:nvPr/>
        </p:nvSpPr>
        <p:spPr>
          <a:xfrm>
            <a:off x="736393" y="1919178"/>
            <a:ext cx="5683502" cy="33373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RTT (definition):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time for a small packet to travel from client to server and back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HTTP response time (per object):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RTT to initiate TCP connection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RTT for HTTP request and first few bytes of HTTP response to return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obect/file transmission time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6" name="Google Shape;256;p13"/>
          <p:cNvCxnSpPr/>
          <p:nvPr/>
        </p:nvCxnSpPr>
        <p:spPr>
          <a:xfrm>
            <a:off x="8197229" y="2671284"/>
            <a:ext cx="0" cy="2832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257" name="Google Shape;257;p13"/>
          <p:cNvCxnSpPr/>
          <p:nvPr/>
        </p:nvCxnSpPr>
        <p:spPr>
          <a:xfrm>
            <a:off x="9887916" y="2664934"/>
            <a:ext cx="0" cy="2881312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258" name="Google Shape;258;p13"/>
          <p:cNvCxnSpPr/>
          <p:nvPr/>
        </p:nvCxnSpPr>
        <p:spPr>
          <a:xfrm>
            <a:off x="8211516" y="2903059"/>
            <a:ext cx="1684338" cy="3905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9" name="Google Shape;259;p13"/>
          <p:cNvCxnSpPr/>
          <p:nvPr/>
        </p:nvCxnSpPr>
        <p:spPr>
          <a:xfrm flipH="1">
            <a:off x="8197229" y="3341209"/>
            <a:ext cx="1673225" cy="4032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0" name="Google Shape;260;p13"/>
          <p:cNvCxnSpPr/>
          <p:nvPr/>
        </p:nvCxnSpPr>
        <p:spPr>
          <a:xfrm>
            <a:off x="8205166" y="3849209"/>
            <a:ext cx="1684338" cy="3905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1" name="Google Shape;261;p13"/>
          <p:cNvSpPr/>
          <p:nvPr/>
        </p:nvSpPr>
        <p:spPr>
          <a:xfrm>
            <a:off x="9903942" y="4249143"/>
            <a:ext cx="99857" cy="161739"/>
          </a:xfrm>
          <a:prstGeom prst="rightBrace">
            <a:avLst>
              <a:gd fmla="val 2039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3"/>
          <p:cNvSpPr txBox="1"/>
          <p:nvPr/>
        </p:nvSpPr>
        <p:spPr>
          <a:xfrm>
            <a:off x="9997454" y="3944459"/>
            <a:ext cx="1123577" cy="879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time to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transmit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file</a:t>
            </a:r>
            <a:endParaRPr/>
          </a:p>
        </p:txBody>
      </p:sp>
      <p:cxnSp>
        <p:nvCxnSpPr>
          <p:cNvPr id="263" name="Google Shape;263;p13"/>
          <p:cNvCxnSpPr/>
          <p:nvPr/>
        </p:nvCxnSpPr>
        <p:spPr>
          <a:xfrm>
            <a:off x="7806704" y="2877659"/>
            <a:ext cx="390525" cy="15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" name="Google Shape;264;p13"/>
          <p:cNvSpPr txBox="1"/>
          <p:nvPr/>
        </p:nvSpPr>
        <p:spPr>
          <a:xfrm>
            <a:off x="6516660" y="2563010"/>
            <a:ext cx="1363707" cy="617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initiate TCP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connection</a:t>
            </a:r>
            <a:endParaRPr/>
          </a:p>
        </p:txBody>
      </p:sp>
      <p:sp>
        <p:nvSpPr>
          <p:cNvPr id="265" name="Google Shape;265;p13"/>
          <p:cNvSpPr/>
          <p:nvPr/>
        </p:nvSpPr>
        <p:spPr>
          <a:xfrm>
            <a:off x="7941641" y="2928459"/>
            <a:ext cx="128588" cy="803275"/>
          </a:xfrm>
          <a:prstGeom prst="leftBrace">
            <a:avLst>
              <a:gd fmla="val 52057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 txBox="1"/>
          <p:nvPr/>
        </p:nvSpPr>
        <p:spPr>
          <a:xfrm>
            <a:off x="7459041" y="3139596"/>
            <a:ext cx="575222" cy="35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RTT</a:t>
            </a:r>
            <a:endParaRPr/>
          </a:p>
        </p:txBody>
      </p:sp>
      <p:cxnSp>
        <p:nvCxnSpPr>
          <p:cNvPr id="267" name="Google Shape;267;p13"/>
          <p:cNvCxnSpPr/>
          <p:nvPr/>
        </p:nvCxnSpPr>
        <p:spPr>
          <a:xfrm>
            <a:off x="7855916" y="3782534"/>
            <a:ext cx="35401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8" name="Google Shape;268;p13"/>
          <p:cNvSpPr txBox="1"/>
          <p:nvPr/>
        </p:nvSpPr>
        <p:spPr>
          <a:xfrm>
            <a:off x="6493113" y="3589815"/>
            <a:ext cx="1969956" cy="35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request file</a:t>
            </a:r>
            <a:endParaRPr/>
          </a:p>
        </p:txBody>
      </p:sp>
      <p:sp>
        <p:nvSpPr>
          <p:cNvPr id="269" name="Google Shape;269;p13"/>
          <p:cNvSpPr/>
          <p:nvPr/>
        </p:nvSpPr>
        <p:spPr>
          <a:xfrm>
            <a:off x="7947991" y="3838096"/>
            <a:ext cx="128588" cy="803275"/>
          </a:xfrm>
          <a:prstGeom prst="leftBrace">
            <a:avLst>
              <a:gd fmla="val 52057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 txBox="1"/>
          <p:nvPr/>
        </p:nvSpPr>
        <p:spPr>
          <a:xfrm>
            <a:off x="7478091" y="4061934"/>
            <a:ext cx="575222" cy="35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RTT</a:t>
            </a:r>
            <a:endParaRPr/>
          </a:p>
        </p:txBody>
      </p:sp>
      <p:cxnSp>
        <p:nvCxnSpPr>
          <p:cNvPr id="271" name="Google Shape;271;p13"/>
          <p:cNvCxnSpPr/>
          <p:nvPr/>
        </p:nvCxnSpPr>
        <p:spPr>
          <a:xfrm flipH="1">
            <a:off x="7818988" y="4805006"/>
            <a:ext cx="361323" cy="22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2" name="Google Shape;272;p13"/>
          <p:cNvSpPr txBox="1"/>
          <p:nvPr/>
        </p:nvSpPr>
        <p:spPr>
          <a:xfrm>
            <a:off x="6405684" y="4617233"/>
            <a:ext cx="1647627" cy="35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file received</a:t>
            </a:r>
            <a:endParaRPr/>
          </a:p>
        </p:txBody>
      </p:sp>
      <p:sp>
        <p:nvSpPr>
          <p:cNvPr id="273" name="Google Shape;273;p13"/>
          <p:cNvSpPr txBox="1"/>
          <p:nvPr/>
        </p:nvSpPr>
        <p:spPr>
          <a:xfrm>
            <a:off x="7971804" y="5517671"/>
            <a:ext cx="663964" cy="35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  <p:sp>
        <p:nvSpPr>
          <p:cNvPr id="274" name="Google Shape;274;p13"/>
          <p:cNvSpPr txBox="1"/>
          <p:nvPr/>
        </p:nvSpPr>
        <p:spPr>
          <a:xfrm>
            <a:off x="9649791" y="5500209"/>
            <a:ext cx="66396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  <p:grpSp>
        <p:nvGrpSpPr>
          <p:cNvPr id="275" name="Google Shape;275;p13"/>
          <p:cNvGrpSpPr/>
          <p:nvPr/>
        </p:nvGrpSpPr>
        <p:grpSpPr>
          <a:xfrm>
            <a:off x="9687891" y="1898171"/>
            <a:ext cx="423863" cy="684213"/>
            <a:chOff x="4140" y="429"/>
            <a:chExt cx="1425" cy="2396"/>
          </a:xfrm>
        </p:grpSpPr>
        <p:sp>
          <p:nvSpPr>
            <p:cNvPr id="276" name="Google Shape;276;p1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13"/>
            <p:cNvSpPr/>
            <p:nvPr/>
          </p:nvSpPr>
          <p:spPr>
            <a:xfrm>
              <a:off x="4204" y="429"/>
              <a:ext cx="1051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1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1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13"/>
            <p:cNvSpPr/>
            <p:nvPr/>
          </p:nvSpPr>
          <p:spPr>
            <a:xfrm>
              <a:off x="4209" y="690"/>
              <a:ext cx="598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1" name="Google Shape;281;p13"/>
            <p:cNvGrpSpPr/>
            <p:nvPr/>
          </p:nvGrpSpPr>
          <p:grpSpPr>
            <a:xfrm>
              <a:off x="4748" y="668"/>
              <a:ext cx="582" cy="145"/>
              <a:chOff x="613" y="2568"/>
              <a:chExt cx="726" cy="139"/>
            </a:xfrm>
          </p:grpSpPr>
          <p:sp>
            <p:nvSpPr>
              <p:cNvPr id="282" name="Google Shape;282;p13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2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13"/>
              <p:cNvSpPr/>
              <p:nvPr/>
            </p:nvSpPr>
            <p:spPr>
              <a:xfrm>
                <a:off x="627" y="2584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2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4" name="Google Shape;284;p13"/>
            <p:cNvSpPr/>
            <p:nvPr/>
          </p:nvSpPr>
          <p:spPr>
            <a:xfrm>
              <a:off x="4225" y="1018"/>
              <a:ext cx="592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5" name="Google Shape;285;p13"/>
            <p:cNvGrpSpPr/>
            <p:nvPr/>
          </p:nvGrpSpPr>
          <p:grpSpPr>
            <a:xfrm>
              <a:off x="4749" y="996"/>
              <a:ext cx="582" cy="133"/>
              <a:chOff x="616" y="2570"/>
              <a:chExt cx="726" cy="138"/>
            </a:xfrm>
          </p:grpSpPr>
          <p:sp>
            <p:nvSpPr>
              <p:cNvPr id="286" name="Google Shape;286;p13"/>
              <p:cNvSpPr/>
              <p:nvPr/>
            </p:nvSpPr>
            <p:spPr>
              <a:xfrm>
                <a:off x="616" y="2570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2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13"/>
              <p:cNvSpPr/>
              <p:nvPr/>
            </p:nvSpPr>
            <p:spPr>
              <a:xfrm>
                <a:off x="629" y="2587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2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8" name="Google Shape;288;p13"/>
            <p:cNvSpPr/>
            <p:nvPr/>
          </p:nvSpPr>
          <p:spPr>
            <a:xfrm>
              <a:off x="4215" y="1357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13"/>
            <p:cNvSpPr/>
            <p:nvPr/>
          </p:nvSpPr>
          <p:spPr>
            <a:xfrm>
              <a:off x="4225" y="1658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90" name="Google Shape;290;p13"/>
            <p:cNvGrpSpPr/>
            <p:nvPr/>
          </p:nvGrpSpPr>
          <p:grpSpPr>
            <a:xfrm>
              <a:off x="4733" y="1641"/>
              <a:ext cx="587" cy="139"/>
              <a:chOff x="611" y="2581"/>
              <a:chExt cx="731" cy="128"/>
            </a:xfrm>
          </p:grpSpPr>
          <p:sp>
            <p:nvSpPr>
              <p:cNvPr id="291" name="Google Shape;291;p13"/>
              <p:cNvSpPr/>
              <p:nvPr/>
            </p:nvSpPr>
            <p:spPr>
              <a:xfrm>
                <a:off x="611" y="2581"/>
                <a:ext cx="731" cy="12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2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13"/>
              <p:cNvSpPr/>
              <p:nvPr/>
            </p:nvSpPr>
            <p:spPr>
              <a:xfrm>
                <a:off x="624" y="2586"/>
                <a:ext cx="698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2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3" name="Google Shape;293;p1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94" name="Google Shape;294;p13"/>
            <p:cNvGrpSpPr/>
            <p:nvPr/>
          </p:nvGrpSpPr>
          <p:grpSpPr>
            <a:xfrm>
              <a:off x="4737" y="1335"/>
              <a:ext cx="582" cy="139"/>
              <a:chOff x="612" y="2576"/>
              <a:chExt cx="725" cy="139"/>
            </a:xfrm>
          </p:grpSpPr>
          <p:sp>
            <p:nvSpPr>
              <p:cNvPr id="295" name="Google Shape;295;p13"/>
              <p:cNvSpPr/>
              <p:nvPr/>
            </p:nvSpPr>
            <p:spPr>
              <a:xfrm>
                <a:off x="612" y="257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2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13"/>
              <p:cNvSpPr/>
              <p:nvPr/>
            </p:nvSpPr>
            <p:spPr>
              <a:xfrm>
                <a:off x="626" y="2587"/>
                <a:ext cx="691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2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7" name="Google Shape;297;p13"/>
            <p:cNvSpPr/>
            <p:nvPr/>
          </p:nvSpPr>
          <p:spPr>
            <a:xfrm>
              <a:off x="5250" y="429"/>
              <a:ext cx="69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1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13"/>
            <p:cNvSpPr/>
            <p:nvPr/>
          </p:nvSpPr>
          <p:spPr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1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13"/>
            <p:cNvSpPr/>
            <p:nvPr/>
          </p:nvSpPr>
          <p:spPr>
            <a:xfrm>
              <a:off x="4140" y="2680"/>
              <a:ext cx="1201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13"/>
            <p:cNvSpPr/>
            <p:nvPr/>
          </p:nvSpPr>
          <p:spPr>
            <a:xfrm>
              <a:off x="4204" y="2708"/>
              <a:ext cx="1073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13"/>
            <p:cNvSpPr/>
            <p:nvPr/>
          </p:nvSpPr>
          <p:spPr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13"/>
            <p:cNvSpPr/>
            <p:nvPr/>
          </p:nvSpPr>
          <p:spPr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sz="24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13"/>
            <p:cNvSpPr/>
            <p:nvPr/>
          </p:nvSpPr>
          <p:spPr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13"/>
            <p:cNvSpPr/>
            <p:nvPr/>
          </p:nvSpPr>
          <p:spPr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8" name="Google Shape;308;p13"/>
          <p:cNvGrpSpPr/>
          <p:nvPr/>
        </p:nvGrpSpPr>
        <p:grpSpPr>
          <a:xfrm>
            <a:off x="7686054" y="1920396"/>
            <a:ext cx="698500" cy="709613"/>
            <a:chOff x="-44" y="1473"/>
            <a:chExt cx="981" cy="1105"/>
          </a:xfrm>
        </p:grpSpPr>
        <p:pic>
          <p:nvPicPr>
            <p:cNvPr descr="desktop_computer_stylized_medium" id="309" name="Google Shape;309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1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1" name="Google Shape;311;p13"/>
          <p:cNvSpPr/>
          <p:nvPr/>
        </p:nvSpPr>
        <p:spPr>
          <a:xfrm>
            <a:off x="8188984" y="4246818"/>
            <a:ext cx="1700270" cy="558188"/>
          </a:xfrm>
          <a:custGeom>
            <a:rect b="b" l="l" r="r" t="t"/>
            <a:pathLst>
              <a:path extrusionOk="0" h="558188" w="1700270">
                <a:moveTo>
                  <a:pt x="0" y="389262"/>
                </a:moveTo>
                <a:lnTo>
                  <a:pt x="1700270" y="0"/>
                </a:lnTo>
                <a:lnTo>
                  <a:pt x="1696598" y="176269"/>
                </a:lnTo>
                <a:lnTo>
                  <a:pt x="7344" y="558188"/>
                </a:lnTo>
                <a:lnTo>
                  <a:pt x="0" y="389262"/>
                </a:lnTo>
                <a:close/>
              </a:path>
            </a:pathLst>
          </a:custGeom>
          <a:solidFill>
            <a:srgbClr val="0000A8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/>
          <p:nvPr/>
        </p:nvSpPr>
        <p:spPr>
          <a:xfrm rot="10800000">
            <a:off x="8069711" y="4643267"/>
            <a:ext cx="99857" cy="161739"/>
          </a:xfrm>
          <a:prstGeom prst="rightBrace">
            <a:avLst>
              <a:gd fmla="val 2039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 txBox="1"/>
          <p:nvPr/>
        </p:nvSpPr>
        <p:spPr>
          <a:xfrm>
            <a:off x="1056514" y="5919854"/>
            <a:ext cx="9257241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Non-persistent HTTP response time =  2RTT+ file transmission  time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4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Persistent HTTP </a:t>
            </a:r>
            <a:r>
              <a:rPr lang="en-US" sz="3200"/>
              <a:t>(HTTP 1.1)</a:t>
            </a:r>
            <a:endParaRPr sz="4400"/>
          </a:p>
        </p:txBody>
      </p:sp>
      <p:sp>
        <p:nvSpPr>
          <p:cNvPr id="320" name="Google Shape;320;p14"/>
          <p:cNvSpPr txBox="1"/>
          <p:nvPr/>
        </p:nvSpPr>
        <p:spPr>
          <a:xfrm>
            <a:off x="798691" y="1401764"/>
            <a:ext cx="5165547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2301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i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Non-persistent HTTP issues:</a:t>
            </a:r>
            <a:endParaRPr/>
          </a:p>
          <a:p>
            <a:pPr indent="-217487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requires 2 RTTs per object</a:t>
            </a:r>
            <a:endParaRPr/>
          </a:p>
          <a:p>
            <a:pPr indent="-217487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overhead for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TCP connection</a:t>
            </a:r>
            <a:endParaRPr/>
          </a:p>
          <a:p>
            <a:pPr indent="-217487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browsers often open multiple parallel TCP connections to fetch referenced objects in parallel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 txBox="1"/>
          <p:nvPr/>
        </p:nvSpPr>
        <p:spPr>
          <a:xfrm>
            <a:off x="6227762" y="1414463"/>
            <a:ext cx="5735053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2301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i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Persistent  HTTP </a:t>
            </a:r>
            <a:r>
              <a:rPr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(HTTP1.1):</a:t>
            </a:r>
            <a:endParaRPr i="1" sz="32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7487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 leaves connection open after sending response</a:t>
            </a:r>
            <a:endParaRPr/>
          </a:p>
          <a:p>
            <a:pPr indent="-217487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subsequent HTTP messages  between same client/server sent over open connection</a:t>
            </a:r>
            <a:endParaRPr/>
          </a:p>
          <a:p>
            <a:pPr indent="-217487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 sends requests as soon as it encounters a referenced object</a:t>
            </a:r>
            <a:endParaRPr/>
          </a:p>
          <a:p>
            <a:pPr indent="-217487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little as one RTT for all the referenced objects (cutting response time in half)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5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 request </a:t>
            </a:r>
            <a:r>
              <a:rPr lang="en-US"/>
              <a:t>m</a:t>
            </a:r>
            <a:r>
              <a:rPr lang="en-US" sz="4400"/>
              <a:t>essage</a:t>
            </a:r>
            <a:endParaRPr sz="4400"/>
          </a:p>
        </p:txBody>
      </p:sp>
      <p:sp>
        <p:nvSpPr>
          <p:cNvPr id="328" name="Google Shape;328;p15"/>
          <p:cNvSpPr txBox="1"/>
          <p:nvPr/>
        </p:nvSpPr>
        <p:spPr>
          <a:xfrm>
            <a:off x="533400" y="1444625"/>
            <a:ext cx="11658600" cy="14292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3363" lvl="0" marL="2333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types of HTTP messages: 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request</a:t>
            </a: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response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HTTP request message: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ASCII (human-readable format)</a:t>
            </a:r>
            <a:endParaRPr b="0" i="0" sz="24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5"/>
          <p:cNvSpPr txBox="1"/>
          <p:nvPr/>
        </p:nvSpPr>
        <p:spPr>
          <a:xfrm>
            <a:off x="2771677" y="4189643"/>
            <a:ext cx="1071127" cy="757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header</a:t>
            </a:r>
            <a:endParaRPr/>
          </a:p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lines</a:t>
            </a:r>
            <a:endParaRPr sz="2800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5"/>
          <p:cNvSpPr txBox="1"/>
          <p:nvPr/>
        </p:nvSpPr>
        <p:spPr>
          <a:xfrm>
            <a:off x="4000046" y="3323999"/>
            <a:ext cx="7921878" cy="23429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GET /index.html HTTP/1.1\r\n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Host: www-net.cs.umass.edu\r\n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User-Agent: Mozilla/5.0 (Macintosh; Intel Mac OS X 10.15; rv:80.0) Gecko/20100101 Firefox/80.0 \r\n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Accept: text/html,application/xhtml+xml\r\n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Accept-Language: en-us,en;q=0.5\r\n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Accept-Encoding: gzip,deflate\r\n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Connection: keep-alive\r\n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\r\n</a:t>
            </a:r>
            <a:endParaRPr/>
          </a:p>
        </p:txBody>
      </p:sp>
      <p:grpSp>
        <p:nvGrpSpPr>
          <p:cNvPr id="331" name="Google Shape;331;p15"/>
          <p:cNvGrpSpPr/>
          <p:nvPr/>
        </p:nvGrpSpPr>
        <p:grpSpPr>
          <a:xfrm>
            <a:off x="7524296" y="2623511"/>
            <a:ext cx="2834575" cy="849313"/>
            <a:chOff x="7524296" y="2554061"/>
            <a:chExt cx="2834575" cy="849313"/>
          </a:xfrm>
        </p:grpSpPr>
        <p:cxnSp>
          <p:nvCxnSpPr>
            <p:cNvPr id="332" name="Google Shape;332;p15"/>
            <p:cNvCxnSpPr/>
            <p:nvPr/>
          </p:nvCxnSpPr>
          <p:spPr>
            <a:xfrm flipH="1">
              <a:off x="7524296" y="2841399"/>
              <a:ext cx="166688" cy="514350"/>
            </a:xfrm>
            <a:prstGeom prst="straightConnector1">
              <a:avLst/>
            </a:prstGeom>
            <a:noFill/>
            <a:ln cap="flat" cmpd="sng" w="9525">
              <a:solidFill>
                <a:srgbClr val="0000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33" name="Google Shape;333;p15"/>
            <p:cNvSpPr txBox="1"/>
            <p:nvPr/>
          </p:nvSpPr>
          <p:spPr>
            <a:xfrm>
              <a:off x="7575096" y="2554061"/>
              <a:ext cx="278377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carriage return character</a:t>
              </a:r>
              <a:endParaRPr/>
            </a:p>
          </p:txBody>
        </p:sp>
        <p:sp>
          <p:nvSpPr>
            <p:cNvPr id="334" name="Google Shape;334;p15"/>
            <p:cNvSpPr txBox="1"/>
            <p:nvPr/>
          </p:nvSpPr>
          <p:spPr>
            <a:xfrm>
              <a:off x="7727496" y="2850924"/>
              <a:ext cx="21493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line-feed character</a:t>
              </a:r>
              <a:endParaRPr/>
            </a:p>
          </p:txBody>
        </p:sp>
        <p:cxnSp>
          <p:nvCxnSpPr>
            <p:cNvPr id="335" name="Google Shape;335;p15"/>
            <p:cNvCxnSpPr/>
            <p:nvPr/>
          </p:nvCxnSpPr>
          <p:spPr>
            <a:xfrm flipH="1">
              <a:off x="7805284" y="3150961"/>
              <a:ext cx="80962" cy="252413"/>
            </a:xfrm>
            <a:prstGeom prst="straightConnector1">
              <a:avLst/>
            </a:prstGeom>
            <a:noFill/>
            <a:ln cap="flat" cmpd="sng" w="9525">
              <a:solidFill>
                <a:srgbClr val="0000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36" name="Google Shape;336;p15"/>
          <p:cNvGrpSpPr/>
          <p:nvPr/>
        </p:nvGrpSpPr>
        <p:grpSpPr>
          <a:xfrm>
            <a:off x="304572" y="3050979"/>
            <a:ext cx="3691165" cy="830997"/>
            <a:chOff x="304572" y="3050979"/>
            <a:chExt cx="3691165" cy="830997"/>
          </a:xfrm>
        </p:grpSpPr>
        <p:sp>
          <p:nvSpPr>
            <p:cNvPr id="337" name="Google Shape;337;p15"/>
            <p:cNvSpPr txBox="1"/>
            <p:nvPr/>
          </p:nvSpPr>
          <p:spPr>
            <a:xfrm>
              <a:off x="304572" y="3050979"/>
              <a:ext cx="3163155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Calibri"/>
                <a:buNone/>
              </a:pPr>
              <a:r>
                <a:rPr lang="en-US" sz="24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request line (GET, POST,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Calibri"/>
                <a:buNone/>
              </a:pPr>
              <a:r>
                <a:rPr lang="en-US" sz="24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HEAD commands)</a:t>
              </a:r>
              <a:endParaRPr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38" name="Google Shape;338;p15"/>
            <p:cNvCxnSpPr/>
            <p:nvPr/>
          </p:nvCxnSpPr>
          <p:spPr>
            <a:xfrm>
              <a:off x="2558822" y="3471412"/>
              <a:ext cx="1436915" cy="0"/>
            </a:xfrm>
            <a:prstGeom prst="straightConnector1">
              <a:avLst/>
            </a:prstGeom>
            <a:noFill/>
            <a:ln cap="flat" cmpd="sng" w="19050">
              <a:solidFill>
                <a:srgbClr val="0000A8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339" name="Google Shape;339;p15"/>
          <p:cNvGrpSpPr/>
          <p:nvPr/>
        </p:nvGrpSpPr>
        <p:grpSpPr>
          <a:xfrm>
            <a:off x="743905" y="5548787"/>
            <a:ext cx="7763054" cy="1145473"/>
            <a:chOff x="743905" y="5548787"/>
            <a:chExt cx="7763054" cy="1145473"/>
          </a:xfrm>
        </p:grpSpPr>
        <p:cxnSp>
          <p:nvCxnSpPr>
            <p:cNvPr id="340" name="Google Shape;340;p15"/>
            <p:cNvCxnSpPr/>
            <p:nvPr/>
          </p:nvCxnSpPr>
          <p:spPr>
            <a:xfrm>
              <a:off x="3499984" y="5710011"/>
              <a:ext cx="511175" cy="0"/>
            </a:xfrm>
            <a:prstGeom prst="straightConnector1">
              <a:avLst/>
            </a:prstGeom>
            <a:noFill/>
            <a:ln cap="flat" cmpd="sng" w="19050">
              <a:solidFill>
                <a:srgbClr val="0000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41" name="Google Shape;341;p15"/>
            <p:cNvSpPr txBox="1"/>
            <p:nvPr/>
          </p:nvSpPr>
          <p:spPr>
            <a:xfrm>
              <a:off x="743905" y="5548787"/>
              <a:ext cx="2771636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carriage return, line feed at start of line indicates end of header lines</a:t>
              </a:r>
              <a:endParaRPr sz="24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15"/>
            <p:cNvSpPr txBox="1"/>
            <p:nvPr/>
          </p:nvSpPr>
          <p:spPr>
            <a:xfrm>
              <a:off x="4000046" y="6171973"/>
              <a:ext cx="4506913" cy="522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* Check out the online interactive exercises for more examples: h</a:t>
              </a: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ttp://gaia.cs.umass.edu/kurose_ross/interactive/</a:t>
              </a:r>
              <a:endParaRPr/>
            </a:p>
          </p:txBody>
        </p:sp>
      </p:grpSp>
      <p:sp>
        <p:nvSpPr>
          <p:cNvPr id="343" name="Google Shape;343;p15"/>
          <p:cNvSpPr/>
          <p:nvPr/>
        </p:nvSpPr>
        <p:spPr>
          <a:xfrm>
            <a:off x="3812583" y="3704095"/>
            <a:ext cx="217442" cy="1797803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0000A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5"/>
          <p:cNvSpPr/>
          <p:nvPr/>
        </p:nvSpPr>
        <p:spPr>
          <a:xfrm>
            <a:off x="4019515" y="3331027"/>
            <a:ext cx="6620718" cy="30218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5"/>
          <p:cNvSpPr/>
          <p:nvPr/>
        </p:nvSpPr>
        <p:spPr>
          <a:xfrm>
            <a:off x="2726871" y="3599519"/>
            <a:ext cx="8392886" cy="196852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6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 request message: general format</a:t>
            </a:r>
            <a:endParaRPr sz="4400"/>
          </a:p>
        </p:txBody>
      </p:sp>
      <p:sp>
        <p:nvSpPr>
          <p:cNvPr id="352" name="Google Shape;352;p16"/>
          <p:cNvSpPr txBox="1"/>
          <p:nvPr/>
        </p:nvSpPr>
        <p:spPr>
          <a:xfrm>
            <a:off x="8704472" y="1752600"/>
            <a:ext cx="1030287" cy="6413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request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line</a:t>
            </a:r>
            <a:endParaRPr/>
          </a:p>
        </p:txBody>
      </p:sp>
      <p:sp>
        <p:nvSpPr>
          <p:cNvPr id="353" name="Google Shape;353;p16"/>
          <p:cNvSpPr txBox="1"/>
          <p:nvPr/>
        </p:nvSpPr>
        <p:spPr>
          <a:xfrm>
            <a:off x="8699709" y="2768600"/>
            <a:ext cx="974725" cy="6413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header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lines</a:t>
            </a:r>
            <a:endParaRPr/>
          </a:p>
        </p:txBody>
      </p:sp>
      <p:sp>
        <p:nvSpPr>
          <p:cNvPr id="354" name="Google Shape;354;p16"/>
          <p:cNvSpPr/>
          <p:nvPr/>
        </p:nvSpPr>
        <p:spPr>
          <a:xfrm>
            <a:off x="8315534" y="2338387"/>
            <a:ext cx="346075" cy="1819275"/>
          </a:xfrm>
          <a:prstGeom prst="rect">
            <a:avLst/>
          </a:prstGeom>
          <a:noFill/>
          <a:ln cap="flat" cmpd="sng" w="19050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6"/>
          <p:cNvSpPr/>
          <p:nvPr/>
        </p:nvSpPr>
        <p:spPr>
          <a:xfrm>
            <a:off x="8182184" y="2287587"/>
            <a:ext cx="290513" cy="20177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6"/>
          <p:cNvSpPr/>
          <p:nvPr/>
        </p:nvSpPr>
        <p:spPr>
          <a:xfrm>
            <a:off x="8550484" y="4394200"/>
            <a:ext cx="712788" cy="12160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6"/>
          <p:cNvSpPr txBox="1"/>
          <p:nvPr/>
        </p:nvSpPr>
        <p:spPr>
          <a:xfrm>
            <a:off x="8701297" y="4959350"/>
            <a:ext cx="735012" cy="36671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body</a:t>
            </a:r>
            <a:endParaRPr/>
          </a:p>
        </p:txBody>
      </p:sp>
      <p:sp>
        <p:nvSpPr>
          <p:cNvPr id="358" name="Google Shape;358;p16"/>
          <p:cNvSpPr/>
          <p:nvPr/>
        </p:nvSpPr>
        <p:spPr>
          <a:xfrm>
            <a:off x="2879934" y="1789112"/>
            <a:ext cx="5638800" cy="446088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9" name="Google Shape;359;p16"/>
          <p:cNvCxnSpPr/>
          <p:nvPr/>
        </p:nvCxnSpPr>
        <p:spPr>
          <a:xfrm>
            <a:off x="4188034" y="1792287"/>
            <a:ext cx="0" cy="4381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" name="Google Shape;360;p16"/>
          <p:cNvCxnSpPr/>
          <p:nvPr/>
        </p:nvCxnSpPr>
        <p:spPr>
          <a:xfrm>
            <a:off x="4632534" y="1792287"/>
            <a:ext cx="0" cy="4381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" name="Google Shape;361;p16"/>
          <p:cNvCxnSpPr/>
          <p:nvPr/>
        </p:nvCxnSpPr>
        <p:spPr>
          <a:xfrm>
            <a:off x="5940634" y="1792287"/>
            <a:ext cx="0" cy="4381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16"/>
          <p:cNvCxnSpPr/>
          <p:nvPr/>
        </p:nvCxnSpPr>
        <p:spPr>
          <a:xfrm>
            <a:off x="6366084" y="1785937"/>
            <a:ext cx="0" cy="4381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" name="Google Shape;363;p16"/>
          <p:cNvCxnSpPr/>
          <p:nvPr/>
        </p:nvCxnSpPr>
        <p:spPr>
          <a:xfrm>
            <a:off x="7667834" y="1792287"/>
            <a:ext cx="0" cy="4381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" name="Google Shape;364;p16"/>
          <p:cNvCxnSpPr/>
          <p:nvPr/>
        </p:nvCxnSpPr>
        <p:spPr>
          <a:xfrm>
            <a:off x="8105984" y="1792287"/>
            <a:ext cx="0" cy="4381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5" name="Google Shape;365;p16"/>
          <p:cNvSpPr txBox="1"/>
          <p:nvPr/>
        </p:nvSpPr>
        <p:spPr>
          <a:xfrm>
            <a:off x="3003759" y="1816100"/>
            <a:ext cx="103028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endParaRPr/>
          </a:p>
        </p:txBody>
      </p:sp>
      <p:sp>
        <p:nvSpPr>
          <p:cNvPr id="366" name="Google Shape;366;p16"/>
          <p:cNvSpPr txBox="1"/>
          <p:nvPr/>
        </p:nvSpPr>
        <p:spPr>
          <a:xfrm>
            <a:off x="4165809" y="1797050"/>
            <a:ext cx="45243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</a:t>
            </a:r>
            <a:endParaRPr/>
          </a:p>
        </p:txBody>
      </p:sp>
      <p:sp>
        <p:nvSpPr>
          <p:cNvPr id="367" name="Google Shape;367;p16"/>
          <p:cNvSpPr txBox="1"/>
          <p:nvPr/>
        </p:nvSpPr>
        <p:spPr>
          <a:xfrm>
            <a:off x="5931109" y="1803400"/>
            <a:ext cx="45243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</a:t>
            </a:r>
            <a:endParaRPr/>
          </a:p>
        </p:txBody>
      </p:sp>
      <p:sp>
        <p:nvSpPr>
          <p:cNvPr id="368" name="Google Shape;368;p16"/>
          <p:cNvSpPr txBox="1"/>
          <p:nvPr/>
        </p:nvSpPr>
        <p:spPr>
          <a:xfrm>
            <a:off x="7683709" y="1809750"/>
            <a:ext cx="4032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</a:t>
            </a:r>
            <a:endParaRPr/>
          </a:p>
        </p:txBody>
      </p:sp>
      <p:sp>
        <p:nvSpPr>
          <p:cNvPr id="369" name="Google Shape;369;p16"/>
          <p:cNvSpPr txBox="1"/>
          <p:nvPr/>
        </p:nvSpPr>
        <p:spPr>
          <a:xfrm>
            <a:off x="8153609" y="1820862"/>
            <a:ext cx="311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lf</a:t>
            </a:r>
            <a:endParaRPr/>
          </a:p>
        </p:txBody>
      </p:sp>
      <p:sp>
        <p:nvSpPr>
          <p:cNvPr id="370" name="Google Shape;370;p16"/>
          <p:cNvSpPr txBox="1"/>
          <p:nvPr/>
        </p:nvSpPr>
        <p:spPr>
          <a:xfrm>
            <a:off x="6521659" y="1803400"/>
            <a:ext cx="10033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version</a:t>
            </a:r>
            <a:endParaRPr/>
          </a:p>
        </p:txBody>
      </p:sp>
      <p:sp>
        <p:nvSpPr>
          <p:cNvPr id="371" name="Google Shape;371;p16"/>
          <p:cNvSpPr txBox="1"/>
          <p:nvPr/>
        </p:nvSpPr>
        <p:spPr>
          <a:xfrm>
            <a:off x="4896059" y="1816100"/>
            <a:ext cx="69373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URL</a:t>
            </a:r>
            <a:endParaRPr/>
          </a:p>
        </p:txBody>
      </p:sp>
      <p:grpSp>
        <p:nvGrpSpPr>
          <p:cNvPr id="372" name="Google Shape;372;p16"/>
          <p:cNvGrpSpPr/>
          <p:nvPr/>
        </p:nvGrpSpPr>
        <p:grpSpPr>
          <a:xfrm>
            <a:off x="2879934" y="2233612"/>
            <a:ext cx="4565650" cy="446088"/>
            <a:chOff x="192" y="1894"/>
            <a:chExt cx="2876" cy="281"/>
          </a:xfrm>
        </p:grpSpPr>
        <p:sp>
          <p:nvSpPr>
            <p:cNvPr id="373" name="Google Shape;373;p16"/>
            <p:cNvSpPr/>
            <p:nvPr/>
          </p:nvSpPr>
          <p:spPr>
            <a:xfrm>
              <a:off x="192" y="1894"/>
              <a:ext cx="2876" cy="281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4" name="Google Shape;374;p16"/>
            <p:cNvCxnSpPr/>
            <p:nvPr/>
          </p:nvCxnSpPr>
          <p:spPr>
            <a:xfrm>
              <a:off x="1700" y="1896"/>
              <a:ext cx="0" cy="27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5" name="Google Shape;375;p16"/>
            <p:cNvCxnSpPr/>
            <p:nvPr/>
          </p:nvCxnSpPr>
          <p:spPr>
            <a:xfrm>
              <a:off x="1832" y="1896"/>
              <a:ext cx="0" cy="27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6" name="Google Shape;376;p16"/>
            <p:cNvCxnSpPr/>
            <p:nvPr/>
          </p:nvCxnSpPr>
          <p:spPr>
            <a:xfrm>
              <a:off x="2528" y="1896"/>
              <a:ext cx="0" cy="27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7" name="Google Shape;377;p16"/>
            <p:cNvCxnSpPr/>
            <p:nvPr/>
          </p:nvCxnSpPr>
          <p:spPr>
            <a:xfrm>
              <a:off x="2804" y="1896"/>
              <a:ext cx="0" cy="27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8" name="Google Shape;378;p16"/>
            <p:cNvSpPr txBox="1"/>
            <p:nvPr/>
          </p:nvSpPr>
          <p:spPr>
            <a:xfrm>
              <a:off x="2538" y="1907"/>
              <a:ext cx="254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cr</a:t>
              </a:r>
              <a:endParaRPr/>
            </a:p>
          </p:txBody>
        </p:sp>
        <p:sp>
          <p:nvSpPr>
            <p:cNvPr id="379" name="Google Shape;379;p16"/>
            <p:cNvSpPr txBox="1"/>
            <p:nvPr/>
          </p:nvSpPr>
          <p:spPr>
            <a:xfrm>
              <a:off x="2834" y="1914"/>
              <a:ext cx="19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lf</a:t>
              </a:r>
              <a:endParaRPr/>
            </a:p>
          </p:txBody>
        </p:sp>
        <p:sp>
          <p:nvSpPr>
            <p:cNvPr id="380" name="Google Shape;380;p16"/>
            <p:cNvSpPr txBox="1"/>
            <p:nvPr/>
          </p:nvSpPr>
          <p:spPr>
            <a:xfrm>
              <a:off x="1922" y="1895"/>
              <a:ext cx="49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value</a:t>
              </a:r>
              <a:endParaRPr/>
            </a:p>
          </p:txBody>
        </p:sp>
        <p:sp>
          <p:nvSpPr>
            <p:cNvPr id="381" name="Google Shape;381;p16"/>
            <p:cNvSpPr txBox="1"/>
            <p:nvPr/>
          </p:nvSpPr>
          <p:spPr>
            <a:xfrm>
              <a:off x="246" y="1903"/>
              <a:ext cx="139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header field name</a:t>
              </a:r>
              <a:endParaRPr/>
            </a:p>
          </p:txBody>
        </p:sp>
      </p:grpSp>
      <p:grpSp>
        <p:nvGrpSpPr>
          <p:cNvPr id="382" name="Google Shape;382;p16"/>
          <p:cNvGrpSpPr/>
          <p:nvPr/>
        </p:nvGrpSpPr>
        <p:grpSpPr>
          <a:xfrm>
            <a:off x="2876759" y="3709987"/>
            <a:ext cx="4565650" cy="446088"/>
            <a:chOff x="192" y="1894"/>
            <a:chExt cx="2876" cy="281"/>
          </a:xfrm>
        </p:grpSpPr>
        <p:sp>
          <p:nvSpPr>
            <p:cNvPr id="383" name="Google Shape;383;p16"/>
            <p:cNvSpPr/>
            <p:nvPr/>
          </p:nvSpPr>
          <p:spPr>
            <a:xfrm>
              <a:off x="192" y="1894"/>
              <a:ext cx="2876" cy="281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84" name="Google Shape;384;p16"/>
            <p:cNvCxnSpPr/>
            <p:nvPr/>
          </p:nvCxnSpPr>
          <p:spPr>
            <a:xfrm>
              <a:off x="1700" y="1896"/>
              <a:ext cx="0" cy="27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5" name="Google Shape;385;p16"/>
            <p:cNvCxnSpPr/>
            <p:nvPr/>
          </p:nvCxnSpPr>
          <p:spPr>
            <a:xfrm>
              <a:off x="1832" y="1896"/>
              <a:ext cx="0" cy="27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6" name="Google Shape;386;p16"/>
            <p:cNvCxnSpPr/>
            <p:nvPr/>
          </p:nvCxnSpPr>
          <p:spPr>
            <a:xfrm>
              <a:off x="2528" y="1896"/>
              <a:ext cx="0" cy="27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7" name="Google Shape;387;p16"/>
            <p:cNvCxnSpPr/>
            <p:nvPr/>
          </p:nvCxnSpPr>
          <p:spPr>
            <a:xfrm>
              <a:off x="2804" y="1896"/>
              <a:ext cx="0" cy="27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88" name="Google Shape;388;p16"/>
            <p:cNvSpPr txBox="1"/>
            <p:nvPr/>
          </p:nvSpPr>
          <p:spPr>
            <a:xfrm>
              <a:off x="2538" y="1907"/>
              <a:ext cx="254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cr</a:t>
              </a:r>
              <a:endParaRPr/>
            </a:p>
          </p:txBody>
        </p:sp>
        <p:sp>
          <p:nvSpPr>
            <p:cNvPr id="389" name="Google Shape;389;p16"/>
            <p:cNvSpPr txBox="1"/>
            <p:nvPr/>
          </p:nvSpPr>
          <p:spPr>
            <a:xfrm>
              <a:off x="2834" y="1914"/>
              <a:ext cx="19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lf</a:t>
              </a:r>
              <a:endParaRPr/>
            </a:p>
          </p:txBody>
        </p:sp>
        <p:sp>
          <p:nvSpPr>
            <p:cNvPr id="390" name="Google Shape;390;p16"/>
            <p:cNvSpPr txBox="1"/>
            <p:nvPr/>
          </p:nvSpPr>
          <p:spPr>
            <a:xfrm>
              <a:off x="1922" y="1895"/>
              <a:ext cx="49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value</a:t>
              </a:r>
              <a:endParaRPr/>
            </a:p>
          </p:txBody>
        </p:sp>
        <p:sp>
          <p:nvSpPr>
            <p:cNvPr id="391" name="Google Shape;391;p16"/>
            <p:cNvSpPr txBox="1"/>
            <p:nvPr/>
          </p:nvSpPr>
          <p:spPr>
            <a:xfrm>
              <a:off x="246" y="1903"/>
              <a:ext cx="139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header field name</a:t>
              </a:r>
              <a:endParaRPr/>
            </a:p>
          </p:txBody>
        </p:sp>
      </p:grpSp>
      <p:cxnSp>
        <p:nvCxnSpPr>
          <p:cNvPr id="392" name="Google Shape;392;p16"/>
          <p:cNvCxnSpPr/>
          <p:nvPr/>
        </p:nvCxnSpPr>
        <p:spPr>
          <a:xfrm>
            <a:off x="2879934" y="2681287"/>
            <a:ext cx="0" cy="1041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93" name="Google Shape;393;p16"/>
          <p:cNvGrpSpPr/>
          <p:nvPr/>
        </p:nvGrpSpPr>
        <p:grpSpPr>
          <a:xfrm>
            <a:off x="2711659" y="2905125"/>
            <a:ext cx="331788" cy="461962"/>
            <a:chOff x="462" y="1727"/>
            <a:chExt cx="209" cy="291"/>
          </a:xfrm>
        </p:grpSpPr>
        <p:sp>
          <p:nvSpPr>
            <p:cNvPr id="394" name="Google Shape;394;p16"/>
            <p:cNvSpPr/>
            <p:nvPr/>
          </p:nvSpPr>
          <p:spPr>
            <a:xfrm>
              <a:off x="534" y="1854"/>
              <a:ext cx="56" cy="5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16"/>
            <p:cNvSpPr txBox="1"/>
            <p:nvPr/>
          </p:nvSpPr>
          <p:spPr>
            <a:xfrm>
              <a:off x="462" y="1727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~</a:t>
              </a:r>
              <a:endParaRPr/>
            </a:p>
          </p:txBody>
        </p:sp>
        <p:sp>
          <p:nvSpPr>
            <p:cNvPr id="396" name="Google Shape;396;p16"/>
            <p:cNvSpPr txBox="1"/>
            <p:nvPr/>
          </p:nvSpPr>
          <p:spPr>
            <a:xfrm>
              <a:off x="462" y="1768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~</a:t>
              </a:r>
              <a:endParaRPr/>
            </a:p>
          </p:txBody>
        </p:sp>
      </p:grpSp>
      <p:cxnSp>
        <p:nvCxnSpPr>
          <p:cNvPr id="397" name="Google Shape;397;p16"/>
          <p:cNvCxnSpPr/>
          <p:nvPr/>
        </p:nvCxnSpPr>
        <p:spPr>
          <a:xfrm>
            <a:off x="7443997" y="2668587"/>
            <a:ext cx="0" cy="1041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98" name="Google Shape;398;p16"/>
          <p:cNvGrpSpPr/>
          <p:nvPr/>
        </p:nvGrpSpPr>
        <p:grpSpPr>
          <a:xfrm>
            <a:off x="7275722" y="2892425"/>
            <a:ext cx="331787" cy="461962"/>
            <a:chOff x="462" y="1727"/>
            <a:chExt cx="209" cy="291"/>
          </a:xfrm>
        </p:grpSpPr>
        <p:sp>
          <p:nvSpPr>
            <p:cNvPr id="399" name="Google Shape;399;p16"/>
            <p:cNvSpPr/>
            <p:nvPr/>
          </p:nvSpPr>
          <p:spPr>
            <a:xfrm>
              <a:off x="534" y="1854"/>
              <a:ext cx="56" cy="5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16"/>
            <p:cNvSpPr txBox="1"/>
            <p:nvPr/>
          </p:nvSpPr>
          <p:spPr>
            <a:xfrm>
              <a:off x="462" y="1727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~</a:t>
              </a:r>
              <a:endParaRPr/>
            </a:p>
          </p:txBody>
        </p:sp>
        <p:sp>
          <p:nvSpPr>
            <p:cNvPr id="401" name="Google Shape;401;p16"/>
            <p:cNvSpPr txBox="1"/>
            <p:nvPr/>
          </p:nvSpPr>
          <p:spPr>
            <a:xfrm>
              <a:off x="462" y="1768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~</a:t>
              </a:r>
              <a:endParaRPr/>
            </a:p>
          </p:txBody>
        </p:sp>
      </p:grpSp>
      <p:grpSp>
        <p:nvGrpSpPr>
          <p:cNvPr id="402" name="Google Shape;402;p16"/>
          <p:cNvGrpSpPr/>
          <p:nvPr/>
        </p:nvGrpSpPr>
        <p:grpSpPr>
          <a:xfrm>
            <a:off x="2875172" y="4156075"/>
            <a:ext cx="963612" cy="446087"/>
            <a:chOff x="3105" y="2650"/>
            <a:chExt cx="607" cy="281"/>
          </a:xfrm>
        </p:grpSpPr>
        <p:sp>
          <p:nvSpPr>
            <p:cNvPr id="403" name="Google Shape;403;p16"/>
            <p:cNvSpPr/>
            <p:nvPr/>
          </p:nvSpPr>
          <p:spPr>
            <a:xfrm>
              <a:off x="3105" y="2650"/>
              <a:ext cx="607" cy="281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4" name="Google Shape;404;p16"/>
            <p:cNvCxnSpPr/>
            <p:nvPr/>
          </p:nvCxnSpPr>
          <p:spPr>
            <a:xfrm>
              <a:off x="3406" y="2652"/>
              <a:ext cx="0" cy="27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05" name="Google Shape;405;p16"/>
            <p:cNvSpPr txBox="1"/>
            <p:nvPr/>
          </p:nvSpPr>
          <p:spPr>
            <a:xfrm>
              <a:off x="3140" y="2663"/>
              <a:ext cx="254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cr</a:t>
              </a:r>
              <a:endParaRPr/>
            </a:p>
          </p:txBody>
        </p:sp>
        <p:sp>
          <p:nvSpPr>
            <p:cNvPr id="406" name="Google Shape;406;p16"/>
            <p:cNvSpPr txBox="1"/>
            <p:nvPr/>
          </p:nvSpPr>
          <p:spPr>
            <a:xfrm>
              <a:off x="3436" y="2670"/>
              <a:ext cx="19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lf</a:t>
              </a:r>
              <a:endParaRPr/>
            </a:p>
          </p:txBody>
        </p:sp>
      </p:grpSp>
      <p:sp>
        <p:nvSpPr>
          <p:cNvPr id="407" name="Google Shape;407;p16"/>
          <p:cNvSpPr/>
          <p:nvPr/>
        </p:nvSpPr>
        <p:spPr>
          <a:xfrm>
            <a:off x="2875172" y="4603750"/>
            <a:ext cx="5170487" cy="11207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6"/>
          <p:cNvSpPr txBox="1"/>
          <p:nvPr/>
        </p:nvSpPr>
        <p:spPr>
          <a:xfrm>
            <a:off x="4811922" y="4927600"/>
            <a:ext cx="141128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entity body</a:t>
            </a:r>
            <a:endParaRPr/>
          </a:p>
        </p:txBody>
      </p:sp>
      <p:grpSp>
        <p:nvGrpSpPr>
          <p:cNvPr id="409" name="Google Shape;409;p16"/>
          <p:cNvGrpSpPr/>
          <p:nvPr/>
        </p:nvGrpSpPr>
        <p:grpSpPr>
          <a:xfrm>
            <a:off x="2711659" y="4941887"/>
            <a:ext cx="331788" cy="461963"/>
            <a:chOff x="462" y="1727"/>
            <a:chExt cx="209" cy="291"/>
          </a:xfrm>
        </p:grpSpPr>
        <p:sp>
          <p:nvSpPr>
            <p:cNvPr id="410" name="Google Shape;410;p16"/>
            <p:cNvSpPr/>
            <p:nvPr/>
          </p:nvSpPr>
          <p:spPr>
            <a:xfrm>
              <a:off x="534" y="1854"/>
              <a:ext cx="56" cy="5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16"/>
            <p:cNvSpPr txBox="1"/>
            <p:nvPr/>
          </p:nvSpPr>
          <p:spPr>
            <a:xfrm>
              <a:off x="462" y="1727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~</a:t>
              </a:r>
              <a:endParaRPr/>
            </a:p>
          </p:txBody>
        </p:sp>
        <p:sp>
          <p:nvSpPr>
            <p:cNvPr id="412" name="Google Shape;412;p16"/>
            <p:cNvSpPr txBox="1"/>
            <p:nvPr/>
          </p:nvSpPr>
          <p:spPr>
            <a:xfrm>
              <a:off x="462" y="1768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~</a:t>
              </a:r>
              <a:endParaRPr/>
            </a:p>
          </p:txBody>
        </p:sp>
      </p:grpSp>
      <p:grpSp>
        <p:nvGrpSpPr>
          <p:cNvPr id="413" name="Google Shape;413;p16"/>
          <p:cNvGrpSpPr/>
          <p:nvPr/>
        </p:nvGrpSpPr>
        <p:grpSpPr>
          <a:xfrm>
            <a:off x="7871034" y="4932362"/>
            <a:ext cx="331788" cy="461963"/>
            <a:chOff x="462" y="1727"/>
            <a:chExt cx="209" cy="291"/>
          </a:xfrm>
        </p:grpSpPr>
        <p:sp>
          <p:nvSpPr>
            <p:cNvPr id="414" name="Google Shape;414;p16"/>
            <p:cNvSpPr/>
            <p:nvPr/>
          </p:nvSpPr>
          <p:spPr>
            <a:xfrm>
              <a:off x="534" y="1854"/>
              <a:ext cx="56" cy="5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16"/>
            <p:cNvSpPr txBox="1"/>
            <p:nvPr/>
          </p:nvSpPr>
          <p:spPr>
            <a:xfrm>
              <a:off x="462" y="1727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~</a:t>
              </a:r>
              <a:endParaRPr/>
            </a:p>
          </p:txBody>
        </p:sp>
        <p:sp>
          <p:nvSpPr>
            <p:cNvPr id="416" name="Google Shape;416;p16"/>
            <p:cNvSpPr txBox="1"/>
            <p:nvPr/>
          </p:nvSpPr>
          <p:spPr>
            <a:xfrm>
              <a:off x="462" y="1768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~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7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Other HTTP request </a:t>
            </a:r>
            <a:r>
              <a:rPr lang="en-US"/>
              <a:t>m</a:t>
            </a:r>
            <a:r>
              <a:rPr lang="en-US" sz="4400"/>
              <a:t>essages</a:t>
            </a:r>
            <a:endParaRPr sz="4400"/>
          </a:p>
        </p:txBody>
      </p:sp>
      <p:sp>
        <p:nvSpPr>
          <p:cNvPr id="423" name="Google Shape;423;p17"/>
          <p:cNvSpPr txBox="1"/>
          <p:nvPr/>
        </p:nvSpPr>
        <p:spPr>
          <a:xfrm>
            <a:off x="685573" y="1727394"/>
            <a:ext cx="4684713" cy="170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 u="sng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POST method: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page often includes form input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input sent from client to server in entity body of HTTP POST request message</a:t>
            </a:r>
            <a:endParaRPr/>
          </a:p>
        </p:txBody>
      </p:sp>
      <p:sp>
        <p:nvSpPr>
          <p:cNvPr id="424" name="Google Shape;424;p17"/>
          <p:cNvSpPr txBox="1"/>
          <p:nvPr/>
        </p:nvSpPr>
        <p:spPr>
          <a:xfrm>
            <a:off x="685573" y="4466964"/>
            <a:ext cx="5541055" cy="170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 u="sng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GET method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(for sending data to server):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363" lvl="0" marL="2333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include user data in URL field of HTTP GET request message (following a ‘?’):</a:t>
            </a:r>
            <a:endParaRPr/>
          </a:p>
        </p:txBody>
      </p:sp>
      <p:sp>
        <p:nvSpPr>
          <p:cNvPr id="425" name="Google Shape;425;p17"/>
          <p:cNvSpPr txBox="1"/>
          <p:nvPr/>
        </p:nvSpPr>
        <p:spPr>
          <a:xfrm>
            <a:off x="798692" y="5806133"/>
            <a:ext cx="628015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www.somesite.com/animalsearch?monkeys&amp;banana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6" name="Google Shape;426;p17"/>
          <p:cNvSpPr txBox="1"/>
          <p:nvPr/>
        </p:nvSpPr>
        <p:spPr>
          <a:xfrm>
            <a:off x="6991758" y="1752600"/>
            <a:ext cx="4684713" cy="170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 u="sng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HEAD method: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requests headers (only) that would be returned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if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specified URL were requested  with an HTTP GET method. </a:t>
            </a:r>
            <a:endParaRPr/>
          </a:p>
        </p:txBody>
      </p:sp>
      <p:sp>
        <p:nvSpPr>
          <p:cNvPr id="427" name="Google Shape;427;p17"/>
          <p:cNvSpPr txBox="1"/>
          <p:nvPr/>
        </p:nvSpPr>
        <p:spPr>
          <a:xfrm>
            <a:off x="6993371" y="3839527"/>
            <a:ext cx="4684713" cy="170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 u="sng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PUT method: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uploads new file (object) to server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completely replaces file that exists at specified URL with content in entity body of POST HTTP request message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8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 response </a:t>
            </a:r>
            <a:r>
              <a:rPr lang="en-US"/>
              <a:t>m</a:t>
            </a:r>
            <a:r>
              <a:rPr lang="en-US" sz="4400"/>
              <a:t>essage</a:t>
            </a:r>
            <a:endParaRPr sz="4400"/>
          </a:p>
        </p:txBody>
      </p:sp>
      <p:sp>
        <p:nvSpPr>
          <p:cNvPr id="434" name="Google Shape;434;p18"/>
          <p:cNvSpPr txBox="1"/>
          <p:nvPr/>
        </p:nvSpPr>
        <p:spPr>
          <a:xfrm>
            <a:off x="889630" y="1555730"/>
            <a:ext cx="405611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status line (protocol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status code status phrase)</a:t>
            </a:r>
            <a:endParaRPr sz="2800">
              <a:solidFill>
                <a:srgbClr val="0000A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8"/>
          <p:cNvSpPr txBox="1"/>
          <p:nvPr/>
        </p:nvSpPr>
        <p:spPr>
          <a:xfrm>
            <a:off x="3979618" y="2984961"/>
            <a:ext cx="1071127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header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 lines</a:t>
            </a:r>
            <a:endParaRPr sz="2800">
              <a:solidFill>
                <a:srgbClr val="0000A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8"/>
          <p:cNvSpPr txBox="1"/>
          <p:nvPr/>
        </p:nvSpPr>
        <p:spPr>
          <a:xfrm>
            <a:off x="828397" y="4607159"/>
            <a:ext cx="360288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data, e.g.,  requested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HTML file</a:t>
            </a:r>
            <a:endParaRPr sz="2800">
              <a:solidFill>
                <a:srgbClr val="0000A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8"/>
          <p:cNvSpPr/>
          <p:nvPr/>
        </p:nvSpPr>
        <p:spPr>
          <a:xfrm>
            <a:off x="5131481" y="1710879"/>
            <a:ext cx="6311900" cy="349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HTTP/1.1 200 OK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Date: Tue, 08 Sep 2020 00:53:20 GMT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Server: Apache/2.4.6 (CentOS) OpenSSL/1.0.2k-fips PHP/7.4.9 mod_perl/2.0.11 Perl/v5.16.3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Last-Modified: Tue, 01 Mar 2016 18:57:50 GMT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ETag: "a5b-52d015789ee9e"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Accept-Ranges: bytes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Content-Length: 2651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Content-Type: text/html; charset=UTF-8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\r\n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data data data data data ... 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38" name="Google Shape;438;p18"/>
          <p:cNvCxnSpPr/>
          <p:nvPr/>
        </p:nvCxnSpPr>
        <p:spPr>
          <a:xfrm>
            <a:off x="3593872" y="1845820"/>
            <a:ext cx="1436915" cy="0"/>
          </a:xfrm>
          <a:prstGeom prst="straightConnector1">
            <a:avLst/>
          </a:prstGeom>
          <a:noFill/>
          <a:ln cap="flat" cmpd="sng" w="19050">
            <a:solidFill>
              <a:srgbClr val="0000A8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39" name="Google Shape;439;p18"/>
          <p:cNvCxnSpPr/>
          <p:nvPr/>
        </p:nvCxnSpPr>
        <p:spPr>
          <a:xfrm>
            <a:off x="3642857" y="4850277"/>
            <a:ext cx="1436915" cy="0"/>
          </a:xfrm>
          <a:prstGeom prst="straightConnector1">
            <a:avLst/>
          </a:prstGeom>
          <a:noFill/>
          <a:ln cap="flat" cmpd="sng" w="19050">
            <a:solidFill>
              <a:srgbClr val="0000A8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40" name="Google Shape;440;p18"/>
          <p:cNvSpPr txBox="1"/>
          <p:nvPr/>
        </p:nvSpPr>
        <p:spPr>
          <a:xfrm>
            <a:off x="889630" y="6155251"/>
            <a:ext cx="95213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Check out the online interactive exercises for more examples: h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ttp://gaia.cs.umass.edu/kurose_ross/interactive/</a:t>
            </a:r>
            <a:endParaRPr/>
          </a:p>
        </p:txBody>
      </p:sp>
      <p:sp>
        <p:nvSpPr>
          <p:cNvPr id="441" name="Google Shape;441;p18"/>
          <p:cNvSpPr/>
          <p:nvPr/>
        </p:nvSpPr>
        <p:spPr>
          <a:xfrm>
            <a:off x="506185" y="4724398"/>
            <a:ext cx="10733315" cy="189411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8"/>
          <p:cNvSpPr/>
          <p:nvPr/>
        </p:nvSpPr>
        <p:spPr>
          <a:xfrm>
            <a:off x="4963885" y="2057400"/>
            <a:ext cx="261258" cy="2694214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2225">
            <a:solidFill>
              <a:srgbClr val="0000A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8"/>
          <p:cNvSpPr/>
          <p:nvPr/>
        </p:nvSpPr>
        <p:spPr>
          <a:xfrm>
            <a:off x="4359729" y="2041072"/>
            <a:ext cx="7151914" cy="298268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8"/>
          <p:cNvSpPr/>
          <p:nvPr/>
        </p:nvSpPr>
        <p:spPr>
          <a:xfrm>
            <a:off x="3858986" y="2939143"/>
            <a:ext cx="7151914" cy="135527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9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 response </a:t>
            </a:r>
            <a:r>
              <a:rPr lang="en-US"/>
              <a:t>s</a:t>
            </a:r>
            <a:r>
              <a:rPr lang="en-US" sz="4400"/>
              <a:t>tatus </a:t>
            </a:r>
            <a:r>
              <a:rPr lang="en-US"/>
              <a:t>c</a:t>
            </a:r>
            <a:r>
              <a:rPr lang="en-US" sz="4400"/>
              <a:t>odes</a:t>
            </a:r>
            <a:endParaRPr sz="4400"/>
          </a:p>
        </p:txBody>
      </p:sp>
      <p:sp>
        <p:nvSpPr>
          <p:cNvPr id="451" name="Google Shape;451;p19"/>
          <p:cNvSpPr txBox="1"/>
          <p:nvPr/>
        </p:nvSpPr>
        <p:spPr>
          <a:xfrm>
            <a:off x="1179871" y="2274314"/>
            <a:ext cx="10678300" cy="4168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200 OK</a:t>
            </a:r>
            <a:endParaRPr/>
          </a:p>
          <a:p>
            <a:pPr indent="-231775" lvl="1" marL="695325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request succeeded, requested object later in this message</a:t>
            </a:r>
            <a:endParaRPr/>
          </a:p>
          <a:p>
            <a:pPr indent="-222250" lvl="0" marL="352425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301 Moved Permanently</a:t>
            </a:r>
            <a:endParaRPr/>
          </a:p>
          <a:p>
            <a:pPr indent="-231775" lvl="1" marL="695325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requested object moved, new location specified later in this message (in Location: field)</a:t>
            </a:r>
            <a:endParaRPr/>
          </a:p>
          <a:p>
            <a:pPr indent="-222250" lvl="0" marL="352425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400 Bad Request</a:t>
            </a:r>
            <a:endParaRPr/>
          </a:p>
          <a:p>
            <a:pPr indent="-231775" lvl="1" marL="695325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request msg not understood by server</a:t>
            </a:r>
            <a:endParaRPr/>
          </a:p>
          <a:p>
            <a:pPr indent="-222250" lvl="0" marL="352425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404 Not Found</a:t>
            </a:r>
            <a:endParaRPr/>
          </a:p>
          <a:p>
            <a:pPr indent="-231775" lvl="1" marL="695325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requested document not found on this server</a:t>
            </a:r>
            <a:endParaRPr/>
          </a:p>
          <a:p>
            <a:pPr indent="-222250" lvl="0" marL="352425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505 HTTP Version Not Supported</a:t>
            </a:r>
            <a:endParaRPr/>
          </a:p>
        </p:txBody>
      </p:sp>
      <p:sp>
        <p:nvSpPr>
          <p:cNvPr id="452" name="Google Shape;452;p19"/>
          <p:cNvSpPr/>
          <p:nvPr/>
        </p:nvSpPr>
        <p:spPr>
          <a:xfrm>
            <a:off x="798691" y="1325562"/>
            <a:ext cx="1085628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838" lvl="0" marL="3508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status code appears in 1st line in server-to-client response message.</a:t>
            </a:r>
            <a:endParaRPr/>
          </a:p>
          <a:p>
            <a:pPr indent="-350838" lvl="0" marL="350838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 sample codes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0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Trying out HTTP (client side) for yourself</a:t>
            </a:r>
            <a:endParaRPr sz="4400"/>
          </a:p>
        </p:txBody>
      </p:sp>
      <p:sp>
        <p:nvSpPr>
          <p:cNvPr id="459" name="Google Shape;459;p20"/>
          <p:cNvSpPr txBox="1"/>
          <p:nvPr/>
        </p:nvSpPr>
        <p:spPr>
          <a:xfrm>
            <a:off x="579438" y="1474924"/>
            <a:ext cx="80962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netcat to your favorite Web server: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0"/>
          <p:cNvSpPr txBox="1"/>
          <p:nvPr/>
        </p:nvSpPr>
        <p:spPr>
          <a:xfrm>
            <a:off x="5718629" y="1884363"/>
            <a:ext cx="6244187" cy="14003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opens TCP connection to port 80 (default HTTP server port)  at gaia.cs.umass. edu.</a:t>
            </a:r>
            <a:endParaRPr/>
          </a:p>
          <a:p>
            <a:pPr indent="-285750" lvl="0" marL="285750" marR="0" rtl="0" algn="l"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anything typed in will be sent  to port 80 at gaia.cs.umass.edu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0"/>
          <p:cNvSpPr txBox="1"/>
          <p:nvPr/>
        </p:nvSpPr>
        <p:spPr>
          <a:xfrm>
            <a:off x="1201297" y="1998799"/>
            <a:ext cx="388439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% nc -c -v gaia.cs.umass.edu 80</a:t>
            </a:r>
            <a:endParaRPr/>
          </a:p>
        </p:txBody>
      </p:sp>
      <p:grpSp>
        <p:nvGrpSpPr>
          <p:cNvPr id="462" name="Google Shape;462;p20"/>
          <p:cNvGrpSpPr/>
          <p:nvPr/>
        </p:nvGrpSpPr>
        <p:grpSpPr>
          <a:xfrm>
            <a:off x="711200" y="5286696"/>
            <a:ext cx="8289126" cy="996484"/>
            <a:chOff x="711200" y="5286696"/>
            <a:chExt cx="8289126" cy="996484"/>
          </a:xfrm>
        </p:grpSpPr>
        <p:sp>
          <p:nvSpPr>
            <p:cNvPr id="463" name="Google Shape;463;p20"/>
            <p:cNvSpPr/>
            <p:nvPr/>
          </p:nvSpPr>
          <p:spPr>
            <a:xfrm>
              <a:off x="711200" y="5286696"/>
              <a:ext cx="809625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3. look at response message sent by HTTP server!</a:t>
              </a:r>
              <a:endParaRPr/>
            </a:p>
          </p:txBody>
        </p:sp>
        <p:sp>
          <p:nvSpPr>
            <p:cNvPr id="464" name="Google Shape;464;p20"/>
            <p:cNvSpPr txBox="1"/>
            <p:nvPr/>
          </p:nvSpPr>
          <p:spPr>
            <a:xfrm>
              <a:off x="1066295" y="5821515"/>
              <a:ext cx="793403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(or use Wireshark to look at captured HTTP request/response)</a:t>
              </a:r>
              <a:endParaRPr/>
            </a:p>
          </p:txBody>
        </p:sp>
      </p:grpSp>
      <p:grpSp>
        <p:nvGrpSpPr>
          <p:cNvPr id="465" name="Google Shape;465;p20"/>
          <p:cNvGrpSpPr/>
          <p:nvPr/>
        </p:nvGrpSpPr>
        <p:grpSpPr>
          <a:xfrm>
            <a:off x="727530" y="3145663"/>
            <a:ext cx="11243449" cy="2045073"/>
            <a:chOff x="727530" y="3145663"/>
            <a:chExt cx="11243449" cy="2045073"/>
          </a:xfrm>
        </p:grpSpPr>
        <p:sp>
          <p:nvSpPr>
            <p:cNvPr id="466" name="Google Shape;466;p20"/>
            <p:cNvSpPr/>
            <p:nvPr/>
          </p:nvSpPr>
          <p:spPr>
            <a:xfrm>
              <a:off x="727530" y="3145663"/>
              <a:ext cx="809625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2. type in a GET HTTP request:</a:t>
              </a:r>
              <a:endParaRPr/>
            </a:p>
            <a:p>
              <a:pPr indent="-228600" lvl="2" marL="11430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67" name="Google Shape;467;p20"/>
            <p:cNvSpPr txBox="1"/>
            <p:nvPr/>
          </p:nvSpPr>
          <p:spPr>
            <a:xfrm>
              <a:off x="1258273" y="3748006"/>
              <a:ext cx="7417415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ourier New"/>
                <a:buNone/>
              </a:pPr>
              <a:r>
                <a:rPr b="1" lang="en-US" sz="2000">
                  <a:solidFill>
                    <a:srgbClr val="CC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GET /kurose_ross/interactive/index.php HTTP/1.1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ourier New"/>
                <a:buNone/>
              </a:pPr>
              <a:r>
                <a:rPr b="1" lang="en-US" sz="2000">
                  <a:solidFill>
                    <a:srgbClr val="CC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Host: gaia.cs.umass.edu</a:t>
              </a:r>
              <a:endParaRPr b="1" sz="20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68" name="Google Shape;468;p20"/>
            <p:cNvSpPr txBox="1"/>
            <p:nvPr/>
          </p:nvSpPr>
          <p:spPr>
            <a:xfrm>
              <a:off x="5726792" y="4175073"/>
              <a:ext cx="6244187" cy="1015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000"/>
                <a:buFont typeface="Noto Sans Symbols"/>
                <a:buChar char="▪"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by typing this in (hit carriage return twice), you send this minimal (but complete)  GET request to HTTP server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1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Maintaining user/server state: cookies</a:t>
            </a:r>
            <a:endParaRPr sz="4400"/>
          </a:p>
        </p:txBody>
      </p:sp>
      <p:sp>
        <p:nvSpPr>
          <p:cNvPr id="475" name="Google Shape;475;p21"/>
          <p:cNvSpPr txBox="1"/>
          <p:nvPr/>
        </p:nvSpPr>
        <p:spPr>
          <a:xfrm>
            <a:off x="751523" y="1368109"/>
            <a:ext cx="5877880" cy="48367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Recall:  HTTP GET/response interaction is </a:t>
            </a:r>
            <a:r>
              <a:rPr i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stateless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notion of multi-step exchanges of HTTP messages to complete a Web “transaction”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need for client/server to track “state” of multi-step exchange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HTTP requests are independent of each other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need for client/server to “recover” from a partially-completed-but-never-completely-completed transaction</a:t>
            </a:r>
            <a:endParaRPr/>
          </a:p>
        </p:txBody>
      </p:sp>
      <p:sp>
        <p:nvSpPr>
          <p:cNvPr id="476" name="Google Shape;476;p21"/>
          <p:cNvSpPr txBox="1"/>
          <p:nvPr/>
        </p:nvSpPr>
        <p:spPr>
          <a:xfrm>
            <a:off x="7777183" y="1266045"/>
            <a:ext cx="334734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 stateful protocol: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 makes two changes to X, or none at all</a:t>
            </a:r>
            <a:endParaRPr/>
          </a:p>
        </p:txBody>
      </p:sp>
      <p:cxnSp>
        <p:nvCxnSpPr>
          <p:cNvPr id="477" name="Google Shape;477;p21"/>
          <p:cNvCxnSpPr/>
          <p:nvPr/>
        </p:nvCxnSpPr>
        <p:spPr>
          <a:xfrm>
            <a:off x="8211743" y="2818375"/>
            <a:ext cx="0" cy="2832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478" name="Google Shape;478;p21"/>
          <p:cNvCxnSpPr/>
          <p:nvPr/>
        </p:nvCxnSpPr>
        <p:spPr>
          <a:xfrm>
            <a:off x="9902430" y="2812025"/>
            <a:ext cx="0" cy="2881312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479" name="Google Shape;479;p21"/>
          <p:cNvSpPr txBox="1"/>
          <p:nvPr/>
        </p:nvSpPr>
        <p:spPr>
          <a:xfrm>
            <a:off x="7986318" y="5664762"/>
            <a:ext cx="5196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  <p:sp>
        <p:nvSpPr>
          <p:cNvPr id="480" name="Google Shape;480;p21"/>
          <p:cNvSpPr txBox="1"/>
          <p:nvPr/>
        </p:nvSpPr>
        <p:spPr>
          <a:xfrm>
            <a:off x="9664305" y="5647300"/>
            <a:ext cx="51969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  <p:grpSp>
        <p:nvGrpSpPr>
          <p:cNvPr id="481" name="Google Shape;481;p21"/>
          <p:cNvGrpSpPr/>
          <p:nvPr/>
        </p:nvGrpSpPr>
        <p:grpSpPr>
          <a:xfrm>
            <a:off x="9702405" y="2045262"/>
            <a:ext cx="423863" cy="684213"/>
            <a:chOff x="4140" y="429"/>
            <a:chExt cx="1425" cy="2396"/>
          </a:xfrm>
        </p:grpSpPr>
        <p:sp>
          <p:nvSpPr>
            <p:cNvPr id="482" name="Google Shape;482;p2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21"/>
            <p:cNvSpPr/>
            <p:nvPr/>
          </p:nvSpPr>
          <p:spPr>
            <a:xfrm>
              <a:off x="4204" y="429"/>
              <a:ext cx="1051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2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2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21"/>
            <p:cNvSpPr/>
            <p:nvPr/>
          </p:nvSpPr>
          <p:spPr>
            <a:xfrm>
              <a:off x="4209" y="690"/>
              <a:ext cx="598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7" name="Google Shape;487;p21"/>
            <p:cNvGrpSpPr/>
            <p:nvPr/>
          </p:nvGrpSpPr>
          <p:grpSpPr>
            <a:xfrm>
              <a:off x="4748" y="668"/>
              <a:ext cx="582" cy="145"/>
              <a:chOff x="613" y="2568"/>
              <a:chExt cx="726" cy="139"/>
            </a:xfrm>
          </p:grpSpPr>
          <p:sp>
            <p:nvSpPr>
              <p:cNvPr id="488" name="Google Shape;488;p21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" name="Google Shape;489;p21"/>
              <p:cNvSpPr/>
              <p:nvPr/>
            </p:nvSpPr>
            <p:spPr>
              <a:xfrm>
                <a:off x="627" y="2584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90" name="Google Shape;490;p21"/>
            <p:cNvSpPr/>
            <p:nvPr/>
          </p:nvSpPr>
          <p:spPr>
            <a:xfrm>
              <a:off x="4225" y="1018"/>
              <a:ext cx="592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91" name="Google Shape;491;p21"/>
            <p:cNvGrpSpPr/>
            <p:nvPr/>
          </p:nvGrpSpPr>
          <p:grpSpPr>
            <a:xfrm>
              <a:off x="4749" y="996"/>
              <a:ext cx="582" cy="133"/>
              <a:chOff x="616" y="2570"/>
              <a:chExt cx="726" cy="138"/>
            </a:xfrm>
          </p:grpSpPr>
          <p:sp>
            <p:nvSpPr>
              <p:cNvPr id="492" name="Google Shape;492;p21"/>
              <p:cNvSpPr/>
              <p:nvPr/>
            </p:nvSpPr>
            <p:spPr>
              <a:xfrm>
                <a:off x="616" y="2570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21"/>
              <p:cNvSpPr/>
              <p:nvPr/>
            </p:nvSpPr>
            <p:spPr>
              <a:xfrm>
                <a:off x="629" y="2587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94" name="Google Shape;494;p21"/>
            <p:cNvSpPr/>
            <p:nvPr/>
          </p:nvSpPr>
          <p:spPr>
            <a:xfrm>
              <a:off x="4215" y="1357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21"/>
            <p:cNvSpPr/>
            <p:nvPr/>
          </p:nvSpPr>
          <p:spPr>
            <a:xfrm>
              <a:off x="4225" y="1658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96" name="Google Shape;496;p21"/>
            <p:cNvGrpSpPr/>
            <p:nvPr/>
          </p:nvGrpSpPr>
          <p:grpSpPr>
            <a:xfrm>
              <a:off x="4733" y="1641"/>
              <a:ext cx="587" cy="139"/>
              <a:chOff x="611" y="2581"/>
              <a:chExt cx="731" cy="128"/>
            </a:xfrm>
          </p:grpSpPr>
          <p:sp>
            <p:nvSpPr>
              <p:cNvPr id="497" name="Google Shape;497;p21"/>
              <p:cNvSpPr/>
              <p:nvPr/>
            </p:nvSpPr>
            <p:spPr>
              <a:xfrm>
                <a:off x="611" y="2581"/>
                <a:ext cx="731" cy="12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" name="Google Shape;498;p21"/>
              <p:cNvSpPr/>
              <p:nvPr/>
            </p:nvSpPr>
            <p:spPr>
              <a:xfrm>
                <a:off x="624" y="2586"/>
                <a:ext cx="698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99" name="Google Shape;499;p2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00" name="Google Shape;500;p21"/>
            <p:cNvGrpSpPr/>
            <p:nvPr/>
          </p:nvGrpSpPr>
          <p:grpSpPr>
            <a:xfrm>
              <a:off x="4737" y="1335"/>
              <a:ext cx="582" cy="139"/>
              <a:chOff x="612" y="2576"/>
              <a:chExt cx="725" cy="139"/>
            </a:xfrm>
          </p:grpSpPr>
          <p:sp>
            <p:nvSpPr>
              <p:cNvPr id="501" name="Google Shape;501;p21"/>
              <p:cNvSpPr/>
              <p:nvPr/>
            </p:nvSpPr>
            <p:spPr>
              <a:xfrm>
                <a:off x="612" y="257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502;p21"/>
              <p:cNvSpPr/>
              <p:nvPr/>
            </p:nvSpPr>
            <p:spPr>
              <a:xfrm>
                <a:off x="626" y="2587"/>
                <a:ext cx="691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03" name="Google Shape;503;p21"/>
            <p:cNvSpPr/>
            <p:nvPr/>
          </p:nvSpPr>
          <p:spPr>
            <a:xfrm>
              <a:off x="5250" y="429"/>
              <a:ext cx="69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2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2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21"/>
            <p:cNvSpPr/>
            <p:nvPr/>
          </p:nvSpPr>
          <p:spPr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p2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" name="Google Shape;508;p21"/>
            <p:cNvSpPr/>
            <p:nvPr/>
          </p:nvSpPr>
          <p:spPr>
            <a:xfrm>
              <a:off x="4140" y="2680"/>
              <a:ext cx="1201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21"/>
            <p:cNvSpPr/>
            <p:nvPr/>
          </p:nvSpPr>
          <p:spPr>
            <a:xfrm>
              <a:off x="4204" y="2708"/>
              <a:ext cx="1073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21"/>
            <p:cNvSpPr/>
            <p:nvPr/>
          </p:nvSpPr>
          <p:spPr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21"/>
            <p:cNvSpPr/>
            <p:nvPr/>
          </p:nvSpPr>
          <p:spPr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21"/>
            <p:cNvSpPr/>
            <p:nvPr/>
          </p:nvSpPr>
          <p:spPr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21"/>
            <p:cNvSpPr/>
            <p:nvPr/>
          </p:nvSpPr>
          <p:spPr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4" name="Google Shape;514;p21"/>
          <p:cNvGrpSpPr/>
          <p:nvPr/>
        </p:nvGrpSpPr>
        <p:grpSpPr>
          <a:xfrm>
            <a:off x="7700568" y="2067487"/>
            <a:ext cx="698500" cy="709613"/>
            <a:chOff x="-44" y="1473"/>
            <a:chExt cx="981" cy="1105"/>
          </a:xfrm>
        </p:grpSpPr>
        <p:pic>
          <p:nvPicPr>
            <p:cNvPr descr="desktop_computer_stylized_medium" id="515" name="Google Shape;515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6" name="Google Shape;516;p2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7" name="Google Shape;517;p21"/>
          <p:cNvGrpSpPr/>
          <p:nvPr/>
        </p:nvGrpSpPr>
        <p:grpSpPr>
          <a:xfrm>
            <a:off x="8211743" y="3940852"/>
            <a:ext cx="1673225" cy="370769"/>
            <a:chOff x="8211743" y="3940852"/>
            <a:chExt cx="1673225" cy="370769"/>
          </a:xfrm>
        </p:grpSpPr>
        <p:cxnSp>
          <p:nvCxnSpPr>
            <p:cNvPr id="518" name="Google Shape;518;p21"/>
            <p:cNvCxnSpPr/>
            <p:nvPr/>
          </p:nvCxnSpPr>
          <p:spPr>
            <a:xfrm flipH="1">
              <a:off x="8211743" y="3942941"/>
              <a:ext cx="1673225" cy="24221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19" name="Google Shape;519;p21"/>
            <p:cNvSpPr txBox="1"/>
            <p:nvPr/>
          </p:nvSpPr>
          <p:spPr>
            <a:xfrm rot="-493963">
              <a:off x="9382305" y="3972348"/>
              <a:ext cx="46205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OK</a:t>
              </a:r>
              <a:endParaRPr i="1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0" name="Google Shape;520;p21"/>
          <p:cNvGrpSpPr/>
          <p:nvPr/>
        </p:nvGrpSpPr>
        <p:grpSpPr>
          <a:xfrm>
            <a:off x="8220565" y="4622751"/>
            <a:ext cx="1673225" cy="370769"/>
            <a:chOff x="8220565" y="4622751"/>
            <a:chExt cx="1673225" cy="370769"/>
          </a:xfrm>
        </p:grpSpPr>
        <p:cxnSp>
          <p:nvCxnSpPr>
            <p:cNvPr id="521" name="Google Shape;521;p21"/>
            <p:cNvCxnSpPr/>
            <p:nvPr/>
          </p:nvCxnSpPr>
          <p:spPr>
            <a:xfrm flipH="1">
              <a:off x="8220565" y="4655320"/>
              <a:ext cx="1673225" cy="24221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22" name="Google Shape;522;p21"/>
            <p:cNvSpPr txBox="1"/>
            <p:nvPr/>
          </p:nvSpPr>
          <p:spPr>
            <a:xfrm rot="-493963">
              <a:off x="9360647" y="4654247"/>
              <a:ext cx="46205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OK</a:t>
              </a:r>
              <a:endParaRPr i="1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3" name="Google Shape;523;p21"/>
          <p:cNvGrpSpPr/>
          <p:nvPr/>
        </p:nvGrpSpPr>
        <p:grpSpPr>
          <a:xfrm>
            <a:off x="8226030" y="4807288"/>
            <a:ext cx="1684338" cy="455443"/>
            <a:chOff x="8226030" y="4807288"/>
            <a:chExt cx="1684338" cy="455443"/>
          </a:xfrm>
        </p:grpSpPr>
        <p:cxnSp>
          <p:nvCxnSpPr>
            <p:cNvPr id="524" name="Google Shape;524;p21"/>
            <p:cNvCxnSpPr/>
            <p:nvPr/>
          </p:nvCxnSpPr>
          <p:spPr>
            <a:xfrm>
              <a:off x="8226030" y="4990711"/>
              <a:ext cx="1684338" cy="23458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25" name="Google Shape;525;p21"/>
            <p:cNvSpPr txBox="1"/>
            <p:nvPr/>
          </p:nvSpPr>
          <p:spPr>
            <a:xfrm rot="460210">
              <a:off x="8601378" y="4881121"/>
              <a:ext cx="112698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unlock </a:t>
              </a:r>
              <a:r>
                <a:rPr i="1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/>
            </a:p>
          </p:txBody>
        </p:sp>
      </p:grpSp>
      <p:grpSp>
        <p:nvGrpSpPr>
          <p:cNvPr id="526" name="Google Shape;526;p21"/>
          <p:cNvGrpSpPr/>
          <p:nvPr/>
        </p:nvGrpSpPr>
        <p:grpSpPr>
          <a:xfrm>
            <a:off x="8211743" y="5251311"/>
            <a:ext cx="1673225" cy="370769"/>
            <a:chOff x="8211743" y="5251311"/>
            <a:chExt cx="1673225" cy="370769"/>
          </a:xfrm>
        </p:grpSpPr>
        <p:cxnSp>
          <p:nvCxnSpPr>
            <p:cNvPr id="527" name="Google Shape;527;p21"/>
            <p:cNvCxnSpPr/>
            <p:nvPr/>
          </p:nvCxnSpPr>
          <p:spPr>
            <a:xfrm flipH="1">
              <a:off x="8211743" y="5253900"/>
              <a:ext cx="1673225" cy="24221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28" name="Google Shape;528;p21"/>
            <p:cNvSpPr txBox="1"/>
            <p:nvPr/>
          </p:nvSpPr>
          <p:spPr>
            <a:xfrm rot="-493963">
              <a:off x="9373746" y="5282807"/>
              <a:ext cx="46205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OK</a:t>
              </a:r>
              <a:endParaRPr i="1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9" name="Google Shape;529;p21"/>
          <p:cNvGrpSpPr/>
          <p:nvPr/>
        </p:nvGrpSpPr>
        <p:grpSpPr>
          <a:xfrm>
            <a:off x="8226030" y="3488161"/>
            <a:ext cx="1710811" cy="482930"/>
            <a:chOff x="8226030" y="3488161"/>
            <a:chExt cx="1710811" cy="482930"/>
          </a:xfrm>
        </p:grpSpPr>
        <p:cxnSp>
          <p:nvCxnSpPr>
            <p:cNvPr id="530" name="Google Shape;530;p21"/>
            <p:cNvCxnSpPr/>
            <p:nvPr/>
          </p:nvCxnSpPr>
          <p:spPr>
            <a:xfrm>
              <a:off x="8226030" y="3679752"/>
              <a:ext cx="1684338" cy="23458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31" name="Google Shape;531;p21"/>
            <p:cNvSpPr txBox="1"/>
            <p:nvPr/>
          </p:nvSpPr>
          <p:spPr>
            <a:xfrm rot="460210">
              <a:off x="8589335" y="3575737"/>
              <a:ext cx="133292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update </a:t>
              </a:r>
              <a:r>
                <a:rPr i="1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      X’</a:t>
              </a:r>
              <a:endParaRPr/>
            </a:p>
          </p:txBody>
        </p:sp>
        <p:cxnSp>
          <p:nvCxnSpPr>
            <p:cNvPr id="532" name="Google Shape;532;p21"/>
            <p:cNvCxnSpPr/>
            <p:nvPr/>
          </p:nvCxnSpPr>
          <p:spPr>
            <a:xfrm rot="10800000">
              <a:off x="9331367" y="3750644"/>
              <a:ext cx="221806" cy="28115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533" name="Google Shape;533;p21"/>
          <p:cNvGrpSpPr/>
          <p:nvPr/>
        </p:nvGrpSpPr>
        <p:grpSpPr>
          <a:xfrm>
            <a:off x="8234852" y="4177252"/>
            <a:ext cx="1684338" cy="472801"/>
            <a:chOff x="8234852" y="4177252"/>
            <a:chExt cx="1684338" cy="472801"/>
          </a:xfrm>
        </p:grpSpPr>
        <p:cxnSp>
          <p:nvCxnSpPr>
            <p:cNvPr id="534" name="Google Shape;534;p21"/>
            <p:cNvCxnSpPr/>
            <p:nvPr/>
          </p:nvCxnSpPr>
          <p:spPr>
            <a:xfrm>
              <a:off x="8234852" y="4392131"/>
              <a:ext cx="1684338" cy="23458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35" name="Google Shape;535;p21"/>
            <p:cNvSpPr txBox="1"/>
            <p:nvPr/>
          </p:nvSpPr>
          <p:spPr>
            <a:xfrm rot="460210">
              <a:off x="8600615" y="4259764"/>
              <a:ext cx="125704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update </a:t>
              </a:r>
              <a:r>
                <a:rPr i="1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      X’’</a:t>
              </a:r>
              <a:endParaRPr/>
            </a:p>
          </p:txBody>
        </p:sp>
        <p:cxnSp>
          <p:nvCxnSpPr>
            <p:cNvPr id="536" name="Google Shape;536;p21"/>
            <p:cNvCxnSpPr/>
            <p:nvPr/>
          </p:nvCxnSpPr>
          <p:spPr>
            <a:xfrm rot="10800000">
              <a:off x="9339955" y="4436145"/>
              <a:ext cx="221806" cy="28115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537" name="Google Shape;537;p21"/>
          <p:cNvGrpSpPr/>
          <p:nvPr/>
        </p:nvGrpSpPr>
        <p:grpSpPr>
          <a:xfrm>
            <a:off x="8226030" y="2717763"/>
            <a:ext cx="1684338" cy="513330"/>
            <a:chOff x="8226030" y="2717763"/>
            <a:chExt cx="1684338" cy="513330"/>
          </a:xfrm>
        </p:grpSpPr>
        <p:sp>
          <p:nvSpPr>
            <p:cNvPr id="538" name="Google Shape;538;p21"/>
            <p:cNvSpPr txBox="1"/>
            <p:nvPr/>
          </p:nvSpPr>
          <p:spPr>
            <a:xfrm rot="460210">
              <a:off x="8283881" y="2820539"/>
              <a:ext cx="156069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lock data record </a:t>
              </a:r>
              <a:r>
                <a:rPr i="1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/>
            </a:p>
          </p:txBody>
        </p:sp>
        <p:cxnSp>
          <p:nvCxnSpPr>
            <p:cNvPr id="539" name="Google Shape;539;p21"/>
            <p:cNvCxnSpPr/>
            <p:nvPr/>
          </p:nvCxnSpPr>
          <p:spPr>
            <a:xfrm>
              <a:off x="8226030" y="2948551"/>
              <a:ext cx="1684338" cy="23458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40" name="Google Shape;540;p21"/>
          <p:cNvGrpSpPr/>
          <p:nvPr/>
        </p:nvGrpSpPr>
        <p:grpSpPr>
          <a:xfrm>
            <a:off x="8211743" y="3198739"/>
            <a:ext cx="1673225" cy="370769"/>
            <a:chOff x="8211743" y="3198739"/>
            <a:chExt cx="1673225" cy="370769"/>
          </a:xfrm>
        </p:grpSpPr>
        <p:cxnSp>
          <p:nvCxnSpPr>
            <p:cNvPr id="541" name="Google Shape;541;p21"/>
            <p:cNvCxnSpPr/>
            <p:nvPr/>
          </p:nvCxnSpPr>
          <p:spPr>
            <a:xfrm flipH="1">
              <a:off x="8211743" y="3211740"/>
              <a:ext cx="1673225" cy="24221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42" name="Google Shape;542;p21"/>
            <p:cNvSpPr txBox="1"/>
            <p:nvPr/>
          </p:nvSpPr>
          <p:spPr>
            <a:xfrm rot="-493963">
              <a:off x="9368027" y="3230235"/>
              <a:ext cx="46205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OK</a:t>
              </a:r>
              <a:endParaRPr i="1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3" name="Google Shape;543;p21"/>
          <p:cNvGrpSpPr/>
          <p:nvPr/>
        </p:nvGrpSpPr>
        <p:grpSpPr>
          <a:xfrm>
            <a:off x="10136156" y="2957082"/>
            <a:ext cx="522425" cy="400110"/>
            <a:chOff x="10136156" y="2957082"/>
            <a:chExt cx="522425" cy="400110"/>
          </a:xfrm>
        </p:grpSpPr>
        <p:sp>
          <p:nvSpPr>
            <p:cNvPr id="544" name="Google Shape;544;p21"/>
            <p:cNvSpPr/>
            <p:nvPr/>
          </p:nvSpPr>
          <p:spPr>
            <a:xfrm>
              <a:off x="10138333" y="2957082"/>
              <a:ext cx="510086" cy="400110"/>
            </a:xfrm>
            <a:prstGeom prst="can">
              <a:avLst>
                <a:gd fmla="val 31004" name="adj"/>
              </a:avLst>
            </a:prstGeom>
            <a:gradFill>
              <a:gsLst>
                <a:gs pos="0">
                  <a:srgbClr val="2E75B5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5" name="Google Shape;545;p21"/>
            <p:cNvSpPr txBox="1"/>
            <p:nvPr/>
          </p:nvSpPr>
          <p:spPr>
            <a:xfrm>
              <a:off x="10364121" y="3049415"/>
              <a:ext cx="29446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/>
            </a:p>
          </p:txBody>
        </p:sp>
        <p:pic>
          <p:nvPicPr>
            <p:cNvPr id="546" name="Google Shape;546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36156" y="2995160"/>
              <a:ext cx="307778" cy="30777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47" name="Google Shape;547;p21"/>
          <p:cNvSpPr/>
          <p:nvPr/>
        </p:nvSpPr>
        <p:spPr>
          <a:xfrm>
            <a:off x="10157378" y="2195369"/>
            <a:ext cx="510086" cy="400110"/>
          </a:xfrm>
          <a:prstGeom prst="can">
            <a:avLst>
              <a:gd fmla="val 31004" name="adj"/>
            </a:avLst>
          </a:prstGeom>
          <a:gradFill>
            <a:gsLst>
              <a:gs pos="0">
                <a:srgbClr val="2E75B5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8" name="Google Shape;548;p21"/>
          <p:cNvSpPr txBox="1"/>
          <p:nvPr/>
        </p:nvSpPr>
        <p:spPr>
          <a:xfrm>
            <a:off x="10383166" y="2287702"/>
            <a:ext cx="2944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grpSp>
        <p:nvGrpSpPr>
          <p:cNvPr id="549" name="Google Shape;549;p21"/>
          <p:cNvGrpSpPr/>
          <p:nvPr/>
        </p:nvGrpSpPr>
        <p:grpSpPr>
          <a:xfrm>
            <a:off x="10132163" y="3702128"/>
            <a:ext cx="592569" cy="400110"/>
            <a:chOff x="10136156" y="2957082"/>
            <a:chExt cx="592569" cy="400110"/>
          </a:xfrm>
        </p:grpSpPr>
        <p:sp>
          <p:nvSpPr>
            <p:cNvPr id="550" name="Google Shape;550;p21"/>
            <p:cNvSpPr/>
            <p:nvPr/>
          </p:nvSpPr>
          <p:spPr>
            <a:xfrm>
              <a:off x="10138333" y="2957082"/>
              <a:ext cx="510086" cy="400110"/>
            </a:xfrm>
            <a:prstGeom prst="can">
              <a:avLst>
                <a:gd fmla="val 31004" name="adj"/>
              </a:avLst>
            </a:prstGeom>
            <a:gradFill>
              <a:gsLst>
                <a:gs pos="0">
                  <a:srgbClr val="2E75B5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1" name="Google Shape;551;p21"/>
            <p:cNvSpPr txBox="1"/>
            <p:nvPr/>
          </p:nvSpPr>
          <p:spPr>
            <a:xfrm>
              <a:off x="10364121" y="3049415"/>
              <a:ext cx="36460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X’</a:t>
              </a:r>
              <a:endParaRPr/>
            </a:p>
          </p:txBody>
        </p:sp>
        <p:pic>
          <p:nvPicPr>
            <p:cNvPr id="552" name="Google Shape;552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36156" y="2995160"/>
              <a:ext cx="307778" cy="3077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53" name="Google Shape;553;p21"/>
          <p:cNvGrpSpPr/>
          <p:nvPr/>
        </p:nvGrpSpPr>
        <p:grpSpPr>
          <a:xfrm>
            <a:off x="10128170" y="4447174"/>
            <a:ext cx="592569" cy="400110"/>
            <a:chOff x="10136156" y="2957082"/>
            <a:chExt cx="592569" cy="400110"/>
          </a:xfrm>
        </p:grpSpPr>
        <p:sp>
          <p:nvSpPr>
            <p:cNvPr id="554" name="Google Shape;554;p21"/>
            <p:cNvSpPr/>
            <p:nvPr/>
          </p:nvSpPr>
          <p:spPr>
            <a:xfrm>
              <a:off x="10138333" y="2957082"/>
              <a:ext cx="510086" cy="400110"/>
            </a:xfrm>
            <a:prstGeom prst="can">
              <a:avLst>
                <a:gd fmla="val 31004" name="adj"/>
              </a:avLst>
            </a:prstGeom>
            <a:gradFill>
              <a:gsLst>
                <a:gs pos="0">
                  <a:srgbClr val="2E75B5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5" name="Google Shape;555;p21"/>
            <p:cNvSpPr txBox="1"/>
            <p:nvPr/>
          </p:nvSpPr>
          <p:spPr>
            <a:xfrm>
              <a:off x="10364121" y="3049415"/>
              <a:ext cx="36460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X’’</a:t>
              </a:r>
              <a:endParaRPr/>
            </a:p>
          </p:txBody>
        </p:sp>
        <p:pic>
          <p:nvPicPr>
            <p:cNvPr id="556" name="Google Shape;556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36156" y="2995160"/>
              <a:ext cx="307778" cy="3077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57" name="Google Shape;557;p21"/>
          <p:cNvGrpSpPr/>
          <p:nvPr/>
        </p:nvGrpSpPr>
        <p:grpSpPr>
          <a:xfrm>
            <a:off x="10126354" y="5192220"/>
            <a:ext cx="726072" cy="400110"/>
            <a:chOff x="10138333" y="2957082"/>
            <a:chExt cx="726072" cy="400110"/>
          </a:xfrm>
        </p:grpSpPr>
        <p:sp>
          <p:nvSpPr>
            <p:cNvPr id="558" name="Google Shape;558;p21"/>
            <p:cNvSpPr/>
            <p:nvPr/>
          </p:nvSpPr>
          <p:spPr>
            <a:xfrm>
              <a:off x="10138333" y="2957082"/>
              <a:ext cx="510086" cy="400110"/>
            </a:xfrm>
            <a:prstGeom prst="can">
              <a:avLst>
                <a:gd fmla="val 31004" name="adj"/>
              </a:avLst>
            </a:prstGeom>
            <a:gradFill>
              <a:gsLst>
                <a:gs pos="0">
                  <a:srgbClr val="2E75B5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9" name="Google Shape;559;p21"/>
            <p:cNvSpPr txBox="1"/>
            <p:nvPr/>
          </p:nvSpPr>
          <p:spPr>
            <a:xfrm>
              <a:off x="10364121" y="3049415"/>
              <a:ext cx="50028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X’’</a:t>
              </a:r>
              <a:endParaRPr/>
            </a:p>
          </p:txBody>
        </p:sp>
      </p:grpSp>
      <p:sp>
        <p:nvSpPr>
          <p:cNvPr id="560" name="Google Shape;560;p21"/>
          <p:cNvSpPr txBox="1"/>
          <p:nvPr/>
        </p:nvSpPr>
        <p:spPr>
          <a:xfrm>
            <a:off x="7895870" y="4140346"/>
            <a:ext cx="41429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t’</a:t>
            </a:r>
            <a:endParaRPr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1"/>
          <p:cNvSpPr txBox="1"/>
          <p:nvPr/>
        </p:nvSpPr>
        <p:spPr>
          <a:xfrm>
            <a:off x="7384517" y="5969340"/>
            <a:ext cx="411550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Q: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happens if network connection or client crashes at </a:t>
            </a:r>
            <a:r>
              <a:rPr i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t’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22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Maintaining user/server state: cookies</a:t>
            </a:r>
            <a:endParaRPr sz="4400"/>
          </a:p>
        </p:txBody>
      </p:sp>
      <p:sp>
        <p:nvSpPr>
          <p:cNvPr id="568" name="Google Shape;568;p22"/>
          <p:cNvSpPr txBox="1"/>
          <p:nvPr/>
        </p:nvSpPr>
        <p:spPr>
          <a:xfrm>
            <a:off x="622608" y="1452389"/>
            <a:ext cx="6335547" cy="4887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sites and client browser  use </a:t>
            </a:r>
            <a:r>
              <a:rPr i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cookies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maintain some state between transactions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i="1" lang="en-US" sz="32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four components: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1) cookie header line of HTTP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response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message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2) cookie header line in next HTTP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request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message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3) cookie file kept on user’s host, managed by user’s browser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4) back-end database at Web site</a:t>
            </a:r>
            <a:endParaRPr/>
          </a:p>
        </p:txBody>
      </p:sp>
      <p:sp>
        <p:nvSpPr>
          <p:cNvPr id="569" name="Google Shape;569;p22"/>
          <p:cNvSpPr txBox="1"/>
          <p:nvPr/>
        </p:nvSpPr>
        <p:spPr>
          <a:xfrm>
            <a:off x="7599363" y="1452389"/>
            <a:ext cx="4363453" cy="5025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11113" lvl="0" marL="95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Susan uses browser on laptop, visits specific e-commerce site for first time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initial HTTP requests arrives at site, site creates: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unique ID (aka “cookie”)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entry in backend database for ID</a:t>
            </a:r>
            <a:endParaRPr/>
          </a:p>
          <a:p>
            <a:pPr indent="-2286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subsequent HTTP requests from Susan to this site will contain cookie ID value, allowing site to “identify” Susan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3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Maintaining user/server state: cookies</a:t>
            </a:r>
            <a:endParaRPr sz="4400"/>
          </a:p>
        </p:txBody>
      </p:sp>
      <p:sp>
        <p:nvSpPr>
          <p:cNvPr id="576" name="Google Shape;576;p23"/>
          <p:cNvSpPr txBox="1"/>
          <p:nvPr/>
        </p:nvSpPr>
        <p:spPr>
          <a:xfrm>
            <a:off x="2092674" y="1266659"/>
            <a:ext cx="8739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/>
          </a:p>
        </p:txBody>
      </p:sp>
      <p:sp>
        <p:nvSpPr>
          <p:cNvPr id="577" name="Google Shape;577;p23"/>
          <p:cNvSpPr txBox="1"/>
          <p:nvPr/>
        </p:nvSpPr>
        <p:spPr>
          <a:xfrm>
            <a:off x="7072999" y="1555531"/>
            <a:ext cx="9669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/>
          </a:p>
        </p:txBody>
      </p:sp>
      <p:grpSp>
        <p:nvGrpSpPr>
          <p:cNvPr id="578" name="Google Shape;578;p23"/>
          <p:cNvGrpSpPr/>
          <p:nvPr/>
        </p:nvGrpSpPr>
        <p:grpSpPr>
          <a:xfrm>
            <a:off x="2996806" y="4057653"/>
            <a:ext cx="3873500" cy="458788"/>
            <a:chOff x="1414" y="2657"/>
            <a:chExt cx="2440" cy="289"/>
          </a:xfrm>
        </p:grpSpPr>
        <p:cxnSp>
          <p:nvCxnSpPr>
            <p:cNvPr id="579" name="Google Shape;579;p23"/>
            <p:cNvCxnSpPr/>
            <p:nvPr/>
          </p:nvCxnSpPr>
          <p:spPr>
            <a:xfrm flipH="1">
              <a:off x="1414" y="2657"/>
              <a:ext cx="2440" cy="249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580" name="Google Shape;580;p23"/>
            <p:cNvGrpSpPr/>
            <p:nvPr/>
          </p:nvGrpSpPr>
          <p:grpSpPr>
            <a:xfrm>
              <a:off x="1553" y="2694"/>
              <a:ext cx="1897" cy="252"/>
              <a:chOff x="3268" y="2846"/>
              <a:chExt cx="1897" cy="252"/>
            </a:xfrm>
          </p:grpSpPr>
          <p:sp>
            <p:nvSpPr>
              <p:cNvPr id="581" name="Google Shape;581;p23"/>
              <p:cNvSpPr/>
              <p:nvPr/>
            </p:nvSpPr>
            <p:spPr>
              <a:xfrm>
                <a:off x="3282" y="2856"/>
                <a:ext cx="1692" cy="198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" name="Google Shape;582;p23"/>
              <p:cNvSpPr txBox="1"/>
              <p:nvPr/>
            </p:nvSpPr>
            <p:spPr>
              <a:xfrm>
                <a:off x="3268" y="2846"/>
                <a:ext cx="1897" cy="252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usual HTTP response msg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83" name="Google Shape;583;p23"/>
          <p:cNvGrpSpPr/>
          <p:nvPr/>
        </p:nvGrpSpPr>
        <p:grpSpPr>
          <a:xfrm>
            <a:off x="3002432" y="5867498"/>
            <a:ext cx="3859213" cy="463549"/>
            <a:chOff x="1392" y="3579"/>
            <a:chExt cx="2431" cy="292"/>
          </a:xfrm>
        </p:grpSpPr>
        <p:cxnSp>
          <p:nvCxnSpPr>
            <p:cNvPr id="584" name="Google Shape;584;p23"/>
            <p:cNvCxnSpPr/>
            <p:nvPr/>
          </p:nvCxnSpPr>
          <p:spPr>
            <a:xfrm flipH="1">
              <a:off x="1392" y="3579"/>
              <a:ext cx="2431" cy="266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85" name="Google Shape;585;p23"/>
            <p:cNvSpPr txBox="1"/>
            <p:nvPr/>
          </p:nvSpPr>
          <p:spPr>
            <a:xfrm>
              <a:off x="1598" y="3619"/>
              <a:ext cx="1852" cy="25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usual HTTP response msg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6" name="Google Shape;586;p23"/>
          <p:cNvSpPr txBox="1"/>
          <p:nvPr/>
        </p:nvSpPr>
        <p:spPr>
          <a:xfrm>
            <a:off x="1733156" y="2293935"/>
            <a:ext cx="17875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cookie file</a:t>
            </a:r>
            <a:endParaRPr/>
          </a:p>
        </p:txBody>
      </p:sp>
      <p:sp>
        <p:nvSpPr>
          <p:cNvPr id="587" name="Google Shape;587;p23"/>
          <p:cNvSpPr txBox="1"/>
          <p:nvPr/>
        </p:nvSpPr>
        <p:spPr>
          <a:xfrm>
            <a:off x="1550772" y="4672055"/>
            <a:ext cx="181011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one week later:</a:t>
            </a:r>
            <a:endParaRPr/>
          </a:p>
        </p:txBody>
      </p:sp>
      <p:grpSp>
        <p:nvGrpSpPr>
          <p:cNvPr id="588" name="Google Shape;588;p23"/>
          <p:cNvGrpSpPr/>
          <p:nvPr/>
        </p:nvGrpSpPr>
        <p:grpSpPr>
          <a:xfrm>
            <a:off x="2998327" y="3429000"/>
            <a:ext cx="6777024" cy="1128713"/>
            <a:chOff x="1411" y="2261"/>
            <a:chExt cx="3533" cy="711"/>
          </a:xfrm>
        </p:grpSpPr>
        <p:cxnSp>
          <p:nvCxnSpPr>
            <p:cNvPr id="589" name="Google Shape;589;p23"/>
            <p:cNvCxnSpPr/>
            <p:nvPr/>
          </p:nvCxnSpPr>
          <p:spPr>
            <a:xfrm>
              <a:off x="1411" y="2361"/>
              <a:ext cx="2016" cy="24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90" name="Google Shape;590;p23"/>
            <p:cNvSpPr txBox="1"/>
            <p:nvPr/>
          </p:nvSpPr>
          <p:spPr>
            <a:xfrm>
              <a:off x="1548" y="2261"/>
              <a:ext cx="1689" cy="404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usual HTTP request msg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cookie: 1678</a:t>
              </a:r>
              <a:endParaRPr/>
            </a:p>
          </p:txBody>
        </p:sp>
        <p:sp>
          <p:nvSpPr>
            <p:cNvPr id="591" name="Google Shape;591;p23"/>
            <p:cNvSpPr txBox="1"/>
            <p:nvPr/>
          </p:nvSpPr>
          <p:spPr>
            <a:xfrm>
              <a:off x="3549" y="2332"/>
              <a:ext cx="607" cy="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cookie-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specific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action</a:t>
              </a:r>
              <a:endParaRPr/>
            </a:p>
          </p:txBody>
        </p:sp>
        <p:cxnSp>
          <p:nvCxnSpPr>
            <p:cNvPr id="592" name="Google Shape;592;p23"/>
            <p:cNvCxnSpPr/>
            <p:nvPr/>
          </p:nvCxnSpPr>
          <p:spPr>
            <a:xfrm flipH="1" rot="10800000">
              <a:off x="4252" y="2367"/>
              <a:ext cx="692" cy="26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593" name="Google Shape;593;p23"/>
            <p:cNvGrpSpPr/>
            <p:nvPr/>
          </p:nvGrpSpPr>
          <p:grpSpPr>
            <a:xfrm>
              <a:off x="4306" y="2363"/>
              <a:ext cx="539" cy="252"/>
              <a:chOff x="4306" y="2273"/>
              <a:chExt cx="539" cy="252"/>
            </a:xfrm>
          </p:grpSpPr>
          <p:sp>
            <p:nvSpPr>
              <p:cNvPr id="594" name="Google Shape;594;p23"/>
              <p:cNvSpPr/>
              <p:nvPr/>
            </p:nvSpPr>
            <p:spPr>
              <a:xfrm>
                <a:off x="4409" y="2365"/>
                <a:ext cx="384" cy="9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" name="Google Shape;595;p23"/>
              <p:cNvSpPr txBox="1"/>
              <p:nvPr/>
            </p:nvSpPr>
            <p:spPr>
              <a:xfrm>
                <a:off x="4306" y="2273"/>
                <a:ext cx="539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access</a:t>
                </a:r>
                <a:endParaRPr/>
              </a:p>
            </p:txBody>
          </p:sp>
        </p:grpSp>
      </p:grpSp>
      <p:grpSp>
        <p:nvGrpSpPr>
          <p:cNvPr id="596" name="Google Shape;596;p23"/>
          <p:cNvGrpSpPr/>
          <p:nvPr/>
        </p:nvGrpSpPr>
        <p:grpSpPr>
          <a:xfrm>
            <a:off x="1704581" y="1762123"/>
            <a:ext cx="1066800" cy="565150"/>
            <a:chOff x="527" y="1047"/>
            <a:chExt cx="855" cy="486"/>
          </a:xfrm>
        </p:grpSpPr>
        <p:sp>
          <p:nvSpPr>
            <p:cNvPr id="597" name="Google Shape;597;p23"/>
            <p:cNvSpPr/>
            <p:nvPr/>
          </p:nvSpPr>
          <p:spPr>
            <a:xfrm>
              <a:off x="527" y="1047"/>
              <a:ext cx="855" cy="486"/>
            </a:xfrm>
            <a:prstGeom prst="can">
              <a:avLst>
                <a:gd fmla="val 25000" name="adj"/>
              </a:avLst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23"/>
            <p:cNvSpPr txBox="1"/>
            <p:nvPr/>
          </p:nvSpPr>
          <p:spPr>
            <a:xfrm>
              <a:off x="552" y="1193"/>
              <a:ext cx="805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ebay 8734</a:t>
              </a:r>
              <a:endParaRPr/>
            </a:p>
          </p:txBody>
        </p:sp>
      </p:grpSp>
      <p:grpSp>
        <p:nvGrpSpPr>
          <p:cNvPr id="599" name="Google Shape;599;p23"/>
          <p:cNvGrpSpPr/>
          <p:nvPr/>
        </p:nvGrpSpPr>
        <p:grpSpPr>
          <a:xfrm>
            <a:off x="2952356" y="1946272"/>
            <a:ext cx="6972540" cy="1301749"/>
            <a:chOff x="1386" y="1327"/>
            <a:chExt cx="3730" cy="820"/>
          </a:xfrm>
        </p:grpSpPr>
        <p:cxnSp>
          <p:nvCxnSpPr>
            <p:cNvPr id="600" name="Google Shape;600;p23"/>
            <p:cNvCxnSpPr/>
            <p:nvPr/>
          </p:nvCxnSpPr>
          <p:spPr>
            <a:xfrm>
              <a:off x="1386" y="1355"/>
              <a:ext cx="2082" cy="24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01" name="Google Shape;601;p23"/>
            <p:cNvSpPr txBox="1"/>
            <p:nvPr/>
          </p:nvSpPr>
          <p:spPr>
            <a:xfrm>
              <a:off x="1554" y="1327"/>
              <a:ext cx="1689" cy="25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usual HTTP request msg</a:t>
              </a:r>
              <a:endParaRPr/>
            </a:p>
          </p:txBody>
        </p:sp>
        <p:sp>
          <p:nvSpPr>
            <p:cNvPr id="602" name="Google Shape;602;p23"/>
            <p:cNvSpPr txBox="1"/>
            <p:nvPr/>
          </p:nvSpPr>
          <p:spPr>
            <a:xfrm>
              <a:off x="3460" y="1390"/>
              <a:ext cx="848" cy="5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Amazon server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creates ID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1678 for user</a:t>
              </a:r>
              <a:endParaRPr b="0" i="0" sz="2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03" name="Google Shape;603;p23"/>
            <p:cNvGrpSpPr/>
            <p:nvPr/>
          </p:nvGrpSpPr>
          <p:grpSpPr>
            <a:xfrm>
              <a:off x="4377" y="1730"/>
              <a:ext cx="739" cy="417"/>
              <a:chOff x="4377" y="1640"/>
              <a:chExt cx="739" cy="417"/>
            </a:xfrm>
          </p:grpSpPr>
          <p:cxnSp>
            <p:nvCxnSpPr>
              <p:cNvPr id="604" name="Google Shape;604;p23"/>
              <p:cNvCxnSpPr/>
              <p:nvPr/>
            </p:nvCxnSpPr>
            <p:spPr>
              <a:xfrm>
                <a:off x="4377" y="1640"/>
                <a:ext cx="659" cy="41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605" name="Google Shape;605;p23"/>
              <p:cNvSpPr/>
              <p:nvPr/>
            </p:nvSpPr>
            <p:spPr>
              <a:xfrm>
                <a:off x="4470" y="1729"/>
                <a:ext cx="602" cy="24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" name="Google Shape;606;p23"/>
              <p:cNvSpPr txBox="1"/>
              <p:nvPr/>
            </p:nvSpPr>
            <p:spPr>
              <a:xfrm>
                <a:off x="4381" y="1702"/>
                <a:ext cx="735" cy="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create</a:t>
                </a:r>
                <a:endParaRPr/>
              </a:p>
              <a:p>
                <a:pPr indent="0" lvl="0" marL="0" marR="0" rtl="0" algn="l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entry</a:t>
                </a:r>
                <a:endParaRPr/>
              </a:p>
            </p:txBody>
          </p:sp>
        </p:grpSp>
      </p:grpSp>
      <p:grpSp>
        <p:nvGrpSpPr>
          <p:cNvPr id="607" name="Google Shape;607;p23"/>
          <p:cNvGrpSpPr/>
          <p:nvPr/>
        </p:nvGrpSpPr>
        <p:grpSpPr>
          <a:xfrm>
            <a:off x="1675603" y="2474086"/>
            <a:ext cx="5151555" cy="890270"/>
            <a:chOff x="462" y="1603"/>
            <a:chExt cx="3550" cy="719"/>
          </a:xfrm>
        </p:grpSpPr>
        <p:cxnSp>
          <p:nvCxnSpPr>
            <p:cNvPr id="608" name="Google Shape;608;p23"/>
            <p:cNvCxnSpPr/>
            <p:nvPr/>
          </p:nvCxnSpPr>
          <p:spPr>
            <a:xfrm flipH="1">
              <a:off x="1404" y="1603"/>
              <a:ext cx="2608" cy="274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09" name="Google Shape;609;p23"/>
            <p:cNvSpPr txBox="1"/>
            <p:nvPr/>
          </p:nvSpPr>
          <p:spPr>
            <a:xfrm>
              <a:off x="1552" y="1650"/>
              <a:ext cx="1665" cy="51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usual HTTP response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set-cookie: 1678 </a:t>
              </a:r>
              <a:endParaRPr/>
            </a:p>
          </p:txBody>
        </p:sp>
        <p:grpSp>
          <p:nvGrpSpPr>
            <p:cNvPr id="610" name="Google Shape;610;p23"/>
            <p:cNvGrpSpPr/>
            <p:nvPr/>
          </p:nvGrpSpPr>
          <p:grpSpPr>
            <a:xfrm>
              <a:off x="462" y="1836"/>
              <a:ext cx="1004" cy="486"/>
              <a:chOff x="687" y="1746"/>
              <a:chExt cx="1004" cy="486"/>
            </a:xfrm>
          </p:grpSpPr>
          <p:sp>
            <p:nvSpPr>
              <p:cNvPr id="611" name="Google Shape;611;p23"/>
              <p:cNvSpPr/>
              <p:nvPr/>
            </p:nvSpPr>
            <p:spPr>
              <a:xfrm>
                <a:off x="702" y="1746"/>
                <a:ext cx="735" cy="486"/>
              </a:xfrm>
              <a:prstGeom prst="can">
                <a:avLst>
                  <a:gd fmla="val 25000" name="adj"/>
                </a:avLst>
              </a:prstGeom>
              <a:solidFill>
                <a:srgbClr val="3333CC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" name="Google Shape;612;p23"/>
              <p:cNvSpPr txBox="1"/>
              <p:nvPr/>
            </p:nvSpPr>
            <p:spPr>
              <a:xfrm>
                <a:off x="687" y="1836"/>
                <a:ext cx="1004" cy="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Calibri"/>
                  <a:buNone/>
                </a:pPr>
                <a:r>
                  <a:rPr b="1" i="0" lang="en-US" sz="14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ebay 8734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Calibri"/>
                  <a:buNone/>
                </a:pPr>
                <a:r>
                  <a:rPr b="1" i="0" lang="en-US" sz="14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amazon 1678</a:t>
                </a:r>
                <a:endParaRPr/>
              </a:p>
            </p:txBody>
          </p:sp>
        </p:grpSp>
      </p:grpSp>
      <p:grpSp>
        <p:nvGrpSpPr>
          <p:cNvPr id="613" name="Google Shape;613;p23"/>
          <p:cNvGrpSpPr/>
          <p:nvPr/>
        </p:nvGrpSpPr>
        <p:grpSpPr>
          <a:xfrm>
            <a:off x="2994226" y="4365354"/>
            <a:ext cx="6781125" cy="2001838"/>
            <a:chOff x="1406" y="2641"/>
            <a:chExt cx="3562" cy="1261"/>
          </a:xfrm>
        </p:grpSpPr>
        <p:cxnSp>
          <p:nvCxnSpPr>
            <p:cNvPr id="614" name="Google Shape;614;p23"/>
            <p:cNvCxnSpPr/>
            <p:nvPr/>
          </p:nvCxnSpPr>
          <p:spPr>
            <a:xfrm>
              <a:off x="1406" y="3293"/>
              <a:ext cx="2032" cy="24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15" name="Google Shape;615;p23"/>
            <p:cNvSpPr txBox="1"/>
            <p:nvPr/>
          </p:nvSpPr>
          <p:spPr>
            <a:xfrm>
              <a:off x="1561" y="3171"/>
              <a:ext cx="1689" cy="404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usual HTTP request msg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cookie: 1678</a:t>
              </a:r>
              <a:endParaRPr/>
            </a:p>
          </p:txBody>
        </p:sp>
        <p:sp>
          <p:nvSpPr>
            <p:cNvPr id="616" name="Google Shape;616;p23"/>
            <p:cNvSpPr txBox="1"/>
            <p:nvPr/>
          </p:nvSpPr>
          <p:spPr>
            <a:xfrm>
              <a:off x="3579" y="3262"/>
              <a:ext cx="607" cy="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cookie-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specific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action</a:t>
              </a:r>
              <a:endParaRPr/>
            </a:p>
          </p:txBody>
        </p:sp>
        <p:cxnSp>
          <p:nvCxnSpPr>
            <p:cNvPr id="617" name="Google Shape;617;p23"/>
            <p:cNvCxnSpPr/>
            <p:nvPr/>
          </p:nvCxnSpPr>
          <p:spPr>
            <a:xfrm flipH="1" rot="10800000">
              <a:off x="4181" y="2641"/>
              <a:ext cx="787" cy="86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618" name="Google Shape;618;p23"/>
            <p:cNvSpPr txBox="1"/>
            <p:nvPr/>
          </p:nvSpPr>
          <p:spPr>
            <a:xfrm>
              <a:off x="4287" y="2939"/>
              <a:ext cx="539" cy="2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/>
            </a:p>
          </p:txBody>
        </p:sp>
      </p:grpSp>
      <p:grpSp>
        <p:nvGrpSpPr>
          <p:cNvPr id="619" name="Google Shape;619;p23"/>
          <p:cNvGrpSpPr/>
          <p:nvPr/>
        </p:nvGrpSpPr>
        <p:grpSpPr>
          <a:xfrm>
            <a:off x="1655687" y="5113066"/>
            <a:ext cx="1389062" cy="633978"/>
            <a:chOff x="702" y="1746"/>
            <a:chExt cx="1004" cy="486"/>
          </a:xfrm>
        </p:grpSpPr>
        <p:sp>
          <p:nvSpPr>
            <p:cNvPr id="620" name="Google Shape;620;p23"/>
            <p:cNvSpPr/>
            <p:nvPr/>
          </p:nvSpPr>
          <p:spPr>
            <a:xfrm>
              <a:off x="735" y="1746"/>
              <a:ext cx="773" cy="486"/>
            </a:xfrm>
            <a:prstGeom prst="can">
              <a:avLst>
                <a:gd fmla="val 25000" name="adj"/>
              </a:avLst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23"/>
            <p:cNvSpPr txBox="1"/>
            <p:nvPr/>
          </p:nvSpPr>
          <p:spPr>
            <a:xfrm>
              <a:off x="702" y="1851"/>
              <a:ext cx="1004" cy="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ebay 8734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amazon 1678</a:t>
              </a:r>
              <a:endPara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2" name="Google Shape;622;p23"/>
          <p:cNvSpPr txBox="1"/>
          <p:nvPr/>
        </p:nvSpPr>
        <p:spPr>
          <a:xfrm>
            <a:off x="9834963" y="2582111"/>
            <a:ext cx="114005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/>
          </a:p>
        </p:txBody>
      </p:sp>
      <p:sp>
        <p:nvSpPr>
          <p:cNvPr id="623" name="Google Shape;623;p23"/>
          <p:cNvSpPr/>
          <p:nvPr/>
        </p:nvSpPr>
        <p:spPr>
          <a:xfrm>
            <a:off x="10104838" y="3202824"/>
            <a:ext cx="592138" cy="908050"/>
          </a:xfrm>
          <a:prstGeom prst="can">
            <a:avLst>
              <a:gd fmla="val 31004" name="adj"/>
            </a:avLst>
          </a:prstGeom>
          <a:gradFill>
            <a:gsLst>
              <a:gs pos="0">
                <a:srgbClr val="000099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24" name="Google Shape;624;p23"/>
          <p:cNvGrpSpPr/>
          <p:nvPr/>
        </p:nvGrpSpPr>
        <p:grpSpPr>
          <a:xfrm>
            <a:off x="6709231" y="1274501"/>
            <a:ext cx="351110" cy="610396"/>
            <a:chOff x="4140" y="429"/>
            <a:chExt cx="1425" cy="2396"/>
          </a:xfrm>
        </p:grpSpPr>
        <p:sp>
          <p:nvSpPr>
            <p:cNvPr id="625" name="Google Shape;625;p2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" name="Google Shape;626;p23"/>
            <p:cNvSpPr/>
            <p:nvPr/>
          </p:nvSpPr>
          <p:spPr>
            <a:xfrm>
              <a:off x="4206" y="429"/>
              <a:ext cx="1045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" name="Google Shape;627;p2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" name="Google Shape;628;p2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23"/>
            <p:cNvSpPr/>
            <p:nvPr/>
          </p:nvSpPr>
          <p:spPr>
            <a:xfrm>
              <a:off x="4212" y="695"/>
              <a:ext cx="594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30" name="Google Shape;630;p23"/>
            <p:cNvGrpSpPr/>
            <p:nvPr/>
          </p:nvGrpSpPr>
          <p:grpSpPr>
            <a:xfrm>
              <a:off x="4751" y="666"/>
              <a:ext cx="578" cy="148"/>
              <a:chOff x="616" y="2566"/>
              <a:chExt cx="721" cy="142"/>
            </a:xfrm>
          </p:grpSpPr>
          <p:sp>
            <p:nvSpPr>
              <p:cNvPr id="631" name="Google Shape;631;p23"/>
              <p:cNvSpPr/>
              <p:nvPr/>
            </p:nvSpPr>
            <p:spPr>
              <a:xfrm>
                <a:off x="616" y="2566"/>
                <a:ext cx="721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" name="Google Shape;632;p23"/>
              <p:cNvSpPr/>
              <p:nvPr/>
            </p:nvSpPr>
            <p:spPr>
              <a:xfrm>
                <a:off x="630" y="2580"/>
                <a:ext cx="687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33" name="Google Shape;633;p23"/>
            <p:cNvSpPr/>
            <p:nvPr/>
          </p:nvSpPr>
          <p:spPr>
            <a:xfrm>
              <a:off x="4223" y="1021"/>
              <a:ext cx="600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34" name="Google Shape;634;p23"/>
            <p:cNvGrpSpPr/>
            <p:nvPr/>
          </p:nvGrpSpPr>
          <p:grpSpPr>
            <a:xfrm>
              <a:off x="4745" y="996"/>
              <a:ext cx="583" cy="133"/>
              <a:chOff x="612" y="2570"/>
              <a:chExt cx="728" cy="138"/>
            </a:xfrm>
          </p:grpSpPr>
          <p:sp>
            <p:nvSpPr>
              <p:cNvPr id="635" name="Google Shape;635;p23"/>
              <p:cNvSpPr/>
              <p:nvPr/>
            </p:nvSpPr>
            <p:spPr>
              <a:xfrm>
                <a:off x="612" y="2570"/>
                <a:ext cx="728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" name="Google Shape;636;p23"/>
              <p:cNvSpPr/>
              <p:nvPr/>
            </p:nvSpPr>
            <p:spPr>
              <a:xfrm>
                <a:off x="625" y="2585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37" name="Google Shape;637;p23"/>
            <p:cNvSpPr/>
            <p:nvPr/>
          </p:nvSpPr>
          <p:spPr>
            <a:xfrm>
              <a:off x="4217" y="1356"/>
              <a:ext cx="594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8" name="Google Shape;638;p23"/>
            <p:cNvSpPr/>
            <p:nvPr/>
          </p:nvSpPr>
          <p:spPr>
            <a:xfrm>
              <a:off x="4228" y="1657"/>
              <a:ext cx="594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39" name="Google Shape;639;p23"/>
            <p:cNvGrpSpPr/>
            <p:nvPr/>
          </p:nvGrpSpPr>
          <p:grpSpPr>
            <a:xfrm>
              <a:off x="4734" y="1627"/>
              <a:ext cx="584" cy="153"/>
              <a:chOff x="613" y="2568"/>
              <a:chExt cx="727" cy="141"/>
            </a:xfrm>
          </p:grpSpPr>
          <p:sp>
            <p:nvSpPr>
              <p:cNvPr id="640" name="Google Shape;640;p23"/>
              <p:cNvSpPr/>
              <p:nvPr/>
            </p:nvSpPr>
            <p:spPr>
              <a:xfrm>
                <a:off x="613" y="2568"/>
                <a:ext cx="727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" name="Google Shape;641;p23"/>
              <p:cNvSpPr/>
              <p:nvPr/>
            </p:nvSpPr>
            <p:spPr>
              <a:xfrm>
                <a:off x="627" y="2586"/>
                <a:ext cx="692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42" name="Google Shape;642;p2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43" name="Google Shape;643;p23"/>
            <p:cNvGrpSpPr/>
            <p:nvPr/>
          </p:nvGrpSpPr>
          <p:grpSpPr>
            <a:xfrm>
              <a:off x="4740" y="1326"/>
              <a:ext cx="584" cy="138"/>
              <a:chOff x="615" y="2567"/>
              <a:chExt cx="727" cy="138"/>
            </a:xfrm>
          </p:grpSpPr>
          <p:sp>
            <p:nvSpPr>
              <p:cNvPr id="644" name="Google Shape;644;p23"/>
              <p:cNvSpPr/>
              <p:nvPr/>
            </p:nvSpPr>
            <p:spPr>
              <a:xfrm>
                <a:off x="615" y="2567"/>
                <a:ext cx="727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" name="Google Shape;645;p23"/>
              <p:cNvSpPr/>
              <p:nvPr/>
            </p:nvSpPr>
            <p:spPr>
              <a:xfrm>
                <a:off x="629" y="2582"/>
                <a:ext cx="692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46" name="Google Shape;646;p23"/>
            <p:cNvSpPr/>
            <p:nvPr/>
          </p:nvSpPr>
          <p:spPr>
            <a:xfrm>
              <a:off x="5251" y="429"/>
              <a:ext cx="66" cy="2288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7" name="Google Shape;647;p2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8" name="Google Shape;648;p2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" name="Google Shape;649;p23"/>
            <p:cNvSpPr/>
            <p:nvPr/>
          </p:nvSpPr>
          <p:spPr>
            <a:xfrm>
              <a:off x="5515" y="2613"/>
              <a:ext cx="50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" name="Google Shape;650;p2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p23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" name="Google Shape;652;p23"/>
            <p:cNvSpPr/>
            <p:nvPr/>
          </p:nvSpPr>
          <p:spPr>
            <a:xfrm>
              <a:off x="4206" y="2712"/>
              <a:ext cx="1067" cy="84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23"/>
            <p:cNvSpPr/>
            <p:nvPr/>
          </p:nvSpPr>
          <p:spPr>
            <a:xfrm>
              <a:off x="4311" y="2381"/>
              <a:ext cx="154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23"/>
            <p:cNvSpPr/>
            <p:nvPr/>
          </p:nvSpPr>
          <p:spPr>
            <a:xfrm>
              <a:off x="4487" y="2386"/>
              <a:ext cx="160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23"/>
            <p:cNvSpPr/>
            <p:nvPr/>
          </p:nvSpPr>
          <p:spPr>
            <a:xfrm>
              <a:off x="4663" y="2381"/>
              <a:ext cx="160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23"/>
            <p:cNvSpPr/>
            <p:nvPr/>
          </p:nvSpPr>
          <p:spPr>
            <a:xfrm>
              <a:off x="5064" y="1834"/>
              <a:ext cx="83" cy="764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7" name="Google Shape;657;p23"/>
          <p:cNvGrpSpPr/>
          <p:nvPr/>
        </p:nvGrpSpPr>
        <p:grpSpPr>
          <a:xfrm>
            <a:off x="2734523" y="1369488"/>
            <a:ext cx="667783" cy="586047"/>
            <a:chOff x="-44" y="1473"/>
            <a:chExt cx="981" cy="1105"/>
          </a:xfrm>
        </p:grpSpPr>
        <p:pic>
          <p:nvPicPr>
            <p:cNvPr descr="desktop_computer_stylized_medium" id="658" name="Google Shape;658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9" name="Google Shape;659;p2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660" name="Google Shape;660;p23"/>
          <p:cNvCxnSpPr/>
          <p:nvPr/>
        </p:nvCxnSpPr>
        <p:spPr>
          <a:xfrm flipH="1">
            <a:off x="2999897" y="1993139"/>
            <a:ext cx="510" cy="4465805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661" name="Google Shape;661;p23"/>
          <p:cNvSpPr txBox="1"/>
          <p:nvPr/>
        </p:nvSpPr>
        <p:spPr>
          <a:xfrm>
            <a:off x="2746707" y="6459827"/>
            <a:ext cx="5196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  <p:cxnSp>
        <p:nvCxnSpPr>
          <p:cNvPr id="662" name="Google Shape;662;p23"/>
          <p:cNvCxnSpPr/>
          <p:nvPr/>
        </p:nvCxnSpPr>
        <p:spPr>
          <a:xfrm flipH="1">
            <a:off x="6867352" y="2001551"/>
            <a:ext cx="510" cy="4465805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663" name="Google Shape;663;p23"/>
          <p:cNvSpPr txBox="1"/>
          <p:nvPr/>
        </p:nvSpPr>
        <p:spPr>
          <a:xfrm>
            <a:off x="6614162" y="6468239"/>
            <a:ext cx="5196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0"/>
                                        <p:tgtEl>
                                          <p:spTgt spid="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24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 cookies: comments</a:t>
            </a:r>
            <a:endParaRPr sz="4400"/>
          </a:p>
        </p:txBody>
      </p:sp>
      <p:sp>
        <p:nvSpPr>
          <p:cNvPr id="670" name="Google Shape;670;p24"/>
          <p:cNvSpPr txBox="1"/>
          <p:nvPr/>
        </p:nvSpPr>
        <p:spPr>
          <a:xfrm>
            <a:off x="648049" y="1556443"/>
            <a:ext cx="6034668" cy="26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i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What cookies can be used for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22250" lvl="0" marL="352425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authorization</a:t>
            </a:r>
            <a:endParaRPr/>
          </a:p>
          <a:p>
            <a:pPr indent="-222250" lvl="0" marL="352425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shopping carts</a:t>
            </a:r>
            <a:endParaRPr/>
          </a:p>
          <a:p>
            <a:pPr indent="-222250" lvl="0" marL="352425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/>
          </a:p>
          <a:p>
            <a:pPr indent="-222250" lvl="0" marL="352425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session state (Web e-mail)</a:t>
            </a:r>
            <a:endParaRPr/>
          </a:p>
        </p:txBody>
      </p:sp>
      <p:sp>
        <p:nvSpPr>
          <p:cNvPr id="671" name="Google Shape;671;p24"/>
          <p:cNvSpPr/>
          <p:nvPr/>
        </p:nvSpPr>
        <p:spPr>
          <a:xfrm>
            <a:off x="7504291" y="1568189"/>
            <a:ext cx="3810000" cy="3553646"/>
          </a:xfrm>
          <a:prstGeom prst="rect">
            <a:avLst/>
          </a:prstGeom>
          <a:noFill/>
          <a:ln cap="flat" cmpd="sng" w="19050">
            <a:solidFill>
              <a:srgbClr val="0000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cookies and privacy: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cookies permit sites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lot about you on their site.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third party persistent cookies (tracking cookies) allow common identity (cookie value) to be tracked across multiple web sites</a:t>
            </a:r>
            <a:endParaRPr/>
          </a:p>
        </p:txBody>
      </p:sp>
      <p:sp>
        <p:nvSpPr>
          <p:cNvPr id="672" name="Google Shape;672;p24"/>
          <p:cNvSpPr txBox="1"/>
          <p:nvPr/>
        </p:nvSpPr>
        <p:spPr>
          <a:xfrm>
            <a:off x="10149568" y="1325611"/>
            <a:ext cx="838691" cy="4616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aside</a:t>
            </a:r>
            <a:endParaRPr/>
          </a:p>
        </p:txBody>
      </p:sp>
      <p:sp>
        <p:nvSpPr>
          <p:cNvPr id="673" name="Google Shape;673;p24"/>
          <p:cNvSpPr/>
          <p:nvPr/>
        </p:nvSpPr>
        <p:spPr>
          <a:xfrm>
            <a:off x="721562" y="3980757"/>
            <a:ext cx="6267067" cy="26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Challenge: How to keep state?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at protocol endpoints: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maintain state at sender/receiver over multiple transactions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in messages: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cookies inHTTP messages carry state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9" name="Google Shape;679;p25"/>
          <p:cNvGrpSpPr/>
          <p:nvPr/>
        </p:nvGrpSpPr>
        <p:grpSpPr>
          <a:xfrm>
            <a:off x="7421880" y="45382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680" name="Google Shape;680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1" name="Google Shape;681;p25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682" name="Google Shape;682;p25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683" name="Google Shape;683;p2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84" name="Google Shape;684;p25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85" name="Google Shape;685;p25"/>
          <p:cNvGrpSpPr/>
          <p:nvPr/>
        </p:nvGrpSpPr>
        <p:grpSpPr>
          <a:xfrm>
            <a:off x="5108787" y="6105145"/>
            <a:ext cx="6892924" cy="461665"/>
            <a:chOff x="5108787" y="6105145"/>
            <a:chExt cx="6892924" cy="461665"/>
          </a:xfrm>
        </p:grpSpPr>
        <p:sp>
          <p:nvSpPr>
            <p:cNvPr id="686" name="Google Shape;686;p25"/>
            <p:cNvSpPr txBox="1"/>
            <p:nvPr/>
          </p:nvSpPr>
          <p:spPr>
            <a:xfrm>
              <a:off x="5108787" y="6105145"/>
              <a:ext cx="689292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Video: 2020, J.F. Kurose, All Rights Reserved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Powerpoint: 1996-2020, J.F. Kurose, K.W. Ross, All Rights Reserved</a:t>
              </a:r>
              <a:endParaRPr/>
            </a:p>
          </p:txBody>
        </p:sp>
        <p:pic>
          <p:nvPicPr>
            <p:cNvPr id="687" name="Google Shape;687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028246" y="6178318"/>
              <a:ext cx="125836" cy="1602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8" name="Google Shape;688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656647" y="6354452"/>
              <a:ext cx="125836" cy="1602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89" name="Google Shape;689;p25"/>
          <p:cNvSpPr txBox="1"/>
          <p:nvPr/>
        </p:nvSpPr>
        <p:spPr>
          <a:xfrm>
            <a:off x="809241" y="1870563"/>
            <a:ext cx="703205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7663" lvl="0" marL="3476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Principles of network applications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and HTTP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(part 1)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E-mail, SMTP, IMAP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The Domain Name System: DNS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P2P applications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video streaming, CDNs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socket programming with UDP and TCP</a:t>
            </a:r>
            <a:endParaRPr/>
          </a:p>
          <a:p>
            <a:pPr indent="-1984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25"/>
          <p:cNvSpPr txBox="1"/>
          <p:nvPr/>
        </p:nvSpPr>
        <p:spPr>
          <a:xfrm>
            <a:off x="724908" y="518072"/>
            <a:ext cx="6551791" cy="1116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b="1" lang="en-US" sz="60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Application Layer</a:t>
            </a:r>
            <a:endParaRPr b="1" sz="6000">
              <a:solidFill>
                <a:srgbClr val="0000A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26"/>
          <p:cNvSpPr txBox="1"/>
          <p:nvPr>
            <p:ph type="title"/>
          </p:nvPr>
        </p:nvSpPr>
        <p:spPr>
          <a:xfrm>
            <a:off x="580529" y="650420"/>
            <a:ext cx="6551791" cy="1116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 sz="6000"/>
              <a:t>Application Layer</a:t>
            </a:r>
            <a:endParaRPr sz="6000"/>
          </a:p>
        </p:txBody>
      </p:sp>
      <p:grpSp>
        <p:nvGrpSpPr>
          <p:cNvPr id="697" name="Google Shape;697;p26"/>
          <p:cNvGrpSpPr/>
          <p:nvPr/>
        </p:nvGrpSpPr>
        <p:grpSpPr>
          <a:xfrm>
            <a:off x="7421880" y="79248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698" name="Google Shape;698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9" name="Google Shape;699;p26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700" name="Google Shape;700;p26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701" name="Google Shape;701;p2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02" name="Google Shape;702;p26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03" name="Google Shape;703;p26"/>
          <p:cNvSpPr txBox="1"/>
          <p:nvPr/>
        </p:nvSpPr>
        <p:spPr>
          <a:xfrm>
            <a:off x="809241" y="1870563"/>
            <a:ext cx="703205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7663" lvl="0" marL="3476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Principles of network applications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and HTTP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(part 2)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E-mail, SMTP, IMAP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The Domain Name System: DNS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P2P applications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video streaming, CDNs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socket programming with UDP and TCP</a:t>
            </a:r>
            <a:endParaRPr/>
          </a:p>
          <a:p>
            <a:pPr indent="-1984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27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Web caches</a:t>
            </a:r>
            <a:endParaRPr sz="4400"/>
          </a:p>
        </p:txBody>
      </p:sp>
      <p:grpSp>
        <p:nvGrpSpPr>
          <p:cNvPr id="710" name="Google Shape;710;p27"/>
          <p:cNvGrpSpPr/>
          <p:nvPr/>
        </p:nvGrpSpPr>
        <p:grpSpPr>
          <a:xfrm>
            <a:off x="6272213" y="2445088"/>
            <a:ext cx="687387" cy="763588"/>
            <a:chOff x="-44" y="1473"/>
            <a:chExt cx="981" cy="1105"/>
          </a:xfrm>
        </p:grpSpPr>
        <p:pic>
          <p:nvPicPr>
            <p:cNvPr descr="desktop_computer_stylized_medium" id="711" name="Google Shape;711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2" name="Google Shape;712;p2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3" name="Google Shape;713;p27"/>
          <p:cNvGrpSpPr/>
          <p:nvPr/>
        </p:nvGrpSpPr>
        <p:grpSpPr>
          <a:xfrm>
            <a:off x="6337300" y="4318338"/>
            <a:ext cx="687388" cy="763588"/>
            <a:chOff x="-44" y="1473"/>
            <a:chExt cx="981" cy="1105"/>
          </a:xfrm>
        </p:grpSpPr>
        <p:pic>
          <p:nvPicPr>
            <p:cNvPr descr="desktop_computer_stylized_medium" id="714" name="Google Shape;714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5" name="Google Shape;715;p2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6" name="Google Shape;716;p27"/>
          <p:cNvGrpSpPr/>
          <p:nvPr/>
        </p:nvGrpSpPr>
        <p:grpSpPr>
          <a:xfrm>
            <a:off x="10423525" y="2586376"/>
            <a:ext cx="433388" cy="715962"/>
            <a:chOff x="4140" y="429"/>
            <a:chExt cx="1425" cy="2396"/>
          </a:xfrm>
        </p:grpSpPr>
        <p:sp>
          <p:nvSpPr>
            <p:cNvPr id="717" name="Google Shape;717;p2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27"/>
            <p:cNvSpPr/>
            <p:nvPr/>
          </p:nvSpPr>
          <p:spPr>
            <a:xfrm>
              <a:off x="4208" y="429"/>
              <a:ext cx="1044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2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2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27"/>
            <p:cNvSpPr/>
            <p:nvPr/>
          </p:nvSpPr>
          <p:spPr>
            <a:xfrm>
              <a:off x="4213" y="695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22" name="Google Shape;722;p27"/>
            <p:cNvGrpSpPr/>
            <p:nvPr/>
          </p:nvGrpSpPr>
          <p:grpSpPr>
            <a:xfrm>
              <a:off x="4751" y="668"/>
              <a:ext cx="579" cy="144"/>
              <a:chOff x="616" y="2568"/>
              <a:chExt cx="723" cy="138"/>
            </a:xfrm>
          </p:grpSpPr>
          <p:sp>
            <p:nvSpPr>
              <p:cNvPr id="723" name="Google Shape;723;p27"/>
              <p:cNvSpPr/>
              <p:nvPr/>
            </p:nvSpPr>
            <p:spPr>
              <a:xfrm>
                <a:off x="616" y="2568"/>
                <a:ext cx="723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" name="Google Shape;724;p27"/>
              <p:cNvSpPr/>
              <p:nvPr/>
            </p:nvSpPr>
            <p:spPr>
              <a:xfrm>
                <a:off x="629" y="2583"/>
                <a:ext cx="690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25" name="Google Shape;725;p27"/>
            <p:cNvSpPr/>
            <p:nvPr/>
          </p:nvSpPr>
          <p:spPr>
            <a:xfrm>
              <a:off x="4224" y="1019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26" name="Google Shape;726;p27"/>
            <p:cNvGrpSpPr/>
            <p:nvPr/>
          </p:nvGrpSpPr>
          <p:grpSpPr>
            <a:xfrm>
              <a:off x="4745" y="992"/>
              <a:ext cx="585" cy="138"/>
              <a:chOff x="612" y="2566"/>
              <a:chExt cx="730" cy="143"/>
            </a:xfrm>
          </p:grpSpPr>
          <p:sp>
            <p:nvSpPr>
              <p:cNvPr id="727" name="Google Shape;727;p27"/>
              <p:cNvSpPr/>
              <p:nvPr/>
            </p:nvSpPr>
            <p:spPr>
              <a:xfrm>
                <a:off x="612" y="2566"/>
                <a:ext cx="730" cy="143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27"/>
              <p:cNvSpPr/>
              <p:nvPr/>
            </p:nvSpPr>
            <p:spPr>
              <a:xfrm>
                <a:off x="625" y="2583"/>
                <a:ext cx="697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29" name="Google Shape;729;p27"/>
            <p:cNvSpPr/>
            <p:nvPr/>
          </p:nvSpPr>
          <p:spPr>
            <a:xfrm>
              <a:off x="4218" y="1359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27"/>
            <p:cNvSpPr/>
            <p:nvPr/>
          </p:nvSpPr>
          <p:spPr>
            <a:xfrm>
              <a:off x="4229" y="1656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31" name="Google Shape;731;p27"/>
            <p:cNvGrpSpPr/>
            <p:nvPr/>
          </p:nvGrpSpPr>
          <p:grpSpPr>
            <a:xfrm>
              <a:off x="4735" y="1629"/>
              <a:ext cx="580" cy="149"/>
              <a:chOff x="614" y="2570"/>
              <a:chExt cx="722" cy="137"/>
            </a:xfrm>
          </p:grpSpPr>
          <p:sp>
            <p:nvSpPr>
              <p:cNvPr id="732" name="Google Shape;732;p27"/>
              <p:cNvSpPr/>
              <p:nvPr/>
            </p:nvSpPr>
            <p:spPr>
              <a:xfrm>
                <a:off x="614" y="2570"/>
                <a:ext cx="722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27"/>
              <p:cNvSpPr/>
              <p:nvPr/>
            </p:nvSpPr>
            <p:spPr>
              <a:xfrm>
                <a:off x="627" y="2585"/>
                <a:ext cx="683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34" name="Google Shape;734;p2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35" name="Google Shape;735;p27"/>
            <p:cNvGrpSpPr/>
            <p:nvPr/>
          </p:nvGrpSpPr>
          <p:grpSpPr>
            <a:xfrm>
              <a:off x="4741" y="1327"/>
              <a:ext cx="580" cy="138"/>
              <a:chOff x="616" y="2568"/>
              <a:chExt cx="722" cy="138"/>
            </a:xfrm>
          </p:grpSpPr>
          <p:sp>
            <p:nvSpPr>
              <p:cNvPr id="736" name="Google Shape;736;p27"/>
              <p:cNvSpPr/>
              <p:nvPr/>
            </p:nvSpPr>
            <p:spPr>
              <a:xfrm>
                <a:off x="616" y="2568"/>
                <a:ext cx="722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27"/>
              <p:cNvSpPr/>
              <p:nvPr/>
            </p:nvSpPr>
            <p:spPr>
              <a:xfrm>
                <a:off x="629" y="2584"/>
                <a:ext cx="689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38" name="Google Shape;738;p27"/>
            <p:cNvSpPr/>
            <p:nvPr/>
          </p:nvSpPr>
          <p:spPr>
            <a:xfrm>
              <a:off x="5252" y="429"/>
              <a:ext cx="68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9" name="Google Shape;739;p2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0" name="Google Shape;740;p2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" name="Google Shape;741;p27"/>
            <p:cNvSpPr/>
            <p:nvPr/>
          </p:nvSpPr>
          <p:spPr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" name="Google Shape;742;p2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3" name="Google Shape;743;p27"/>
            <p:cNvSpPr/>
            <p:nvPr/>
          </p:nvSpPr>
          <p:spPr>
            <a:xfrm>
              <a:off x="4140" y="2676"/>
              <a:ext cx="1201" cy="149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4" name="Google Shape;744;p27"/>
            <p:cNvSpPr/>
            <p:nvPr/>
          </p:nvSpPr>
          <p:spPr>
            <a:xfrm>
              <a:off x="4208" y="2713"/>
              <a:ext cx="1070" cy="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27"/>
            <p:cNvSpPr/>
            <p:nvPr/>
          </p:nvSpPr>
          <p:spPr>
            <a:xfrm>
              <a:off x="4307" y="2384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6" name="Google Shape;746;p27"/>
            <p:cNvSpPr/>
            <p:nvPr/>
          </p:nvSpPr>
          <p:spPr>
            <a:xfrm>
              <a:off x="4485" y="2384"/>
              <a:ext cx="162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7" name="Google Shape;747;p27"/>
            <p:cNvSpPr/>
            <p:nvPr/>
          </p:nvSpPr>
          <p:spPr>
            <a:xfrm>
              <a:off x="4662" y="2379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8" name="Google Shape;748;p27"/>
            <p:cNvSpPr/>
            <p:nvPr/>
          </p:nvSpPr>
          <p:spPr>
            <a:xfrm>
              <a:off x="5064" y="1837"/>
              <a:ext cx="84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49" name="Google Shape;749;p27"/>
          <p:cNvSpPr txBox="1"/>
          <p:nvPr/>
        </p:nvSpPr>
        <p:spPr>
          <a:xfrm>
            <a:off x="794606" y="2233994"/>
            <a:ext cx="4908362" cy="3762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3363" lvl="0" marL="2333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configures browser to point to a (local) </a:t>
            </a: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Web cache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browser sends all HTTP requests to cache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object in cache: cache returns object to client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cache requests object from origin server, caches received object, then returns object to client</a:t>
            </a:r>
            <a:endParaRPr/>
          </a:p>
        </p:txBody>
      </p:sp>
      <p:sp>
        <p:nvSpPr>
          <p:cNvPr id="750" name="Google Shape;750;p27"/>
          <p:cNvSpPr/>
          <p:nvPr/>
        </p:nvSpPr>
        <p:spPr>
          <a:xfrm>
            <a:off x="865380" y="1333500"/>
            <a:ext cx="10292615" cy="5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Goal: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satisfy client requests without involving origin server</a:t>
            </a:r>
            <a:endParaRPr/>
          </a:p>
        </p:txBody>
      </p:sp>
      <p:sp>
        <p:nvSpPr>
          <p:cNvPr id="751" name="Google Shape;751;p27"/>
          <p:cNvSpPr txBox="1"/>
          <p:nvPr/>
        </p:nvSpPr>
        <p:spPr>
          <a:xfrm>
            <a:off x="6416675" y="3118188"/>
            <a:ext cx="6572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52" name="Google Shape;752;p27"/>
          <p:cNvGrpSpPr/>
          <p:nvPr/>
        </p:nvGrpSpPr>
        <p:grpSpPr>
          <a:xfrm>
            <a:off x="8270000" y="2687749"/>
            <a:ext cx="786882" cy="1235302"/>
            <a:chOff x="8270000" y="2687749"/>
            <a:chExt cx="786882" cy="1235302"/>
          </a:xfrm>
        </p:grpSpPr>
        <p:grpSp>
          <p:nvGrpSpPr>
            <p:cNvPr id="753" name="Google Shape;753;p27"/>
            <p:cNvGrpSpPr/>
            <p:nvPr/>
          </p:nvGrpSpPr>
          <p:grpSpPr>
            <a:xfrm>
              <a:off x="8475663" y="3207088"/>
              <a:ext cx="400050" cy="715963"/>
              <a:chOff x="4140" y="429"/>
              <a:chExt cx="1425" cy="2396"/>
            </a:xfrm>
          </p:grpSpPr>
          <p:sp>
            <p:nvSpPr>
              <p:cNvPr id="754" name="Google Shape;754;p27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5" name="Google Shape;755;p27"/>
              <p:cNvSpPr/>
              <p:nvPr/>
            </p:nvSpPr>
            <p:spPr>
              <a:xfrm>
                <a:off x="4208" y="429"/>
                <a:ext cx="1046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6" name="Google Shape;756;p27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" name="Google Shape;757;p27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8" name="Google Shape;758;p27"/>
              <p:cNvSpPr/>
              <p:nvPr/>
            </p:nvSpPr>
            <p:spPr>
              <a:xfrm>
                <a:off x="4214" y="695"/>
                <a:ext cx="594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59" name="Google Shape;759;p27"/>
              <p:cNvGrpSpPr/>
              <p:nvPr/>
            </p:nvGrpSpPr>
            <p:grpSpPr>
              <a:xfrm>
                <a:off x="4751" y="668"/>
                <a:ext cx="577" cy="144"/>
                <a:chOff x="616" y="2568"/>
                <a:chExt cx="720" cy="138"/>
              </a:xfrm>
            </p:grpSpPr>
            <p:sp>
              <p:nvSpPr>
                <p:cNvPr id="760" name="Google Shape;760;p27"/>
                <p:cNvSpPr/>
                <p:nvPr/>
              </p:nvSpPr>
              <p:spPr>
                <a:xfrm>
                  <a:off x="616" y="2568"/>
                  <a:ext cx="720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1" name="Google Shape;761;p27"/>
                <p:cNvSpPr/>
                <p:nvPr/>
              </p:nvSpPr>
              <p:spPr>
                <a:xfrm>
                  <a:off x="630" y="2583"/>
                  <a:ext cx="670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62" name="Google Shape;762;p27"/>
              <p:cNvSpPr/>
              <p:nvPr/>
            </p:nvSpPr>
            <p:spPr>
              <a:xfrm>
                <a:off x="4225" y="1019"/>
                <a:ext cx="594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63" name="Google Shape;763;p27"/>
              <p:cNvGrpSpPr/>
              <p:nvPr/>
            </p:nvGrpSpPr>
            <p:grpSpPr>
              <a:xfrm>
                <a:off x="4745" y="992"/>
                <a:ext cx="583" cy="138"/>
                <a:chOff x="612" y="2566"/>
                <a:chExt cx="727" cy="143"/>
              </a:xfrm>
            </p:grpSpPr>
            <p:sp>
              <p:nvSpPr>
                <p:cNvPr id="764" name="Google Shape;764;p27"/>
                <p:cNvSpPr/>
                <p:nvPr/>
              </p:nvSpPr>
              <p:spPr>
                <a:xfrm>
                  <a:off x="612" y="2566"/>
                  <a:ext cx="727" cy="143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5" name="Google Shape;765;p27"/>
                <p:cNvSpPr/>
                <p:nvPr/>
              </p:nvSpPr>
              <p:spPr>
                <a:xfrm>
                  <a:off x="626" y="2583"/>
                  <a:ext cx="692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66" name="Google Shape;766;p27"/>
              <p:cNvSpPr/>
              <p:nvPr/>
            </p:nvSpPr>
            <p:spPr>
              <a:xfrm>
                <a:off x="4219" y="1359"/>
                <a:ext cx="594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7" name="Google Shape;767;p27"/>
              <p:cNvSpPr/>
              <p:nvPr/>
            </p:nvSpPr>
            <p:spPr>
              <a:xfrm>
                <a:off x="4230" y="1656"/>
                <a:ext cx="594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68" name="Google Shape;768;p27"/>
              <p:cNvGrpSpPr/>
              <p:nvPr/>
            </p:nvGrpSpPr>
            <p:grpSpPr>
              <a:xfrm>
                <a:off x="4733" y="1629"/>
                <a:ext cx="583" cy="149"/>
                <a:chOff x="612" y="2570"/>
                <a:chExt cx="726" cy="137"/>
              </a:xfrm>
            </p:grpSpPr>
            <p:sp>
              <p:nvSpPr>
                <p:cNvPr id="769" name="Google Shape;769;p27"/>
                <p:cNvSpPr/>
                <p:nvPr/>
              </p:nvSpPr>
              <p:spPr>
                <a:xfrm>
                  <a:off x="612" y="2570"/>
                  <a:ext cx="726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0" name="Google Shape;770;p27"/>
                <p:cNvSpPr/>
                <p:nvPr/>
              </p:nvSpPr>
              <p:spPr>
                <a:xfrm>
                  <a:off x="627" y="2585"/>
                  <a:ext cx="690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71" name="Google Shape;771;p27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72" name="Google Shape;772;p27"/>
              <p:cNvGrpSpPr/>
              <p:nvPr/>
            </p:nvGrpSpPr>
            <p:grpSpPr>
              <a:xfrm>
                <a:off x="4740" y="1327"/>
                <a:ext cx="583" cy="138"/>
                <a:chOff x="615" y="2568"/>
                <a:chExt cx="726" cy="138"/>
              </a:xfrm>
            </p:grpSpPr>
            <p:sp>
              <p:nvSpPr>
                <p:cNvPr id="773" name="Google Shape;773;p27"/>
                <p:cNvSpPr/>
                <p:nvPr/>
              </p:nvSpPr>
              <p:spPr>
                <a:xfrm>
                  <a:off x="615" y="2568"/>
                  <a:ext cx="726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4" name="Google Shape;774;p27"/>
                <p:cNvSpPr/>
                <p:nvPr/>
              </p:nvSpPr>
              <p:spPr>
                <a:xfrm>
                  <a:off x="629" y="2584"/>
                  <a:ext cx="690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75" name="Google Shape;775;p27"/>
              <p:cNvSpPr/>
              <p:nvPr/>
            </p:nvSpPr>
            <p:spPr>
              <a:xfrm>
                <a:off x="5248" y="429"/>
                <a:ext cx="68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27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27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" name="Google Shape;778;p27"/>
              <p:cNvSpPr/>
              <p:nvPr/>
            </p:nvSpPr>
            <p:spPr>
              <a:xfrm>
                <a:off x="5520" y="2612"/>
                <a:ext cx="45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" name="Google Shape;779;p27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" name="Google Shape;780;p27"/>
              <p:cNvSpPr/>
              <p:nvPr/>
            </p:nvSpPr>
            <p:spPr>
              <a:xfrm>
                <a:off x="4140" y="2676"/>
                <a:ext cx="1199" cy="149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" name="Google Shape;781;p27"/>
              <p:cNvSpPr/>
              <p:nvPr/>
            </p:nvSpPr>
            <p:spPr>
              <a:xfrm>
                <a:off x="4208" y="2713"/>
                <a:ext cx="1069" cy="8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" name="Google Shape;782;p27"/>
              <p:cNvSpPr/>
              <p:nvPr/>
            </p:nvSpPr>
            <p:spPr>
              <a:xfrm>
                <a:off x="4310" y="2384"/>
                <a:ext cx="158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" name="Google Shape;783;p27"/>
              <p:cNvSpPr/>
              <p:nvPr/>
            </p:nvSpPr>
            <p:spPr>
              <a:xfrm>
                <a:off x="4485" y="2384"/>
                <a:ext cx="158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27"/>
              <p:cNvSpPr/>
              <p:nvPr/>
            </p:nvSpPr>
            <p:spPr>
              <a:xfrm>
                <a:off x="4660" y="2379"/>
                <a:ext cx="158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" name="Google Shape;785;p27"/>
              <p:cNvSpPr/>
              <p:nvPr/>
            </p:nvSpPr>
            <p:spPr>
              <a:xfrm>
                <a:off x="5062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86" name="Google Shape;786;p27"/>
            <p:cNvSpPr txBox="1"/>
            <p:nvPr/>
          </p:nvSpPr>
          <p:spPr>
            <a:xfrm>
              <a:off x="8270000" y="2687749"/>
              <a:ext cx="786882" cy="5909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Web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cache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7" name="Google Shape;787;p27"/>
          <p:cNvSpPr txBox="1"/>
          <p:nvPr/>
        </p:nvSpPr>
        <p:spPr>
          <a:xfrm>
            <a:off x="6538913" y="5089863"/>
            <a:ext cx="6572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88" name="Google Shape;788;p27"/>
          <p:cNvGrpSpPr/>
          <p:nvPr/>
        </p:nvGrpSpPr>
        <p:grpSpPr>
          <a:xfrm>
            <a:off x="6912637" y="3660480"/>
            <a:ext cx="1493176" cy="945196"/>
            <a:chOff x="2940" y="2464"/>
            <a:chExt cx="941" cy="595"/>
          </a:xfrm>
        </p:grpSpPr>
        <p:cxnSp>
          <p:nvCxnSpPr>
            <p:cNvPr id="789" name="Google Shape;789;p27"/>
            <p:cNvCxnSpPr/>
            <p:nvPr/>
          </p:nvCxnSpPr>
          <p:spPr>
            <a:xfrm flipH="1" rot="10800000">
              <a:off x="2998" y="2580"/>
              <a:ext cx="883" cy="479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90" name="Google Shape;790;p27"/>
            <p:cNvSpPr txBox="1"/>
            <p:nvPr/>
          </p:nvSpPr>
          <p:spPr>
            <a:xfrm rot="-1692639">
              <a:off x="2942" y="2645"/>
              <a:ext cx="821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HTTP request</a:t>
              </a:r>
              <a:endParaRPr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1" name="Google Shape;791;p27"/>
          <p:cNvGrpSpPr/>
          <p:nvPr/>
        </p:nvGrpSpPr>
        <p:grpSpPr>
          <a:xfrm>
            <a:off x="7054850" y="3932576"/>
            <a:ext cx="1480212" cy="997118"/>
            <a:chOff x="3030" y="2635"/>
            <a:chExt cx="932" cy="628"/>
          </a:xfrm>
        </p:grpSpPr>
        <p:cxnSp>
          <p:nvCxnSpPr>
            <p:cNvPr id="792" name="Google Shape;792;p27"/>
            <p:cNvCxnSpPr/>
            <p:nvPr/>
          </p:nvCxnSpPr>
          <p:spPr>
            <a:xfrm flipH="1">
              <a:off x="3030" y="2635"/>
              <a:ext cx="884" cy="495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93" name="Google Shape;793;p27"/>
            <p:cNvSpPr txBox="1"/>
            <p:nvPr/>
          </p:nvSpPr>
          <p:spPr>
            <a:xfrm rot="-1737783">
              <a:off x="3069" y="2846"/>
              <a:ext cx="89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HTTP response</a:t>
              </a:r>
              <a:endParaRPr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4" name="Google Shape;794;p27"/>
          <p:cNvGrpSpPr/>
          <p:nvPr/>
        </p:nvGrpSpPr>
        <p:grpSpPr>
          <a:xfrm>
            <a:off x="7010400" y="2667302"/>
            <a:ext cx="3251200" cy="936661"/>
            <a:chOff x="3002" y="1849"/>
            <a:chExt cx="2048" cy="590"/>
          </a:xfrm>
        </p:grpSpPr>
        <p:sp>
          <p:nvSpPr>
            <p:cNvPr id="795" name="Google Shape;795;p27"/>
            <p:cNvSpPr/>
            <p:nvPr/>
          </p:nvSpPr>
          <p:spPr>
            <a:xfrm>
              <a:off x="3002" y="1979"/>
              <a:ext cx="2048" cy="460"/>
            </a:xfrm>
            <a:custGeom>
              <a:rect b="b" l="l" r="r" t="t"/>
              <a:pathLst>
                <a:path extrusionOk="0" h="460" w="2048">
                  <a:moveTo>
                    <a:pt x="0" y="2"/>
                  </a:moveTo>
                  <a:lnTo>
                    <a:pt x="1011" y="460"/>
                  </a:lnTo>
                  <a:lnTo>
                    <a:pt x="2048" y="0"/>
                  </a:lnTo>
                </a:path>
              </a:pathLst>
            </a:cu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" name="Google Shape;796;p27"/>
            <p:cNvSpPr txBox="1"/>
            <p:nvPr/>
          </p:nvSpPr>
          <p:spPr>
            <a:xfrm rot="1422049">
              <a:off x="3129" y="2005"/>
              <a:ext cx="821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HTTP request</a:t>
              </a:r>
              <a:endParaRPr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" name="Google Shape;797;p27"/>
            <p:cNvSpPr txBox="1"/>
            <p:nvPr/>
          </p:nvSpPr>
          <p:spPr>
            <a:xfrm rot="-1419968">
              <a:off x="4160" y="2015"/>
              <a:ext cx="821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HTTP request</a:t>
              </a:r>
              <a:endParaRPr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98" name="Google Shape;798;p27"/>
          <p:cNvSpPr txBox="1"/>
          <p:nvPr/>
        </p:nvSpPr>
        <p:spPr>
          <a:xfrm>
            <a:off x="10281826" y="3292132"/>
            <a:ext cx="708848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origin 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9" name="Google Shape;79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42588" y="2381588"/>
            <a:ext cx="527050" cy="4333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0" name="Google Shape;800;p27"/>
          <p:cNvGrpSpPr/>
          <p:nvPr/>
        </p:nvGrpSpPr>
        <p:grpSpPr>
          <a:xfrm>
            <a:off x="6237288" y="2421276"/>
            <a:ext cx="4110038" cy="1814512"/>
            <a:chOff x="2515" y="1687"/>
            <a:chExt cx="2589" cy="1143"/>
          </a:xfrm>
        </p:grpSpPr>
        <p:sp>
          <p:nvSpPr>
            <p:cNvPr id="801" name="Google Shape;801;p27"/>
            <p:cNvSpPr/>
            <p:nvPr/>
          </p:nvSpPr>
          <p:spPr>
            <a:xfrm>
              <a:off x="2985" y="2026"/>
              <a:ext cx="2119" cy="476"/>
            </a:xfrm>
            <a:custGeom>
              <a:rect b="b" l="l" r="r" t="t"/>
              <a:pathLst>
                <a:path extrusionOk="0" h="476" w="2119">
                  <a:moveTo>
                    <a:pt x="2119" y="0"/>
                  </a:moveTo>
                  <a:lnTo>
                    <a:pt x="1020" y="476"/>
                  </a:lnTo>
                  <a:lnTo>
                    <a:pt x="0" y="8"/>
                  </a:lnTo>
                </a:path>
              </a:pathLst>
            </a:cu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" name="Google Shape;802;p27"/>
            <p:cNvSpPr txBox="1"/>
            <p:nvPr/>
          </p:nvSpPr>
          <p:spPr>
            <a:xfrm rot="1411598">
              <a:off x="2963" y="2243"/>
              <a:ext cx="89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HTTP response</a:t>
              </a:r>
              <a:endParaRPr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" name="Google Shape;803;p27"/>
            <p:cNvSpPr txBox="1"/>
            <p:nvPr/>
          </p:nvSpPr>
          <p:spPr>
            <a:xfrm rot="-1415789">
              <a:off x="4193" y="2231"/>
              <a:ext cx="89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HTTP response</a:t>
              </a:r>
              <a:endParaRPr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04" name="Google Shape;804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979" y="2557"/>
              <a:ext cx="332" cy="2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5" name="Google Shape;805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515" y="1687"/>
              <a:ext cx="332" cy="27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06" name="Google Shape;80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4913" y="4362788"/>
            <a:ext cx="527050" cy="433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28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Web caches (aka proxy servers)</a:t>
            </a:r>
            <a:endParaRPr sz="4400"/>
          </a:p>
        </p:txBody>
      </p:sp>
      <p:sp>
        <p:nvSpPr>
          <p:cNvPr id="813" name="Google Shape;813;p28"/>
          <p:cNvSpPr txBox="1"/>
          <p:nvPr/>
        </p:nvSpPr>
        <p:spPr>
          <a:xfrm>
            <a:off x="600308" y="1534695"/>
            <a:ext cx="4752277" cy="2134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7813" lvl="0" marL="4079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cache acts as both client and server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 for original requesting client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 to origin server</a:t>
            </a:r>
            <a:endParaRPr/>
          </a:p>
        </p:txBody>
      </p:sp>
      <p:sp>
        <p:nvSpPr>
          <p:cNvPr id="814" name="Google Shape;814;p28"/>
          <p:cNvSpPr txBox="1"/>
          <p:nvPr/>
        </p:nvSpPr>
        <p:spPr>
          <a:xfrm>
            <a:off x="5544015" y="1534695"/>
            <a:ext cx="6047678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i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Why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caching?</a:t>
            </a:r>
            <a:endParaRPr/>
          </a:p>
          <a:p>
            <a:pPr indent="-287338" lvl="0" marL="407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 response time for client request </a:t>
            </a:r>
            <a:endParaRPr/>
          </a:p>
          <a:p>
            <a:pPr indent="-287338" lvl="1" marL="7508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cache is closer to client</a:t>
            </a:r>
            <a:endParaRPr/>
          </a:p>
          <a:p>
            <a:pPr indent="-287338" lvl="0" marL="407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 traffic on an institution’s access link</a:t>
            </a:r>
            <a:endParaRPr/>
          </a:p>
          <a:p>
            <a:pPr indent="-287338" lvl="0" marL="407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 is dense with caches </a:t>
            </a:r>
            <a:endParaRPr/>
          </a:p>
          <a:p>
            <a:pPr indent="-287338" lvl="1" marL="7508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enables “poor” content providers to more effectively deliver content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15" name="Google Shape;815;p28"/>
          <p:cNvGrpSpPr/>
          <p:nvPr/>
        </p:nvGrpSpPr>
        <p:grpSpPr>
          <a:xfrm>
            <a:off x="632391" y="3810000"/>
            <a:ext cx="4798594" cy="2217821"/>
            <a:chOff x="632391" y="3810000"/>
            <a:chExt cx="4798594" cy="2217821"/>
          </a:xfrm>
        </p:grpSpPr>
        <p:pic>
          <p:nvPicPr>
            <p:cNvPr id="816" name="Google Shape;816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65462" y="5015497"/>
              <a:ext cx="4324685" cy="4521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7" name="Google Shape;817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66130" y="5587331"/>
              <a:ext cx="4364855" cy="4404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8" name="Google Shape;818;p28"/>
            <p:cNvSpPr txBox="1"/>
            <p:nvPr/>
          </p:nvSpPr>
          <p:spPr>
            <a:xfrm>
              <a:off x="632391" y="3810000"/>
              <a:ext cx="4757756" cy="1327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77813" lvl="0" marL="40798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server tells cache about object’s allowable caching in response header: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4" name="Google Shape;82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1600" y="3598333"/>
            <a:ext cx="1255183" cy="10306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hot icon" id="825" name="Google Shape;82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0660" y="3598333"/>
            <a:ext cx="721782" cy="721782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29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Caching example</a:t>
            </a:r>
            <a:endParaRPr sz="4800"/>
          </a:p>
        </p:txBody>
      </p:sp>
      <p:cxnSp>
        <p:nvCxnSpPr>
          <p:cNvPr id="827" name="Google Shape;827;p29"/>
          <p:cNvCxnSpPr/>
          <p:nvPr/>
        </p:nvCxnSpPr>
        <p:spPr>
          <a:xfrm>
            <a:off x="8083455" y="2487883"/>
            <a:ext cx="285750" cy="11430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8" name="Google Shape;828;p29"/>
          <p:cNvSpPr txBox="1"/>
          <p:nvPr/>
        </p:nvSpPr>
        <p:spPr>
          <a:xfrm>
            <a:off x="10512330" y="1902096"/>
            <a:ext cx="9334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servers</a:t>
            </a:r>
            <a:endParaRPr/>
          </a:p>
        </p:txBody>
      </p:sp>
      <p:cxnSp>
        <p:nvCxnSpPr>
          <p:cNvPr id="829" name="Google Shape;829;p29"/>
          <p:cNvCxnSpPr/>
          <p:nvPr/>
        </p:nvCxnSpPr>
        <p:spPr>
          <a:xfrm>
            <a:off x="8893080" y="2106883"/>
            <a:ext cx="66675" cy="2762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0" name="Google Shape;830;p29"/>
          <p:cNvCxnSpPr/>
          <p:nvPr/>
        </p:nvCxnSpPr>
        <p:spPr>
          <a:xfrm flipH="1">
            <a:off x="9521730" y="2144983"/>
            <a:ext cx="9525" cy="2381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1" name="Google Shape;831;p29"/>
          <p:cNvCxnSpPr/>
          <p:nvPr/>
        </p:nvCxnSpPr>
        <p:spPr>
          <a:xfrm flipH="1">
            <a:off x="9978930" y="2306908"/>
            <a:ext cx="133350" cy="20955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2" name="Google Shape;832;p29"/>
          <p:cNvCxnSpPr/>
          <p:nvPr/>
        </p:nvCxnSpPr>
        <p:spPr>
          <a:xfrm rot="10800000">
            <a:off x="10140855" y="3068908"/>
            <a:ext cx="247650" cy="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3" name="Google Shape;833;p29"/>
          <p:cNvSpPr/>
          <p:nvPr/>
        </p:nvSpPr>
        <p:spPr>
          <a:xfrm>
            <a:off x="8158067" y="2111064"/>
            <a:ext cx="2174875" cy="1581150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29"/>
          <p:cNvSpPr txBox="1"/>
          <p:nvPr/>
        </p:nvSpPr>
        <p:spPr>
          <a:xfrm>
            <a:off x="8874030" y="2432321"/>
            <a:ext cx="9318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Internet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29"/>
          <p:cNvSpPr/>
          <p:nvPr/>
        </p:nvSpPr>
        <p:spPr>
          <a:xfrm>
            <a:off x="7762780" y="4516708"/>
            <a:ext cx="2965450" cy="1390650"/>
          </a:xfrm>
          <a:custGeom>
            <a:rect b="b" l="l" r="r" t="t"/>
            <a:pathLst>
              <a:path extrusionOk="0" h="876" w="1868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6" name="Google Shape;836;p29"/>
          <p:cNvCxnSpPr/>
          <p:nvPr/>
        </p:nvCxnSpPr>
        <p:spPr>
          <a:xfrm flipH="1">
            <a:off x="8197755" y="4780233"/>
            <a:ext cx="855662" cy="43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7" name="Google Shape;837;p29"/>
          <p:cNvCxnSpPr/>
          <p:nvPr/>
        </p:nvCxnSpPr>
        <p:spPr>
          <a:xfrm flipH="1">
            <a:off x="8707342" y="4827858"/>
            <a:ext cx="563563" cy="393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8" name="Google Shape;838;p29"/>
          <p:cNvCxnSpPr/>
          <p:nvPr/>
        </p:nvCxnSpPr>
        <p:spPr>
          <a:xfrm flipH="1">
            <a:off x="9245505" y="4834208"/>
            <a:ext cx="149225" cy="38258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9" name="Google Shape;839;p29"/>
          <p:cNvCxnSpPr/>
          <p:nvPr/>
        </p:nvCxnSpPr>
        <p:spPr>
          <a:xfrm>
            <a:off x="9407430" y="3545158"/>
            <a:ext cx="0" cy="106203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0" name="Google Shape;840;p29"/>
          <p:cNvSpPr txBox="1"/>
          <p:nvPr/>
        </p:nvSpPr>
        <p:spPr>
          <a:xfrm>
            <a:off x="7775480" y="4357958"/>
            <a:ext cx="11985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institutional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29"/>
          <p:cNvSpPr txBox="1"/>
          <p:nvPr/>
        </p:nvSpPr>
        <p:spPr>
          <a:xfrm>
            <a:off x="9783667" y="4738958"/>
            <a:ext cx="12906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Gbps LAN</a:t>
            </a:r>
            <a:endParaRPr b="0" i="0" sz="2400" u="none" cap="none" strike="noStrik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29"/>
          <p:cNvSpPr txBox="1"/>
          <p:nvPr/>
        </p:nvSpPr>
        <p:spPr>
          <a:xfrm>
            <a:off x="9409017" y="3734071"/>
            <a:ext cx="11906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1.54 Mbps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 link</a:t>
            </a:r>
            <a:endParaRPr b="0" i="0" sz="2400" u="none" cap="none" strike="noStrik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29"/>
          <p:cNvSpPr/>
          <p:nvPr/>
        </p:nvSpPr>
        <p:spPr>
          <a:xfrm>
            <a:off x="3943717" y="4370340"/>
            <a:ext cx="940980" cy="509975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44" name="Google Shape;844;p29"/>
          <p:cNvGrpSpPr/>
          <p:nvPr/>
        </p:nvGrpSpPr>
        <p:grpSpPr>
          <a:xfrm>
            <a:off x="7735792" y="2035446"/>
            <a:ext cx="377825" cy="576262"/>
            <a:chOff x="4140" y="429"/>
            <a:chExt cx="1425" cy="2396"/>
          </a:xfrm>
        </p:grpSpPr>
        <p:sp>
          <p:nvSpPr>
            <p:cNvPr id="845" name="Google Shape;845;p2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29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2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2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29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50" name="Google Shape;850;p29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851" name="Google Shape;851;p29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2" name="Google Shape;852;p29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53" name="Google Shape;853;p29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54" name="Google Shape;854;p29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855" name="Google Shape;855;p29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6" name="Google Shape;856;p29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57" name="Google Shape;857;p29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29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59" name="Google Shape;859;p29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860" name="Google Shape;860;p29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1" name="Google Shape;861;p29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62" name="Google Shape;862;p2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63" name="Google Shape;863;p29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864" name="Google Shape;864;p29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5" name="Google Shape;865;p29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66" name="Google Shape;866;p29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2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2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29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2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29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29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29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29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29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29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7" name="Google Shape;877;p29"/>
          <p:cNvGrpSpPr/>
          <p:nvPr/>
        </p:nvGrpSpPr>
        <p:grpSpPr>
          <a:xfrm>
            <a:off x="7885017" y="5148533"/>
            <a:ext cx="525463" cy="557213"/>
            <a:chOff x="-44" y="1473"/>
            <a:chExt cx="981" cy="1105"/>
          </a:xfrm>
        </p:grpSpPr>
        <p:pic>
          <p:nvPicPr>
            <p:cNvPr descr="desktop_computer_stylized_medium" id="878" name="Google Shape;878;p2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9" name="Google Shape;879;p2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0" name="Google Shape;880;p29"/>
          <p:cNvGrpSpPr/>
          <p:nvPr/>
        </p:nvGrpSpPr>
        <p:grpSpPr>
          <a:xfrm>
            <a:off x="8650192" y="1557608"/>
            <a:ext cx="377825" cy="576263"/>
            <a:chOff x="4140" y="429"/>
            <a:chExt cx="1425" cy="2396"/>
          </a:xfrm>
        </p:grpSpPr>
        <p:sp>
          <p:nvSpPr>
            <p:cNvPr id="881" name="Google Shape;881;p2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29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2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2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29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6" name="Google Shape;886;p29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887" name="Google Shape;887;p29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8" name="Google Shape;888;p29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9" name="Google Shape;889;p29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90" name="Google Shape;890;p29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891" name="Google Shape;891;p29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2" name="Google Shape;892;p29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93" name="Google Shape;893;p29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29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95" name="Google Shape;895;p29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896" name="Google Shape;896;p29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7" name="Google Shape;897;p29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98" name="Google Shape;898;p2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99" name="Google Shape;899;p29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900" name="Google Shape;900;p29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1" name="Google Shape;901;p29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02" name="Google Shape;902;p29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2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2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29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2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29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29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29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29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29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29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3" name="Google Shape;913;p29"/>
          <p:cNvGrpSpPr/>
          <p:nvPr/>
        </p:nvGrpSpPr>
        <p:grpSpPr>
          <a:xfrm>
            <a:off x="9402667" y="1589358"/>
            <a:ext cx="377825" cy="576263"/>
            <a:chOff x="4140" y="429"/>
            <a:chExt cx="1425" cy="2396"/>
          </a:xfrm>
        </p:grpSpPr>
        <p:sp>
          <p:nvSpPr>
            <p:cNvPr id="914" name="Google Shape;914;p2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29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2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2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29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9" name="Google Shape;919;p29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920" name="Google Shape;920;p29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1" name="Google Shape;921;p29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2" name="Google Shape;922;p29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23" name="Google Shape;923;p29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924" name="Google Shape;924;p29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5" name="Google Shape;925;p29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6" name="Google Shape;926;p29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29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28" name="Google Shape;928;p29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929" name="Google Shape;929;p29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0" name="Google Shape;930;p29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31" name="Google Shape;931;p2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32" name="Google Shape;932;p29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933" name="Google Shape;933;p29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4" name="Google Shape;934;p29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35" name="Google Shape;935;p29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2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2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29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2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29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29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29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29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29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29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46" name="Google Shape;946;p29"/>
          <p:cNvGrpSpPr/>
          <p:nvPr/>
        </p:nvGrpSpPr>
        <p:grpSpPr>
          <a:xfrm>
            <a:off x="10012267" y="1741758"/>
            <a:ext cx="377825" cy="576263"/>
            <a:chOff x="4140" y="429"/>
            <a:chExt cx="1425" cy="2396"/>
          </a:xfrm>
        </p:grpSpPr>
        <p:sp>
          <p:nvSpPr>
            <p:cNvPr id="947" name="Google Shape;947;p2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29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2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2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29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2" name="Google Shape;952;p29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953" name="Google Shape;953;p29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4" name="Google Shape;954;p29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55" name="Google Shape;955;p29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6" name="Google Shape;956;p29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957" name="Google Shape;957;p29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8" name="Google Shape;958;p29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59" name="Google Shape;959;p29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29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61" name="Google Shape;961;p29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962" name="Google Shape;962;p29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3" name="Google Shape;963;p29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64" name="Google Shape;964;p2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65" name="Google Shape;965;p29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966" name="Google Shape;966;p29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7" name="Google Shape;967;p29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68" name="Google Shape;968;p29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2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2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29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2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29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29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29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29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29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29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9" name="Google Shape;979;p29"/>
          <p:cNvGrpSpPr/>
          <p:nvPr/>
        </p:nvGrpSpPr>
        <p:grpSpPr>
          <a:xfrm>
            <a:off x="10340880" y="2687908"/>
            <a:ext cx="377825" cy="576263"/>
            <a:chOff x="4140" y="429"/>
            <a:chExt cx="1425" cy="2396"/>
          </a:xfrm>
        </p:grpSpPr>
        <p:sp>
          <p:nvSpPr>
            <p:cNvPr id="980" name="Google Shape;980;p2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29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2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2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29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85" name="Google Shape;985;p29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986" name="Google Shape;986;p29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7" name="Google Shape;987;p29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88" name="Google Shape;988;p29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89" name="Google Shape;989;p29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990" name="Google Shape;990;p29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1" name="Google Shape;991;p29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92" name="Google Shape;992;p29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29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94" name="Google Shape;994;p29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995" name="Google Shape;995;p29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6" name="Google Shape;996;p29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97" name="Google Shape;997;p2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98" name="Google Shape;998;p29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999" name="Google Shape;999;p29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0" name="Google Shape;1000;p29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01" name="Google Shape;1001;p29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2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2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29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2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29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29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29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29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29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29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2" name="Google Shape;1012;p29"/>
          <p:cNvGrpSpPr/>
          <p:nvPr/>
        </p:nvGrpSpPr>
        <p:grpSpPr>
          <a:xfrm>
            <a:off x="8396192" y="5170758"/>
            <a:ext cx="525463" cy="557213"/>
            <a:chOff x="-44" y="1473"/>
            <a:chExt cx="981" cy="1105"/>
          </a:xfrm>
        </p:grpSpPr>
        <p:pic>
          <p:nvPicPr>
            <p:cNvPr descr="desktop_computer_stylized_medium" id="1013" name="Google Shape;1013;p2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4" name="Google Shape;1014;p2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5" name="Google Shape;1015;p29"/>
          <p:cNvGrpSpPr/>
          <p:nvPr/>
        </p:nvGrpSpPr>
        <p:grpSpPr>
          <a:xfrm>
            <a:off x="8920067" y="5159646"/>
            <a:ext cx="525463" cy="557212"/>
            <a:chOff x="-44" y="1473"/>
            <a:chExt cx="981" cy="1105"/>
          </a:xfrm>
        </p:grpSpPr>
        <p:pic>
          <p:nvPicPr>
            <p:cNvPr descr="desktop_computer_stylized_medium" id="1016" name="Google Shape;1016;p2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7" name="Google Shape;1017;p2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8" name="Google Shape;1018;p29"/>
          <p:cNvGrpSpPr/>
          <p:nvPr/>
        </p:nvGrpSpPr>
        <p:grpSpPr>
          <a:xfrm>
            <a:off x="8967576" y="4437217"/>
            <a:ext cx="889089" cy="466491"/>
            <a:chOff x="7493876" y="2774731"/>
            <a:chExt cx="1481958" cy="894622"/>
          </a:xfrm>
        </p:grpSpPr>
        <p:sp>
          <p:nvSpPr>
            <p:cNvPr id="1019" name="Google Shape;1019;p2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20" name="Google Shape;1020;p2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21" name="Google Shape;1021;p2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22" name="Google Shape;1022;p2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3" name="Google Shape;1023;p2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4" name="Google Shape;1024;p2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" name="Google Shape;1025;p2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26" name="Google Shape;1026;p29"/>
          <p:cNvGrpSpPr/>
          <p:nvPr/>
        </p:nvGrpSpPr>
        <p:grpSpPr>
          <a:xfrm>
            <a:off x="8988913" y="3095664"/>
            <a:ext cx="889089" cy="466491"/>
            <a:chOff x="7493876" y="2774731"/>
            <a:chExt cx="1481958" cy="894622"/>
          </a:xfrm>
        </p:grpSpPr>
        <p:sp>
          <p:nvSpPr>
            <p:cNvPr id="1027" name="Google Shape;1027;p2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28" name="Google Shape;1028;p2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29" name="Google Shape;1029;p2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30" name="Google Shape;1030;p2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" name="Google Shape;1031;p2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2" name="Google Shape;1032;p2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3" name="Google Shape;1033;p2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34" name="Google Shape;1034;p29"/>
          <p:cNvSpPr/>
          <p:nvPr/>
        </p:nvSpPr>
        <p:spPr>
          <a:xfrm>
            <a:off x="829733" y="4064001"/>
            <a:ext cx="6403933" cy="2297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rPr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Performance: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access link utilization =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.97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LAN utilization: .0015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end-end delay  =  Internet delay +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access link delay + LAN delay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=  2 sec + minutes + usecs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384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29"/>
          <p:cNvSpPr/>
          <p:nvPr/>
        </p:nvSpPr>
        <p:spPr>
          <a:xfrm>
            <a:off x="870724" y="1362307"/>
            <a:ext cx="6123957" cy="2519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Scenario: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access link rate: 1.54 Mbps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RTT from institutional router to server: 2 sec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object size: 100K bits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average request rate from browsers to origin servers: 15/sec</a:t>
            </a:r>
            <a:endParaRPr/>
          </a:p>
          <a:p>
            <a:pPr indent="-342900" lvl="1" marL="8001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avg data rate to browsers: 1.50 Mbps</a:t>
            </a:r>
            <a:endParaRPr/>
          </a:p>
        </p:txBody>
      </p:sp>
      <p:sp>
        <p:nvSpPr>
          <p:cNvPr id="1036" name="Google Shape;1036;p29"/>
          <p:cNvSpPr/>
          <p:nvPr/>
        </p:nvSpPr>
        <p:spPr>
          <a:xfrm>
            <a:off x="4316250" y="5809673"/>
            <a:ext cx="1119350" cy="591127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29"/>
          <p:cNvSpPr txBox="1"/>
          <p:nvPr/>
        </p:nvSpPr>
        <p:spPr>
          <a:xfrm>
            <a:off x="4884698" y="4320866"/>
            <a:ext cx="212570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95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rPr b="0" i="1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problem:</a:t>
            </a:r>
            <a:r>
              <a:rPr b="0" i="1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large queueing delays at high utilization!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30"/>
          <p:cNvSpPr/>
          <p:nvPr/>
        </p:nvSpPr>
        <p:spPr>
          <a:xfrm>
            <a:off x="829733" y="4064001"/>
            <a:ext cx="6403933" cy="2297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rPr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Performance: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access link utilization =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.97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LAN utilization: .0015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end-end delay  =  Internet delay +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access link delay + LAN delay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=  2 sec + minutes + usecs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384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30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Option 1: buy a faster access link</a:t>
            </a:r>
            <a:endParaRPr sz="4400"/>
          </a:p>
        </p:txBody>
      </p:sp>
      <p:cxnSp>
        <p:nvCxnSpPr>
          <p:cNvPr id="1045" name="Google Shape;1045;p30"/>
          <p:cNvCxnSpPr/>
          <p:nvPr/>
        </p:nvCxnSpPr>
        <p:spPr>
          <a:xfrm>
            <a:off x="8083455" y="2487883"/>
            <a:ext cx="285750" cy="11430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6" name="Google Shape;1046;p30"/>
          <p:cNvSpPr txBox="1"/>
          <p:nvPr/>
        </p:nvSpPr>
        <p:spPr>
          <a:xfrm>
            <a:off x="10512330" y="1902096"/>
            <a:ext cx="9334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servers</a:t>
            </a:r>
            <a:endParaRPr/>
          </a:p>
        </p:txBody>
      </p:sp>
      <p:cxnSp>
        <p:nvCxnSpPr>
          <p:cNvPr id="1047" name="Google Shape;1047;p30"/>
          <p:cNvCxnSpPr/>
          <p:nvPr/>
        </p:nvCxnSpPr>
        <p:spPr>
          <a:xfrm>
            <a:off x="8893080" y="2106883"/>
            <a:ext cx="66675" cy="2762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8" name="Google Shape;1048;p30"/>
          <p:cNvCxnSpPr/>
          <p:nvPr/>
        </p:nvCxnSpPr>
        <p:spPr>
          <a:xfrm flipH="1">
            <a:off x="9521730" y="2144983"/>
            <a:ext cx="9525" cy="2381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9" name="Google Shape;1049;p30"/>
          <p:cNvCxnSpPr/>
          <p:nvPr/>
        </p:nvCxnSpPr>
        <p:spPr>
          <a:xfrm flipH="1">
            <a:off x="9978930" y="2306908"/>
            <a:ext cx="133350" cy="20955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0" name="Google Shape;1050;p30"/>
          <p:cNvCxnSpPr/>
          <p:nvPr/>
        </p:nvCxnSpPr>
        <p:spPr>
          <a:xfrm rot="10800000">
            <a:off x="10140855" y="3068908"/>
            <a:ext cx="247650" cy="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1" name="Google Shape;1051;p30"/>
          <p:cNvSpPr/>
          <p:nvPr/>
        </p:nvSpPr>
        <p:spPr>
          <a:xfrm>
            <a:off x="8158067" y="2111064"/>
            <a:ext cx="2174875" cy="1581150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30"/>
          <p:cNvSpPr txBox="1"/>
          <p:nvPr/>
        </p:nvSpPr>
        <p:spPr>
          <a:xfrm>
            <a:off x="8874030" y="2432321"/>
            <a:ext cx="9318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Internet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30"/>
          <p:cNvSpPr/>
          <p:nvPr/>
        </p:nvSpPr>
        <p:spPr>
          <a:xfrm>
            <a:off x="7762780" y="4516708"/>
            <a:ext cx="2965450" cy="1390650"/>
          </a:xfrm>
          <a:custGeom>
            <a:rect b="b" l="l" r="r" t="t"/>
            <a:pathLst>
              <a:path extrusionOk="0" h="876" w="1868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4" name="Google Shape;1054;p30"/>
          <p:cNvCxnSpPr/>
          <p:nvPr/>
        </p:nvCxnSpPr>
        <p:spPr>
          <a:xfrm flipH="1">
            <a:off x="8197755" y="4780233"/>
            <a:ext cx="855662" cy="43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5" name="Google Shape;1055;p30"/>
          <p:cNvCxnSpPr/>
          <p:nvPr/>
        </p:nvCxnSpPr>
        <p:spPr>
          <a:xfrm flipH="1">
            <a:off x="8707342" y="4827858"/>
            <a:ext cx="563563" cy="393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6" name="Google Shape;1056;p30"/>
          <p:cNvCxnSpPr/>
          <p:nvPr/>
        </p:nvCxnSpPr>
        <p:spPr>
          <a:xfrm flipH="1">
            <a:off x="9245505" y="4834208"/>
            <a:ext cx="149225" cy="38258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7" name="Google Shape;1057;p30"/>
          <p:cNvCxnSpPr/>
          <p:nvPr/>
        </p:nvCxnSpPr>
        <p:spPr>
          <a:xfrm>
            <a:off x="9407430" y="3545158"/>
            <a:ext cx="0" cy="106203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8" name="Google Shape;1058;p30"/>
          <p:cNvSpPr txBox="1"/>
          <p:nvPr/>
        </p:nvSpPr>
        <p:spPr>
          <a:xfrm>
            <a:off x="7775480" y="4357958"/>
            <a:ext cx="11985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institutional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30"/>
          <p:cNvSpPr txBox="1"/>
          <p:nvPr/>
        </p:nvSpPr>
        <p:spPr>
          <a:xfrm>
            <a:off x="9783667" y="4738958"/>
            <a:ext cx="12906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Gbps LAN</a:t>
            </a:r>
            <a:endParaRPr b="0" i="0" sz="2400" u="none" cap="none" strike="noStrik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p30"/>
          <p:cNvSpPr txBox="1"/>
          <p:nvPr/>
        </p:nvSpPr>
        <p:spPr>
          <a:xfrm>
            <a:off x="9409017" y="3734071"/>
            <a:ext cx="11906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1.54 Mbps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 link</a:t>
            </a:r>
            <a:endParaRPr b="0" i="0" sz="2400" u="none" cap="none" strike="noStrik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61" name="Google Shape;1061;p30"/>
          <p:cNvGrpSpPr/>
          <p:nvPr/>
        </p:nvGrpSpPr>
        <p:grpSpPr>
          <a:xfrm>
            <a:off x="7735792" y="2035446"/>
            <a:ext cx="377825" cy="576262"/>
            <a:chOff x="4140" y="429"/>
            <a:chExt cx="1425" cy="2396"/>
          </a:xfrm>
        </p:grpSpPr>
        <p:sp>
          <p:nvSpPr>
            <p:cNvPr id="1062" name="Google Shape;1062;p3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30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3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3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30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67" name="Google Shape;1067;p30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1068" name="Google Shape;1068;p30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9" name="Google Shape;1069;p30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70" name="Google Shape;1070;p30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71" name="Google Shape;1071;p30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1072" name="Google Shape;1072;p30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3" name="Google Shape;1073;p30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74" name="Google Shape;1074;p30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30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76" name="Google Shape;1076;p30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1077" name="Google Shape;1077;p30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8" name="Google Shape;1078;p30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79" name="Google Shape;1079;p3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80" name="Google Shape;1080;p30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1081" name="Google Shape;1081;p30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2" name="Google Shape;1082;p30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83" name="Google Shape;1083;p30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3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3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30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3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30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30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30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30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30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30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4" name="Google Shape;1094;p30"/>
          <p:cNvGrpSpPr/>
          <p:nvPr/>
        </p:nvGrpSpPr>
        <p:grpSpPr>
          <a:xfrm>
            <a:off x="7885017" y="5148533"/>
            <a:ext cx="525463" cy="557213"/>
            <a:chOff x="-44" y="1473"/>
            <a:chExt cx="981" cy="1105"/>
          </a:xfrm>
        </p:grpSpPr>
        <p:pic>
          <p:nvPicPr>
            <p:cNvPr descr="desktop_computer_stylized_medium" id="1095" name="Google Shape;1095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6" name="Google Shape;1096;p3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7" name="Google Shape;1097;p30"/>
          <p:cNvGrpSpPr/>
          <p:nvPr/>
        </p:nvGrpSpPr>
        <p:grpSpPr>
          <a:xfrm>
            <a:off x="8650192" y="1557608"/>
            <a:ext cx="377825" cy="576263"/>
            <a:chOff x="4140" y="429"/>
            <a:chExt cx="1425" cy="2396"/>
          </a:xfrm>
        </p:grpSpPr>
        <p:sp>
          <p:nvSpPr>
            <p:cNvPr id="1098" name="Google Shape;1098;p3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30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3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3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30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03" name="Google Shape;1103;p30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1104" name="Google Shape;1104;p30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5" name="Google Shape;1105;p30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06" name="Google Shape;1106;p30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07" name="Google Shape;1107;p30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1108" name="Google Shape;1108;p30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9" name="Google Shape;1109;p30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10" name="Google Shape;1110;p30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30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12" name="Google Shape;1112;p30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1113" name="Google Shape;1113;p30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4" name="Google Shape;1114;p30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15" name="Google Shape;1115;p3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16" name="Google Shape;1116;p30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1117" name="Google Shape;1117;p30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8" name="Google Shape;1118;p30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19" name="Google Shape;1119;p30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3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3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30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3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30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30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30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30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30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30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0" name="Google Shape;1130;p30"/>
          <p:cNvGrpSpPr/>
          <p:nvPr/>
        </p:nvGrpSpPr>
        <p:grpSpPr>
          <a:xfrm>
            <a:off x="9402667" y="1589358"/>
            <a:ext cx="377825" cy="576263"/>
            <a:chOff x="4140" y="429"/>
            <a:chExt cx="1425" cy="2396"/>
          </a:xfrm>
        </p:grpSpPr>
        <p:sp>
          <p:nvSpPr>
            <p:cNvPr id="1131" name="Google Shape;1131;p3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30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3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3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30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36" name="Google Shape;1136;p30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1137" name="Google Shape;1137;p30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8" name="Google Shape;1138;p30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39" name="Google Shape;1139;p30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40" name="Google Shape;1140;p30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1141" name="Google Shape;1141;p30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2" name="Google Shape;1142;p30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43" name="Google Shape;1143;p30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30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45" name="Google Shape;1145;p30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1146" name="Google Shape;1146;p30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7" name="Google Shape;1147;p30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48" name="Google Shape;1148;p3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49" name="Google Shape;1149;p30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1150" name="Google Shape;1150;p30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1" name="Google Shape;1151;p30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52" name="Google Shape;1152;p30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3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3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30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3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30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30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30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30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30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30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3" name="Google Shape;1163;p30"/>
          <p:cNvGrpSpPr/>
          <p:nvPr/>
        </p:nvGrpSpPr>
        <p:grpSpPr>
          <a:xfrm>
            <a:off x="10012267" y="1741758"/>
            <a:ext cx="377825" cy="576263"/>
            <a:chOff x="4140" y="429"/>
            <a:chExt cx="1425" cy="2396"/>
          </a:xfrm>
        </p:grpSpPr>
        <p:sp>
          <p:nvSpPr>
            <p:cNvPr id="1164" name="Google Shape;1164;p3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p30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3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3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30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69" name="Google Shape;1169;p30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1170" name="Google Shape;1170;p30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1" name="Google Shape;1171;p30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72" name="Google Shape;1172;p30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73" name="Google Shape;1173;p30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1174" name="Google Shape;1174;p30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5" name="Google Shape;1175;p30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76" name="Google Shape;1176;p30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30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78" name="Google Shape;1178;p30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1179" name="Google Shape;1179;p30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0" name="Google Shape;1180;p30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81" name="Google Shape;1181;p3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82" name="Google Shape;1182;p30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1183" name="Google Shape;1183;p30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4" name="Google Shape;1184;p30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85" name="Google Shape;1185;p30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3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3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30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3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30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30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30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30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30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30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6" name="Google Shape;1196;p30"/>
          <p:cNvGrpSpPr/>
          <p:nvPr/>
        </p:nvGrpSpPr>
        <p:grpSpPr>
          <a:xfrm>
            <a:off x="10340880" y="2687908"/>
            <a:ext cx="377825" cy="576263"/>
            <a:chOff x="4140" y="429"/>
            <a:chExt cx="1425" cy="2396"/>
          </a:xfrm>
        </p:grpSpPr>
        <p:sp>
          <p:nvSpPr>
            <p:cNvPr id="1197" name="Google Shape;1197;p3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30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3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3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30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02" name="Google Shape;1202;p30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1203" name="Google Shape;1203;p30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4" name="Google Shape;1204;p30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05" name="Google Shape;1205;p30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06" name="Google Shape;1206;p30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1207" name="Google Shape;1207;p30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8" name="Google Shape;1208;p30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09" name="Google Shape;1209;p30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30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11" name="Google Shape;1211;p30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1212" name="Google Shape;1212;p30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3" name="Google Shape;1213;p30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14" name="Google Shape;1214;p3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15" name="Google Shape;1215;p30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1216" name="Google Shape;1216;p30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7" name="Google Shape;1217;p30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18" name="Google Shape;1218;p30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3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3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30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3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30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30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30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30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30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30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9" name="Google Shape;1229;p30"/>
          <p:cNvGrpSpPr/>
          <p:nvPr/>
        </p:nvGrpSpPr>
        <p:grpSpPr>
          <a:xfrm>
            <a:off x="8396192" y="5170758"/>
            <a:ext cx="525463" cy="557213"/>
            <a:chOff x="-44" y="1473"/>
            <a:chExt cx="981" cy="1105"/>
          </a:xfrm>
        </p:grpSpPr>
        <p:pic>
          <p:nvPicPr>
            <p:cNvPr descr="desktop_computer_stylized_medium" id="1230" name="Google Shape;123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1" name="Google Shape;1231;p3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2" name="Google Shape;1232;p30"/>
          <p:cNvGrpSpPr/>
          <p:nvPr/>
        </p:nvGrpSpPr>
        <p:grpSpPr>
          <a:xfrm>
            <a:off x="8920067" y="5159646"/>
            <a:ext cx="525463" cy="557212"/>
            <a:chOff x="-44" y="1473"/>
            <a:chExt cx="981" cy="1105"/>
          </a:xfrm>
        </p:grpSpPr>
        <p:pic>
          <p:nvPicPr>
            <p:cNvPr descr="desktop_computer_stylized_medium" id="1233" name="Google Shape;1233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4" name="Google Shape;1234;p3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5" name="Google Shape;1235;p30"/>
          <p:cNvGrpSpPr/>
          <p:nvPr/>
        </p:nvGrpSpPr>
        <p:grpSpPr>
          <a:xfrm>
            <a:off x="8967576" y="4437217"/>
            <a:ext cx="889089" cy="466491"/>
            <a:chOff x="7493876" y="2774731"/>
            <a:chExt cx="1481958" cy="894622"/>
          </a:xfrm>
        </p:grpSpPr>
        <p:sp>
          <p:nvSpPr>
            <p:cNvPr id="1236" name="Google Shape;1236;p3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37" name="Google Shape;1237;p3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38" name="Google Shape;1238;p3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39" name="Google Shape;1239;p3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0" name="Google Shape;1240;p3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1" name="Google Shape;1241;p3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2" name="Google Shape;1242;p3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43" name="Google Shape;1243;p30"/>
          <p:cNvGrpSpPr/>
          <p:nvPr/>
        </p:nvGrpSpPr>
        <p:grpSpPr>
          <a:xfrm>
            <a:off x="8988913" y="3095664"/>
            <a:ext cx="889089" cy="466491"/>
            <a:chOff x="7493876" y="2774731"/>
            <a:chExt cx="1481958" cy="894622"/>
          </a:xfrm>
        </p:grpSpPr>
        <p:sp>
          <p:nvSpPr>
            <p:cNvPr id="1244" name="Google Shape;1244;p3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45" name="Google Shape;1245;p3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46" name="Google Shape;1246;p3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47" name="Google Shape;1247;p3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8" name="Google Shape;1248;p3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9" name="Google Shape;1249;p3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0" name="Google Shape;1250;p3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51" name="Google Shape;1251;p30"/>
          <p:cNvSpPr/>
          <p:nvPr/>
        </p:nvSpPr>
        <p:spPr>
          <a:xfrm>
            <a:off x="870724" y="1362307"/>
            <a:ext cx="6123957" cy="2519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Scenario: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access link rate: 1.54 Mbps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RTT from institutional router to server: 2 sec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object size: 100K bits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average request rate from browsers to origin servers: 15/sec</a:t>
            </a:r>
            <a:endParaRPr/>
          </a:p>
          <a:p>
            <a:pPr indent="-342900" lvl="1" marL="8001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avg data rate to browsers: 1.50 Mbps</a:t>
            </a:r>
            <a:endParaRPr/>
          </a:p>
        </p:txBody>
      </p:sp>
      <p:grpSp>
        <p:nvGrpSpPr>
          <p:cNvPr id="1252" name="Google Shape;1252;p30"/>
          <p:cNvGrpSpPr/>
          <p:nvPr/>
        </p:nvGrpSpPr>
        <p:grpSpPr>
          <a:xfrm>
            <a:off x="3269205" y="1370475"/>
            <a:ext cx="7974440" cy="2642996"/>
            <a:chOff x="3269205" y="1370475"/>
            <a:chExt cx="7974440" cy="2642996"/>
          </a:xfrm>
        </p:grpSpPr>
        <p:grpSp>
          <p:nvGrpSpPr>
            <p:cNvPr id="1253" name="Google Shape;1253;p30"/>
            <p:cNvGrpSpPr/>
            <p:nvPr/>
          </p:nvGrpSpPr>
          <p:grpSpPr>
            <a:xfrm>
              <a:off x="3269205" y="1370475"/>
              <a:ext cx="2248984" cy="736408"/>
              <a:chOff x="4785771" y="3827302"/>
              <a:chExt cx="2248984" cy="736408"/>
            </a:xfrm>
          </p:grpSpPr>
          <p:sp>
            <p:nvSpPr>
              <p:cNvPr id="1254" name="Google Shape;1254;p30"/>
              <p:cNvSpPr txBox="1"/>
              <p:nvPr/>
            </p:nvSpPr>
            <p:spPr>
              <a:xfrm>
                <a:off x="5449268" y="3827302"/>
                <a:ext cx="1585487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154 Mbps</a:t>
                </a:r>
                <a:endParaRPr/>
              </a:p>
            </p:txBody>
          </p:sp>
          <p:sp>
            <p:nvSpPr>
              <p:cNvPr id="1255" name="Google Shape;1255;p30"/>
              <p:cNvSpPr/>
              <p:nvPr/>
            </p:nvSpPr>
            <p:spPr>
              <a:xfrm>
                <a:off x="4785771" y="4223523"/>
                <a:ext cx="611420" cy="340187"/>
              </a:xfrm>
              <a:prstGeom prst="rect">
                <a:avLst/>
              </a:prstGeom>
              <a:solidFill>
                <a:schemeClr val="lt1">
                  <a:alpha val="64705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56" name="Google Shape;1256;p30"/>
              <p:cNvCxnSpPr/>
              <p:nvPr/>
            </p:nvCxnSpPr>
            <p:spPr>
              <a:xfrm flipH="1" rot="10800000">
                <a:off x="4828478" y="4140660"/>
                <a:ext cx="680225" cy="423048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1257" name="Google Shape;1257;p30"/>
            <p:cNvGrpSpPr/>
            <p:nvPr/>
          </p:nvGrpSpPr>
          <p:grpSpPr>
            <a:xfrm>
              <a:off x="9113107" y="3496571"/>
              <a:ext cx="2130538" cy="516900"/>
              <a:chOff x="4352719" y="3567941"/>
              <a:chExt cx="2130538" cy="516900"/>
            </a:xfrm>
          </p:grpSpPr>
          <p:sp>
            <p:nvSpPr>
              <p:cNvPr id="1258" name="Google Shape;1258;p30"/>
              <p:cNvSpPr txBox="1"/>
              <p:nvPr/>
            </p:nvSpPr>
            <p:spPr>
              <a:xfrm>
                <a:off x="4897770" y="3567941"/>
                <a:ext cx="158548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154 Mbps</a:t>
                </a:r>
                <a:endParaRPr/>
              </a:p>
            </p:txBody>
          </p:sp>
          <p:sp>
            <p:nvSpPr>
              <p:cNvPr id="1259" name="Google Shape;1259;p30"/>
              <p:cNvSpPr/>
              <p:nvPr/>
            </p:nvSpPr>
            <p:spPr>
              <a:xfrm>
                <a:off x="4352719" y="3822059"/>
                <a:ext cx="527164" cy="262782"/>
              </a:xfrm>
              <a:prstGeom prst="rect">
                <a:avLst/>
              </a:prstGeom>
              <a:solidFill>
                <a:schemeClr val="lt1">
                  <a:alpha val="64705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60" name="Google Shape;1260;p30"/>
              <p:cNvCxnSpPr/>
              <p:nvPr/>
            </p:nvCxnSpPr>
            <p:spPr>
              <a:xfrm flipH="1" rot="10800000">
                <a:off x="4459229" y="3805441"/>
                <a:ext cx="554004" cy="237118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  <p:grpSp>
        <p:nvGrpSpPr>
          <p:cNvPr id="1261" name="Google Shape;1261;p30"/>
          <p:cNvGrpSpPr/>
          <p:nvPr/>
        </p:nvGrpSpPr>
        <p:grpSpPr>
          <a:xfrm>
            <a:off x="4067394" y="4387359"/>
            <a:ext cx="2583033" cy="461665"/>
            <a:chOff x="4114801" y="3880785"/>
            <a:chExt cx="2583033" cy="461665"/>
          </a:xfrm>
        </p:grpSpPr>
        <p:sp>
          <p:nvSpPr>
            <p:cNvPr id="1262" name="Google Shape;1262;p30"/>
            <p:cNvSpPr txBox="1"/>
            <p:nvPr/>
          </p:nvSpPr>
          <p:spPr>
            <a:xfrm>
              <a:off x="5112347" y="3880785"/>
              <a:ext cx="158548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.0097</a:t>
              </a:r>
              <a:endParaRPr/>
            </a:p>
          </p:txBody>
        </p:sp>
        <p:sp>
          <p:nvSpPr>
            <p:cNvPr id="1263" name="Google Shape;1263;p30"/>
            <p:cNvSpPr/>
            <p:nvPr/>
          </p:nvSpPr>
          <p:spPr>
            <a:xfrm>
              <a:off x="4114801" y="3955100"/>
              <a:ext cx="498412" cy="340187"/>
            </a:xfrm>
            <a:prstGeom prst="rect">
              <a:avLst/>
            </a:prstGeom>
            <a:solidFill>
              <a:schemeClr val="lt1">
                <a:alpha val="6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64" name="Google Shape;1264;p30"/>
            <p:cNvCxnSpPr/>
            <p:nvPr/>
          </p:nvCxnSpPr>
          <p:spPr>
            <a:xfrm>
              <a:off x="4234070" y="4117024"/>
              <a:ext cx="936703" cy="1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265" name="Google Shape;1265;p30"/>
          <p:cNvGrpSpPr/>
          <p:nvPr/>
        </p:nvGrpSpPr>
        <p:grpSpPr>
          <a:xfrm>
            <a:off x="4351868" y="5927346"/>
            <a:ext cx="3101886" cy="698305"/>
            <a:chOff x="3557204" y="3415545"/>
            <a:chExt cx="3101886" cy="698305"/>
          </a:xfrm>
        </p:grpSpPr>
        <p:sp>
          <p:nvSpPr>
            <p:cNvPr id="1266" name="Google Shape;1266;p30"/>
            <p:cNvSpPr txBox="1"/>
            <p:nvPr/>
          </p:nvSpPr>
          <p:spPr>
            <a:xfrm>
              <a:off x="5555973" y="3652185"/>
              <a:ext cx="110311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msecs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" name="Google Shape;1267;p30"/>
            <p:cNvSpPr/>
            <p:nvPr/>
          </p:nvSpPr>
          <p:spPr>
            <a:xfrm>
              <a:off x="3557204" y="3415545"/>
              <a:ext cx="1041334" cy="337988"/>
            </a:xfrm>
            <a:prstGeom prst="rect">
              <a:avLst/>
            </a:prstGeom>
            <a:solidFill>
              <a:schemeClr val="lt1">
                <a:alpha val="6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68" name="Google Shape;1268;p30"/>
            <p:cNvCxnSpPr/>
            <p:nvPr/>
          </p:nvCxnSpPr>
          <p:spPr>
            <a:xfrm>
              <a:off x="3662316" y="3504654"/>
              <a:ext cx="1983056" cy="461665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269" name="Google Shape;1269;p30"/>
          <p:cNvSpPr txBox="1"/>
          <p:nvPr/>
        </p:nvSpPr>
        <p:spPr>
          <a:xfrm>
            <a:off x="870724" y="6212256"/>
            <a:ext cx="456573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Cost: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faster access link (expensive!)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p31"/>
          <p:cNvSpPr/>
          <p:nvPr/>
        </p:nvSpPr>
        <p:spPr>
          <a:xfrm>
            <a:off x="922868" y="4719957"/>
            <a:ext cx="6361287" cy="23024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rPr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Performance: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LAN utilization: .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access link utilization =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average end-end delay  =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1276" name="Google Shape;1276;p31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Option 2: install a web cache</a:t>
            </a:r>
            <a:endParaRPr sz="4400"/>
          </a:p>
        </p:txBody>
      </p:sp>
      <p:cxnSp>
        <p:nvCxnSpPr>
          <p:cNvPr id="1277" name="Google Shape;1277;p31"/>
          <p:cNvCxnSpPr/>
          <p:nvPr/>
        </p:nvCxnSpPr>
        <p:spPr>
          <a:xfrm>
            <a:off x="8083455" y="2487883"/>
            <a:ext cx="285750" cy="11430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8" name="Google Shape;1278;p31"/>
          <p:cNvSpPr txBox="1"/>
          <p:nvPr/>
        </p:nvSpPr>
        <p:spPr>
          <a:xfrm>
            <a:off x="10512330" y="1902096"/>
            <a:ext cx="9334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servers</a:t>
            </a:r>
            <a:endParaRPr/>
          </a:p>
        </p:txBody>
      </p:sp>
      <p:cxnSp>
        <p:nvCxnSpPr>
          <p:cNvPr id="1279" name="Google Shape;1279;p31"/>
          <p:cNvCxnSpPr/>
          <p:nvPr/>
        </p:nvCxnSpPr>
        <p:spPr>
          <a:xfrm>
            <a:off x="8893080" y="2106883"/>
            <a:ext cx="66675" cy="2762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0" name="Google Shape;1280;p31"/>
          <p:cNvCxnSpPr/>
          <p:nvPr/>
        </p:nvCxnSpPr>
        <p:spPr>
          <a:xfrm flipH="1">
            <a:off x="9521730" y="2144983"/>
            <a:ext cx="9525" cy="2381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1" name="Google Shape;1281;p31"/>
          <p:cNvCxnSpPr/>
          <p:nvPr/>
        </p:nvCxnSpPr>
        <p:spPr>
          <a:xfrm flipH="1">
            <a:off x="9978930" y="2306908"/>
            <a:ext cx="133350" cy="20955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2" name="Google Shape;1282;p31"/>
          <p:cNvCxnSpPr/>
          <p:nvPr/>
        </p:nvCxnSpPr>
        <p:spPr>
          <a:xfrm rot="10800000">
            <a:off x="10140855" y="3068908"/>
            <a:ext cx="247650" cy="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3" name="Google Shape;1283;p31"/>
          <p:cNvSpPr/>
          <p:nvPr/>
        </p:nvSpPr>
        <p:spPr>
          <a:xfrm>
            <a:off x="8158067" y="2111064"/>
            <a:ext cx="2174875" cy="1581150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31"/>
          <p:cNvSpPr txBox="1"/>
          <p:nvPr/>
        </p:nvSpPr>
        <p:spPr>
          <a:xfrm>
            <a:off x="8874030" y="2432321"/>
            <a:ext cx="9318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Internet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p31"/>
          <p:cNvSpPr/>
          <p:nvPr/>
        </p:nvSpPr>
        <p:spPr>
          <a:xfrm>
            <a:off x="7763006" y="4514213"/>
            <a:ext cx="2965450" cy="1390650"/>
          </a:xfrm>
          <a:custGeom>
            <a:rect b="b" l="l" r="r" t="t"/>
            <a:pathLst>
              <a:path extrusionOk="0" h="876" w="1868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6" name="Google Shape;1286;p31"/>
          <p:cNvCxnSpPr/>
          <p:nvPr/>
        </p:nvCxnSpPr>
        <p:spPr>
          <a:xfrm flipH="1">
            <a:off x="8197755" y="4780233"/>
            <a:ext cx="855662" cy="43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7" name="Google Shape;1287;p31"/>
          <p:cNvCxnSpPr/>
          <p:nvPr/>
        </p:nvCxnSpPr>
        <p:spPr>
          <a:xfrm flipH="1">
            <a:off x="8707342" y="4827858"/>
            <a:ext cx="563563" cy="393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8" name="Google Shape;1288;p31"/>
          <p:cNvCxnSpPr/>
          <p:nvPr/>
        </p:nvCxnSpPr>
        <p:spPr>
          <a:xfrm flipH="1">
            <a:off x="9245505" y="4834208"/>
            <a:ext cx="149225" cy="38258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9" name="Google Shape;1289;p31"/>
          <p:cNvCxnSpPr/>
          <p:nvPr/>
        </p:nvCxnSpPr>
        <p:spPr>
          <a:xfrm>
            <a:off x="9407430" y="3545158"/>
            <a:ext cx="0" cy="106203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0" name="Google Shape;1290;p31"/>
          <p:cNvSpPr txBox="1"/>
          <p:nvPr/>
        </p:nvSpPr>
        <p:spPr>
          <a:xfrm>
            <a:off x="7775480" y="4357958"/>
            <a:ext cx="11985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institutional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31"/>
          <p:cNvSpPr txBox="1"/>
          <p:nvPr/>
        </p:nvSpPr>
        <p:spPr>
          <a:xfrm>
            <a:off x="9783667" y="4738958"/>
            <a:ext cx="12906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Gbps LAN</a:t>
            </a:r>
            <a:endParaRPr b="0" i="0" sz="2400" u="none" cap="none" strike="noStrik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2" name="Google Shape;1292;p31"/>
          <p:cNvSpPr txBox="1"/>
          <p:nvPr/>
        </p:nvSpPr>
        <p:spPr>
          <a:xfrm>
            <a:off x="9409017" y="3734071"/>
            <a:ext cx="11906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1.54 Mbps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 link</a:t>
            </a:r>
            <a:endParaRPr b="0" i="0" sz="2400" u="none" cap="none" strike="noStrik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93" name="Google Shape;1293;p31"/>
          <p:cNvGrpSpPr/>
          <p:nvPr/>
        </p:nvGrpSpPr>
        <p:grpSpPr>
          <a:xfrm>
            <a:off x="7735792" y="2035446"/>
            <a:ext cx="377825" cy="576262"/>
            <a:chOff x="4140" y="429"/>
            <a:chExt cx="1425" cy="2396"/>
          </a:xfrm>
        </p:grpSpPr>
        <p:sp>
          <p:nvSpPr>
            <p:cNvPr id="1294" name="Google Shape;1294;p3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p31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6" name="Google Shape;1296;p3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p3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31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99" name="Google Shape;1299;p31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1300" name="Google Shape;1300;p31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1" name="Google Shape;1301;p31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02" name="Google Shape;1302;p31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03" name="Google Shape;1303;p31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1304" name="Google Shape;1304;p31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5" name="Google Shape;1305;p31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06" name="Google Shape;1306;p31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31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08" name="Google Shape;1308;p31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1309" name="Google Shape;1309;p31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0" name="Google Shape;1310;p31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11" name="Google Shape;1311;p3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12" name="Google Shape;1312;p31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1313" name="Google Shape;1313;p31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4" name="Google Shape;1314;p31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15" name="Google Shape;1315;p31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3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3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31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3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31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31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31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31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31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31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6" name="Google Shape;1326;p31"/>
          <p:cNvGrpSpPr/>
          <p:nvPr/>
        </p:nvGrpSpPr>
        <p:grpSpPr>
          <a:xfrm>
            <a:off x="7885017" y="5148533"/>
            <a:ext cx="525463" cy="557213"/>
            <a:chOff x="-44" y="1473"/>
            <a:chExt cx="981" cy="1105"/>
          </a:xfrm>
        </p:grpSpPr>
        <p:pic>
          <p:nvPicPr>
            <p:cNvPr descr="desktop_computer_stylized_medium" id="1327" name="Google Shape;1327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8" name="Google Shape;1328;p3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9" name="Google Shape;1329;p31"/>
          <p:cNvGrpSpPr/>
          <p:nvPr/>
        </p:nvGrpSpPr>
        <p:grpSpPr>
          <a:xfrm>
            <a:off x="8650192" y="1557608"/>
            <a:ext cx="377825" cy="576263"/>
            <a:chOff x="4140" y="429"/>
            <a:chExt cx="1425" cy="2396"/>
          </a:xfrm>
        </p:grpSpPr>
        <p:sp>
          <p:nvSpPr>
            <p:cNvPr id="1330" name="Google Shape;1330;p3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31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3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3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31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35" name="Google Shape;1335;p31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1336" name="Google Shape;1336;p31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7" name="Google Shape;1337;p31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38" name="Google Shape;1338;p31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39" name="Google Shape;1339;p31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1340" name="Google Shape;1340;p31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1" name="Google Shape;1341;p31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42" name="Google Shape;1342;p31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31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44" name="Google Shape;1344;p31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1345" name="Google Shape;1345;p31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6" name="Google Shape;1346;p31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47" name="Google Shape;1347;p3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48" name="Google Shape;1348;p31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1349" name="Google Shape;1349;p31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0" name="Google Shape;1350;p31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51" name="Google Shape;1351;p31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3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3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31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3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31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31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31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31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p31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p31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62" name="Google Shape;1362;p31"/>
          <p:cNvGrpSpPr/>
          <p:nvPr/>
        </p:nvGrpSpPr>
        <p:grpSpPr>
          <a:xfrm>
            <a:off x="9402667" y="1589358"/>
            <a:ext cx="377825" cy="576263"/>
            <a:chOff x="4140" y="429"/>
            <a:chExt cx="1425" cy="2396"/>
          </a:xfrm>
        </p:grpSpPr>
        <p:sp>
          <p:nvSpPr>
            <p:cNvPr id="1363" name="Google Shape;1363;p3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31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3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3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p31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68" name="Google Shape;1368;p31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1369" name="Google Shape;1369;p31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0" name="Google Shape;1370;p31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71" name="Google Shape;1371;p31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72" name="Google Shape;1372;p31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1373" name="Google Shape;1373;p31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4" name="Google Shape;1374;p31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75" name="Google Shape;1375;p31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p31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77" name="Google Shape;1377;p31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1378" name="Google Shape;1378;p31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9" name="Google Shape;1379;p31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80" name="Google Shape;1380;p3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81" name="Google Shape;1381;p31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1382" name="Google Shape;1382;p31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3" name="Google Shape;1383;p31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84" name="Google Shape;1384;p31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3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3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31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3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31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31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31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31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31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p31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95" name="Google Shape;1395;p31"/>
          <p:cNvGrpSpPr/>
          <p:nvPr/>
        </p:nvGrpSpPr>
        <p:grpSpPr>
          <a:xfrm>
            <a:off x="10012267" y="1741758"/>
            <a:ext cx="377825" cy="576263"/>
            <a:chOff x="4140" y="429"/>
            <a:chExt cx="1425" cy="2396"/>
          </a:xfrm>
        </p:grpSpPr>
        <p:sp>
          <p:nvSpPr>
            <p:cNvPr id="1396" name="Google Shape;1396;p3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p31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p3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9" name="Google Shape;1399;p3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0" name="Google Shape;1400;p31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01" name="Google Shape;1401;p31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1402" name="Google Shape;1402;p31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3" name="Google Shape;1403;p31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04" name="Google Shape;1404;p31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05" name="Google Shape;1405;p31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1406" name="Google Shape;1406;p31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7" name="Google Shape;1407;p31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08" name="Google Shape;1408;p31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p31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10" name="Google Shape;1410;p31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1411" name="Google Shape;1411;p31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2" name="Google Shape;1412;p31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13" name="Google Shape;1413;p3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14" name="Google Shape;1414;p31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1415" name="Google Shape;1415;p31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6" name="Google Shape;1416;p31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17" name="Google Shape;1417;p31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p3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9" name="Google Shape;1419;p3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0" name="Google Shape;1420;p31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p3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p31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3" name="Google Shape;1423;p31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31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p31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p31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p31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28" name="Google Shape;1428;p31"/>
          <p:cNvGrpSpPr/>
          <p:nvPr/>
        </p:nvGrpSpPr>
        <p:grpSpPr>
          <a:xfrm>
            <a:off x="10340880" y="2687908"/>
            <a:ext cx="377825" cy="576263"/>
            <a:chOff x="4140" y="429"/>
            <a:chExt cx="1425" cy="2396"/>
          </a:xfrm>
        </p:grpSpPr>
        <p:sp>
          <p:nvSpPr>
            <p:cNvPr id="1429" name="Google Shape;1429;p3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0" name="Google Shape;1430;p31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1" name="Google Shape;1431;p3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3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31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34" name="Google Shape;1434;p31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1435" name="Google Shape;1435;p31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6" name="Google Shape;1436;p31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37" name="Google Shape;1437;p31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38" name="Google Shape;1438;p31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1439" name="Google Shape;1439;p31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0" name="Google Shape;1440;p31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41" name="Google Shape;1441;p31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2" name="Google Shape;1442;p31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43" name="Google Shape;1443;p31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1444" name="Google Shape;1444;p31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5" name="Google Shape;1445;p31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46" name="Google Shape;1446;p3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47" name="Google Shape;1447;p31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1448" name="Google Shape;1448;p31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9" name="Google Shape;1449;p31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50" name="Google Shape;1450;p31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3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p3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3" name="Google Shape;1453;p31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3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31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31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31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8" name="Google Shape;1458;p31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31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31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61" name="Google Shape;1461;p31"/>
          <p:cNvGrpSpPr/>
          <p:nvPr/>
        </p:nvGrpSpPr>
        <p:grpSpPr>
          <a:xfrm>
            <a:off x="8396192" y="5170758"/>
            <a:ext cx="525463" cy="557213"/>
            <a:chOff x="-44" y="1473"/>
            <a:chExt cx="981" cy="1105"/>
          </a:xfrm>
        </p:grpSpPr>
        <p:pic>
          <p:nvPicPr>
            <p:cNvPr descr="desktop_computer_stylized_medium" id="1462" name="Google Shape;1462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3" name="Google Shape;1463;p3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64" name="Google Shape;1464;p31"/>
          <p:cNvGrpSpPr/>
          <p:nvPr/>
        </p:nvGrpSpPr>
        <p:grpSpPr>
          <a:xfrm>
            <a:off x="8920067" y="5159646"/>
            <a:ext cx="525463" cy="557212"/>
            <a:chOff x="-44" y="1473"/>
            <a:chExt cx="981" cy="1105"/>
          </a:xfrm>
        </p:grpSpPr>
        <p:pic>
          <p:nvPicPr>
            <p:cNvPr descr="desktop_computer_stylized_medium" id="1465" name="Google Shape;1465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6" name="Google Shape;1466;p3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67" name="Google Shape;1467;p31"/>
          <p:cNvGrpSpPr/>
          <p:nvPr/>
        </p:nvGrpSpPr>
        <p:grpSpPr>
          <a:xfrm>
            <a:off x="8988913" y="3095664"/>
            <a:ext cx="889089" cy="466491"/>
            <a:chOff x="7493876" y="2774731"/>
            <a:chExt cx="1481958" cy="894622"/>
          </a:xfrm>
        </p:grpSpPr>
        <p:sp>
          <p:nvSpPr>
            <p:cNvPr id="1468" name="Google Shape;1468;p3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469" name="Google Shape;1469;p3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470" name="Google Shape;1470;p3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71" name="Google Shape;1471;p3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2" name="Google Shape;1472;p3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3" name="Google Shape;1473;p3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4" name="Google Shape;1474;p3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75" name="Google Shape;1475;p31"/>
          <p:cNvSpPr/>
          <p:nvPr/>
        </p:nvSpPr>
        <p:spPr>
          <a:xfrm>
            <a:off x="870724" y="1362307"/>
            <a:ext cx="6123957" cy="2519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Scenario: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access link rate: 1.54 Mbps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RTT from institutional router to server: 2 sec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object size: 100K bits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average request rate from browsers to origin servers: 15/sec</a:t>
            </a:r>
            <a:endParaRPr/>
          </a:p>
          <a:p>
            <a:pPr indent="-342900" lvl="1" marL="8001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avg data rate to browsers: 1.50 Mbps</a:t>
            </a:r>
            <a:endParaRPr/>
          </a:p>
        </p:txBody>
      </p:sp>
      <p:grpSp>
        <p:nvGrpSpPr>
          <p:cNvPr id="1476" name="Google Shape;1476;p31"/>
          <p:cNvGrpSpPr/>
          <p:nvPr/>
        </p:nvGrpSpPr>
        <p:grpSpPr>
          <a:xfrm>
            <a:off x="8967576" y="4437217"/>
            <a:ext cx="889089" cy="466491"/>
            <a:chOff x="7493876" y="2774731"/>
            <a:chExt cx="1481958" cy="894622"/>
          </a:xfrm>
        </p:grpSpPr>
        <p:sp>
          <p:nvSpPr>
            <p:cNvPr id="1477" name="Google Shape;1477;p3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478" name="Google Shape;1478;p3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479" name="Google Shape;1479;p3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80" name="Google Shape;1480;p3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1" name="Google Shape;1481;p3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2" name="Google Shape;1482;p3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3" name="Google Shape;1483;p3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84" name="Google Shape;1484;p31"/>
          <p:cNvGrpSpPr/>
          <p:nvPr/>
        </p:nvGrpSpPr>
        <p:grpSpPr>
          <a:xfrm>
            <a:off x="9339961" y="4807753"/>
            <a:ext cx="811212" cy="1033463"/>
            <a:chOff x="9001301" y="5550914"/>
            <a:chExt cx="811212" cy="1033463"/>
          </a:xfrm>
        </p:grpSpPr>
        <p:sp>
          <p:nvSpPr>
            <p:cNvPr id="1485" name="Google Shape;1485;p31"/>
            <p:cNvSpPr/>
            <p:nvPr/>
          </p:nvSpPr>
          <p:spPr>
            <a:xfrm>
              <a:off x="9001301" y="5550914"/>
              <a:ext cx="811212" cy="1033463"/>
            </a:xfrm>
            <a:prstGeom prst="ellipse">
              <a:avLst/>
            </a:prstGeom>
            <a:solidFill>
              <a:srgbClr val="C00000">
                <a:alpha val="4078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86" name="Google Shape;1486;p31"/>
            <p:cNvGrpSpPr/>
            <p:nvPr/>
          </p:nvGrpSpPr>
          <p:grpSpPr>
            <a:xfrm>
              <a:off x="9256094" y="5631762"/>
              <a:ext cx="377825" cy="800176"/>
              <a:chOff x="10907888" y="5189290"/>
              <a:chExt cx="377825" cy="800176"/>
            </a:xfrm>
          </p:grpSpPr>
          <p:cxnSp>
            <p:nvCxnSpPr>
              <p:cNvPr id="1487" name="Google Shape;1487;p31"/>
              <p:cNvCxnSpPr/>
              <p:nvPr/>
            </p:nvCxnSpPr>
            <p:spPr>
              <a:xfrm>
                <a:off x="10966625" y="5189290"/>
                <a:ext cx="76200" cy="322262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488" name="Google Shape;1488;p31"/>
              <p:cNvGrpSpPr/>
              <p:nvPr/>
            </p:nvGrpSpPr>
            <p:grpSpPr>
              <a:xfrm>
                <a:off x="10907888" y="5413204"/>
                <a:ext cx="377825" cy="576262"/>
                <a:chOff x="4140" y="429"/>
                <a:chExt cx="1425" cy="2396"/>
              </a:xfrm>
            </p:grpSpPr>
            <p:sp>
              <p:nvSpPr>
                <p:cNvPr id="1489" name="Google Shape;1489;p31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90" name="Google Shape;1490;p31"/>
                <p:cNvSpPr/>
                <p:nvPr/>
              </p:nvSpPr>
              <p:spPr>
                <a:xfrm>
                  <a:off x="4206" y="429"/>
                  <a:ext cx="1048" cy="2284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91" name="Google Shape;1491;p31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92" name="Google Shape;1492;p31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93" name="Google Shape;1493;p31"/>
                <p:cNvSpPr/>
                <p:nvPr/>
              </p:nvSpPr>
              <p:spPr>
                <a:xfrm>
                  <a:off x="4212" y="693"/>
                  <a:ext cx="599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494" name="Google Shape;1494;p31"/>
                <p:cNvGrpSpPr/>
                <p:nvPr/>
              </p:nvGrpSpPr>
              <p:grpSpPr>
                <a:xfrm>
                  <a:off x="4751" y="667"/>
                  <a:ext cx="581" cy="145"/>
                  <a:chOff x="616" y="2567"/>
                  <a:chExt cx="725" cy="139"/>
                </a:xfrm>
              </p:grpSpPr>
              <p:sp>
                <p:nvSpPr>
                  <p:cNvPr id="1495" name="Google Shape;1495;p31"/>
                  <p:cNvSpPr/>
                  <p:nvPr/>
                </p:nvSpPr>
                <p:spPr>
                  <a:xfrm>
                    <a:off x="616" y="2567"/>
                    <a:ext cx="725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96" name="Google Shape;1496;p31"/>
                  <p:cNvSpPr/>
                  <p:nvPr/>
                </p:nvSpPr>
                <p:spPr>
                  <a:xfrm>
                    <a:off x="631" y="2586"/>
                    <a:ext cx="695" cy="101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497" name="Google Shape;1497;p31"/>
                <p:cNvSpPr/>
                <p:nvPr/>
              </p:nvSpPr>
              <p:spPr>
                <a:xfrm>
                  <a:off x="4224" y="1016"/>
                  <a:ext cx="599" cy="53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498" name="Google Shape;1498;p31"/>
                <p:cNvGrpSpPr/>
                <p:nvPr/>
              </p:nvGrpSpPr>
              <p:grpSpPr>
                <a:xfrm>
                  <a:off x="4745" y="997"/>
                  <a:ext cx="581" cy="132"/>
                  <a:chOff x="611" y="2571"/>
                  <a:chExt cx="725" cy="137"/>
                </a:xfrm>
              </p:grpSpPr>
              <p:sp>
                <p:nvSpPr>
                  <p:cNvPr id="1499" name="Google Shape;1499;p31"/>
                  <p:cNvSpPr/>
                  <p:nvPr/>
                </p:nvSpPr>
                <p:spPr>
                  <a:xfrm>
                    <a:off x="611" y="2571"/>
                    <a:ext cx="725" cy="137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00" name="Google Shape;1500;p31"/>
                  <p:cNvSpPr/>
                  <p:nvPr/>
                </p:nvSpPr>
                <p:spPr>
                  <a:xfrm>
                    <a:off x="626" y="2584"/>
                    <a:ext cx="695" cy="11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501" name="Google Shape;1501;p31"/>
                <p:cNvSpPr/>
                <p:nvPr/>
              </p:nvSpPr>
              <p:spPr>
                <a:xfrm>
                  <a:off x="4218" y="1360"/>
                  <a:ext cx="593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02" name="Google Shape;1502;p31"/>
                <p:cNvSpPr/>
                <p:nvPr/>
              </p:nvSpPr>
              <p:spPr>
                <a:xfrm>
                  <a:off x="4230" y="1657"/>
                  <a:ext cx="593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503" name="Google Shape;1503;p31"/>
                <p:cNvGrpSpPr/>
                <p:nvPr/>
              </p:nvGrpSpPr>
              <p:grpSpPr>
                <a:xfrm>
                  <a:off x="4733" y="1630"/>
                  <a:ext cx="587" cy="146"/>
                  <a:chOff x="611" y="2571"/>
                  <a:chExt cx="731" cy="134"/>
                </a:xfrm>
              </p:grpSpPr>
              <p:sp>
                <p:nvSpPr>
                  <p:cNvPr id="1504" name="Google Shape;1504;p31"/>
                  <p:cNvSpPr/>
                  <p:nvPr/>
                </p:nvSpPr>
                <p:spPr>
                  <a:xfrm>
                    <a:off x="611" y="2571"/>
                    <a:ext cx="731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05" name="Google Shape;1505;p31"/>
                  <p:cNvSpPr/>
                  <p:nvPr/>
                </p:nvSpPr>
                <p:spPr>
                  <a:xfrm>
                    <a:off x="626" y="2589"/>
                    <a:ext cx="701" cy="9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506" name="Google Shape;1506;p31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507" name="Google Shape;1507;p31"/>
                <p:cNvGrpSpPr/>
                <p:nvPr/>
              </p:nvGrpSpPr>
              <p:grpSpPr>
                <a:xfrm>
                  <a:off x="4739" y="1327"/>
                  <a:ext cx="580" cy="139"/>
                  <a:chOff x="614" y="2568"/>
                  <a:chExt cx="723" cy="139"/>
                </a:xfrm>
              </p:grpSpPr>
              <p:sp>
                <p:nvSpPr>
                  <p:cNvPr id="1508" name="Google Shape;1508;p31"/>
                  <p:cNvSpPr/>
                  <p:nvPr/>
                </p:nvSpPr>
                <p:spPr>
                  <a:xfrm>
                    <a:off x="614" y="2568"/>
                    <a:ext cx="723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09" name="Google Shape;1509;p31"/>
                  <p:cNvSpPr/>
                  <p:nvPr/>
                </p:nvSpPr>
                <p:spPr>
                  <a:xfrm>
                    <a:off x="629" y="2581"/>
                    <a:ext cx="694" cy="10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510" name="Google Shape;1510;p31"/>
                <p:cNvSpPr/>
                <p:nvPr/>
              </p:nvSpPr>
              <p:spPr>
                <a:xfrm>
                  <a:off x="5248" y="429"/>
                  <a:ext cx="72" cy="2290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11" name="Google Shape;1511;p31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12" name="Google Shape;1512;p31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13" name="Google Shape;1513;p31"/>
                <p:cNvSpPr/>
                <p:nvPr/>
              </p:nvSpPr>
              <p:spPr>
                <a:xfrm>
                  <a:off x="5517" y="2614"/>
                  <a:ext cx="48" cy="92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14" name="Google Shape;1514;p31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15" name="Google Shape;1515;p31"/>
                <p:cNvSpPr/>
                <p:nvPr/>
              </p:nvSpPr>
              <p:spPr>
                <a:xfrm>
                  <a:off x="4140" y="2680"/>
                  <a:ext cx="1197" cy="14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16" name="Google Shape;1516;p31"/>
                <p:cNvSpPr/>
                <p:nvPr/>
              </p:nvSpPr>
              <p:spPr>
                <a:xfrm>
                  <a:off x="4206" y="2713"/>
                  <a:ext cx="1072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17" name="Google Shape;1517;p31"/>
                <p:cNvSpPr/>
                <p:nvPr/>
              </p:nvSpPr>
              <p:spPr>
                <a:xfrm>
                  <a:off x="4308" y="2383"/>
                  <a:ext cx="156" cy="145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18" name="Google Shape;1518;p31"/>
                <p:cNvSpPr/>
                <p:nvPr/>
              </p:nvSpPr>
              <p:spPr>
                <a:xfrm>
                  <a:off x="4487" y="2383"/>
                  <a:ext cx="162" cy="14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19" name="Google Shape;1519;p31"/>
                <p:cNvSpPr/>
                <p:nvPr/>
              </p:nvSpPr>
              <p:spPr>
                <a:xfrm>
                  <a:off x="4661" y="2383"/>
                  <a:ext cx="162" cy="139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0" name="Google Shape;1520;p31"/>
                <p:cNvSpPr/>
                <p:nvPr/>
              </p:nvSpPr>
              <p:spPr>
                <a:xfrm>
                  <a:off x="5062" y="1835"/>
                  <a:ext cx="84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1521" name="Google Shape;1521;p31"/>
          <p:cNvSpPr txBox="1"/>
          <p:nvPr/>
        </p:nvSpPr>
        <p:spPr>
          <a:xfrm>
            <a:off x="4483372" y="5180762"/>
            <a:ext cx="2818464" cy="690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How to compute link </a:t>
            </a:r>
            <a:endParaRPr/>
          </a:p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utilization, delay?</a:t>
            </a:r>
            <a:endParaRPr/>
          </a:p>
        </p:txBody>
      </p:sp>
      <p:sp>
        <p:nvSpPr>
          <p:cNvPr id="1522" name="Google Shape;1522;p31"/>
          <p:cNvSpPr txBox="1"/>
          <p:nvPr/>
        </p:nvSpPr>
        <p:spPr>
          <a:xfrm>
            <a:off x="853791" y="4053039"/>
            <a:ext cx="330661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Cost: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web cache (cheap!)</a:t>
            </a:r>
            <a:endParaRPr/>
          </a:p>
        </p:txBody>
      </p:sp>
      <p:sp>
        <p:nvSpPr>
          <p:cNvPr id="1523" name="Google Shape;1523;p31"/>
          <p:cNvSpPr txBox="1"/>
          <p:nvPr/>
        </p:nvSpPr>
        <p:spPr>
          <a:xfrm>
            <a:off x="9443782" y="5793184"/>
            <a:ext cx="164179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local web cache</a:t>
            </a:r>
            <a:endParaRPr b="0" i="0" sz="24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p32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/>
              <a:t>Calculating access link utilization, end-end delay with cache:</a:t>
            </a:r>
            <a:endParaRPr/>
          </a:p>
        </p:txBody>
      </p:sp>
      <p:cxnSp>
        <p:nvCxnSpPr>
          <p:cNvPr id="1530" name="Google Shape;1530;p32"/>
          <p:cNvCxnSpPr/>
          <p:nvPr/>
        </p:nvCxnSpPr>
        <p:spPr>
          <a:xfrm>
            <a:off x="8083455" y="2487883"/>
            <a:ext cx="285750" cy="11430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1" name="Google Shape;1531;p32"/>
          <p:cNvSpPr txBox="1"/>
          <p:nvPr/>
        </p:nvSpPr>
        <p:spPr>
          <a:xfrm>
            <a:off x="10512330" y="1902096"/>
            <a:ext cx="9334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servers</a:t>
            </a:r>
            <a:endParaRPr/>
          </a:p>
        </p:txBody>
      </p:sp>
      <p:cxnSp>
        <p:nvCxnSpPr>
          <p:cNvPr id="1532" name="Google Shape;1532;p32"/>
          <p:cNvCxnSpPr/>
          <p:nvPr/>
        </p:nvCxnSpPr>
        <p:spPr>
          <a:xfrm>
            <a:off x="8893080" y="2106883"/>
            <a:ext cx="66675" cy="2762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3" name="Google Shape;1533;p32"/>
          <p:cNvCxnSpPr/>
          <p:nvPr/>
        </p:nvCxnSpPr>
        <p:spPr>
          <a:xfrm flipH="1">
            <a:off x="9521730" y="2144983"/>
            <a:ext cx="9525" cy="2381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4" name="Google Shape;1534;p32"/>
          <p:cNvCxnSpPr/>
          <p:nvPr/>
        </p:nvCxnSpPr>
        <p:spPr>
          <a:xfrm flipH="1">
            <a:off x="9978930" y="2306908"/>
            <a:ext cx="133350" cy="20955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5" name="Google Shape;1535;p32"/>
          <p:cNvCxnSpPr/>
          <p:nvPr/>
        </p:nvCxnSpPr>
        <p:spPr>
          <a:xfrm rot="10800000">
            <a:off x="10140855" y="3068908"/>
            <a:ext cx="247650" cy="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6" name="Google Shape;1536;p32"/>
          <p:cNvSpPr/>
          <p:nvPr/>
        </p:nvSpPr>
        <p:spPr>
          <a:xfrm>
            <a:off x="8158067" y="2111064"/>
            <a:ext cx="2174875" cy="1581150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7" name="Google Shape;1537;p32"/>
          <p:cNvSpPr txBox="1"/>
          <p:nvPr/>
        </p:nvSpPr>
        <p:spPr>
          <a:xfrm>
            <a:off x="8874030" y="2432321"/>
            <a:ext cx="9318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Internet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8" name="Google Shape;1538;p32"/>
          <p:cNvSpPr/>
          <p:nvPr/>
        </p:nvSpPr>
        <p:spPr>
          <a:xfrm>
            <a:off x="7748492" y="4470671"/>
            <a:ext cx="2965450" cy="1390650"/>
          </a:xfrm>
          <a:custGeom>
            <a:rect b="b" l="l" r="r" t="t"/>
            <a:pathLst>
              <a:path extrusionOk="0" h="876" w="1868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9" name="Google Shape;1539;p32"/>
          <p:cNvCxnSpPr/>
          <p:nvPr/>
        </p:nvCxnSpPr>
        <p:spPr>
          <a:xfrm flipH="1">
            <a:off x="8197755" y="4780233"/>
            <a:ext cx="855662" cy="43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0" name="Google Shape;1540;p32"/>
          <p:cNvCxnSpPr/>
          <p:nvPr/>
        </p:nvCxnSpPr>
        <p:spPr>
          <a:xfrm flipH="1">
            <a:off x="8707342" y="4827858"/>
            <a:ext cx="563563" cy="393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1" name="Google Shape;1541;p32"/>
          <p:cNvCxnSpPr/>
          <p:nvPr/>
        </p:nvCxnSpPr>
        <p:spPr>
          <a:xfrm flipH="1">
            <a:off x="9245505" y="4834208"/>
            <a:ext cx="149225" cy="38258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2" name="Google Shape;1542;p32"/>
          <p:cNvCxnSpPr/>
          <p:nvPr/>
        </p:nvCxnSpPr>
        <p:spPr>
          <a:xfrm>
            <a:off x="9407430" y="3545158"/>
            <a:ext cx="0" cy="106203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3" name="Google Shape;1543;p32"/>
          <p:cNvSpPr txBox="1"/>
          <p:nvPr/>
        </p:nvSpPr>
        <p:spPr>
          <a:xfrm>
            <a:off x="7775480" y="4357958"/>
            <a:ext cx="11985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institutional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4" name="Google Shape;1544;p32"/>
          <p:cNvSpPr txBox="1"/>
          <p:nvPr/>
        </p:nvSpPr>
        <p:spPr>
          <a:xfrm>
            <a:off x="9783667" y="4738958"/>
            <a:ext cx="12906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Gbps LAN</a:t>
            </a:r>
            <a:endParaRPr b="0" i="0" sz="2400" u="none" cap="none" strike="noStrik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5" name="Google Shape;1545;p32"/>
          <p:cNvSpPr txBox="1"/>
          <p:nvPr/>
        </p:nvSpPr>
        <p:spPr>
          <a:xfrm>
            <a:off x="9409017" y="3734071"/>
            <a:ext cx="11906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1.54 Mbps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 link</a:t>
            </a:r>
            <a:endParaRPr b="0" i="0" sz="2400" u="none" cap="none" strike="noStrik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46" name="Google Shape;1546;p32"/>
          <p:cNvGrpSpPr/>
          <p:nvPr/>
        </p:nvGrpSpPr>
        <p:grpSpPr>
          <a:xfrm>
            <a:off x="7735792" y="2035446"/>
            <a:ext cx="377825" cy="576262"/>
            <a:chOff x="4140" y="429"/>
            <a:chExt cx="1425" cy="2396"/>
          </a:xfrm>
        </p:grpSpPr>
        <p:sp>
          <p:nvSpPr>
            <p:cNvPr id="1547" name="Google Shape;1547;p3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32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p3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0" name="Google Shape;1550;p3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1" name="Google Shape;1551;p32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52" name="Google Shape;1552;p32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1553" name="Google Shape;1553;p32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4" name="Google Shape;1554;p32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55" name="Google Shape;1555;p32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56" name="Google Shape;1556;p32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1557" name="Google Shape;1557;p32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8" name="Google Shape;1558;p32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59" name="Google Shape;1559;p32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0" name="Google Shape;1560;p32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61" name="Google Shape;1561;p32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1562" name="Google Shape;1562;p32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3" name="Google Shape;1563;p32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64" name="Google Shape;1564;p3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65" name="Google Shape;1565;p32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1566" name="Google Shape;1566;p32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7" name="Google Shape;1567;p32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68" name="Google Shape;1568;p32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9" name="Google Shape;1569;p3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p3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p32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2" name="Google Shape;1572;p3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3" name="Google Shape;1573;p32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4" name="Google Shape;1574;p32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5" name="Google Shape;1575;p32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6" name="Google Shape;1576;p32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7" name="Google Shape;1577;p32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8" name="Google Shape;1578;p32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79" name="Google Shape;1579;p32"/>
          <p:cNvGrpSpPr/>
          <p:nvPr/>
        </p:nvGrpSpPr>
        <p:grpSpPr>
          <a:xfrm>
            <a:off x="7885017" y="5148533"/>
            <a:ext cx="525463" cy="557213"/>
            <a:chOff x="-44" y="1473"/>
            <a:chExt cx="981" cy="1105"/>
          </a:xfrm>
        </p:grpSpPr>
        <p:pic>
          <p:nvPicPr>
            <p:cNvPr descr="desktop_computer_stylized_medium" id="1580" name="Google Shape;158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1" name="Google Shape;1581;p3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82" name="Google Shape;1582;p32"/>
          <p:cNvGrpSpPr/>
          <p:nvPr/>
        </p:nvGrpSpPr>
        <p:grpSpPr>
          <a:xfrm>
            <a:off x="8650192" y="1557608"/>
            <a:ext cx="377825" cy="576263"/>
            <a:chOff x="4140" y="429"/>
            <a:chExt cx="1425" cy="2396"/>
          </a:xfrm>
        </p:grpSpPr>
        <p:sp>
          <p:nvSpPr>
            <p:cNvPr id="1583" name="Google Shape;1583;p3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4" name="Google Shape;1584;p32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5" name="Google Shape;1585;p3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6" name="Google Shape;1586;p3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p32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88" name="Google Shape;1588;p32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1589" name="Google Shape;1589;p32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0" name="Google Shape;1590;p32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91" name="Google Shape;1591;p32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92" name="Google Shape;1592;p32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1593" name="Google Shape;1593;p32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4" name="Google Shape;1594;p32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95" name="Google Shape;1595;p32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6" name="Google Shape;1596;p32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97" name="Google Shape;1597;p32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1598" name="Google Shape;1598;p32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9" name="Google Shape;1599;p32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00" name="Google Shape;1600;p3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01" name="Google Shape;1601;p32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1602" name="Google Shape;1602;p32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3" name="Google Shape;1603;p32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04" name="Google Shape;1604;p32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5" name="Google Shape;1605;p3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6" name="Google Shape;1606;p3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7" name="Google Shape;1607;p32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p3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9" name="Google Shape;1609;p32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0" name="Google Shape;1610;p32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1" name="Google Shape;1611;p32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p32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32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4" name="Google Shape;1614;p32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15" name="Google Shape;1615;p32"/>
          <p:cNvGrpSpPr/>
          <p:nvPr/>
        </p:nvGrpSpPr>
        <p:grpSpPr>
          <a:xfrm>
            <a:off x="9402667" y="1589358"/>
            <a:ext cx="377825" cy="576263"/>
            <a:chOff x="4140" y="429"/>
            <a:chExt cx="1425" cy="2396"/>
          </a:xfrm>
        </p:grpSpPr>
        <p:sp>
          <p:nvSpPr>
            <p:cNvPr id="1616" name="Google Shape;1616;p3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7" name="Google Shape;1617;p32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8" name="Google Shape;1618;p3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p3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0" name="Google Shape;1620;p32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21" name="Google Shape;1621;p32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1622" name="Google Shape;1622;p32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3" name="Google Shape;1623;p32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24" name="Google Shape;1624;p32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25" name="Google Shape;1625;p32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1626" name="Google Shape;1626;p32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7" name="Google Shape;1627;p32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28" name="Google Shape;1628;p32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9" name="Google Shape;1629;p32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30" name="Google Shape;1630;p32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1631" name="Google Shape;1631;p32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2" name="Google Shape;1632;p32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33" name="Google Shape;1633;p3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34" name="Google Shape;1634;p32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1635" name="Google Shape;1635;p32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6" name="Google Shape;1636;p32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37" name="Google Shape;1637;p32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8" name="Google Shape;1638;p3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9" name="Google Shape;1639;p3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0" name="Google Shape;1640;p32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1" name="Google Shape;1641;p3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2" name="Google Shape;1642;p32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3" name="Google Shape;1643;p32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4" name="Google Shape;1644;p32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5" name="Google Shape;1645;p32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6" name="Google Shape;1646;p32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7" name="Google Shape;1647;p32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48" name="Google Shape;1648;p32"/>
          <p:cNvGrpSpPr/>
          <p:nvPr/>
        </p:nvGrpSpPr>
        <p:grpSpPr>
          <a:xfrm>
            <a:off x="10012267" y="1741758"/>
            <a:ext cx="377825" cy="576263"/>
            <a:chOff x="4140" y="429"/>
            <a:chExt cx="1425" cy="2396"/>
          </a:xfrm>
        </p:grpSpPr>
        <p:sp>
          <p:nvSpPr>
            <p:cNvPr id="1649" name="Google Shape;1649;p3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0" name="Google Shape;1650;p32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1" name="Google Shape;1651;p3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2" name="Google Shape;1652;p3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3" name="Google Shape;1653;p32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54" name="Google Shape;1654;p32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1655" name="Google Shape;1655;p32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6" name="Google Shape;1656;p32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57" name="Google Shape;1657;p32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58" name="Google Shape;1658;p32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1659" name="Google Shape;1659;p32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0" name="Google Shape;1660;p32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61" name="Google Shape;1661;p32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2" name="Google Shape;1662;p32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63" name="Google Shape;1663;p32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1664" name="Google Shape;1664;p32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5" name="Google Shape;1665;p32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66" name="Google Shape;1666;p3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67" name="Google Shape;1667;p32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1668" name="Google Shape;1668;p32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9" name="Google Shape;1669;p32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70" name="Google Shape;1670;p32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1" name="Google Shape;1671;p3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2" name="Google Shape;1672;p3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3" name="Google Shape;1673;p32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4" name="Google Shape;1674;p3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5" name="Google Shape;1675;p32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6" name="Google Shape;1676;p32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7" name="Google Shape;1677;p32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8" name="Google Shape;1678;p32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9" name="Google Shape;1679;p32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0" name="Google Shape;1680;p32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81" name="Google Shape;1681;p32"/>
          <p:cNvGrpSpPr/>
          <p:nvPr/>
        </p:nvGrpSpPr>
        <p:grpSpPr>
          <a:xfrm>
            <a:off x="10340880" y="2687908"/>
            <a:ext cx="377825" cy="576263"/>
            <a:chOff x="4140" y="429"/>
            <a:chExt cx="1425" cy="2396"/>
          </a:xfrm>
        </p:grpSpPr>
        <p:sp>
          <p:nvSpPr>
            <p:cNvPr id="1682" name="Google Shape;1682;p3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3" name="Google Shape;1683;p32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4" name="Google Shape;1684;p3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5" name="Google Shape;1685;p3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6" name="Google Shape;1686;p32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87" name="Google Shape;1687;p32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1688" name="Google Shape;1688;p32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9" name="Google Shape;1689;p32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90" name="Google Shape;1690;p32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91" name="Google Shape;1691;p32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1692" name="Google Shape;1692;p32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3" name="Google Shape;1693;p32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94" name="Google Shape;1694;p32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5" name="Google Shape;1695;p32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96" name="Google Shape;1696;p32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1697" name="Google Shape;1697;p32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8" name="Google Shape;1698;p32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99" name="Google Shape;1699;p3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00" name="Google Shape;1700;p32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1701" name="Google Shape;1701;p32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2" name="Google Shape;1702;p32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03" name="Google Shape;1703;p32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4" name="Google Shape;1704;p3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5" name="Google Shape;1705;p3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6" name="Google Shape;1706;p32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7" name="Google Shape;1707;p3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8" name="Google Shape;1708;p32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p32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0" name="Google Shape;1710;p32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p32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p32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3" name="Google Shape;1713;p32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14" name="Google Shape;1714;p32"/>
          <p:cNvGrpSpPr/>
          <p:nvPr/>
        </p:nvGrpSpPr>
        <p:grpSpPr>
          <a:xfrm>
            <a:off x="8396192" y="5170758"/>
            <a:ext cx="525463" cy="557213"/>
            <a:chOff x="-44" y="1473"/>
            <a:chExt cx="981" cy="1105"/>
          </a:xfrm>
        </p:grpSpPr>
        <p:pic>
          <p:nvPicPr>
            <p:cNvPr descr="desktop_computer_stylized_medium" id="1715" name="Google Shape;1715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6" name="Google Shape;1716;p3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17" name="Google Shape;1717;p32"/>
          <p:cNvGrpSpPr/>
          <p:nvPr/>
        </p:nvGrpSpPr>
        <p:grpSpPr>
          <a:xfrm>
            <a:off x="8920067" y="5159646"/>
            <a:ext cx="525463" cy="557212"/>
            <a:chOff x="-44" y="1473"/>
            <a:chExt cx="981" cy="1105"/>
          </a:xfrm>
        </p:grpSpPr>
        <p:pic>
          <p:nvPicPr>
            <p:cNvPr descr="desktop_computer_stylized_medium" id="1718" name="Google Shape;1718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9" name="Google Shape;1719;p3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20" name="Google Shape;1720;p32"/>
          <p:cNvGrpSpPr/>
          <p:nvPr/>
        </p:nvGrpSpPr>
        <p:grpSpPr>
          <a:xfrm>
            <a:off x="8988913" y="3095664"/>
            <a:ext cx="889089" cy="466491"/>
            <a:chOff x="7493876" y="2774731"/>
            <a:chExt cx="1481958" cy="894622"/>
          </a:xfrm>
        </p:grpSpPr>
        <p:sp>
          <p:nvSpPr>
            <p:cNvPr id="1721" name="Google Shape;1721;p3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722" name="Google Shape;1722;p3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723" name="Google Shape;1723;p3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724" name="Google Shape;1724;p3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5" name="Google Shape;1725;p3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6" name="Google Shape;1726;p3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7" name="Google Shape;1727;p3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28" name="Google Shape;1728;p32"/>
          <p:cNvGrpSpPr/>
          <p:nvPr/>
        </p:nvGrpSpPr>
        <p:grpSpPr>
          <a:xfrm>
            <a:off x="8967576" y="4437217"/>
            <a:ext cx="889089" cy="466491"/>
            <a:chOff x="7493876" y="2774731"/>
            <a:chExt cx="1481958" cy="894622"/>
          </a:xfrm>
        </p:grpSpPr>
        <p:sp>
          <p:nvSpPr>
            <p:cNvPr id="1729" name="Google Shape;1729;p3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730" name="Google Shape;1730;p3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731" name="Google Shape;1731;p3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732" name="Google Shape;1732;p3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3" name="Google Shape;1733;p3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4" name="Google Shape;1734;p3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5" name="Google Shape;1735;p3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36" name="Google Shape;1736;p32"/>
          <p:cNvGrpSpPr/>
          <p:nvPr/>
        </p:nvGrpSpPr>
        <p:grpSpPr>
          <a:xfrm>
            <a:off x="9339961" y="4807753"/>
            <a:ext cx="811212" cy="1033463"/>
            <a:chOff x="9001301" y="5550914"/>
            <a:chExt cx="811212" cy="1033463"/>
          </a:xfrm>
        </p:grpSpPr>
        <p:sp>
          <p:nvSpPr>
            <p:cNvPr id="1737" name="Google Shape;1737;p32"/>
            <p:cNvSpPr/>
            <p:nvPr/>
          </p:nvSpPr>
          <p:spPr>
            <a:xfrm>
              <a:off x="9001301" y="5550914"/>
              <a:ext cx="811212" cy="1033463"/>
            </a:xfrm>
            <a:prstGeom prst="ellipse">
              <a:avLst/>
            </a:prstGeom>
            <a:solidFill>
              <a:srgbClr val="C00000">
                <a:alpha val="4078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38" name="Google Shape;1738;p32"/>
            <p:cNvGrpSpPr/>
            <p:nvPr/>
          </p:nvGrpSpPr>
          <p:grpSpPr>
            <a:xfrm>
              <a:off x="9256094" y="5631762"/>
              <a:ext cx="377825" cy="800176"/>
              <a:chOff x="10907888" y="5189290"/>
              <a:chExt cx="377825" cy="800176"/>
            </a:xfrm>
          </p:grpSpPr>
          <p:cxnSp>
            <p:nvCxnSpPr>
              <p:cNvPr id="1739" name="Google Shape;1739;p32"/>
              <p:cNvCxnSpPr/>
              <p:nvPr/>
            </p:nvCxnSpPr>
            <p:spPr>
              <a:xfrm>
                <a:off x="10966625" y="5189290"/>
                <a:ext cx="76200" cy="322262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740" name="Google Shape;1740;p32"/>
              <p:cNvGrpSpPr/>
              <p:nvPr/>
            </p:nvGrpSpPr>
            <p:grpSpPr>
              <a:xfrm>
                <a:off x="10907888" y="5413204"/>
                <a:ext cx="377825" cy="576262"/>
                <a:chOff x="4140" y="429"/>
                <a:chExt cx="1425" cy="2396"/>
              </a:xfrm>
            </p:grpSpPr>
            <p:sp>
              <p:nvSpPr>
                <p:cNvPr id="1741" name="Google Shape;1741;p32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2" name="Google Shape;1742;p32"/>
                <p:cNvSpPr/>
                <p:nvPr/>
              </p:nvSpPr>
              <p:spPr>
                <a:xfrm>
                  <a:off x="4206" y="429"/>
                  <a:ext cx="1048" cy="2284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3" name="Google Shape;1743;p32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4" name="Google Shape;1744;p32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5" name="Google Shape;1745;p32"/>
                <p:cNvSpPr/>
                <p:nvPr/>
              </p:nvSpPr>
              <p:spPr>
                <a:xfrm>
                  <a:off x="4212" y="693"/>
                  <a:ext cx="599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746" name="Google Shape;1746;p32"/>
                <p:cNvGrpSpPr/>
                <p:nvPr/>
              </p:nvGrpSpPr>
              <p:grpSpPr>
                <a:xfrm>
                  <a:off x="4751" y="667"/>
                  <a:ext cx="581" cy="145"/>
                  <a:chOff x="616" y="2567"/>
                  <a:chExt cx="725" cy="139"/>
                </a:xfrm>
              </p:grpSpPr>
              <p:sp>
                <p:nvSpPr>
                  <p:cNvPr id="1747" name="Google Shape;1747;p32"/>
                  <p:cNvSpPr/>
                  <p:nvPr/>
                </p:nvSpPr>
                <p:spPr>
                  <a:xfrm>
                    <a:off x="616" y="2567"/>
                    <a:ext cx="725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48" name="Google Shape;1748;p32"/>
                  <p:cNvSpPr/>
                  <p:nvPr/>
                </p:nvSpPr>
                <p:spPr>
                  <a:xfrm>
                    <a:off x="631" y="2586"/>
                    <a:ext cx="695" cy="101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749" name="Google Shape;1749;p32"/>
                <p:cNvSpPr/>
                <p:nvPr/>
              </p:nvSpPr>
              <p:spPr>
                <a:xfrm>
                  <a:off x="4224" y="1016"/>
                  <a:ext cx="599" cy="53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750" name="Google Shape;1750;p32"/>
                <p:cNvGrpSpPr/>
                <p:nvPr/>
              </p:nvGrpSpPr>
              <p:grpSpPr>
                <a:xfrm>
                  <a:off x="4745" y="997"/>
                  <a:ext cx="581" cy="132"/>
                  <a:chOff x="611" y="2571"/>
                  <a:chExt cx="725" cy="137"/>
                </a:xfrm>
              </p:grpSpPr>
              <p:sp>
                <p:nvSpPr>
                  <p:cNvPr id="1751" name="Google Shape;1751;p32"/>
                  <p:cNvSpPr/>
                  <p:nvPr/>
                </p:nvSpPr>
                <p:spPr>
                  <a:xfrm>
                    <a:off x="611" y="2571"/>
                    <a:ext cx="725" cy="137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52" name="Google Shape;1752;p32"/>
                  <p:cNvSpPr/>
                  <p:nvPr/>
                </p:nvSpPr>
                <p:spPr>
                  <a:xfrm>
                    <a:off x="626" y="2584"/>
                    <a:ext cx="695" cy="11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753" name="Google Shape;1753;p32"/>
                <p:cNvSpPr/>
                <p:nvPr/>
              </p:nvSpPr>
              <p:spPr>
                <a:xfrm>
                  <a:off x="4218" y="1360"/>
                  <a:ext cx="593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54" name="Google Shape;1754;p32"/>
                <p:cNvSpPr/>
                <p:nvPr/>
              </p:nvSpPr>
              <p:spPr>
                <a:xfrm>
                  <a:off x="4230" y="1657"/>
                  <a:ext cx="593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755" name="Google Shape;1755;p32"/>
                <p:cNvGrpSpPr/>
                <p:nvPr/>
              </p:nvGrpSpPr>
              <p:grpSpPr>
                <a:xfrm>
                  <a:off x="4733" y="1630"/>
                  <a:ext cx="587" cy="146"/>
                  <a:chOff x="611" y="2571"/>
                  <a:chExt cx="731" cy="134"/>
                </a:xfrm>
              </p:grpSpPr>
              <p:sp>
                <p:nvSpPr>
                  <p:cNvPr id="1756" name="Google Shape;1756;p32"/>
                  <p:cNvSpPr/>
                  <p:nvPr/>
                </p:nvSpPr>
                <p:spPr>
                  <a:xfrm>
                    <a:off x="611" y="2571"/>
                    <a:ext cx="731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57" name="Google Shape;1757;p32"/>
                  <p:cNvSpPr/>
                  <p:nvPr/>
                </p:nvSpPr>
                <p:spPr>
                  <a:xfrm>
                    <a:off x="626" y="2589"/>
                    <a:ext cx="701" cy="9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758" name="Google Shape;1758;p32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759" name="Google Shape;1759;p32"/>
                <p:cNvGrpSpPr/>
                <p:nvPr/>
              </p:nvGrpSpPr>
              <p:grpSpPr>
                <a:xfrm>
                  <a:off x="4739" y="1327"/>
                  <a:ext cx="580" cy="139"/>
                  <a:chOff x="614" y="2568"/>
                  <a:chExt cx="723" cy="139"/>
                </a:xfrm>
              </p:grpSpPr>
              <p:sp>
                <p:nvSpPr>
                  <p:cNvPr id="1760" name="Google Shape;1760;p32"/>
                  <p:cNvSpPr/>
                  <p:nvPr/>
                </p:nvSpPr>
                <p:spPr>
                  <a:xfrm>
                    <a:off x="614" y="2568"/>
                    <a:ext cx="723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61" name="Google Shape;1761;p32"/>
                  <p:cNvSpPr/>
                  <p:nvPr/>
                </p:nvSpPr>
                <p:spPr>
                  <a:xfrm>
                    <a:off x="629" y="2581"/>
                    <a:ext cx="694" cy="10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762" name="Google Shape;1762;p32"/>
                <p:cNvSpPr/>
                <p:nvPr/>
              </p:nvSpPr>
              <p:spPr>
                <a:xfrm>
                  <a:off x="5248" y="429"/>
                  <a:ext cx="72" cy="2290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3" name="Google Shape;1763;p32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4" name="Google Shape;1764;p32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5" name="Google Shape;1765;p32"/>
                <p:cNvSpPr/>
                <p:nvPr/>
              </p:nvSpPr>
              <p:spPr>
                <a:xfrm>
                  <a:off x="5517" y="2614"/>
                  <a:ext cx="48" cy="92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6" name="Google Shape;1766;p32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7" name="Google Shape;1767;p32"/>
                <p:cNvSpPr/>
                <p:nvPr/>
              </p:nvSpPr>
              <p:spPr>
                <a:xfrm>
                  <a:off x="4140" y="2680"/>
                  <a:ext cx="1197" cy="14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8" name="Google Shape;1768;p32"/>
                <p:cNvSpPr/>
                <p:nvPr/>
              </p:nvSpPr>
              <p:spPr>
                <a:xfrm>
                  <a:off x="4206" y="2713"/>
                  <a:ext cx="1072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9" name="Google Shape;1769;p32"/>
                <p:cNvSpPr/>
                <p:nvPr/>
              </p:nvSpPr>
              <p:spPr>
                <a:xfrm>
                  <a:off x="4308" y="2383"/>
                  <a:ext cx="156" cy="145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70" name="Google Shape;1770;p32"/>
                <p:cNvSpPr/>
                <p:nvPr/>
              </p:nvSpPr>
              <p:spPr>
                <a:xfrm>
                  <a:off x="4487" y="2383"/>
                  <a:ext cx="162" cy="14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71" name="Google Shape;1771;p32"/>
                <p:cNvSpPr/>
                <p:nvPr/>
              </p:nvSpPr>
              <p:spPr>
                <a:xfrm>
                  <a:off x="4661" y="2383"/>
                  <a:ext cx="162" cy="139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72" name="Google Shape;1772;p32"/>
                <p:cNvSpPr/>
                <p:nvPr/>
              </p:nvSpPr>
              <p:spPr>
                <a:xfrm>
                  <a:off x="5062" y="1835"/>
                  <a:ext cx="84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1773" name="Google Shape;1773;p32"/>
          <p:cNvSpPr txBox="1"/>
          <p:nvPr/>
        </p:nvSpPr>
        <p:spPr>
          <a:xfrm>
            <a:off x="9443782" y="5793184"/>
            <a:ext cx="164179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local web cache</a:t>
            </a:r>
            <a:endParaRPr b="0" i="0" sz="24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4" name="Google Shape;1774;p32"/>
          <p:cNvSpPr txBox="1"/>
          <p:nvPr/>
        </p:nvSpPr>
        <p:spPr>
          <a:xfrm>
            <a:off x="889002" y="1405471"/>
            <a:ext cx="6166171" cy="1744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1587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 cache hit rate is 0.4:  </a:t>
            </a:r>
            <a:endParaRPr/>
          </a:p>
          <a:p>
            <a:pPr indent="-231775" lvl="0" marL="352425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40% requests served by cache, with low (msec) delay 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</p:txBody>
      </p:sp>
      <p:sp>
        <p:nvSpPr>
          <p:cNvPr id="1775" name="Google Shape;1775;p32"/>
          <p:cNvSpPr/>
          <p:nvPr/>
        </p:nvSpPr>
        <p:spPr>
          <a:xfrm>
            <a:off x="1010219" y="2685374"/>
            <a:ext cx="6168360" cy="1570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60% requests satisfied at origin </a:t>
            </a:r>
            <a:endParaRPr/>
          </a:p>
          <a:p>
            <a:pPr indent="-169863" lvl="1" marL="406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rate to browsers over access link 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= 0.6 * 1.50 Mbps  =  .9 Mbps </a:t>
            </a:r>
            <a:endParaRPr/>
          </a:p>
          <a:p>
            <a:pPr indent="-287338" lvl="1" marL="4730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access link utilization = 0.9/1.54 = .58 means low (msec) queueing delay at access link</a:t>
            </a:r>
            <a:endParaRPr/>
          </a:p>
        </p:txBody>
      </p:sp>
      <p:sp>
        <p:nvSpPr>
          <p:cNvPr id="1776" name="Google Shape;1776;p32"/>
          <p:cNvSpPr/>
          <p:nvPr/>
        </p:nvSpPr>
        <p:spPr>
          <a:xfrm>
            <a:off x="949326" y="4570944"/>
            <a:ext cx="6438281" cy="1492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0663" lvl="0" marL="28575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average end-end delay:</a:t>
            </a:r>
            <a:endParaRPr/>
          </a:p>
          <a:p>
            <a:pPr indent="0" lvl="1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0.6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(delay from origin servers)</a:t>
            </a:r>
            <a:endParaRPr/>
          </a:p>
          <a:p>
            <a:pPr indent="0" lvl="1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+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0.4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(delay when satisfied at cache)</a:t>
            </a:r>
            <a:endParaRPr/>
          </a:p>
          <a:p>
            <a:pPr indent="0" lvl="1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0.6 (2.01) + 0.4 (~msecs) = ~ 1.2 secs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</a:t>
            </a:r>
            <a:endParaRPr/>
          </a:p>
        </p:txBody>
      </p:sp>
      <p:sp>
        <p:nvSpPr>
          <p:cNvPr id="1777" name="Google Shape;1777;p32"/>
          <p:cNvSpPr txBox="1"/>
          <p:nvPr/>
        </p:nvSpPr>
        <p:spPr>
          <a:xfrm>
            <a:off x="990600" y="6119336"/>
            <a:ext cx="927497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lower average end-end delay than with 154 Mbps link (and cheaper too!)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2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" name="Google Shape;1783;p33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Conditional GET</a:t>
            </a:r>
            <a:endParaRPr sz="4400"/>
          </a:p>
        </p:txBody>
      </p:sp>
      <p:sp>
        <p:nvSpPr>
          <p:cNvPr id="1784" name="Google Shape;1784;p33"/>
          <p:cNvSpPr txBox="1"/>
          <p:nvPr/>
        </p:nvSpPr>
        <p:spPr>
          <a:xfrm>
            <a:off x="714337" y="1626575"/>
            <a:ext cx="5597253" cy="513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Goal: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don’t send object if cache has up-to-date cached version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object transmission delay (or use of network resources)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client:</a:t>
            </a:r>
            <a:r>
              <a:rPr lang="en-US" sz="2800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specify date of cached copy in HTTP request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If-modified-since: &lt;date&gt;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server:</a:t>
            </a:r>
            <a:r>
              <a:rPr lang="en-US" sz="2800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response contains no object if cached copy is up-to-date: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HTTP/1.0 304 Not Modified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85" name="Google Shape;1785;p33"/>
          <p:cNvCxnSpPr/>
          <p:nvPr/>
        </p:nvCxnSpPr>
        <p:spPr>
          <a:xfrm>
            <a:off x="7035490" y="2068251"/>
            <a:ext cx="3305175" cy="38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86" name="Google Shape;1786;p33"/>
          <p:cNvSpPr txBox="1"/>
          <p:nvPr/>
        </p:nvSpPr>
        <p:spPr>
          <a:xfrm>
            <a:off x="7341878" y="1952364"/>
            <a:ext cx="2681287" cy="62071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 request msg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If-modified-since: &lt;date&gt;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87" name="Google Shape;1787;p33"/>
          <p:cNvCxnSpPr/>
          <p:nvPr/>
        </p:nvCxnSpPr>
        <p:spPr>
          <a:xfrm flipH="1">
            <a:off x="7054540" y="2814376"/>
            <a:ext cx="3305175" cy="38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788" name="Google Shape;1788;p33"/>
          <p:cNvGrpSpPr/>
          <p:nvPr/>
        </p:nvGrpSpPr>
        <p:grpSpPr>
          <a:xfrm>
            <a:off x="7322828" y="2808026"/>
            <a:ext cx="2643187" cy="865188"/>
            <a:chOff x="2698" y="2036"/>
            <a:chExt cx="1665" cy="545"/>
          </a:xfrm>
        </p:grpSpPr>
        <p:sp>
          <p:nvSpPr>
            <p:cNvPr id="1789" name="Google Shape;1789;p33"/>
            <p:cNvSpPr/>
            <p:nvPr/>
          </p:nvSpPr>
          <p:spPr>
            <a:xfrm>
              <a:off x="2760" y="2071"/>
              <a:ext cx="1578" cy="46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0" name="Google Shape;1790;p33"/>
            <p:cNvSpPr txBox="1"/>
            <p:nvPr/>
          </p:nvSpPr>
          <p:spPr>
            <a:xfrm>
              <a:off x="2698" y="2036"/>
              <a:ext cx="1665" cy="54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HTTP response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1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HTTP/1.0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1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304 Not Modified</a:t>
              </a:r>
              <a:endParaRPr b="1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91" name="Google Shape;1791;p33"/>
          <p:cNvSpPr txBox="1"/>
          <p:nvPr/>
        </p:nvSpPr>
        <p:spPr>
          <a:xfrm>
            <a:off x="10420040" y="2103176"/>
            <a:ext cx="1047750" cy="1465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object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not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modified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&lt;date&gt;</a:t>
            </a:r>
            <a:endParaRPr/>
          </a:p>
        </p:txBody>
      </p:sp>
      <p:cxnSp>
        <p:nvCxnSpPr>
          <p:cNvPr id="1792" name="Google Shape;1792;p33"/>
          <p:cNvCxnSpPr/>
          <p:nvPr/>
        </p:nvCxnSpPr>
        <p:spPr>
          <a:xfrm>
            <a:off x="6792603" y="4033576"/>
            <a:ext cx="3905250" cy="0"/>
          </a:xfrm>
          <a:prstGeom prst="straightConnector1">
            <a:avLst/>
          </a:prstGeom>
          <a:noFill/>
          <a:ln cap="flat" cmpd="sng" w="28575">
            <a:solidFill>
              <a:srgbClr val="0000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93" name="Google Shape;1793;p33"/>
          <p:cNvCxnSpPr/>
          <p:nvPr/>
        </p:nvCxnSpPr>
        <p:spPr>
          <a:xfrm>
            <a:off x="7102165" y="4632064"/>
            <a:ext cx="3305175" cy="38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94" name="Google Shape;1794;p33"/>
          <p:cNvSpPr txBox="1"/>
          <p:nvPr/>
        </p:nvSpPr>
        <p:spPr>
          <a:xfrm>
            <a:off x="7346640" y="4516176"/>
            <a:ext cx="2681288" cy="62071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 request msg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If-modified-since: &lt;date&gt;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5" name="Google Shape;1795;p33"/>
          <p:cNvCxnSpPr/>
          <p:nvPr/>
        </p:nvCxnSpPr>
        <p:spPr>
          <a:xfrm flipH="1">
            <a:off x="7121215" y="5411526"/>
            <a:ext cx="3305175" cy="38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96" name="Google Shape;1796;p33"/>
          <p:cNvSpPr txBox="1"/>
          <p:nvPr/>
        </p:nvSpPr>
        <p:spPr>
          <a:xfrm>
            <a:off x="7365690" y="5355964"/>
            <a:ext cx="2643188" cy="123110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 response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HTTP/1.0 200 OK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&lt;data&gt;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7" name="Google Shape;1797;p33"/>
          <p:cNvSpPr txBox="1"/>
          <p:nvPr/>
        </p:nvSpPr>
        <p:spPr>
          <a:xfrm>
            <a:off x="10499415" y="4762239"/>
            <a:ext cx="104775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object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modified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after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&lt;date&gt;</a:t>
            </a:r>
            <a:endParaRPr/>
          </a:p>
        </p:txBody>
      </p:sp>
      <p:grpSp>
        <p:nvGrpSpPr>
          <p:cNvPr id="1798" name="Google Shape;1798;p33"/>
          <p:cNvGrpSpPr/>
          <p:nvPr/>
        </p:nvGrpSpPr>
        <p:grpSpPr>
          <a:xfrm>
            <a:off x="6311590" y="931601"/>
            <a:ext cx="4549154" cy="787400"/>
            <a:chOff x="6311590" y="931601"/>
            <a:chExt cx="4549154" cy="787400"/>
          </a:xfrm>
        </p:grpSpPr>
        <p:sp>
          <p:nvSpPr>
            <p:cNvPr id="1799" name="Google Shape;1799;p33"/>
            <p:cNvSpPr txBox="1"/>
            <p:nvPr/>
          </p:nvSpPr>
          <p:spPr>
            <a:xfrm>
              <a:off x="6311590" y="1015739"/>
              <a:ext cx="777875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client</a:t>
              </a:r>
              <a:endParaRPr/>
            </a:p>
          </p:txBody>
        </p:sp>
        <p:sp>
          <p:nvSpPr>
            <p:cNvPr id="1800" name="Google Shape;1800;p33"/>
            <p:cNvSpPr txBox="1"/>
            <p:nvPr/>
          </p:nvSpPr>
          <p:spPr>
            <a:xfrm>
              <a:off x="10023785" y="1010976"/>
              <a:ext cx="836959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server</a:t>
              </a:r>
              <a:endParaRPr/>
            </a:p>
          </p:txBody>
        </p:sp>
        <p:grpSp>
          <p:nvGrpSpPr>
            <p:cNvPr id="1801" name="Google Shape;1801;p33"/>
            <p:cNvGrpSpPr/>
            <p:nvPr/>
          </p:nvGrpSpPr>
          <p:grpSpPr>
            <a:xfrm>
              <a:off x="9588190" y="931601"/>
              <a:ext cx="422275" cy="685800"/>
              <a:chOff x="4140" y="429"/>
              <a:chExt cx="1425" cy="2396"/>
            </a:xfrm>
          </p:grpSpPr>
          <p:sp>
            <p:nvSpPr>
              <p:cNvPr id="1802" name="Google Shape;1802;p33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3" name="Google Shape;1803;p33"/>
              <p:cNvSpPr/>
              <p:nvPr/>
            </p:nvSpPr>
            <p:spPr>
              <a:xfrm>
                <a:off x="4204" y="429"/>
                <a:ext cx="1050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4" name="Google Shape;1804;p33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5" name="Google Shape;1805;p33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6" name="Google Shape;1806;p33"/>
              <p:cNvSpPr/>
              <p:nvPr/>
            </p:nvSpPr>
            <p:spPr>
              <a:xfrm>
                <a:off x="4210" y="695"/>
                <a:ext cx="600" cy="44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807" name="Google Shape;1807;p33"/>
              <p:cNvGrpSpPr/>
              <p:nvPr/>
            </p:nvGrpSpPr>
            <p:grpSpPr>
              <a:xfrm>
                <a:off x="4751" y="668"/>
                <a:ext cx="579" cy="144"/>
                <a:chOff x="616" y="2568"/>
                <a:chExt cx="722" cy="138"/>
              </a:xfrm>
            </p:grpSpPr>
            <p:sp>
              <p:nvSpPr>
                <p:cNvPr id="1808" name="Google Shape;1808;p33"/>
                <p:cNvSpPr/>
                <p:nvPr/>
              </p:nvSpPr>
              <p:spPr>
                <a:xfrm>
                  <a:off x="616" y="2568"/>
                  <a:ext cx="722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09" name="Google Shape;1809;p33"/>
                <p:cNvSpPr/>
                <p:nvPr/>
              </p:nvSpPr>
              <p:spPr>
                <a:xfrm>
                  <a:off x="630" y="2583"/>
                  <a:ext cx="689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810" name="Google Shape;1810;p33"/>
              <p:cNvSpPr/>
              <p:nvPr/>
            </p:nvSpPr>
            <p:spPr>
              <a:xfrm>
                <a:off x="4226" y="1017"/>
                <a:ext cx="595" cy="50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811" name="Google Shape;1811;p33"/>
              <p:cNvGrpSpPr/>
              <p:nvPr/>
            </p:nvGrpSpPr>
            <p:grpSpPr>
              <a:xfrm>
                <a:off x="4745" y="995"/>
                <a:ext cx="584" cy="133"/>
                <a:chOff x="612" y="2569"/>
                <a:chExt cx="729" cy="138"/>
              </a:xfrm>
            </p:grpSpPr>
            <p:sp>
              <p:nvSpPr>
                <p:cNvPr id="1812" name="Google Shape;1812;p33"/>
                <p:cNvSpPr/>
                <p:nvPr/>
              </p:nvSpPr>
              <p:spPr>
                <a:xfrm>
                  <a:off x="612" y="2569"/>
                  <a:ext cx="729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3" name="Google Shape;1813;p33"/>
                <p:cNvSpPr/>
                <p:nvPr/>
              </p:nvSpPr>
              <p:spPr>
                <a:xfrm>
                  <a:off x="625" y="2586"/>
                  <a:ext cx="695" cy="10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814" name="Google Shape;1814;p33"/>
              <p:cNvSpPr/>
              <p:nvPr/>
            </p:nvSpPr>
            <p:spPr>
              <a:xfrm>
                <a:off x="4215" y="1355"/>
                <a:ext cx="600" cy="50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5" name="Google Shape;1815;p33"/>
              <p:cNvSpPr/>
              <p:nvPr/>
            </p:nvSpPr>
            <p:spPr>
              <a:xfrm>
                <a:off x="4226" y="1655"/>
                <a:ext cx="600" cy="50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816" name="Google Shape;1816;p33"/>
              <p:cNvGrpSpPr/>
              <p:nvPr/>
            </p:nvGrpSpPr>
            <p:grpSpPr>
              <a:xfrm>
                <a:off x="4735" y="1627"/>
                <a:ext cx="584" cy="150"/>
                <a:chOff x="614" y="2568"/>
                <a:chExt cx="727" cy="138"/>
              </a:xfrm>
            </p:grpSpPr>
            <p:sp>
              <p:nvSpPr>
                <p:cNvPr id="1817" name="Google Shape;1817;p33"/>
                <p:cNvSpPr/>
                <p:nvPr/>
              </p:nvSpPr>
              <p:spPr>
                <a:xfrm>
                  <a:off x="614" y="2568"/>
                  <a:ext cx="727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8" name="Google Shape;1818;p33"/>
                <p:cNvSpPr/>
                <p:nvPr/>
              </p:nvSpPr>
              <p:spPr>
                <a:xfrm>
                  <a:off x="627" y="2583"/>
                  <a:ext cx="694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819" name="Google Shape;1819;p33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820" name="Google Shape;1820;p33"/>
              <p:cNvGrpSpPr/>
              <p:nvPr/>
            </p:nvGrpSpPr>
            <p:grpSpPr>
              <a:xfrm>
                <a:off x="4740" y="1327"/>
                <a:ext cx="579" cy="139"/>
                <a:chOff x="615" y="2568"/>
                <a:chExt cx="721" cy="139"/>
              </a:xfrm>
            </p:grpSpPr>
            <p:sp>
              <p:nvSpPr>
                <p:cNvPr id="1821" name="Google Shape;1821;p33"/>
                <p:cNvSpPr/>
                <p:nvPr/>
              </p:nvSpPr>
              <p:spPr>
                <a:xfrm>
                  <a:off x="615" y="2568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2" name="Google Shape;1822;p33"/>
                <p:cNvSpPr/>
                <p:nvPr/>
              </p:nvSpPr>
              <p:spPr>
                <a:xfrm>
                  <a:off x="629" y="2585"/>
                  <a:ext cx="687" cy="10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823" name="Google Shape;1823;p33"/>
              <p:cNvSpPr/>
              <p:nvPr/>
            </p:nvSpPr>
            <p:spPr>
              <a:xfrm>
                <a:off x="5249" y="429"/>
                <a:ext cx="70" cy="2291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4" name="Google Shape;1824;p33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5" name="Google Shape;1825;p33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6" name="Google Shape;1826;p33"/>
              <p:cNvSpPr/>
              <p:nvPr/>
            </p:nvSpPr>
            <p:spPr>
              <a:xfrm>
                <a:off x="5517" y="2609"/>
                <a:ext cx="48" cy="10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7" name="Google Shape;1827;p33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8" name="Google Shape;1828;p33"/>
              <p:cNvSpPr/>
              <p:nvPr/>
            </p:nvSpPr>
            <p:spPr>
              <a:xfrm>
                <a:off x="4140" y="2675"/>
                <a:ext cx="1200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9" name="Google Shape;1829;p33"/>
              <p:cNvSpPr/>
              <p:nvPr/>
            </p:nvSpPr>
            <p:spPr>
              <a:xfrm>
                <a:off x="4204" y="2709"/>
                <a:ext cx="1071" cy="8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0" name="Google Shape;1830;p33"/>
              <p:cNvSpPr/>
              <p:nvPr/>
            </p:nvSpPr>
            <p:spPr>
              <a:xfrm>
                <a:off x="4306" y="2381"/>
                <a:ext cx="161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1" name="Google Shape;1831;p33"/>
              <p:cNvSpPr/>
              <p:nvPr/>
            </p:nvSpPr>
            <p:spPr>
              <a:xfrm>
                <a:off x="4488" y="2381"/>
                <a:ext cx="155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2" name="Google Shape;1832;p33"/>
              <p:cNvSpPr/>
              <p:nvPr/>
            </p:nvSpPr>
            <p:spPr>
              <a:xfrm>
                <a:off x="4660" y="2381"/>
                <a:ext cx="161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3" name="Google Shape;1833;p33"/>
              <p:cNvSpPr/>
              <p:nvPr/>
            </p:nvSpPr>
            <p:spPr>
              <a:xfrm>
                <a:off x="5061" y="1838"/>
                <a:ext cx="86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34" name="Google Shape;1834;p33"/>
            <p:cNvGrpSpPr/>
            <p:nvPr/>
          </p:nvGrpSpPr>
          <p:grpSpPr>
            <a:xfrm>
              <a:off x="6887853" y="976051"/>
              <a:ext cx="742950" cy="742950"/>
              <a:chOff x="-44" y="1473"/>
              <a:chExt cx="981" cy="1105"/>
            </a:xfrm>
          </p:grpSpPr>
          <p:pic>
            <p:nvPicPr>
              <p:cNvPr descr="desktop_computer_stylized_medium" id="1835" name="Google Shape;1835;p3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36" name="Google Shape;1836;p3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1" name="Shape 1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2" name="Google Shape;1842;p34"/>
          <p:cNvSpPr txBox="1"/>
          <p:nvPr>
            <p:ph type="title"/>
          </p:nvPr>
        </p:nvSpPr>
        <p:spPr>
          <a:xfrm>
            <a:off x="651417" y="223762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HTTP/2</a:t>
            </a:r>
            <a:endParaRPr sz="4400"/>
          </a:p>
        </p:txBody>
      </p:sp>
      <p:sp>
        <p:nvSpPr>
          <p:cNvPr id="1843" name="Google Shape;1843;p34"/>
          <p:cNvSpPr txBox="1"/>
          <p:nvPr/>
        </p:nvSpPr>
        <p:spPr>
          <a:xfrm>
            <a:off x="572119" y="1236917"/>
            <a:ext cx="11117107" cy="50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rPr i="1" lang="en-US" sz="3600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Key goal: 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decreased delay in multi-object HTTP requests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4" name="Google Shape;1844;p34"/>
          <p:cNvSpPr txBox="1"/>
          <p:nvPr/>
        </p:nvSpPr>
        <p:spPr>
          <a:xfrm>
            <a:off x="914400" y="2142059"/>
            <a:ext cx="10654118" cy="3930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95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i="1" lang="en-US" sz="3200" u="sng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HTTP1.1:</a:t>
            </a:r>
            <a:r>
              <a:rPr lang="en-US" sz="3200" u="sng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introduced </a:t>
            </a:r>
            <a:r>
              <a:rPr lang="en-US" sz="32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multiple, pipelined GETs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over single TCP connection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 responds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in-order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(FCFS: first-come-first-served scheduling) to GET requests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FCFS, small object may have to wait for transmission  (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head-of-line (HOL) blocking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behind large object(s)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loss recovery (retransmitting lost TCP segments) stalls object transmission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9" name="Shape 1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Google Shape;1850;p35"/>
          <p:cNvSpPr txBox="1"/>
          <p:nvPr>
            <p:ph type="title"/>
          </p:nvPr>
        </p:nvSpPr>
        <p:spPr>
          <a:xfrm>
            <a:off x="651417" y="223762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HTTP/2</a:t>
            </a:r>
            <a:endParaRPr sz="4400"/>
          </a:p>
        </p:txBody>
      </p:sp>
      <p:sp>
        <p:nvSpPr>
          <p:cNvPr id="1851" name="Google Shape;1851;p35"/>
          <p:cNvSpPr txBox="1"/>
          <p:nvPr/>
        </p:nvSpPr>
        <p:spPr>
          <a:xfrm>
            <a:off x="901486" y="2150525"/>
            <a:ext cx="10458375" cy="4487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95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i="1" lang="en-US" sz="3200" u="sng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HTTP/2: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[RFC 7540, 2015]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increased flexibility at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sending objects to client:</a:t>
            </a:r>
            <a:endParaRPr/>
          </a:p>
          <a:p>
            <a:pPr indent="-2809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methods, status codes, most header fields unchanged from HTTP 1.1</a:t>
            </a:r>
            <a:endParaRPr/>
          </a:p>
          <a:p>
            <a:pPr indent="-2809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transmission order of requested objects based on client-specified object priority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(not necessarily FCFS)</a:t>
            </a:r>
            <a:endParaRPr/>
          </a:p>
          <a:p>
            <a:pPr indent="-2809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push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unrequested objects to client</a:t>
            </a:r>
            <a:endParaRPr/>
          </a:p>
          <a:p>
            <a:pPr indent="-2809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divide objects into frames, schedule frames to mitigate HOL blocking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2" name="Google Shape;1852;p35"/>
          <p:cNvSpPr txBox="1"/>
          <p:nvPr/>
        </p:nvSpPr>
        <p:spPr>
          <a:xfrm>
            <a:off x="572119" y="1236917"/>
            <a:ext cx="11117107" cy="50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rPr i="1" lang="en-US" sz="3600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Key goal: 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decreased delay in multi-object HTTP requests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7" name="Shape 1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Google Shape;1858;p36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HTTP/2: mitigating HOL blocking</a:t>
            </a:r>
            <a:endParaRPr sz="4400"/>
          </a:p>
        </p:txBody>
      </p:sp>
      <p:sp>
        <p:nvSpPr>
          <p:cNvPr id="1859" name="Google Shape;1859;p36"/>
          <p:cNvSpPr txBox="1"/>
          <p:nvPr/>
        </p:nvSpPr>
        <p:spPr>
          <a:xfrm>
            <a:off x="798691" y="1274501"/>
            <a:ext cx="11117107" cy="50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 1.1: client requests 1 large object (e.g., video file) and 3 smaller objects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0" name="Google Shape;1860;p36"/>
          <p:cNvSpPr txBox="1"/>
          <p:nvPr/>
        </p:nvSpPr>
        <p:spPr>
          <a:xfrm>
            <a:off x="2900584" y="2902508"/>
            <a:ext cx="7778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/>
          </a:p>
        </p:txBody>
      </p:sp>
      <p:sp>
        <p:nvSpPr>
          <p:cNvPr id="1861" name="Google Shape;1861;p36"/>
          <p:cNvSpPr txBox="1"/>
          <p:nvPr/>
        </p:nvSpPr>
        <p:spPr>
          <a:xfrm>
            <a:off x="7029972" y="1892257"/>
            <a:ext cx="83695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/>
          </a:p>
        </p:txBody>
      </p:sp>
      <p:grpSp>
        <p:nvGrpSpPr>
          <p:cNvPr id="1862" name="Google Shape;1862;p36"/>
          <p:cNvGrpSpPr/>
          <p:nvPr/>
        </p:nvGrpSpPr>
        <p:grpSpPr>
          <a:xfrm>
            <a:off x="7234967" y="2262203"/>
            <a:ext cx="422275" cy="685800"/>
            <a:chOff x="4140" y="429"/>
            <a:chExt cx="1425" cy="2396"/>
          </a:xfrm>
        </p:grpSpPr>
        <p:sp>
          <p:nvSpPr>
            <p:cNvPr id="1863" name="Google Shape;1863;p3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4" name="Google Shape;1864;p36"/>
            <p:cNvSpPr/>
            <p:nvPr/>
          </p:nvSpPr>
          <p:spPr>
            <a:xfrm>
              <a:off x="4204" y="429"/>
              <a:ext cx="1050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5" name="Google Shape;1865;p3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6" name="Google Shape;1866;p3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7" name="Google Shape;1867;p36"/>
            <p:cNvSpPr/>
            <p:nvPr/>
          </p:nvSpPr>
          <p:spPr>
            <a:xfrm>
              <a:off x="4210" y="695"/>
              <a:ext cx="600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68" name="Google Shape;1868;p36"/>
            <p:cNvGrpSpPr/>
            <p:nvPr/>
          </p:nvGrpSpPr>
          <p:grpSpPr>
            <a:xfrm>
              <a:off x="4751" y="668"/>
              <a:ext cx="579" cy="144"/>
              <a:chOff x="616" y="2568"/>
              <a:chExt cx="722" cy="138"/>
            </a:xfrm>
          </p:grpSpPr>
          <p:sp>
            <p:nvSpPr>
              <p:cNvPr id="1869" name="Google Shape;1869;p36"/>
              <p:cNvSpPr/>
              <p:nvPr/>
            </p:nvSpPr>
            <p:spPr>
              <a:xfrm>
                <a:off x="616" y="2568"/>
                <a:ext cx="722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0" name="Google Shape;1870;p36"/>
              <p:cNvSpPr/>
              <p:nvPr/>
            </p:nvSpPr>
            <p:spPr>
              <a:xfrm>
                <a:off x="630" y="2583"/>
                <a:ext cx="689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71" name="Google Shape;1871;p36"/>
            <p:cNvSpPr/>
            <p:nvPr/>
          </p:nvSpPr>
          <p:spPr>
            <a:xfrm>
              <a:off x="4226" y="1017"/>
              <a:ext cx="595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72" name="Google Shape;1872;p36"/>
            <p:cNvGrpSpPr/>
            <p:nvPr/>
          </p:nvGrpSpPr>
          <p:grpSpPr>
            <a:xfrm>
              <a:off x="4745" y="995"/>
              <a:ext cx="584" cy="133"/>
              <a:chOff x="612" y="2569"/>
              <a:chExt cx="729" cy="138"/>
            </a:xfrm>
          </p:grpSpPr>
          <p:sp>
            <p:nvSpPr>
              <p:cNvPr id="1873" name="Google Shape;1873;p36"/>
              <p:cNvSpPr/>
              <p:nvPr/>
            </p:nvSpPr>
            <p:spPr>
              <a:xfrm>
                <a:off x="612" y="2569"/>
                <a:ext cx="729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4" name="Google Shape;1874;p36"/>
              <p:cNvSpPr/>
              <p:nvPr/>
            </p:nvSpPr>
            <p:spPr>
              <a:xfrm>
                <a:off x="625" y="2586"/>
                <a:ext cx="695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75" name="Google Shape;1875;p36"/>
            <p:cNvSpPr/>
            <p:nvPr/>
          </p:nvSpPr>
          <p:spPr>
            <a:xfrm>
              <a:off x="4215" y="1355"/>
              <a:ext cx="600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6" name="Google Shape;1876;p36"/>
            <p:cNvSpPr/>
            <p:nvPr/>
          </p:nvSpPr>
          <p:spPr>
            <a:xfrm>
              <a:off x="4226" y="1655"/>
              <a:ext cx="600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77" name="Google Shape;1877;p36"/>
            <p:cNvGrpSpPr/>
            <p:nvPr/>
          </p:nvGrpSpPr>
          <p:grpSpPr>
            <a:xfrm>
              <a:off x="4735" y="1627"/>
              <a:ext cx="584" cy="150"/>
              <a:chOff x="614" y="2568"/>
              <a:chExt cx="727" cy="138"/>
            </a:xfrm>
          </p:grpSpPr>
          <p:sp>
            <p:nvSpPr>
              <p:cNvPr id="1878" name="Google Shape;1878;p36"/>
              <p:cNvSpPr/>
              <p:nvPr/>
            </p:nvSpPr>
            <p:spPr>
              <a:xfrm>
                <a:off x="614" y="2568"/>
                <a:ext cx="727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9" name="Google Shape;1879;p36"/>
              <p:cNvSpPr/>
              <p:nvPr/>
            </p:nvSpPr>
            <p:spPr>
              <a:xfrm>
                <a:off x="627" y="2583"/>
                <a:ext cx="694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80" name="Google Shape;1880;p3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81" name="Google Shape;1881;p36"/>
            <p:cNvGrpSpPr/>
            <p:nvPr/>
          </p:nvGrpSpPr>
          <p:grpSpPr>
            <a:xfrm>
              <a:off x="4740" y="1327"/>
              <a:ext cx="579" cy="139"/>
              <a:chOff x="615" y="2568"/>
              <a:chExt cx="721" cy="139"/>
            </a:xfrm>
          </p:grpSpPr>
          <p:sp>
            <p:nvSpPr>
              <p:cNvPr id="1882" name="Google Shape;1882;p36"/>
              <p:cNvSpPr/>
              <p:nvPr/>
            </p:nvSpPr>
            <p:spPr>
              <a:xfrm>
                <a:off x="615" y="2568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3" name="Google Shape;1883;p36"/>
              <p:cNvSpPr/>
              <p:nvPr/>
            </p:nvSpPr>
            <p:spPr>
              <a:xfrm>
                <a:off x="629" y="2585"/>
                <a:ext cx="687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84" name="Google Shape;1884;p36"/>
            <p:cNvSpPr/>
            <p:nvPr/>
          </p:nvSpPr>
          <p:spPr>
            <a:xfrm>
              <a:off x="5249" y="429"/>
              <a:ext cx="70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5" name="Google Shape;1885;p3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6" name="Google Shape;1886;p3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7" name="Google Shape;1887;p36"/>
            <p:cNvSpPr/>
            <p:nvPr/>
          </p:nvSpPr>
          <p:spPr>
            <a:xfrm>
              <a:off x="5517" y="2609"/>
              <a:ext cx="48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8" name="Google Shape;1888;p3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9" name="Google Shape;1889;p36"/>
            <p:cNvSpPr/>
            <p:nvPr/>
          </p:nvSpPr>
          <p:spPr>
            <a:xfrm>
              <a:off x="4140" y="2675"/>
              <a:ext cx="1200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0" name="Google Shape;1890;p36"/>
            <p:cNvSpPr/>
            <p:nvPr/>
          </p:nvSpPr>
          <p:spPr>
            <a:xfrm>
              <a:off x="4204" y="2709"/>
              <a:ext cx="1071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1" name="Google Shape;1891;p36"/>
            <p:cNvSpPr/>
            <p:nvPr/>
          </p:nvSpPr>
          <p:spPr>
            <a:xfrm>
              <a:off x="4306" y="2381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2" name="Google Shape;1892;p36"/>
            <p:cNvSpPr/>
            <p:nvPr/>
          </p:nvSpPr>
          <p:spPr>
            <a:xfrm>
              <a:off x="4488" y="2381"/>
              <a:ext cx="155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3" name="Google Shape;1893;p36"/>
            <p:cNvSpPr/>
            <p:nvPr/>
          </p:nvSpPr>
          <p:spPr>
            <a:xfrm>
              <a:off x="4660" y="2381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4" name="Google Shape;1894;p36"/>
            <p:cNvSpPr/>
            <p:nvPr/>
          </p:nvSpPr>
          <p:spPr>
            <a:xfrm>
              <a:off x="5061" y="1838"/>
              <a:ext cx="86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95" name="Google Shape;1895;p36"/>
          <p:cNvGrpSpPr/>
          <p:nvPr/>
        </p:nvGrpSpPr>
        <p:grpSpPr>
          <a:xfrm>
            <a:off x="2885332" y="2291964"/>
            <a:ext cx="742950" cy="742950"/>
            <a:chOff x="-44" y="1473"/>
            <a:chExt cx="981" cy="1105"/>
          </a:xfrm>
        </p:grpSpPr>
        <p:pic>
          <p:nvPicPr>
            <p:cNvPr descr="desktop_computer_stylized_medium" id="1896" name="Google Shape;1896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7" name="Google Shape;1897;p3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898" name="Google Shape;1898;p36"/>
          <p:cNvCxnSpPr/>
          <p:nvPr/>
        </p:nvCxnSpPr>
        <p:spPr>
          <a:xfrm>
            <a:off x="3526536" y="2791484"/>
            <a:ext cx="3910012" cy="26074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99" name="Google Shape;1899;p36"/>
          <p:cNvSpPr txBox="1"/>
          <p:nvPr/>
        </p:nvSpPr>
        <p:spPr>
          <a:xfrm>
            <a:off x="6093263" y="2667596"/>
            <a:ext cx="892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 O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900" name="Google Shape;1900;p36"/>
          <p:cNvSpPr txBox="1"/>
          <p:nvPr/>
        </p:nvSpPr>
        <p:spPr>
          <a:xfrm>
            <a:off x="5291796" y="2596769"/>
            <a:ext cx="892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 O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901" name="Google Shape;1901;p36"/>
          <p:cNvSpPr txBox="1"/>
          <p:nvPr/>
        </p:nvSpPr>
        <p:spPr>
          <a:xfrm>
            <a:off x="4513773" y="2538104"/>
            <a:ext cx="892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 O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902" name="Google Shape;1902;p36"/>
          <p:cNvSpPr txBox="1"/>
          <p:nvPr/>
        </p:nvSpPr>
        <p:spPr>
          <a:xfrm>
            <a:off x="3721264" y="2473869"/>
            <a:ext cx="892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 O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903" name="Google Shape;1903;p36"/>
          <p:cNvSpPr/>
          <p:nvPr/>
        </p:nvSpPr>
        <p:spPr>
          <a:xfrm>
            <a:off x="8620343" y="3108868"/>
            <a:ext cx="892098" cy="19713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4" name="Google Shape;1904;p36"/>
          <p:cNvSpPr/>
          <p:nvPr/>
        </p:nvSpPr>
        <p:spPr>
          <a:xfrm>
            <a:off x="8624001" y="5094824"/>
            <a:ext cx="892097" cy="1103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05" name="Google Shape;1905;p36"/>
          <p:cNvGrpSpPr/>
          <p:nvPr/>
        </p:nvGrpSpPr>
        <p:grpSpPr>
          <a:xfrm>
            <a:off x="3400914" y="3064264"/>
            <a:ext cx="4052925" cy="2231577"/>
            <a:chOff x="3400914" y="3064264"/>
            <a:chExt cx="4052925" cy="2231577"/>
          </a:xfrm>
        </p:grpSpPr>
        <p:cxnSp>
          <p:nvCxnSpPr>
            <p:cNvPr id="1906" name="Google Shape;1906;p36"/>
            <p:cNvCxnSpPr/>
            <p:nvPr/>
          </p:nvCxnSpPr>
          <p:spPr>
            <a:xfrm flipH="1">
              <a:off x="3400914" y="5022530"/>
              <a:ext cx="4052925" cy="27331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907" name="Google Shape;1907;p36"/>
            <p:cNvSpPr/>
            <p:nvPr/>
          </p:nvSpPr>
          <p:spPr>
            <a:xfrm>
              <a:off x="3517643" y="3064264"/>
              <a:ext cx="3868169" cy="2226179"/>
            </a:xfrm>
            <a:custGeom>
              <a:rect b="b" l="l" r="r" t="t"/>
              <a:pathLst>
                <a:path extrusionOk="0" h="2226179" w="3868169">
                  <a:moveTo>
                    <a:pt x="3867383" y="0"/>
                  </a:moveTo>
                  <a:lnTo>
                    <a:pt x="411" y="273465"/>
                  </a:lnTo>
                  <a:cubicBezTo>
                    <a:pt x="1835" y="927218"/>
                    <a:pt x="-1013" y="1572426"/>
                    <a:pt x="411" y="2226179"/>
                  </a:cubicBezTo>
                  <a:lnTo>
                    <a:pt x="3863110" y="1969806"/>
                  </a:lnTo>
                  <a:cubicBezTo>
                    <a:pt x="3864534" y="1311780"/>
                    <a:pt x="3870232" y="615297"/>
                    <a:pt x="3867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08" name="Google Shape;1908;p36"/>
          <p:cNvGrpSpPr/>
          <p:nvPr/>
        </p:nvGrpSpPr>
        <p:grpSpPr>
          <a:xfrm>
            <a:off x="3389679" y="5054301"/>
            <a:ext cx="4064160" cy="386589"/>
            <a:chOff x="3389679" y="5054301"/>
            <a:chExt cx="4064160" cy="386589"/>
          </a:xfrm>
        </p:grpSpPr>
        <p:cxnSp>
          <p:nvCxnSpPr>
            <p:cNvPr id="1909" name="Google Shape;1909;p36"/>
            <p:cNvCxnSpPr/>
            <p:nvPr/>
          </p:nvCxnSpPr>
          <p:spPr>
            <a:xfrm flipH="1">
              <a:off x="3389679" y="5161562"/>
              <a:ext cx="4064160" cy="27932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910" name="Google Shape;1910;p36"/>
            <p:cNvSpPr/>
            <p:nvPr/>
          </p:nvSpPr>
          <p:spPr>
            <a:xfrm>
              <a:off x="3519116" y="5054301"/>
              <a:ext cx="3875928" cy="375356"/>
            </a:xfrm>
            <a:custGeom>
              <a:rect b="b" l="l" r="r" t="t"/>
              <a:pathLst>
                <a:path extrusionOk="0" h="6552362" w="3875928">
                  <a:moveTo>
                    <a:pt x="3875928" y="0"/>
                  </a:moveTo>
                  <a:lnTo>
                    <a:pt x="412" y="4599620"/>
                  </a:lnTo>
                  <a:cubicBezTo>
                    <a:pt x="1836" y="5253373"/>
                    <a:pt x="-1014" y="5898609"/>
                    <a:pt x="410" y="6552362"/>
                  </a:cubicBezTo>
                  <a:lnTo>
                    <a:pt x="3871655" y="1974078"/>
                  </a:lnTo>
                  <a:cubicBezTo>
                    <a:pt x="3873079" y="1316052"/>
                    <a:pt x="3874504" y="658026"/>
                    <a:pt x="38759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11" name="Google Shape;1911;p36"/>
          <p:cNvGrpSpPr/>
          <p:nvPr/>
        </p:nvGrpSpPr>
        <p:grpSpPr>
          <a:xfrm>
            <a:off x="3401181" y="5445216"/>
            <a:ext cx="4028803" cy="375356"/>
            <a:chOff x="3401181" y="5445216"/>
            <a:chExt cx="4028803" cy="375356"/>
          </a:xfrm>
        </p:grpSpPr>
        <p:cxnSp>
          <p:nvCxnSpPr>
            <p:cNvPr id="1912" name="Google Shape;1912;p36"/>
            <p:cNvCxnSpPr/>
            <p:nvPr/>
          </p:nvCxnSpPr>
          <p:spPr>
            <a:xfrm flipH="1">
              <a:off x="3401181" y="5534648"/>
              <a:ext cx="4028803" cy="2699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913" name="Google Shape;1913;p36"/>
            <p:cNvSpPr/>
            <p:nvPr/>
          </p:nvSpPr>
          <p:spPr>
            <a:xfrm>
              <a:off x="3504762" y="5445216"/>
              <a:ext cx="3875928" cy="375356"/>
            </a:xfrm>
            <a:custGeom>
              <a:rect b="b" l="l" r="r" t="t"/>
              <a:pathLst>
                <a:path extrusionOk="0" h="6552362" w="3875928">
                  <a:moveTo>
                    <a:pt x="3875928" y="0"/>
                  </a:moveTo>
                  <a:lnTo>
                    <a:pt x="412" y="4599620"/>
                  </a:lnTo>
                  <a:cubicBezTo>
                    <a:pt x="1836" y="5253373"/>
                    <a:pt x="-1014" y="5898609"/>
                    <a:pt x="410" y="6552362"/>
                  </a:cubicBezTo>
                  <a:lnTo>
                    <a:pt x="3871655" y="1974078"/>
                  </a:lnTo>
                  <a:cubicBezTo>
                    <a:pt x="3873079" y="1316052"/>
                    <a:pt x="3874504" y="658026"/>
                    <a:pt x="3875928" y="0"/>
                  </a:cubicBez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</a:t>
              </a:r>
              <a:endParaRPr/>
            </a:p>
          </p:txBody>
        </p:sp>
      </p:grpSp>
      <p:grpSp>
        <p:nvGrpSpPr>
          <p:cNvPr id="1914" name="Google Shape;1914;p36"/>
          <p:cNvGrpSpPr/>
          <p:nvPr/>
        </p:nvGrpSpPr>
        <p:grpSpPr>
          <a:xfrm>
            <a:off x="1750742" y="5112121"/>
            <a:ext cx="1641327" cy="338554"/>
            <a:chOff x="1750742" y="5112121"/>
            <a:chExt cx="1641327" cy="338554"/>
          </a:xfrm>
        </p:grpSpPr>
        <p:cxnSp>
          <p:nvCxnSpPr>
            <p:cNvPr id="1915" name="Google Shape;1915;p36"/>
            <p:cNvCxnSpPr/>
            <p:nvPr/>
          </p:nvCxnSpPr>
          <p:spPr>
            <a:xfrm rot="10800000">
              <a:off x="1750742" y="5290443"/>
              <a:ext cx="1641327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1916" name="Google Shape;1916;p36"/>
            <p:cNvGrpSpPr/>
            <p:nvPr/>
          </p:nvGrpSpPr>
          <p:grpSpPr>
            <a:xfrm>
              <a:off x="2136070" y="5112121"/>
              <a:ext cx="459104" cy="338554"/>
              <a:chOff x="2709565" y="5090498"/>
              <a:chExt cx="459104" cy="338554"/>
            </a:xfrm>
          </p:grpSpPr>
          <p:sp>
            <p:nvSpPr>
              <p:cNvPr id="1917" name="Google Shape;1917;p36"/>
              <p:cNvSpPr/>
              <p:nvPr/>
            </p:nvSpPr>
            <p:spPr>
              <a:xfrm>
                <a:off x="2785241" y="5146384"/>
                <a:ext cx="252731" cy="227467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8" name="Google Shape;1918;p36"/>
              <p:cNvSpPr txBox="1"/>
              <p:nvPr/>
            </p:nvSpPr>
            <p:spPr>
              <a:xfrm>
                <a:off x="2709565" y="5090498"/>
                <a:ext cx="45910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</a:t>
                </a:r>
                <a:r>
                  <a:rPr baseline="-25000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</p:grpSp>
      </p:grpSp>
      <p:sp>
        <p:nvSpPr>
          <p:cNvPr id="1919" name="Google Shape;1919;p36"/>
          <p:cNvSpPr/>
          <p:nvPr/>
        </p:nvSpPr>
        <p:spPr>
          <a:xfrm>
            <a:off x="2453226" y="5330278"/>
            <a:ext cx="252731" cy="22746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20" name="Google Shape;1920;p36"/>
          <p:cNvGrpSpPr/>
          <p:nvPr/>
        </p:nvGrpSpPr>
        <p:grpSpPr>
          <a:xfrm>
            <a:off x="1750742" y="5274392"/>
            <a:ext cx="1641172" cy="338554"/>
            <a:chOff x="1750742" y="5274392"/>
            <a:chExt cx="1641172" cy="338554"/>
          </a:xfrm>
        </p:grpSpPr>
        <p:cxnSp>
          <p:nvCxnSpPr>
            <p:cNvPr id="1921" name="Google Shape;1921;p36"/>
            <p:cNvCxnSpPr/>
            <p:nvPr/>
          </p:nvCxnSpPr>
          <p:spPr>
            <a:xfrm rot="10800000">
              <a:off x="1750742" y="5442843"/>
              <a:ext cx="1641172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922" name="Google Shape;1922;p36"/>
            <p:cNvSpPr txBox="1"/>
            <p:nvPr/>
          </p:nvSpPr>
          <p:spPr>
            <a:xfrm>
              <a:off x="2384556" y="5274392"/>
              <a:ext cx="45910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r>
                <a:rPr baseline="-25000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grpSp>
        <p:nvGrpSpPr>
          <p:cNvPr id="1923" name="Google Shape;1923;p36"/>
          <p:cNvGrpSpPr/>
          <p:nvPr/>
        </p:nvGrpSpPr>
        <p:grpSpPr>
          <a:xfrm>
            <a:off x="1750742" y="5500058"/>
            <a:ext cx="1644347" cy="338554"/>
            <a:chOff x="1750742" y="5500058"/>
            <a:chExt cx="1644347" cy="338554"/>
          </a:xfrm>
        </p:grpSpPr>
        <p:cxnSp>
          <p:nvCxnSpPr>
            <p:cNvPr id="1924" name="Google Shape;1924;p36"/>
            <p:cNvCxnSpPr/>
            <p:nvPr/>
          </p:nvCxnSpPr>
          <p:spPr>
            <a:xfrm rot="10800000">
              <a:off x="1750742" y="5670973"/>
              <a:ext cx="1644347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925" name="Google Shape;1925;p36"/>
            <p:cNvSpPr txBox="1"/>
            <p:nvPr/>
          </p:nvSpPr>
          <p:spPr>
            <a:xfrm>
              <a:off x="2578111" y="5500058"/>
              <a:ext cx="45910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r>
                <a:rPr baseline="-25000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  <p:grpSp>
        <p:nvGrpSpPr>
          <p:cNvPr id="1926" name="Google Shape;1926;p36"/>
          <p:cNvGrpSpPr/>
          <p:nvPr/>
        </p:nvGrpSpPr>
        <p:grpSpPr>
          <a:xfrm>
            <a:off x="1750742" y="5634943"/>
            <a:ext cx="1641326" cy="338554"/>
            <a:chOff x="1750742" y="5634943"/>
            <a:chExt cx="1641326" cy="338554"/>
          </a:xfrm>
        </p:grpSpPr>
        <p:cxnSp>
          <p:nvCxnSpPr>
            <p:cNvPr id="1927" name="Google Shape;1927;p36"/>
            <p:cNvCxnSpPr/>
            <p:nvPr/>
          </p:nvCxnSpPr>
          <p:spPr>
            <a:xfrm rot="10800000">
              <a:off x="1750742" y="5804632"/>
              <a:ext cx="1641326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928" name="Google Shape;1928;p36"/>
            <p:cNvSpPr txBox="1"/>
            <p:nvPr/>
          </p:nvSpPr>
          <p:spPr>
            <a:xfrm>
              <a:off x="2779553" y="5634943"/>
              <a:ext cx="45910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r>
                <a:rPr baseline="-25000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</p:grpSp>
      <p:sp>
        <p:nvSpPr>
          <p:cNvPr id="1929" name="Google Shape;1929;p36"/>
          <p:cNvSpPr/>
          <p:nvPr/>
        </p:nvSpPr>
        <p:spPr>
          <a:xfrm>
            <a:off x="8624002" y="5214579"/>
            <a:ext cx="892097" cy="11030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0" name="Google Shape;1930;p36"/>
          <p:cNvSpPr/>
          <p:nvPr/>
        </p:nvSpPr>
        <p:spPr>
          <a:xfrm>
            <a:off x="8624002" y="5303700"/>
            <a:ext cx="892097" cy="11030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1" name="Google Shape;1931;p36"/>
          <p:cNvSpPr/>
          <p:nvPr/>
        </p:nvSpPr>
        <p:spPr>
          <a:xfrm>
            <a:off x="8620344" y="5425404"/>
            <a:ext cx="892097" cy="11030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2" name="Google Shape;1932;p36"/>
          <p:cNvSpPr txBox="1"/>
          <p:nvPr/>
        </p:nvSpPr>
        <p:spPr>
          <a:xfrm>
            <a:off x="8322039" y="2665582"/>
            <a:ext cx="25605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 data requested</a:t>
            </a:r>
            <a:endParaRPr/>
          </a:p>
        </p:txBody>
      </p:sp>
      <p:sp>
        <p:nvSpPr>
          <p:cNvPr id="1933" name="Google Shape;1933;p36"/>
          <p:cNvSpPr/>
          <p:nvPr/>
        </p:nvSpPr>
        <p:spPr>
          <a:xfrm>
            <a:off x="7955470" y="4068021"/>
            <a:ext cx="596846" cy="369332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4" name="Google Shape;1934;p36"/>
          <p:cNvSpPr/>
          <p:nvPr/>
        </p:nvSpPr>
        <p:spPr>
          <a:xfrm>
            <a:off x="10065868" y="3696565"/>
            <a:ext cx="394800" cy="22746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5" name="Google Shape;1935;p36"/>
          <p:cNvSpPr txBox="1"/>
          <p:nvPr/>
        </p:nvSpPr>
        <p:spPr>
          <a:xfrm>
            <a:off x="9706653" y="3898744"/>
            <a:ext cx="71718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936" name="Google Shape;1936;p36"/>
          <p:cNvSpPr/>
          <p:nvPr/>
        </p:nvSpPr>
        <p:spPr>
          <a:xfrm>
            <a:off x="10303411" y="3858836"/>
            <a:ext cx="394800" cy="22746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7" name="Google Shape;1937;p36"/>
          <p:cNvSpPr txBox="1"/>
          <p:nvPr/>
        </p:nvSpPr>
        <p:spPr>
          <a:xfrm>
            <a:off x="9717406" y="4747954"/>
            <a:ext cx="71718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938" name="Google Shape;1938;p36"/>
          <p:cNvSpPr txBox="1"/>
          <p:nvPr/>
        </p:nvSpPr>
        <p:spPr>
          <a:xfrm>
            <a:off x="9717374" y="5101897"/>
            <a:ext cx="71718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939" name="Google Shape;1939;p36"/>
          <p:cNvSpPr txBox="1"/>
          <p:nvPr/>
        </p:nvSpPr>
        <p:spPr>
          <a:xfrm>
            <a:off x="9722211" y="5425404"/>
            <a:ext cx="71718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cxnSp>
        <p:nvCxnSpPr>
          <p:cNvPr id="1940" name="Google Shape;1940;p36"/>
          <p:cNvCxnSpPr/>
          <p:nvPr/>
        </p:nvCxnSpPr>
        <p:spPr>
          <a:xfrm>
            <a:off x="9583543" y="5324881"/>
            <a:ext cx="18618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41" name="Google Shape;1941;p36"/>
          <p:cNvCxnSpPr/>
          <p:nvPr/>
        </p:nvCxnSpPr>
        <p:spPr>
          <a:xfrm flipH="1" rot="10800000">
            <a:off x="9589060" y="5022530"/>
            <a:ext cx="180667" cy="14587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42" name="Google Shape;1942;p36"/>
          <p:cNvCxnSpPr/>
          <p:nvPr/>
        </p:nvCxnSpPr>
        <p:spPr>
          <a:xfrm>
            <a:off x="9593643" y="5502519"/>
            <a:ext cx="180667" cy="14587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43" name="Google Shape;1943;p36"/>
          <p:cNvSpPr txBox="1"/>
          <p:nvPr/>
        </p:nvSpPr>
        <p:spPr>
          <a:xfrm>
            <a:off x="2410244" y="6238081"/>
            <a:ext cx="8451975" cy="50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objects delivered in order requested: O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O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O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wait behind O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44" name="Google Shape;1944;p36"/>
          <p:cNvGrpSpPr/>
          <p:nvPr/>
        </p:nvGrpSpPr>
        <p:grpSpPr>
          <a:xfrm>
            <a:off x="3400914" y="5195255"/>
            <a:ext cx="4029070" cy="477315"/>
            <a:chOff x="3400914" y="5195255"/>
            <a:chExt cx="4029070" cy="477315"/>
          </a:xfrm>
        </p:grpSpPr>
        <p:cxnSp>
          <p:nvCxnSpPr>
            <p:cNvPr id="1945" name="Google Shape;1945;p36"/>
            <p:cNvCxnSpPr/>
            <p:nvPr/>
          </p:nvCxnSpPr>
          <p:spPr>
            <a:xfrm flipH="1">
              <a:off x="3400914" y="5403102"/>
              <a:ext cx="4029070" cy="26946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946" name="Google Shape;1946;p36"/>
            <p:cNvSpPr/>
            <p:nvPr/>
          </p:nvSpPr>
          <p:spPr>
            <a:xfrm>
              <a:off x="3520812" y="5195255"/>
              <a:ext cx="3866473" cy="468804"/>
            </a:xfrm>
            <a:custGeom>
              <a:rect b="b" l="l" r="r" t="t"/>
              <a:pathLst>
                <a:path extrusionOk="0" h="468804" w="3866473">
                  <a:moveTo>
                    <a:pt x="0" y="264573"/>
                  </a:moveTo>
                  <a:lnTo>
                    <a:pt x="0" y="468804"/>
                  </a:lnTo>
                  <a:lnTo>
                    <a:pt x="3866473" y="204232"/>
                  </a:lnTo>
                  <a:lnTo>
                    <a:pt x="3861832" y="0"/>
                  </a:lnTo>
                  <a:lnTo>
                    <a:pt x="0" y="26457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1" name="Shape 1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2" name="Google Shape;1952;p37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HTTP/2: mitigating HOL blocking</a:t>
            </a:r>
            <a:endParaRPr sz="4400"/>
          </a:p>
        </p:txBody>
      </p:sp>
      <p:sp>
        <p:nvSpPr>
          <p:cNvPr id="1953" name="Google Shape;1953;p37"/>
          <p:cNvSpPr txBox="1"/>
          <p:nvPr/>
        </p:nvSpPr>
        <p:spPr>
          <a:xfrm>
            <a:off x="798691" y="1274501"/>
            <a:ext cx="11117107" cy="50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HTTP/2: objects divided into frames, frame transmission interleaved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4" name="Google Shape;1954;p37"/>
          <p:cNvSpPr txBox="1"/>
          <p:nvPr/>
        </p:nvSpPr>
        <p:spPr>
          <a:xfrm>
            <a:off x="2900584" y="2902508"/>
            <a:ext cx="7778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/>
          </a:p>
        </p:txBody>
      </p:sp>
      <p:sp>
        <p:nvSpPr>
          <p:cNvPr id="1955" name="Google Shape;1955;p37"/>
          <p:cNvSpPr txBox="1"/>
          <p:nvPr/>
        </p:nvSpPr>
        <p:spPr>
          <a:xfrm>
            <a:off x="7029972" y="1892257"/>
            <a:ext cx="83695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/>
          </a:p>
        </p:txBody>
      </p:sp>
      <p:grpSp>
        <p:nvGrpSpPr>
          <p:cNvPr id="1956" name="Google Shape;1956;p37"/>
          <p:cNvGrpSpPr/>
          <p:nvPr/>
        </p:nvGrpSpPr>
        <p:grpSpPr>
          <a:xfrm>
            <a:off x="7234967" y="2262203"/>
            <a:ext cx="422275" cy="685800"/>
            <a:chOff x="4140" y="429"/>
            <a:chExt cx="1425" cy="2396"/>
          </a:xfrm>
        </p:grpSpPr>
        <p:sp>
          <p:nvSpPr>
            <p:cNvPr id="1957" name="Google Shape;1957;p3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8" name="Google Shape;1958;p37"/>
            <p:cNvSpPr/>
            <p:nvPr/>
          </p:nvSpPr>
          <p:spPr>
            <a:xfrm>
              <a:off x="4204" y="429"/>
              <a:ext cx="1050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9" name="Google Shape;1959;p3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0" name="Google Shape;1960;p3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1" name="Google Shape;1961;p37"/>
            <p:cNvSpPr/>
            <p:nvPr/>
          </p:nvSpPr>
          <p:spPr>
            <a:xfrm>
              <a:off x="4210" y="695"/>
              <a:ext cx="600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62" name="Google Shape;1962;p37"/>
            <p:cNvGrpSpPr/>
            <p:nvPr/>
          </p:nvGrpSpPr>
          <p:grpSpPr>
            <a:xfrm>
              <a:off x="4751" y="668"/>
              <a:ext cx="579" cy="144"/>
              <a:chOff x="616" y="2568"/>
              <a:chExt cx="722" cy="138"/>
            </a:xfrm>
          </p:grpSpPr>
          <p:sp>
            <p:nvSpPr>
              <p:cNvPr id="1963" name="Google Shape;1963;p37"/>
              <p:cNvSpPr/>
              <p:nvPr/>
            </p:nvSpPr>
            <p:spPr>
              <a:xfrm>
                <a:off x="616" y="2568"/>
                <a:ext cx="722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4" name="Google Shape;1964;p37"/>
              <p:cNvSpPr/>
              <p:nvPr/>
            </p:nvSpPr>
            <p:spPr>
              <a:xfrm>
                <a:off x="630" y="2583"/>
                <a:ext cx="689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65" name="Google Shape;1965;p37"/>
            <p:cNvSpPr/>
            <p:nvPr/>
          </p:nvSpPr>
          <p:spPr>
            <a:xfrm>
              <a:off x="4226" y="1017"/>
              <a:ext cx="595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66" name="Google Shape;1966;p37"/>
            <p:cNvGrpSpPr/>
            <p:nvPr/>
          </p:nvGrpSpPr>
          <p:grpSpPr>
            <a:xfrm>
              <a:off x="4745" y="995"/>
              <a:ext cx="584" cy="133"/>
              <a:chOff x="612" y="2569"/>
              <a:chExt cx="729" cy="138"/>
            </a:xfrm>
          </p:grpSpPr>
          <p:sp>
            <p:nvSpPr>
              <p:cNvPr id="1967" name="Google Shape;1967;p37"/>
              <p:cNvSpPr/>
              <p:nvPr/>
            </p:nvSpPr>
            <p:spPr>
              <a:xfrm>
                <a:off x="612" y="2569"/>
                <a:ext cx="729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8" name="Google Shape;1968;p37"/>
              <p:cNvSpPr/>
              <p:nvPr/>
            </p:nvSpPr>
            <p:spPr>
              <a:xfrm>
                <a:off x="625" y="2586"/>
                <a:ext cx="695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69" name="Google Shape;1969;p37"/>
            <p:cNvSpPr/>
            <p:nvPr/>
          </p:nvSpPr>
          <p:spPr>
            <a:xfrm>
              <a:off x="4215" y="1355"/>
              <a:ext cx="600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0" name="Google Shape;1970;p37"/>
            <p:cNvSpPr/>
            <p:nvPr/>
          </p:nvSpPr>
          <p:spPr>
            <a:xfrm>
              <a:off x="4226" y="1655"/>
              <a:ext cx="600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71" name="Google Shape;1971;p37"/>
            <p:cNvGrpSpPr/>
            <p:nvPr/>
          </p:nvGrpSpPr>
          <p:grpSpPr>
            <a:xfrm>
              <a:off x="4735" y="1627"/>
              <a:ext cx="584" cy="150"/>
              <a:chOff x="614" y="2568"/>
              <a:chExt cx="727" cy="138"/>
            </a:xfrm>
          </p:grpSpPr>
          <p:sp>
            <p:nvSpPr>
              <p:cNvPr id="1972" name="Google Shape;1972;p37"/>
              <p:cNvSpPr/>
              <p:nvPr/>
            </p:nvSpPr>
            <p:spPr>
              <a:xfrm>
                <a:off x="614" y="2568"/>
                <a:ext cx="727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3" name="Google Shape;1973;p37"/>
              <p:cNvSpPr/>
              <p:nvPr/>
            </p:nvSpPr>
            <p:spPr>
              <a:xfrm>
                <a:off x="627" y="2583"/>
                <a:ext cx="694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74" name="Google Shape;1974;p3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75" name="Google Shape;1975;p37"/>
            <p:cNvGrpSpPr/>
            <p:nvPr/>
          </p:nvGrpSpPr>
          <p:grpSpPr>
            <a:xfrm>
              <a:off x="4740" y="1327"/>
              <a:ext cx="579" cy="139"/>
              <a:chOff x="615" y="2568"/>
              <a:chExt cx="721" cy="139"/>
            </a:xfrm>
          </p:grpSpPr>
          <p:sp>
            <p:nvSpPr>
              <p:cNvPr id="1976" name="Google Shape;1976;p37"/>
              <p:cNvSpPr/>
              <p:nvPr/>
            </p:nvSpPr>
            <p:spPr>
              <a:xfrm>
                <a:off x="615" y="2568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7" name="Google Shape;1977;p37"/>
              <p:cNvSpPr/>
              <p:nvPr/>
            </p:nvSpPr>
            <p:spPr>
              <a:xfrm>
                <a:off x="629" y="2585"/>
                <a:ext cx="687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78" name="Google Shape;1978;p37"/>
            <p:cNvSpPr/>
            <p:nvPr/>
          </p:nvSpPr>
          <p:spPr>
            <a:xfrm>
              <a:off x="5249" y="429"/>
              <a:ext cx="70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9" name="Google Shape;1979;p3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0" name="Google Shape;1980;p3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1" name="Google Shape;1981;p37"/>
            <p:cNvSpPr/>
            <p:nvPr/>
          </p:nvSpPr>
          <p:spPr>
            <a:xfrm>
              <a:off x="5517" y="2609"/>
              <a:ext cx="48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2" name="Google Shape;1982;p3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3" name="Google Shape;1983;p37"/>
            <p:cNvSpPr/>
            <p:nvPr/>
          </p:nvSpPr>
          <p:spPr>
            <a:xfrm>
              <a:off x="4140" y="2675"/>
              <a:ext cx="1200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4" name="Google Shape;1984;p37"/>
            <p:cNvSpPr/>
            <p:nvPr/>
          </p:nvSpPr>
          <p:spPr>
            <a:xfrm>
              <a:off x="4204" y="2709"/>
              <a:ext cx="1071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5" name="Google Shape;1985;p37"/>
            <p:cNvSpPr/>
            <p:nvPr/>
          </p:nvSpPr>
          <p:spPr>
            <a:xfrm>
              <a:off x="4306" y="2381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6" name="Google Shape;1986;p37"/>
            <p:cNvSpPr/>
            <p:nvPr/>
          </p:nvSpPr>
          <p:spPr>
            <a:xfrm>
              <a:off x="4488" y="2381"/>
              <a:ext cx="155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7" name="Google Shape;1987;p37"/>
            <p:cNvSpPr/>
            <p:nvPr/>
          </p:nvSpPr>
          <p:spPr>
            <a:xfrm>
              <a:off x="4660" y="2381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8" name="Google Shape;1988;p37"/>
            <p:cNvSpPr/>
            <p:nvPr/>
          </p:nvSpPr>
          <p:spPr>
            <a:xfrm>
              <a:off x="5061" y="1838"/>
              <a:ext cx="86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89" name="Google Shape;1989;p37"/>
          <p:cNvGrpSpPr/>
          <p:nvPr/>
        </p:nvGrpSpPr>
        <p:grpSpPr>
          <a:xfrm>
            <a:off x="2885332" y="2291964"/>
            <a:ext cx="742950" cy="742950"/>
            <a:chOff x="-44" y="1473"/>
            <a:chExt cx="981" cy="1105"/>
          </a:xfrm>
        </p:grpSpPr>
        <p:pic>
          <p:nvPicPr>
            <p:cNvPr descr="desktop_computer_stylized_medium" id="1990" name="Google Shape;1990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1" name="Google Shape;1991;p3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992" name="Google Shape;1992;p37"/>
          <p:cNvCxnSpPr/>
          <p:nvPr/>
        </p:nvCxnSpPr>
        <p:spPr>
          <a:xfrm>
            <a:off x="3526536" y="2791484"/>
            <a:ext cx="3910012" cy="26074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93" name="Google Shape;1993;p37"/>
          <p:cNvSpPr txBox="1"/>
          <p:nvPr/>
        </p:nvSpPr>
        <p:spPr>
          <a:xfrm>
            <a:off x="6093263" y="2667596"/>
            <a:ext cx="892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 O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994" name="Google Shape;1994;p37"/>
          <p:cNvSpPr txBox="1"/>
          <p:nvPr/>
        </p:nvSpPr>
        <p:spPr>
          <a:xfrm>
            <a:off x="5291796" y="2596769"/>
            <a:ext cx="892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 O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995" name="Google Shape;1995;p37"/>
          <p:cNvSpPr txBox="1"/>
          <p:nvPr/>
        </p:nvSpPr>
        <p:spPr>
          <a:xfrm>
            <a:off x="4513773" y="2538104"/>
            <a:ext cx="892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 O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996" name="Google Shape;1996;p37"/>
          <p:cNvSpPr txBox="1"/>
          <p:nvPr/>
        </p:nvSpPr>
        <p:spPr>
          <a:xfrm>
            <a:off x="3721264" y="2473869"/>
            <a:ext cx="892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 O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cxnSp>
        <p:nvCxnSpPr>
          <p:cNvPr id="1997" name="Google Shape;1997;p37"/>
          <p:cNvCxnSpPr/>
          <p:nvPr/>
        </p:nvCxnSpPr>
        <p:spPr>
          <a:xfrm flipH="1">
            <a:off x="3347464" y="5534648"/>
            <a:ext cx="4093672" cy="27513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98" name="Google Shape;1998;p37"/>
          <p:cNvSpPr/>
          <p:nvPr/>
        </p:nvSpPr>
        <p:spPr>
          <a:xfrm>
            <a:off x="8620343" y="3108868"/>
            <a:ext cx="892098" cy="19713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9" name="Google Shape;1999;p37"/>
          <p:cNvSpPr/>
          <p:nvPr/>
        </p:nvSpPr>
        <p:spPr>
          <a:xfrm>
            <a:off x="8624001" y="5094824"/>
            <a:ext cx="892097" cy="1103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0" name="Google Shape;2000;p37"/>
          <p:cNvSpPr/>
          <p:nvPr/>
        </p:nvSpPr>
        <p:spPr>
          <a:xfrm>
            <a:off x="3486512" y="3835610"/>
            <a:ext cx="3867383" cy="1978529"/>
          </a:xfrm>
          <a:custGeom>
            <a:rect b="b" l="l" r="r" t="t"/>
            <a:pathLst>
              <a:path extrusionOk="0" h="1978529" w="3867383">
                <a:moveTo>
                  <a:pt x="3867383" y="0"/>
                </a:moveTo>
                <a:lnTo>
                  <a:pt x="411" y="273465"/>
                </a:lnTo>
                <a:cubicBezTo>
                  <a:pt x="1835" y="927218"/>
                  <a:pt x="-1013" y="1324776"/>
                  <a:pt x="411" y="1978529"/>
                </a:cubicBezTo>
                <a:lnTo>
                  <a:pt x="3856760" y="1718981"/>
                </a:lnTo>
                <a:cubicBezTo>
                  <a:pt x="3862689" y="443848"/>
                  <a:pt x="3861223" y="1457627"/>
                  <a:pt x="386738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1" name="Google Shape;2001;p37"/>
          <p:cNvSpPr/>
          <p:nvPr/>
        </p:nvSpPr>
        <p:spPr>
          <a:xfrm>
            <a:off x="3479865" y="3207657"/>
            <a:ext cx="3875928" cy="375356"/>
          </a:xfrm>
          <a:custGeom>
            <a:rect b="b" l="l" r="r" t="t"/>
            <a:pathLst>
              <a:path extrusionOk="0" h="6552362" w="3875928">
                <a:moveTo>
                  <a:pt x="3875928" y="0"/>
                </a:moveTo>
                <a:lnTo>
                  <a:pt x="412" y="4599620"/>
                </a:lnTo>
                <a:cubicBezTo>
                  <a:pt x="1836" y="5253373"/>
                  <a:pt x="-1014" y="5898609"/>
                  <a:pt x="410" y="6552362"/>
                </a:cubicBezTo>
                <a:lnTo>
                  <a:pt x="3871655" y="1974078"/>
                </a:lnTo>
                <a:cubicBezTo>
                  <a:pt x="3873079" y="1316052"/>
                  <a:pt x="3874504" y="658026"/>
                  <a:pt x="387592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2" name="Google Shape;2002;p37"/>
          <p:cNvSpPr/>
          <p:nvPr/>
        </p:nvSpPr>
        <p:spPr>
          <a:xfrm>
            <a:off x="3479865" y="3336618"/>
            <a:ext cx="3875928" cy="375356"/>
          </a:xfrm>
          <a:custGeom>
            <a:rect b="b" l="l" r="r" t="t"/>
            <a:pathLst>
              <a:path extrusionOk="0" h="6552362" w="3875928">
                <a:moveTo>
                  <a:pt x="3875928" y="0"/>
                </a:moveTo>
                <a:lnTo>
                  <a:pt x="412" y="4599620"/>
                </a:lnTo>
                <a:cubicBezTo>
                  <a:pt x="1836" y="5253373"/>
                  <a:pt x="-1014" y="5898609"/>
                  <a:pt x="410" y="6552362"/>
                </a:cubicBezTo>
                <a:lnTo>
                  <a:pt x="3871655" y="1974078"/>
                </a:lnTo>
                <a:cubicBezTo>
                  <a:pt x="3873079" y="1316052"/>
                  <a:pt x="3874504" y="658026"/>
                  <a:pt x="3875928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3" name="Google Shape;2003;p37"/>
          <p:cNvSpPr/>
          <p:nvPr/>
        </p:nvSpPr>
        <p:spPr>
          <a:xfrm>
            <a:off x="3485129" y="3468086"/>
            <a:ext cx="3875928" cy="375356"/>
          </a:xfrm>
          <a:custGeom>
            <a:rect b="b" l="l" r="r" t="t"/>
            <a:pathLst>
              <a:path extrusionOk="0" h="6552362" w="3875928">
                <a:moveTo>
                  <a:pt x="3875928" y="0"/>
                </a:moveTo>
                <a:lnTo>
                  <a:pt x="412" y="4599620"/>
                </a:lnTo>
                <a:cubicBezTo>
                  <a:pt x="1836" y="5253373"/>
                  <a:pt x="-1014" y="5898609"/>
                  <a:pt x="410" y="6552362"/>
                </a:cubicBezTo>
                <a:lnTo>
                  <a:pt x="3871655" y="1974078"/>
                </a:lnTo>
                <a:cubicBezTo>
                  <a:pt x="3873079" y="1316052"/>
                  <a:pt x="3874504" y="658026"/>
                  <a:pt x="3875928" y="0"/>
                </a:cubicBezTo>
                <a:close/>
              </a:path>
            </a:pathLst>
          </a:custGeom>
          <a:solidFill>
            <a:srgbClr val="703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4" name="Google Shape;2004;p37"/>
          <p:cNvSpPr/>
          <p:nvPr/>
        </p:nvSpPr>
        <p:spPr>
          <a:xfrm>
            <a:off x="2231742" y="3441675"/>
            <a:ext cx="252731" cy="22746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05" name="Google Shape;2005;p37"/>
          <p:cNvGrpSpPr/>
          <p:nvPr/>
        </p:nvGrpSpPr>
        <p:grpSpPr>
          <a:xfrm>
            <a:off x="1770738" y="3385789"/>
            <a:ext cx="1641327" cy="338554"/>
            <a:chOff x="1770738" y="3385789"/>
            <a:chExt cx="1641327" cy="338554"/>
          </a:xfrm>
        </p:grpSpPr>
        <p:cxnSp>
          <p:nvCxnSpPr>
            <p:cNvPr id="2006" name="Google Shape;2006;p37"/>
            <p:cNvCxnSpPr/>
            <p:nvPr/>
          </p:nvCxnSpPr>
          <p:spPr>
            <a:xfrm rot="10800000">
              <a:off x="1770738" y="3564111"/>
              <a:ext cx="1641327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007" name="Google Shape;2007;p37"/>
            <p:cNvSpPr txBox="1"/>
            <p:nvPr/>
          </p:nvSpPr>
          <p:spPr>
            <a:xfrm>
              <a:off x="2156066" y="3385789"/>
              <a:ext cx="45910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r>
                <a:rPr baseline="-25000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sp>
        <p:nvSpPr>
          <p:cNvPr id="2008" name="Google Shape;2008;p37"/>
          <p:cNvSpPr/>
          <p:nvPr/>
        </p:nvSpPr>
        <p:spPr>
          <a:xfrm>
            <a:off x="2369264" y="3728151"/>
            <a:ext cx="252731" cy="22746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09" name="Google Shape;2009;p37"/>
          <p:cNvGrpSpPr/>
          <p:nvPr/>
        </p:nvGrpSpPr>
        <p:grpSpPr>
          <a:xfrm>
            <a:off x="1759658" y="3661763"/>
            <a:ext cx="1641172" cy="338554"/>
            <a:chOff x="1759658" y="3661763"/>
            <a:chExt cx="1641172" cy="338554"/>
          </a:xfrm>
        </p:grpSpPr>
        <p:cxnSp>
          <p:nvCxnSpPr>
            <p:cNvPr id="2010" name="Google Shape;2010;p37"/>
            <p:cNvCxnSpPr/>
            <p:nvPr/>
          </p:nvCxnSpPr>
          <p:spPr>
            <a:xfrm rot="10800000">
              <a:off x="1759658" y="3839649"/>
              <a:ext cx="1641172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011" name="Google Shape;2011;p37"/>
            <p:cNvSpPr txBox="1"/>
            <p:nvPr/>
          </p:nvSpPr>
          <p:spPr>
            <a:xfrm>
              <a:off x="2315510" y="3661763"/>
              <a:ext cx="45910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r>
                <a:rPr baseline="-25000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</p:grpSp>
      <p:sp>
        <p:nvSpPr>
          <p:cNvPr id="2012" name="Google Shape;2012;p37"/>
          <p:cNvSpPr/>
          <p:nvPr/>
        </p:nvSpPr>
        <p:spPr>
          <a:xfrm>
            <a:off x="8624002" y="5214579"/>
            <a:ext cx="892097" cy="11030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3" name="Google Shape;2013;p37"/>
          <p:cNvSpPr/>
          <p:nvPr/>
        </p:nvSpPr>
        <p:spPr>
          <a:xfrm>
            <a:off x="8624002" y="5303700"/>
            <a:ext cx="892097" cy="11030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4" name="Google Shape;2014;p37"/>
          <p:cNvSpPr/>
          <p:nvPr/>
        </p:nvSpPr>
        <p:spPr>
          <a:xfrm>
            <a:off x="8620344" y="5425404"/>
            <a:ext cx="892097" cy="11030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5" name="Google Shape;2015;p37"/>
          <p:cNvSpPr txBox="1"/>
          <p:nvPr/>
        </p:nvSpPr>
        <p:spPr>
          <a:xfrm>
            <a:off x="8345639" y="2644827"/>
            <a:ext cx="25605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 data requested</a:t>
            </a:r>
            <a:endParaRPr/>
          </a:p>
        </p:txBody>
      </p:sp>
      <p:sp>
        <p:nvSpPr>
          <p:cNvPr id="2016" name="Google Shape;2016;p37"/>
          <p:cNvSpPr/>
          <p:nvPr/>
        </p:nvSpPr>
        <p:spPr>
          <a:xfrm>
            <a:off x="7955470" y="4068021"/>
            <a:ext cx="596846" cy="369332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7" name="Google Shape;2017;p37"/>
          <p:cNvSpPr txBox="1"/>
          <p:nvPr/>
        </p:nvSpPr>
        <p:spPr>
          <a:xfrm>
            <a:off x="9706653" y="3898744"/>
            <a:ext cx="71718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018" name="Google Shape;2018;p37"/>
          <p:cNvSpPr/>
          <p:nvPr/>
        </p:nvSpPr>
        <p:spPr>
          <a:xfrm>
            <a:off x="10303411" y="3858836"/>
            <a:ext cx="394800" cy="22746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9" name="Google Shape;2019;p37"/>
          <p:cNvSpPr txBox="1"/>
          <p:nvPr/>
        </p:nvSpPr>
        <p:spPr>
          <a:xfrm>
            <a:off x="9717406" y="4747954"/>
            <a:ext cx="71718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020" name="Google Shape;2020;p37"/>
          <p:cNvSpPr txBox="1"/>
          <p:nvPr/>
        </p:nvSpPr>
        <p:spPr>
          <a:xfrm>
            <a:off x="9717374" y="5101897"/>
            <a:ext cx="71718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021" name="Google Shape;2021;p37"/>
          <p:cNvSpPr txBox="1"/>
          <p:nvPr/>
        </p:nvSpPr>
        <p:spPr>
          <a:xfrm>
            <a:off x="9722211" y="5425404"/>
            <a:ext cx="71718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cxnSp>
        <p:nvCxnSpPr>
          <p:cNvPr id="2022" name="Google Shape;2022;p37"/>
          <p:cNvCxnSpPr/>
          <p:nvPr/>
        </p:nvCxnSpPr>
        <p:spPr>
          <a:xfrm>
            <a:off x="9583543" y="5324881"/>
            <a:ext cx="18618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23" name="Google Shape;2023;p37"/>
          <p:cNvCxnSpPr/>
          <p:nvPr/>
        </p:nvCxnSpPr>
        <p:spPr>
          <a:xfrm flipH="1" rot="10800000">
            <a:off x="9589060" y="5022530"/>
            <a:ext cx="180667" cy="14587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24" name="Google Shape;2024;p37"/>
          <p:cNvCxnSpPr/>
          <p:nvPr/>
        </p:nvCxnSpPr>
        <p:spPr>
          <a:xfrm>
            <a:off x="9593643" y="5502519"/>
            <a:ext cx="180667" cy="14587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25" name="Google Shape;2025;p37"/>
          <p:cNvSpPr txBox="1"/>
          <p:nvPr/>
        </p:nvSpPr>
        <p:spPr>
          <a:xfrm>
            <a:off x="3131136" y="6194429"/>
            <a:ext cx="6552840" cy="50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O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O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delivered quickly, O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slightly delayed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26" name="Google Shape;2026;p37"/>
          <p:cNvGrpSpPr/>
          <p:nvPr/>
        </p:nvGrpSpPr>
        <p:grpSpPr>
          <a:xfrm>
            <a:off x="3362984" y="3078482"/>
            <a:ext cx="4052925" cy="379692"/>
            <a:chOff x="3362984" y="3078482"/>
            <a:chExt cx="4052925" cy="379692"/>
          </a:xfrm>
        </p:grpSpPr>
        <p:cxnSp>
          <p:nvCxnSpPr>
            <p:cNvPr id="2027" name="Google Shape;2027;p37"/>
            <p:cNvCxnSpPr/>
            <p:nvPr/>
          </p:nvCxnSpPr>
          <p:spPr>
            <a:xfrm flipH="1">
              <a:off x="3362984" y="3078482"/>
              <a:ext cx="4052925" cy="27331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028" name="Google Shape;2028;p37"/>
            <p:cNvSpPr/>
            <p:nvPr/>
          </p:nvSpPr>
          <p:spPr>
            <a:xfrm>
              <a:off x="3479865" y="3082818"/>
              <a:ext cx="3875928" cy="375356"/>
            </a:xfrm>
            <a:custGeom>
              <a:rect b="b" l="l" r="r" t="t"/>
              <a:pathLst>
                <a:path extrusionOk="0" h="6552362" w="3875928">
                  <a:moveTo>
                    <a:pt x="3875928" y="0"/>
                  </a:moveTo>
                  <a:lnTo>
                    <a:pt x="412" y="4599620"/>
                  </a:lnTo>
                  <a:cubicBezTo>
                    <a:pt x="1836" y="5253373"/>
                    <a:pt x="-1014" y="5898609"/>
                    <a:pt x="410" y="6552362"/>
                  </a:cubicBezTo>
                  <a:lnTo>
                    <a:pt x="3871655" y="1974078"/>
                  </a:lnTo>
                  <a:cubicBezTo>
                    <a:pt x="3873079" y="1316052"/>
                    <a:pt x="3874504" y="658026"/>
                    <a:pt x="3875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9" name="Google Shape;2029;p37"/>
          <p:cNvSpPr/>
          <p:nvPr/>
        </p:nvSpPr>
        <p:spPr>
          <a:xfrm>
            <a:off x="3480625" y="3596230"/>
            <a:ext cx="3875928" cy="375356"/>
          </a:xfrm>
          <a:custGeom>
            <a:rect b="b" l="l" r="r" t="t"/>
            <a:pathLst>
              <a:path extrusionOk="0" h="6552362" w="3875928">
                <a:moveTo>
                  <a:pt x="3875928" y="0"/>
                </a:moveTo>
                <a:lnTo>
                  <a:pt x="412" y="4599620"/>
                </a:lnTo>
                <a:cubicBezTo>
                  <a:pt x="1836" y="5253373"/>
                  <a:pt x="-1014" y="5898609"/>
                  <a:pt x="410" y="6552362"/>
                </a:cubicBezTo>
                <a:lnTo>
                  <a:pt x="3871655" y="1974078"/>
                </a:lnTo>
                <a:cubicBezTo>
                  <a:pt x="3873079" y="1316052"/>
                  <a:pt x="3874504" y="658026"/>
                  <a:pt x="387592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0" name="Google Shape;2030;p37"/>
          <p:cNvSpPr/>
          <p:nvPr/>
        </p:nvSpPr>
        <p:spPr>
          <a:xfrm>
            <a:off x="3485129" y="3719557"/>
            <a:ext cx="3875928" cy="375356"/>
          </a:xfrm>
          <a:custGeom>
            <a:rect b="b" l="l" r="r" t="t"/>
            <a:pathLst>
              <a:path extrusionOk="0" h="6552362" w="3875928">
                <a:moveTo>
                  <a:pt x="3875928" y="0"/>
                </a:moveTo>
                <a:lnTo>
                  <a:pt x="412" y="4599620"/>
                </a:lnTo>
                <a:cubicBezTo>
                  <a:pt x="1836" y="5253373"/>
                  <a:pt x="-1014" y="5898609"/>
                  <a:pt x="410" y="6552362"/>
                </a:cubicBezTo>
                <a:lnTo>
                  <a:pt x="3871655" y="1974078"/>
                </a:lnTo>
                <a:cubicBezTo>
                  <a:pt x="3873079" y="1316052"/>
                  <a:pt x="3874504" y="658026"/>
                  <a:pt x="3875928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1" name="Google Shape;2031;p37"/>
          <p:cNvSpPr/>
          <p:nvPr/>
        </p:nvSpPr>
        <p:spPr>
          <a:xfrm>
            <a:off x="2575260" y="3949241"/>
            <a:ext cx="310918" cy="28110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32" name="Google Shape;2032;p37"/>
          <p:cNvGrpSpPr/>
          <p:nvPr/>
        </p:nvGrpSpPr>
        <p:grpSpPr>
          <a:xfrm>
            <a:off x="1756483" y="3920514"/>
            <a:ext cx="1644347" cy="338554"/>
            <a:chOff x="1756483" y="3920514"/>
            <a:chExt cx="1644347" cy="338554"/>
          </a:xfrm>
        </p:grpSpPr>
        <p:cxnSp>
          <p:nvCxnSpPr>
            <p:cNvPr id="2033" name="Google Shape;2033;p37"/>
            <p:cNvCxnSpPr/>
            <p:nvPr/>
          </p:nvCxnSpPr>
          <p:spPr>
            <a:xfrm rot="10800000">
              <a:off x="1756483" y="4094530"/>
              <a:ext cx="1644347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034" name="Google Shape;2034;p37"/>
            <p:cNvSpPr txBox="1"/>
            <p:nvPr/>
          </p:nvSpPr>
          <p:spPr>
            <a:xfrm>
              <a:off x="2554202" y="3920514"/>
              <a:ext cx="454883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r>
                <a:rPr baseline="-25000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  <p:sp>
        <p:nvSpPr>
          <p:cNvPr id="2035" name="Google Shape;2035;p37"/>
          <p:cNvSpPr/>
          <p:nvPr/>
        </p:nvSpPr>
        <p:spPr>
          <a:xfrm>
            <a:off x="2869378" y="5701781"/>
            <a:ext cx="269557" cy="22941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36" name="Google Shape;2036;p37"/>
          <p:cNvGrpSpPr/>
          <p:nvPr/>
        </p:nvGrpSpPr>
        <p:grpSpPr>
          <a:xfrm>
            <a:off x="1706138" y="5621746"/>
            <a:ext cx="1641326" cy="338554"/>
            <a:chOff x="1706138" y="5621746"/>
            <a:chExt cx="1641326" cy="338554"/>
          </a:xfrm>
        </p:grpSpPr>
        <p:cxnSp>
          <p:nvCxnSpPr>
            <p:cNvPr id="2037" name="Google Shape;2037;p37"/>
            <p:cNvCxnSpPr/>
            <p:nvPr/>
          </p:nvCxnSpPr>
          <p:spPr>
            <a:xfrm rot="10800000">
              <a:off x="1706138" y="5804632"/>
              <a:ext cx="1641326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038" name="Google Shape;2038;p37"/>
            <p:cNvSpPr txBox="1"/>
            <p:nvPr/>
          </p:nvSpPr>
          <p:spPr>
            <a:xfrm>
              <a:off x="2801769" y="5621746"/>
              <a:ext cx="45910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r>
                <a:rPr baseline="-25000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cxnSp>
        <p:nvCxnSpPr>
          <p:cNvPr id="2039" name="Google Shape;2039;p37"/>
          <p:cNvCxnSpPr/>
          <p:nvPr/>
        </p:nvCxnSpPr>
        <p:spPr>
          <a:xfrm>
            <a:off x="8570246" y="5311450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40" name="Google Shape;2040;p37"/>
          <p:cNvCxnSpPr/>
          <p:nvPr/>
        </p:nvCxnSpPr>
        <p:spPr>
          <a:xfrm>
            <a:off x="8585033" y="4956968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41" name="Google Shape;2041;p37"/>
          <p:cNvCxnSpPr/>
          <p:nvPr/>
        </p:nvCxnSpPr>
        <p:spPr>
          <a:xfrm>
            <a:off x="8579058" y="4824874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42" name="Google Shape;2042;p37"/>
          <p:cNvCxnSpPr/>
          <p:nvPr/>
        </p:nvCxnSpPr>
        <p:spPr>
          <a:xfrm>
            <a:off x="8573083" y="4692780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43" name="Google Shape;2043;p37"/>
          <p:cNvCxnSpPr/>
          <p:nvPr/>
        </p:nvCxnSpPr>
        <p:spPr>
          <a:xfrm>
            <a:off x="8567108" y="4560686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44" name="Google Shape;2044;p37"/>
          <p:cNvCxnSpPr/>
          <p:nvPr/>
        </p:nvCxnSpPr>
        <p:spPr>
          <a:xfrm>
            <a:off x="8561133" y="4428592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45" name="Google Shape;2045;p37"/>
          <p:cNvCxnSpPr/>
          <p:nvPr/>
        </p:nvCxnSpPr>
        <p:spPr>
          <a:xfrm>
            <a:off x="8555158" y="4296498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46" name="Google Shape;2046;p37"/>
          <p:cNvCxnSpPr/>
          <p:nvPr/>
        </p:nvCxnSpPr>
        <p:spPr>
          <a:xfrm>
            <a:off x="8549183" y="4164404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47" name="Google Shape;2047;p37"/>
          <p:cNvCxnSpPr/>
          <p:nvPr/>
        </p:nvCxnSpPr>
        <p:spPr>
          <a:xfrm>
            <a:off x="8543208" y="4032310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48" name="Google Shape;2048;p37"/>
          <p:cNvCxnSpPr/>
          <p:nvPr/>
        </p:nvCxnSpPr>
        <p:spPr>
          <a:xfrm>
            <a:off x="8537233" y="3900216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49" name="Google Shape;2049;p37"/>
          <p:cNvCxnSpPr/>
          <p:nvPr/>
        </p:nvCxnSpPr>
        <p:spPr>
          <a:xfrm>
            <a:off x="8531258" y="3768122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50" name="Google Shape;2050;p37"/>
          <p:cNvCxnSpPr/>
          <p:nvPr/>
        </p:nvCxnSpPr>
        <p:spPr>
          <a:xfrm>
            <a:off x="8525283" y="3636028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51" name="Google Shape;2051;p37"/>
          <p:cNvCxnSpPr/>
          <p:nvPr/>
        </p:nvCxnSpPr>
        <p:spPr>
          <a:xfrm>
            <a:off x="8540494" y="3503934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52" name="Google Shape;2052;p37"/>
          <p:cNvCxnSpPr/>
          <p:nvPr/>
        </p:nvCxnSpPr>
        <p:spPr>
          <a:xfrm>
            <a:off x="8534519" y="3371840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53" name="Google Shape;2053;p37"/>
          <p:cNvCxnSpPr/>
          <p:nvPr/>
        </p:nvCxnSpPr>
        <p:spPr>
          <a:xfrm>
            <a:off x="8535606" y="3239746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54" name="Google Shape;2054;p37"/>
          <p:cNvCxnSpPr/>
          <p:nvPr/>
        </p:nvCxnSpPr>
        <p:spPr>
          <a:xfrm flipH="1" rot="10800000">
            <a:off x="3452698" y="3962094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55" name="Google Shape;2055;p37"/>
          <p:cNvCxnSpPr/>
          <p:nvPr/>
        </p:nvCxnSpPr>
        <p:spPr>
          <a:xfrm flipH="1" rot="10800000">
            <a:off x="3392013" y="4113083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56" name="Google Shape;2056;p37"/>
          <p:cNvCxnSpPr/>
          <p:nvPr/>
        </p:nvCxnSpPr>
        <p:spPr>
          <a:xfrm flipH="1" rot="10800000">
            <a:off x="3403873" y="4250677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57" name="Google Shape;2057;p37"/>
          <p:cNvCxnSpPr/>
          <p:nvPr/>
        </p:nvCxnSpPr>
        <p:spPr>
          <a:xfrm flipH="1" rot="10800000">
            <a:off x="3415733" y="4399559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58" name="Google Shape;2058;p37"/>
          <p:cNvCxnSpPr/>
          <p:nvPr/>
        </p:nvCxnSpPr>
        <p:spPr>
          <a:xfrm flipH="1" rot="10800000">
            <a:off x="3474493" y="5562147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59" name="Google Shape;2059;p37"/>
          <p:cNvCxnSpPr/>
          <p:nvPr/>
        </p:nvCxnSpPr>
        <p:spPr>
          <a:xfrm flipH="1" rot="10800000">
            <a:off x="3486353" y="5716673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60" name="Google Shape;2060;p37"/>
          <p:cNvCxnSpPr/>
          <p:nvPr/>
        </p:nvCxnSpPr>
        <p:spPr>
          <a:xfrm flipH="1" rot="10800000">
            <a:off x="3467438" y="4527480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61" name="Google Shape;2061;p37"/>
          <p:cNvCxnSpPr/>
          <p:nvPr/>
        </p:nvCxnSpPr>
        <p:spPr>
          <a:xfrm flipH="1" rot="10800000">
            <a:off x="3406753" y="4678469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62" name="Google Shape;2062;p37"/>
          <p:cNvCxnSpPr/>
          <p:nvPr/>
        </p:nvCxnSpPr>
        <p:spPr>
          <a:xfrm flipH="1" rot="10800000">
            <a:off x="3418613" y="4816063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63" name="Google Shape;2063;p37"/>
          <p:cNvCxnSpPr/>
          <p:nvPr/>
        </p:nvCxnSpPr>
        <p:spPr>
          <a:xfrm flipH="1" rot="10800000">
            <a:off x="3430473" y="4964945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64" name="Google Shape;2064;p37"/>
          <p:cNvCxnSpPr/>
          <p:nvPr/>
        </p:nvCxnSpPr>
        <p:spPr>
          <a:xfrm flipH="1" rot="10800000">
            <a:off x="3482178" y="5092866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65" name="Google Shape;2065;p37"/>
          <p:cNvCxnSpPr/>
          <p:nvPr/>
        </p:nvCxnSpPr>
        <p:spPr>
          <a:xfrm flipH="1" rot="10800000">
            <a:off x="3421493" y="5243855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66" name="Google Shape;2066;p37"/>
          <p:cNvCxnSpPr/>
          <p:nvPr/>
        </p:nvCxnSpPr>
        <p:spPr>
          <a:xfrm flipH="1" rot="10800000">
            <a:off x="3433353" y="5381449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1" name="Shape 2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2" name="Google Shape;2072;p38"/>
          <p:cNvSpPr txBox="1"/>
          <p:nvPr>
            <p:ph type="title"/>
          </p:nvPr>
        </p:nvSpPr>
        <p:spPr>
          <a:xfrm>
            <a:off x="651417" y="223762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HTTP/2 to HTTP/3</a:t>
            </a:r>
            <a:endParaRPr sz="4400"/>
          </a:p>
        </p:txBody>
      </p:sp>
      <p:sp>
        <p:nvSpPr>
          <p:cNvPr id="2073" name="Google Shape;2073;p38"/>
          <p:cNvSpPr txBox="1"/>
          <p:nvPr/>
        </p:nvSpPr>
        <p:spPr>
          <a:xfrm>
            <a:off x="833751" y="1490127"/>
            <a:ext cx="10458375" cy="4487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6508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HTTP/2 over single TCP connection means:</a:t>
            </a:r>
            <a:endParaRPr/>
          </a:p>
          <a:p>
            <a:pPr indent="-2809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recovery from packet loss still stalls all object transmissions</a:t>
            </a:r>
            <a:endParaRPr/>
          </a:p>
          <a:p>
            <a:pPr indent="-280988" lvl="1" marL="6889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in HTTP 1.1, browsers have incentive to open multiple parallel TCP connections to reduce stalling, increase overall throughput</a:t>
            </a:r>
            <a:endParaRPr/>
          </a:p>
          <a:p>
            <a:pPr indent="-2809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security over vanilla TCP connection</a:t>
            </a:r>
            <a:endParaRPr/>
          </a:p>
          <a:p>
            <a:pPr indent="-2809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HTTP/3: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adds security, per object error- and congestion-control (more pipelining) over UDP</a:t>
            </a:r>
            <a:endParaRPr/>
          </a:p>
          <a:p>
            <a:pPr indent="-280988" lvl="1" marL="6889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on HTTP/3 in transport layer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8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9" name="Google Shape;2079;p39"/>
          <p:cNvGrpSpPr/>
          <p:nvPr/>
        </p:nvGrpSpPr>
        <p:grpSpPr>
          <a:xfrm>
            <a:off x="7421880" y="45382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2080" name="Google Shape;2080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81" name="Google Shape;2081;p39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2082" name="Google Shape;2082;p39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2083" name="Google Shape;2083;p3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84" name="Google Shape;2084;p39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85" name="Google Shape;2085;p39"/>
          <p:cNvGrpSpPr/>
          <p:nvPr/>
        </p:nvGrpSpPr>
        <p:grpSpPr>
          <a:xfrm>
            <a:off x="5108787" y="6105145"/>
            <a:ext cx="6892924" cy="461665"/>
            <a:chOff x="5108787" y="6105145"/>
            <a:chExt cx="6892924" cy="461665"/>
          </a:xfrm>
        </p:grpSpPr>
        <p:sp>
          <p:nvSpPr>
            <p:cNvPr id="2086" name="Google Shape;2086;p39"/>
            <p:cNvSpPr txBox="1"/>
            <p:nvPr/>
          </p:nvSpPr>
          <p:spPr>
            <a:xfrm>
              <a:off x="5108787" y="6105145"/>
              <a:ext cx="689292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Video: 2020, J.F. Kurose, All Rights Reserved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Powerpoint: 1996-2020, J.F. Kurose, K.W. Ross, All Rights Reserved</a:t>
              </a:r>
              <a:endParaRPr/>
            </a:p>
          </p:txBody>
        </p:sp>
        <p:pic>
          <p:nvPicPr>
            <p:cNvPr id="2087" name="Google Shape;2087;p3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028246" y="6178318"/>
              <a:ext cx="125836" cy="1602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8" name="Google Shape;2088;p3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656647" y="6354452"/>
              <a:ext cx="125836" cy="1602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89" name="Google Shape;2089;p39"/>
          <p:cNvSpPr txBox="1"/>
          <p:nvPr/>
        </p:nvSpPr>
        <p:spPr>
          <a:xfrm>
            <a:off x="724908" y="518072"/>
            <a:ext cx="6551791" cy="1116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b="1" lang="en-US" sz="60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Application Layer</a:t>
            </a:r>
            <a:endParaRPr b="1" sz="6000">
              <a:solidFill>
                <a:srgbClr val="0000A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0" name="Google Shape;2090;p39"/>
          <p:cNvSpPr txBox="1"/>
          <p:nvPr/>
        </p:nvSpPr>
        <p:spPr>
          <a:xfrm>
            <a:off x="809241" y="1870563"/>
            <a:ext cx="703205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7663" lvl="0" marL="3476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Principles of network applications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and HTTP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(part 2)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E-mail, SMTP, IMAP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The Domain Name System: DNS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P2P applications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video streaming, CDNs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socket programming with UDP and TCP</a:t>
            </a:r>
            <a:endParaRPr/>
          </a:p>
          <a:p>
            <a:pPr indent="-1984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