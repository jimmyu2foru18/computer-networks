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">
          <p15:clr>
            <a:srgbClr val="A4A3A4"/>
          </p15:clr>
        </p15:guide>
        <p15:guide id="2" pos="36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" orient="horz"/>
        <p:guide pos="36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GillSans-bold.fntdata"/><Relationship Id="rId10" Type="http://schemas.openxmlformats.org/officeDocument/2006/relationships/slide" Target="slides/slide4.xml"/><Relationship Id="rId21" Type="http://schemas.openxmlformats.org/officeDocument/2006/relationships/font" Target="fonts/GillSan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55" name="Google Shape;55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6" name="Google Shape;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8" name="Google Shape;58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9" name="Google Shape;5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0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" name="Google Shape;61;p11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</a:t>
            </a:r>
            <a:endParaRPr sz="4400"/>
          </a:p>
        </p:txBody>
      </p:sp>
      <p:sp>
        <p:nvSpPr>
          <p:cNvPr id="68" name="Google Shape;68;p12"/>
          <p:cNvSpPr txBox="1"/>
          <p:nvPr/>
        </p:nvSpPr>
        <p:spPr>
          <a:xfrm>
            <a:off x="544512" y="1366838"/>
            <a:ext cx="711903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a.k.a. “mail reader”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 mail messages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outgoing, incoming messages stored on server</a:t>
            </a:r>
            <a:endParaRPr/>
          </a:p>
        </p:txBody>
      </p:sp>
      <p:grpSp>
        <p:nvGrpSpPr>
          <p:cNvPr id="69" name="Google Shape;69;p12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70" name="Google Shape;70;p12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" name="Google Shape;71;p12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72" name="Google Shape;72;p12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3" name="Google Shape;73;p12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12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" name="Google Shape;75;p12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12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12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" name="Google Shape;78;p12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" name="Google Shape;79;p12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0" name="Google Shape;80;p12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12"/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83" name="Google Shape;83;p12"/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84" name="Google Shape;84;p12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85" name="Google Shape;85;p12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12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12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12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12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" name="Google Shape;90;p12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91" name="Google Shape;91;p12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" name="Google Shape;92;p12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" name="Google Shape;93;p12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" name="Google Shape;94;p12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95" name="Google Shape;95;p12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" name="Google Shape;96;p12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7" name="Google Shape;97;p12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12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9" name="Google Shape;99;p12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100" name="Google Shape;100;p12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12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2" name="Google Shape;102;p12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3" name="Google Shape;103;p12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104" name="Google Shape;104;p12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12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6" name="Google Shape;106;p12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12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12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12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12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12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12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12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12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12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12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7" name="Google Shape;117;p12"/>
              <p:cNvGrpSpPr/>
              <p:nvPr/>
            </p:nvGrpSpPr>
            <p:grpSpPr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118" name="Google Shape;118;p12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12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12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" name="Google Shape;121;p12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" name="Google Shape;122;p12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" name="Google Shape;123;p12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" name="Google Shape;124;p12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" name="Google Shape;125;p12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" name="Google Shape;126;p12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" name="Google Shape;127;p12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8" name="Google Shape;128;p12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12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12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12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12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3" name="Google Shape;133;p12"/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134" name="Google Shape;134;p12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135" name="Google Shape;135;p12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12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12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12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12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0" name="Google Shape;140;p12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41" name="Google Shape;141;p12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12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3" name="Google Shape;143;p12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4" name="Google Shape;144;p12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45" name="Google Shape;145;p12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" name="Google Shape;146;p12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7" name="Google Shape;147;p12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12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9" name="Google Shape;149;p12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150" name="Google Shape;150;p12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" name="Google Shape;151;p12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2" name="Google Shape;152;p12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" name="Google Shape;153;p12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154" name="Google Shape;154;p12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" name="Google Shape;155;p12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6" name="Google Shape;156;p12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12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12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12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2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2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2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2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2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2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2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" name="Google Shape;167;p12"/>
              <p:cNvGrpSpPr/>
              <p:nvPr/>
            </p:nvGrpSpPr>
            <p:grpSpPr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168" name="Google Shape;168;p12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" name="Google Shape;169;p12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12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1" name="Google Shape;171;p12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2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2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2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2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2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2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8" name="Google Shape;178;p12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12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2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2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2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3" name="Google Shape;183;p12"/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184" name="Google Shape;184;p12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185" name="Google Shape;185;p12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2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2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2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2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0" name="Google Shape;190;p12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91" name="Google Shape;191;p12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2" name="Google Shape;192;p12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3" name="Google Shape;193;p12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4" name="Google Shape;194;p12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95" name="Google Shape;195;p12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" name="Google Shape;196;p12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7" name="Google Shape;197;p12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2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12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00" name="Google Shape;200;p12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" name="Google Shape;201;p12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2" name="Google Shape;202;p12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3" name="Google Shape;203;p12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04" name="Google Shape;204;p12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5" name="Google Shape;205;p12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6" name="Google Shape;206;p12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2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2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2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12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12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12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12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12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2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2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7" name="Google Shape;217;p12"/>
              <p:cNvGrpSpPr/>
              <p:nvPr/>
            </p:nvGrpSpPr>
            <p:grpSpPr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218" name="Google Shape;218;p12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12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12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1" name="Google Shape;221;p12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2" name="Google Shape;222;p12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3" name="Google Shape;223;p12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4" name="Google Shape;224;p12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5" name="Google Shape;225;p12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" name="Google Shape;226;p12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" name="Google Shape;227;p12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8" name="Google Shape;228;p12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12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12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12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12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33" name="Google Shape;233;p12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234" name="Google Shape;234;p12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235" name="Google Shape;235;p12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236" name="Google Shape;236;p12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237" name="Google Shape;237;p12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12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239" name="Google Shape;239;p12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240" name="Google Shape;240;p12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241" name="Google Shape;241;p12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242" name="Google Shape;242;p12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12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244" name="Google Shape;244;p12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245" name="Google Shape;245;p12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246" name="Google Shape;246;p12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247" name="Google Shape;247;p12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12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</p:grpSp>
      <p:grpSp>
        <p:nvGrpSpPr>
          <p:cNvPr id="249" name="Google Shape;249;p12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250" name="Google Shape;250;p12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251" name="Google Shape;251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52" name="Google Shape;252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3" name="Google Shape;253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4" name="Google Shape;254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257" name="Google Shape;257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58" name="Google Shape;258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9" name="Google Shape;259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0" name="Google Shape;260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2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263" name="Google Shape;263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64" name="Google Shape;264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5" name="Google Shape;265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6" name="Google Shape;266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12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269" name="Google Shape;269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70" name="Google Shape;270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1" name="Google Shape;271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2" name="Google Shape;272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12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275" name="Google Shape;275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76" name="Google Shape;276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7" name="Google Shape;277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8" name="Google Shape;278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2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281" name="Google Shape;281;p12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282" name="Google Shape;282;p1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3" name="Google Shape;283;p1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4" name="Google Shape;284;p12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2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E-mail: mail servers</a:t>
            </a:r>
            <a:endParaRPr sz="4400"/>
          </a:p>
        </p:txBody>
      </p:sp>
      <p:grpSp>
        <p:nvGrpSpPr>
          <p:cNvPr id="292" name="Google Shape;292;p13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293" name="Google Shape;293;p1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4" name="Google Shape;294;p1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95" name="Google Shape;295;p1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" name="Google Shape;296;p1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1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1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1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1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1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1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3" name="Google Shape;303;p1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3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306" name="Google Shape;306;p13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307" name="Google Shape;307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2" name="Google Shape;312;p1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313" name="Google Shape;313;p1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5" name="Google Shape;315;p1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6" name="Google Shape;316;p1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317" name="Google Shape;317;p1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1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9" name="Google Shape;319;p1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1" name="Google Shape;321;p1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322" name="Google Shape;322;p1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1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4" name="Google Shape;324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5" name="Google Shape;325;p1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326" name="Google Shape;326;p1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1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8" name="Google Shape;328;p1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13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40" name="Google Shape;340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5" name="Google Shape;345;p1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346" name="Google Shape;346;p1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1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8" name="Google Shape;348;p1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9" name="Google Shape;349;p1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350" name="Google Shape;350;p1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1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" name="Google Shape;352;p1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4" name="Google Shape;354;p1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355" name="Google Shape;355;p1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1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" name="Google Shape;358;p1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359" name="Google Shape;359;p1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1" name="Google Shape;361;p1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3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73" name="Google Shape;373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8" name="Google Shape;378;p1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379" name="Google Shape;379;p1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1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1" name="Google Shape;381;p1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2" name="Google Shape;382;p1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383" name="Google Shape;383;p1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1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5" name="Google Shape;385;p1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7" name="Google Shape;387;p1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388" name="Google Shape;388;p1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1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0" name="Google Shape;390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" name="Google Shape;391;p1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392" name="Google Shape;392;p1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1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4" name="Google Shape;394;p1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5" name="Google Shape;405;p13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06" name="Google Shape;406;p13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407" name="Google Shape;407;p1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0" name="Google Shape;410;p1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1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1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1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1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1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1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7" name="Google Shape;417;p1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13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423" name="Google Shape;423;p1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" name="Google Shape;426;p1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1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1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1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1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1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1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3" name="Google Shape;433;p1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13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439" name="Google Shape;439;p1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42" name="Google Shape;442;p1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1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1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1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1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1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1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1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54" name="Google Shape;454;p13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55" name="Google Shape;455;p13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56" name="Google Shape;456;p13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3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3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62" name="Google Shape;462;p13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463" name="Google Shape;463;p1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3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65" name="Google Shape;465;p13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466" name="Google Shape;466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67" name="Google Shape;467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68" name="Google Shape;468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13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472" name="Google Shape;472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73" name="Google Shape;473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4" name="Google Shape;474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5" name="Google Shape;475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13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478" name="Google Shape;478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79" name="Google Shape;479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0" name="Google Shape;480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1" name="Google Shape;481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" name="Google Shape;483;p13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484" name="Google Shape;484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85" name="Google Shape;485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6" name="Google Shape;486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7" name="Google Shape;487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9" name="Google Shape;489;p13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490" name="Google Shape;490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91" name="Google Shape;491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2" name="Google Shape;492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3" name="Google Shape;493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13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496" name="Google Shape;496;p1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97" name="Google Shape;497;p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8" name="Google Shape;498;p1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1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1" name="Google Shape;501;p13"/>
          <p:cNvSpPr txBox="1"/>
          <p:nvPr/>
        </p:nvSpPr>
        <p:spPr>
          <a:xfrm>
            <a:off x="660265" y="1387147"/>
            <a:ext cx="567403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2" name="Google Shape;502;p13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503" name="Google Shape;503;p13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p13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508" name="Google Shape;508;p13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13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513" name="Google Shape;513;p13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SMTP RFC </a:t>
            </a:r>
            <a:r>
              <a:rPr lang="en-US" sz="3200"/>
              <a:t>(5321)</a:t>
            </a:r>
            <a:endParaRPr sz="4400"/>
          </a:p>
        </p:txBody>
      </p:sp>
      <p:sp>
        <p:nvSpPr>
          <p:cNvPr id="522" name="Google Shape;522;p14"/>
          <p:cNvSpPr txBox="1"/>
          <p:nvPr/>
        </p:nvSpPr>
        <p:spPr>
          <a:xfrm>
            <a:off x="693827" y="1364343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TCP to reliably transfer email message from client (mail server initiating connection) to server, port 25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/>
          </a:p>
        </p:txBody>
      </p:sp>
      <p:cxnSp>
        <p:nvCxnSpPr>
          <p:cNvPr id="523" name="Google Shape;523;p14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14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14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14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14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14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14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532" name="Google Shape;532;p14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14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534" name="Google Shape;534;p14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535" name="Google Shape;535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0" name="Google Shape;540;p14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41" name="Google Shape;541;p1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3" name="Google Shape;543;p14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4" name="Google Shape;544;p14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45" name="Google Shape;545;p14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7" name="Google Shape;547;p14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2" name="Google Shape;552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3" name="Google Shape;553;p14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54" name="Google Shape;554;p14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6" name="Google Shape;556;p14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4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4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4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4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7" name="Google Shape;567;p14"/>
          <p:cNvGrpSpPr/>
          <p:nvPr/>
        </p:nvGrpSpPr>
        <p:grpSpPr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568" name="Google Shape;568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4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4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3" name="Google Shape;573;p14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74" name="Google Shape;574;p1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p14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7" name="Google Shape;577;p14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78" name="Google Shape;578;p14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0" name="Google Shape;580;p14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4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2" name="Google Shape;582;p14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83" name="Google Shape;583;p14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4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5" name="Google Shape;585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6" name="Google Shape;586;p14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87" name="Google Shape;587;p14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2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9" name="Google Shape;589;p14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4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4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4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4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14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601" name="Google Shape;601;p14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2" name="Google Shape;602;p14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3" name="Google Shape;603;p14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4" name="Google Shape;604;p14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/>
            </a:p>
          </p:txBody>
        </p:sp>
        <p:sp>
          <p:nvSpPr>
            <p:cNvPr id="605" name="Google Shape;605;p14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/>
            </a:p>
          </p:txBody>
        </p:sp>
        <p:sp>
          <p:nvSpPr>
            <p:cNvPr id="606" name="Google Shape;606;p14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4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/>
            </a:p>
          </p:txBody>
        </p:sp>
      </p:grpSp>
      <p:sp>
        <p:nvSpPr>
          <p:cNvPr id="609" name="Google Shape;609;p14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/>
          </a:p>
        </p:txBody>
      </p:sp>
      <p:sp>
        <p:nvSpPr>
          <p:cNvPr id="610" name="Google Shape;610;p14"/>
          <p:cNvSpPr txBox="1"/>
          <p:nvPr/>
        </p:nvSpPr>
        <p:spPr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sp>
        <p:nvSpPr>
          <p:cNvPr id="611" name="Google Shape;611;p14"/>
          <p:cNvSpPr txBox="1"/>
          <p:nvPr/>
        </p:nvSpPr>
        <p:spPr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grpSp>
        <p:nvGrpSpPr>
          <p:cNvPr id="612" name="Google Shape;612;p14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613" name="Google Shape;613;p14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4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621" name="Google Shape;621;p15"/>
          <p:cNvSpPr txBox="1"/>
          <p:nvPr/>
        </p:nvSpPr>
        <p:spPr>
          <a:xfrm>
            <a:off x="707567" y="137160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23" name="Google Shape;623;p15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624" name="Google Shape;624;p1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625" name="Google Shape;625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6" name="Google Shape;626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7" name="Google Shape;627;p1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9" name="Google Shape;629;p15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630" name="Google Shape;630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" name="Google Shape;635;p1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36" name="Google Shape;636;p1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8" name="Google Shape;638;p1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9" name="Google Shape;639;p1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40" name="Google Shape;640;p1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2" name="Google Shape;642;p1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4" name="Google Shape;644;p1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45" name="Google Shape;645;p1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1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49" name="Google Shape;649;p1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1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15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663" name="Google Shape;663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1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69" name="Google Shape;669;p1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1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73" name="Google Shape;673;p1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5" name="Google Shape;675;p1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1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78" name="Google Shape;678;p1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0" name="Google Shape;680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1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82" name="Google Shape;682;p1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1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4" name="Google Shape;684;p1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p15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696" name="Google Shape;696;p15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5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9" name="Google Shape;699;p15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15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15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15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15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15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15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06" name="Google Shape;706;p15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711" name="Google Shape;7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2" name="Google Shape;7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15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714" name="Google Shape;714;p15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5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7" name="Google Shape;717;p15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p15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15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0" name="Google Shape;720;p15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15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15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15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4" name="Google Shape;724;p15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9" name="Google Shape;729;p15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0" name="Google Shape;730;p15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15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2" name="Google Shape;732;p15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5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5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5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0" name="Google Shape;740;p15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741" name="Google Shape;741;p1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742" name="Google Shape;742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3" name="Google Shape;743;p1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4" name="Google Shape;744;p1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6" name="Google Shape;746;p15"/>
          <p:cNvSpPr txBox="1"/>
          <p:nvPr/>
        </p:nvSpPr>
        <p:spPr>
          <a:xfrm>
            <a:off x="728885" y="2279968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Alice’s UA sends message to her mail server using SMTP; message placed in message queue</a:t>
            </a:r>
            <a:endParaRPr/>
          </a:p>
        </p:txBody>
      </p:sp>
      <p:sp>
        <p:nvSpPr>
          <p:cNvPr id="747" name="Google Shape;747;p15"/>
          <p:cNvSpPr txBox="1"/>
          <p:nvPr/>
        </p:nvSpPr>
        <p:spPr>
          <a:xfrm>
            <a:off x="739565" y="3432318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 txBox="1"/>
          <p:nvPr/>
        </p:nvSpPr>
        <p:spPr>
          <a:xfrm>
            <a:off x="6633422" y="2275557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5) Bob’s mail server places the message in Bob’s mailbox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9" name="Google Shape;749;p15"/>
          <p:cNvSpPr txBox="1"/>
          <p:nvPr/>
        </p:nvSpPr>
        <p:spPr>
          <a:xfrm>
            <a:off x="6630762" y="3460095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6) Bob invokes his user agent to read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756" name="Google Shape;756;p16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S: 220 hamburger.edu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6"/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SMTP: observations</a:t>
            </a:r>
            <a:endParaRPr sz="4400"/>
          </a:p>
        </p:txBody>
      </p:sp>
      <p:sp>
        <p:nvSpPr>
          <p:cNvPr id="769" name="Google Shape;769;p17"/>
          <p:cNvSpPr txBox="1"/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uses persistent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requires message (header &amp; body) to be in 7-bit ASCII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server uses CRLF.CRLF to determine end of message</a:t>
            </a:r>
            <a:endParaRPr/>
          </a:p>
        </p:txBody>
      </p:sp>
      <p:sp>
        <p:nvSpPr>
          <p:cNvPr id="770" name="Google Shape;770;p17"/>
          <p:cNvSpPr txBox="1"/>
          <p:nvPr/>
        </p:nvSpPr>
        <p:spPr>
          <a:xfrm>
            <a:off x="651330" y="1460390"/>
            <a:ext cx="618308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comparison with HTTP: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client pull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client push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have ASCII command/response interaction, status codes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each object encapsulated in its own response message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multiple objects sent in multipart message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Mail message format</a:t>
            </a:r>
            <a:endParaRPr sz="4400"/>
          </a:p>
        </p:txBody>
      </p:sp>
      <p:sp>
        <p:nvSpPr>
          <p:cNvPr id="777" name="Google Shape;777;p18"/>
          <p:cNvSpPr txBox="1"/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protocol for exchanging e-mail messages, defined in RFC 5321 (like RFC 7231 defines HTTP)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2822 defines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e-mail message itself (like HTML defines syntax for web documents)</a:t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780" name="Google Shape;780;p18"/>
          <p:cNvSpPr/>
          <p:nvPr/>
        </p:nvSpPr>
        <p:spPr>
          <a:xfrm>
            <a:off x="7908339" y="3202771"/>
            <a:ext cx="3238500" cy="3073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18"/>
          <p:cNvCxnSpPr/>
          <p:nvPr/>
        </p:nvCxnSpPr>
        <p:spPr>
          <a:xfrm flipH="1" rot="10800000">
            <a:off x="1567314" y="5094521"/>
            <a:ext cx="6544225" cy="81279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2" name="Google Shape;782;p18"/>
          <p:cNvSpPr txBox="1"/>
          <p:nvPr/>
        </p:nvSpPr>
        <p:spPr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cxnSp>
        <p:nvCxnSpPr>
          <p:cNvPr id="783" name="Google Shape;783;p18"/>
          <p:cNvCxnSpPr/>
          <p:nvPr/>
        </p:nvCxnSpPr>
        <p:spPr>
          <a:xfrm rot="10800000">
            <a:off x="10384839" y="3977471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18"/>
          <p:cNvCxnSpPr/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5" name="Google Shape;785;p18"/>
          <p:cNvSpPr txBox="1"/>
          <p:nvPr/>
        </p:nvSpPr>
        <p:spPr>
          <a:xfrm>
            <a:off x="889227" y="3300140"/>
            <a:ext cx="6379126" cy="30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header lines, e.g.,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Subject:</a:t>
            </a:r>
            <a:endParaRPr/>
          </a:p>
          <a:p>
            <a:pPr indent="0" lvl="1" marL="4032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lines, within the body of the email message area different from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MAIL FROM:, RCPT TO: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commands!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Body: the “message” , ASCII characters only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Retrieving email: mail access protocols</a:t>
            </a:r>
            <a:endParaRPr sz="4400"/>
          </a:p>
        </p:txBody>
      </p:sp>
      <p:grpSp>
        <p:nvGrpSpPr>
          <p:cNvPr id="792" name="Google Shape;792;p19"/>
          <p:cNvGrpSpPr/>
          <p:nvPr/>
        </p:nvGrpSpPr>
        <p:grpSpPr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793" name="Google Shape;793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9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8" name="Google Shape;798;p19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799" name="Google Shape;799;p19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19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1" name="Google Shape;801;p19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2" name="Google Shape;802;p19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803" name="Google Shape;803;p19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5" name="Google Shape;805;p19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9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7" name="Google Shape;807;p19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808" name="Google Shape;808;p19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0" name="Google Shape;810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1" name="Google Shape;811;p19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812" name="Google Shape;812;p19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4" name="Google Shape;814;p19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9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9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9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9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9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9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5" name="Google Shape;825;p19"/>
          <p:cNvGrpSpPr/>
          <p:nvPr/>
        </p:nvGrpSpPr>
        <p:grpSpPr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826" name="Google Shape;826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9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9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1" name="Google Shape;831;p19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832" name="Google Shape;832;p19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19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4" name="Google Shape;834;p19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5" name="Google Shape;835;p19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836" name="Google Shape;836;p19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" name="Google Shape;838;p19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0" name="Google Shape;840;p19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841" name="Google Shape;841;p19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19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" name="Google Shape;843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19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845" name="Google Shape;845;p19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19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7" name="Google Shape;847;p19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8" name="Google Shape;858;p19"/>
          <p:cNvGrpSpPr/>
          <p:nvPr/>
        </p:nvGrpSpPr>
        <p:grpSpPr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859" name="Google Shape;859;p19"/>
            <p:cNvSpPr txBox="1"/>
            <p:nvPr/>
          </p:nvSpPr>
          <p:spPr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sender’s e-mail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0" name="Google Shape;860;p19"/>
            <p:cNvGrpSpPr/>
            <p:nvPr/>
          </p:nvGrpSpPr>
          <p:grpSpPr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861" name="Google Shape;861;p19"/>
              <p:cNvSpPr/>
              <p:nvPr/>
            </p:nvSpPr>
            <p:spPr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863" name="Google Shape;863;p19"/>
              <p:cNvCxnSpPr/>
              <p:nvPr/>
            </p:nvCxnSpPr>
            <p:spPr>
              <a:xfrm>
                <a:off x="2143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" name="Google Shape;864;p19"/>
              <p:cNvCxnSpPr/>
              <p:nvPr/>
            </p:nvCxnSpPr>
            <p:spPr>
              <a:xfrm>
                <a:off x="2252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5" name="Google Shape;865;p19"/>
              <p:cNvCxnSpPr/>
              <p:nvPr/>
            </p:nvCxnSpPr>
            <p:spPr>
              <a:xfrm>
                <a:off x="2307" y="210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" name="Google Shape;866;p19"/>
              <p:cNvCxnSpPr/>
              <p:nvPr/>
            </p:nvCxnSpPr>
            <p:spPr>
              <a:xfrm>
                <a:off x="2364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19"/>
              <p:cNvCxnSpPr/>
              <p:nvPr/>
            </p:nvCxnSpPr>
            <p:spPr>
              <a:xfrm>
                <a:off x="2425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9"/>
              <p:cNvCxnSpPr/>
              <p:nvPr/>
            </p:nvCxnSpPr>
            <p:spPr>
              <a:xfrm>
                <a:off x="2481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" name="Google Shape;869;p19"/>
              <p:cNvCxnSpPr/>
              <p:nvPr/>
            </p:nvCxnSpPr>
            <p:spPr>
              <a:xfrm>
                <a:off x="2196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0" name="Google Shape;870;p19"/>
              <p:cNvSpPr/>
              <p:nvPr/>
            </p:nvSpPr>
            <p:spPr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875" name="Google Shape;875;p19"/>
          <p:cNvSpPr txBox="1"/>
          <p:nvPr/>
        </p:nvSpPr>
        <p:spPr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876" name="Google Shape;876;p19"/>
          <p:cNvSpPr/>
          <p:nvPr/>
        </p:nvSpPr>
        <p:spPr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7" name="Google Shape;877;p19"/>
          <p:cNvSpPr txBox="1"/>
          <p:nvPr/>
        </p:nvSpPr>
        <p:spPr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878" name="Google Shape;878;p19"/>
          <p:cNvSpPr txBox="1"/>
          <p:nvPr/>
        </p:nvSpPr>
        <p:spPr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receiver’s e-mail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9" name="Google Shape;879;p19"/>
          <p:cNvGrpSpPr/>
          <p:nvPr/>
        </p:nvGrpSpPr>
        <p:grpSpPr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880" name="Google Shape;880;p19"/>
            <p:cNvSpPr/>
            <p:nvPr/>
          </p:nvSpPr>
          <p:spPr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82" name="Google Shape;882;p19"/>
            <p:cNvCxnSpPr/>
            <p:nvPr/>
          </p:nvCxnSpPr>
          <p:spPr>
            <a:xfrm>
              <a:off x="2143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19"/>
            <p:cNvCxnSpPr/>
            <p:nvPr/>
          </p:nvCxnSpPr>
          <p:spPr>
            <a:xfrm>
              <a:off x="2252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19"/>
            <p:cNvCxnSpPr/>
            <p:nvPr/>
          </p:nvCxnSpPr>
          <p:spPr>
            <a:xfrm>
              <a:off x="2307" y="210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19"/>
            <p:cNvCxnSpPr/>
            <p:nvPr/>
          </p:nvCxnSpPr>
          <p:spPr>
            <a:xfrm>
              <a:off x="2364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19"/>
            <p:cNvCxnSpPr/>
            <p:nvPr/>
          </p:nvCxnSpPr>
          <p:spPr>
            <a:xfrm>
              <a:off x="2425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19"/>
            <p:cNvCxnSpPr/>
            <p:nvPr/>
          </p:nvCxnSpPr>
          <p:spPr>
            <a:xfrm>
              <a:off x="2481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19"/>
            <p:cNvCxnSpPr/>
            <p:nvPr/>
          </p:nvCxnSpPr>
          <p:spPr>
            <a:xfrm>
              <a:off x="2196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9" name="Google Shape;889;p19"/>
            <p:cNvSpPr/>
            <p:nvPr/>
          </p:nvSpPr>
          <p:spPr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descr="Alice" id="894" name="Google Shape;8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895" name="Google Shape;8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6" name="Google Shape;896;p19"/>
          <p:cNvCxnSpPr/>
          <p:nvPr/>
        </p:nvCxnSpPr>
        <p:spPr>
          <a:xfrm>
            <a:off x="3492678" y="2021114"/>
            <a:ext cx="903288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7" name="Google Shape;897;p19"/>
          <p:cNvCxnSpPr/>
          <p:nvPr/>
        </p:nvCxnSpPr>
        <p:spPr>
          <a:xfrm>
            <a:off x="5123041" y="2017939"/>
            <a:ext cx="903287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8" name="Google Shape;898;p19"/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899" name="Google Shape;899;p19"/>
            <p:cNvSpPr txBox="1"/>
            <p:nvPr/>
          </p:nvSpPr>
          <p:spPr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e-mail access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protocol</a:t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0" name="Google Shape;900;p19"/>
            <p:cNvCxnSpPr/>
            <p:nvPr/>
          </p:nvCxnSpPr>
          <p:spPr>
            <a:xfrm>
              <a:off x="6742291" y="2014764"/>
              <a:ext cx="1697037" cy="158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1" name="Google Shape;901;p19"/>
            <p:cNvSpPr txBox="1"/>
            <p:nvPr/>
          </p:nvSpPr>
          <p:spPr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(e.g.,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IMAP, HTTP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</p:grpSp>
      <p:grpSp>
        <p:nvGrpSpPr>
          <p:cNvPr id="902" name="Google Shape;902;p19"/>
          <p:cNvGrpSpPr/>
          <p:nvPr/>
        </p:nvGrpSpPr>
        <p:grpSpPr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903" name="Google Shape;903;p19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904" name="Google Shape;904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5" name="Google Shape;905;p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6" name="Google Shape;906;p19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9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19"/>
          <p:cNvGrpSpPr/>
          <p:nvPr/>
        </p:nvGrpSpPr>
        <p:grpSpPr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909" name="Google Shape;909;p19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910" name="Google Shape;910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" name="Google Shape;911;p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" name="Google Shape;912;p19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9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19"/>
          <p:cNvSpPr txBox="1"/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delivery/storage of e-mail messages to receiver’s server</a:t>
            </a:r>
            <a:endParaRPr/>
          </a:p>
          <a:p>
            <a:pPr indent="-222250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access protocol: retrieval from server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IMAP: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Internet Mail Access Protocol [RFC 3501]: messages stored on server, IMAP provides retrieval, deletion, folders of stored messages on server</a:t>
            </a:r>
            <a:endParaRPr/>
          </a:p>
          <a:p>
            <a:pPr indent="-288925" lvl="0" marL="3460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gmail, Hotmail, Yahoo!Mail, etc. provides web-based interface on top of STMP (to send), IMAP (or POP) to retrieve e-mail messages</a:t>
            </a:r>
            <a:endParaRPr/>
          </a:p>
          <a:p>
            <a:pPr indent="-920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20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921" name="Google Shape;92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20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923" name="Google Shape;923;p20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924" name="Google Shape;924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5" name="Google Shape;925;p20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6" name="Google Shape;926;p20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927" name="Google Shape;927;p20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9" name="Google Shape;92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0" name="Google Shape;930;p20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sz="60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0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sz="24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1"/>
          <p:cNvSpPr txBox="1"/>
          <p:nvPr/>
        </p:nvSpPr>
        <p:spPr>
          <a:xfrm>
            <a:off x="809242" y="1870563"/>
            <a:ext cx="402876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Noto Sans Symbols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infrastructure:  user agents, servers, mailboxes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SMTP: simple mail transfer protocol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944" name="Google Shape;944;p22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S: 220 hamburger.edu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E-mail: servers, SMTP</a:t>
            </a:r>
            <a:endParaRPr sz="4400"/>
          </a:p>
        </p:txBody>
      </p:sp>
      <p:grpSp>
        <p:nvGrpSpPr>
          <p:cNvPr id="951" name="Google Shape;951;p23"/>
          <p:cNvGrpSpPr/>
          <p:nvPr/>
        </p:nvGrpSpPr>
        <p:grpSpPr>
          <a:xfrm>
            <a:off x="9904347" y="4894417"/>
            <a:ext cx="1736725" cy="973138"/>
            <a:chOff x="4458" y="3335"/>
            <a:chExt cx="1094" cy="613"/>
          </a:xfrm>
        </p:grpSpPr>
        <p:sp>
          <p:nvSpPr>
            <p:cNvPr id="952" name="Google Shape;952;p2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3" name="Google Shape;953;p2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954" name="Google Shape;954;p2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55" name="Google Shape;955;p2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6" name="Google Shape;956;p2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7" name="Google Shape;957;p2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" name="Google Shape;958;p2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" name="Google Shape;959;p2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" name="Google Shape;960;p2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" name="Google Shape;961;p2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62" name="Google Shape;962;p2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2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p23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965" name="Google Shape;965;p23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966" name="Google Shape;966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2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2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1" name="Google Shape;971;p2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972" name="Google Shape;972;p2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2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74" name="Google Shape;974;p2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5" name="Google Shape;975;p2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976" name="Google Shape;976;p2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2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78" name="Google Shape;978;p2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2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0" name="Google Shape;980;p2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981" name="Google Shape;981;p2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3" name="Google Shape;983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4" name="Google Shape;984;p2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985" name="Google Shape;985;p2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7" name="Google Shape;987;p2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23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999" name="Google Shape;999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2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4" name="Google Shape;1004;p2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1005" name="Google Shape;1005;p2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2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07" name="Google Shape;1007;p2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8" name="Google Shape;1008;p2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1009" name="Google Shape;1009;p2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2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1" name="Google Shape;1011;p2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3" name="Google Shape;1013;p2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1014" name="Google Shape;1014;p2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2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6" name="Google Shape;1016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7" name="Google Shape;1017;p2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1018" name="Google Shape;1018;p2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2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20" name="Google Shape;1020;p2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1" name="Google Shape;1031;p23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3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37" name="Google Shape;1037;p23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1038" name="Google Shape;1038;p23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23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0" name="Google Shape;1040;p23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41" name="Google Shape;1041;p23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4" name="Google Shape;1044;p23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23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46" name="Google Shape;1046;p23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1047" name="Google Shape;1047;p23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3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9" name="Google Shape;1049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0" name="Google Shape;1050;p23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1051" name="Google Shape;1051;p23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23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53" name="Google Shape;1053;p23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23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23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23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23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23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23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23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64" name="Google Shape;1064;p23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065" name="Google Shape;1065;p23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066" name="Google Shape;1066;p2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2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2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69" name="Google Shape;1069;p2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2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" name="Google Shape;1071;p2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" name="Google Shape;1072;p2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" name="Google Shape;1073;p2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4" name="Google Shape;1074;p2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" name="Google Shape;1075;p2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6" name="Google Shape;1076;p2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1" name="Google Shape;1081;p23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082" name="Google Shape;1082;p2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2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2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85" name="Google Shape;1085;p2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6" name="Google Shape;1086;p2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" name="Google Shape;1087;p2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" name="Google Shape;1088;p2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" name="Google Shape;1089;p2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0" name="Google Shape;1090;p2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" name="Google Shape;1091;p2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2" name="Google Shape;1092;p2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2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2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7" name="Google Shape;1097;p23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098" name="Google Shape;1098;p23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3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1" name="Google Shape;1101;p23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" name="Google Shape;1102;p23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" name="Google Shape;1103;p23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" name="Google Shape;1104;p23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23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23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23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8" name="Google Shape;1108;p23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23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23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23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13" name="Google Shape;1113;p23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4" name="Google Shape;1114;p23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115" name="Google Shape;1115;p23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1116" name="Google Shape;1116;p2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23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1118" name="Google Shape;1118;p23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1119" name="Google Shape;1119;p2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23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1121" name="Google Shape;1121;p23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1122" name="Google Shape;1122;p23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23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1124" name="Google Shape;1124;p23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1125" name="Google Shape;1125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26" name="Google Shape;1126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7" name="Google Shape;1127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28" name="Google Shape;1128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23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1131" name="Google Shape;1131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32" name="Google Shape;1132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33" name="Google Shape;1133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34" name="Google Shape;1134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23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1137" name="Google Shape;1137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38" name="Google Shape;1138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39" name="Google Shape;1139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40" name="Google Shape;1140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2" name="Google Shape;1142;p23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1143" name="Google Shape;1143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44" name="Google Shape;1144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45" name="Google Shape;1145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46" name="Google Shape;1146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23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1149" name="Google Shape;1149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50" name="Google Shape;1150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51" name="Google Shape;1151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52" name="Google Shape;1152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4" name="Google Shape;1154;p23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1155" name="Google Shape;1155;p2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1156" name="Google Shape;1156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57" name="Google Shape;1157;p2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58" name="Google Shape;1158;p2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2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60" name="Google Shape;1160;p23"/>
          <p:cNvSpPr txBox="1"/>
          <p:nvPr/>
        </p:nvSpPr>
        <p:spPr>
          <a:xfrm>
            <a:off x="660265" y="1387147"/>
            <a:ext cx="567403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mail servers to send email messages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4"/>
          <p:cNvSpPr txBox="1"/>
          <p:nvPr>
            <p:ph type="title"/>
          </p:nvPr>
        </p:nvSpPr>
        <p:spPr>
          <a:xfrm>
            <a:off x="426956" y="262679"/>
            <a:ext cx="8248414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Applications</a:t>
            </a:r>
            <a:endParaRPr/>
          </a:p>
        </p:txBody>
      </p:sp>
      <p:sp>
        <p:nvSpPr>
          <p:cNvPr id="1167" name="Google Shape;1167;p24"/>
          <p:cNvSpPr txBox="1"/>
          <p:nvPr>
            <p:ph idx="2" type="body"/>
          </p:nvPr>
        </p:nvSpPr>
        <p:spPr>
          <a:xfrm>
            <a:off x="321679" y="1241355"/>
            <a:ext cx="7372469" cy="76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74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None/>
            </a:pPr>
            <a:r>
              <a:rPr lang="en-US" sz="3600"/>
              <a:t>Email: infrastructure, SMTP</a:t>
            </a:r>
            <a:endParaRPr sz="2400"/>
          </a:p>
        </p:txBody>
      </p:sp>
      <p:grpSp>
        <p:nvGrpSpPr>
          <p:cNvPr id="1168" name="Google Shape;1168;p24"/>
          <p:cNvGrpSpPr/>
          <p:nvPr/>
        </p:nvGrpSpPr>
        <p:grpSpPr>
          <a:xfrm>
            <a:off x="7221415" y="335282"/>
            <a:ext cx="4685323" cy="6291665"/>
            <a:chOff x="7139354" y="-227427"/>
            <a:chExt cx="4685323" cy="6291665"/>
          </a:xfrm>
        </p:grpSpPr>
        <p:pic>
          <p:nvPicPr>
            <p:cNvPr descr="University of Massachusetts Amherst - Wikipedia" id="1169" name="Google Shape;116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65888" y="859888"/>
              <a:ext cx="968912" cy="9689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24"/>
            <p:cNvSpPr txBox="1"/>
            <p:nvPr/>
          </p:nvSpPr>
          <p:spPr>
            <a:xfrm>
              <a:off x="7363264" y="-227427"/>
              <a:ext cx="4399280" cy="1058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3A3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</p:txBody>
        </p:sp>
        <p:grpSp>
          <p:nvGrpSpPr>
            <p:cNvPr id="1171" name="Google Shape;1171;p24"/>
            <p:cNvGrpSpPr/>
            <p:nvPr/>
          </p:nvGrpSpPr>
          <p:grpSpPr>
            <a:xfrm>
              <a:off x="7139354" y="3972556"/>
              <a:ext cx="4685323" cy="2091682"/>
              <a:chOff x="7159674" y="4874256"/>
              <a:chExt cx="4685323" cy="2091682"/>
            </a:xfrm>
          </p:grpSpPr>
          <p:pic>
            <p:nvPicPr>
              <p:cNvPr descr="Kurose_CVR_REV2.jpg" id="1172" name="Google Shape;1172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571091" y="4874256"/>
                <a:ext cx="1144205" cy="14997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3" name="Google Shape;1173;p24"/>
              <p:cNvSpPr txBox="1"/>
              <p:nvPr/>
            </p:nvSpPr>
            <p:spPr>
              <a:xfrm>
                <a:off x="7159674" y="6375007"/>
                <a:ext cx="4685323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1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(8</a:t>
                </a:r>
                <a:r>
                  <a:rPr b="0" baseline="30000" i="1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/>
              </a:p>
              <a:p>
                <a:pPr indent="0" lvl="0" marL="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</p:txBody>
          </p:sp>
        </p:grpSp>
      </p:grpSp>
      <p:pic>
        <p:nvPicPr>
          <p:cNvPr id="1174" name="Google Shape;11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082" y="2634573"/>
            <a:ext cx="5394490" cy="286052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</p:pic>
      <p:pic>
        <p:nvPicPr>
          <p:cNvPr id="1175" name="Google Shape;117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798976"/>
            <a:ext cx="2508157" cy="3690258"/>
          </a:xfrm>
          <a:prstGeom prst="rect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pic>
        <p:nvPicPr>
          <p:cNvPr id="1176" name="Google Shape;117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2991" y="4198510"/>
            <a:ext cx="3973621" cy="223482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