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GillSans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2" name="Google Shape;1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0" name="Google Shape;14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9" name="Google Shape;16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6" name="Google Shape;19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3" name="Google Shape;19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Control Plane</a:t>
            </a:r>
            <a:endParaRPr sz="6000"/>
          </a:p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introduction</a:t>
            </a:r>
            <a:endParaRPr/>
          </a:p>
          <a:p>
            <a:pPr indent="-274638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600">
                <a:solidFill>
                  <a:srgbClr val="D8D8D8"/>
                </a:solidFill>
              </a:rPr>
              <a:t>routing algorithms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</a:rPr>
              <a:t>link state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D8D8D8"/>
                </a:solidFill>
              </a:rPr>
              <a:t>distance vector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D8D8D8"/>
                </a:solidFill>
              </a:rPr>
              <a:t>intra-ISP routing: OSPF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Pct val="100000"/>
              <a:buChar char="▪"/>
            </a:pPr>
            <a:r>
              <a:rPr lang="en-US" sz="3200"/>
              <a:t>routing among ISPs: BGP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SDN control plane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Internet Control Message Protocol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Network management, configuration</a:t>
            </a:r>
            <a:endParaRPr/>
          </a:p>
          <a:p>
            <a:pPr indent="-121284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None/>
            </a:pPr>
            <a:r>
              <a:t/>
            </a:r>
            <a:endParaRPr>
              <a:solidFill>
                <a:srgbClr val="BFBFBF"/>
              </a:solidFill>
            </a:endParaRPr>
          </a:p>
        </p:txBody>
      </p:sp>
      <p:grpSp>
        <p:nvGrpSpPr>
          <p:cNvPr id="56" name="Google Shape;56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7" name="Google Shape;5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9" name="Google Shape;59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0" name="Google Shape;60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838199" y="1478604"/>
            <a:ext cx="10785953" cy="5000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CC0000"/>
                </a:solidFill>
              </a:rPr>
              <a:t>BGP (Border Gateway Protocol):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i="1" lang="en-US">
                <a:solidFill>
                  <a:srgbClr val="000000"/>
                </a:solidFill>
              </a:rPr>
              <a:t>the</a:t>
            </a:r>
            <a:r>
              <a:rPr lang="en-US">
                <a:solidFill>
                  <a:srgbClr val="000000"/>
                </a:solidFill>
              </a:rPr>
              <a:t> de facto inter-domain routing protocol</a:t>
            </a:r>
            <a:endParaRPr/>
          </a:p>
          <a:p>
            <a:pPr indent="-277813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“glue that holds the Internet together”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allows subnet to advertise its existence, and the destinations it can reach, to rest of Internet: </a:t>
            </a:r>
            <a:r>
              <a:rPr i="1" lang="en-US">
                <a:solidFill>
                  <a:srgbClr val="000099"/>
                </a:solidFill>
              </a:rPr>
              <a:t>“I am here, here is who I can reach, and how”</a:t>
            </a:r>
            <a:endParaRPr i="1">
              <a:solidFill>
                <a:srgbClr val="000099"/>
              </a:solidFill>
            </a:endParaRPr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BGP provides each AS a means to: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</a:rPr>
              <a:t>obtain destination network reachability info from neighboring ASes (</a:t>
            </a:r>
            <a:r>
              <a:rPr lang="en-US" sz="2600">
                <a:solidFill>
                  <a:srgbClr val="CC0000"/>
                </a:solidFill>
              </a:rPr>
              <a:t>eBGP)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</a:rPr>
              <a:t>determine routes to other networks based on reachability information and </a:t>
            </a:r>
            <a:r>
              <a:rPr i="1" lang="en-US" sz="2600">
                <a:solidFill>
                  <a:srgbClr val="000090"/>
                </a:solidFill>
              </a:rPr>
              <a:t>policy</a:t>
            </a:r>
            <a:endParaRPr sz="2600">
              <a:solidFill>
                <a:srgbClr val="000090"/>
              </a:solidFill>
            </a:endParaRPr>
          </a:p>
          <a:p>
            <a:pPr indent="-342900" lvl="1" marL="800100" rtl="0" algn="l">
              <a:lnSpc>
                <a:spcPct val="8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</a:rPr>
              <a:t>propagate reachability information to all AS-internal routers </a:t>
            </a:r>
            <a:r>
              <a:rPr lang="en-US" sz="2600">
                <a:solidFill>
                  <a:srgbClr val="C00000"/>
                </a:solidFill>
              </a:rPr>
              <a:t>(iBGP)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C00000"/>
                </a:solidFill>
              </a:rPr>
              <a:t>advertise</a:t>
            </a:r>
            <a:r>
              <a:rPr lang="en-US" sz="2600"/>
              <a:t> (to neighboring networks) destination reachability info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inter-AS routing: BGP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eBGP, iBGP connections</a:t>
            </a:r>
            <a:endParaRPr/>
          </a:p>
        </p:txBody>
      </p:sp>
      <p:grpSp>
        <p:nvGrpSpPr>
          <p:cNvPr id="75" name="Google Shape;75;p13"/>
          <p:cNvGrpSpPr/>
          <p:nvPr/>
        </p:nvGrpSpPr>
        <p:grpSpPr>
          <a:xfrm>
            <a:off x="3310188" y="4548402"/>
            <a:ext cx="3666682" cy="635979"/>
            <a:chOff x="7493868" y="5383138"/>
            <a:chExt cx="3666682" cy="635979"/>
          </a:xfrm>
        </p:grpSpPr>
        <p:cxnSp>
          <p:nvCxnSpPr>
            <p:cNvPr id="76" name="Google Shape;76;p13"/>
            <p:cNvCxnSpPr/>
            <p:nvPr/>
          </p:nvCxnSpPr>
          <p:spPr>
            <a:xfrm rot="10800000">
              <a:off x="7493868" y="5589319"/>
              <a:ext cx="749784" cy="11598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3"/>
            <p:cNvCxnSpPr/>
            <p:nvPr/>
          </p:nvCxnSpPr>
          <p:spPr>
            <a:xfrm flipH="1" rot="10800000">
              <a:off x="7523346" y="5869497"/>
              <a:ext cx="699488" cy="69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00009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78" name="Google Shape;78;p13"/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eBGP connectivity</a:t>
              </a:r>
              <a:endParaRPr/>
            </a:p>
          </p:txBody>
        </p:sp>
        <p:sp>
          <p:nvSpPr>
            <p:cNvPr id="79" name="Google Shape;79;p13"/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logical iBGP connectivity</a:t>
              </a:r>
              <a:endParaRPr/>
            </a:p>
          </p:txBody>
        </p:sp>
      </p:grpSp>
      <p:sp>
        <p:nvSpPr>
          <p:cNvPr id="80" name="Google Shape;80;p13"/>
          <p:cNvSpPr/>
          <p:nvPr/>
        </p:nvSpPr>
        <p:spPr>
          <a:xfrm>
            <a:off x="786904" y="2613036"/>
            <a:ext cx="2712783" cy="1853712"/>
          </a:xfrm>
          <a:custGeom>
            <a:rect b="b" l="l" r="r" t="t"/>
            <a:pathLst>
              <a:path extrusionOk="0" h="10795" w="10000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13"/>
          <p:cNvGrpSpPr/>
          <p:nvPr/>
        </p:nvGrpSpPr>
        <p:grpSpPr>
          <a:xfrm>
            <a:off x="1925065" y="2763898"/>
            <a:ext cx="565150" cy="369332"/>
            <a:chOff x="1736090" y="2873352"/>
            <a:chExt cx="565150" cy="369332"/>
          </a:xfrm>
        </p:grpSpPr>
        <p:grpSp>
          <p:nvGrpSpPr>
            <p:cNvPr id="82" name="Google Shape;82;p1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83" name="Google Shape;83;p1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0" name="Google Shape;90;p13"/>
              <p:cNvCxnSpPr>
                <a:endCxn id="85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1" name="Google Shape;91;p1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2" name="Google Shape;92;p1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/>
              </a:p>
            </p:txBody>
          </p:sp>
        </p:grpSp>
      </p:grpSp>
      <p:grpSp>
        <p:nvGrpSpPr>
          <p:cNvPr id="95" name="Google Shape;95;p13"/>
          <p:cNvGrpSpPr/>
          <p:nvPr/>
        </p:nvGrpSpPr>
        <p:grpSpPr>
          <a:xfrm>
            <a:off x="1929295" y="3985215"/>
            <a:ext cx="565150" cy="369332"/>
            <a:chOff x="1736090" y="2873352"/>
            <a:chExt cx="565150" cy="369332"/>
          </a:xfrm>
        </p:grpSpPr>
        <p:grpSp>
          <p:nvGrpSpPr>
            <p:cNvPr id="96" name="Google Shape;96;p1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7" name="Google Shape;97;p1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4" name="Google Shape;104;p13"/>
              <p:cNvCxnSpPr>
                <a:endCxn id="99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05" name="Google Shape;105;p1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06" name="Google Shape;106;p1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8" name="Google Shape;108;p1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1d</a:t>
                </a:r>
                <a:endParaRPr/>
              </a:p>
            </p:txBody>
          </p:sp>
        </p:grpSp>
      </p:grpSp>
      <p:grpSp>
        <p:nvGrpSpPr>
          <p:cNvPr id="109" name="Google Shape;109;p13"/>
          <p:cNvGrpSpPr/>
          <p:nvPr/>
        </p:nvGrpSpPr>
        <p:grpSpPr>
          <a:xfrm>
            <a:off x="2790781" y="3375618"/>
            <a:ext cx="565150" cy="369332"/>
            <a:chOff x="1736090" y="2873352"/>
            <a:chExt cx="565150" cy="369332"/>
          </a:xfrm>
        </p:grpSpPr>
        <p:grpSp>
          <p:nvGrpSpPr>
            <p:cNvPr id="110" name="Google Shape;110;p1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11" name="Google Shape;111;p1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8" name="Google Shape;118;p13"/>
              <p:cNvCxnSpPr>
                <a:endCxn id="11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19" name="Google Shape;119;p1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20" name="Google Shape;120;p13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121" name="Google Shape;121;p1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2" name="Google Shape;122;p13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1c</a:t>
                </a:r>
                <a:endParaRPr/>
              </a:p>
            </p:txBody>
          </p:sp>
        </p:grpSp>
      </p:grpSp>
      <p:grpSp>
        <p:nvGrpSpPr>
          <p:cNvPr id="123" name="Google Shape;123;p13"/>
          <p:cNvGrpSpPr/>
          <p:nvPr/>
        </p:nvGrpSpPr>
        <p:grpSpPr>
          <a:xfrm>
            <a:off x="1022306" y="3369265"/>
            <a:ext cx="565150" cy="369332"/>
            <a:chOff x="1736090" y="2873352"/>
            <a:chExt cx="565150" cy="369332"/>
          </a:xfrm>
        </p:grpSpPr>
        <p:grpSp>
          <p:nvGrpSpPr>
            <p:cNvPr id="124" name="Google Shape;124;p1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25" name="Google Shape;125;p1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32" name="Google Shape;132;p13"/>
              <p:cNvCxnSpPr>
                <a:endCxn id="12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33" name="Google Shape;133;p1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34" name="Google Shape;134;p1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135" name="Google Shape;135;p1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36" name="Google Shape;136;p1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1a</a:t>
                </a:r>
                <a:endParaRPr/>
              </a:p>
            </p:txBody>
          </p:sp>
        </p:grpSp>
      </p:grpSp>
      <p:cxnSp>
        <p:nvCxnSpPr>
          <p:cNvPr id="137" name="Google Shape;137;p13"/>
          <p:cNvCxnSpPr>
            <a:stCxn id="94" idx="2"/>
            <a:endCxn id="108" idx="0"/>
          </p:cNvCxnSpPr>
          <p:nvPr/>
        </p:nvCxnSpPr>
        <p:spPr>
          <a:xfrm>
            <a:off x="2180048" y="3133230"/>
            <a:ext cx="4200" cy="8520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8" name="Google Shape;138;p13"/>
          <p:cNvCxnSpPr/>
          <p:nvPr/>
        </p:nvCxnSpPr>
        <p:spPr>
          <a:xfrm>
            <a:off x="1596452" y="3539167"/>
            <a:ext cx="1204913" cy="6353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9" name="Google Shape;139;p13"/>
          <p:cNvCxnSpPr>
            <a:stCxn id="83" idx="7"/>
          </p:cNvCxnSpPr>
          <p:nvPr/>
        </p:nvCxnSpPr>
        <p:spPr>
          <a:xfrm>
            <a:off x="2407683" y="3045023"/>
            <a:ext cx="480000" cy="3699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" name="Google Shape;140;p13"/>
          <p:cNvCxnSpPr/>
          <p:nvPr/>
        </p:nvCxnSpPr>
        <p:spPr>
          <a:xfrm>
            <a:off x="1489048" y="3676850"/>
            <a:ext cx="477927" cy="35707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" name="Google Shape;141;p13"/>
          <p:cNvCxnSpPr/>
          <p:nvPr/>
        </p:nvCxnSpPr>
        <p:spPr>
          <a:xfrm flipH="1">
            <a:off x="2385017" y="3674088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13"/>
          <p:cNvCxnSpPr/>
          <p:nvPr/>
        </p:nvCxnSpPr>
        <p:spPr>
          <a:xfrm flipH="1">
            <a:off x="1476528" y="3057492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3" name="Google Shape;143;p13"/>
          <p:cNvGrpSpPr/>
          <p:nvPr/>
        </p:nvGrpSpPr>
        <p:grpSpPr>
          <a:xfrm>
            <a:off x="3395746" y="1828479"/>
            <a:ext cx="2712783" cy="1853712"/>
            <a:chOff x="-2170772" y="2784954"/>
            <a:chExt cx="2712783" cy="1853712"/>
          </a:xfrm>
        </p:grpSpPr>
        <p:sp>
          <p:nvSpPr>
            <p:cNvPr id="144" name="Google Shape;144;p1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1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46" name="Google Shape;146;p1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47" name="Google Shape;147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48" name="Google Shape;148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49" name="Google Shape;149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50" name="Google Shape;150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51" name="Google Shape;151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53" name="Google Shape;153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54" name="Google Shape;154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155" name="Google Shape;155;p13"/>
                  <p:cNvCxnSpPr>
                    <a:endCxn id="150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156" name="Google Shape;156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157" name="Google Shape;157;p1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58" name="Google Shape;158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59" name="Google Shape;159;p1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2b</a:t>
                    </a:r>
                    <a:endParaRPr/>
                  </a:p>
                </p:txBody>
              </p:sp>
            </p:grpSp>
          </p:grpSp>
          <p:grpSp>
            <p:nvGrpSpPr>
              <p:cNvPr id="160" name="Google Shape;160;p1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61" name="Google Shape;161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62" name="Google Shape;162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63" name="Google Shape;163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64" name="Google Shape;164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65" name="Google Shape;165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66" name="Google Shape;166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67" name="Google Shape;167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68" name="Google Shape;168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169" name="Google Shape;169;p13"/>
                  <p:cNvCxnSpPr>
                    <a:endCxn id="16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170" name="Google Shape;170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171" name="Google Shape;171;p1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72" name="Google Shape;172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73" name="Google Shape;173;p1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2d</a:t>
                    </a:r>
                    <a:endParaRPr/>
                  </a:p>
                </p:txBody>
              </p:sp>
            </p:grpSp>
          </p:grpSp>
          <p:grpSp>
            <p:nvGrpSpPr>
              <p:cNvPr id="174" name="Google Shape;174;p1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75" name="Google Shape;175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76" name="Google Shape;176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77" name="Google Shape;177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78" name="Google Shape;178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79" name="Google Shape;179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80" name="Google Shape;180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81" name="Google Shape;181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82" name="Google Shape;182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183" name="Google Shape;183;p13"/>
                  <p:cNvCxnSpPr>
                    <a:endCxn id="178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184" name="Google Shape;184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185" name="Google Shape;185;p1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186" name="Google Shape;186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87" name="Google Shape;187;p1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2c</a:t>
                    </a:r>
                    <a:endParaRPr/>
                  </a:p>
                </p:txBody>
              </p:sp>
            </p:grpSp>
          </p:grpSp>
          <p:grpSp>
            <p:nvGrpSpPr>
              <p:cNvPr id="188" name="Google Shape;188;p1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89" name="Google Shape;189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90" name="Google Shape;190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91" name="Google Shape;191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92" name="Google Shape;192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93" name="Google Shape;193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94" name="Google Shape;194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95" name="Google Shape;195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196" name="Google Shape;196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197" name="Google Shape;197;p13"/>
                  <p:cNvCxnSpPr>
                    <a:endCxn id="192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198" name="Google Shape;198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199" name="Google Shape;199;p1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00" name="Google Shape;200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01" name="Google Shape;201;p1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2a</a:t>
                    </a:r>
                    <a:endParaRPr/>
                  </a:p>
                </p:txBody>
              </p:sp>
            </p:grpSp>
          </p:grpSp>
          <p:cxnSp>
            <p:nvCxnSpPr>
              <p:cNvPr id="202" name="Google Shape;202;p13"/>
              <p:cNvCxnSpPr>
                <a:stCxn id="159" idx="2"/>
                <a:endCxn id="173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13"/>
              <p:cNvCxnSpPr>
                <a:stCxn id="148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1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1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7" name="Google Shape;207;p1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08" name="Google Shape;208;p13"/>
          <p:cNvGrpSpPr/>
          <p:nvPr/>
        </p:nvGrpSpPr>
        <p:grpSpPr>
          <a:xfrm>
            <a:off x="6067040" y="2647158"/>
            <a:ext cx="2712783" cy="1853712"/>
            <a:chOff x="-2170772" y="2784954"/>
            <a:chExt cx="2712783" cy="1853712"/>
          </a:xfrm>
        </p:grpSpPr>
        <p:sp>
          <p:nvSpPr>
            <p:cNvPr id="209" name="Google Shape;209;p1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1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11" name="Google Shape;211;p1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12" name="Google Shape;212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13" name="Google Shape;213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14" name="Google Shape;214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15" name="Google Shape;215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16" name="Google Shape;216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17" name="Google Shape;217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18" name="Google Shape;218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19" name="Google Shape;219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220" name="Google Shape;220;p13"/>
                  <p:cNvCxnSpPr>
                    <a:endCxn id="215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221" name="Google Shape;221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222" name="Google Shape;222;p1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23" name="Google Shape;223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24" name="Google Shape;224;p1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3b</a:t>
                    </a:r>
                    <a:endParaRPr/>
                  </a:p>
                </p:txBody>
              </p:sp>
            </p:grpSp>
          </p:grpSp>
          <p:grpSp>
            <p:nvGrpSpPr>
              <p:cNvPr id="225" name="Google Shape;225;p1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26" name="Google Shape;226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7" name="Google Shape;227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28" name="Google Shape;228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29" name="Google Shape;229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0" name="Google Shape;230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1" name="Google Shape;231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2" name="Google Shape;232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3" name="Google Shape;233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234" name="Google Shape;234;p13"/>
                  <p:cNvCxnSpPr>
                    <a:endCxn id="229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235" name="Google Shape;235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236" name="Google Shape;236;p1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37" name="Google Shape;237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38" name="Google Shape;238;p1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3d</a:t>
                    </a:r>
                    <a:endParaRPr/>
                  </a:p>
                </p:txBody>
              </p:sp>
            </p:grpSp>
          </p:grpSp>
          <p:grpSp>
            <p:nvGrpSpPr>
              <p:cNvPr id="239" name="Google Shape;239;p1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40" name="Google Shape;240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41" name="Google Shape;241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2" name="Google Shape;242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3" name="Google Shape;243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4" name="Google Shape;244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5" name="Google Shape;245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6" name="Google Shape;246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47" name="Google Shape;247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248" name="Google Shape;248;p13"/>
                  <p:cNvCxnSpPr>
                    <a:endCxn id="243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249" name="Google Shape;249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250" name="Google Shape;250;p1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51" name="Google Shape;251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52" name="Google Shape;252;p1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3c</a:t>
                    </a:r>
                    <a:endParaRPr/>
                  </a:p>
                </p:txBody>
              </p:sp>
            </p:grpSp>
          </p:grpSp>
          <p:grpSp>
            <p:nvGrpSpPr>
              <p:cNvPr id="253" name="Google Shape;253;p1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54" name="Google Shape;254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55" name="Google Shape;255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56" name="Google Shape;256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57" name="Google Shape;257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58" name="Google Shape;258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59" name="Google Shape;259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60" name="Google Shape;260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61" name="Google Shape;261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262" name="Google Shape;262;p13"/>
                  <p:cNvCxnSpPr>
                    <a:endCxn id="257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263" name="Google Shape;263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264" name="Google Shape;264;p1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65" name="Google Shape;265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66" name="Google Shape;266;p1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3a</a:t>
                    </a:r>
                    <a:endParaRPr/>
                  </a:p>
                </p:txBody>
              </p:sp>
            </p:grpSp>
          </p:grpSp>
          <p:cxnSp>
            <p:nvCxnSpPr>
              <p:cNvPr id="267" name="Google Shape;267;p13"/>
              <p:cNvCxnSpPr>
                <a:stCxn id="224" idx="2"/>
                <a:endCxn id="238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1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" name="Google Shape;269;p13"/>
              <p:cNvCxnSpPr>
                <a:stCxn id="213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0" name="Google Shape;270;p1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1" name="Google Shape;271;p1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1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273" name="Google Shape;273;p13"/>
          <p:cNvCxnSpPr/>
          <p:nvPr/>
        </p:nvCxnSpPr>
        <p:spPr>
          <a:xfrm flipH="1">
            <a:off x="3248948" y="2887985"/>
            <a:ext cx="495463" cy="495451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74" name="Google Shape;274;p13"/>
          <p:cNvCxnSpPr>
            <a:endCxn id="176" idx="7"/>
          </p:cNvCxnSpPr>
          <p:nvPr/>
        </p:nvCxnSpPr>
        <p:spPr>
          <a:xfrm rot="10800000">
            <a:off x="5882241" y="2872186"/>
            <a:ext cx="498900" cy="573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5" name="Google Shape;275;p13"/>
          <p:cNvSpPr txBox="1"/>
          <p:nvPr/>
        </p:nvSpPr>
        <p:spPr>
          <a:xfrm>
            <a:off x="4463200" y="3790772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2</a:t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7134493" y="4546988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3</a:t>
            </a:r>
            <a:endParaRPr/>
          </a:p>
        </p:txBody>
      </p:sp>
      <p:sp>
        <p:nvSpPr>
          <p:cNvPr id="277" name="Google Shape;277;p13"/>
          <p:cNvSpPr txBox="1"/>
          <p:nvPr/>
        </p:nvSpPr>
        <p:spPr>
          <a:xfrm>
            <a:off x="1853577" y="4491176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1</a:t>
            </a:r>
            <a:endParaRPr/>
          </a:p>
        </p:txBody>
      </p:sp>
      <p:grpSp>
        <p:nvGrpSpPr>
          <p:cNvPr id="278" name="Google Shape;278;p13"/>
          <p:cNvGrpSpPr/>
          <p:nvPr/>
        </p:nvGrpSpPr>
        <p:grpSpPr>
          <a:xfrm>
            <a:off x="1248381" y="2326131"/>
            <a:ext cx="6465899" cy="3959125"/>
            <a:chOff x="1020408" y="2368720"/>
            <a:chExt cx="6465899" cy="3959125"/>
          </a:xfrm>
        </p:grpSpPr>
        <p:grpSp>
          <p:nvGrpSpPr>
            <p:cNvPr id="279" name="Google Shape;279;p1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280" name="Google Shape;280;p13"/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81" name="Google Shape;281;p1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82" name="Google Shape;282;p1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83" name="Google Shape;283;p1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87" name="Google Shape;287;p1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88" name="Google Shape;288;p1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289" name="Google Shape;289;p13"/>
                  <p:cNvCxnSpPr>
                    <a:endCxn id="28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290" name="Google Shape;290;p1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291" name="Google Shape;291;p1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92" name="Google Shape;292;p1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293" name="Google Shape;293;p1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1c</a:t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13"/>
              <p:cNvSpPr/>
              <p:nvPr/>
            </p:nvSpPr>
            <p:spPr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</p:grpSp>
        <p:sp>
          <p:nvSpPr>
            <p:cNvPr id="299" name="Google Shape;299;p13"/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gateway routers run both eBGP and iBGP protocols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basics</a:t>
            </a:r>
            <a:endParaRPr/>
          </a:p>
        </p:txBody>
      </p:sp>
      <p:sp>
        <p:nvSpPr>
          <p:cNvPr id="306" name="Google Shape;306;p14"/>
          <p:cNvSpPr txBox="1"/>
          <p:nvPr/>
        </p:nvSpPr>
        <p:spPr>
          <a:xfrm>
            <a:off x="874679" y="3133368"/>
            <a:ext cx="10972278" cy="12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AS3 gateway 3a advertises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AS2 gateway 2c: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AS3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AS2 it will forward datagrams towards 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BGP session: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BGP routers (“peers, speakers”) exchange BGP messages over semi-permanent TCP connection: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advertising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different destination network prefixes (e.g., to a destination /16 network)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BGP  is a “path vector” protocol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14"/>
          <p:cNvGrpSpPr/>
          <p:nvPr/>
        </p:nvGrpSpPr>
        <p:grpSpPr>
          <a:xfrm>
            <a:off x="4314697" y="4986666"/>
            <a:ext cx="2545688" cy="1720535"/>
            <a:chOff x="4625977" y="4850481"/>
            <a:chExt cx="2545688" cy="1720535"/>
          </a:xfrm>
        </p:grpSpPr>
        <p:grpSp>
          <p:nvGrpSpPr>
            <p:cNvPr id="309" name="Google Shape;309;p14"/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310" name="Google Shape;310;p1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11" name="Google Shape;311;p1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312" name="Google Shape;312;p1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13" name="Google Shape;313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14" name="Google Shape;314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15" name="Google Shape;315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16" name="Google Shape;316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17" name="Google Shape;317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18" name="Google Shape;318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19" name="Google Shape;319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20" name="Google Shape;320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321" name="Google Shape;321;p14"/>
                    <p:cNvCxnSpPr>
                      <a:endCxn id="31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322" name="Google Shape;322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323" name="Google Shape;323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24" name="Google Shape;324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25" name="Google Shape;325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6" name="Google Shape;326;p1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27" name="Google Shape;327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28" name="Google Shape;328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29" name="Google Shape;329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30" name="Google Shape;330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31" name="Google Shape;331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32" name="Google Shape;332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33" name="Google Shape;333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34" name="Google Shape;334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335" name="Google Shape;335;p14"/>
                    <p:cNvCxnSpPr>
                      <a:endCxn id="33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336" name="Google Shape;336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337" name="Google Shape;337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38" name="Google Shape;338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39" name="Google Shape;339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40" name="Google Shape;340;p1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41" name="Google Shape;341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42" name="Google Shape;342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43" name="Google Shape;343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44" name="Google Shape;344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45" name="Google Shape;345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46" name="Google Shape;346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47" name="Google Shape;347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48" name="Google Shape;348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349" name="Google Shape;349;p14"/>
                    <p:cNvCxnSpPr>
                      <a:endCxn id="34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350" name="Google Shape;350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351" name="Google Shape;351;p1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352" name="Google Shape;352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53" name="Google Shape;353;p1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54" name="Google Shape;354;p1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55" name="Google Shape;355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56" name="Google Shape;356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57" name="Google Shape;357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58" name="Google Shape;358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59" name="Google Shape;359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60" name="Google Shape;360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61" name="Google Shape;361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62" name="Google Shape;362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363" name="Google Shape;363;p14"/>
                    <p:cNvCxnSpPr>
                      <a:endCxn id="35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364" name="Google Shape;364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365" name="Google Shape;365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66" name="Google Shape;366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67" name="Google Shape;367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368" name="Google Shape;368;p14"/>
                <p:cNvCxnSpPr>
                  <a:stCxn id="31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9" name="Google Shape;369;p1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0" name="Google Shape;370;p1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371" name="Google Shape;371;p14"/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2</a:t>
              </a:r>
              <a:endParaRPr/>
            </a:p>
          </p:txBody>
        </p:sp>
      </p:grpSp>
      <p:grpSp>
        <p:nvGrpSpPr>
          <p:cNvPr id="372" name="Google Shape;372;p14"/>
          <p:cNvGrpSpPr/>
          <p:nvPr/>
        </p:nvGrpSpPr>
        <p:grpSpPr>
          <a:xfrm>
            <a:off x="7789294" y="4083642"/>
            <a:ext cx="2575521" cy="1672516"/>
            <a:chOff x="8100574" y="3694542"/>
            <a:chExt cx="2575521" cy="1672516"/>
          </a:xfrm>
        </p:grpSpPr>
        <p:sp>
          <p:nvSpPr>
            <p:cNvPr id="373" name="Google Shape;373;p14"/>
            <p:cNvSpPr/>
            <p:nvPr/>
          </p:nvSpPr>
          <p:spPr>
            <a:xfrm>
              <a:off x="8100574" y="3694542"/>
              <a:ext cx="2575521" cy="1672516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4" name="Google Shape;374;p14"/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376" name="Google Shape;376;p1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77" name="Google Shape;377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78" name="Google Shape;378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79" name="Google Shape;379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80" name="Google Shape;380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81" name="Google Shape;381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82" name="Google Shape;382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83" name="Google Shape;383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84" name="Google Shape;384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385" name="Google Shape;385;p14"/>
                    <p:cNvCxnSpPr>
                      <a:endCxn id="38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386" name="Google Shape;386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387" name="Google Shape;387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388" name="Google Shape;388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89" name="Google Shape;389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90" name="Google Shape;390;p1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391" name="Google Shape;391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392" name="Google Shape;392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93" name="Google Shape;393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94" name="Google Shape;394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95" name="Google Shape;395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96" name="Google Shape;396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97" name="Google Shape;397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398" name="Google Shape;398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399" name="Google Shape;399;p14"/>
                    <p:cNvCxnSpPr>
                      <a:endCxn id="39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00" name="Google Shape;400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01" name="Google Shape;401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02" name="Google Shape;402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03" name="Google Shape;403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404" name="Google Shape;404;p1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05" name="Google Shape;405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06" name="Google Shape;406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07" name="Google Shape;407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08" name="Google Shape;408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09" name="Google Shape;409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10" name="Google Shape;410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11" name="Google Shape;411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12" name="Google Shape;412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413" name="Google Shape;413;p14"/>
                    <p:cNvCxnSpPr>
                      <a:endCxn id="40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14" name="Google Shape;414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15" name="Google Shape;415;p1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416" name="Google Shape;416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17" name="Google Shape;417;p1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418" name="Google Shape;418;p1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19" name="Google Shape;419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20" name="Google Shape;420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21" name="Google Shape;421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22" name="Google Shape;422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23" name="Google Shape;423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24" name="Google Shape;424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25" name="Google Shape;425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26" name="Google Shape;426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427" name="Google Shape;427;p14"/>
                    <p:cNvCxnSpPr>
                      <a:endCxn id="422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28" name="Google Shape;428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29" name="Google Shape;429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30" name="Google Shape;430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31" name="Google Shape;431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432" name="Google Shape;432;p14"/>
                <p:cNvCxnSpPr>
                  <a:stCxn id="389" idx="2"/>
                  <a:endCxn id="403" idx="0"/>
                </p:cNvCxnSpPr>
                <p:nvPr/>
              </p:nvCxnSpPr>
              <p:spPr>
                <a:xfrm>
                  <a:off x="1991073" y="3242684"/>
                  <a:ext cx="4200" cy="852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rgbClr val="00009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14"/>
                <p:cNvCxnSpPr/>
                <p:nvPr/>
              </p:nvCxnSpPr>
              <p:spPr>
                <a:xfrm>
                  <a:off x="1407477" y="3648621"/>
                  <a:ext cx="1204913" cy="6353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4" name="Google Shape;434;p14"/>
                <p:cNvCxnSpPr>
                  <a:stCxn id="378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5" name="Google Shape;435;p1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6" name="Google Shape;436;p1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37" name="Google Shape;437;p14"/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90"/>
                    </a:solidFill>
                    <a:latin typeface="Arial"/>
                    <a:ea typeface="Arial"/>
                    <a:cs typeface="Arial"/>
                    <a:sym typeface="Arial"/>
                  </a:rPr>
                  <a:t>AS 3</a:t>
                </a:r>
                <a:endParaRPr/>
              </a:p>
            </p:txBody>
          </p:sp>
        </p:grpSp>
      </p:grpSp>
      <p:grpSp>
        <p:nvGrpSpPr>
          <p:cNvPr id="438" name="Google Shape;438;p14"/>
          <p:cNvGrpSpPr/>
          <p:nvPr/>
        </p:nvGrpSpPr>
        <p:grpSpPr>
          <a:xfrm>
            <a:off x="1115273" y="4272438"/>
            <a:ext cx="3452487" cy="1719017"/>
            <a:chOff x="1426553" y="4136253"/>
            <a:chExt cx="3452487" cy="1719017"/>
          </a:xfrm>
        </p:grpSpPr>
        <p:grpSp>
          <p:nvGrpSpPr>
            <p:cNvPr id="439" name="Google Shape;439;p14"/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440" name="Google Shape;440;p1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1" name="Google Shape;441;p1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442" name="Google Shape;442;p1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43" name="Google Shape;443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44" name="Google Shape;444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45" name="Google Shape;445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46" name="Google Shape;446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47" name="Google Shape;447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48" name="Google Shape;448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49" name="Google Shape;449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50" name="Google Shape;450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451" name="Google Shape;451;p14"/>
                    <p:cNvCxnSpPr>
                      <a:endCxn id="44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52" name="Google Shape;452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53" name="Google Shape;453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54" name="Google Shape;454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55" name="Google Shape;455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456" name="Google Shape;456;p1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57" name="Google Shape;457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58" name="Google Shape;458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59" name="Google Shape;459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60" name="Google Shape;460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61" name="Google Shape;461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62" name="Google Shape;462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63" name="Google Shape;463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64" name="Google Shape;464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465" name="Google Shape;465;p14"/>
                    <p:cNvCxnSpPr>
                      <a:endCxn id="46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66" name="Google Shape;466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67" name="Google Shape;467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68" name="Google Shape;468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69" name="Google Shape;469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470" name="Google Shape;470;p1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71" name="Google Shape;471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72" name="Google Shape;472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73" name="Google Shape;473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74" name="Google Shape;474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75" name="Google Shape;475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76" name="Google Shape;476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77" name="Google Shape;477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78" name="Google Shape;478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479" name="Google Shape;479;p14"/>
                    <p:cNvCxnSpPr>
                      <a:endCxn id="47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80" name="Google Shape;480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81" name="Google Shape;481;p1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482" name="Google Shape;482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83" name="Google Shape;483;p1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484" name="Google Shape;484;p1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485" name="Google Shape;485;p1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486" name="Google Shape;486;p1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87" name="Google Shape;487;p1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88" name="Google Shape;488;p1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89" name="Google Shape;489;p1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90" name="Google Shape;490;p1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91" name="Google Shape;491;p1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92" name="Google Shape;492;p1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493" name="Google Shape;493;p14"/>
                    <p:cNvCxnSpPr>
                      <a:endCxn id="48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494" name="Google Shape;494;p1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495" name="Google Shape;495;p1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496" name="Google Shape;496;p1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497" name="Google Shape;497;p1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498" name="Google Shape;498;p14"/>
                <p:cNvCxnSpPr>
                  <a:stCxn id="44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9" name="Google Shape;499;p1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0" name="Google Shape;500;p1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1" name="Google Shape;501;p1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02" name="Google Shape;502;p14"/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1</a:t>
              </a:r>
              <a:endParaRPr/>
            </a:p>
          </p:txBody>
        </p:sp>
        <p:cxnSp>
          <p:nvCxnSpPr>
            <p:cNvPr id="503" name="Google Shape;503;p14"/>
            <p:cNvCxnSpPr>
              <a:stCxn id="367" idx="1"/>
            </p:cNvCxnSpPr>
            <p:nvPr/>
          </p:nvCxnSpPr>
          <p:spPr>
            <a:xfrm rot="10800000">
              <a:off x="3848240" y="5024779"/>
              <a:ext cx="1030800" cy="699000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4" name="Google Shape;504;p14"/>
          <p:cNvGrpSpPr/>
          <p:nvPr/>
        </p:nvGrpSpPr>
        <p:grpSpPr>
          <a:xfrm>
            <a:off x="10032069" y="5931642"/>
            <a:ext cx="1701734" cy="616172"/>
            <a:chOff x="6935906" y="5482318"/>
            <a:chExt cx="1701734" cy="616172"/>
          </a:xfrm>
        </p:grpSpPr>
        <p:grpSp>
          <p:nvGrpSpPr>
            <p:cNvPr id="505" name="Google Shape;505;p14"/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506" name="Google Shape;506;p14"/>
              <p:cNvSpPr/>
              <p:nvPr/>
            </p:nvSpPr>
            <p:spPr>
              <a:xfrm>
                <a:off x="6808463" y="5108795"/>
                <a:ext cx="1701734" cy="616172"/>
              </a:xfrm>
              <a:custGeom>
                <a:rect b="b" l="l" r="r" t="t"/>
                <a:pathLst>
                  <a:path extrusionOk="0" h="11127" w="11293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07" name="Google Shape;507;p14"/>
              <p:cNvGrpSpPr/>
              <p:nvPr/>
            </p:nvGrpSpPr>
            <p:grpSpPr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508" name="Google Shape;508;p1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9" name="Google Shape;509;p1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0" name="Google Shape;510;p1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1" name="Google Shape;511;p1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2" name="Google Shape;512;p1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3" name="Google Shape;513;p1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4" name="Google Shape;514;p1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15" name="Google Shape;515;p14"/>
                <p:cNvCxnSpPr>
                  <a:endCxn id="51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16" name="Google Shape;516;p1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517" name="Google Shape;517;p14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518" name="Google Shape;518;p14"/>
                <p:cNvSpPr/>
                <p:nvPr/>
              </p:nvSpPr>
              <p:spPr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9" name="Google Shape;519;p14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X</a:t>
                  </a:r>
                  <a:endParaRPr/>
                </a:p>
              </p:txBody>
            </p:sp>
          </p:grpSp>
        </p:grpSp>
        <p:cxnSp>
          <p:nvCxnSpPr>
            <p:cNvPr id="520" name="Google Shape;520;p14"/>
            <p:cNvCxnSpPr/>
            <p:nvPr/>
          </p:nvCxnSpPr>
          <p:spPr>
            <a:xfrm flipH="1">
              <a:off x="7158742" y="5764030"/>
              <a:ext cx="870024" cy="9999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1" name="Google Shape;521;p14"/>
          <p:cNvGrpSpPr/>
          <p:nvPr/>
        </p:nvGrpSpPr>
        <p:grpSpPr>
          <a:xfrm>
            <a:off x="6934554" y="5174305"/>
            <a:ext cx="2462215" cy="1055613"/>
            <a:chOff x="2294" y="2338"/>
            <a:chExt cx="1551" cy="665"/>
          </a:xfrm>
        </p:grpSpPr>
        <p:sp>
          <p:nvSpPr>
            <p:cNvPr id="522" name="Google Shape;522;p14"/>
            <p:cNvSpPr/>
            <p:nvPr/>
          </p:nvSpPr>
          <p:spPr>
            <a:xfrm rot="-1756960">
              <a:off x="239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4"/>
            <p:cNvSpPr txBox="1"/>
            <p:nvPr/>
          </p:nvSpPr>
          <p:spPr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BGP advertisement: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A8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cxnSp>
        <p:nvCxnSpPr>
          <p:cNvPr id="524" name="Google Shape;524;p14"/>
          <p:cNvCxnSpPr>
            <a:stCxn id="344" idx="5"/>
            <a:endCxn id="431" idx="1"/>
          </p:cNvCxnSpPr>
          <p:nvPr/>
        </p:nvCxnSpPr>
        <p:spPr>
          <a:xfrm flipH="1" rot="10800000">
            <a:off x="6646545" y="4932536"/>
            <a:ext cx="1398900" cy="8100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protocol messages</a:t>
            </a:r>
            <a:endParaRPr/>
          </a:p>
        </p:txBody>
      </p:sp>
      <p:sp>
        <p:nvSpPr>
          <p:cNvPr id="531" name="Google Shape;531;p15"/>
          <p:cNvSpPr txBox="1"/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BGP messages exchanged between peers over TCP connection</a:t>
            </a:r>
            <a:endParaRPr/>
          </a:p>
          <a:p>
            <a:pPr indent="-2905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BGP messages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4371]: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opens TCP connection to remote BGP peer and authenticates sending BGP peer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UPDATE: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advertises new path (or withdraws old)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KEEPALIVE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keeps connection alive in absence of UPDATES; also ACKs OPEN request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reports errors in previous msg; also used to close connection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6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Path attributes and BGP routes</a:t>
            </a:r>
            <a:endParaRPr/>
          </a:p>
        </p:txBody>
      </p:sp>
      <p:sp>
        <p:nvSpPr>
          <p:cNvPr id="538" name="Google Shape;538;p16"/>
          <p:cNvSpPr txBox="1"/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BGP advertised path:  prefix + attributes 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prefix: destination being advertised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important attributes: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AS-PATH: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of ASes through which prefix advertisement has passed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NEXT-HO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indicates specific internal-AS router to next-hop AS</a:t>
            </a:r>
            <a:endParaRPr/>
          </a:p>
          <a:p>
            <a:pPr indent="-285750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policy-based routing: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receiving route advertisement to destination X uses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policy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accept/reject a path (e.g., never route through AS W, or country Y).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uses policy to decide whether to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advertise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neighboring AS Z (does router want to route traffic forwarded from Z destined to X?)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17"/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545" name="Google Shape;545;p17"/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546" name="Google Shape;546;p17"/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547" name="Google Shape;547;p17"/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548" name="Google Shape;548;p17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49" name="Google Shape;549;p17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550" name="Google Shape;550;p17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51" name="Google Shape;551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52" name="Google Shape;552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53" name="Google Shape;553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54" name="Google Shape;554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55" name="Google Shape;555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56" name="Google Shape;556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57" name="Google Shape;557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58" name="Google Shape;558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559" name="Google Shape;559;p17"/>
                        <p:cNvCxnSpPr>
                          <a:endCxn id="55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60" name="Google Shape;560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561" name="Google Shape;561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562" name="Google Shape;562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63" name="Google Shape;563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564" name="Google Shape;564;p17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65" name="Google Shape;565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66" name="Google Shape;566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67" name="Google Shape;567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68" name="Google Shape;568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69" name="Google Shape;569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70" name="Google Shape;570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71" name="Google Shape;571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72" name="Google Shape;572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573" name="Google Shape;573;p17"/>
                        <p:cNvCxnSpPr>
                          <a:endCxn id="56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74" name="Google Shape;574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575" name="Google Shape;575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576" name="Google Shape;576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77" name="Google Shape;577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578" name="Google Shape;578;p17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79" name="Google Shape;579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80" name="Google Shape;580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81" name="Google Shape;581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82" name="Google Shape;582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83" name="Google Shape;583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84" name="Google Shape;584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85" name="Google Shape;585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86" name="Google Shape;586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587" name="Google Shape;587;p17"/>
                        <p:cNvCxnSpPr>
                          <a:endCxn id="58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88" name="Google Shape;588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589" name="Google Shape;589;p17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590" name="Google Shape;590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91" name="Google Shape;591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592" name="Google Shape;592;p17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93" name="Google Shape;593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94" name="Google Shape;594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95" name="Google Shape;595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96" name="Google Shape;596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97" name="Google Shape;597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98" name="Google Shape;598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599" name="Google Shape;599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0" name="Google Shape;600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1" name="Google Shape;601;p17"/>
                        <p:cNvCxnSpPr>
                          <a:endCxn id="59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2" name="Google Shape;602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3" name="Google Shape;603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4" name="Google Shape;604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" name="Google Shape;605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06" name="Google Shape;606;p17"/>
                    <p:cNvCxnSpPr>
                      <a:stCxn id="552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07" name="Google Shape;607;p17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08" name="Google Shape;608;p17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09" name="Google Shape;609;p17"/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9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2</a:t>
                  </a:r>
                  <a:endParaRPr/>
                </a:p>
              </p:txBody>
            </p:sp>
          </p:grpSp>
          <p:grpSp>
            <p:nvGrpSpPr>
              <p:cNvPr id="610" name="Google Shape;610;p17"/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611" name="Google Shape;611;p17"/>
                <p:cNvSpPr/>
                <p:nvPr/>
              </p:nvSpPr>
              <p:spPr>
                <a:xfrm>
                  <a:off x="8100574" y="3694542"/>
                  <a:ext cx="2575521" cy="1672516"/>
                </a:xfrm>
                <a:custGeom>
                  <a:rect b="b" l="l" r="r" t="t"/>
                  <a:pathLst>
                    <a:path extrusionOk="0" h="10795" w="10000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2" name="Google Shape;612;p17"/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613" name="Google Shape;613;p17"/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614" name="Google Shape;614;p17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5" name="Google Shape;615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6" name="Google Shape;616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" name="Google Shape;617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" name="Google Shape;618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" name="Google Shape;619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" name="Google Shape;620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" name="Google Shape;621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" name="Google Shape;622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3" name="Google Shape;623;p17"/>
                        <p:cNvCxnSpPr>
                          <a:endCxn id="61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4" name="Google Shape;624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5" name="Google Shape;625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26" name="Google Shape;626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7" name="Google Shape;627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8" name="Google Shape;628;p17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9" name="Google Shape;629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30" name="Google Shape;630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31" name="Google Shape;631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32" name="Google Shape;632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33" name="Google Shape;633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34" name="Google Shape;634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35" name="Google Shape;635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36" name="Google Shape;636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37" name="Google Shape;637;p17"/>
                        <p:cNvCxnSpPr>
                          <a:endCxn id="63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38" name="Google Shape;638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39" name="Google Shape;639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40" name="Google Shape;640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41" name="Google Shape;641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42" name="Google Shape;642;p17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43" name="Google Shape;643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44" name="Google Shape;644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45" name="Google Shape;645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46" name="Google Shape;646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47" name="Google Shape;647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48" name="Google Shape;648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49" name="Google Shape;649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50" name="Google Shape;650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51" name="Google Shape;651;p17"/>
                        <p:cNvCxnSpPr>
                          <a:endCxn id="64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52" name="Google Shape;652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53" name="Google Shape;653;p17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54" name="Google Shape;654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55" name="Google Shape;655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56" name="Google Shape;656;p17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57" name="Google Shape;657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58" name="Google Shape;658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59" name="Google Shape;659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60" name="Google Shape;660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61" name="Google Shape;661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62" name="Google Shape;662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63" name="Google Shape;663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64" name="Google Shape;664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65" name="Google Shape;665;p17"/>
                        <p:cNvCxnSpPr>
                          <a:endCxn id="66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66" name="Google Shape;666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67" name="Google Shape;667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68" name="Google Shape;668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69" name="Google Shape;669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70" name="Google Shape;670;p17"/>
                    <p:cNvCxnSpPr>
                      <a:stCxn id="627" idx="2"/>
                      <a:endCxn id="641" idx="0"/>
                    </p:cNvCxnSpPr>
                    <p:nvPr/>
                  </p:nvCxnSpPr>
                  <p:spPr>
                    <a:xfrm>
                      <a:off x="1991073" y="3242684"/>
                      <a:ext cx="4200" cy="8520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rgbClr val="000090"/>
                      </a:solidFill>
                      <a:prstDash val="dash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1" name="Google Shape;671;p17"/>
                    <p:cNvCxnSpPr/>
                    <p:nvPr/>
                  </p:nvCxnSpPr>
                  <p:spPr>
                    <a:xfrm>
                      <a:off x="1407477" y="3648621"/>
                      <a:ext cx="1204913" cy="6353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" name="Google Shape;672;p17"/>
                    <p:cNvCxnSpPr>
                      <a:stCxn id="616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" name="Google Shape;673;p17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" name="Google Shape;674;p17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675" name="Google Shape;675;p17"/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3</a:t>
                    </a:r>
                    <a:endParaRPr/>
                  </a:p>
                </p:txBody>
              </p:sp>
            </p:grpSp>
          </p:grpSp>
          <p:grpSp>
            <p:nvGrpSpPr>
              <p:cNvPr id="676" name="Google Shape;676;p17"/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677" name="Google Shape;677;p17"/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678" name="Google Shape;678;p17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79" name="Google Shape;679;p17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80" name="Google Shape;680;p17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81" name="Google Shape;681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82" name="Google Shape;682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83" name="Google Shape;683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84" name="Google Shape;684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85" name="Google Shape;685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86" name="Google Shape;686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87" name="Google Shape;687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88" name="Google Shape;688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89" name="Google Shape;689;p17"/>
                        <p:cNvCxnSpPr>
                          <a:endCxn id="68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90" name="Google Shape;690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91" name="Google Shape;691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92" name="Google Shape;692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93" name="Google Shape;693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94" name="Google Shape;694;p17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95" name="Google Shape;695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96" name="Google Shape;696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97" name="Google Shape;697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98" name="Google Shape;698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99" name="Google Shape;699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00" name="Google Shape;700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01" name="Google Shape;701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02" name="Google Shape;702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703" name="Google Shape;703;p17"/>
                        <p:cNvCxnSpPr>
                          <a:endCxn id="69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704" name="Google Shape;704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705" name="Google Shape;705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706" name="Google Shape;706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07" name="Google Shape;707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708" name="Google Shape;708;p17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709" name="Google Shape;709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710" name="Google Shape;710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11" name="Google Shape;711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12" name="Google Shape;712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13" name="Google Shape;713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14" name="Google Shape;714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15" name="Google Shape;715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16" name="Google Shape;716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717" name="Google Shape;717;p17"/>
                        <p:cNvCxnSpPr>
                          <a:endCxn id="71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718" name="Google Shape;718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719" name="Google Shape;719;p17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720" name="Google Shape;720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21" name="Google Shape;721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722" name="Google Shape;722;p17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723" name="Google Shape;723;p17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724" name="Google Shape;724;p17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25" name="Google Shape;725;p17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26" name="Google Shape;726;p17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27" name="Google Shape;727;p17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28" name="Google Shape;728;p17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29" name="Google Shape;729;p17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30" name="Google Shape;730;p17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731" name="Google Shape;731;p17"/>
                        <p:cNvCxnSpPr>
                          <a:endCxn id="72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732" name="Google Shape;732;p17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733" name="Google Shape;733;p17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734" name="Google Shape;734;p17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735" name="Google Shape;735;p17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736" name="Google Shape;736;p17"/>
                    <p:cNvCxnSpPr>
                      <a:stCxn id="682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7" name="Google Shape;737;p17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8" name="Google Shape;738;p17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9" name="Google Shape;739;p17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740" name="Google Shape;740;p17"/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9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1</a:t>
                  </a:r>
                  <a:endParaRPr/>
                </a:p>
              </p:txBody>
            </p:sp>
            <p:cxnSp>
              <p:nvCxnSpPr>
                <p:cNvPr id="741" name="Google Shape;741;p17"/>
                <p:cNvCxnSpPr>
                  <a:stCxn id="605" idx="1"/>
                </p:cNvCxnSpPr>
                <p:nvPr/>
              </p:nvCxnSpPr>
              <p:spPr>
                <a:xfrm rot="10800000">
                  <a:off x="3848240" y="5024779"/>
                  <a:ext cx="1030800" cy="699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742" name="Google Shape;742;p17"/>
              <p:cNvCxnSpPr>
                <a:stCxn id="582" idx="5"/>
                <a:endCxn id="669" idx="1"/>
              </p:cNvCxnSpPr>
              <p:nvPr/>
            </p:nvCxnSpPr>
            <p:spPr>
              <a:xfrm flipH="1" rot="10800000">
                <a:off x="6957825" y="4543451"/>
                <a:ext cx="1398900" cy="1062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43" name="Google Shape;743;p17"/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744" name="Google Shape;744;p17"/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745" name="Google Shape;745;p17"/>
                <p:cNvSpPr/>
                <p:nvPr/>
              </p:nvSpPr>
              <p:spPr>
                <a:xfrm>
                  <a:off x="6808463" y="5108795"/>
                  <a:ext cx="1701734" cy="616172"/>
                </a:xfrm>
                <a:custGeom>
                  <a:rect b="b" l="l" r="r" t="t"/>
                  <a:pathLst>
                    <a:path extrusionOk="0" h="11127" w="11293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46" name="Google Shape;746;p17"/>
                <p:cNvGrpSpPr/>
                <p:nvPr/>
              </p:nvGrpSpPr>
              <p:grpSpPr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747" name="Google Shape;747;p17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48" name="Google Shape;748;p17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49" name="Google Shape;749;p17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50" name="Google Shape;750;p17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51" name="Google Shape;751;p17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52" name="Google Shape;752;p17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53" name="Google Shape;753;p17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754" name="Google Shape;754;p17"/>
                  <p:cNvCxnSpPr>
                    <a:endCxn id="749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755" name="Google Shape;755;p17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756" name="Google Shape;756;p17"/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757" name="Google Shape;757;p17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758" name="Google Shape;758;p17"/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  X</a:t>
                    </a:r>
                    <a:endParaRPr/>
                  </a:p>
                </p:txBody>
              </p:sp>
            </p:grpSp>
          </p:grpSp>
          <p:cxnSp>
            <p:nvCxnSpPr>
              <p:cNvPr id="759" name="Google Shape;759;p17"/>
              <p:cNvCxnSpPr/>
              <p:nvPr/>
            </p:nvCxnSpPr>
            <p:spPr>
              <a:xfrm flipH="1">
                <a:off x="7158742" y="5764030"/>
                <a:ext cx="870024" cy="9999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760" name="Google Shape;760;p17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761" name="Google Shape;761;p17"/>
          <p:cNvSpPr txBox="1"/>
          <p:nvPr/>
        </p:nvSpPr>
        <p:spPr>
          <a:xfrm>
            <a:off x="825754" y="4751961"/>
            <a:ext cx="10673139" cy="84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AS2 policy, AS2 router 2c accepts path AS3,X, propagates (via iBGP) to all AS2 routers</a:t>
            </a:r>
            <a:endParaRPr/>
          </a:p>
          <a:p>
            <a:pPr indent="-698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2" name="Google Shape;762;p17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763" name="Google Shape;763;p17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764" name="Google Shape;764;p17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17"/>
          <p:cNvSpPr txBox="1"/>
          <p:nvPr/>
        </p:nvSpPr>
        <p:spPr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AS2 router 2c receives path advertisement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(via eBGP) from AS3 router 3a</a:t>
            </a:r>
            <a:endParaRPr/>
          </a:p>
        </p:txBody>
      </p:sp>
      <p:sp>
        <p:nvSpPr>
          <p:cNvPr id="766" name="Google Shape;766;p17"/>
          <p:cNvSpPr txBox="1"/>
          <p:nvPr/>
        </p:nvSpPr>
        <p:spPr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AS2 policy,  AS2 router 2a advertises (via eBGP)  path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 AS3, X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AS1 router 1c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7" name="Google Shape;767;p17"/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768" name="Google Shape;768;p17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69" name="Google Shape;769;p17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0" name="Google Shape;770;p17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771" name="Google Shape;771;p17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772" name="Google Shape;772;p17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7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8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advertisement: multiple paths</a:t>
            </a:r>
            <a:endParaRPr/>
          </a:p>
        </p:txBody>
      </p:sp>
      <p:grpSp>
        <p:nvGrpSpPr>
          <p:cNvPr id="780" name="Google Shape;780;p18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781" name="Google Shape;781;p18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3" name="Google Shape;783;p18"/>
          <p:cNvSpPr txBox="1"/>
          <p:nvPr/>
        </p:nvSpPr>
        <p:spPr>
          <a:xfrm>
            <a:off x="1364685" y="4805597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AS2,AS3,X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2a</a:t>
            </a:r>
            <a:endParaRPr/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 txBox="1"/>
          <p:nvPr/>
        </p:nvSpPr>
        <p:spPr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6428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gateway routers may learn about 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paths to destination:</a:t>
            </a:r>
            <a:endParaRPr/>
          </a:p>
        </p:txBody>
      </p:sp>
      <p:grpSp>
        <p:nvGrpSpPr>
          <p:cNvPr id="785" name="Google Shape;785;p18"/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786" name="Google Shape;786;p18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87" name="Google Shape;787;p18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88" name="Google Shape;788;p18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789" name="Google Shape;789;p18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790" name="Google Shape;790;p18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8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sp>
        <p:nvSpPr>
          <p:cNvPr id="792" name="Google Shape;792;p18"/>
          <p:cNvSpPr txBox="1"/>
          <p:nvPr/>
        </p:nvSpPr>
        <p:spPr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3a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8"/>
          <p:cNvSpPr txBox="1"/>
          <p:nvPr/>
        </p:nvSpPr>
        <p:spPr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policy,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AS1 gateway router 1c chooses path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advertises path within AS1 via iBGP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4" name="Google Shape;794;p18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795" name="Google Shape;795;p18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8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grpSp>
        <p:nvGrpSpPr>
          <p:cNvPr id="797" name="Google Shape;797;p18"/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798" name="Google Shape;798;p18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99" name="Google Shape;799;p18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800" name="Google Shape;800;p18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801" name="Google Shape;801;p18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802" name="Google Shape;802;p18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03" name="Google Shape;803;p18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804" name="Google Shape;804;p18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05" name="Google Shape;805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06" name="Google Shape;806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07" name="Google Shape;807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08" name="Google Shape;808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09" name="Google Shape;809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10" name="Google Shape;810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11" name="Google Shape;811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12" name="Google Shape;812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813" name="Google Shape;813;p18"/>
                          <p:cNvCxnSpPr>
                            <a:endCxn id="80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14" name="Google Shape;814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15" name="Google Shape;815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16" name="Google Shape;816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17" name="Google Shape;817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818" name="Google Shape;818;p18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19" name="Google Shape;819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20" name="Google Shape;820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21" name="Google Shape;821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22" name="Google Shape;822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23" name="Google Shape;823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24" name="Google Shape;824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25" name="Google Shape;825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26" name="Google Shape;826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827" name="Google Shape;827;p18"/>
                          <p:cNvCxnSpPr>
                            <a:endCxn id="82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28" name="Google Shape;828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29" name="Google Shape;829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30" name="Google Shape;830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31" name="Google Shape;831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832" name="Google Shape;832;p18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33" name="Google Shape;833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34" name="Google Shape;834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35" name="Google Shape;835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36" name="Google Shape;836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37" name="Google Shape;837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38" name="Google Shape;838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39" name="Google Shape;839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40" name="Google Shape;840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841" name="Google Shape;841;p18"/>
                          <p:cNvCxnSpPr>
                            <a:endCxn id="83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42" name="Google Shape;842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43" name="Google Shape;843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44" name="Google Shape;844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45" name="Google Shape;845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846" name="Google Shape;846;p18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47" name="Google Shape;847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48" name="Google Shape;848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49" name="Google Shape;849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50" name="Google Shape;850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51" name="Google Shape;851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52" name="Google Shape;852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53" name="Google Shape;853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54" name="Google Shape;854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855" name="Google Shape;855;p18"/>
                          <p:cNvCxnSpPr>
                            <a:endCxn id="85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56" name="Google Shape;856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57" name="Google Shape;857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58" name="Google Shape;858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59" name="Google Shape;859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860" name="Google Shape;860;p18"/>
                      <p:cNvCxnSpPr>
                        <a:stCxn id="80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61" name="Google Shape;861;p18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62" name="Google Shape;862;p18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863" name="Google Shape;863;p18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864" name="Google Shape;864;p18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865" name="Google Shape;865;p18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866" name="Google Shape;866;p18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867" name="Google Shape;867;p18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868" name="Google Shape;868;p18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69" name="Google Shape;869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70" name="Google Shape;870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71" name="Google Shape;871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72" name="Google Shape;872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73" name="Google Shape;873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74" name="Google Shape;874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75" name="Google Shape;875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76" name="Google Shape;876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877" name="Google Shape;877;p18"/>
                          <p:cNvCxnSpPr>
                            <a:endCxn id="87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78" name="Google Shape;878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79" name="Google Shape;879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80" name="Google Shape;880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81" name="Google Shape;881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882" name="Google Shape;882;p18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83" name="Google Shape;883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84" name="Google Shape;884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85" name="Google Shape;885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86" name="Google Shape;886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87" name="Google Shape;887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88" name="Google Shape;888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89" name="Google Shape;889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90" name="Google Shape;890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891" name="Google Shape;891;p18"/>
                          <p:cNvCxnSpPr>
                            <a:endCxn id="88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92" name="Google Shape;892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93" name="Google Shape;893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94" name="Google Shape;894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95" name="Google Shape;895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896" name="Google Shape;896;p18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97" name="Google Shape;897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98" name="Google Shape;898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899" name="Google Shape;899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00" name="Google Shape;900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01" name="Google Shape;901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02" name="Google Shape;902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03" name="Google Shape;903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04" name="Google Shape;904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905" name="Google Shape;905;p18"/>
                          <p:cNvCxnSpPr>
                            <a:endCxn id="90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06" name="Google Shape;906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07" name="Google Shape;907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908" name="Google Shape;908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09" name="Google Shape;909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910" name="Google Shape;910;p18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11" name="Google Shape;911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12" name="Google Shape;912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13" name="Google Shape;913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14" name="Google Shape;914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15" name="Google Shape;915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16" name="Google Shape;916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17" name="Google Shape;917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18" name="Google Shape;918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919" name="Google Shape;919;p18"/>
                          <p:cNvCxnSpPr>
                            <a:endCxn id="91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20" name="Google Shape;920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21" name="Google Shape;921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22" name="Google Shape;922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23" name="Google Shape;923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924" name="Google Shape;924;p18"/>
                      <p:cNvCxnSpPr>
                        <a:stCxn id="881" idx="2"/>
                        <a:endCxn id="895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25" name="Google Shape;925;p18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26" name="Google Shape;926;p18"/>
                      <p:cNvCxnSpPr>
                        <a:stCxn id="87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27" name="Google Shape;927;p18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28" name="Google Shape;928;p18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929" name="Google Shape;929;p18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930" name="Google Shape;930;p18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931" name="Google Shape;931;p18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932" name="Google Shape;932;p18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933" name="Google Shape;933;p18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934" name="Google Shape;934;p18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35" name="Google Shape;935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36" name="Google Shape;936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37" name="Google Shape;937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38" name="Google Shape;938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39" name="Google Shape;939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40" name="Google Shape;940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41" name="Google Shape;941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42" name="Google Shape;942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943" name="Google Shape;943;p18"/>
                          <p:cNvCxnSpPr>
                            <a:endCxn id="93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44" name="Google Shape;944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45" name="Google Shape;945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46" name="Google Shape;946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47" name="Google Shape;947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948" name="Google Shape;948;p18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49" name="Google Shape;949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50" name="Google Shape;950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51" name="Google Shape;951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52" name="Google Shape;952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53" name="Google Shape;953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54" name="Google Shape;954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55" name="Google Shape;955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56" name="Google Shape;956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957" name="Google Shape;957;p18"/>
                          <p:cNvCxnSpPr>
                            <a:endCxn id="95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58" name="Google Shape;958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59" name="Google Shape;959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60" name="Google Shape;960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61" name="Google Shape;961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962" name="Google Shape;962;p18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63" name="Google Shape;963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64" name="Google Shape;964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65" name="Google Shape;965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66" name="Google Shape;966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67" name="Google Shape;967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68" name="Google Shape;968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69" name="Google Shape;969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70" name="Google Shape;970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971" name="Google Shape;971;p18"/>
                          <p:cNvCxnSpPr>
                            <a:endCxn id="9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72" name="Google Shape;972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73" name="Google Shape;973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974" name="Google Shape;974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75" name="Google Shape;975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976" name="Google Shape;976;p18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77" name="Google Shape;977;p18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78" name="Google Shape;978;p18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79" name="Google Shape;979;p18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80" name="Google Shape;980;p18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81" name="Google Shape;981;p18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82" name="Google Shape;982;p18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83" name="Google Shape;983;p18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84" name="Google Shape;984;p18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985" name="Google Shape;985;p18"/>
                          <p:cNvCxnSpPr>
                            <a:endCxn id="9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86" name="Google Shape;986;p18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87" name="Google Shape;987;p18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88" name="Google Shape;988;p18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989" name="Google Shape;989;p18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990" name="Google Shape;990;p18"/>
                      <p:cNvCxnSpPr>
                        <a:stCxn id="93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91" name="Google Shape;991;p18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92" name="Google Shape;992;p18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993" name="Google Shape;993;p18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994" name="Google Shape;994;p18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995" name="Google Shape;995;p18"/>
                  <p:cNvCxnSpPr>
                    <a:stCxn id="859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996" name="Google Shape;996;p18"/>
                <p:cNvCxnSpPr>
                  <a:stCxn id="836" idx="5"/>
                  <a:endCxn id="923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97" name="Google Shape;997;p18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998" name="Google Shape;998;p18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999" name="Google Shape;999;p18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000" name="Google Shape;1000;p18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1001" name="Google Shape;1001;p18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02" name="Google Shape;1002;p18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03" name="Google Shape;1003;p18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04" name="Google Shape;1004;p18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05" name="Google Shape;1005;p18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06" name="Google Shape;1006;p18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07" name="Google Shape;1007;p18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1008" name="Google Shape;1008;p18"/>
                    <p:cNvCxnSpPr>
                      <a:endCxn id="1003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1009" name="Google Shape;1009;p18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10" name="Google Shape;1010;p18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1011" name="Google Shape;1011;p18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012" name="Google Shape;1012;p18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1013" name="Google Shape;1013;p18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1014" name="Google Shape;1014;p18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5" name="Google Shape;1015;p18"/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1016" name="Google Shape;1016;p18"/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1017" name="Google Shape;1017;p18"/>
              <p:cNvCxnSpPr/>
              <p:nvPr/>
            </p:nvCxnSpPr>
            <p:spPr>
              <a:xfrm rot="10800000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18" name="Google Shape;1018;p18"/>
              <p:cNvCxnSpPr/>
              <p:nvPr/>
            </p:nvCxnSpPr>
            <p:spPr>
              <a:xfrm rot="10800000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19" name="Google Shape;1019;p18"/>
              <p:cNvCxnSpPr/>
              <p:nvPr/>
            </p:nvCxnSpPr>
            <p:spPr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1020" name="Google Shape;1020;p18"/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1021" name="Google Shape;1021;p18"/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1022" name="Google Shape;1022;p18"/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9"/>
          <p:cNvSpPr txBox="1"/>
          <p:nvPr>
            <p:ph type="title"/>
          </p:nvPr>
        </p:nvSpPr>
        <p:spPr>
          <a:xfrm>
            <a:off x="838200" y="389191"/>
            <a:ext cx="1089868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</a:t>
            </a:r>
            <a:endParaRPr/>
          </a:p>
        </p:txBody>
      </p:sp>
      <p:sp>
        <p:nvSpPr>
          <p:cNvPr id="1029" name="Google Shape;1029;p19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0" name="Google Shape;1030;p19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1031" name="Google Shape;1031;p19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1033" name="Google Shape;1033;p19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19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19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19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19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8" name="Google Shape;1038;p19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1039" name="Google Shape;1039;p19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9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19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19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19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19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19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3" name="Google Shape;1053;p19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9"/>
          <p:cNvSpPr/>
          <p:nvPr/>
        </p:nvSpPr>
        <p:spPr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advertises path Aw to B and to 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chooses not to advertise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BAw to C!  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gets no “revenue” for routing CBAw, since none of  C, A, w are B’s customers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does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learn about CBAw path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will route CAw (not using B) to get to w</a:t>
            </a:r>
            <a:endParaRPr/>
          </a:p>
        </p:txBody>
      </p:sp>
      <p:sp>
        <p:nvSpPr>
          <p:cNvPr id="1055" name="Google Shape;1055;p19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1056" name="Google Shape;1056;p19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7" name="Google Shape;1057;p19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9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9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0" name="Google Shape;1060;p19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1061" name="Google Shape;1061;p19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19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Calibri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1063" name="Google Shape;1063;p19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4" name="Google Shape;1064;p19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9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6" name="Google Shape;1066;p19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1067" name="Google Shape;1067;p19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9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069" name="Google Shape;1069;p19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0" name="Google Shape;1070;p19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1071" name="Google Shape;1071;p19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19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1073" name="Google Shape;1073;p19"/>
          <p:cNvGrpSpPr/>
          <p:nvPr/>
        </p:nvGrpSpPr>
        <p:grpSpPr>
          <a:xfrm>
            <a:off x="3351904" y="2513644"/>
            <a:ext cx="742613" cy="487557"/>
            <a:chOff x="2552896" y="2671126"/>
            <a:chExt cx="742613" cy="487557"/>
          </a:xfrm>
        </p:grpSpPr>
        <p:sp>
          <p:nvSpPr>
            <p:cNvPr id="1074" name="Google Shape;1074;p19"/>
            <p:cNvSpPr txBox="1"/>
            <p:nvPr/>
          </p:nvSpPr>
          <p:spPr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9"/>
            <p:cNvSpPr/>
            <p:nvPr/>
          </p:nvSpPr>
          <p:spPr>
            <a:xfrm rot="-8624927">
              <a:off x="2824952" y="2786969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6" name="Google Shape;1076;p19"/>
          <p:cNvGrpSpPr/>
          <p:nvPr/>
        </p:nvGrpSpPr>
        <p:grpSpPr>
          <a:xfrm>
            <a:off x="3297703" y="1578748"/>
            <a:ext cx="735306" cy="453401"/>
            <a:chOff x="2656196" y="2854042"/>
            <a:chExt cx="735306" cy="453401"/>
          </a:xfrm>
        </p:grpSpPr>
        <p:sp>
          <p:nvSpPr>
            <p:cNvPr id="1077" name="Google Shape;1077;p19"/>
            <p:cNvSpPr txBox="1"/>
            <p:nvPr/>
          </p:nvSpPr>
          <p:spPr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9"/>
            <p:cNvSpPr/>
            <p:nvPr/>
          </p:nvSpPr>
          <p:spPr>
            <a:xfrm rot="8256763">
              <a:off x="2928253" y="2982091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0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 </a:t>
            </a:r>
            <a:r>
              <a:rPr lang="en-US" sz="4000"/>
              <a:t>(more)</a:t>
            </a:r>
            <a:endParaRPr/>
          </a:p>
        </p:txBody>
      </p:sp>
      <p:sp>
        <p:nvSpPr>
          <p:cNvPr id="1085" name="Google Shape;1085;p20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6" name="Google Shape;1086;p20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1087" name="Google Shape;1087;p20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20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1089" name="Google Shape;1089;p20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20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20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20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20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4" name="Google Shape;1094;p20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0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1096" name="Google Shape;1096;p20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7" name="Google Shape;1097;p20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0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0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0" name="Google Shape;1100;p20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1101" name="Google Shape;1101;p20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20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Calibri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1103" name="Google Shape;1103;p20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4" name="Google Shape;1104;p20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0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6" name="Google Shape;1106;p20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1107" name="Google Shape;1107;p20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20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109" name="Google Shape;1109;p20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0" name="Google Shape;1110;p20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1111" name="Google Shape;1111;p20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20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sp>
        <p:nvSpPr>
          <p:cNvPr id="1113" name="Google Shape;1113;p20"/>
          <p:cNvSpPr/>
          <p:nvPr/>
        </p:nvSpPr>
        <p:spPr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A,B,C are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networks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x,w,y are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(of provider networks)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is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dual-homed: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attached to two networks</a:t>
            </a:r>
            <a:endParaRPr/>
          </a:p>
          <a:p>
            <a:pPr indent="-228600" lvl="0" marL="2286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policy to enforce: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does not want to route from B to C via x 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 so x will not advertise to B a route to C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14" name="Google Shape;1114;p20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1115" name="Google Shape;1115;p20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0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20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20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20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20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20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20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20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9" name="Google Shape;1129;p20"/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" name="Google Shape;1135;p21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1136" name="Google Shape;1136;p21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1137" name="Google Shape;1137;p21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1138" name="Google Shape;1138;p21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1139" name="Google Shape;1139;p21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1140" name="Google Shape;1140;p21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141" name="Google Shape;1141;p21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1142" name="Google Shape;1142;p21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143" name="Google Shape;1143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144" name="Google Shape;1144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45" name="Google Shape;1145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46" name="Google Shape;1146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47" name="Google Shape;1147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48" name="Google Shape;1148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49" name="Google Shape;1149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50" name="Google Shape;1150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151" name="Google Shape;1151;p21"/>
                          <p:cNvCxnSpPr>
                            <a:endCxn id="114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152" name="Google Shape;1152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153" name="Google Shape;1153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154" name="Google Shape;1154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55" name="Google Shape;1155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156" name="Google Shape;1156;p21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157" name="Google Shape;1157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158" name="Google Shape;1158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59" name="Google Shape;1159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60" name="Google Shape;1160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61" name="Google Shape;1161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62" name="Google Shape;1162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63" name="Google Shape;1163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64" name="Google Shape;1164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165" name="Google Shape;1165;p21"/>
                          <p:cNvCxnSpPr>
                            <a:endCxn id="116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166" name="Google Shape;1166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167" name="Google Shape;1167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168" name="Google Shape;1168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69" name="Google Shape;1169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170" name="Google Shape;1170;p21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171" name="Google Shape;1171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172" name="Google Shape;1172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73" name="Google Shape;1173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74" name="Google Shape;1174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75" name="Google Shape;1175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76" name="Google Shape;1176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77" name="Google Shape;1177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78" name="Google Shape;1178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179" name="Google Shape;1179;p21"/>
                          <p:cNvCxnSpPr>
                            <a:endCxn id="117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180" name="Google Shape;1180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181" name="Google Shape;1181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182" name="Google Shape;1182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83" name="Google Shape;1183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184" name="Google Shape;1184;p21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185" name="Google Shape;1185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186" name="Google Shape;1186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87" name="Google Shape;1187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88" name="Google Shape;1188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89" name="Google Shape;1189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90" name="Google Shape;1190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91" name="Google Shape;1191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92" name="Google Shape;1192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193" name="Google Shape;1193;p21"/>
                          <p:cNvCxnSpPr>
                            <a:endCxn id="118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194" name="Google Shape;1194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195" name="Google Shape;1195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196" name="Google Shape;1196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197" name="Google Shape;1197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198" name="Google Shape;1198;p21"/>
                      <p:cNvCxnSpPr>
                        <a:stCxn id="114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199" name="Google Shape;1199;p21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200" name="Google Shape;1200;p21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1201" name="Google Shape;1201;p21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1202" name="Google Shape;1202;p21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1203" name="Google Shape;1203;p21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204" name="Google Shape;1204;p21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1205" name="Google Shape;1205;p21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1206" name="Google Shape;1206;p21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207" name="Google Shape;1207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208" name="Google Shape;1208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09" name="Google Shape;1209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10" name="Google Shape;1210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11" name="Google Shape;1211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12" name="Google Shape;1212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13" name="Google Shape;1213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14" name="Google Shape;1214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215" name="Google Shape;1215;p21"/>
                          <p:cNvCxnSpPr>
                            <a:endCxn id="121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216" name="Google Shape;1216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217" name="Google Shape;1217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218" name="Google Shape;1218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19" name="Google Shape;1219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220" name="Google Shape;1220;p21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221" name="Google Shape;1221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222" name="Google Shape;1222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23" name="Google Shape;1223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24" name="Google Shape;1224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25" name="Google Shape;1225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26" name="Google Shape;1226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27" name="Google Shape;1227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28" name="Google Shape;1228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229" name="Google Shape;1229;p21"/>
                          <p:cNvCxnSpPr>
                            <a:endCxn id="122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230" name="Google Shape;1230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231" name="Google Shape;1231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232" name="Google Shape;1232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33" name="Google Shape;1233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234" name="Google Shape;1234;p21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235" name="Google Shape;1235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236" name="Google Shape;1236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37" name="Google Shape;1237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38" name="Google Shape;1238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39" name="Google Shape;1239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40" name="Google Shape;1240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41" name="Google Shape;1241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42" name="Google Shape;1242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243" name="Google Shape;1243;p21"/>
                          <p:cNvCxnSpPr>
                            <a:endCxn id="123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244" name="Google Shape;1244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245" name="Google Shape;1245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246" name="Google Shape;1246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47" name="Google Shape;1247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248" name="Google Shape;1248;p21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249" name="Google Shape;1249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250" name="Google Shape;1250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51" name="Google Shape;1251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52" name="Google Shape;1252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53" name="Google Shape;1253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54" name="Google Shape;1254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55" name="Google Shape;1255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56" name="Google Shape;1256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257" name="Google Shape;1257;p21"/>
                          <p:cNvCxnSpPr>
                            <a:endCxn id="125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258" name="Google Shape;1258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259" name="Google Shape;1259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260" name="Google Shape;1260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61" name="Google Shape;1261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262" name="Google Shape;1262;p21"/>
                      <p:cNvCxnSpPr>
                        <a:stCxn id="1219" idx="2"/>
                        <a:endCxn id="1233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263" name="Google Shape;1263;p21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264" name="Google Shape;1264;p21"/>
                      <p:cNvCxnSpPr>
                        <a:stCxn id="1208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265" name="Google Shape;1265;p21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266" name="Google Shape;1266;p21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1267" name="Google Shape;1267;p21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268" name="Google Shape;1268;p21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1269" name="Google Shape;1269;p21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1270" name="Google Shape;1270;p21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271" name="Google Shape;1271;p21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1272" name="Google Shape;1272;p21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273" name="Google Shape;1273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274" name="Google Shape;1274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75" name="Google Shape;1275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76" name="Google Shape;1276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77" name="Google Shape;1277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78" name="Google Shape;1278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79" name="Google Shape;1279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80" name="Google Shape;1280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281" name="Google Shape;1281;p21"/>
                          <p:cNvCxnSpPr>
                            <a:endCxn id="127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282" name="Google Shape;1282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283" name="Google Shape;1283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284" name="Google Shape;1284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85" name="Google Shape;1285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286" name="Google Shape;1286;p21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287" name="Google Shape;1287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288" name="Google Shape;1288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89" name="Google Shape;1289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90" name="Google Shape;1290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91" name="Google Shape;1291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92" name="Google Shape;1292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93" name="Google Shape;1293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94" name="Google Shape;1294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295" name="Google Shape;1295;p21"/>
                          <p:cNvCxnSpPr>
                            <a:endCxn id="129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296" name="Google Shape;1296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297" name="Google Shape;1297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298" name="Google Shape;1298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299" name="Google Shape;1299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300" name="Google Shape;1300;p21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301" name="Google Shape;1301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302" name="Google Shape;1302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03" name="Google Shape;1303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04" name="Google Shape;1304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05" name="Google Shape;1305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06" name="Google Shape;1306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07" name="Google Shape;1307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08" name="Google Shape;1308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309" name="Google Shape;1309;p21"/>
                          <p:cNvCxnSpPr>
                            <a:endCxn id="130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310" name="Google Shape;1310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311" name="Google Shape;1311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312" name="Google Shape;1312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13" name="Google Shape;1313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314" name="Google Shape;1314;p21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315" name="Google Shape;1315;p21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316" name="Google Shape;1316;p21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17" name="Google Shape;1317;p21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18" name="Google Shape;1318;p21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19" name="Google Shape;1319;p21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20" name="Google Shape;1320;p21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21" name="Google Shape;1321;p21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22" name="Google Shape;1322;p21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323" name="Google Shape;1323;p21"/>
                          <p:cNvCxnSpPr>
                            <a:endCxn id="131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324" name="Google Shape;1324;p21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325" name="Google Shape;1325;p21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326" name="Google Shape;1326;p21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327" name="Google Shape;1327;p21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328" name="Google Shape;1328;p21"/>
                      <p:cNvCxnSpPr>
                        <a:stCxn id="127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329" name="Google Shape;1329;p21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330" name="Google Shape;1330;p21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331" name="Google Shape;1331;p21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1332" name="Google Shape;1332;p21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1333" name="Google Shape;1333;p21"/>
                  <p:cNvCxnSpPr>
                    <a:stCxn id="1197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1334" name="Google Shape;1334;p21"/>
                <p:cNvCxnSpPr>
                  <a:stCxn id="1174" idx="5"/>
                  <a:endCxn id="1261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35" name="Google Shape;1335;p21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1336" name="Google Shape;1336;p21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1337" name="Google Shape;1337;p21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338" name="Google Shape;1338;p21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1339" name="Google Shape;1339;p21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40" name="Google Shape;1340;p21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41" name="Google Shape;1341;p21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42" name="Google Shape;1342;p21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43" name="Google Shape;1343;p21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44" name="Google Shape;1344;p21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45" name="Google Shape;1345;p21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1346" name="Google Shape;1346;p21"/>
                    <p:cNvCxnSpPr>
                      <a:endCxn id="1341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1347" name="Google Shape;1347;p21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1348" name="Google Shape;1348;p21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1349" name="Google Shape;1349;p21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350" name="Google Shape;1350;p21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1351" name="Google Shape;1351;p21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1352" name="Google Shape;1352;p21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53" name="Google Shape;1353;p21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populating forwarding tables </a:t>
            </a:r>
            <a:endParaRPr/>
          </a:p>
        </p:txBody>
      </p:sp>
      <p:grpSp>
        <p:nvGrpSpPr>
          <p:cNvPr id="1354" name="Google Shape;1354;p21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1355" name="Google Shape;1355;p21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1356" name="Google Shape;1356;p21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7" name="Google Shape;1357;p21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1358" name="Google Shape;1358;p21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21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grpSp>
        <p:nvGrpSpPr>
          <p:cNvPr id="1360" name="Google Shape;1360;p21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1361" name="Google Shape;1361;p21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21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sp>
        <p:nvSpPr>
          <p:cNvPr id="1363" name="Google Shape;1363;p21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1364" name="Google Shape;1364;p21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1365" name="Google Shape;1365;p21"/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1366" name="Google Shape;1366;p21"/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67" name="Google Shape;1367;p21"/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368" name="Google Shape;1368;p21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369" name="Google Shape;1369;p21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370" name="Google Shape;1370;p21"/>
          <p:cNvGrpSpPr/>
          <p:nvPr/>
        </p:nvGrpSpPr>
        <p:grpSpPr>
          <a:xfrm>
            <a:off x="1126378" y="2990899"/>
            <a:ext cx="1694528" cy="3454211"/>
            <a:chOff x="537654" y="3292242"/>
            <a:chExt cx="1694528" cy="2998176"/>
          </a:xfrm>
        </p:grpSpPr>
        <p:sp>
          <p:nvSpPr>
            <p:cNvPr id="1371" name="Google Shape;1371;p21"/>
            <p:cNvSpPr/>
            <p:nvPr/>
          </p:nvSpPr>
          <p:spPr>
            <a:xfrm flipH="1" rot="10326036">
              <a:off x="771808" y="3379309"/>
              <a:ext cx="1333280" cy="959366"/>
            </a:xfrm>
            <a:custGeom>
              <a:rect b="b" l="l" r="r" t="t"/>
              <a:pathLst>
                <a:path extrusionOk="0" h="1143414" w="1332977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372" name="Google Shape;1372;p21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1373" name="Google Shape;1373;p21"/>
              <p:cNvSpPr/>
              <p:nvPr/>
            </p:nvSpPr>
            <p:spPr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374" name="Google Shape;1374;p21"/>
              <p:cNvGrpSpPr/>
              <p:nvPr/>
            </p:nvGrpSpPr>
            <p:grpSpPr>
              <a:xfrm>
                <a:off x="812795" y="5933293"/>
                <a:ext cx="1035051" cy="357125"/>
                <a:chOff x="4128649" y="3606801"/>
                <a:chExt cx="568332" cy="338455"/>
              </a:xfrm>
            </p:grpSpPr>
            <p:sp>
              <p:nvSpPr>
                <p:cNvPr id="1375" name="Google Shape;1375;p21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76" name="Google Shape;1376;p21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77" name="Google Shape;1377;p21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378" name="Google Shape;1378;p21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79" name="Google Shape;1379;p21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380" name="Google Shape;1380;p21"/>
              <p:cNvSpPr/>
              <p:nvPr/>
            </p:nvSpPr>
            <p:spPr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rgbClr val="8383E0">
                      <a:alpha val="61960"/>
                    </a:srgbClr>
                  </a:gs>
                  <a:gs pos="5400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381" name="Google Shape;1381;p21"/>
              <p:cNvCxnSpPr>
                <a:endCxn id="1376" idx="1"/>
              </p:cNvCxnSpPr>
              <p:nvPr/>
            </p:nvCxnSpPr>
            <p:spPr>
              <a:xfrm>
                <a:off x="801395" y="4466956"/>
                <a:ext cx="114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2" name="Google Shape;1382;p21"/>
              <p:cNvCxnSpPr>
                <a:endCxn id="1376" idx="3"/>
              </p:cNvCxnSpPr>
              <p:nvPr/>
            </p:nvCxnSpPr>
            <p:spPr>
              <a:xfrm>
                <a:off x="1842745" y="4466956"/>
                <a:ext cx="51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383" name="Google Shape;1383;p21"/>
              <p:cNvGrpSpPr/>
              <p:nvPr/>
            </p:nvGrpSpPr>
            <p:grpSpPr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1384" name="Google Shape;1384;p21"/>
                <p:cNvSpPr/>
                <p:nvPr/>
              </p:nvSpPr>
              <p:spPr>
                <a:xfrm flipH="1" rot="10800000">
                  <a:off x="2186832" y="1690517"/>
                  <a:ext cx="1194859" cy="31430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85" name="Google Shape;1385;p21"/>
                <p:cNvSpPr/>
                <p:nvPr/>
              </p:nvSpPr>
              <p:spPr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86" name="Google Shape;1386;p21"/>
                <p:cNvSpPr/>
                <p:nvPr/>
              </p:nvSpPr>
              <p:spPr>
                <a:xfrm flipH="1" rot="10800000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87" name="Google Shape;1387;p21"/>
                <p:cNvSpPr/>
                <p:nvPr/>
              </p:nvSpPr>
              <p:spPr>
                <a:xfrm>
                  <a:off x="2490400" y="1671469"/>
                  <a:ext cx="582428" cy="15715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88" name="Google Shape;1388;p21"/>
                <p:cNvSpPr/>
                <p:nvPr/>
              </p:nvSpPr>
              <p:spPr>
                <a:xfrm>
                  <a:off x="2430393" y="1630197"/>
                  <a:ext cx="702443" cy="109529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89" name="Google Shape;1389;p21"/>
                <p:cNvSpPr/>
                <p:nvPr/>
              </p:nvSpPr>
              <p:spPr>
                <a:xfrm>
                  <a:off x="2892805" y="1723852"/>
                  <a:ext cx="257680" cy="95243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90" name="Google Shape;1390;p21"/>
                <p:cNvSpPr/>
                <p:nvPr/>
              </p:nvSpPr>
              <p:spPr>
                <a:xfrm>
                  <a:off x="2418037" y="1725440"/>
                  <a:ext cx="254150" cy="95243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391" name="Google Shape;1391;p21"/>
                <p:cNvCxnSpPr>
                  <a:endCxn id="1386" idx="2"/>
                </p:cNvCxnSpPr>
                <p:nvPr/>
              </p:nvCxnSpPr>
              <p:spPr>
                <a:xfrm rot="10800000">
                  <a:off x="2183302" y="1731789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1392" name="Google Shape;1392;p21"/>
                <p:cNvCxnSpPr/>
                <p:nvPr/>
              </p:nvCxnSpPr>
              <p:spPr>
                <a:xfrm rot="10800000">
                  <a:off x="3379926" y="1728615"/>
                  <a:ext cx="3530" cy="12222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sp>
            <p:nvSpPr>
              <p:cNvPr id="1393" name="Google Shape;1393;p21"/>
              <p:cNvSpPr/>
              <p:nvPr/>
            </p:nvSpPr>
            <p:spPr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394" name="Google Shape;1394;p21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</a:t>
                </a:r>
                <a:endParaRPr/>
              </a:p>
            </p:txBody>
          </p:sp>
          <p:sp>
            <p:nvSpPr>
              <p:cNvPr id="1395" name="Google Shape;1395;p21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interface</a:t>
                </a:r>
                <a:endParaRPr/>
              </a:p>
            </p:txBody>
          </p:sp>
          <p:cxnSp>
            <p:nvCxnSpPr>
              <p:cNvPr id="1396" name="Google Shape;1396;p21"/>
              <p:cNvCxnSpPr/>
              <p:nvPr/>
            </p:nvCxnSpPr>
            <p:spPr>
              <a:xfrm>
                <a:off x="1154183" y="4593421"/>
                <a:ext cx="1345" cy="1293547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7" name="Google Shape;1397;p21"/>
              <p:cNvCxnSpPr/>
              <p:nvPr/>
            </p:nvCxnSpPr>
            <p:spPr>
              <a:xfrm rot="10800000">
                <a:off x="537654" y="4911108"/>
                <a:ext cx="1679208" cy="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98" name="Google Shape;1398;p21"/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1399" name="Google Shape;1399;p21"/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1400" name="Google Shape;1400;p21"/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1401" name="Google Shape;1401;p21"/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</p:grpSp>
      </p:grpSp>
      <p:sp>
        <p:nvSpPr>
          <p:cNvPr id="1402" name="Google Shape;1402;p21"/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interfaces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1a, 1d</a:t>
            </a:r>
            <a:endParaRPr/>
          </a:p>
        </p:txBody>
      </p:sp>
      <p:sp>
        <p:nvSpPr>
          <p:cNvPr id="1403" name="Google Shape;1403;p21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1404" name="Google Shape;1404;p21"/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1405" name="Google Shape;1405;p21"/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1c</a:t>
              </a:r>
              <a:endParaRPr/>
            </a:p>
          </p:txBody>
        </p:sp>
        <p:sp>
          <p:nvSpPr>
            <p:cNvPr id="1406" name="Google Shape;1406;p21"/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407" name="Google Shape;1407;p21"/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1408" name="Google Shape;1408;p21"/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1409" name="Google Shape;1409;p21"/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410" name="Google Shape;1410;p21"/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1411" name="Google Shape;1411;p21"/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1412" name="Google Shape;1412;p21"/>
              <p:cNvCxnSpPr/>
              <p:nvPr/>
            </p:nvCxnSpPr>
            <p:spPr>
              <a:xfrm rot="10800000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413" name="Google Shape;1413;p21"/>
              <p:cNvCxnSpPr/>
              <p:nvPr/>
            </p:nvCxnSpPr>
            <p:spPr>
              <a:xfrm rot="10800000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414" name="Google Shape;1414;p21"/>
              <p:cNvCxnSpPr/>
              <p:nvPr/>
            </p:nvCxnSpPr>
            <p:spPr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1415" name="Google Shape;1415;p21"/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1416" name="Google Shape;1416;p21"/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1417" name="Google Shape;1417;p21"/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Google Shape;1423;p22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1424" name="Google Shape;1424;p22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1425" name="Google Shape;1425;p22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1426" name="Google Shape;1426;p22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1427" name="Google Shape;1427;p22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1428" name="Google Shape;1428;p2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429" name="Google Shape;1429;p2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1430" name="Google Shape;1430;p2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431" name="Google Shape;1431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432" name="Google Shape;1432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33" name="Google Shape;1433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34" name="Google Shape;1434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35" name="Google Shape;1435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36" name="Google Shape;1436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37" name="Google Shape;1437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38" name="Google Shape;1438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439" name="Google Shape;1439;p22"/>
                          <p:cNvCxnSpPr>
                            <a:endCxn id="143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440" name="Google Shape;1440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441" name="Google Shape;1441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442" name="Google Shape;1442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43" name="Google Shape;1443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444" name="Google Shape;1444;p2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445" name="Google Shape;1445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446" name="Google Shape;1446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47" name="Google Shape;1447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48" name="Google Shape;1448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49" name="Google Shape;1449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50" name="Google Shape;1450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51" name="Google Shape;1451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52" name="Google Shape;1452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453" name="Google Shape;1453;p22"/>
                          <p:cNvCxnSpPr>
                            <a:endCxn id="144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454" name="Google Shape;1454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455" name="Google Shape;1455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456" name="Google Shape;1456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57" name="Google Shape;1457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458" name="Google Shape;1458;p2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459" name="Google Shape;1459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460" name="Google Shape;1460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61" name="Google Shape;1461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62" name="Google Shape;1462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63" name="Google Shape;1463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64" name="Google Shape;1464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65" name="Google Shape;1465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66" name="Google Shape;1466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467" name="Google Shape;1467;p22"/>
                          <p:cNvCxnSpPr>
                            <a:endCxn id="146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468" name="Google Shape;1468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469" name="Google Shape;1469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470" name="Google Shape;1470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71" name="Google Shape;1471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472" name="Google Shape;1472;p2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473" name="Google Shape;1473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474" name="Google Shape;1474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75" name="Google Shape;1475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76" name="Google Shape;1476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77" name="Google Shape;1477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78" name="Google Shape;1478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79" name="Google Shape;1479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80" name="Google Shape;1480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481" name="Google Shape;1481;p22"/>
                          <p:cNvCxnSpPr>
                            <a:endCxn id="147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482" name="Google Shape;1482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483" name="Google Shape;1483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484" name="Google Shape;1484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85" name="Google Shape;1485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486" name="Google Shape;1486;p22"/>
                      <p:cNvCxnSpPr>
                        <a:stCxn id="1432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487" name="Google Shape;1487;p2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488" name="Google Shape;1488;p2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1489" name="Google Shape;1489;p22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1490" name="Google Shape;1490;p22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1491" name="Google Shape;1491;p22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492" name="Google Shape;1492;p22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1493" name="Google Shape;1493;p22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1494" name="Google Shape;1494;p2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495" name="Google Shape;1495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496" name="Google Shape;1496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97" name="Google Shape;1497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98" name="Google Shape;1498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499" name="Google Shape;1499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00" name="Google Shape;1500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01" name="Google Shape;1501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02" name="Google Shape;1502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03" name="Google Shape;1503;p22"/>
                          <p:cNvCxnSpPr>
                            <a:endCxn id="149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04" name="Google Shape;1504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05" name="Google Shape;1505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506" name="Google Shape;1506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07" name="Google Shape;1507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508" name="Google Shape;1508;p2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509" name="Google Shape;1509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510" name="Google Shape;1510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11" name="Google Shape;1511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12" name="Google Shape;1512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13" name="Google Shape;1513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14" name="Google Shape;1514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15" name="Google Shape;1515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16" name="Google Shape;1516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17" name="Google Shape;1517;p22"/>
                          <p:cNvCxnSpPr>
                            <a:endCxn id="151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18" name="Google Shape;1518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19" name="Google Shape;1519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520" name="Google Shape;1520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21" name="Google Shape;1521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522" name="Google Shape;1522;p2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523" name="Google Shape;1523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524" name="Google Shape;1524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25" name="Google Shape;1525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26" name="Google Shape;1526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27" name="Google Shape;1527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28" name="Google Shape;1528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29" name="Google Shape;1529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30" name="Google Shape;1530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31" name="Google Shape;1531;p22"/>
                          <p:cNvCxnSpPr>
                            <a:endCxn id="152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32" name="Google Shape;1532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33" name="Google Shape;1533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534" name="Google Shape;1534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35" name="Google Shape;1535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536" name="Google Shape;1536;p2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537" name="Google Shape;1537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538" name="Google Shape;1538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39" name="Google Shape;1539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40" name="Google Shape;1540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41" name="Google Shape;1541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42" name="Google Shape;1542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43" name="Google Shape;1543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44" name="Google Shape;1544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45" name="Google Shape;1545;p22"/>
                          <p:cNvCxnSpPr>
                            <a:endCxn id="154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46" name="Google Shape;1546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47" name="Google Shape;1547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548" name="Google Shape;1548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49" name="Google Shape;1549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550" name="Google Shape;1550;p22"/>
                      <p:cNvCxnSpPr>
                        <a:stCxn id="1507" idx="2"/>
                        <a:endCxn id="1521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551" name="Google Shape;1551;p22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552" name="Google Shape;1552;p22"/>
                      <p:cNvCxnSpPr>
                        <a:stCxn id="149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553" name="Google Shape;1553;p2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554" name="Google Shape;1554;p2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1555" name="Google Shape;1555;p22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556" name="Google Shape;1556;p22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1557" name="Google Shape;1557;p22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1558" name="Google Shape;1558;p2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559" name="Google Shape;1559;p2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1560" name="Google Shape;1560;p2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561" name="Google Shape;1561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562" name="Google Shape;1562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63" name="Google Shape;1563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64" name="Google Shape;1564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65" name="Google Shape;1565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66" name="Google Shape;1566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67" name="Google Shape;1567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68" name="Google Shape;1568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69" name="Google Shape;1569;p22"/>
                          <p:cNvCxnSpPr>
                            <a:endCxn id="156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70" name="Google Shape;1570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71" name="Google Shape;1571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572" name="Google Shape;1572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73" name="Google Shape;1573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574" name="Google Shape;1574;p2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575" name="Google Shape;1575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576" name="Google Shape;1576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77" name="Google Shape;1577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78" name="Google Shape;1578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79" name="Google Shape;1579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80" name="Google Shape;1580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81" name="Google Shape;1581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82" name="Google Shape;1582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83" name="Google Shape;1583;p22"/>
                          <p:cNvCxnSpPr>
                            <a:endCxn id="157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84" name="Google Shape;1584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85" name="Google Shape;1585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586" name="Google Shape;1586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87" name="Google Shape;1587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588" name="Google Shape;1588;p2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589" name="Google Shape;1589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590" name="Google Shape;1590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91" name="Google Shape;1591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92" name="Google Shape;1592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93" name="Google Shape;1593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94" name="Google Shape;1594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95" name="Google Shape;1595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596" name="Google Shape;1596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597" name="Google Shape;1597;p22"/>
                          <p:cNvCxnSpPr>
                            <a:endCxn id="159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598" name="Google Shape;1598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599" name="Google Shape;1599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600" name="Google Shape;1600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01" name="Google Shape;1601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602" name="Google Shape;1602;p2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603" name="Google Shape;1603;p2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604" name="Google Shape;1604;p2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05" name="Google Shape;1605;p2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06" name="Google Shape;1606;p2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07" name="Google Shape;1607;p2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08" name="Google Shape;1608;p2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09" name="Google Shape;1609;p2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10" name="Google Shape;1610;p2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611" name="Google Shape;1611;p22"/>
                          <p:cNvCxnSpPr>
                            <a:endCxn id="160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612" name="Google Shape;1612;p2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613" name="Google Shape;1613;p2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614" name="Google Shape;1614;p2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615" name="Google Shape;1615;p2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616" name="Google Shape;1616;p22"/>
                      <p:cNvCxnSpPr>
                        <a:stCxn id="1562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617" name="Google Shape;1617;p2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618" name="Google Shape;1618;p2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619" name="Google Shape;1619;p2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1620" name="Google Shape;1620;p22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1621" name="Google Shape;1621;p22"/>
                  <p:cNvCxnSpPr>
                    <a:stCxn id="1485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1622" name="Google Shape;1622;p22"/>
                <p:cNvCxnSpPr>
                  <a:stCxn id="1462" idx="5"/>
                  <a:endCxn id="1549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623" name="Google Shape;1623;p22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1624" name="Google Shape;1624;p22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1625" name="Google Shape;1625;p22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26" name="Google Shape;1626;p22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1627" name="Google Shape;1627;p22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28" name="Google Shape;1628;p22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29" name="Google Shape;1629;p22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30" name="Google Shape;1630;p22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31" name="Google Shape;1631;p22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32" name="Google Shape;1632;p22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33" name="Google Shape;1633;p22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1634" name="Google Shape;1634;p22"/>
                    <p:cNvCxnSpPr>
                      <a:endCxn id="1629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1635" name="Google Shape;1635;p22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1636" name="Google Shape;1636;p22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1637" name="Google Shape;1637;p22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638" name="Google Shape;1638;p22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1639" name="Google Shape;1639;p22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1640" name="Google Shape;1640;p22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41" name="Google Shape;1641;p2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populating forwarding tables </a:t>
            </a:r>
            <a:endParaRPr/>
          </a:p>
        </p:txBody>
      </p:sp>
      <p:sp>
        <p:nvSpPr>
          <p:cNvPr id="1642" name="Google Shape;1642;p22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1643" name="Google Shape;1643;p22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1644" name="Google Shape;1644;p22"/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1645" name="Google Shape;1645;p22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46" name="Google Shape;1646;p22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647" name="Google Shape;1647;p22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1648" name="Google Shape;1648;p22"/>
          <p:cNvGrpSpPr/>
          <p:nvPr/>
        </p:nvGrpSpPr>
        <p:grpSpPr>
          <a:xfrm>
            <a:off x="399867" y="2407612"/>
            <a:ext cx="1694528" cy="3699295"/>
            <a:chOff x="399867" y="2407612"/>
            <a:chExt cx="1694528" cy="3699295"/>
          </a:xfrm>
        </p:grpSpPr>
        <p:sp>
          <p:nvSpPr>
            <p:cNvPr id="1649" name="Google Shape;1649;p22"/>
            <p:cNvSpPr/>
            <p:nvPr/>
          </p:nvSpPr>
          <p:spPr>
            <a:xfrm flipH="1" rot="10326036">
              <a:off x="668516" y="2483278"/>
              <a:ext cx="1196288" cy="1378282"/>
            </a:xfrm>
            <a:custGeom>
              <a:rect b="b" l="l" r="r" t="t"/>
              <a:pathLst>
                <a:path extrusionOk="0" h="1642695" w="1196017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50" name="Google Shape;1650;p22"/>
            <p:cNvSpPr/>
            <p:nvPr/>
          </p:nvSpPr>
          <p:spPr>
            <a:xfrm rot="10800000">
              <a:off x="734144" y="3768921"/>
              <a:ext cx="1027112" cy="1145749"/>
            </a:xfrm>
            <a:prstGeom prst="rect">
              <a:avLst/>
            </a:prstGeom>
            <a:gradFill>
              <a:gsLst>
                <a:gs pos="0">
                  <a:srgbClr val="262699">
                    <a:alpha val="61960"/>
                  </a:srgbClr>
                </a:gs>
                <a:gs pos="54000">
                  <a:srgbClr val="8383E0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651" name="Google Shape;1651;p22"/>
            <p:cNvGrpSpPr/>
            <p:nvPr/>
          </p:nvGrpSpPr>
          <p:grpSpPr>
            <a:xfrm>
              <a:off x="737638" y="5695462"/>
              <a:ext cx="1035051" cy="411445"/>
              <a:chOff x="4128649" y="3606801"/>
              <a:chExt cx="568332" cy="338455"/>
            </a:xfrm>
          </p:grpSpPr>
          <p:sp>
            <p:nvSpPr>
              <p:cNvPr id="1652" name="Google Shape;1652;p22"/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2626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53" name="Google Shape;1653;p22"/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2626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54" name="Google Shape;1654;p22"/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8383E0">
                  <a:alpha val="6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655" name="Google Shape;1655;p22"/>
              <p:cNvCxnSpPr/>
              <p:nvPr/>
            </p:nvCxnSpPr>
            <p:spPr>
              <a:xfrm>
                <a:off x="4696981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6" name="Google Shape;1656;p22"/>
              <p:cNvCxnSpPr/>
              <p:nvPr/>
            </p:nvCxnSpPr>
            <p:spPr>
              <a:xfrm>
                <a:off x="4128649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657" name="Google Shape;1657;p22"/>
            <p:cNvSpPr/>
            <p:nvPr/>
          </p:nvSpPr>
          <p:spPr>
            <a:xfrm>
              <a:off x="741922" y="4854846"/>
              <a:ext cx="1027112" cy="991402"/>
            </a:xfrm>
            <a:prstGeom prst="rect">
              <a:avLst/>
            </a:prstGeom>
            <a:gradFill>
              <a:gsLst>
                <a:gs pos="0">
                  <a:srgbClr val="8383E0">
                    <a:alpha val="61960"/>
                  </a:srgbClr>
                </a:gs>
                <a:gs pos="54000">
                  <a:srgbClr val="ACACEA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1658" name="Google Shape;1658;p22"/>
            <p:cNvCxnSpPr>
              <a:endCxn id="1653" idx="1"/>
            </p:cNvCxnSpPr>
            <p:nvPr/>
          </p:nvCxnSpPr>
          <p:spPr>
            <a:xfrm>
              <a:off x="726238" y="4006085"/>
              <a:ext cx="114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659" name="Google Shape;1659;p22"/>
            <p:cNvCxnSpPr>
              <a:endCxn id="1653" idx="3"/>
            </p:cNvCxnSpPr>
            <p:nvPr/>
          </p:nvCxnSpPr>
          <p:spPr>
            <a:xfrm>
              <a:off x="1767588" y="4006085"/>
              <a:ext cx="51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1660" name="Google Shape;1660;p22"/>
            <p:cNvGrpSpPr/>
            <p:nvPr/>
          </p:nvGrpSpPr>
          <p:grpSpPr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1661" name="Google Shape;1661;p22"/>
              <p:cNvSpPr/>
              <p:nvPr/>
            </p:nvSpPr>
            <p:spPr>
              <a:xfrm flipH="1" rot="10800000">
                <a:off x="2186832" y="1690517"/>
                <a:ext cx="1194859" cy="314302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31000">
                    <a:srgbClr val="8383E0"/>
                  </a:gs>
                  <a:gs pos="100000">
                    <a:srgbClr val="D5D5F4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62" name="Google Shape;1662;p22"/>
              <p:cNvSpPr/>
              <p:nvPr/>
            </p:nvSpPr>
            <p:spPr>
              <a:xfrm>
                <a:off x="2183302" y="1734964"/>
                <a:ext cx="1198389" cy="112704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54000">
                    <a:srgbClr val="8383E0"/>
                  </a:gs>
                  <a:gs pos="100000">
                    <a:srgbClr val="2626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63" name="Google Shape;1663;p22"/>
              <p:cNvSpPr/>
              <p:nvPr/>
            </p:nvSpPr>
            <p:spPr>
              <a:xfrm flipH="1" rot="10800000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64" name="Google Shape;1664;p22"/>
              <p:cNvSpPr/>
              <p:nvPr/>
            </p:nvSpPr>
            <p:spPr>
              <a:xfrm>
                <a:off x="2490400" y="1671469"/>
                <a:ext cx="582428" cy="157150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65" name="Google Shape;1665;p22"/>
              <p:cNvSpPr/>
              <p:nvPr/>
            </p:nvSpPr>
            <p:spPr>
              <a:xfrm>
                <a:off x="2430393" y="1630197"/>
                <a:ext cx="702443" cy="109529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66" name="Google Shape;1666;p22"/>
              <p:cNvSpPr/>
              <p:nvPr/>
            </p:nvSpPr>
            <p:spPr>
              <a:xfrm>
                <a:off x="2892805" y="1723852"/>
                <a:ext cx="257680" cy="9524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667" name="Google Shape;1667;p22"/>
              <p:cNvSpPr/>
              <p:nvPr/>
            </p:nvSpPr>
            <p:spPr>
              <a:xfrm>
                <a:off x="2418037" y="1725440"/>
                <a:ext cx="254150" cy="9524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668" name="Google Shape;1668;p22"/>
              <p:cNvCxnSpPr>
                <a:endCxn id="1663" idx="2"/>
              </p:cNvCxnSpPr>
              <p:nvPr/>
            </p:nvCxnSpPr>
            <p:spPr>
              <a:xfrm rot="10800000">
                <a:off x="2183302" y="1731789"/>
                <a:ext cx="36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669" name="Google Shape;1669;p22"/>
              <p:cNvCxnSpPr/>
              <p:nvPr/>
            </p:nvCxnSpPr>
            <p:spPr>
              <a:xfrm rot="10800000">
                <a:off x="3379926" y="1728615"/>
                <a:ext cx="3530" cy="12222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1670" name="Google Shape;1670;p22"/>
            <p:cNvSpPr/>
            <p:nvPr/>
          </p:nvSpPr>
          <p:spPr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71" name="Google Shape;1671;p22"/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</a:t>
              </a:r>
              <a:endParaRPr/>
            </a:p>
          </p:txBody>
        </p:sp>
        <p:sp>
          <p:nvSpPr>
            <p:cNvPr id="1672" name="Google Shape;1672;p22"/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endParaRPr/>
            </a:p>
          </p:txBody>
        </p:sp>
        <p:cxnSp>
          <p:nvCxnSpPr>
            <p:cNvPr id="1673" name="Google Shape;1673;p22"/>
            <p:cNvCxnSpPr/>
            <p:nvPr/>
          </p:nvCxnSpPr>
          <p:spPr>
            <a:xfrm>
              <a:off x="1016396" y="4251999"/>
              <a:ext cx="1345" cy="1490301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4" name="Google Shape;1674;p22"/>
            <p:cNvCxnSpPr/>
            <p:nvPr/>
          </p:nvCxnSpPr>
          <p:spPr>
            <a:xfrm rot="10800000">
              <a:off x="399867" y="4618007"/>
              <a:ext cx="1679208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5" name="Google Shape;1675;p22"/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76" name="Google Shape;1676;p22"/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77" name="Google Shape;1677;p22"/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678" name="Google Shape;1678;p22"/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1679" name="Google Shape;1679;p22"/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1680" name="Google Shape;1680;p22"/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1c</a:t>
                </a:r>
                <a:endParaRPr/>
              </a:p>
            </p:txBody>
          </p:sp>
          <p:sp>
            <p:nvSpPr>
              <p:cNvPr id="1681" name="Google Shape;1681;p22"/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682" name="Google Shape;1682;p22"/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1683" name="Google Shape;1683;p22"/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1684" name="Google Shape;1684;p22"/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1685" name="Google Shape;1685;p22"/>
          <p:cNvSpPr txBox="1"/>
          <p:nvPr/>
        </p:nvSpPr>
        <p:spPr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OSPF intra-domain routing: to get to 1c, use  interface 2</a:t>
            </a:r>
            <a:endParaRPr/>
          </a:p>
        </p:txBody>
      </p:sp>
      <p:sp>
        <p:nvSpPr>
          <p:cNvPr id="1686" name="Google Shape;1686;p22"/>
          <p:cNvSpPr txBox="1"/>
          <p:nvPr/>
        </p:nvSpPr>
        <p:spPr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to get to X, use  interface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2" name="Google Shape;1692;p23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1693" name="Google Shape;1693;p23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1694" name="Google Shape;1694;p23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1695" name="Google Shape;1695;p23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1696" name="Google Shape;1696;p23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1697" name="Google Shape;1697;p23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698" name="Google Shape;1698;p23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1699" name="Google Shape;1699;p23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00" name="Google Shape;1700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01" name="Google Shape;1701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02" name="Google Shape;1702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03" name="Google Shape;1703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04" name="Google Shape;1704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05" name="Google Shape;1705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06" name="Google Shape;1706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07" name="Google Shape;1707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708" name="Google Shape;1708;p23"/>
                          <p:cNvCxnSpPr>
                            <a:endCxn id="170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709" name="Google Shape;1709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710" name="Google Shape;1710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711" name="Google Shape;1711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12" name="Google Shape;1712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713" name="Google Shape;1713;p23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14" name="Google Shape;1714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15" name="Google Shape;1715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16" name="Google Shape;1716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17" name="Google Shape;1717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18" name="Google Shape;1718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19" name="Google Shape;1719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20" name="Google Shape;1720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21" name="Google Shape;1721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722" name="Google Shape;1722;p23"/>
                          <p:cNvCxnSpPr>
                            <a:endCxn id="171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723" name="Google Shape;1723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724" name="Google Shape;1724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725" name="Google Shape;1725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26" name="Google Shape;1726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727" name="Google Shape;1727;p23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28" name="Google Shape;1728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29" name="Google Shape;1729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30" name="Google Shape;1730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31" name="Google Shape;1731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32" name="Google Shape;1732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33" name="Google Shape;1733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34" name="Google Shape;1734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35" name="Google Shape;1735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736" name="Google Shape;1736;p23"/>
                          <p:cNvCxnSpPr>
                            <a:endCxn id="173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737" name="Google Shape;1737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738" name="Google Shape;1738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739" name="Google Shape;1739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0" name="Google Shape;1740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741" name="Google Shape;1741;p23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42" name="Google Shape;1742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43" name="Google Shape;1743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4" name="Google Shape;1744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5" name="Google Shape;1745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6" name="Google Shape;1746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7" name="Google Shape;1747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8" name="Google Shape;1748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49" name="Google Shape;1749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750" name="Google Shape;1750;p23"/>
                          <p:cNvCxnSpPr>
                            <a:endCxn id="174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751" name="Google Shape;1751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752" name="Google Shape;1752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753" name="Google Shape;1753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54" name="Google Shape;1754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755" name="Google Shape;1755;p23"/>
                      <p:cNvCxnSpPr>
                        <a:stCxn id="1701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756" name="Google Shape;1756;p23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757" name="Google Shape;1757;p23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1758" name="Google Shape;1758;p23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1759" name="Google Shape;1759;p23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1760" name="Google Shape;1760;p23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761" name="Google Shape;1761;p23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1762" name="Google Shape;1762;p23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1763" name="Google Shape;1763;p23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64" name="Google Shape;1764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65" name="Google Shape;1765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66" name="Google Shape;1766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67" name="Google Shape;1767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68" name="Google Shape;1768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69" name="Google Shape;1769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70" name="Google Shape;1770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71" name="Google Shape;1771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772" name="Google Shape;1772;p23"/>
                          <p:cNvCxnSpPr>
                            <a:endCxn id="176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773" name="Google Shape;1773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774" name="Google Shape;1774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775" name="Google Shape;1775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76" name="Google Shape;1776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777" name="Google Shape;1777;p23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78" name="Google Shape;1778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79" name="Google Shape;1779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80" name="Google Shape;1780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81" name="Google Shape;1781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82" name="Google Shape;1782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83" name="Google Shape;1783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84" name="Google Shape;1784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85" name="Google Shape;1785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786" name="Google Shape;1786;p23"/>
                          <p:cNvCxnSpPr>
                            <a:endCxn id="178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787" name="Google Shape;1787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788" name="Google Shape;1788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789" name="Google Shape;1789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0" name="Google Shape;1790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791" name="Google Shape;1791;p23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792" name="Google Shape;1792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793" name="Google Shape;1793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4" name="Google Shape;1794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5" name="Google Shape;1795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6" name="Google Shape;1796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7" name="Google Shape;1797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8" name="Google Shape;1798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799" name="Google Shape;1799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800" name="Google Shape;1800;p23"/>
                          <p:cNvCxnSpPr>
                            <a:endCxn id="179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801" name="Google Shape;1801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802" name="Google Shape;1802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803" name="Google Shape;1803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04" name="Google Shape;1804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805" name="Google Shape;1805;p23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806" name="Google Shape;1806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807" name="Google Shape;1807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08" name="Google Shape;1808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09" name="Google Shape;1809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10" name="Google Shape;1810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11" name="Google Shape;1811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12" name="Google Shape;1812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13" name="Google Shape;1813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814" name="Google Shape;1814;p23"/>
                          <p:cNvCxnSpPr>
                            <a:endCxn id="180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815" name="Google Shape;1815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816" name="Google Shape;1816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817" name="Google Shape;1817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18" name="Google Shape;1818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819" name="Google Shape;1819;p23"/>
                      <p:cNvCxnSpPr>
                        <a:stCxn id="1776" idx="2"/>
                        <a:endCxn id="1790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20" name="Google Shape;1820;p23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21" name="Google Shape;1821;p23"/>
                      <p:cNvCxnSpPr>
                        <a:stCxn id="1765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22" name="Google Shape;1822;p23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23" name="Google Shape;1823;p23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1824" name="Google Shape;1824;p23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825" name="Google Shape;1825;p23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1826" name="Google Shape;1826;p23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1827" name="Google Shape;1827;p23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828" name="Google Shape;1828;p23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1829" name="Google Shape;1829;p23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830" name="Google Shape;1830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831" name="Google Shape;1831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32" name="Google Shape;1832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33" name="Google Shape;1833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34" name="Google Shape;1834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35" name="Google Shape;1835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36" name="Google Shape;1836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37" name="Google Shape;1837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838" name="Google Shape;1838;p23"/>
                          <p:cNvCxnSpPr>
                            <a:endCxn id="183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839" name="Google Shape;1839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840" name="Google Shape;1840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841" name="Google Shape;1841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42" name="Google Shape;1842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843" name="Google Shape;1843;p23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844" name="Google Shape;1844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845" name="Google Shape;1845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46" name="Google Shape;1846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47" name="Google Shape;1847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48" name="Google Shape;1848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49" name="Google Shape;1849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50" name="Google Shape;1850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51" name="Google Shape;1851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852" name="Google Shape;1852;p23"/>
                          <p:cNvCxnSpPr>
                            <a:endCxn id="184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853" name="Google Shape;1853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854" name="Google Shape;1854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855" name="Google Shape;1855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56" name="Google Shape;1856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857" name="Google Shape;1857;p23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858" name="Google Shape;1858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859" name="Google Shape;1859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60" name="Google Shape;1860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61" name="Google Shape;1861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62" name="Google Shape;1862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63" name="Google Shape;1863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64" name="Google Shape;1864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65" name="Google Shape;1865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866" name="Google Shape;1866;p23"/>
                          <p:cNvCxnSpPr>
                            <a:endCxn id="186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867" name="Google Shape;1867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868" name="Google Shape;1868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1869" name="Google Shape;1869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0" name="Google Shape;1870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1871" name="Google Shape;1871;p23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1872" name="Google Shape;1872;p23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1873" name="Google Shape;1873;p23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4" name="Google Shape;1874;p23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5" name="Google Shape;1875;p23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6" name="Google Shape;1876;p23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7" name="Google Shape;1877;p23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8" name="Google Shape;1878;p23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79" name="Google Shape;1879;p23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1880" name="Google Shape;1880;p23"/>
                          <p:cNvCxnSpPr>
                            <a:endCxn id="187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1881" name="Google Shape;1881;p23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1882" name="Google Shape;1882;p23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1883" name="Google Shape;1883;p23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1884" name="Google Shape;1884;p23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1885" name="Google Shape;1885;p23"/>
                      <p:cNvCxnSpPr>
                        <a:stCxn id="1831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86" name="Google Shape;1886;p23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87" name="Google Shape;1887;p23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1888" name="Google Shape;1888;p23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1889" name="Google Shape;1889;p23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9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1890" name="Google Shape;1890;p23"/>
                  <p:cNvCxnSpPr>
                    <a:stCxn id="1754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1891" name="Google Shape;1891;p23"/>
                <p:cNvCxnSpPr>
                  <a:stCxn id="1731" idx="5"/>
                  <a:endCxn id="1818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892" name="Google Shape;1892;p23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1893" name="Google Shape;1893;p23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1894" name="Google Shape;1894;p23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895" name="Google Shape;1895;p23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1896" name="Google Shape;1896;p23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897" name="Google Shape;1897;p23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898" name="Google Shape;1898;p23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899" name="Google Shape;1899;p23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900" name="Google Shape;1900;p23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901" name="Google Shape;1901;p23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902" name="Google Shape;1902;p23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1903" name="Google Shape;1903;p23"/>
                    <p:cNvCxnSpPr>
                      <a:endCxn id="189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1904" name="Google Shape;1904;p23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1905" name="Google Shape;1905;p23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1906" name="Google Shape;1906;p23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1907" name="Google Shape;1907;p23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1908" name="Google Shape;1908;p23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1909" name="Google Shape;1909;p23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10" name="Google Shape;1910;p23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Hot potato routing</a:t>
            </a:r>
            <a:endParaRPr/>
          </a:p>
        </p:txBody>
      </p:sp>
      <p:sp>
        <p:nvSpPr>
          <p:cNvPr id="1911" name="Google Shape;1911;p23"/>
          <p:cNvSpPr txBox="1"/>
          <p:nvPr/>
        </p:nvSpPr>
        <p:spPr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 learns (via iBGP) it can route to X via 2a or 2c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hot potato routing: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local gateway that has least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intra-domain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(e.g., 2d chooses 2a, even though more AS hops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don’t worry about inter-domain cost!</a:t>
            </a:r>
            <a:endParaRPr b="0" i="0" sz="2800" u="none" cap="none" strike="noStrike">
              <a:solidFill>
                <a:srgbClr val="212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2" name="Google Shape;1912;p23"/>
          <p:cNvCxnSpPr/>
          <p:nvPr/>
        </p:nvCxnSpPr>
        <p:spPr>
          <a:xfrm rot="10800000">
            <a:off x="6000873" y="3328637"/>
            <a:ext cx="424979" cy="441697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A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13" name="Google Shape;1913;p23"/>
          <p:cNvGrpSpPr/>
          <p:nvPr/>
        </p:nvGrpSpPr>
        <p:grpSpPr>
          <a:xfrm>
            <a:off x="7095664" y="2270946"/>
            <a:ext cx="880328" cy="893287"/>
            <a:chOff x="5705275" y="2274698"/>
            <a:chExt cx="880328" cy="893287"/>
          </a:xfrm>
        </p:grpSpPr>
        <p:sp>
          <p:nvSpPr>
            <p:cNvPr id="1914" name="Google Shape;1914;p23"/>
            <p:cNvSpPr/>
            <p:nvPr/>
          </p:nvSpPr>
          <p:spPr>
            <a:xfrm rot="-2370343">
              <a:off x="5705376" y="2487543"/>
              <a:ext cx="768350" cy="276226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3"/>
            <p:cNvSpPr txBox="1"/>
            <p:nvPr/>
          </p:nvSpPr>
          <p:spPr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 </a:t>
              </a:r>
              <a:endParaRPr/>
            </a:p>
          </p:txBody>
        </p:sp>
      </p:grpSp>
      <p:grpSp>
        <p:nvGrpSpPr>
          <p:cNvPr id="1916" name="Google Shape;1916;p23"/>
          <p:cNvGrpSpPr/>
          <p:nvPr/>
        </p:nvGrpSpPr>
        <p:grpSpPr>
          <a:xfrm>
            <a:off x="2970239" y="2493000"/>
            <a:ext cx="1366999" cy="725753"/>
            <a:chOff x="2143521" y="2484227"/>
            <a:chExt cx="1366999" cy="725753"/>
          </a:xfrm>
        </p:grpSpPr>
        <p:sp>
          <p:nvSpPr>
            <p:cNvPr id="1917" name="Google Shape;1917;p23"/>
            <p:cNvSpPr txBox="1"/>
            <p:nvPr/>
          </p:nvSpPr>
          <p:spPr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AS1,AS3,X </a:t>
              </a: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 rot="-8624927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9" name="Google Shape;1919;p23"/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OSPF link weights</a:t>
            </a:r>
            <a:endParaRPr/>
          </a:p>
        </p:txBody>
      </p:sp>
      <p:sp>
        <p:nvSpPr>
          <p:cNvPr id="1920" name="Google Shape;1920;p23"/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endParaRPr b="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23"/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  <a:endParaRPr b="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23"/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263</a:t>
            </a:r>
            <a:endParaRPr b="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23"/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24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different Intra-, Inter-AS routing ?</a:t>
            </a:r>
            <a:r>
              <a:rPr lang="en-US" sz="6000"/>
              <a:t> </a:t>
            </a:r>
            <a:endParaRPr/>
          </a:p>
        </p:txBody>
      </p:sp>
      <p:sp>
        <p:nvSpPr>
          <p:cNvPr id="1930" name="Google Shape;1930;p24"/>
          <p:cNvSpPr txBox="1"/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inter-AS: admin wants control over how its traffic routed, who routes through its network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intra-AS: single admin, so policy less of an issue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 reducing forwarding table size, routing update traffic</a:t>
            </a:r>
            <a:endParaRPr b="0" i="0" sz="2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hierarchical routing: limiting the scope of full topological information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BGP routing to CIDRized destination networks (summarized routes)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intra-AS: can focus on performance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inter-AS: policy dominates over performance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25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grpSp>
        <p:nvGrpSpPr>
          <p:cNvPr id="1937" name="Google Shape;1937;p25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938" name="Google Shape;193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9" name="Google Shape;1939;p25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940" name="Google Shape;1940;p25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941" name="Google Shape;1941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42" name="Google Shape;1942;p25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3" name="Google Shape;1943;p25"/>
          <p:cNvGrpSpPr/>
          <p:nvPr/>
        </p:nvGrpSpPr>
        <p:grpSpPr>
          <a:xfrm>
            <a:off x="7605684" y="6233684"/>
            <a:ext cx="6892924" cy="461665"/>
            <a:chOff x="731521" y="6141551"/>
            <a:chExt cx="6892924" cy="461665"/>
          </a:xfrm>
        </p:grpSpPr>
        <p:sp>
          <p:nvSpPr>
            <p:cNvPr id="1944" name="Google Shape;1944;p25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945" name="Google Shape;1945;p25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946" name="Google Shape;1946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7" name="Google Shape;1947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948" name="Google Shape;1948;p25"/>
          <p:cNvSpPr txBox="1"/>
          <p:nvPr/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13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</a:t>
            </a:r>
            <a:endParaRPr/>
          </a:p>
          <a:p>
            <a:pPr indent="-121284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